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27"/>
          <p:cNvSpPr/>
          <p:nvPr>
            <p:ph type="sldImg"/>
          </p:nvPr>
        </p:nvSpPr>
        <p:spPr>
          <a:prstGeom prst="rect">
            <a:avLst/>
          </a:prstGeom>
        </p:spPr>
        <p:txBody>
          <a:bodyPr/>
          <a:lstStyle/>
          <a:p>
            <a:pPr/>
          </a:p>
        </p:txBody>
      </p:sp>
      <p:sp>
        <p:nvSpPr>
          <p:cNvPr id="28" name="Shape 28"/>
          <p:cNvSpPr/>
          <p:nvPr>
            <p:ph type="body" sz="quarter" idx="1"/>
          </p:nvPr>
        </p:nvSpPr>
        <p:spPr>
          <a:prstGeom prst="rect">
            <a:avLst/>
          </a:prstGeom>
        </p:spPr>
        <p:txBody>
          <a:bodyPr/>
          <a:lstStyle/>
          <a:p>
            <a:pPr/>
            <a:r>
              <a:t>Open with the image, not the architecture. Insperity already navigates by a compass; this deck shows what keeps the ship on that heading. Two audiences in the room: section two is for business executives (value, risk, outcomes), section three is for technical leaders (how it works, how it stays vendor-neutral, how it ships). Everything shown is an illustrative strategic concept, not an Insperity-endorsed plan; figures are planning estimates.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This is the whole story in one picture. Compass is the helm: it sets the heading and the guardrails. Copilot is the sails: Jarvis, domain agents and Microsoft 365 Copilot doing the work. The Keel is below the waterline: the holonic semantic layer. Executives rarely see it, yet everything above depends on it. The physics matters: a keel is what lets a sailboat turn a crosswind into forward motion instead of being pushed sideways. For Insperity the wind is regulatory change across 50 states, new AI hiring laws, new platforms like HRScale on Workday, and new agents. Without a keel that force means drift and rework. With one, the same force becomes faster, provable service. The bulb at the bottom is the ballast: L1 knowledge holons, the 142 rules, plan provisions and admitted records that give the whole structure its weight.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Shape 51"/>
          <p:cNvSpPr/>
          <p:nvPr>
            <p:ph type="sldImg"/>
          </p:nvPr>
        </p:nvSpPr>
        <p:spPr>
          <a:prstGeom prst="rect">
            <a:avLst/>
          </a:prstGeom>
        </p:spPr>
        <p:txBody>
          <a:bodyPr/>
          <a:lstStyle/>
          <a:p>
            <a:pPr/>
          </a:p>
        </p:txBody>
      </p:sp>
      <p:sp>
        <p:nvSpPr>
          <p:cNvPr id="52" name="Shape 52"/>
          <p:cNvSpPr/>
          <p:nvPr>
            <p:ph type="body" sz="quarter" idx="1"/>
          </p:nvPr>
        </p:nvSpPr>
        <p:spPr>
          <a:prstGeom prst="rect">
            <a:avLst/>
          </a:prstGeom>
        </p:spPr>
        <p:txBody>
          <a:bodyPr/>
          <a:lstStyle/>
          <a:p>
            <a:pPr/>
            <a:r>
              <a:t>Ground the metaphor in Insperity's reality. Roughly 300,000 paid worksite employees (per Insperity's 2026 earnings commentary). Every U.S. jurisdiction. A 142-rule policy register across payroll and tax, benefits, compliance and risk, talent, and HR technology. And a platform landscape that keeps growing: HRScale on Workday for the mid-market, Insperity's own payroll and Premier platform, HR360 with its own AI agents, Microsoft 365 for staff, Box for 33 million content records. Each platform and each agent carries its own definition of an eligible employee, a client, a plan year. That is the sideways force.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For executives, reduce the Keel to three promises. One meaning: the same definitions everywhere, so a Power BI report, a Workday screen and a Jarvis answer agree. Author once, enforce everywhere: legal writes the rule once; it is compiled into payroll tests, gateway policies, Workday configuration and agent guardrails. The planning target is law change to production in 10 days in Phase 1, 48 hours by Phase 3. Every answer traceable: provenance is built in, so CPEO, SOC and ESAC evidence is a query, not a quarterly scramble.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 name="Shape 73"/>
          <p:cNvSpPr/>
          <p:nvPr>
            <p:ph type="sldImg"/>
          </p:nvPr>
        </p:nvSpPr>
        <p:spPr>
          <a:prstGeom prst="rect">
            <a:avLst/>
          </a:prstGeom>
        </p:spPr>
        <p:txBody>
          <a:bodyPr/>
          <a:lstStyle/>
          <a:p>
            <a:pPr/>
          </a:p>
        </p:txBody>
      </p:sp>
      <p:sp>
        <p:nvSpPr>
          <p:cNvPr id="74" name="Shape 74"/>
          <p:cNvSpPr/>
          <p:nvPr>
            <p:ph type="body" sz="quarter" idx="1"/>
          </p:nvPr>
        </p:nvSpPr>
        <p:spPr>
          <a:prstGeom prst="rect">
            <a:avLst/>
          </a:prstGeom>
        </p:spPr>
        <p:txBody>
          <a:bodyPr/>
          <a:lstStyle/>
          <a:p>
            <a:pPr/>
            <a:r>
              <a:t>The North Star. Insperity's logo was designed as a compass, so it can become the literal front door: tap the mark anywhere, in a portal, in Teams, in Jarvis, and you are searching and navigating the company's governed knowledge. The holonic layer is what makes that possible. Every question resolves to five coordinates, and they are the same five the governance gateway already enforces: WHO is asking, WHAT they need, WHERE (jurisdiction and client tenant), WHEN (effective date, plan year, rule version), and WHY, the north point, the rule and the law behind the answer. The rings inside the rose are the holon levels a search walks. Note: this graphic uses an original compass rose. Swap in Insperity's own mark only with brand-team approval.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t>Walk one question through. A worksite employee in Colorado taps the compass and asks how much paid family leave they can take. The Keel resolves the five coordinates, retrieves only admitted knowledge, the policy enforcement point removes anything outside that client's tenant and the employee's role, MTBH scores the answer, and the sources travel with it. The same question from an HR business partner or an executive returns a different view of the same truth: the employee sees their entitlement, the HRBP sees eligibility and the payroll rule, the executive sees an aggregate with no personal data. One truth, shaped by who asks. This is illustrative; the figures shown reflect Colorado FAMLI's standard entitlement and should be confirmed against the current register before any demo.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Shape 84"/>
          <p:cNvSpPr/>
          <p:nvPr>
            <p:ph type="sldImg"/>
          </p:nvPr>
        </p:nvSpPr>
        <p:spPr>
          <a:prstGeom prst="rect">
            <a:avLst/>
          </a:prstGeom>
        </p:spPr>
        <p:txBody>
          <a:bodyPr/>
          <a:lstStyle/>
          <a:p>
            <a:pPr/>
          </a:p>
        </p:txBody>
      </p:sp>
      <p:sp>
        <p:nvSpPr>
          <p:cNvPr id="85" name="Shape 85"/>
          <p:cNvSpPr/>
          <p:nvPr>
            <p:ph type="body" sz="quarter" idx="1"/>
          </p:nvPr>
        </p:nvSpPr>
        <p:spPr>
          <a:prstGeom prst="rect">
            <a:avLst/>
          </a:prstGeom>
        </p:spPr>
        <p:txBody>
          <a:bodyPr/>
          <a:lstStyle/>
          <a:p>
            <a:pPr/>
            <a:r>
              <a:t>Value, by who receives it. Employees: answers they can trust, with the plan provision cited, and training that arrives when a rule changes rather than once a year. Client employers: a monthly Compliance Assurance Statement, a new, tangible artifact that shows which rules were applied to their workforce and what changed. Service teams: less time assembling, more time advising; the BPA proposal-prep index is a new measure with its baseline set in Phase 0. The enterprise: audit evidence that assembles itself, and zero cross-tenant exposure as a hard gate at every phase. All targets are planning estimates from the program scorecard.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91"/>
          <p:cNvSpPr/>
          <p:nvPr>
            <p:ph type="sldImg"/>
          </p:nvPr>
        </p:nvSpPr>
        <p:spPr>
          <a:prstGeom prst="rect">
            <a:avLst/>
          </a:prstGeom>
        </p:spPr>
        <p:txBody>
          <a:bodyPr/>
          <a:lstStyle/>
          <a:p>
            <a:pPr/>
          </a:p>
        </p:txBody>
      </p:sp>
      <p:sp>
        <p:nvSpPr>
          <p:cNvPr id="92" name="Shape 92"/>
          <p:cNvSpPr/>
          <p:nvPr>
            <p:ph type="body" sz="quarter" idx="1"/>
          </p:nvPr>
        </p:nvSpPr>
        <p:spPr>
          <a:prstGeom prst="rect">
            <a:avLst/>
          </a:prstGeom>
        </p:spPr>
        <p:txBody>
          <a:bodyPr/>
          <a:lstStyle/>
          <a:p>
            <a:pPr/>
            <a:r>
              <a:t>Frame the Keel as risk reduction as much as acceleration. Agent sprawl is already arriving: HR360 agents, Copilot Studio agents, Workday agents, each with its own grounding. Definition drift is the quiet cost: the same question answered three ways. Audit exposure grows with every new system that has to be evidenced. And lock-in: if the knowledge lives in one vendor's format, the vendor owns the roadmap. The Keel answers each with a specific control, not a policy memo.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r>
              <a:t>For technical leaders, the key word is contract. Each level has a defined interface to its neighbours, which is what makes the architecture holonic: each domain is a whole in itself and a part of the enterprise. L2 domains are sovereign: adding a sixth or seventh domain never touches the first five. L3 is where Compass runs: every agent call is evaluated against the 5D context bundle, scored by MTBH, and any irreversible action is held by the Simplex gate for a person. L1 is the atomic unit: one clause, one URI, validated and versioned.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The core engineering pattern. Definition time and run time are kept apart. The canonical rule lives in the graph as an LKIF obligation plus a SHACL shape; here, California daily overtime (register rules PAY-005 and PAY-006). The compiler generates the projections the business already runs on: dbt tests over millions of timesheet rows, Rego policies at the gateway, JSON Schema constraints for Jarvis, Workday validations for HRScale clients, and a Fabric IQ ontology for analytics and agent grounding. Nobody hand-edits a projection; drift is detected in CI. The runtime never reasons over the graph, so there is no latency penalty.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p>
            <a:pPr/>
            <a:r>
              <a:t>Search is not a separate product; it is the Keel exposed as navigation. Nothing is findable until it is admitted, which is what keeps a raw 33-million-record content estate from becoming a hallucination source. Anchoring to URIs means the vector index and the graph agree on identity. Resolution to five coordinates reuses the gateway's 5D context bundle, so search and governance share one model. Tenant and role filtering happens at the enforcement point, not in the prompt. MTBH scoring and citations make every result auditable. On Microsoft this maps to Foundry IQ and Azure AI Search behind API Management; on other stacks the same six steps hold.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Shape 150"/>
          <p:cNvSpPr/>
          <p:nvPr>
            <p:ph type="sldImg"/>
          </p:nvPr>
        </p:nvSpPr>
        <p:spPr>
          <a:prstGeom prst="rect">
            <a:avLst/>
          </a:prstGeom>
        </p:spPr>
        <p:txBody>
          <a:bodyPr/>
          <a:lstStyle/>
          <a:p>
            <a:pPr/>
          </a:p>
        </p:txBody>
      </p:sp>
      <p:sp>
        <p:nvSpPr>
          <p:cNvPr id="151" name="Shape 151"/>
          <p:cNvSpPr/>
          <p:nvPr>
            <p:ph type="body" sz="quarter" idx="1"/>
          </p:nvPr>
        </p:nvSpPr>
        <p:spPr>
          <a:prstGeom prst="rect">
            <a:avLst/>
          </a:prstGeom>
        </p:spPr>
        <p:txBody>
          <a:bodyPr/>
          <a:lstStyle/>
          <a:p>
            <a:pPr/>
            <a:r>
              <a:t>This is the answer to integration and interoperability concerns. The Keel owns contracts, not products. Canonical knowledge lives in W3C and open standards; each vendor surface receives a generated projection carrying the source URI. Microsoft is a first-class adapter set: Fabric IQ, Foundry IQ, Entra Agent ID, Copilot Studio over MCP, API Management, Purview and Sentinel. Purview DLP and Conditional Access stay as the perimeter; the Keel adds controls they cannot express, such as co-employment allocation and per-client knowledge tenancy. Four decisions back this: canonical truth in open standards, enforcement in the request path outside any model vendor, every agent an identity with a governed profile, and one adapter swap exercised at every phase gate. Workday support for MCP and A2A should be confirmed; where absent, Workday agents reach the Keel through the gateway's APIs.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The roadmap keeps the four IIH phases and gate criteria, and adds a North Star milestone to each so search and navigation deliver value from the first phase. Phase 0: foundation, and a staff search pilot over the first 2,000 admitted assets. Phase 1: the gateway, MTBH and Simplex are live, and employees at three to five pilot clients get cited answers. Full Gate 1: MTBH WHERE at least 99.5%, WHAT at least 97%, P95 under 3 seconds, trip rate at most 2%, deflection at least 40%, zero cross-tenant incidents. Phase 2: all six domain holons, the Workday HRScale adapter with parity tests, and the compass navigator inside client and employee portals. Phase 3: regulatory change discovery, the 50-state rollout, and Insperity's governed HR tools published over MCP into clients' own copilots, which turns the North Star into something clients carry with them.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Close with decisions, not a pitch. The council is the first dependency: without authority over rule changes, author-once cannot work. The Microsoft footprint determines Phase 0 scope and cost. The platform order (HRScale clients on Workday versus Insperity payroll clients) sets the parity test scope for Phase 2. And the compass mark: making the logo the literal entry point is a brand decision as much as a technical one, and it is what turns the architecture into something every employee and client can see. Final line to leave in the room: the mark already points north; the Keel keeps the company on that heading.</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C3A63"/>
        </a:solidFill>
      </p:bgPr>
    </p:bg>
    <p:spTree>
      <p:nvGrpSpPr>
        <p:cNvPr id="1" name=""/>
        <p:cNvGrpSpPr/>
        <p:nvPr/>
      </p:nvGrpSpPr>
      <p:grpSpPr>
        <a:xfrm>
          <a:off x="0" y="0"/>
          <a:ext cx="0" cy="0"/>
          <a:chOff x="0" y="0"/>
          <a:chExt cx="0" cy="0"/>
        </a:xfrm>
      </p:grpSpPr>
      <p:sp>
        <p:nvSpPr>
          <p:cNvPr id="20" name="Shape 0"/>
          <p:cNvSpPr/>
          <p:nvPr/>
        </p:nvSpPr>
        <p:spPr>
          <a:xfrm>
            <a:off x="0" y="0"/>
            <a:ext cx="12192000" cy="6858000"/>
          </a:xfrm>
          <a:prstGeom prst="rect">
            <a:avLst/>
          </a:prstGeom>
          <a:gradFill>
            <a:gsLst>
              <a:gs pos="0">
                <a:srgbClr val="1C3A63"/>
              </a:gs>
              <a:gs pos="60000">
                <a:srgbClr val="0B1F3A"/>
              </a:gs>
            </a:gsLst>
            <a:path path="circle">
              <a:fillToRect l="119636" t="37721" r="-19636" b="62278"/>
            </a:path>
          </a:gradFill>
          <a:ln w="12700">
            <a:miter lim="400000"/>
          </a:ln>
        </p:spPr>
        <p:txBody>
          <a:bodyPr lIns="45719" rIns="45719"/>
          <a:lstStyle/>
          <a:p>
            <a:pPr/>
          </a:p>
        </p:txBody>
      </p:sp>
      <p:sp>
        <p:nvSpPr>
          <p:cNvPr id="21" name="Text 1"/>
          <p:cNvSpPr txBox="1"/>
          <p:nvPr/>
        </p:nvSpPr>
        <p:spPr>
          <a:xfrm>
            <a:off x="812799" y="1837680"/>
            <a:ext cx="10883394"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200" sz="1300">
                <a:solidFill>
                  <a:srgbClr val="C8A951"/>
                </a:solidFill>
                <a:latin typeface="IBM Plex Sans"/>
                <a:ea typeface="IBM Plex Sans"/>
                <a:cs typeface="IBM Plex Sans"/>
                <a:sym typeface="IBM Plex Sans"/>
              </a:defRPr>
            </a:lvl1pPr>
          </a:lstStyle>
          <a:p>
            <a:pPr/>
            <a:r>
              <a:t>INSPERITY · HOLONIC SEMANTIC ARCHITECTURE</a:t>
            </a:r>
          </a:p>
        </p:txBody>
      </p:sp>
      <p:sp>
        <p:nvSpPr>
          <p:cNvPr id="22" name="Text 2"/>
          <p:cNvSpPr txBox="1"/>
          <p:nvPr/>
        </p:nvSpPr>
        <p:spPr>
          <a:xfrm>
            <a:off x="812800" y="2322809"/>
            <a:ext cx="8502650" cy="162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6300"/>
              </a:lnSpc>
              <a:defRPr b="1" sz="6000">
                <a:solidFill>
                  <a:srgbClr val="F4F7FB"/>
                </a:solidFill>
                <a:latin typeface="Source Serif 4"/>
                <a:ea typeface="Source Serif 4"/>
                <a:cs typeface="Source Serif 4"/>
                <a:sym typeface="Source Serif 4"/>
              </a:defRPr>
            </a:lvl1pPr>
          </a:lstStyle>
          <a:p>
            <a:pPr/>
            <a:r>
              <a:t>The Keel and the North Star</a:t>
            </a:r>
          </a:p>
        </p:txBody>
      </p:sp>
      <p:sp>
        <p:nvSpPr>
          <p:cNvPr id="23" name="Text 3"/>
          <p:cNvSpPr txBox="1"/>
          <p:nvPr/>
        </p:nvSpPr>
        <p:spPr>
          <a:xfrm>
            <a:off x="812799" y="4177010"/>
            <a:ext cx="7717792"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a:solidFill>
                  <a:srgbClr val="C9D6E6"/>
                </a:solidFill>
                <a:latin typeface="IBM Plex Sans"/>
                <a:ea typeface="IBM Plex Sans"/>
                <a:cs typeface="IBM Plex Sans"/>
                <a:sym typeface="IBM Plex Sans"/>
              </a:defRPr>
            </a:lvl1pPr>
          </a:lstStyle>
          <a:p>
            <a:pPr/>
            <a:r>
              <a:t>Why one governed semantic layer belongs beneath every AI agent, platform and search at Insperity</a:t>
            </a:r>
          </a:p>
        </p:txBody>
      </p:sp>
      <p:pic>
        <p:nvPicPr>
          <p:cNvPr id="24" name="Image 0" descr="Image 0"/>
          <p:cNvPicPr>
            <a:picLocks noChangeAspect="1"/>
          </p:cNvPicPr>
          <p:nvPr/>
        </p:nvPicPr>
        <p:blipFill>
          <a:blip r:embed="rId3">
            <a:extLst/>
          </a:blip>
          <a:stretch>
            <a:fillRect/>
          </a:stretch>
        </p:blipFill>
        <p:spPr>
          <a:xfrm>
            <a:off x="9906000" y="952500"/>
            <a:ext cx="609600" cy="609600"/>
          </a:xfrm>
          <a:prstGeom prst="rect">
            <a:avLst/>
          </a:prstGeom>
          <a:ln w="12700">
            <a:miter lim="400000"/>
          </a:ln>
        </p:spPr>
      </p:pic>
      <p:pic>
        <p:nvPicPr>
          <p:cNvPr id="25" name="Image 1" descr="Image 1"/>
          <p:cNvPicPr>
            <a:picLocks noChangeAspect="1"/>
          </p:cNvPicPr>
          <p:nvPr/>
        </p:nvPicPr>
        <p:blipFill>
          <a:blip r:embed="rId4">
            <a:extLst/>
          </a:blip>
          <a:stretch>
            <a:fillRect/>
          </a:stretch>
        </p:blipFill>
        <p:spPr>
          <a:xfrm>
            <a:off x="10058400" y="1104900"/>
            <a:ext cx="304800" cy="304800"/>
          </a:xfrm>
          <a:prstGeom prst="rect">
            <a:avLst/>
          </a:prstGeom>
          <a:ln w="12700">
            <a:miter lim="400000"/>
          </a:ln>
        </p:spPr>
      </p:pic>
      <p:sp>
        <p:nvSpPr>
          <p:cNvPr id="26" name="Text 4"/>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9DB4D4"/>
                </a:solidFill>
                <a:latin typeface="IBM Plex Sans"/>
                <a:ea typeface="IBM Plex Sans"/>
                <a:cs typeface="IBM Plex Sans"/>
                <a:sym typeface="IBM Plex Sans"/>
              </a:defRPr>
            </a:lvl1pPr>
          </a:lstStyle>
          <a:p>
            <a:pPr/>
            <a:r>
              <a:t>Jeffrey Wallk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sp>
        <p:nvSpPr>
          <p:cNvPr id="30" name="Shape 0"/>
          <p:cNvSpPr/>
          <p:nvPr/>
        </p:nvSpPr>
        <p:spPr>
          <a:xfrm>
            <a:off x="0" y="0"/>
            <a:ext cx="12192000" cy="6858000"/>
          </a:xfrm>
          <a:prstGeom prst="rect">
            <a:avLst/>
          </a:prstGeom>
          <a:gradFill>
            <a:gsLst>
              <a:gs pos="0">
                <a:srgbClr val="F6F9FC"/>
              </a:gs>
              <a:gs pos="54000">
                <a:srgbClr val="D9E4F0"/>
              </a:gs>
              <a:gs pos="100000">
                <a:srgbClr val="0B1F3A"/>
              </a:gs>
            </a:gsLst>
            <a:lin ang="5400000"/>
          </a:gradFill>
          <a:ln w="12700">
            <a:miter lim="400000"/>
          </a:ln>
        </p:spPr>
        <p:txBody>
          <a:bodyPr lIns="45719" rIns="45719"/>
          <a:lstStyle/>
          <a:p>
            <a:pPr/>
          </a:p>
        </p:txBody>
      </p:sp>
      <p:pic>
        <p:nvPicPr>
          <p:cNvPr id="31" name="Image 0" descr="Image 0"/>
          <p:cNvPicPr>
            <a:picLocks noChangeAspect="1"/>
          </p:cNvPicPr>
          <p:nvPr/>
        </p:nvPicPr>
        <p:blipFill>
          <a:blip r:embed="rId3">
            <a:extLst/>
          </a:blip>
          <a:stretch>
            <a:fillRect/>
          </a:stretch>
        </p:blipFill>
        <p:spPr>
          <a:xfrm>
            <a:off x="609600" y="0"/>
            <a:ext cx="10972800" cy="68580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35"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7E6319"/>
                </a:solidFill>
                <a:latin typeface="IBM Plex Sans"/>
                <a:ea typeface="IBM Plex Sans"/>
                <a:cs typeface="IBM Plex Sans"/>
                <a:sym typeface="IBM Plex Sans"/>
              </a:defRPr>
            </a:lvl1pPr>
          </a:lstStyle>
          <a:p>
            <a:pPr/>
            <a:r>
              <a:t>THE SITUATION</a:t>
            </a:r>
          </a:p>
        </p:txBody>
      </p:sp>
      <p:sp>
        <p:nvSpPr>
          <p:cNvPr id="36"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The wind is already blowing</a:t>
            </a:r>
          </a:p>
        </p:txBody>
      </p:sp>
      <p:sp>
        <p:nvSpPr>
          <p:cNvPr id="37" name="Shape 2"/>
          <p:cNvSpPr/>
          <p:nvPr/>
        </p:nvSpPr>
        <p:spPr>
          <a:xfrm>
            <a:off x="815975" y="1989385"/>
            <a:ext cx="2482850" cy="2058592"/>
          </a:xfrm>
          <a:prstGeom prst="roundRect">
            <a:avLst>
              <a:gd name="adj" fmla="val 4781"/>
            </a:avLst>
          </a:prstGeom>
          <a:solidFill>
            <a:srgbClr val="FFFFFF"/>
          </a:solidFill>
          <a:ln w="6350">
            <a:solidFill>
              <a:srgbClr val="D8E1EC"/>
            </a:solidFill>
          </a:ln>
        </p:spPr>
        <p:txBody>
          <a:bodyPr lIns="45719" rIns="45719"/>
          <a:lstStyle/>
          <a:p>
            <a:pPr/>
          </a:p>
        </p:txBody>
      </p:sp>
      <p:sp>
        <p:nvSpPr>
          <p:cNvPr id="38" name="Text 3"/>
          <p:cNvSpPr txBox="1"/>
          <p:nvPr/>
        </p:nvSpPr>
        <p:spPr>
          <a:xfrm>
            <a:off x="1047750" y="2221160"/>
            <a:ext cx="207988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z="4400">
                <a:solidFill>
                  <a:srgbClr val="0B1F3A"/>
                </a:solidFill>
                <a:latin typeface="Source Serif 4"/>
                <a:ea typeface="Source Serif 4"/>
                <a:cs typeface="Source Serif 4"/>
                <a:sym typeface="Source Serif 4"/>
              </a:defRPr>
            </a:lvl1pPr>
          </a:lstStyle>
          <a:p>
            <a:pPr/>
            <a:r>
              <a:t>300K+</a:t>
            </a:r>
          </a:p>
        </p:txBody>
      </p:sp>
      <p:sp>
        <p:nvSpPr>
          <p:cNvPr id="39" name="Text 4"/>
          <p:cNvSpPr txBox="1"/>
          <p:nvPr/>
        </p:nvSpPr>
        <p:spPr>
          <a:xfrm>
            <a:off x="1047750" y="2856160"/>
            <a:ext cx="2079880" cy="7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4A5A70"/>
                </a:solidFill>
                <a:latin typeface="IBM Plex Sans"/>
                <a:ea typeface="IBM Plex Sans"/>
                <a:cs typeface="IBM Plex Sans"/>
                <a:sym typeface="IBM Plex Sans"/>
              </a:defRPr>
            </a:lvl1pPr>
          </a:lstStyle>
          <a:p>
            <a:pPr/>
            <a:r>
              <a:t>worksite employees across thousands of client companies</a:t>
            </a:r>
          </a:p>
        </p:txBody>
      </p:sp>
      <p:sp>
        <p:nvSpPr>
          <p:cNvPr id="40" name="Shape 5"/>
          <p:cNvSpPr/>
          <p:nvPr/>
        </p:nvSpPr>
        <p:spPr>
          <a:xfrm>
            <a:off x="3508375" y="1989385"/>
            <a:ext cx="2482850" cy="2058592"/>
          </a:xfrm>
          <a:prstGeom prst="roundRect">
            <a:avLst>
              <a:gd name="adj" fmla="val 4781"/>
            </a:avLst>
          </a:prstGeom>
          <a:solidFill>
            <a:srgbClr val="FFFFFF"/>
          </a:solidFill>
          <a:ln w="6350">
            <a:solidFill>
              <a:srgbClr val="D8E1EC"/>
            </a:solidFill>
          </a:ln>
        </p:spPr>
        <p:txBody>
          <a:bodyPr lIns="45719" rIns="45719"/>
          <a:lstStyle/>
          <a:p>
            <a:pPr/>
          </a:p>
        </p:txBody>
      </p:sp>
      <p:sp>
        <p:nvSpPr>
          <p:cNvPr id="41" name="Text 6"/>
          <p:cNvSpPr txBox="1"/>
          <p:nvPr/>
        </p:nvSpPr>
        <p:spPr>
          <a:xfrm>
            <a:off x="3740150" y="2221160"/>
            <a:ext cx="207988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z="4400">
                <a:solidFill>
                  <a:srgbClr val="0B1F3A"/>
                </a:solidFill>
                <a:latin typeface="Source Serif 4"/>
                <a:ea typeface="Source Serif 4"/>
                <a:cs typeface="Source Serif 4"/>
                <a:sym typeface="Source Serif 4"/>
              </a:defRPr>
            </a:lvl1pPr>
          </a:lstStyle>
          <a:p>
            <a:pPr/>
            <a:r>
              <a:t>50+</a:t>
            </a:r>
          </a:p>
        </p:txBody>
      </p:sp>
      <p:sp>
        <p:nvSpPr>
          <p:cNvPr id="42" name="Text 7"/>
          <p:cNvSpPr txBox="1"/>
          <p:nvPr/>
        </p:nvSpPr>
        <p:spPr>
          <a:xfrm>
            <a:off x="3740150" y="2856160"/>
            <a:ext cx="2079880" cy="9854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4A5A70"/>
                </a:solidFill>
                <a:latin typeface="IBM Plex Sans"/>
                <a:ea typeface="IBM Plex Sans"/>
                <a:cs typeface="IBM Plex Sans"/>
                <a:sym typeface="IBM Plex Sans"/>
              </a:defRPr>
            </a:lvl1pPr>
          </a:lstStyle>
          <a:p>
            <a:pPr/>
            <a:r>
              <a:t>states plus local jurisdictions, each with its own wage, leave and tax rules</a:t>
            </a:r>
          </a:p>
        </p:txBody>
      </p:sp>
      <p:sp>
        <p:nvSpPr>
          <p:cNvPr id="43" name="Shape 8"/>
          <p:cNvSpPr/>
          <p:nvPr/>
        </p:nvSpPr>
        <p:spPr>
          <a:xfrm>
            <a:off x="6200775" y="1989385"/>
            <a:ext cx="2482850" cy="2058592"/>
          </a:xfrm>
          <a:prstGeom prst="roundRect">
            <a:avLst>
              <a:gd name="adj" fmla="val 4781"/>
            </a:avLst>
          </a:prstGeom>
          <a:solidFill>
            <a:srgbClr val="FFFFFF"/>
          </a:solidFill>
          <a:ln w="6350">
            <a:solidFill>
              <a:srgbClr val="D8E1EC"/>
            </a:solidFill>
          </a:ln>
        </p:spPr>
        <p:txBody>
          <a:bodyPr lIns="45719" rIns="45719"/>
          <a:lstStyle/>
          <a:p>
            <a:pPr/>
          </a:p>
        </p:txBody>
      </p:sp>
      <p:sp>
        <p:nvSpPr>
          <p:cNvPr id="44" name="Text 9"/>
          <p:cNvSpPr txBox="1"/>
          <p:nvPr/>
        </p:nvSpPr>
        <p:spPr>
          <a:xfrm>
            <a:off x="6432550" y="2221160"/>
            <a:ext cx="207988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z="4400">
                <a:solidFill>
                  <a:srgbClr val="0B1F3A"/>
                </a:solidFill>
                <a:latin typeface="Source Serif 4"/>
                <a:ea typeface="Source Serif 4"/>
                <a:cs typeface="Source Serif 4"/>
                <a:sym typeface="Source Serif 4"/>
              </a:defRPr>
            </a:lvl1pPr>
          </a:lstStyle>
          <a:p>
            <a:pPr/>
            <a:r>
              <a:t>142</a:t>
            </a:r>
          </a:p>
        </p:txBody>
      </p:sp>
      <p:sp>
        <p:nvSpPr>
          <p:cNvPr id="45" name="Text 10"/>
          <p:cNvSpPr txBox="1"/>
          <p:nvPr/>
        </p:nvSpPr>
        <p:spPr>
          <a:xfrm>
            <a:off x="6432550" y="2856160"/>
            <a:ext cx="2079880" cy="7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4A5A70"/>
                </a:solidFill>
                <a:latin typeface="IBM Plex Sans"/>
                <a:ea typeface="IBM Plex Sans"/>
                <a:cs typeface="IBM Plex Sans"/>
                <a:sym typeface="IBM Plex Sans"/>
              </a:defRPr>
            </a:lvl1pPr>
          </a:lstStyle>
          <a:p>
            <a:pPr/>
            <a:r>
              <a:t>rules in the policy register across five service domains</a:t>
            </a:r>
          </a:p>
        </p:txBody>
      </p:sp>
      <p:sp>
        <p:nvSpPr>
          <p:cNvPr id="46" name="Shape 11"/>
          <p:cNvSpPr/>
          <p:nvPr/>
        </p:nvSpPr>
        <p:spPr>
          <a:xfrm>
            <a:off x="8893175" y="1989385"/>
            <a:ext cx="2482850" cy="2058592"/>
          </a:xfrm>
          <a:prstGeom prst="roundRect">
            <a:avLst>
              <a:gd name="adj" fmla="val 4781"/>
            </a:avLst>
          </a:prstGeom>
          <a:solidFill>
            <a:srgbClr val="FFFFFF"/>
          </a:solidFill>
          <a:ln w="6350">
            <a:solidFill>
              <a:srgbClr val="D8E1EC"/>
            </a:solidFill>
          </a:ln>
        </p:spPr>
        <p:txBody>
          <a:bodyPr lIns="45719" rIns="45719"/>
          <a:lstStyle/>
          <a:p>
            <a:pPr/>
          </a:p>
        </p:txBody>
      </p:sp>
      <p:sp>
        <p:nvSpPr>
          <p:cNvPr id="47" name="Text 12"/>
          <p:cNvSpPr txBox="1"/>
          <p:nvPr/>
        </p:nvSpPr>
        <p:spPr>
          <a:xfrm>
            <a:off x="9124950" y="2221160"/>
            <a:ext cx="207988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z="4400">
                <a:solidFill>
                  <a:srgbClr val="0B1F3A"/>
                </a:solidFill>
                <a:latin typeface="Source Serif 4"/>
                <a:ea typeface="Source Serif 4"/>
                <a:cs typeface="Source Serif 4"/>
                <a:sym typeface="Source Serif 4"/>
              </a:defRPr>
            </a:lvl1pPr>
          </a:lstStyle>
          <a:p>
            <a:pPr/>
            <a:r>
              <a:t>4+</a:t>
            </a:r>
          </a:p>
        </p:txBody>
      </p:sp>
      <p:sp>
        <p:nvSpPr>
          <p:cNvPr id="48" name="Text 13"/>
          <p:cNvSpPr txBox="1"/>
          <p:nvPr/>
        </p:nvSpPr>
        <p:spPr>
          <a:xfrm>
            <a:off x="9124950" y="2856160"/>
            <a:ext cx="2079880" cy="9854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4A5A70"/>
                </a:solidFill>
                <a:latin typeface="IBM Plex Sans"/>
                <a:ea typeface="IBM Plex Sans"/>
                <a:cs typeface="IBM Plex Sans"/>
                <a:sym typeface="IBM Plex Sans"/>
              </a:defRPr>
            </a:lvl1pPr>
          </a:lstStyle>
          <a:p>
            <a:pPr/>
            <a:r>
              <a:t>platforms with their own definitions: Workday, payroll, Microsoft 365, Box</a:t>
            </a:r>
          </a:p>
        </p:txBody>
      </p:sp>
      <p:sp>
        <p:nvSpPr>
          <p:cNvPr id="49" name="Text 14"/>
          <p:cNvSpPr txBox="1"/>
          <p:nvPr/>
        </p:nvSpPr>
        <p:spPr>
          <a:xfrm>
            <a:off x="812800" y="4406751"/>
            <a:ext cx="9810750" cy="11149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800"/>
              </a:lnSpc>
              <a:defRPr sz="2200">
                <a:solidFill>
                  <a:srgbClr val="0B1F3A"/>
                </a:solidFill>
                <a:latin typeface="Source Serif 4"/>
                <a:ea typeface="Source Serif 4"/>
                <a:cs typeface="Source Serif 4"/>
                <a:sym typeface="Source Serif 4"/>
              </a:defRPr>
            </a:pPr>
            <a:r>
              <a:t>Every new platform and every new AI agent brings its own meaning for worker, client, plan and rule. </a:t>
            </a:r>
            <a:r>
              <a:rPr>
                <a:solidFill>
                  <a:srgbClr val="2E6E8E"/>
                </a:solidFill>
              </a:rPr>
              <a:t>Without a keel, that drift pushes the company sideways.</a:t>
            </a:r>
          </a:p>
        </p:txBody>
      </p:sp>
      <p:sp>
        <p:nvSpPr>
          <p:cNvPr id="50" name="Text 15"/>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54"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7E6319"/>
                </a:solidFill>
                <a:latin typeface="IBM Plex Sans"/>
                <a:ea typeface="IBM Plex Sans"/>
                <a:cs typeface="IBM Plex Sans"/>
                <a:sym typeface="IBM Plex Sans"/>
              </a:defRPr>
            </a:lvl1pPr>
          </a:lstStyle>
          <a:p>
            <a:pPr/>
            <a:r>
              <a:t>FOR BUSINESS EXECUTIVES</a:t>
            </a:r>
          </a:p>
        </p:txBody>
      </p:sp>
      <p:sp>
        <p:nvSpPr>
          <p:cNvPr id="55"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Three promises the Keel makes</a:t>
            </a:r>
          </a:p>
        </p:txBody>
      </p:sp>
      <p:sp>
        <p:nvSpPr>
          <p:cNvPr id="56" name="Shape 2"/>
          <p:cNvSpPr/>
          <p:nvPr/>
        </p:nvSpPr>
        <p:spPr>
          <a:xfrm>
            <a:off x="815975" y="1989385"/>
            <a:ext cx="3380284" cy="2637583"/>
          </a:xfrm>
          <a:prstGeom prst="roundRect">
            <a:avLst>
              <a:gd name="adj" fmla="val 3732"/>
            </a:avLst>
          </a:prstGeom>
          <a:solidFill>
            <a:srgbClr val="FFFFFF"/>
          </a:solidFill>
          <a:ln w="6350">
            <a:solidFill>
              <a:srgbClr val="D8E1EC"/>
            </a:solidFill>
          </a:ln>
        </p:spPr>
        <p:txBody>
          <a:bodyPr lIns="45719" rIns="45719"/>
          <a:lstStyle/>
          <a:p>
            <a:pPr/>
          </a:p>
        </p:txBody>
      </p:sp>
      <p:sp>
        <p:nvSpPr>
          <p:cNvPr id="57" name="Text 3"/>
          <p:cNvSpPr txBox="1"/>
          <p:nvPr/>
        </p:nvSpPr>
        <p:spPr>
          <a:xfrm>
            <a:off x="1073150" y="2246560"/>
            <a:ext cx="2951913" cy="3466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sz="2200">
                <a:solidFill>
                  <a:srgbClr val="0B1F3A"/>
                </a:solidFill>
                <a:latin typeface="Source Serif 4"/>
                <a:ea typeface="Source Serif 4"/>
                <a:cs typeface="Source Serif 4"/>
                <a:sym typeface="Source Serif 4"/>
              </a:defRPr>
            </a:lvl1pPr>
          </a:lstStyle>
          <a:p>
            <a:pPr/>
            <a:r>
              <a:t>One meaning</a:t>
            </a:r>
          </a:p>
        </p:txBody>
      </p:sp>
      <p:sp>
        <p:nvSpPr>
          <p:cNvPr id="58" name="Text 4"/>
          <p:cNvSpPr txBox="1"/>
          <p:nvPr/>
        </p:nvSpPr>
        <p:spPr>
          <a:xfrm>
            <a:off x="1073150" y="2694831"/>
            <a:ext cx="2951913" cy="10209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rgbClr val="4A5A70"/>
                </a:solidFill>
                <a:latin typeface="IBM Plex Sans"/>
                <a:ea typeface="IBM Plex Sans"/>
                <a:cs typeface="IBM Plex Sans"/>
                <a:sym typeface="IBM Plex Sans"/>
              </a:defRPr>
            </a:lvl1pPr>
          </a:lstStyle>
          <a:p>
            <a:pPr/>
            <a:r>
              <a:t>Worker, client, plan, jurisdiction and rule mean the same thing in Workday, payroll, Microsoft 365 and every agent.</a:t>
            </a:r>
          </a:p>
        </p:txBody>
      </p:sp>
      <p:sp>
        <p:nvSpPr>
          <p:cNvPr id="59" name="Text 5"/>
          <p:cNvSpPr txBox="1"/>
          <p:nvPr/>
        </p:nvSpPr>
        <p:spPr>
          <a:xfrm>
            <a:off x="1073150" y="3817392"/>
            <a:ext cx="2951913"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400">
                <a:solidFill>
                  <a:srgbClr val="2E6E8E"/>
                </a:solidFill>
                <a:latin typeface="IBM Plex Sans"/>
                <a:ea typeface="IBM Plex Sans"/>
                <a:cs typeface="IBM Plex Sans"/>
                <a:sym typeface="IBM Plex Sans"/>
              </a:defRPr>
            </a:lvl1pPr>
          </a:lstStyle>
          <a:p>
            <a:pPr/>
            <a:r>
              <a:t>Reports and AI answers stop disagreeing.</a:t>
            </a:r>
          </a:p>
        </p:txBody>
      </p:sp>
      <p:sp>
        <p:nvSpPr>
          <p:cNvPr id="60" name="Shape 6"/>
          <p:cNvSpPr/>
          <p:nvPr/>
        </p:nvSpPr>
        <p:spPr>
          <a:xfrm>
            <a:off x="4405808" y="1989385"/>
            <a:ext cx="3380334" cy="2637583"/>
          </a:xfrm>
          <a:prstGeom prst="roundRect">
            <a:avLst>
              <a:gd name="adj" fmla="val 3732"/>
            </a:avLst>
          </a:prstGeom>
          <a:solidFill>
            <a:srgbClr val="FFFFFF"/>
          </a:solidFill>
          <a:ln w="6350">
            <a:solidFill>
              <a:srgbClr val="D8E1EC"/>
            </a:solidFill>
          </a:ln>
        </p:spPr>
        <p:txBody>
          <a:bodyPr lIns="45719" rIns="45719"/>
          <a:lstStyle/>
          <a:p>
            <a:pPr/>
          </a:p>
        </p:txBody>
      </p:sp>
      <p:sp>
        <p:nvSpPr>
          <p:cNvPr id="61" name="Text 7"/>
          <p:cNvSpPr txBox="1"/>
          <p:nvPr/>
        </p:nvSpPr>
        <p:spPr>
          <a:xfrm>
            <a:off x="4662983" y="2246560"/>
            <a:ext cx="2951965" cy="6679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sz="2200">
                <a:solidFill>
                  <a:srgbClr val="0B1F3A"/>
                </a:solidFill>
                <a:latin typeface="Source Serif 4"/>
                <a:ea typeface="Source Serif 4"/>
                <a:cs typeface="Source Serif 4"/>
                <a:sym typeface="Source Serif 4"/>
              </a:defRPr>
            </a:lvl1pPr>
          </a:lstStyle>
          <a:p>
            <a:pPr/>
            <a:r>
              <a:t>Author once, enforce everywhere</a:t>
            </a:r>
          </a:p>
        </p:txBody>
      </p:sp>
      <p:sp>
        <p:nvSpPr>
          <p:cNvPr id="62" name="Text 8"/>
          <p:cNvSpPr txBox="1"/>
          <p:nvPr/>
        </p:nvSpPr>
        <p:spPr>
          <a:xfrm>
            <a:off x="4662983" y="3016100"/>
            <a:ext cx="2951965" cy="7720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rgbClr val="4A5A70"/>
                </a:solidFill>
                <a:latin typeface="IBM Plex Sans"/>
                <a:ea typeface="IBM Plex Sans"/>
                <a:cs typeface="IBM Plex Sans"/>
                <a:sym typeface="IBM Plex Sans"/>
              </a:defRPr>
            </a:lvl1pPr>
          </a:lstStyle>
          <a:p>
            <a:pPr/>
            <a:r>
              <a:t>A law change is written once and compiled into every engine that runs the business.</a:t>
            </a:r>
          </a:p>
        </p:txBody>
      </p:sp>
      <p:sp>
        <p:nvSpPr>
          <p:cNvPr id="63" name="Text 9"/>
          <p:cNvSpPr txBox="1"/>
          <p:nvPr/>
        </p:nvSpPr>
        <p:spPr>
          <a:xfrm>
            <a:off x="4662983" y="3889771"/>
            <a:ext cx="2951965"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400">
                <a:solidFill>
                  <a:srgbClr val="2E6E8E"/>
                </a:solidFill>
                <a:latin typeface="IBM Plex Sans"/>
                <a:ea typeface="IBM Plex Sans"/>
                <a:cs typeface="IBM Plex Sans"/>
                <a:sym typeface="IBM Plex Sans"/>
              </a:defRPr>
            </a:lvl1pPr>
          </a:lstStyle>
          <a:p>
            <a:pPr/>
            <a:r>
              <a:t>Law change to production: weeks, then 48 hours.</a:t>
            </a:r>
          </a:p>
        </p:txBody>
      </p:sp>
      <p:sp>
        <p:nvSpPr>
          <p:cNvPr id="64" name="Shape 10"/>
          <p:cNvSpPr/>
          <p:nvPr/>
        </p:nvSpPr>
        <p:spPr>
          <a:xfrm>
            <a:off x="7995691" y="1989385"/>
            <a:ext cx="3380285" cy="2637583"/>
          </a:xfrm>
          <a:prstGeom prst="roundRect">
            <a:avLst>
              <a:gd name="adj" fmla="val 3732"/>
            </a:avLst>
          </a:prstGeom>
          <a:solidFill>
            <a:srgbClr val="FFFFFF"/>
          </a:solidFill>
          <a:ln w="6350">
            <a:solidFill>
              <a:srgbClr val="D8E1EC"/>
            </a:solidFill>
          </a:ln>
        </p:spPr>
        <p:txBody>
          <a:bodyPr lIns="45719" rIns="45719"/>
          <a:lstStyle/>
          <a:p>
            <a:pPr/>
          </a:p>
        </p:txBody>
      </p:sp>
      <p:sp>
        <p:nvSpPr>
          <p:cNvPr id="65" name="Text 11"/>
          <p:cNvSpPr txBox="1"/>
          <p:nvPr/>
        </p:nvSpPr>
        <p:spPr>
          <a:xfrm>
            <a:off x="8252866" y="2246560"/>
            <a:ext cx="2951913" cy="6679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sz="2200">
                <a:solidFill>
                  <a:srgbClr val="0B1F3A"/>
                </a:solidFill>
                <a:latin typeface="Source Serif 4"/>
                <a:ea typeface="Source Serif 4"/>
                <a:cs typeface="Source Serif 4"/>
                <a:sym typeface="Source Serif 4"/>
              </a:defRPr>
            </a:lvl1pPr>
          </a:lstStyle>
          <a:p>
            <a:pPr/>
            <a:r>
              <a:t>Every answer traceable</a:t>
            </a:r>
          </a:p>
        </p:txBody>
      </p:sp>
      <p:sp>
        <p:nvSpPr>
          <p:cNvPr id="66" name="Text 12"/>
          <p:cNvSpPr txBox="1"/>
          <p:nvPr/>
        </p:nvSpPr>
        <p:spPr>
          <a:xfrm>
            <a:off x="8252866" y="3016100"/>
            <a:ext cx="2951913" cy="7720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rgbClr val="4A5A70"/>
                </a:solidFill>
                <a:latin typeface="IBM Plex Sans"/>
                <a:ea typeface="IBM Plex Sans"/>
                <a:cs typeface="IBM Plex Sans"/>
                <a:sym typeface="IBM Plex Sans"/>
              </a:defRPr>
            </a:lvl1pPr>
          </a:lstStyle>
          <a:p>
            <a:pPr/>
            <a:r>
              <a:t>Each payroll check, AI answer and agent action carries the rule and statute behind it.</a:t>
            </a:r>
          </a:p>
        </p:txBody>
      </p:sp>
      <p:sp>
        <p:nvSpPr>
          <p:cNvPr id="67" name="Text 13"/>
          <p:cNvSpPr txBox="1"/>
          <p:nvPr/>
        </p:nvSpPr>
        <p:spPr>
          <a:xfrm>
            <a:off x="8252866" y="3889771"/>
            <a:ext cx="2951913"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400">
                <a:solidFill>
                  <a:srgbClr val="2E6E8E"/>
                </a:solidFill>
                <a:latin typeface="IBM Plex Sans"/>
                <a:ea typeface="IBM Plex Sans"/>
                <a:cs typeface="IBM Plex Sans"/>
                <a:sym typeface="IBM Plex Sans"/>
              </a:defRPr>
            </a:lvl1pPr>
          </a:lstStyle>
          <a:p>
            <a:pPr/>
            <a:r>
              <a:t>Audit evidence assembled continuously.</a:t>
            </a:r>
          </a:p>
        </p:txBody>
      </p:sp>
      <p:sp>
        <p:nvSpPr>
          <p:cNvPr id="68" name="Text 14"/>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pic>
        <p:nvPicPr>
          <p:cNvPr id="72" name="Image 0" descr="Image 0"/>
          <p:cNvPicPr>
            <a:picLocks noChangeAspect="1"/>
          </p:cNvPicPr>
          <p:nvPr/>
        </p:nvPicPr>
        <p:blipFill>
          <a:blip r:embed="rId3">
            <a:extLst/>
          </a:blip>
          <a:stretch>
            <a:fillRect/>
          </a:stretch>
        </p:blipFill>
        <p:spPr>
          <a:xfrm>
            <a:off x="609600" y="0"/>
            <a:ext cx="10972800" cy="68580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9FC"/>
        </a:solidFill>
      </p:bgPr>
    </p:bg>
    <p:spTree>
      <p:nvGrpSpPr>
        <p:cNvPr id="1" name=""/>
        <p:cNvGrpSpPr/>
        <p:nvPr/>
      </p:nvGrpSpPr>
      <p:grpSpPr>
        <a:xfrm>
          <a:off x="0" y="0"/>
          <a:ext cx="0" cy="0"/>
          <a:chOff x="0" y="0"/>
          <a:chExt cx="0" cy="0"/>
        </a:xfrm>
      </p:grpSpPr>
      <p:pic>
        <p:nvPicPr>
          <p:cNvPr id="76" name="Image 0" descr="Image 0"/>
          <p:cNvPicPr>
            <a:picLocks noChangeAspect="1"/>
          </p:cNvPicPr>
          <p:nvPr/>
        </p:nvPicPr>
        <p:blipFill>
          <a:blip r:embed="rId3">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80"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7E6319"/>
                </a:solidFill>
                <a:latin typeface="IBM Plex Sans"/>
                <a:ea typeface="IBM Plex Sans"/>
                <a:cs typeface="IBM Plex Sans"/>
                <a:sym typeface="IBM Plex Sans"/>
              </a:defRPr>
            </a:lvl1pPr>
          </a:lstStyle>
          <a:p>
            <a:pPr/>
            <a:r>
              <a:t>FOR BUSINESS EXECUTIVES</a:t>
            </a:r>
          </a:p>
        </p:txBody>
      </p:sp>
      <p:sp>
        <p:nvSpPr>
          <p:cNvPr id="81"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What each group gets</a:t>
            </a:r>
          </a:p>
        </p:txBody>
      </p:sp>
      <p:graphicFrame>
        <p:nvGraphicFramePr>
          <p:cNvPr id="82" name="Table 0"/>
          <p:cNvGraphicFramePr/>
          <p:nvPr/>
        </p:nvGraphicFramePr>
        <p:xfrm>
          <a:off x="825500" y="1948110"/>
          <a:ext cx="10553700" cy="292561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21814"/>
                <a:gridCol w="4854702"/>
                <a:gridCol w="3377184"/>
              </a:tblGrid>
              <a:tr h="386011">
                <a:tc>
                  <a:txBody>
                    <a:bodyPr/>
                    <a:lstStyle/>
                    <a:p>
                      <a:pPr algn="l">
                        <a:lnSpc>
                          <a:spcPts val="1900"/>
                        </a:lnSpc>
                        <a:defRPr sz="1800"/>
                      </a:pPr>
                      <a:r>
                        <a:rPr b="1" sz="1400">
                          <a:solidFill>
                            <a:srgbClr val="20344B"/>
                          </a:solidFill>
                          <a:latin typeface="IBM Plex Sans"/>
                          <a:ea typeface="IBM Plex Sans"/>
                          <a:cs typeface="IBM Plex Sans"/>
                          <a:sym typeface="IBM Plex Sans"/>
                        </a:rPr>
                        <a:t>Group</a:t>
                      </a:r>
                    </a:p>
                  </a:txBody>
                  <a:tcPr marL="62230" marR="62230" marT="62230" marB="62230" anchor="t" anchorCtr="0" horzOverflow="overflow">
                    <a:lnL w="12700">
                      <a:solidFill>
                        <a:srgbClr val="C3C5C8"/>
                      </a:solidFill>
                    </a:lnL>
                    <a:lnR w="12700">
                      <a:solidFill>
                        <a:srgbClr val="B6BCC3"/>
                      </a:solidFill>
                    </a:lnR>
                    <a:lnT w="12700">
                      <a:solidFill>
                        <a:srgbClr val="C3C5C8"/>
                      </a:solidFill>
                    </a:lnT>
                    <a:lnB w="12700">
                      <a:solidFill>
                        <a:srgbClr val="B6BCC3"/>
                      </a:solidFill>
                    </a:lnB>
                    <a:solidFill>
                      <a:srgbClr val="E4EBF4"/>
                    </a:solidFill>
                  </a:tcPr>
                </a:tc>
                <a:tc>
                  <a:txBody>
                    <a:bodyPr/>
                    <a:lstStyle/>
                    <a:p>
                      <a:pPr algn="l">
                        <a:lnSpc>
                          <a:spcPts val="1900"/>
                        </a:lnSpc>
                        <a:defRPr sz="1800"/>
                      </a:pPr>
                      <a:r>
                        <a:rPr b="1" sz="1400">
                          <a:solidFill>
                            <a:srgbClr val="20344B"/>
                          </a:solidFill>
                          <a:latin typeface="IBM Plex Sans"/>
                          <a:ea typeface="IBM Plex Sans"/>
                          <a:cs typeface="IBM Plex Sans"/>
                          <a:sym typeface="IBM Plex Sans"/>
                        </a:rPr>
                        <a:t>What changes</a:t>
                      </a:r>
                    </a:p>
                  </a:txBody>
                  <a:tcPr marL="62230" marR="62230" marT="62230" marB="62230" anchor="t" anchorCtr="0" horzOverflow="overflow">
                    <a:lnL w="12700">
                      <a:solidFill>
                        <a:srgbClr val="B6BCC3"/>
                      </a:solidFill>
                    </a:lnL>
                    <a:lnR w="12700">
                      <a:solidFill>
                        <a:srgbClr val="B6BCC3"/>
                      </a:solidFill>
                    </a:lnR>
                    <a:lnT w="12700">
                      <a:solidFill>
                        <a:srgbClr val="C3C5C8"/>
                      </a:solidFill>
                    </a:lnT>
                    <a:lnB w="12700">
                      <a:solidFill>
                        <a:srgbClr val="B6BCC3"/>
                      </a:solidFill>
                    </a:lnB>
                    <a:solidFill>
                      <a:srgbClr val="E4EBF4"/>
                    </a:solidFill>
                  </a:tcPr>
                </a:tc>
                <a:tc>
                  <a:txBody>
                    <a:bodyPr/>
                    <a:lstStyle/>
                    <a:p>
                      <a:pPr algn="l">
                        <a:lnSpc>
                          <a:spcPts val="1900"/>
                        </a:lnSpc>
                        <a:defRPr sz="1800"/>
                      </a:pPr>
                      <a:r>
                        <a:rPr b="1" sz="1400">
                          <a:solidFill>
                            <a:srgbClr val="20344B"/>
                          </a:solidFill>
                          <a:latin typeface="IBM Plex Sans"/>
                          <a:ea typeface="IBM Plex Sans"/>
                          <a:cs typeface="IBM Plex Sans"/>
                          <a:sym typeface="IBM Plex Sans"/>
                        </a:rPr>
                        <a:t>How we measure it</a:t>
                      </a:r>
                    </a:p>
                  </a:txBody>
                  <a:tcPr marL="62230" marR="62230" marT="62230" marB="62230" anchor="t" anchorCtr="0" horzOverflow="overflow">
                    <a:lnL w="12700">
                      <a:solidFill>
                        <a:srgbClr val="B6BCC3"/>
                      </a:solidFill>
                    </a:lnL>
                    <a:lnR w="12700">
                      <a:solidFill>
                        <a:srgbClr val="B6BCC3"/>
                      </a:solidFill>
                    </a:lnR>
                    <a:lnT w="12700">
                      <a:solidFill>
                        <a:srgbClr val="C3C5C8"/>
                      </a:solidFill>
                    </a:lnT>
                    <a:lnB w="12700">
                      <a:solidFill>
                        <a:srgbClr val="B6BCC3"/>
                      </a:solidFill>
                    </a:lnB>
                    <a:solidFill>
                      <a:srgbClr val="E4EBF4"/>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Worksite employees</a:t>
                      </a:r>
                    </a:p>
                  </a:txBody>
                  <a:tcPr marL="62230" marR="62230" marT="62230" marB="62230" anchor="t" anchorCtr="0" horzOverflow="overflow">
                    <a:lnL w="12700">
                      <a:solidFill>
                        <a:srgbClr val="C3C5C8"/>
                      </a:solidFill>
                    </a:lnL>
                    <a:lnR w="12700">
                      <a:solidFill>
                        <a:srgbClr val="CBCBCB"/>
                      </a:solidFill>
                    </a:lnR>
                    <a:lnT w="12700">
                      <a:solidFill>
                        <a:srgbClr val="B6BCC3"/>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Cited pay, benefits and leave answers in seconds; training when a rule changes</a:t>
                      </a:r>
                    </a:p>
                  </a:txBody>
                  <a:tcPr marL="62230" marR="62230" marT="62230" marB="62230" anchor="t" anchorCtr="0" horzOverflow="overflow">
                    <a:lnL w="12700">
                      <a:solidFill>
                        <a:srgbClr val="CBCBCB"/>
                      </a:solidFill>
                    </a:lnL>
                    <a:lnR w="12700">
                      <a:solidFill>
                        <a:srgbClr val="CBCBCB"/>
                      </a:solidFill>
                    </a:lnR>
                    <a:lnT w="12700">
                      <a:solidFill>
                        <a:srgbClr val="B6BCC3"/>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Self-service resolution 40% to 80%</a:t>
                      </a:r>
                    </a:p>
                  </a:txBody>
                  <a:tcPr marL="62230" marR="62230" marT="62230" marB="62230" anchor="t" anchorCtr="0" horzOverflow="overflow">
                    <a:lnL w="12700">
                      <a:solidFill>
                        <a:srgbClr val="CBCBCB"/>
                      </a:solidFill>
                    </a:lnL>
                    <a:lnR w="12700">
                      <a:solidFill>
                        <a:srgbClr val="CBCBCB"/>
                      </a:solidFill>
                    </a:lnR>
                    <a:lnT w="12700">
                      <a:solidFill>
                        <a:srgbClr val="B6BCC3"/>
                      </a:solidFill>
                    </a:lnT>
                    <a:lnB w="12700">
                      <a:solidFill>
                        <a:srgbClr val="CBCBCB"/>
                      </a:solidFill>
                    </a:lnB>
                    <a:solidFill>
                      <a:srgbClr val="FFFFFF"/>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Client employers</a:t>
                      </a:r>
                    </a:p>
                  </a:txBody>
                  <a:tcPr marL="62230" marR="62230" marT="62230" marB="62230" anchor="t" anchorCtr="0" horzOverflow="overflow">
                    <a:lnL w="12700">
                      <a:solidFill>
                        <a:srgbClr val="C3C5C8"/>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A monthly Compliance Assurance Statement; law changes applied in days, then hours</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Law change to production ≤48 hours</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Service teams</a:t>
                      </a:r>
                    </a:p>
                  </a:txBody>
                  <a:tcPr marL="62230" marR="62230" marT="62230" marB="62230" anchor="t" anchorCtr="0" horzOverflow="overflow">
                    <a:lnL w="12700">
                      <a:solidFill>
                        <a:srgbClr val="C3C5C8"/>
                      </a:solidFill>
                    </a:lnL>
                    <a:lnR w="12700">
                      <a:solidFill>
                        <a:srgbClr val="CBCBCB"/>
                      </a:solidFill>
                    </a:lnR>
                    <a:lnT w="12700">
                      <a:solidFill>
                        <a:srgbClr val="C6C7CA"/>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Prep, proposals and case summaries grounded in governed knowledge</a:t>
                      </a:r>
                    </a:p>
                  </a:txBody>
                  <a:tcPr marL="62230" marR="62230" marT="62230" marB="62230" anchor="t" anchorCtr="0" horzOverflow="overflow">
                    <a:lnL w="12700">
                      <a:solidFill>
                        <a:srgbClr val="CBCBCB"/>
                      </a:solidFill>
                    </a:lnL>
                    <a:lnR w="12700">
                      <a:solidFill>
                        <a:srgbClr val="CBCBCB"/>
                      </a:solidFill>
                    </a:lnR>
                    <a:lnT w="12700">
                      <a:solidFill>
                        <a:srgbClr val="C6C7CA"/>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Proposal prep time index 100 to 50</a:t>
                      </a:r>
                    </a:p>
                  </a:txBody>
                  <a:tcPr marL="62230" marR="62230" marT="62230" marB="62230" anchor="t" anchorCtr="0" horzOverflow="overflow">
                    <a:lnL w="12700">
                      <a:solidFill>
                        <a:srgbClr val="CBCBCB"/>
                      </a:solidFill>
                    </a:lnL>
                    <a:lnR w="12700">
                      <a:solidFill>
                        <a:srgbClr val="CBCBCB"/>
                      </a:solidFill>
                    </a:lnR>
                    <a:lnT w="12700">
                      <a:solidFill>
                        <a:srgbClr val="C6C7CA"/>
                      </a:solidFill>
                    </a:lnT>
                    <a:lnB w="12700">
                      <a:solidFill>
                        <a:srgbClr val="CBCBCB"/>
                      </a:solidFill>
                    </a:lnB>
                    <a:solidFill>
                      <a:srgbClr val="FFFFFF"/>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Insperity enterprise</a:t>
                      </a:r>
                    </a:p>
                  </a:txBody>
                  <a:tcPr marL="62230" marR="62230" marT="62230" marB="62230" anchor="t" anchorCtr="0" horzOverflow="overflow">
                    <a:lnL w="12700">
                      <a:solidFill>
                        <a:srgbClr val="C3C5C8"/>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Continuous CPEO, SOC and ESAC evidence; no client data crossover</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Audit-evidence index 100 to 38; zero cross-tenant incidents</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r>
            </a:tbl>
          </a:graphicData>
        </a:graphic>
      </p:graphicFrame>
      <p:sp>
        <p:nvSpPr>
          <p:cNvPr id="83" name="Text 2"/>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7 · Targets are planning estimates set against Phase 0 baselines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87"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7E6319"/>
                </a:solidFill>
                <a:latin typeface="IBM Plex Sans"/>
                <a:ea typeface="IBM Plex Sans"/>
                <a:cs typeface="IBM Plex Sans"/>
                <a:sym typeface="IBM Plex Sans"/>
              </a:defRPr>
            </a:lvl1pPr>
          </a:lstStyle>
          <a:p>
            <a:pPr/>
            <a:r>
              <a:t>FOR BUSINESS EXECUTIVES</a:t>
            </a:r>
          </a:p>
        </p:txBody>
      </p:sp>
      <p:sp>
        <p:nvSpPr>
          <p:cNvPr id="88"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The cost of sailing without a keel</a:t>
            </a:r>
          </a:p>
        </p:txBody>
      </p:sp>
      <p:graphicFrame>
        <p:nvGraphicFramePr>
          <p:cNvPr id="89" name="Table 0"/>
          <p:cNvGraphicFramePr/>
          <p:nvPr/>
        </p:nvGraphicFramePr>
        <p:xfrm>
          <a:off x="825500" y="1948110"/>
          <a:ext cx="10553700" cy="292561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10740"/>
                <a:gridCol w="4221480"/>
                <a:gridCol w="4221480"/>
              </a:tblGrid>
              <a:tr h="386011">
                <a:tc>
                  <a:txBody>
                    <a:bodyPr/>
                    <a:lstStyle/>
                    <a:p>
                      <a:pPr algn="l">
                        <a:lnSpc>
                          <a:spcPts val="1900"/>
                        </a:lnSpc>
                        <a:defRPr sz="1800"/>
                      </a:pPr>
                      <a:r>
                        <a:rPr b="1" sz="1400">
                          <a:solidFill>
                            <a:srgbClr val="20344B"/>
                          </a:solidFill>
                          <a:latin typeface="IBM Plex Sans"/>
                          <a:ea typeface="IBM Plex Sans"/>
                          <a:cs typeface="IBM Plex Sans"/>
                          <a:sym typeface="IBM Plex Sans"/>
                        </a:rPr>
                        <a:t>Risk</a:t>
                      </a:r>
                    </a:p>
                  </a:txBody>
                  <a:tcPr marL="62230" marR="62230" marT="62230" marB="62230" anchor="t" anchorCtr="0" horzOverflow="overflow">
                    <a:lnL w="12700">
                      <a:solidFill>
                        <a:srgbClr val="C3C5C8"/>
                      </a:solidFill>
                    </a:lnL>
                    <a:lnR w="12700">
                      <a:solidFill>
                        <a:srgbClr val="B6BCC3"/>
                      </a:solidFill>
                    </a:lnR>
                    <a:lnT w="12700">
                      <a:solidFill>
                        <a:srgbClr val="C3C5C8"/>
                      </a:solidFill>
                    </a:lnT>
                    <a:lnB w="12700">
                      <a:solidFill>
                        <a:srgbClr val="B6BCC3"/>
                      </a:solidFill>
                    </a:lnB>
                    <a:solidFill>
                      <a:srgbClr val="E4EBF4"/>
                    </a:solidFill>
                  </a:tcPr>
                </a:tc>
                <a:tc>
                  <a:txBody>
                    <a:bodyPr/>
                    <a:lstStyle/>
                    <a:p>
                      <a:pPr algn="l">
                        <a:lnSpc>
                          <a:spcPts val="1900"/>
                        </a:lnSpc>
                        <a:defRPr sz="1800"/>
                      </a:pPr>
                      <a:r>
                        <a:rPr b="1" sz="1400">
                          <a:solidFill>
                            <a:srgbClr val="20344B"/>
                          </a:solidFill>
                          <a:latin typeface="IBM Plex Sans"/>
                          <a:ea typeface="IBM Plex Sans"/>
                          <a:cs typeface="IBM Plex Sans"/>
                          <a:sym typeface="IBM Plex Sans"/>
                        </a:rPr>
                        <a:t>Without a keel</a:t>
                      </a:r>
                    </a:p>
                  </a:txBody>
                  <a:tcPr marL="62230" marR="62230" marT="62230" marB="62230" anchor="t" anchorCtr="0" horzOverflow="overflow">
                    <a:lnL w="12700">
                      <a:solidFill>
                        <a:srgbClr val="B6BCC3"/>
                      </a:solidFill>
                    </a:lnL>
                    <a:lnR w="12700">
                      <a:solidFill>
                        <a:srgbClr val="B6BCC3"/>
                      </a:solidFill>
                    </a:lnR>
                    <a:lnT w="12700">
                      <a:solidFill>
                        <a:srgbClr val="C3C5C8"/>
                      </a:solidFill>
                    </a:lnT>
                    <a:lnB w="12700">
                      <a:solidFill>
                        <a:srgbClr val="B6BCC3"/>
                      </a:solidFill>
                    </a:lnB>
                    <a:solidFill>
                      <a:srgbClr val="E4EBF4"/>
                    </a:solidFill>
                  </a:tcPr>
                </a:tc>
                <a:tc>
                  <a:txBody>
                    <a:bodyPr/>
                    <a:lstStyle/>
                    <a:p>
                      <a:pPr algn="l">
                        <a:lnSpc>
                          <a:spcPts val="1900"/>
                        </a:lnSpc>
                        <a:defRPr sz="1800"/>
                      </a:pPr>
                      <a:r>
                        <a:rPr b="1" sz="1400">
                          <a:solidFill>
                            <a:srgbClr val="20344B"/>
                          </a:solidFill>
                          <a:latin typeface="IBM Plex Sans"/>
                          <a:ea typeface="IBM Plex Sans"/>
                          <a:cs typeface="IBM Plex Sans"/>
                          <a:sym typeface="IBM Plex Sans"/>
                        </a:rPr>
                        <a:t>With the Keel</a:t>
                      </a:r>
                    </a:p>
                  </a:txBody>
                  <a:tcPr marL="62230" marR="62230" marT="62230" marB="62230" anchor="t" anchorCtr="0" horzOverflow="overflow">
                    <a:lnL w="12700">
                      <a:solidFill>
                        <a:srgbClr val="B6BCC3"/>
                      </a:solidFill>
                    </a:lnL>
                    <a:lnR w="12700">
                      <a:solidFill>
                        <a:srgbClr val="B6BCC3"/>
                      </a:solidFill>
                    </a:lnR>
                    <a:lnT w="12700">
                      <a:solidFill>
                        <a:srgbClr val="C3C5C8"/>
                      </a:solidFill>
                    </a:lnT>
                    <a:lnB w="12700">
                      <a:solidFill>
                        <a:srgbClr val="B6BCC3"/>
                      </a:solidFill>
                    </a:lnB>
                    <a:solidFill>
                      <a:srgbClr val="E4EBF4"/>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Agent sprawl</a:t>
                      </a:r>
                    </a:p>
                  </a:txBody>
                  <a:tcPr marL="62230" marR="62230" marT="62230" marB="62230" anchor="t" anchorCtr="0" horzOverflow="overflow">
                    <a:lnL w="12700">
                      <a:solidFill>
                        <a:srgbClr val="C3C5C8"/>
                      </a:solidFill>
                    </a:lnL>
                    <a:lnR w="12700">
                      <a:solidFill>
                        <a:srgbClr val="CBCBCB"/>
                      </a:solidFill>
                    </a:lnR>
                    <a:lnT w="12700">
                      <a:solidFill>
                        <a:srgbClr val="B6BCC3"/>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Each vendor's agents answer from their own copy of the truth</a:t>
                      </a:r>
                    </a:p>
                  </a:txBody>
                  <a:tcPr marL="62230" marR="62230" marT="62230" marB="62230" anchor="t" anchorCtr="0" horzOverflow="overflow">
                    <a:lnL w="12700">
                      <a:solidFill>
                        <a:srgbClr val="CBCBCB"/>
                      </a:solidFill>
                    </a:lnL>
                    <a:lnR w="12700">
                      <a:solidFill>
                        <a:srgbClr val="CBCBCB"/>
                      </a:solidFill>
                    </a:lnR>
                    <a:lnT w="12700">
                      <a:solidFill>
                        <a:srgbClr val="B6BCC3"/>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Every agent registered, identified and routed through one gateway</a:t>
                      </a:r>
                    </a:p>
                  </a:txBody>
                  <a:tcPr marL="62230" marR="62230" marT="62230" marB="62230" anchor="t" anchorCtr="0" horzOverflow="overflow">
                    <a:lnL w="12700">
                      <a:solidFill>
                        <a:srgbClr val="CBCBCB"/>
                      </a:solidFill>
                    </a:lnL>
                    <a:lnR w="12700">
                      <a:solidFill>
                        <a:srgbClr val="CBCBCB"/>
                      </a:solidFill>
                    </a:lnR>
                    <a:lnT w="12700">
                      <a:solidFill>
                        <a:srgbClr val="B6BCC3"/>
                      </a:solidFill>
                    </a:lnT>
                    <a:lnB w="12700">
                      <a:solidFill>
                        <a:srgbClr val="CBCBCB"/>
                      </a:solidFill>
                    </a:lnB>
                    <a:solidFill>
                      <a:srgbClr val="FFFFFF"/>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Definition drift</a:t>
                      </a:r>
                    </a:p>
                  </a:txBody>
                  <a:tcPr marL="62230" marR="62230" marT="62230" marB="62230" anchor="t" anchorCtr="0" horzOverflow="overflow">
                    <a:lnL w="12700">
                      <a:solidFill>
                        <a:srgbClr val="C3C5C8"/>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Workday, payroll, Fabric and Box each define an eligible employee differently</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One canonical definition; the others are generated from it</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Audit exposure</a:t>
                      </a:r>
                    </a:p>
                  </a:txBody>
                  <a:tcPr marL="62230" marR="62230" marT="62230" marB="62230" anchor="t" anchorCtr="0" horzOverflow="overflow">
                    <a:lnL w="12700">
                      <a:solidFill>
                        <a:srgbClr val="C3C5C8"/>
                      </a:solidFill>
                    </a:lnL>
                    <a:lnR w="12700">
                      <a:solidFill>
                        <a:srgbClr val="CBCBCB"/>
                      </a:solidFill>
                    </a:lnR>
                    <a:lnT w="12700">
                      <a:solidFill>
                        <a:srgbClr val="C6C7CA"/>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Evidence rebuilt by hand before each CPEO, SOC or ESAC review</a:t>
                      </a:r>
                    </a:p>
                  </a:txBody>
                  <a:tcPr marL="62230" marR="62230" marT="62230" marB="62230" anchor="t" anchorCtr="0" horzOverflow="overflow">
                    <a:lnL w="12700">
                      <a:solidFill>
                        <a:srgbClr val="CBCBCB"/>
                      </a:solidFill>
                    </a:lnL>
                    <a:lnR w="12700">
                      <a:solidFill>
                        <a:srgbClr val="CBCBCB"/>
                      </a:solidFill>
                    </a:lnR>
                    <a:lnT w="12700">
                      <a:solidFill>
                        <a:srgbClr val="C6C7CA"/>
                      </a:solidFill>
                    </a:lnT>
                    <a:lnB w="12700">
                      <a:solidFill>
                        <a:srgbClr val="CBCBCB"/>
                      </a:solidFill>
                    </a:lnB>
                    <a:solidFill>
                      <a:srgbClr val="FFFFFF"/>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Evidence emitted continuously, each item tied to its rule</a:t>
                      </a:r>
                    </a:p>
                  </a:txBody>
                  <a:tcPr marL="62230" marR="62230" marT="62230" marB="62230" anchor="t" anchorCtr="0" horzOverflow="overflow">
                    <a:lnL w="12700">
                      <a:solidFill>
                        <a:srgbClr val="CBCBCB"/>
                      </a:solidFill>
                    </a:lnL>
                    <a:lnR w="12700">
                      <a:solidFill>
                        <a:srgbClr val="CBCBCB"/>
                      </a:solidFill>
                    </a:lnR>
                    <a:lnT w="12700">
                      <a:solidFill>
                        <a:srgbClr val="C6C7CA"/>
                      </a:solidFill>
                    </a:lnT>
                    <a:lnB w="12700">
                      <a:solidFill>
                        <a:srgbClr val="CBCBCB"/>
                      </a:solidFill>
                    </a:lnB>
                    <a:solidFill>
                      <a:srgbClr val="FFFFFF"/>
                    </a:solidFill>
                  </a:tcPr>
                </a:tc>
              </a:tr>
              <a:tr h="634901">
                <a:tc>
                  <a:txBody>
                    <a:bodyPr/>
                    <a:lstStyle/>
                    <a:p>
                      <a:pPr algn="l">
                        <a:lnSpc>
                          <a:spcPts val="1900"/>
                        </a:lnSpc>
                        <a:defRPr sz="1800"/>
                      </a:pPr>
                      <a:r>
                        <a:rPr sz="1400">
                          <a:solidFill>
                            <a:srgbClr val="20344B"/>
                          </a:solidFill>
                          <a:latin typeface="IBM Plex Sans"/>
                          <a:ea typeface="IBM Plex Sans"/>
                          <a:cs typeface="IBM Plex Sans"/>
                          <a:sym typeface="IBM Plex Sans"/>
                        </a:rPr>
                        <a:t>Vendor lock-in</a:t>
                      </a:r>
                    </a:p>
                  </a:txBody>
                  <a:tcPr marL="62230" marR="62230" marT="62230" marB="62230" anchor="t" anchorCtr="0" horzOverflow="overflow">
                    <a:lnL w="12700">
                      <a:solidFill>
                        <a:srgbClr val="C3C5C8"/>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Knowledge trapped in one product's format</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c>
                  <a:txBody>
                    <a:bodyPr/>
                    <a:lstStyle/>
                    <a:p>
                      <a:pPr algn="l">
                        <a:lnSpc>
                          <a:spcPts val="1900"/>
                        </a:lnSpc>
                        <a:defRPr sz="1800"/>
                      </a:pPr>
                      <a:r>
                        <a:rPr sz="1400">
                          <a:solidFill>
                            <a:srgbClr val="20344B"/>
                          </a:solidFill>
                          <a:latin typeface="IBM Plex Sans"/>
                          <a:ea typeface="IBM Plex Sans"/>
                          <a:cs typeface="IBM Plex Sans"/>
                          <a:sym typeface="IBM Plex Sans"/>
                        </a:rPr>
                        <a:t>Knowledge in open standards; any adapter replaceable within a quarter</a:t>
                      </a:r>
                    </a:p>
                  </a:txBody>
                  <a:tcPr marL="62230" marR="62230" marT="62230" marB="62230" anchor="t" anchorCtr="0" horzOverflow="overflow">
                    <a:lnL w="12700">
                      <a:solidFill>
                        <a:srgbClr val="C6C7CA"/>
                      </a:solidFill>
                    </a:lnL>
                    <a:lnR w="12700">
                      <a:solidFill>
                        <a:srgbClr val="C6C7CA"/>
                      </a:solidFill>
                    </a:lnR>
                    <a:lnT w="12700">
                      <a:solidFill>
                        <a:srgbClr val="CBCBCB"/>
                      </a:solidFill>
                    </a:lnT>
                    <a:lnB w="12700">
                      <a:solidFill>
                        <a:srgbClr val="C6C7CA"/>
                      </a:solidFill>
                    </a:lnB>
                    <a:solidFill>
                      <a:srgbClr val="F8FAFD"/>
                    </a:solidFill>
                  </a:tcPr>
                </a:tc>
              </a:tr>
            </a:tbl>
          </a:graphicData>
        </a:graphic>
      </p:graphicFrame>
      <p:sp>
        <p:nvSpPr>
          <p:cNvPr id="90" name="Text 2"/>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AF2F6"/>
        </a:solidFill>
      </p:bgPr>
    </p:bg>
    <p:spTree>
      <p:nvGrpSpPr>
        <p:cNvPr id="1" name=""/>
        <p:cNvGrpSpPr/>
        <p:nvPr/>
      </p:nvGrpSpPr>
      <p:grpSpPr>
        <a:xfrm>
          <a:off x="0" y="0"/>
          <a:ext cx="0" cy="0"/>
          <a:chOff x="0" y="0"/>
          <a:chExt cx="0" cy="0"/>
        </a:xfrm>
      </p:grpSpPr>
      <p:sp>
        <p:nvSpPr>
          <p:cNvPr id="94"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2E6E8E"/>
                </a:solidFill>
                <a:latin typeface="IBM Plex Sans"/>
                <a:ea typeface="IBM Plex Sans"/>
                <a:cs typeface="IBM Plex Sans"/>
                <a:sym typeface="IBM Plex Sans"/>
              </a:defRPr>
            </a:lvl1pPr>
          </a:lstStyle>
          <a:p>
            <a:pPr/>
            <a:r>
              <a:t>FOR TECHNICAL LEADERS</a:t>
            </a:r>
          </a:p>
        </p:txBody>
      </p:sp>
      <p:sp>
        <p:nvSpPr>
          <p:cNvPr id="95"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Inside the Keel: five levels</a:t>
            </a:r>
          </a:p>
        </p:txBody>
      </p:sp>
      <p:graphicFrame>
        <p:nvGraphicFramePr>
          <p:cNvPr id="96" name="Table 0"/>
          <p:cNvGraphicFramePr/>
          <p:nvPr/>
        </p:nvGraphicFramePr>
        <p:xfrm>
          <a:off x="825500" y="1897310"/>
          <a:ext cx="10553700" cy="33115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532888"/>
                <a:gridCol w="4221480"/>
                <a:gridCol w="3799332"/>
              </a:tblGrid>
              <a:tr h="359321">
                <a:tc>
                  <a:txBody>
                    <a:bodyPr/>
                    <a:lstStyle/>
                    <a:p>
                      <a:pPr algn="l">
                        <a:lnSpc>
                          <a:spcPts val="1800"/>
                        </a:lnSpc>
                        <a:defRPr sz="1800"/>
                      </a:pPr>
                      <a:r>
                        <a:rPr b="1" sz="1300">
                          <a:solidFill>
                            <a:srgbClr val="20344B"/>
                          </a:solidFill>
                          <a:latin typeface="IBM Plex Sans"/>
                          <a:ea typeface="IBM Plex Sans"/>
                          <a:cs typeface="IBM Plex Sans"/>
                          <a:sym typeface="IBM Plex Sans"/>
                        </a:rPr>
                        <a:t>Level</a:t>
                      </a:r>
                    </a:p>
                  </a:txBody>
                  <a:tcPr marL="57785" marR="57785" marT="57785" marB="57785" anchor="t" anchorCtr="0" horzOverflow="overflow">
                    <a:lnL w="12700">
                      <a:solidFill>
                        <a:srgbClr val="BBC1C4"/>
                      </a:solidFill>
                    </a:lnL>
                    <a:lnR w="12700">
                      <a:solidFill>
                        <a:srgbClr val="A9B7BE"/>
                      </a:solidFill>
                    </a:lnR>
                    <a:lnT w="12700">
                      <a:solidFill>
                        <a:srgbClr val="BBC1C4"/>
                      </a:solidFill>
                    </a:lnT>
                    <a:lnB w="12700">
                      <a:solidFill>
                        <a:srgbClr val="A9B7BE"/>
                      </a:solidFill>
                    </a:lnB>
                    <a:solidFill>
                      <a:srgbClr val="D3E5EE"/>
                    </a:solidFill>
                  </a:tcPr>
                </a:tc>
                <a:tc>
                  <a:txBody>
                    <a:bodyPr/>
                    <a:lstStyle/>
                    <a:p>
                      <a:pPr algn="l">
                        <a:lnSpc>
                          <a:spcPts val="1800"/>
                        </a:lnSpc>
                        <a:defRPr sz="1800"/>
                      </a:pPr>
                      <a:r>
                        <a:rPr b="1" sz="1300">
                          <a:solidFill>
                            <a:srgbClr val="20344B"/>
                          </a:solidFill>
                          <a:latin typeface="IBM Plex Sans"/>
                          <a:ea typeface="IBM Plex Sans"/>
                          <a:cs typeface="IBM Plex Sans"/>
                          <a:sym typeface="IBM Plex Sans"/>
                        </a:rPr>
                        <a:t>What it holds</a:t>
                      </a:r>
                    </a:p>
                  </a:txBody>
                  <a:tcPr marL="57785" marR="57785" marT="57785" marB="57785" anchor="t" anchorCtr="0" horzOverflow="overflow">
                    <a:lnL w="12700">
                      <a:solidFill>
                        <a:srgbClr val="A9B7BE"/>
                      </a:solidFill>
                    </a:lnL>
                    <a:lnR w="12700">
                      <a:solidFill>
                        <a:srgbClr val="A9B7BE"/>
                      </a:solidFill>
                    </a:lnR>
                    <a:lnT w="12700">
                      <a:solidFill>
                        <a:srgbClr val="BBC1C4"/>
                      </a:solidFill>
                    </a:lnT>
                    <a:lnB w="12700">
                      <a:solidFill>
                        <a:srgbClr val="A9B7BE"/>
                      </a:solidFill>
                    </a:lnB>
                    <a:solidFill>
                      <a:srgbClr val="D3E5EE"/>
                    </a:solidFill>
                  </a:tcPr>
                </a:tc>
                <a:tc>
                  <a:txBody>
                    <a:bodyPr/>
                    <a:lstStyle/>
                    <a:p>
                      <a:pPr algn="l">
                        <a:lnSpc>
                          <a:spcPts val="1800"/>
                        </a:lnSpc>
                        <a:defRPr sz="1800"/>
                      </a:pPr>
                      <a:r>
                        <a:rPr b="1" sz="1300">
                          <a:solidFill>
                            <a:srgbClr val="20344B"/>
                          </a:solidFill>
                          <a:latin typeface="IBM Plex Sans"/>
                          <a:ea typeface="IBM Plex Sans"/>
                          <a:cs typeface="IBM Plex Sans"/>
                          <a:sym typeface="IBM Plex Sans"/>
                        </a:rPr>
                        <a:t>Contract to its neighbours</a:t>
                      </a:r>
                    </a:p>
                  </a:txBody>
                  <a:tcPr marL="57785" marR="57785" marT="57785" marB="57785" anchor="t" anchorCtr="0" horzOverflow="overflow">
                    <a:lnL w="12700">
                      <a:solidFill>
                        <a:srgbClr val="A9B7BE"/>
                      </a:solidFill>
                    </a:lnL>
                    <a:lnR w="12700">
                      <a:solidFill>
                        <a:srgbClr val="A9B7BE"/>
                      </a:solidFill>
                    </a:lnR>
                    <a:lnT w="12700">
                      <a:solidFill>
                        <a:srgbClr val="BBC1C4"/>
                      </a:solidFill>
                    </a:lnT>
                    <a:lnB w="12700">
                      <a:solidFill>
                        <a:srgbClr val="A9B7BE"/>
                      </a:solidFill>
                    </a:lnB>
                    <a:solidFill>
                      <a:srgbClr val="D3E5EE"/>
                    </a:solidFill>
                  </a:tcPr>
                </a:tc>
              </a:tr>
              <a:tr h="590451">
                <a:tc>
                  <a:txBody>
                    <a:bodyPr/>
                    <a:lstStyle/>
                    <a:p>
                      <a:pPr algn="l">
                        <a:lnSpc>
                          <a:spcPts val="1800"/>
                        </a:lnSpc>
                        <a:defRPr sz="1800"/>
                      </a:pPr>
                      <a:r>
                        <a:rPr sz="1300">
                          <a:solidFill>
                            <a:srgbClr val="20344B"/>
                          </a:solidFill>
                          <a:latin typeface="IBM Plex Sans"/>
                          <a:ea typeface="IBM Plex Sans"/>
                          <a:cs typeface="IBM Plex Sans"/>
                          <a:sym typeface="IBM Plex Sans"/>
                        </a:rPr>
                        <a:t>L4 Enterprise</a:t>
                      </a:r>
                    </a:p>
                  </a:txBody>
                  <a:tcPr marL="57785" marR="57785" marT="57785" marB="57785" anchor="t" anchorCtr="0" horzOverflow="overflow">
                    <a:lnL w="12700">
                      <a:solidFill>
                        <a:srgbClr val="BBC1C4"/>
                      </a:solidFill>
                    </a:lnL>
                    <a:lnR w="12700">
                      <a:solidFill>
                        <a:srgbClr val="CBCBCB"/>
                      </a:solidFill>
                    </a:lnR>
                    <a:lnT w="12700">
                      <a:solidFill>
                        <a:srgbClr val="A9B7BE"/>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isp-core, SKOS vocabularies, ORSD templates, governance council</a:t>
                      </a:r>
                    </a:p>
                  </a:txBody>
                  <a:tcPr marL="57785" marR="57785" marT="57785" marB="57785" anchor="t" anchorCtr="0" horzOverflow="overflow">
                    <a:lnL w="12700">
                      <a:solidFill>
                        <a:srgbClr val="CBCBCB"/>
                      </a:solidFill>
                    </a:lnL>
                    <a:lnR w="12700">
                      <a:solidFill>
                        <a:srgbClr val="CBCBCB"/>
                      </a:solidFill>
                    </a:lnR>
                    <a:lnT w="12700">
                      <a:solidFill>
                        <a:srgbClr val="A9B7BE"/>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owl:imports federation; KGCL change records</a:t>
                      </a:r>
                    </a:p>
                  </a:txBody>
                  <a:tcPr marL="57785" marR="57785" marT="57785" marB="57785" anchor="t" anchorCtr="0" horzOverflow="overflow">
                    <a:lnL w="12700">
                      <a:solidFill>
                        <a:srgbClr val="CBCBCB"/>
                      </a:solidFill>
                    </a:lnL>
                    <a:lnR w="12700">
                      <a:solidFill>
                        <a:srgbClr val="CBCBCB"/>
                      </a:solidFill>
                    </a:lnR>
                    <a:lnT w="12700">
                      <a:solidFill>
                        <a:srgbClr val="A9B7BE"/>
                      </a:solidFill>
                    </a:lnT>
                    <a:lnB w="12700">
                      <a:solidFill>
                        <a:srgbClr val="CBCBCB"/>
                      </a:solidFill>
                    </a:lnB>
                    <a:solidFill>
                      <a:srgbClr val="FFFFFF"/>
                    </a:solidFill>
                  </a:tcPr>
                </a:tc>
              </a:tr>
              <a:tr h="590451">
                <a:tc>
                  <a:txBody>
                    <a:bodyPr/>
                    <a:lstStyle/>
                    <a:p>
                      <a:pPr algn="l">
                        <a:lnSpc>
                          <a:spcPts val="1800"/>
                        </a:lnSpc>
                        <a:defRPr sz="1800"/>
                      </a:pPr>
                      <a:r>
                        <a:rPr sz="1300">
                          <a:solidFill>
                            <a:srgbClr val="20344B"/>
                          </a:solidFill>
                          <a:latin typeface="IBM Plex Sans"/>
                          <a:ea typeface="IBM Plex Sans"/>
                          <a:cs typeface="IBM Plex Sans"/>
                          <a:sym typeface="IBM Plex Sans"/>
                        </a:rPr>
                        <a:t>Mediation holon</a:t>
                      </a:r>
                    </a:p>
                  </a:txBody>
                  <a:tcPr marL="57785" marR="57785" marT="57785" marB="57785"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Mapping graph, identity and URI registry, harmonization, RAG anchors</a:t>
                      </a:r>
                    </a:p>
                  </a:txBody>
                  <a:tcPr marL="57785" marR="57785" marT="57785" marB="57785"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Six correspondence types; lineage to every projection</a:t>
                      </a:r>
                    </a:p>
                  </a:txBody>
                  <a:tcPr marL="57785" marR="57785" marT="57785" marB="57785"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r h="590451">
                <a:tc>
                  <a:txBody>
                    <a:bodyPr/>
                    <a:lstStyle/>
                    <a:p>
                      <a:pPr algn="l">
                        <a:lnSpc>
                          <a:spcPts val="1800"/>
                        </a:lnSpc>
                        <a:defRPr sz="1800"/>
                      </a:pPr>
                      <a:r>
                        <a:rPr sz="1300">
                          <a:solidFill>
                            <a:srgbClr val="20344B"/>
                          </a:solidFill>
                          <a:latin typeface="IBM Plex Sans"/>
                          <a:ea typeface="IBM Plex Sans"/>
                          <a:cs typeface="IBM Plex Sans"/>
                          <a:sym typeface="IBM Plex Sans"/>
                        </a:rPr>
                        <a:t>L3 Gateway</a:t>
                      </a:r>
                    </a:p>
                  </a:txBody>
                  <a:tcPr marL="57785" marR="57785" marT="57785" marB="57785" anchor="t" anchorCtr="0" horzOverflow="overflow">
                    <a:lnL w="12700">
                      <a:solidFill>
                        <a:srgbClr val="BBC1C4"/>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5D context bundle, policy enforcement, MTBH circuit breaker, Simplex gate</a:t>
                      </a:r>
                    </a:p>
                  </a:txBody>
                  <a:tcPr marL="57785" marR="57785" marT="57785" marB="57785"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Every agent call passes one policy decision point</a:t>
                      </a:r>
                    </a:p>
                  </a:txBody>
                  <a:tcPr marL="57785" marR="57785" marT="57785" marB="57785"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r>
              <a:tr h="590451">
                <a:tc>
                  <a:txBody>
                    <a:bodyPr/>
                    <a:lstStyle/>
                    <a:p>
                      <a:pPr algn="l">
                        <a:lnSpc>
                          <a:spcPts val="1800"/>
                        </a:lnSpc>
                        <a:defRPr sz="1800"/>
                      </a:pPr>
                      <a:r>
                        <a:rPr sz="1300">
                          <a:solidFill>
                            <a:srgbClr val="20344B"/>
                          </a:solidFill>
                          <a:latin typeface="IBM Plex Sans"/>
                          <a:ea typeface="IBM Plex Sans"/>
                          <a:cs typeface="IBM Plex Sans"/>
                          <a:sym typeface="IBM Plex Sans"/>
                        </a:rPr>
                        <a:t>L2 Domain holons</a:t>
                      </a:r>
                    </a:p>
                  </a:txBody>
                  <a:tcPr marL="57785" marR="57785" marT="57785" marB="57785"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isp-pay, isp-ben, isp-comp, isp-tal, isp-tech, Client, Contractor</a:t>
                      </a:r>
                    </a:p>
                  </a:txBody>
                  <a:tcPr marL="57785" marR="57785" marT="57785" marB="57785"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Sovereign: own ontology, agent, index and monitors</a:t>
                      </a:r>
                    </a:p>
                  </a:txBody>
                  <a:tcPr marL="57785" marR="57785" marT="57785" marB="57785"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r h="590451">
                <a:tc>
                  <a:txBody>
                    <a:bodyPr/>
                    <a:lstStyle/>
                    <a:p>
                      <a:pPr algn="l">
                        <a:lnSpc>
                          <a:spcPts val="1800"/>
                        </a:lnSpc>
                        <a:defRPr sz="1800"/>
                      </a:pPr>
                      <a:r>
                        <a:rPr sz="1300">
                          <a:solidFill>
                            <a:srgbClr val="20344B"/>
                          </a:solidFill>
                          <a:latin typeface="IBM Plex Sans"/>
                          <a:ea typeface="IBM Plex Sans"/>
                          <a:cs typeface="IBM Plex Sans"/>
                          <a:sym typeface="IBM Plex Sans"/>
                        </a:rPr>
                        <a:t>L1 Knowledge holons</a:t>
                      </a:r>
                    </a:p>
                  </a:txBody>
                  <a:tcPr marL="57785" marR="57785" marT="57785" marB="57785" anchor="t" anchorCtr="0" horzOverflow="overflow">
                    <a:lnL w="12700">
                      <a:solidFill>
                        <a:srgbClr val="BBC1C4"/>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One statute clause, plan provision or policy each</a:t>
                      </a:r>
                    </a:p>
                  </a:txBody>
                  <a:tcPr marL="57785" marR="57785" marT="57785" marB="57785"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800"/>
                        </a:lnSpc>
                        <a:defRPr sz="1800"/>
                      </a:pPr>
                      <a:r>
                        <a:rPr sz="1300">
                          <a:solidFill>
                            <a:srgbClr val="20344B"/>
                          </a:solidFill>
                          <a:latin typeface="IBM Plex Sans"/>
                          <a:ea typeface="IBM Plex Sans"/>
                          <a:cs typeface="IBM Plex Sans"/>
                          <a:sym typeface="IBM Plex Sans"/>
                        </a:rPr>
                        <a:t>URI, SHACL-valid, KGCL-versioned, bound to its norm</a:t>
                      </a:r>
                    </a:p>
                  </a:txBody>
                  <a:tcPr marL="57785" marR="57785" marT="57785" marB="57785"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r>
            </a:tbl>
          </a:graphicData>
        </a:graphic>
      </p:graphicFrame>
      <p:sp>
        <p:nvSpPr>
          <p:cNvPr id="97" name="Text 2"/>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AF2F6"/>
        </a:solidFill>
      </p:bgPr>
    </p:bg>
    <p:spTree>
      <p:nvGrpSpPr>
        <p:cNvPr id="1" name=""/>
        <p:cNvGrpSpPr/>
        <p:nvPr/>
      </p:nvGrpSpPr>
      <p:grpSpPr>
        <a:xfrm>
          <a:off x="0" y="0"/>
          <a:ext cx="0" cy="0"/>
          <a:chOff x="0" y="0"/>
          <a:chExt cx="0" cy="0"/>
        </a:xfrm>
      </p:grpSpPr>
      <p:sp>
        <p:nvSpPr>
          <p:cNvPr id="101"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2E6E8E"/>
                </a:solidFill>
                <a:latin typeface="IBM Plex Sans"/>
                <a:ea typeface="IBM Plex Sans"/>
                <a:cs typeface="IBM Plex Sans"/>
                <a:sym typeface="IBM Plex Sans"/>
              </a:defRPr>
            </a:lvl1pPr>
          </a:lstStyle>
          <a:p>
            <a:pPr/>
            <a:r>
              <a:t>FOR TECHNICAL LEADERS</a:t>
            </a:r>
          </a:p>
        </p:txBody>
      </p:sp>
      <p:sp>
        <p:nvSpPr>
          <p:cNvPr id="102"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Author once, compile everywhere</a:t>
            </a:r>
          </a:p>
        </p:txBody>
      </p:sp>
      <p:sp>
        <p:nvSpPr>
          <p:cNvPr id="103" name="Shape 2"/>
          <p:cNvSpPr/>
          <p:nvPr/>
        </p:nvSpPr>
        <p:spPr>
          <a:xfrm>
            <a:off x="812800" y="2139850"/>
            <a:ext cx="4826000" cy="2308821"/>
          </a:xfrm>
          <a:prstGeom prst="roundRect">
            <a:avLst>
              <a:gd name="adj" fmla="val 4401"/>
            </a:avLst>
          </a:prstGeom>
          <a:solidFill>
            <a:srgbClr val="0B1F3A"/>
          </a:solidFill>
          <a:ln w="12700">
            <a:miter lim="400000"/>
          </a:ln>
        </p:spPr>
        <p:txBody>
          <a:bodyPr lIns="45719" rIns="45719"/>
          <a:lstStyle/>
          <a:p>
            <a:pPr/>
          </a:p>
        </p:txBody>
      </p:sp>
      <p:sp>
        <p:nvSpPr>
          <p:cNvPr id="104" name="Text 3"/>
          <p:cNvSpPr txBox="1"/>
          <p:nvPr/>
        </p:nvSpPr>
        <p:spPr>
          <a:xfrm>
            <a:off x="1066799" y="2393850"/>
            <a:ext cx="444754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rgbClr val="C8A951"/>
                </a:solidFill>
                <a:latin typeface="IBM Plex Sans"/>
                <a:ea typeface="IBM Plex Sans"/>
                <a:cs typeface="IBM Plex Sans"/>
                <a:sym typeface="IBM Plex Sans"/>
              </a:defRPr>
            </a:lvl1pPr>
          </a:lstStyle>
          <a:p>
            <a:pPr/>
            <a:r>
              <a:t>CANONICAL RULE · WRITTEN ONCE</a:t>
            </a:r>
          </a:p>
        </p:txBody>
      </p:sp>
      <p:sp>
        <p:nvSpPr>
          <p:cNvPr id="105" name="Text 4"/>
          <p:cNvSpPr txBox="1"/>
          <p:nvPr/>
        </p:nvSpPr>
        <p:spPr>
          <a:xfrm>
            <a:off x="1066799" y="2708771"/>
            <a:ext cx="4447542"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900"/>
              </a:lnSpc>
              <a:defRPr sz="1300">
                <a:solidFill>
                  <a:srgbClr val="E7EEF7"/>
                </a:solidFill>
                <a:latin typeface="IBM Plex Mono"/>
                <a:ea typeface="IBM Plex Mono"/>
                <a:cs typeface="IBM Plex Mono"/>
                <a:sym typeface="IBM Plex Mono"/>
              </a:defRPr>
            </a:pPr>
            <a:r>
              <a:t>isp-pay:CADailyOvertimeNorm</a:t>
            </a:r>
          </a:p>
          <a:p>
            <a:pPr>
              <a:lnSpc>
                <a:spcPts val="1900"/>
              </a:lnSpc>
              <a:defRPr sz="1300">
                <a:solidFill>
                  <a:srgbClr val="E7EEF7"/>
                </a:solidFill>
                <a:latin typeface="IBM Plex Mono"/>
                <a:ea typeface="IBM Plex Mono"/>
                <a:cs typeface="IBM Plex Mono"/>
                <a:sym typeface="IBM Plex Mono"/>
              </a:defRPr>
            </a:pPr>
            <a:r>
              <a:t>a lkif:Obligation ;</a:t>
            </a:r>
          </a:p>
          <a:p>
            <a:pPr>
              <a:lnSpc>
                <a:spcPts val="1900"/>
              </a:lnSpc>
              <a:defRPr sz="1300">
                <a:solidFill>
                  <a:srgbClr val="E7EEF7"/>
                </a:solidFill>
                <a:latin typeface="IBM Plex Mono"/>
                <a:ea typeface="IBM Plex Mono"/>
                <a:cs typeface="IBM Plex Mono"/>
                <a:sym typeface="IBM Plex Mono"/>
              </a:defRPr>
            </a:pPr>
            <a:r>
              <a:t>lkif:isSubjectTo "CA Labor Code §510" ;</a:t>
            </a:r>
          </a:p>
          <a:p>
            <a:pPr>
              <a:lnSpc>
                <a:spcPts val="1900"/>
              </a:lnSpc>
              <a:defRPr sz="1300">
                <a:solidFill>
                  <a:srgbClr val="E7EEF7"/>
                </a:solidFill>
                <a:latin typeface="IBM Plex Mono"/>
                <a:ea typeface="IBM Plex Mono"/>
                <a:cs typeface="IBM Plex Mono"/>
                <a:sym typeface="IBM Plex Mono"/>
              </a:defRPr>
            </a:pPr>
            <a:r>
              <a:t>isp-core:jurisdiction "US-CA" ;</a:t>
            </a:r>
          </a:p>
          <a:p>
            <a:pPr>
              <a:lnSpc>
                <a:spcPts val="1900"/>
              </a:lnSpc>
              <a:defRPr sz="1300">
                <a:solidFill>
                  <a:srgbClr val="E7EEF7"/>
                </a:solidFill>
                <a:latin typeface="IBM Plex Mono"/>
                <a:ea typeface="IBM Plex Mono"/>
                <a:cs typeface="IBM Plex Mono"/>
                <a:sym typeface="IBM Plex Mono"/>
              </a:defRPr>
            </a:pPr>
            <a:r>
              <a:t>isp-pay:dailyThresholdHours 8.0 ;</a:t>
            </a:r>
          </a:p>
          <a:p>
            <a:pPr>
              <a:lnSpc>
                <a:spcPts val="1900"/>
              </a:lnSpc>
              <a:defRPr sz="1300">
                <a:solidFill>
                  <a:srgbClr val="E7EEF7"/>
                </a:solidFill>
                <a:latin typeface="IBM Plex Mono"/>
                <a:ea typeface="IBM Plex Mono"/>
                <a:cs typeface="IBM Plex Mono"/>
                <a:sym typeface="IBM Plex Mono"/>
              </a:defRPr>
            </a:pPr>
            <a:r>
              <a:t>isp-pay:rateMultiplier 1.5 .</a:t>
            </a:r>
          </a:p>
        </p:txBody>
      </p:sp>
      <p:pic>
        <p:nvPicPr>
          <p:cNvPr id="106" name="Image 0" descr="Image 0"/>
          <p:cNvPicPr>
            <a:picLocks noChangeAspect="1"/>
          </p:cNvPicPr>
          <p:nvPr/>
        </p:nvPicPr>
        <p:blipFill>
          <a:blip r:embed="rId3">
            <a:extLst/>
          </a:blip>
          <a:stretch>
            <a:fillRect/>
          </a:stretch>
        </p:blipFill>
        <p:spPr>
          <a:xfrm>
            <a:off x="5892800" y="3141860"/>
            <a:ext cx="609600" cy="304801"/>
          </a:xfrm>
          <a:prstGeom prst="rect">
            <a:avLst/>
          </a:prstGeom>
          <a:ln w="12700">
            <a:miter lim="400000"/>
          </a:ln>
        </p:spPr>
      </p:pic>
      <p:sp>
        <p:nvSpPr>
          <p:cNvPr id="107" name="Shape 5"/>
          <p:cNvSpPr/>
          <p:nvPr/>
        </p:nvSpPr>
        <p:spPr>
          <a:xfrm>
            <a:off x="6759575" y="1938585"/>
            <a:ext cx="4616450" cy="466081"/>
          </a:xfrm>
          <a:prstGeom prst="roundRect">
            <a:avLst>
              <a:gd name="adj" fmla="val 12943"/>
            </a:avLst>
          </a:prstGeom>
          <a:solidFill>
            <a:srgbClr val="FFFFFF"/>
          </a:solidFill>
          <a:ln w="6350">
            <a:solidFill>
              <a:srgbClr val="C9DCE6"/>
            </a:solidFill>
          </a:ln>
        </p:spPr>
        <p:txBody>
          <a:bodyPr lIns="45719" rIns="45719"/>
          <a:lstStyle/>
          <a:p>
            <a:pPr/>
          </a:p>
        </p:txBody>
      </p:sp>
      <p:sp>
        <p:nvSpPr>
          <p:cNvPr id="108" name="Text 6"/>
          <p:cNvSpPr txBox="1"/>
          <p:nvPr/>
        </p:nvSpPr>
        <p:spPr>
          <a:xfrm>
            <a:off x="6915150" y="2056060"/>
            <a:ext cx="4434460"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b="1" sz="1400">
                <a:solidFill>
                  <a:srgbClr val="20344B"/>
                </a:solidFill>
                <a:latin typeface="IBM Plex Sans"/>
                <a:ea typeface="IBM Plex Sans"/>
                <a:cs typeface="IBM Plex Sans"/>
                <a:sym typeface="IBM Plex Sans"/>
              </a:defRPr>
            </a:pPr>
            <a:r>
              <a:t>dbt / SQL</a:t>
            </a:r>
            <a:r>
              <a:rPr b="0"/>
              <a:t> · batch gross-to-net tests</a:t>
            </a:r>
          </a:p>
        </p:txBody>
      </p:sp>
      <p:sp>
        <p:nvSpPr>
          <p:cNvPr id="109" name="Shape 7"/>
          <p:cNvSpPr/>
          <p:nvPr/>
        </p:nvSpPr>
        <p:spPr>
          <a:xfrm>
            <a:off x="6759575" y="2499916"/>
            <a:ext cx="4616450" cy="466080"/>
          </a:xfrm>
          <a:prstGeom prst="roundRect">
            <a:avLst>
              <a:gd name="adj" fmla="val 12943"/>
            </a:avLst>
          </a:prstGeom>
          <a:solidFill>
            <a:srgbClr val="FFFFFF"/>
          </a:solidFill>
          <a:ln w="6350">
            <a:solidFill>
              <a:srgbClr val="C9DCE6"/>
            </a:solidFill>
          </a:ln>
        </p:spPr>
        <p:txBody>
          <a:bodyPr lIns="45719" rIns="45719"/>
          <a:lstStyle/>
          <a:p>
            <a:pPr/>
          </a:p>
        </p:txBody>
      </p:sp>
      <p:sp>
        <p:nvSpPr>
          <p:cNvPr id="110" name="Text 8"/>
          <p:cNvSpPr txBox="1"/>
          <p:nvPr/>
        </p:nvSpPr>
        <p:spPr>
          <a:xfrm>
            <a:off x="6915150" y="2617391"/>
            <a:ext cx="4434460"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b="1" sz="1400">
                <a:solidFill>
                  <a:srgbClr val="20344B"/>
                </a:solidFill>
                <a:latin typeface="IBM Plex Sans"/>
                <a:ea typeface="IBM Plex Sans"/>
                <a:cs typeface="IBM Plex Sans"/>
                <a:sym typeface="IBM Plex Sans"/>
              </a:defRPr>
            </a:pPr>
            <a:r>
              <a:t>OPA / Rego</a:t>
            </a:r>
            <a:r>
              <a:rPr b="0"/>
              <a:t> · sub-millisecond gateway policy</a:t>
            </a:r>
          </a:p>
        </p:txBody>
      </p:sp>
      <p:sp>
        <p:nvSpPr>
          <p:cNvPr id="111" name="Shape 9"/>
          <p:cNvSpPr/>
          <p:nvPr/>
        </p:nvSpPr>
        <p:spPr>
          <a:xfrm>
            <a:off x="6759575" y="3061246"/>
            <a:ext cx="4616450" cy="466081"/>
          </a:xfrm>
          <a:prstGeom prst="roundRect">
            <a:avLst>
              <a:gd name="adj" fmla="val 12943"/>
            </a:avLst>
          </a:prstGeom>
          <a:solidFill>
            <a:srgbClr val="FFFFFF"/>
          </a:solidFill>
          <a:ln w="6350">
            <a:solidFill>
              <a:srgbClr val="C9DCE6"/>
            </a:solidFill>
          </a:ln>
        </p:spPr>
        <p:txBody>
          <a:bodyPr lIns="45719" rIns="45719"/>
          <a:lstStyle/>
          <a:p>
            <a:pPr/>
          </a:p>
        </p:txBody>
      </p:sp>
      <p:sp>
        <p:nvSpPr>
          <p:cNvPr id="112" name="Text 10"/>
          <p:cNvSpPr txBox="1"/>
          <p:nvPr/>
        </p:nvSpPr>
        <p:spPr>
          <a:xfrm>
            <a:off x="6915150" y="3178721"/>
            <a:ext cx="4434460"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b="1" sz="1400">
                <a:solidFill>
                  <a:srgbClr val="20344B"/>
                </a:solidFill>
                <a:latin typeface="IBM Plex Sans"/>
                <a:ea typeface="IBM Plex Sans"/>
                <a:cs typeface="IBM Plex Sans"/>
                <a:sym typeface="IBM Plex Sans"/>
              </a:defRPr>
            </a:pPr>
            <a:r>
              <a:t>JSON Schema</a:t>
            </a:r>
            <a:r>
              <a:rPr b="0"/>
              <a:t> · Jarvis and agent constraints</a:t>
            </a:r>
          </a:p>
        </p:txBody>
      </p:sp>
      <p:sp>
        <p:nvSpPr>
          <p:cNvPr id="113" name="Shape 11"/>
          <p:cNvSpPr/>
          <p:nvPr/>
        </p:nvSpPr>
        <p:spPr>
          <a:xfrm>
            <a:off x="6759575" y="3622576"/>
            <a:ext cx="4616450" cy="466081"/>
          </a:xfrm>
          <a:prstGeom prst="roundRect">
            <a:avLst>
              <a:gd name="adj" fmla="val 12943"/>
            </a:avLst>
          </a:prstGeom>
          <a:solidFill>
            <a:srgbClr val="FFFFFF"/>
          </a:solidFill>
          <a:ln w="6350">
            <a:solidFill>
              <a:srgbClr val="C9DCE6"/>
            </a:solidFill>
          </a:ln>
        </p:spPr>
        <p:txBody>
          <a:bodyPr lIns="45719" rIns="45719"/>
          <a:lstStyle/>
          <a:p>
            <a:pPr/>
          </a:p>
        </p:txBody>
      </p:sp>
      <p:sp>
        <p:nvSpPr>
          <p:cNvPr id="114" name="Text 12"/>
          <p:cNvSpPr txBox="1"/>
          <p:nvPr/>
        </p:nvSpPr>
        <p:spPr>
          <a:xfrm>
            <a:off x="6915150" y="3740051"/>
            <a:ext cx="4434460"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b="1" sz="1400">
                <a:solidFill>
                  <a:srgbClr val="20344B"/>
                </a:solidFill>
                <a:latin typeface="IBM Plex Sans"/>
                <a:ea typeface="IBM Plex Sans"/>
                <a:cs typeface="IBM Plex Sans"/>
                <a:sym typeface="IBM Plex Sans"/>
              </a:defRPr>
            </a:pPr>
            <a:r>
              <a:t>Workday config</a:t>
            </a:r>
            <a:r>
              <a:rPr b="0"/>
              <a:t> · validations and conditions</a:t>
            </a:r>
          </a:p>
        </p:txBody>
      </p:sp>
      <p:sp>
        <p:nvSpPr>
          <p:cNvPr id="115" name="Shape 13"/>
          <p:cNvSpPr/>
          <p:nvPr/>
        </p:nvSpPr>
        <p:spPr>
          <a:xfrm>
            <a:off x="6759575" y="4183905"/>
            <a:ext cx="4616450" cy="466081"/>
          </a:xfrm>
          <a:prstGeom prst="roundRect">
            <a:avLst>
              <a:gd name="adj" fmla="val 12943"/>
            </a:avLst>
          </a:prstGeom>
          <a:solidFill>
            <a:srgbClr val="FFFFFF"/>
          </a:solidFill>
          <a:ln w="6350">
            <a:solidFill>
              <a:srgbClr val="C9DCE6"/>
            </a:solidFill>
          </a:ln>
        </p:spPr>
        <p:txBody>
          <a:bodyPr lIns="45719" rIns="45719"/>
          <a:lstStyle/>
          <a:p>
            <a:pPr/>
          </a:p>
        </p:txBody>
      </p:sp>
      <p:sp>
        <p:nvSpPr>
          <p:cNvPr id="116" name="Text 14"/>
          <p:cNvSpPr txBox="1"/>
          <p:nvPr/>
        </p:nvSpPr>
        <p:spPr>
          <a:xfrm>
            <a:off x="6915150" y="4301380"/>
            <a:ext cx="4434460"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b="1" sz="1400">
                <a:solidFill>
                  <a:srgbClr val="20344B"/>
                </a:solidFill>
                <a:latin typeface="IBM Plex Sans"/>
                <a:ea typeface="IBM Plex Sans"/>
                <a:cs typeface="IBM Plex Sans"/>
                <a:sym typeface="IBM Plex Sans"/>
              </a:defRPr>
            </a:pPr>
            <a:r>
              <a:t>Fabric IQ ontology</a:t>
            </a:r>
            <a:r>
              <a:rPr b="0"/>
              <a:t> · analytics and grounding</a:t>
            </a:r>
          </a:p>
        </p:txBody>
      </p:sp>
      <p:sp>
        <p:nvSpPr>
          <p:cNvPr id="117" name="Text 15"/>
          <p:cNvSpPr txBox="1"/>
          <p:nvPr/>
        </p:nvSpPr>
        <p:spPr>
          <a:xfrm>
            <a:off x="812800" y="4957960"/>
            <a:ext cx="10464800"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rgbClr val="2E6E8E"/>
                </a:solidFill>
                <a:latin typeface="IBM Plex Sans"/>
                <a:ea typeface="IBM Plex Sans"/>
                <a:cs typeface="IBM Plex Sans"/>
                <a:sym typeface="IBM Plex Sans"/>
              </a:defRPr>
            </a:lvl1pPr>
          </a:lstStyle>
          <a:p>
            <a:pPr/>
            <a:r>
              <a:t>Every generated artifact carries the source shape URI, so a rejected timesheet points straight to its statute.</a:t>
            </a:r>
          </a:p>
        </p:txBody>
      </p:sp>
      <p:sp>
        <p:nvSpPr>
          <p:cNvPr id="118" name="Text 16"/>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AF2F6"/>
        </a:solidFill>
      </p:bgPr>
    </p:bg>
    <p:spTree>
      <p:nvGrpSpPr>
        <p:cNvPr id="1" name=""/>
        <p:cNvGrpSpPr/>
        <p:nvPr/>
      </p:nvGrpSpPr>
      <p:grpSpPr>
        <a:xfrm>
          <a:off x="0" y="0"/>
          <a:ext cx="0" cy="0"/>
          <a:chOff x="0" y="0"/>
          <a:chExt cx="0" cy="0"/>
        </a:xfrm>
      </p:grpSpPr>
      <p:sp>
        <p:nvSpPr>
          <p:cNvPr id="122"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2E6E8E"/>
                </a:solidFill>
                <a:latin typeface="IBM Plex Sans"/>
                <a:ea typeface="IBM Plex Sans"/>
                <a:cs typeface="IBM Plex Sans"/>
                <a:sym typeface="IBM Plex Sans"/>
              </a:defRPr>
            </a:lvl1pPr>
          </a:lstStyle>
          <a:p>
            <a:pPr/>
            <a:r>
              <a:t>FOR TECHNICAL LEADERS</a:t>
            </a:r>
          </a:p>
        </p:txBody>
      </p:sp>
      <p:sp>
        <p:nvSpPr>
          <p:cNvPr id="123"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How North Star search works</a:t>
            </a:r>
          </a:p>
        </p:txBody>
      </p:sp>
      <p:sp>
        <p:nvSpPr>
          <p:cNvPr id="124" name="Shape 2"/>
          <p:cNvSpPr/>
          <p:nvPr/>
        </p:nvSpPr>
        <p:spPr>
          <a:xfrm>
            <a:off x="815975" y="1938585"/>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25" name="Text 3"/>
          <p:cNvSpPr txBox="1"/>
          <p:nvPr/>
        </p:nvSpPr>
        <p:spPr>
          <a:xfrm>
            <a:off x="1022350" y="2144960"/>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2E6E8E"/>
                </a:solidFill>
                <a:latin typeface="Source Serif 4"/>
                <a:ea typeface="Source Serif 4"/>
                <a:cs typeface="Source Serif 4"/>
                <a:sym typeface="Source Serif 4"/>
              </a:defRPr>
            </a:pPr>
            <a:r>
              <a:t>1</a:t>
            </a:r>
            <a:r>
              <a:rPr>
                <a:solidFill>
                  <a:srgbClr val="0B1F3A"/>
                </a:solidFill>
              </a:rPr>
              <a:t> Admit</a:t>
            </a:r>
          </a:p>
        </p:txBody>
      </p:sp>
      <p:sp>
        <p:nvSpPr>
          <p:cNvPr id="126" name="Text 4"/>
          <p:cNvSpPr txBox="1"/>
          <p:nvPr/>
        </p:nvSpPr>
        <p:spPr>
          <a:xfrm>
            <a:off x="1022350" y="2525960"/>
            <a:ext cx="3074036" cy="7187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Each item is classified, tagged with its client tenant and PII class, and SHACL-validated before it can be found.</a:t>
            </a:r>
          </a:p>
        </p:txBody>
      </p:sp>
      <p:sp>
        <p:nvSpPr>
          <p:cNvPr id="127" name="Shape 5"/>
          <p:cNvSpPr/>
          <p:nvPr/>
        </p:nvSpPr>
        <p:spPr>
          <a:xfrm>
            <a:off x="4397375" y="1938585"/>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28" name="Text 6"/>
          <p:cNvSpPr txBox="1"/>
          <p:nvPr/>
        </p:nvSpPr>
        <p:spPr>
          <a:xfrm>
            <a:off x="4603750" y="2144960"/>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2E6E8E"/>
                </a:solidFill>
                <a:latin typeface="Source Serif 4"/>
                <a:ea typeface="Source Serif 4"/>
                <a:cs typeface="Source Serif 4"/>
                <a:sym typeface="Source Serif 4"/>
              </a:defRPr>
            </a:pPr>
            <a:r>
              <a:t>2</a:t>
            </a:r>
            <a:r>
              <a:rPr>
                <a:solidFill>
                  <a:srgbClr val="0B1F3A"/>
                </a:solidFill>
              </a:rPr>
              <a:t> Anchor</a:t>
            </a:r>
          </a:p>
        </p:txBody>
      </p:sp>
      <p:sp>
        <p:nvSpPr>
          <p:cNvPr id="129" name="Text 7"/>
          <p:cNvSpPr txBox="1"/>
          <p:nvPr/>
        </p:nvSpPr>
        <p:spPr>
          <a:xfrm>
            <a:off x="4603750" y="2525960"/>
            <a:ext cx="3074036" cy="7187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Each admitted item gets a canonical URI, linked to its rules, plans and jurisdictions.</a:t>
            </a:r>
          </a:p>
        </p:txBody>
      </p:sp>
      <p:sp>
        <p:nvSpPr>
          <p:cNvPr id="130" name="Shape 8"/>
          <p:cNvSpPr/>
          <p:nvPr/>
        </p:nvSpPr>
        <p:spPr>
          <a:xfrm>
            <a:off x="7978775" y="1938585"/>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31" name="Text 9"/>
          <p:cNvSpPr txBox="1"/>
          <p:nvPr/>
        </p:nvSpPr>
        <p:spPr>
          <a:xfrm>
            <a:off x="8185150" y="2144960"/>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2E6E8E"/>
                </a:solidFill>
                <a:latin typeface="Source Serif 4"/>
                <a:ea typeface="Source Serif 4"/>
                <a:cs typeface="Source Serif 4"/>
                <a:sym typeface="Source Serif 4"/>
              </a:defRPr>
            </a:pPr>
            <a:r>
              <a:t>3</a:t>
            </a:r>
            <a:r>
              <a:rPr>
                <a:solidFill>
                  <a:srgbClr val="0B1F3A"/>
                </a:solidFill>
              </a:rPr>
              <a:t> Resolve</a:t>
            </a:r>
          </a:p>
        </p:txBody>
      </p:sp>
      <p:sp>
        <p:nvSpPr>
          <p:cNvPr id="132" name="Text 10"/>
          <p:cNvSpPr txBox="1"/>
          <p:nvPr/>
        </p:nvSpPr>
        <p:spPr>
          <a:xfrm>
            <a:off x="8185150" y="2525960"/>
            <a:ext cx="3074036"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The question becomes five coordinates: WHO, WHAT, WHERE, WHEN, WHY.</a:t>
            </a:r>
          </a:p>
        </p:txBody>
      </p:sp>
      <p:sp>
        <p:nvSpPr>
          <p:cNvPr id="133" name="Shape 11"/>
          <p:cNvSpPr/>
          <p:nvPr/>
        </p:nvSpPr>
        <p:spPr>
          <a:xfrm>
            <a:off x="815975" y="3609876"/>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34" name="Text 12"/>
          <p:cNvSpPr txBox="1"/>
          <p:nvPr/>
        </p:nvSpPr>
        <p:spPr>
          <a:xfrm>
            <a:off x="1022350" y="3816251"/>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2E6E8E"/>
                </a:solidFill>
                <a:latin typeface="Source Serif 4"/>
                <a:ea typeface="Source Serif 4"/>
                <a:cs typeface="Source Serif 4"/>
                <a:sym typeface="Source Serif 4"/>
              </a:defRPr>
            </a:pPr>
            <a:r>
              <a:t>4</a:t>
            </a:r>
            <a:r>
              <a:rPr>
                <a:solidFill>
                  <a:srgbClr val="0B1F3A"/>
                </a:solidFill>
              </a:rPr>
              <a:t> Retrieve</a:t>
            </a:r>
          </a:p>
        </p:txBody>
      </p:sp>
      <p:sp>
        <p:nvSpPr>
          <p:cNvPr id="135" name="Text 13"/>
          <p:cNvSpPr txBox="1"/>
          <p:nvPr/>
        </p:nvSpPr>
        <p:spPr>
          <a:xfrm>
            <a:off x="1022350" y="4197251"/>
            <a:ext cx="3074036"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Hybrid retrieval: SPARQL over the graph plus vector search, both keyed on URIs.</a:t>
            </a:r>
          </a:p>
        </p:txBody>
      </p:sp>
      <p:sp>
        <p:nvSpPr>
          <p:cNvPr id="136" name="Shape 14"/>
          <p:cNvSpPr/>
          <p:nvPr/>
        </p:nvSpPr>
        <p:spPr>
          <a:xfrm>
            <a:off x="4397375" y="3609876"/>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37" name="Text 15"/>
          <p:cNvSpPr txBox="1"/>
          <p:nvPr/>
        </p:nvSpPr>
        <p:spPr>
          <a:xfrm>
            <a:off x="4603750" y="3816251"/>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2E6E8E"/>
                </a:solidFill>
                <a:latin typeface="Source Serif 4"/>
                <a:ea typeface="Source Serif 4"/>
                <a:cs typeface="Source Serif 4"/>
                <a:sym typeface="Source Serif 4"/>
              </a:defRPr>
            </a:pPr>
            <a:r>
              <a:t>5</a:t>
            </a:r>
            <a:r>
              <a:rPr>
                <a:solidFill>
                  <a:srgbClr val="0B1F3A"/>
                </a:solidFill>
              </a:rPr>
              <a:t> Filter</a:t>
            </a:r>
          </a:p>
        </p:txBody>
      </p:sp>
      <p:sp>
        <p:nvSpPr>
          <p:cNvPr id="138" name="Text 16"/>
          <p:cNvSpPr txBox="1"/>
          <p:nvPr/>
        </p:nvSpPr>
        <p:spPr>
          <a:xfrm>
            <a:off x="4603750" y="4197251"/>
            <a:ext cx="3074036" cy="7187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The policy enforcement point removes anything outside the asker's tenant or role.</a:t>
            </a:r>
          </a:p>
        </p:txBody>
      </p:sp>
      <p:sp>
        <p:nvSpPr>
          <p:cNvPr id="139" name="Shape 17"/>
          <p:cNvSpPr/>
          <p:nvPr/>
        </p:nvSpPr>
        <p:spPr>
          <a:xfrm>
            <a:off x="7978775" y="3609876"/>
            <a:ext cx="3397250" cy="1487141"/>
          </a:xfrm>
          <a:prstGeom prst="roundRect">
            <a:avLst>
              <a:gd name="adj" fmla="val 6618"/>
            </a:avLst>
          </a:prstGeom>
          <a:solidFill>
            <a:srgbClr val="FFFFFF"/>
          </a:solidFill>
          <a:ln w="6350">
            <a:solidFill>
              <a:srgbClr val="C9DCE6"/>
            </a:solidFill>
          </a:ln>
        </p:spPr>
        <p:txBody>
          <a:bodyPr lIns="45719" rIns="45719"/>
          <a:lstStyle/>
          <a:p>
            <a:pPr/>
          </a:p>
        </p:txBody>
      </p:sp>
      <p:sp>
        <p:nvSpPr>
          <p:cNvPr id="140" name="Text 18"/>
          <p:cNvSpPr txBox="1"/>
          <p:nvPr/>
        </p:nvSpPr>
        <p:spPr>
          <a:xfrm>
            <a:off x="8185150" y="3816251"/>
            <a:ext cx="307403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7E6319"/>
                </a:solidFill>
                <a:latin typeface="Source Serif 4"/>
                <a:ea typeface="Source Serif 4"/>
                <a:cs typeface="Source Serif 4"/>
                <a:sym typeface="Source Serif 4"/>
              </a:defRPr>
            </a:pPr>
            <a:r>
              <a:t>6</a:t>
            </a:r>
            <a:r>
              <a:rPr>
                <a:solidFill>
                  <a:srgbClr val="0B1F3A"/>
                </a:solidFill>
              </a:rPr>
              <a:t> Score and cite</a:t>
            </a:r>
          </a:p>
        </p:txBody>
      </p:sp>
      <p:sp>
        <p:nvSpPr>
          <p:cNvPr id="141" name="Text 19"/>
          <p:cNvSpPr txBox="1"/>
          <p:nvPr/>
        </p:nvSpPr>
        <p:spPr>
          <a:xfrm>
            <a:off x="8185150" y="4197251"/>
            <a:ext cx="3074036" cy="7187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4A5A70"/>
                </a:solidFill>
                <a:latin typeface="IBM Plex Sans"/>
                <a:ea typeface="IBM Plex Sans"/>
                <a:cs typeface="IBM Plex Sans"/>
                <a:sym typeface="IBM Plex Sans"/>
              </a:defRPr>
            </a:lvl1pPr>
          </a:lstStyle>
          <a:p>
            <a:pPr/>
            <a:r>
              <a:t>MTBH scores the answer, uncertain ones go to a person, and every answer cites its sources.</a:t>
            </a:r>
          </a:p>
        </p:txBody>
      </p:sp>
      <p:sp>
        <p:nvSpPr>
          <p:cNvPr id="142" name="Text 20"/>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AF2F6"/>
        </a:solidFill>
      </p:bgPr>
    </p:bg>
    <p:spTree>
      <p:nvGrpSpPr>
        <p:cNvPr id="1" name=""/>
        <p:cNvGrpSpPr/>
        <p:nvPr/>
      </p:nvGrpSpPr>
      <p:grpSpPr>
        <a:xfrm>
          <a:off x="0" y="0"/>
          <a:ext cx="0" cy="0"/>
          <a:chOff x="0" y="0"/>
          <a:chExt cx="0" cy="0"/>
        </a:xfrm>
      </p:grpSpPr>
      <p:sp>
        <p:nvSpPr>
          <p:cNvPr id="146"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2E6E8E"/>
                </a:solidFill>
                <a:latin typeface="IBM Plex Sans"/>
                <a:ea typeface="IBM Plex Sans"/>
                <a:cs typeface="IBM Plex Sans"/>
                <a:sym typeface="IBM Plex Sans"/>
              </a:defRPr>
            </a:lvl1pPr>
          </a:lstStyle>
          <a:p>
            <a:pPr/>
            <a:r>
              <a:t>FOR TECHNICAL LEADERS</a:t>
            </a:r>
          </a:p>
        </p:txBody>
      </p:sp>
      <p:sp>
        <p:nvSpPr>
          <p:cNvPr id="147" name="Text 1"/>
          <p:cNvSpPr txBox="1"/>
          <p:nvPr/>
        </p:nvSpPr>
        <p:spPr>
          <a:xfrm>
            <a:off x="812799" y="11023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Stack independent by contract</a:t>
            </a:r>
          </a:p>
        </p:txBody>
      </p:sp>
      <p:graphicFrame>
        <p:nvGraphicFramePr>
          <p:cNvPr id="148" name="Table 0"/>
          <p:cNvGraphicFramePr/>
          <p:nvPr/>
        </p:nvGraphicFramePr>
        <p:xfrm>
          <a:off x="825500" y="1821110"/>
          <a:ext cx="10553700" cy="29941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83055"/>
                <a:gridCol w="2532888"/>
                <a:gridCol w="3482721"/>
                <a:gridCol w="2955036"/>
              </a:tblGrid>
              <a:tr h="332680">
                <a:tc>
                  <a:txBody>
                    <a:bodyPr/>
                    <a:lstStyle/>
                    <a:p>
                      <a:pPr algn="l">
                        <a:lnSpc>
                          <a:spcPts val="1600"/>
                        </a:lnSpc>
                        <a:defRPr sz="1800"/>
                      </a:pPr>
                      <a:r>
                        <a:rPr b="1" sz="1200">
                          <a:solidFill>
                            <a:srgbClr val="20344B"/>
                          </a:solidFill>
                          <a:latin typeface="IBM Plex Sans"/>
                          <a:ea typeface="IBM Plex Sans"/>
                          <a:cs typeface="IBM Plex Sans"/>
                          <a:sym typeface="IBM Plex Sans"/>
                        </a:rPr>
                        <a:t>Port</a:t>
                      </a:r>
                    </a:p>
                  </a:txBody>
                  <a:tcPr marL="53339" marR="53339" marT="53339" marB="53339" anchor="t" anchorCtr="0" horzOverflow="overflow">
                    <a:lnL w="12700">
                      <a:solidFill>
                        <a:srgbClr val="BBC1C4"/>
                      </a:solidFill>
                    </a:lnL>
                    <a:lnR w="12700">
                      <a:solidFill>
                        <a:srgbClr val="A9B7BE"/>
                      </a:solidFill>
                    </a:lnR>
                    <a:lnT w="12700">
                      <a:solidFill>
                        <a:srgbClr val="BBC1C4"/>
                      </a:solidFill>
                    </a:lnT>
                    <a:lnB w="12700">
                      <a:solidFill>
                        <a:srgbClr val="A9B7BE"/>
                      </a:solidFill>
                    </a:lnB>
                    <a:solidFill>
                      <a:srgbClr val="D3E5EE"/>
                    </a:solidFill>
                  </a:tcPr>
                </a:tc>
                <a:tc>
                  <a:txBody>
                    <a:bodyPr/>
                    <a:lstStyle/>
                    <a:p>
                      <a:pPr algn="l">
                        <a:lnSpc>
                          <a:spcPts val="1600"/>
                        </a:lnSpc>
                        <a:defRPr sz="1800"/>
                      </a:pPr>
                      <a:r>
                        <a:rPr b="1" sz="1200">
                          <a:solidFill>
                            <a:srgbClr val="20344B"/>
                          </a:solidFill>
                          <a:latin typeface="IBM Plex Sans"/>
                          <a:ea typeface="IBM Plex Sans"/>
                          <a:cs typeface="IBM Plex Sans"/>
                          <a:sym typeface="IBM Plex Sans"/>
                        </a:rPr>
                        <a:t>Canonical contract</a:t>
                      </a:r>
                    </a:p>
                  </a:txBody>
                  <a:tcPr marL="53339" marR="53339" marT="53339" marB="53339" anchor="t" anchorCtr="0" horzOverflow="overflow">
                    <a:lnL w="12700">
                      <a:solidFill>
                        <a:srgbClr val="A9B7BE"/>
                      </a:solidFill>
                    </a:lnL>
                    <a:lnR w="12700">
                      <a:solidFill>
                        <a:srgbClr val="A9B7BE"/>
                      </a:solidFill>
                    </a:lnR>
                    <a:lnT w="12700">
                      <a:solidFill>
                        <a:srgbClr val="BBC1C4"/>
                      </a:solidFill>
                    </a:lnT>
                    <a:lnB w="12700">
                      <a:solidFill>
                        <a:srgbClr val="A9B7BE"/>
                      </a:solidFill>
                    </a:lnB>
                    <a:solidFill>
                      <a:srgbClr val="D3E5EE"/>
                    </a:solidFill>
                  </a:tcPr>
                </a:tc>
                <a:tc>
                  <a:txBody>
                    <a:bodyPr/>
                    <a:lstStyle/>
                    <a:p>
                      <a:pPr algn="l">
                        <a:lnSpc>
                          <a:spcPts val="1600"/>
                        </a:lnSpc>
                        <a:defRPr sz="1800"/>
                      </a:pPr>
                      <a:r>
                        <a:rPr b="1" sz="1200">
                          <a:solidFill>
                            <a:srgbClr val="20344B"/>
                          </a:solidFill>
                          <a:latin typeface="IBM Plex Sans"/>
                          <a:ea typeface="IBM Plex Sans"/>
                          <a:cs typeface="IBM Plex Sans"/>
                          <a:sym typeface="IBM Plex Sans"/>
                        </a:rPr>
                        <a:t>Microsoft adapter</a:t>
                      </a:r>
                    </a:p>
                  </a:txBody>
                  <a:tcPr marL="53339" marR="53339" marT="53339" marB="53339" anchor="t" anchorCtr="0" horzOverflow="overflow">
                    <a:lnL w="12700">
                      <a:solidFill>
                        <a:srgbClr val="A9B7BE"/>
                      </a:solidFill>
                    </a:lnL>
                    <a:lnR w="12700">
                      <a:solidFill>
                        <a:srgbClr val="A9B7BE"/>
                      </a:solidFill>
                    </a:lnR>
                    <a:lnT w="12700">
                      <a:solidFill>
                        <a:srgbClr val="BBC1C4"/>
                      </a:solidFill>
                    </a:lnT>
                    <a:lnB w="12700">
                      <a:solidFill>
                        <a:srgbClr val="A9B7BE"/>
                      </a:solidFill>
                    </a:lnB>
                    <a:solidFill>
                      <a:srgbClr val="D3E5EE"/>
                    </a:solidFill>
                  </a:tcPr>
                </a:tc>
                <a:tc>
                  <a:txBody>
                    <a:bodyPr/>
                    <a:lstStyle/>
                    <a:p>
                      <a:pPr algn="l">
                        <a:lnSpc>
                          <a:spcPts val="1600"/>
                        </a:lnSpc>
                        <a:defRPr sz="1800"/>
                      </a:pPr>
                      <a:r>
                        <a:rPr b="1" sz="1200">
                          <a:solidFill>
                            <a:srgbClr val="20344B"/>
                          </a:solidFill>
                          <a:latin typeface="IBM Plex Sans"/>
                          <a:ea typeface="IBM Plex Sans"/>
                          <a:cs typeface="IBM Plex Sans"/>
                          <a:sym typeface="IBM Plex Sans"/>
                        </a:rPr>
                        <a:t>Alternates</a:t>
                      </a:r>
                    </a:p>
                  </a:txBody>
                  <a:tcPr marL="53339" marR="53339" marT="53339" marB="53339" anchor="t" anchorCtr="0" horzOverflow="overflow">
                    <a:lnL w="12700">
                      <a:solidFill>
                        <a:srgbClr val="A9B7BE"/>
                      </a:solidFill>
                    </a:lnL>
                    <a:lnR w="12700">
                      <a:solidFill>
                        <a:srgbClr val="A9B7BE"/>
                      </a:solidFill>
                    </a:lnR>
                    <a:lnT w="12700">
                      <a:solidFill>
                        <a:srgbClr val="BBC1C4"/>
                      </a:solidFill>
                    </a:lnT>
                    <a:lnB w="12700">
                      <a:solidFill>
                        <a:srgbClr val="A9B7BE"/>
                      </a:solidFill>
                    </a:lnB>
                    <a:solidFill>
                      <a:srgbClr val="D3E5EE"/>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Meaning</a:t>
                      </a:r>
                    </a:p>
                  </a:txBody>
                  <a:tcPr marL="53339" marR="53339" marT="53339" marB="53339" anchor="t" anchorCtr="0" horzOverflow="overflow">
                    <a:lnL w="12700">
                      <a:solidFill>
                        <a:srgbClr val="BBC1C4"/>
                      </a:solidFill>
                    </a:lnL>
                    <a:lnR w="12700">
                      <a:solidFill>
                        <a:srgbClr val="CBCBCB"/>
                      </a:solidFill>
                    </a:lnR>
                    <a:lnT w="12700">
                      <a:solidFill>
                        <a:srgbClr val="A9B7BE"/>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OWL 2 · SKOS · LKIF</a:t>
                      </a:r>
                    </a:p>
                  </a:txBody>
                  <a:tcPr marL="53339" marR="53339" marT="53339" marB="53339" anchor="t" anchorCtr="0" horzOverflow="overflow">
                    <a:lnL w="12700">
                      <a:solidFill>
                        <a:srgbClr val="CBCBCB"/>
                      </a:solidFill>
                    </a:lnL>
                    <a:lnR w="12700">
                      <a:solidFill>
                        <a:srgbClr val="CBCBCB"/>
                      </a:solidFill>
                    </a:lnR>
                    <a:lnT w="12700">
                      <a:solidFill>
                        <a:srgbClr val="A9B7BE"/>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Fabric IQ ontology (generated)</a:t>
                      </a:r>
                    </a:p>
                  </a:txBody>
                  <a:tcPr marL="53339" marR="53339" marT="53339" marB="53339" anchor="t" anchorCtr="0" horzOverflow="overflow">
                    <a:lnL w="12700">
                      <a:solidFill>
                        <a:srgbClr val="CBCBCB"/>
                      </a:solidFill>
                    </a:lnL>
                    <a:lnR w="12700">
                      <a:solidFill>
                        <a:srgbClr val="CBCBCB"/>
                      </a:solidFill>
                    </a:lnR>
                    <a:lnT w="12700">
                      <a:solidFill>
                        <a:srgbClr val="A9B7BE"/>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Neptune · GraphDB</a:t>
                      </a:r>
                    </a:p>
                  </a:txBody>
                  <a:tcPr marL="53339" marR="53339" marT="53339" marB="53339" anchor="t" anchorCtr="0" horzOverflow="overflow">
                    <a:lnL w="12700">
                      <a:solidFill>
                        <a:srgbClr val="CBCBCB"/>
                      </a:solidFill>
                    </a:lnL>
                    <a:lnR w="12700">
                      <a:solidFill>
                        <a:srgbClr val="CBCBCB"/>
                      </a:solidFill>
                    </a:lnR>
                    <a:lnT w="12700">
                      <a:solidFill>
                        <a:srgbClr val="A9B7BE"/>
                      </a:solidFill>
                    </a:lnT>
                    <a:lnB w="12700">
                      <a:solidFill>
                        <a:srgbClr val="CBCBCB"/>
                      </a:solidFill>
                    </a:lnB>
                    <a:solidFill>
                      <a:srgbClr val="FFFFFF"/>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Rules</a:t>
                      </a:r>
                    </a:p>
                  </a:txBody>
                  <a:tcPr marL="53339" marR="53339" marT="53339" marB="53339"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SHACL · SWRL · KGCL</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Fabric/dbt tests · Power Automate</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Workday validations · dbt</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Policy</a:t>
                      </a:r>
                    </a:p>
                  </a:txBody>
                  <a:tcPr marL="53339" marR="53339" marT="53339" marB="53339" anchor="t" anchorCtr="0" horzOverflow="overflow">
                    <a:lnL w="12700">
                      <a:solidFill>
                        <a:srgbClr val="BBC1C4"/>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OPA/Rego · JSON Schema</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API Management + OPA · Purview DLP</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Cedar · Envoy</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Identity</a:t>
                      </a:r>
                    </a:p>
                  </a:txBody>
                  <a:tcPr marL="53339" marR="53339" marT="53339" marB="53339"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OIDC · SCIM · URI registry</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Entra ID · Entra Agent ID</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Okta · Keycloak</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Grounding</a:t>
                      </a:r>
                    </a:p>
                  </a:txBody>
                  <a:tcPr marL="53339" marR="53339" marT="53339" marB="53339" anchor="t" anchorCtr="0" horzOverflow="overflow">
                    <a:lnL w="12700">
                      <a:solidFill>
                        <a:srgbClr val="BBC1C4"/>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SPARQL · URI-anchored RAG</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Foundry IQ · Azure AI Search</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Bedrock KB · pgvector</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Agents</a:t>
                      </a:r>
                    </a:p>
                  </a:txBody>
                  <a:tcPr marL="53339" marR="53339" marT="53339" marB="53339"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MCP · A2A · OpenAPI</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Copilot Studio · Foundry Agents</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LangGraph · Claude · Workday</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Telemetry</a:t>
                      </a:r>
                    </a:p>
                  </a:txBody>
                  <a:tcPr marL="53339" marR="53339" marT="53339" marB="53339" anchor="t" anchorCtr="0" horzOverflow="overflow">
                    <a:lnL w="12700">
                      <a:solidFill>
                        <a:srgbClr val="BBC1C4"/>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PROV-O · OpenTelemetry</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Monitor · Sentinel · Purview Audit</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Datadog · OpenLineage</a:t>
                      </a:r>
                    </a:p>
                  </a:txBody>
                  <a:tcPr marL="53339" marR="53339" marT="53339" marB="53339" anchor="t" anchorCtr="0" horzOverflow="overflow">
                    <a:lnL w="12700">
                      <a:solidFill>
                        <a:srgbClr val="CBCBCB"/>
                      </a:solidFill>
                    </a:lnL>
                    <a:lnR w="12700">
                      <a:solidFill>
                        <a:srgbClr val="CBCBCB"/>
                      </a:solidFill>
                    </a:lnR>
                    <a:lnT w="12700">
                      <a:solidFill>
                        <a:srgbClr val="C5C7C9"/>
                      </a:solidFill>
                    </a:lnT>
                    <a:lnB w="12700">
                      <a:solidFill>
                        <a:srgbClr val="CBCBCB"/>
                      </a:solidFill>
                    </a:lnB>
                    <a:solidFill>
                      <a:srgbClr val="FFFFFF"/>
                    </a:solidFill>
                  </a:tcPr>
                </a:tc>
              </a:tr>
              <a:tr h="332680">
                <a:tc>
                  <a:txBody>
                    <a:bodyPr/>
                    <a:lstStyle/>
                    <a:p>
                      <a:pPr algn="l">
                        <a:lnSpc>
                          <a:spcPts val="1600"/>
                        </a:lnSpc>
                        <a:defRPr sz="1800"/>
                      </a:pPr>
                      <a:r>
                        <a:rPr sz="1200">
                          <a:solidFill>
                            <a:srgbClr val="20344B"/>
                          </a:solidFill>
                          <a:latin typeface="IBM Plex Sans"/>
                          <a:ea typeface="IBM Plex Sans"/>
                          <a:cs typeface="IBM Plex Sans"/>
                          <a:sym typeface="IBM Plex Sans"/>
                        </a:rPr>
                        <a:t>Analytics</a:t>
                      </a:r>
                    </a:p>
                  </a:txBody>
                  <a:tcPr marL="53339" marR="53339" marT="53339" marB="53339" anchor="t" anchorCtr="0" horzOverflow="overflow">
                    <a:lnL w="12700">
                      <a:solidFill>
                        <a:srgbClr val="BBC1C4"/>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W3C DPROD</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OneLake · Power BI</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c>
                  <a:txBody>
                    <a:bodyPr/>
                    <a:lstStyle/>
                    <a:p>
                      <a:pPr algn="l">
                        <a:lnSpc>
                          <a:spcPts val="1600"/>
                        </a:lnSpc>
                        <a:defRPr sz="1800"/>
                      </a:pPr>
                      <a:r>
                        <a:rPr sz="1200">
                          <a:solidFill>
                            <a:srgbClr val="20344B"/>
                          </a:solidFill>
                          <a:latin typeface="IBM Plex Sans"/>
                          <a:ea typeface="IBM Plex Sans"/>
                          <a:cs typeface="IBM Plex Sans"/>
                          <a:sym typeface="IBM Plex Sans"/>
                        </a:rPr>
                        <a:t>dbt Semantic Layer · Superset</a:t>
                      </a:r>
                    </a:p>
                  </a:txBody>
                  <a:tcPr marL="53339" marR="53339" marT="53339" marB="53339" anchor="t" anchorCtr="0" horzOverflow="overflow">
                    <a:lnL w="12700">
                      <a:solidFill>
                        <a:srgbClr val="C5C7C9"/>
                      </a:solidFill>
                    </a:lnL>
                    <a:lnR w="12700">
                      <a:solidFill>
                        <a:srgbClr val="C5C7C9"/>
                      </a:solidFill>
                    </a:lnR>
                    <a:lnT w="12700">
                      <a:solidFill>
                        <a:srgbClr val="CBCBCB"/>
                      </a:solidFill>
                    </a:lnT>
                    <a:lnB w="12700">
                      <a:solidFill>
                        <a:srgbClr val="C5C7C9"/>
                      </a:solidFill>
                    </a:lnB>
                    <a:solidFill>
                      <a:srgbClr val="F7FAFC"/>
                    </a:solidFill>
                  </a:tcPr>
                </a:tc>
              </a:tr>
            </a:tbl>
          </a:graphicData>
        </a:graphic>
      </p:graphicFrame>
      <p:sp>
        <p:nvSpPr>
          <p:cNvPr id="149" name="Text 2"/>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12 · The contract column never changes; adapters do</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15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7E6319"/>
                </a:solidFill>
                <a:latin typeface="IBM Plex Sans"/>
                <a:ea typeface="IBM Plex Sans"/>
                <a:cs typeface="IBM Plex Sans"/>
                <a:sym typeface="IBM Plex Sans"/>
              </a:defRPr>
            </a:lvl1pPr>
          </a:lstStyle>
          <a:p>
            <a:pPr/>
            <a:r>
              <a:t>ROADMAP</a:t>
            </a:r>
          </a:p>
        </p:txBody>
      </p:sp>
      <p:sp>
        <p:nvSpPr>
          <p:cNvPr id="154" name="Text 1"/>
          <p:cNvSpPr txBox="1"/>
          <p:nvPr/>
        </p:nvSpPr>
        <p:spPr>
          <a:xfrm>
            <a:off x="812799" y="11023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0B1F3A"/>
                </a:solidFill>
                <a:latin typeface="Source Serif 4"/>
                <a:ea typeface="Source Serif 4"/>
                <a:cs typeface="Source Serif 4"/>
                <a:sym typeface="Source Serif 4"/>
              </a:defRPr>
            </a:lvl1pPr>
          </a:lstStyle>
          <a:p>
            <a:pPr/>
            <a:r>
              <a:t>Four gated phases over 18 months</a:t>
            </a:r>
          </a:p>
        </p:txBody>
      </p:sp>
      <p:sp>
        <p:nvSpPr>
          <p:cNvPr id="155" name="Shape 2"/>
          <p:cNvSpPr/>
          <p:nvPr/>
        </p:nvSpPr>
        <p:spPr>
          <a:xfrm>
            <a:off x="815975" y="1862385"/>
            <a:ext cx="2520950" cy="2632573"/>
          </a:xfrm>
          <a:prstGeom prst="roundRect">
            <a:avLst>
              <a:gd name="adj" fmla="val 3401"/>
            </a:avLst>
          </a:prstGeom>
          <a:solidFill>
            <a:srgbClr val="FFFFFF"/>
          </a:solidFill>
          <a:ln w="6350">
            <a:solidFill>
              <a:srgbClr val="D8E1EC"/>
            </a:solidFill>
          </a:ln>
        </p:spPr>
        <p:txBody>
          <a:bodyPr lIns="45719" rIns="45719"/>
          <a:lstStyle/>
          <a:p>
            <a:pPr/>
          </a:p>
        </p:txBody>
      </p:sp>
      <p:sp>
        <p:nvSpPr>
          <p:cNvPr id="156" name="Text 3"/>
          <p:cNvSpPr txBox="1"/>
          <p:nvPr/>
        </p:nvSpPr>
        <p:spPr>
          <a:xfrm>
            <a:off x="996950" y="2043360"/>
            <a:ext cx="222377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rgbClr val="7E6319"/>
                </a:solidFill>
                <a:latin typeface="IBM Plex Sans"/>
                <a:ea typeface="IBM Plex Sans"/>
                <a:cs typeface="IBM Plex Sans"/>
                <a:sym typeface="IBM Plex Sans"/>
              </a:defRPr>
            </a:lvl1pPr>
          </a:lstStyle>
          <a:p>
            <a:pPr/>
            <a:r>
              <a:t>P0 · Months 1–2</a:t>
            </a:r>
          </a:p>
        </p:txBody>
      </p:sp>
      <p:sp>
        <p:nvSpPr>
          <p:cNvPr id="157" name="Text 4"/>
          <p:cNvSpPr txBox="1"/>
          <p:nvPr/>
        </p:nvSpPr>
        <p:spPr>
          <a:xfrm>
            <a:off x="996950" y="2345581"/>
            <a:ext cx="2223771" cy="2590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600">
                <a:solidFill>
                  <a:srgbClr val="0B1F3A"/>
                </a:solidFill>
                <a:latin typeface="Source Serif 4"/>
                <a:ea typeface="Source Serif 4"/>
                <a:cs typeface="Source Serif 4"/>
                <a:sym typeface="Source Serif 4"/>
              </a:defRPr>
            </a:lvl1pPr>
          </a:lstStyle>
          <a:p>
            <a:pPr/>
            <a:r>
              <a:t>Foundation</a:t>
            </a:r>
          </a:p>
        </p:txBody>
      </p:sp>
      <p:sp>
        <p:nvSpPr>
          <p:cNvPr id="158" name="Text 5"/>
          <p:cNvSpPr txBox="1"/>
          <p:nvPr/>
        </p:nvSpPr>
        <p:spPr>
          <a:xfrm>
            <a:off x="996950" y="2668141"/>
            <a:ext cx="2223771" cy="6425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Keel:</a:t>
            </a:r>
            <a:r>
              <a:rPr b="0"/>
              <a:t> isp-core; 142 rules keyed; URI registry; 2,000 assets admitted</a:t>
            </a:r>
          </a:p>
        </p:txBody>
      </p:sp>
      <p:sp>
        <p:nvSpPr>
          <p:cNvPr id="159" name="Text 6"/>
          <p:cNvSpPr txBox="1"/>
          <p:nvPr/>
        </p:nvSpPr>
        <p:spPr>
          <a:xfrm>
            <a:off x="996950" y="3374230"/>
            <a:ext cx="2223771" cy="2311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North Star:</a:t>
            </a:r>
            <a:r>
              <a:rPr b="0"/>
              <a:t> staff search pilot</a:t>
            </a:r>
          </a:p>
        </p:txBody>
      </p:sp>
      <p:sp>
        <p:nvSpPr>
          <p:cNvPr id="160" name="Text 7"/>
          <p:cNvSpPr txBox="1"/>
          <p:nvPr/>
        </p:nvSpPr>
        <p:spPr>
          <a:xfrm>
            <a:off x="996950" y="3668860"/>
            <a:ext cx="2223771" cy="2311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Gate: SHACL pass ≥98%</a:t>
            </a:r>
          </a:p>
        </p:txBody>
      </p:sp>
      <p:sp>
        <p:nvSpPr>
          <p:cNvPr id="161" name="Shape 8"/>
          <p:cNvSpPr/>
          <p:nvPr/>
        </p:nvSpPr>
        <p:spPr>
          <a:xfrm>
            <a:off x="3495675" y="1862385"/>
            <a:ext cx="2520950" cy="2632573"/>
          </a:xfrm>
          <a:prstGeom prst="roundRect">
            <a:avLst>
              <a:gd name="adj" fmla="val 3401"/>
            </a:avLst>
          </a:prstGeom>
          <a:solidFill>
            <a:srgbClr val="FFFFFF"/>
          </a:solidFill>
          <a:ln w="6350">
            <a:solidFill>
              <a:srgbClr val="D8E1EC"/>
            </a:solidFill>
          </a:ln>
        </p:spPr>
        <p:txBody>
          <a:bodyPr lIns="45719" rIns="45719"/>
          <a:lstStyle/>
          <a:p>
            <a:pPr/>
          </a:p>
        </p:txBody>
      </p:sp>
      <p:sp>
        <p:nvSpPr>
          <p:cNvPr id="162" name="Text 9"/>
          <p:cNvSpPr txBox="1"/>
          <p:nvPr/>
        </p:nvSpPr>
        <p:spPr>
          <a:xfrm>
            <a:off x="3676650" y="2043360"/>
            <a:ext cx="222377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rgbClr val="7E6319"/>
                </a:solidFill>
                <a:latin typeface="IBM Plex Sans"/>
                <a:ea typeface="IBM Plex Sans"/>
                <a:cs typeface="IBM Plex Sans"/>
                <a:sym typeface="IBM Plex Sans"/>
              </a:defRPr>
            </a:lvl1pPr>
          </a:lstStyle>
          <a:p>
            <a:pPr/>
            <a:r>
              <a:t>P1 · Months 3–6</a:t>
            </a:r>
          </a:p>
        </p:txBody>
      </p:sp>
      <p:sp>
        <p:nvSpPr>
          <p:cNvPr id="163" name="Text 10"/>
          <p:cNvSpPr txBox="1"/>
          <p:nvPr/>
        </p:nvSpPr>
        <p:spPr>
          <a:xfrm>
            <a:off x="3676650" y="2345581"/>
            <a:ext cx="2223771" cy="492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600">
                <a:solidFill>
                  <a:srgbClr val="0B1F3A"/>
                </a:solidFill>
                <a:latin typeface="Source Serif 4"/>
                <a:ea typeface="Source Serif 4"/>
                <a:cs typeface="Source Serif 4"/>
                <a:sym typeface="Source Serif 4"/>
              </a:defRPr>
            </a:lvl1pPr>
          </a:lstStyle>
          <a:p>
            <a:pPr/>
            <a:r>
              <a:t>Governed Copilot MVP</a:t>
            </a:r>
          </a:p>
        </p:txBody>
      </p:sp>
      <p:sp>
        <p:nvSpPr>
          <p:cNvPr id="164" name="Text 11"/>
          <p:cNvSpPr txBox="1"/>
          <p:nvPr/>
        </p:nvSpPr>
        <p:spPr>
          <a:xfrm>
            <a:off x="3676650" y="2901800"/>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Keel:</a:t>
            </a:r>
            <a:r>
              <a:rPr b="0"/>
              <a:t> payroll and benefits holons; compiler; gateway</a:t>
            </a:r>
          </a:p>
        </p:txBody>
      </p:sp>
      <p:sp>
        <p:nvSpPr>
          <p:cNvPr id="165" name="Text 12"/>
          <p:cNvSpPr txBox="1"/>
          <p:nvPr/>
        </p:nvSpPr>
        <p:spPr>
          <a:xfrm>
            <a:off x="3676650" y="3402160"/>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North Star:</a:t>
            </a:r>
            <a:r>
              <a:rPr b="0"/>
              <a:t> cited answers at 3–5 pilot clients</a:t>
            </a:r>
          </a:p>
        </p:txBody>
      </p:sp>
      <p:sp>
        <p:nvSpPr>
          <p:cNvPr id="166" name="Text 13"/>
          <p:cNvSpPr txBox="1"/>
          <p:nvPr/>
        </p:nvSpPr>
        <p:spPr>
          <a:xfrm>
            <a:off x="3676650" y="3902521"/>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Gate: P95 ≤3 s; zero cross-tenant</a:t>
            </a:r>
          </a:p>
        </p:txBody>
      </p:sp>
      <p:sp>
        <p:nvSpPr>
          <p:cNvPr id="167" name="Shape 14"/>
          <p:cNvSpPr/>
          <p:nvPr/>
        </p:nvSpPr>
        <p:spPr>
          <a:xfrm>
            <a:off x="6175375" y="1862385"/>
            <a:ext cx="2520950" cy="2632573"/>
          </a:xfrm>
          <a:prstGeom prst="roundRect">
            <a:avLst>
              <a:gd name="adj" fmla="val 3401"/>
            </a:avLst>
          </a:prstGeom>
          <a:solidFill>
            <a:srgbClr val="FFFFFF"/>
          </a:solidFill>
          <a:ln w="6350">
            <a:solidFill>
              <a:srgbClr val="D8E1EC"/>
            </a:solidFill>
          </a:ln>
        </p:spPr>
        <p:txBody>
          <a:bodyPr lIns="45719" rIns="45719"/>
          <a:lstStyle/>
          <a:p>
            <a:pPr/>
          </a:p>
        </p:txBody>
      </p:sp>
      <p:sp>
        <p:nvSpPr>
          <p:cNvPr id="168" name="Text 15"/>
          <p:cNvSpPr txBox="1"/>
          <p:nvPr/>
        </p:nvSpPr>
        <p:spPr>
          <a:xfrm>
            <a:off x="6356350" y="2043360"/>
            <a:ext cx="222377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rgbClr val="7E6319"/>
                </a:solidFill>
                <a:latin typeface="IBM Plex Sans"/>
                <a:ea typeface="IBM Plex Sans"/>
                <a:cs typeface="IBM Plex Sans"/>
                <a:sym typeface="IBM Plex Sans"/>
              </a:defRPr>
            </a:lvl1pPr>
          </a:lstStyle>
          <a:p>
            <a:pPr/>
            <a:r>
              <a:t>P2 · Months 7–12</a:t>
            </a:r>
          </a:p>
        </p:txBody>
      </p:sp>
      <p:sp>
        <p:nvSpPr>
          <p:cNvPr id="169" name="Text 16"/>
          <p:cNvSpPr txBox="1"/>
          <p:nvPr/>
        </p:nvSpPr>
        <p:spPr>
          <a:xfrm>
            <a:off x="6356350" y="2345581"/>
            <a:ext cx="2223771" cy="2590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600">
                <a:solidFill>
                  <a:srgbClr val="0B1F3A"/>
                </a:solidFill>
                <a:latin typeface="Source Serif 4"/>
                <a:ea typeface="Source Serif 4"/>
                <a:cs typeface="Source Serif 4"/>
                <a:sym typeface="Source Serif 4"/>
              </a:defRPr>
            </a:lvl1pPr>
          </a:lstStyle>
          <a:p>
            <a:pPr/>
            <a:r>
              <a:t>Domain copilots</a:t>
            </a:r>
          </a:p>
        </p:txBody>
      </p:sp>
      <p:sp>
        <p:nvSpPr>
          <p:cNvPr id="170" name="Text 17"/>
          <p:cNvSpPr txBox="1"/>
          <p:nvPr/>
        </p:nvSpPr>
        <p:spPr>
          <a:xfrm>
            <a:off x="6356350" y="2668141"/>
            <a:ext cx="2223771" cy="6425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Keel:</a:t>
            </a:r>
            <a:r>
              <a:rPr b="0"/>
              <a:t> six domain holons; personal models; Workday adapter</a:t>
            </a:r>
          </a:p>
        </p:txBody>
      </p:sp>
      <p:sp>
        <p:nvSpPr>
          <p:cNvPr id="171" name="Text 18"/>
          <p:cNvSpPr txBox="1"/>
          <p:nvPr/>
        </p:nvSpPr>
        <p:spPr>
          <a:xfrm>
            <a:off x="6356350" y="3374230"/>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North Star:</a:t>
            </a:r>
            <a:r>
              <a:rPr b="0"/>
              <a:t> compass navigator in portals</a:t>
            </a:r>
          </a:p>
        </p:txBody>
      </p:sp>
      <p:sp>
        <p:nvSpPr>
          <p:cNvPr id="172" name="Text 19"/>
          <p:cNvSpPr txBox="1"/>
          <p:nvPr/>
        </p:nvSpPr>
        <p:spPr>
          <a:xfrm>
            <a:off x="6356350" y="3874591"/>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Gate: MTBH ≥96%; 25–40 clients</a:t>
            </a:r>
          </a:p>
        </p:txBody>
      </p:sp>
      <p:sp>
        <p:nvSpPr>
          <p:cNvPr id="173" name="Shape 20"/>
          <p:cNvSpPr/>
          <p:nvPr/>
        </p:nvSpPr>
        <p:spPr>
          <a:xfrm>
            <a:off x="8855075" y="1862385"/>
            <a:ext cx="2520950" cy="2632573"/>
          </a:xfrm>
          <a:prstGeom prst="roundRect">
            <a:avLst>
              <a:gd name="adj" fmla="val 3401"/>
            </a:avLst>
          </a:prstGeom>
          <a:solidFill>
            <a:srgbClr val="FFFFFF"/>
          </a:solidFill>
          <a:ln w="6350">
            <a:solidFill>
              <a:srgbClr val="D8E1EC"/>
            </a:solidFill>
          </a:ln>
        </p:spPr>
        <p:txBody>
          <a:bodyPr lIns="45719" rIns="45719"/>
          <a:lstStyle/>
          <a:p>
            <a:pPr/>
          </a:p>
        </p:txBody>
      </p:sp>
      <p:sp>
        <p:nvSpPr>
          <p:cNvPr id="174" name="Text 21"/>
          <p:cNvSpPr txBox="1"/>
          <p:nvPr/>
        </p:nvSpPr>
        <p:spPr>
          <a:xfrm>
            <a:off x="9036050" y="2043360"/>
            <a:ext cx="222377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rgbClr val="7E6319"/>
                </a:solidFill>
                <a:latin typeface="IBM Plex Sans"/>
                <a:ea typeface="IBM Plex Sans"/>
                <a:cs typeface="IBM Plex Sans"/>
                <a:sym typeface="IBM Plex Sans"/>
              </a:defRPr>
            </a:lvl1pPr>
          </a:lstStyle>
          <a:p>
            <a:pPr/>
            <a:r>
              <a:t>P3 · Months 13–18</a:t>
            </a:r>
          </a:p>
        </p:txBody>
      </p:sp>
      <p:sp>
        <p:nvSpPr>
          <p:cNvPr id="175" name="Text 22"/>
          <p:cNvSpPr txBox="1"/>
          <p:nvPr/>
        </p:nvSpPr>
        <p:spPr>
          <a:xfrm>
            <a:off x="9036050" y="2345581"/>
            <a:ext cx="2223771" cy="2590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600">
                <a:solidFill>
                  <a:srgbClr val="0B1F3A"/>
                </a:solidFill>
                <a:latin typeface="Source Serif 4"/>
                <a:ea typeface="Source Serif 4"/>
                <a:cs typeface="Source Serif 4"/>
                <a:sym typeface="Source Serif 4"/>
              </a:defRPr>
            </a:lvl1pPr>
          </a:lstStyle>
          <a:p>
            <a:pPr/>
            <a:r>
              <a:t>Governed autonomy</a:t>
            </a:r>
          </a:p>
        </p:txBody>
      </p:sp>
      <p:sp>
        <p:nvSpPr>
          <p:cNvPr id="176" name="Text 23"/>
          <p:cNvSpPr txBox="1"/>
          <p:nvPr/>
        </p:nvSpPr>
        <p:spPr>
          <a:xfrm>
            <a:off x="9036050" y="2668141"/>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Keel:</a:t>
            </a:r>
            <a:r>
              <a:rPr b="0"/>
              <a:t> regulatory change discovery; 50 states</a:t>
            </a:r>
          </a:p>
        </p:txBody>
      </p:sp>
      <p:sp>
        <p:nvSpPr>
          <p:cNvPr id="177" name="Text 24"/>
          <p:cNvSpPr txBox="1"/>
          <p:nvPr/>
        </p:nvSpPr>
        <p:spPr>
          <a:xfrm>
            <a:off x="9036050" y="3168500"/>
            <a:ext cx="2223771" cy="436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b="1" sz="1200">
                <a:solidFill>
                  <a:srgbClr val="20344B"/>
                </a:solidFill>
                <a:latin typeface="IBM Plex Sans"/>
                <a:ea typeface="IBM Plex Sans"/>
                <a:cs typeface="IBM Plex Sans"/>
                <a:sym typeface="IBM Plex Sans"/>
              </a:defRPr>
            </a:pPr>
            <a:r>
              <a:t>North Star:</a:t>
            </a:r>
            <a:r>
              <a:rPr b="0"/>
              <a:t> governed tools in clients' own copilots</a:t>
            </a:r>
          </a:p>
        </p:txBody>
      </p:sp>
      <p:sp>
        <p:nvSpPr>
          <p:cNvPr id="178" name="Text 25"/>
          <p:cNvSpPr txBox="1"/>
          <p:nvPr/>
        </p:nvSpPr>
        <p:spPr>
          <a:xfrm>
            <a:off x="9036050" y="3668860"/>
            <a:ext cx="2223771" cy="2311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Gate: MTBH ≥97% sustained</a:t>
            </a:r>
          </a:p>
        </p:txBody>
      </p:sp>
      <p:sp>
        <p:nvSpPr>
          <p:cNvPr id="179" name="Text 26"/>
          <p:cNvSpPr txBox="1"/>
          <p:nvPr/>
        </p:nvSpPr>
        <p:spPr>
          <a:xfrm>
            <a:off x="812799" y="62382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E7188"/>
                </a:solidFill>
                <a:latin typeface="IBM Plex Sans"/>
                <a:ea typeface="IBM Plex Sans"/>
                <a:cs typeface="IBM Plex Sans"/>
                <a:sym typeface="IBM Plex Sans"/>
              </a:defRPr>
            </a:lvl1pPr>
          </a:lstStyle>
          <a:p>
            <a:pPr/>
            <a:r>
              <a:t>The Keel and the North Star · 13 · Gates follow the IIH roadmap; no phase opens until the last gate passes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1F3A"/>
        </a:solidFill>
      </p:bgPr>
    </p:bg>
    <p:spTree>
      <p:nvGrpSpPr>
        <p:cNvPr id="1" name=""/>
        <p:cNvGrpSpPr/>
        <p:nvPr/>
      </p:nvGrpSpPr>
      <p:grpSpPr>
        <a:xfrm>
          <a:off x="0" y="0"/>
          <a:ext cx="0" cy="0"/>
          <a:chOff x="0" y="0"/>
          <a:chExt cx="0" cy="0"/>
        </a:xfrm>
      </p:grpSpPr>
      <p:sp>
        <p:nvSpPr>
          <p:cNvPr id="18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C8A951"/>
                </a:solidFill>
                <a:latin typeface="IBM Plex Sans"/>
                <a:ea typeface="IBM Plex Sans"/>
                <a:cs typeface="IBM Plex Sans"/>
                <a:sym typeface="IBM Plex Sans"/>
              </a:defRPr>
            </a:lvl1pPr>
          </a:lstStyle>
          <a:p>
            <a:pPr/>
            <a:r>
              <a:t>NEXT STEPS</a:t>
            </a:r>
          </a:p>
        </p:txBody>
      </p:sp>
      <p:sp>
        <p:nvSpPr>
          <p:cNvPr id="184" name="Text 1"/>
          <p:cNvSpPr txBox="1"/>
          <p:nvPr/>
        </p:nvSpPr>
        <p:spPr>
          <a:xfrm>
            <a:off x="812799" y="1127720"/>
            <a:ext cx="10883394" cy="528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z="3600">
                <a:solidFill>
                  <a:srgbClr val="F4F7FB"/>
                </a:solidFill>
                <a:latin typeface="Source Serif 4"/>
                <a:ea typeface="Source Serif 4"/>
                <a:cs typeface="Source Serif 4"/>
                <a:sym typeface="Source Serif 4"/>
              </a:defRPr>
            </a:lvl1pPr>
          </a:lstStyle>
          <a:p>
            <a:pPr/>
            <a:r>
              <a:t>Four decisions to start</a:t>
            </a:r>
          </a:p>
        </p:txBody>
      </p:sp>
      <p:sp>
        <p:nvSpPr>
          <p:cNvPr id="185" name="Shape 2"/>
          <p:cNvSpPr/>
          <p:nvPr/>
        </p:nvSpPr>
        <p:spPr>
          <a:xfrm>
            <a:off x="812800" y="1935410"/>
            <a:ext cx="5194300" cy="1175991"/>
          </a:xfrm>
          <a:prstGeom prst="roundRect">
            <a:avLst>
              <a:gd name="adj" fmla="val 8640"/>
            </a:avLst>
          </a:prstGeom>
          <a:solidFill>
            <a:srgbClr val="12305A"/>
          </a:solidFill>
          <a:ln w="12700">
            <a:miter lim="400000"/>
          </a:ln>
        </p:spPr>
        <p:txBody>
          <a:bodyPr lIns="45719" rIns="45719"/>
          <a:lstStyle/>
          <a:p>
            <a:pPr/>
          </a:p>
        </p:txBody>
      </p:sp>
      <p:sp>
        <p:nvSpPr>
          <p:cNvPr id="186" name="Text 3"/>
          <p:cNvSpPr txBox="1"/>
          <p:nvPr/>
        </p:nvSpPr>
        <p:spPr>
          <a:xfrm>
            <a:off x="1016000" y="2138610"/>
            <a:ext cx="4931537" cy="2692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z="1600">
                <a:solidFill>
                  <a:srgbClr val="E4C572"/>
                </a:solidFill>
                <a:latin typeface="IBM Plex Sans"/>
                <a:ea typeface="IBM Plex Sans"/>
                <a:cs typeface="IBM Plex Sans"/>
                <a:sym typeface="IBM Plex Sans"/>
              </a:defRPr>
            </a:lvl1pPr>
          </a:lstStyle>
          <a:p>
            <a:pPr/>
            <a:r>
              <a:t>1 · Review the Architecture</a:t>
            </a:r>
          </a:p>
        </p:txBody>
      </p:sp>
      <p:sp>
        <p:nvSpPr>
          <p:cNvPr id="187" name="Text 4"/>
          <p:cNvSpPr txBox="1"/>
          <p:nvPr/>
        </p:nvSpPr>
        <p:spPr>
          <a:xfrm>
            <a:off x="1016000" y="2445941"/>
            <a:ext cx="4931537"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C9D6E6"/>
                </a:solidFill>
                <a:latin typeface="IBM Plex Sans"/>
                <a:ea typeface="IBM Plex Sans"/>
                <a:cs typeface="IBM Plex Sans"/>
                <a:sym typeface="IBM Plex Sans"/>
              </a:defRPr>
            </a:lvl1pPr>
          </a:lstStyle>
          <a:p>
            <a:pPr/>
            <a:r>
              <a:t>Align on architecture Design &amp; Principles. Review with technology leadership council and Operations.</a:t>
            </a:r>
          </a:p>
        </p:txBody>
      </p:sp>
      <p:sp>
        <p:nvSpPr>
          <p:cNvPr id="188" name="Shape 5"/>
          <p:cNvSpPr/>
          <p:nvPr/>
        </p:nvSpPr>
        <p:spPr>
          <a:xfrm>
            <a:off x="6184900" y="1935410"/>
            <a:ext cx="5194300" cy="1175991"/>
          </a:xfrm>
          <a:prstGeom prst="roundRect">
            <a:avLst>
              <a:gd name="adj" fmla="val 8640"/>
            </a:avLst>
          </a:prstGeom>
          <a:solidFill>
            <a:srgbClr val="12305A"/>
          </a:solidFill>
          <a:ln w="12700">
            <a:miter lim="400000"/>
          </a:ln>
        </p:spPr>
        <p:txBody>
          <a:bodyPr lIns="45719" rIns="45719"/>
          <a:lstStyle/>
          <a:p>
            <a:pPr/>
          </a:p>
        </p:txBody>
      </p:sp>
      <p:sp>
        <p:nvSpPr>
          <p:cNvPr id="189" name="Text 6"/>
          <p:cNvSpPr txBox="1"/>
          <p:nvPr/>
        </p:nvSpPr>
        <p:spPr>
          <a:xfrm>
            <a:off x="6388100" y="2138610"/>
            <a:ext cx="4931537" cy="2692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z="1600">
                <a:solidFill>
                  <a:srgbClr val="E4C572"/>
                </a:solidFill>
                <a:latin typeface="IBM Plex Sans"/>
                <a:ea typeface="IBM Plex Sans"/>
                <a:cs typeface="IBM Plex Sans"/>
                <a:sym typeface="IBM Plex Sans"/>
              </a:defRPr>
            </a:lvl1pPr>
          </a:lstStyle>
          <a:p>
            <a:pPr/>
            <a:r>
              <a:t>2 · Confirm the Approach &amp; Vision</a:t>
            </a:r>
          </a:p>
        </p:txBody>
      </p:sp>
      <p:sp>
        <p:nvSpPr>
          <p:cNvPr id="190" name="Text 7"/>
          <p:cNvSpPr txBox="1"/>
          <p:nvPr/>
        </p:nvSpPr>
        <p:spPr>
          <a:xfrm>
            <a:off x="6388100" y="2445941"/>
            <a:ext cx="4931537"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C9D6E6"/>
                </a:solidFill>
                <a:latin typeface="IBM Plex Sans"/>
                <a:ea typeface="IBM Plex Sans"/>
                <a:cs typeface="IBM Plex Sans"/>
                <a:sym typeface="IBM Plex Sans"/>
              </a:defRPr>
            </a:lvl1pPr>
          </a:lstStyle>
          <a:p>
            <a:pPr/>
            <a:r>
              <a:t>Review with Technical Leadership, LOB owners, Procurement on licensing and costs (Design time + Run Time)</a:t>
            </a:r>
          </a:p>
        </p:txBody>
      </p:sp>
      <p:sp>
        <p:nvSpPr>
          <p:cNvPr id="191" name="Shape 8"/>
          <p:cNvSpPr/>
          <p:nvPr/>
        </p:nvSpPr>
        <p:spPr>
          <a:xfrm>
            <a:off x="812800" y="3289201"/>
            <a:ext cx="5194300" cy="1175991"/>
          </a:xfrm>
          <a:prstGeom prst="roundRect">
            <a:avLst>
              <a:gd name="adj" fmla="val 8640"/>
            </a:avLst>
          </a:prstGeom>
          <a:solidFill>
            <a:srgbClr val="12305A"/>
          </a:solidFill>
          <a:ln w="12700">
            <a:miter lim="400000"/>
          </a:ln>
        </p:spPr>
        <p:txBody>
          <a:bodyPr lIns="45719" rIns="45719"/>
          <a:lstStyle/>
          <a:p>
            <a:pPr/>
          </a:p>
        </p:txBody>
      </p:sp>
      <p:sp>
        <p:nvSpPr>
          <p:cNvPr id="192" name="Text 9"/>
          <p:cNvSpPr txBox="1"/>
          <p:nvPr/>
        </p:nvSpPr>
        <p:spPr>
          <a:xfrm>
            <a:off x="1016000" y="3492401"/>
            <a:ext cx="4931537" cy="2692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z="1600">
                <a:solidFill>
                  <a:srgbClr val="E4C572"/>
                </a:solidFill>
                <a:latin typeface="IBM Plex Sans"/>
                <a:ea typeface="IBM Plex Sans"/>
                <a:cs typeface="IBM Plex Sans"/>
                <a:sym typeface="IBM Plex Sans"/>
              </a:defRPr>
            </a:lvl1pPr>
          </a:lstStyle>
          <a:p>
            <a:pPr/>
            <a:r>
              <a:t>3 · Create the Roadmap</a:t>
            </a:r>
          </a:p>
        </p:txBody>
      </p:sp>
      <p:sp>
        <p:nvSpPr>
          <p:cNvPr id="193" name="Text 10"/>
          <p:cNvSpPr txBox="1"/>
          <p:nvPr/>
        </p:nvSpPr>
        <p:spPr>
          <a:xfrm>
            <a:off x="1016000" y="3799730"/>
            <a:ext cx="4931537"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C9D6E6"/>
                </a:solidFill>
                <a:latin typeface="IBM Plex Sans"/>
                <a:ea typeface="IBM Plex Sans"/>
                <a:cs typeface="IBM Plex Sans"/>
                <a:sym typeface="IBM Plex Sans"/>
              </a:defRPr>
            </a:lvl1pPr>
          </a:lstStyle>
          <a:p>
            <a:pPr/>
            <a:r>
              <a:t>Work with EA, AI, Analytics, and Operations and PMO.  HRScale on Workday and Insperity payroll decide the parity test scope</a:t>
            </a:r>
          </a:p>
        </p:txBody>
      </p:sp>
      <p:sp>
        <p:nvSpPr>
          <p:cNvPr id="194" name="Shape 11"/>
          <p:cNvSpPr/>
          <p:nvPr/>
        </p:nvSpPr>
        <p:spPr>
          <a:xfrm>
            <a:off x="6184900" y="3289201"/>
            <a:ext cx="5194300" cy="1175991"/>
          </a:xfrm>
          <a:prstGeom prst="roundRect">
            <a:avLst>
              <a:gd name="adj" fmla="val 8640"/>
            </a:avLst>
          </a:prstGeom>
          <a:solidFill>
            <a:srgbClr val="12305A"/>
          </a:solidFill>
          <a:ln w="12700">
            <a:miter lim="400000"/>
          </a:ln>
        </p:spPr>
        <p:txBody>
          <a:bodyPr lIns="45719" rIns="45719"/>
          <a:lstStyle/>
          <a:p>
            <a:pPr/>
          </a:p>
        </p:txBody>
      </p:sp>
      <p:sp>
        <p:nvSpPr>
          <p:cNvPr id="195" name="Text 12"/>
          <p:cNvSpPr txBox="1"/>
          <p:nvPr/>
        </p:nvSpPr>
        <p:spPr>
          <a:xfrm>
            <a:off x="6388100" y="3492401"/>
            <a:ext cx="4931537" cy="2692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z="1600">
                <a:solidFill>
                  <a:srgbClr val="E4C572"/>
                </a:solidFill>
                <a:latin typeface="IBM Plex Sans"/>
                <a:ea typeface="IBM Plex Sans"/>
                <a:cs typeface="IBM Plex Sans"/>
                <a:sym typeface="IBM Plex Sans"/>
              </a:defRPr>
            </a:lvl1pPr>
          </a:lstStyle>
          <a:p>
            <a:pPr/>
            <a:r>
              <a:t>4 · Initiate Pilot Phase (Q4)</a:t>
            </a:r>
          </a:p>
        </p:txBody>
      </p:sp>
      <p:sp>
        <p:nvSpPr>
          <p:cNvPr id="196" name="Text 13"/>
          <p:cNvSpPr txBox="1"/>
          <p:nvPr/>
        </p:nvSpPr>
        <p:spPr>
          <a:xfrm>
            <a:off x="6388100" y="3799730"/>
            <a:ext cx="4931537"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C9D6E6"/>
                </a:solidFill>
                <a:latin typeface="IBM Plex Sans"/>
                <a:ea typeface="IBM Plex Sans"/>
                <a:cs typeface="IBM Plex Sans"/>
                <a:sym typeface="IBM Plex Sans"/>
              </a:defRPr>
            </a:lvl1pPr>
          </a:lstStyle>
          <a:p>
            <a:pPr/>
            <a:r>
              <a:t>Define the initial prototype and foundational elements. Align on measurement and change management </a:t>
            </a:r>
          </a:p>
        </p:txBody>
      </p:sp>
      <p:sp>
        <p:nvSpPr>
          <p:cNvPr id="197" name="Text 14"/>
          <p:cNvSpPr txBox="1"/>
          <p:nvPr/>
        </p:nvSpPr>
        <p:spPr>
          <a:xfrm>
            <a:off x="812800" y="4769991"/>
            <a:ext cx="10464800"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700"/>
              </a:lnSpc>
              <a:defRPr sz="2200">
                <a:solidFill>
                  <a:srgbClr val="F4F7FB"/>
                </a:solidFill>
                <a:latin typeface="Source Serif 4"/>
                <a:ea typeface="Source Serif 4"/>
                <a:cs typeface="Source Serif 4"/>
                <a:sym typeface="Source Serif 4"/>
              </a:defRPr>
            </a:pPr>
            <a:r>
              <a:t>The mark already points north. </a:t>
            </a:r>
            <a:r>
              <a:rPr>
                <a:solidFill>
                  <a:srgbClr val="C8A951"/>
                </a:solidFill>
              </a:rPr>
              <a:t>The Keel keeps the company on that heading.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