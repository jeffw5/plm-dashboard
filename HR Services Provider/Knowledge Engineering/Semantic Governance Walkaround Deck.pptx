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8" r:id="rId4"/>
    <p:sldMasterId id="2147483769" r:id="rId5"/>
    <p:sldMasterId id="2147483770" r:id="rId6"/>
    <p:sldMasterId id="2147483771" r:id="rId7"/>
    <p:sldMasterId id="2147483772" r:id="rId8"/>
    <p:sldMasterId id="2147483773" r:id="rId9"/>
    <p:sldMasterId id="2147483774" r:id="rId10"/>
    <p:sldMasterId id="2147483775" r:id="rId11"/>
    <p:sldMasterId id="2147483776" r:id="rId12"/>
    <p:sldMasterId id="2147483777"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Lst>
  <p:sldSz cy="5143500" cx="9144000"/>
  <p:notesSz cx="6858000" cy="9144000"/>
  <p:embeddedFontLst>
    <p:embeddedFont>
      <p:font typeface="Roboto"/>
      <p:regular r:id="rId61"/>
      <p:bold r:id="rId62"/>
      <p:italic r:id="rId63"/>
      <p:boldItalic r:id="rId64"/>
    </p:embeddedFont>
    <p:embeddedFont>
      <p:font typeface="Nobile"/>
      <p:regular r:id="rId65"/>
      <p:bold r:id="rId66"/>
      <p:italic r:id="rId67"/>
      <p:boldItalic r:id="rId68"/>
    </p:embeddedFont>
    <p:embeddedFont>
      <p:font typeface="Alexandria"/>
      <p:regular r:id="rId69"/>
      <p:bold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5CCED54-64A5-4922-B6CA-C00A0C7C77DD}">
  <a:tblStyle styleId="{A5CCED54-64A5-4922-B6CA-C00A0C7C77D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26.xml"/><Relationship Id="rId42" Type="http://schemas.openxmlformats.org/officeDocument/2006/relationships/slide" Target="slides/slide28.xml"/><Relationship Id="rId41" Type="http://schemas.openxmlformats.org/officeDocument/2006/relationships/slide" Target="slides/slide27.xml"/><Relationship Id="rId44" Type="http://schemas.openxmlformats.org/officeDocument/2006/relationships/slide" Target="slides/slide30.xml"/><Relationship Id="rId43" Type="http://schemas.openxmlformats.org/officeDocument/2006/relationships/slide" Target="slides/slide29.xml"/><Relationship Id="rId46" Type="http://schemas.openxmlformats.org/officeDocument/2006/relationships/slide" Target="slides/slide32.xml"/><Relationship Id="rId45" Type="http://schemas.openxmlformats.org/officeDocument/2006/relationships/slide" Target="slides/slide31.xml"/><Relationship Id="rId1" Type="http://schemas.openxmlformats.org/officeDocument/2006/relationships/theme" Target="theme/theme6.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4.xml"/><Relationship Id="rId47" Type="http://schemas.openxmlformats.org/officeDocument/2006/relationships/slide" Target="slides/slide33.xml"/><Relationship Id="rId49" Type="http://schemas.openxmlformats.org/officeDocument/2006/relationships/slide" Target="slides/slide35.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7.xml"/><Relationship Id="rId30" Type="http://schemas.openxmlformats.org/officeDocument/2006/relationships/slide" Target="slides/slide16.xml"/><Relationship Id="rId33" Type="http://schemas.openxmlformats.org/officeDocument/2006/relationships/slide" Target="slides/slide19.xml"/><Relationship Id="rId32" Type="http://schemas.openxmlformats.org/officeDocument/2006/relationships/slide" Target="slides/slide18.xml"/><Relationship Id="rId35" Type="http://schemas.openxmlformats.org/officeDocument/2006/relationships/slide" Target="slides/slide21.xml"/><Relationship Id="rId34" Type="http://schemas.openxmlformats.org/officeDocument/2006/relationships/slide" Target="slides/slide20.xml"/><Relationship Id="rId70" Type="http://schemas.openxmlformats.org/officeDocument/2006/relationships/font" Target="fonts/Alexandria-bold.fntdata"/><Relationship Id="rId37" Type="http://schemas.openxmlformats.org/officeDocument/2006/relationships/slide" Target="slides/slide23.xml"/><Relationship Id="rId36" Type="http://schemas.openxmlformats.org/officeDocument/2006/relationships/slide" Target="slides/slide22.xml"/><Relationship Id="rId39" Type="http://schemas.openxmlformats.org/officeDocument/2006/relationships/slide" Target="slides/slide25.xml"/><Relationship Id="rId38" Type="http://schemas.openxmlformats.org/officeDocument/2006/relationships/slide" Target="slides/slide24.xml"/><Relationship Id="rId62" Type="http://schemas.openxmlformats.org/officeDocument/2006/relationships/font" Target="fonts/Roboto-bold.fntdata"/><Relationship Id="rId61" Type="http://schemas.openxmlformats.org/officeDocument/2006/relationships/font" Target="fonts/Roboto-regular.fntdata"/><Relationship Id="rId20" Type="http://schemas.openxmlformats.org/officeDocument/2006/relationships/slide" Target="slides/slide6.xml"/><Relationship Id="rId64" Type="http://schemas.openxmlformats.org/officeDocument/2006/relationships/font" Target="fonts/Roboto-boldItalic.fntdata"/><Relationship Id="rId63" Type="http://schemas.openxmlformats.org/officeDocument/2006/relationships/font" Target="fonts/Roboto-italic.fntdata"/><Relationship Id="rId22" Type="http://schemas.openxmlformats.org/officeDocument/2006/relationships/slide" Target="slides/slide8.xml"/><Relationship Id="rId66" Type="http://schemas.openxmlformats.org/officeDocument/2006/relationships/font" Target="fonts/Nobile-bold.fntdata"/><Relationship Id="rId21" Type="http://schemas.openxmlformats.org/officeDocument/2006/relationships/slide" Target="slides/slide7.xml"/><Relationship Id="rId65" Type="http://schemas.openxmlformats.org/officeDocument/2006/relationships/font" Target="fonts/Nobile-regular.fntdata"/><Relationship Id="rId24" Type="http://schemas.openxmlformats.org/officeDocument/2006/relationships/slide" Target="slides/slide10.xml"/><Relationship Id="rId68" Type="http://schemas.openxmlformats.org/officeDocument/2006/relationships/font" Target="fonts/Nobile-boldItalic.fntdata"/><Relationship Id="rId23" Type="http://schemas.openxmlformats.org/officeDocument/2006/relationships/slide" Target="slides/slide9.xml"/><Relationship Id="rId67" Type="http://schemas.openxmlformats.org/officeDocument/2006/relationships/font" Target="fonts/Nobile-italic.fntdata"/><Relationship Id="rId60" Type="http://schemas.openxmlformats.org/officeDocument/2006/relationships/slide" Target="slides/slide46.xml"/><Relationship Id="rId26" Type="http://schemas.openxmlformats.org/officeDocument/2006/relationships/slide" Target="slides/slide12.xml"/><Relationship Id="rId25" Type="http://schemas.openxmlformats.org/officeDocument/2006/relationships/slide" Target="slides/slide11.xml"/><Relationship Id="rId69" Type="http://schemas.openxmlformats.org/officeDocument/2006/relationships/font" Target="fonts/Alexandria-regular.fntdata"/><Relationship Id="rId28" Type="http://schemas.openxmlformats.org/officeDocument/2006/relationships/slide" Target="slides/slide14.xml"/><Relationship Id="rId27" Type="http://schemas.openxmlformats.org/officeDocument/2006/relationships/slide" Target="slides/slide13.xml"/><Relationship Id="rId29" Type="http://schemas.openxmlformats.org/officeDocument/2006/relationships/slide" Target="slides/slide15.xml"/><Relationship Id="rId51" Type="http://schemas.openxmlformats.org/officeDocument/2006/relationships/slide" Target="slides/slide37.xml"/><Relationship Id="rId50" Type="http://schemas.openxmlformats.org/officeDocument/2006/relationships/slide" Target="slides/slide36.xml"/><Relationship Id="rId53" Type="http://schemas.openxmlformats.org/officeDocument/2006/relationships/slide" Target="slides/slide39.xml"/><Relationship Id="rId52" Type="http://schemas.openxmlformats.org/officeDocument/2006/relationships/slide" Target="slides/slide38.xml"/><Relationship Id="rId11" Type="http://schemas.openxmlformats.org/officeDocument/2006/relationships/slideMaster" Target="slideMasters/slideMaster8.xml"/><Relationship Id="rId55" Type="http://schemas.openxmlformats.org/officeDocument/2006/relationships/slide" Target="slides/slide41.xml"/><Relationship Id="rId10" Type="http://schemas.openxmlformats.org/officeDocument/2006/relationships/slideMaster" Target="slideMasters/slideMaster7.xml"/><Relationship Id="rId54" Type="http://schemas.openxmlformats.org/officeDocument/2006/relationships/slide" Target="slides/slide40.xml"/><Relationship Id="rId13" Type="http://schemas.openxmlformats.org/officeDocument/2006/relationships/slideMaster" Target="slideMasters/slideMaster10.xml"/><Relationship Id="rId57" Type="http://schemas.openxmlformats.org/officeDocument/2006/relationships/slide" Target="slides/slide43.xml"/><Relationship Id="rId12" Type="http://schemas.openxmlformats.org/officeDocument/2006/relationships/slideMaster" Target="slideMasters/slideMaster9.xml"/><Relationship Id="rId56" Type="http://schemas.openxmlformats.org/officeDocument/2006/relationships/slide" Target="slides/slide42.xml"/><Relationship Id="rId15" Type="http://schemas.openxmlformats.org/officeDocument/2006/relationships/slide" Target="slides/slide1.xml"/><Relationship Id="rId59" Type="http://schemas.openxmlformats.org/officeDocument/2006/relationships/slide" Target="slides/slide45.xml"/><Relationship Id="rId14" Type="http://schemas.openxmlformats.org/officeDocument/2006/relationships/notesMaster" Target="notesMasters/notesMaster1.xml"/><Relationship Id="rId58" Type="http://schemas.openxmlformats.org/officeDocument/2006/relationships/slide" Target="slides/slide44.xml"/><Relationship Id="rId17" Type="http://schemas.openxmlformats.org/officeDocument/2006/relationships/slide" Target="slides/slide3.xml"/><Relationship Id="rId16" Type="http://schemas.openxmlformats.org/officeDocument/2006/relationships/slide" Target="slides/slide2.xml"/><Relationship Id="rId19" Type="http://schemas.openxmlformats.org/officeDocument/2006/relationships/slide" Target="slides/slide5.xml"/><Relationship Id="rId1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5" name="Google Shape;545;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5" name="Google Shape;555;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7" name="Google Shape;567;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9" name="Google Shape;579;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1" name="Google Shape;591;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19" name="Google Shape;619;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6" name="Google Shape;636;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7" name="Google Shape;677;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89" name="Google Shape;689;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1" name="Google Shape;701;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15" name="Google Shape;715;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7" name="Google Shape;727;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2" name="Google Shape;752;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8" name="Google Shape;758;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5" name="Google Shape;795;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6" name="Google Shape;846;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8" name="Google Shape;918;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9: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p19: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solidFill>
                  <a:srgbClr val="000000"/>
                </a:solidFill>
                <a:latin typeface="Arial"/>
                <a:ea typeface="Arial"/>
                <a:cs typeface="Arial"/>
                <a:sym typeface="Arial"/>
              </a:rPr>
              <a:t>The Transition from discrete islands of knowledge towards Enterprise Learning (using Systems Engineering principles) is a future state that harmonizes the pillars of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BI = Business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SI = Semantic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AI = Artificial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DI = Decision Intelligence</a:t>
            </a:r>
            <a:endParaRPr b="0" sz="1400" strike="noStrike">
              <a:latin typeface="Arial"/>
              <a:ea typeface="Arial"/>
              <a:cs typeface="Arial"/>
              <a:sym typeface="Arial"/>
            </a:endParaRPr>
          </a:p>
          <a:p>
            <a:pPr indent="0" lvl="0" marL="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rtl="0" algn="l">
              <a:lnSpc>
                <a:spcPct val="100000"/>
              </a:lnSpc>
              <a:spcBef>
                <a:spcPts val="0"/>
              </a:spcBef>
              <a:spcAft>
                <a:spcPts val="0"/>
              </a:spcAft>
              <a:buNone/>
            </a:pPr>
            <a:r>
              <a:rPr b="0" lang="en-US" sz="1400" strike="noStrike">
                <a:solidFill>
                  <a:srgbClr val="000000"/>
                </a:solidFill>
                <a:latin typeface="Arial"/>
                <a:ea typeface="Arial"/>
                <a:cs typeface="Arial"/>
                <a:sym typeface="Arial"/>
              </a:rPr>
              <a:t>Over time, these will coalesce to enable adaptive processes and more agile decision making. These concepts have been around for over 50 years and were originally pioneered when Expert Systems were introduced. Emergent capabilities in companies will become key differentiators across strategy and execution of change through supply chains and value chains where they interoperate with other partners and organizations to improve and extend value delivery to customers. </a:t>
            </a:r>
            <a:endParaRPr b="0" sz="14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8" name="Google Shape;948;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e56079fcc9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6" name="Google Shape;1006;g3e56079fcc9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65" name="Google Shape;1065;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01" name="Google Shape;1101;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75" name="Google Shape;1175;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20" name="Google Shape;1220;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53" name="Google Shape;1253;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59" name="Google Shape;1259;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83" name="Google Shape;1283;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2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5" name="Google Shape;1315;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30:notes"/>
          <p:cNvSpPr/>
          <p:nvPr>
            <p:ph idx="2" type="sldImg"/>
          </p:nvPr>
        </p:nvSpPr>
        <p:spPr>
          <a:xfrm>
            <a:off x="380880" y="685800"/>
            <a:ext cx="609552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30: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100" strike="noStrike">
                <a:latin typeface="Arial"/>
                <a:ea typeface="Arial"/>
                <a:cs typeface="Arial"/>
                <a:sym typeface="Arial"/>
              </a:rPr>
              <a:t>There is a lack of single flow of truth due to 1. Enterprise data silos, 2. Data lineage &amp; quality tracking, 3. Trust &amp; accessibility, 4. Reusability &amp; maintenance, 5. Self-serve data delivery</a:t>
            </a:r>
            <a:br>
              <a:rPr lang="en-US"/>
            </a:br>
            <a:br>
              <a:rPr lang="en-US"/>
            </a:br>
            <a:r>
              <a:rPr b="0" lang="en-US" sz="1100" strike="noStrike">
                <a:latin typeface="Arial"/>
                <a:ea typeface="Arial"/>
                <a:cs typeface="Arial"/>
                <a:sym typeface="Arial"/>
              </a:rPr>
              <a:t>- the Lack of an ontol based SKL would lead to:</a:t>
            </a:r>
            <a:br>
              <a:rPr lang="en-US"/>
            </a:br>
            <a:r>
              <a:rPr b="0" lang="en-US" sz="1100" strike="noStrike">
                <a:latin typeface="Arial"/>
                <a:ea typeface="Arial"/>
                <a:cs typeface="Arial"/>
                <a:sym typeface="Arial"/>
              </a:rPr>
              <a:t>- Siloed inefficient way and relationships</a:t>
            </a:r>
            <a:br>
              <a:rPr lang="en-US"/>
            </a:br>
            <a:r>
              <a:rPr b="0" lang="en-US" sz="1100" strike="noStrike">
                <a:latin typeface="Arial"/>
                <a:ea typeface="Arial"/>
                <a:cs typeface="Arial"/>
                <a:sym typeface="Arial"/>
              </a:rPr>
              <a:t>-</a:t>
            </a:r>
            <a:endParaRPr b="0" sz="11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3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60" name="Google Shape;1360;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3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74" name="Google Shape;1374;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33: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6" name="Google Shape;1386;p33: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100" strike="noStrike">
                <a:latin typeface="Arial"/>
                <a:ea typeface="Arial"/>
                <a:cs typeface="Arial"/>
                <a:sym typeface="Arial"/>
              </a:rPr>
              <a:t>All Metadata can be represented here, either import from upstream system</a:t>
            </a:r>
            <a:endParaRPr b="0" sz="11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p3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9" name="Google Shape;1419;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64" name="Google Shape;1464;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36: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5" name="Google Shape;1485;p36: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solidFill>
                  <a:srgbClr val="000000"/>
                </a:solidFill>
                <a:latin typeface="Arial"/>
                <a:ea typeface="Arial"/>
                <a:cs typeface="Arial"/>
                <a:sym typeface="Arial"/>
              </a:rPr>
              <a:t>The Transition from discrete islands of knowledge towards Enterprise Learning (using Systems Engineering principles) is a future state that harmonizes the pillars of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BI = Business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SI = Semantic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AI = Artificial Intelligence</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Arial"/>
              <a:buChar char="●"/>
            </a:pPr>
            <a:r>
              <a:rPr b="0" lang="en-US" sz="1400" strike="noStrike">
                <a:solidFill>
                  <a:srgbClr val="000000"/>
                </a:solidFill>
                <a:latin typeface="Arial"/>
                <a:ea typeface="Arial"/>
                <a:cs typeface="Arial"/>
                <a:sym typeface="Arial"/>
              </a:rPr>
              <a:t>DI = Decision Intelligence</a:t>
            </a:r>
            <a:endParaRPr b="0" sz="1400" strike="noStrike">
              <a:latin typeface="Arial"/>
              <a:ea typeface="Arial"/>
              <a:cs typeface="Arial"/>
              <a:sym typeface="Arial"/>
            </a:endParaRPr>
          </a:p>
          <a:p>
            <a:pPr indent="0" lvl="0" marL="0" rtl="0" algn="l">
              <a:lnSpc>
                <a:spcPct val="100000"/>
              </a:lnSpc>
              <a:spcBef>
                <a:spcPts val="0"/>
              </a:spcBef>
              <a:spcAft>
                <a:spcPts val="0"/>
              </a:spcAft>
              <a:buNone/>
            </a:pPr>
            <a:r>
              <a:t/>
            </a:r>
            <a:endParaRPr b="0" sz="1400" strike="noStrike">
              <a:latin typeface="Arial"/>
              <a:ea typeface="Arial"/>
              <a:cs typeface="Arial"/>
              <a:sym typeface="Arial"/>
            </a:endParaRPr>
          </a:p>
          <a:p>
            <a:pPr indent="0" lvl="0" marL="0" rtl="0" algn="l">
              <a:lnSpc>
                <a:spcPct val="100000"/>
              </a:lnSpc>
              <a:spcBef>
                <a:spcPts val="0"/>
              </a:spcBef>
              <a:spcAft>
                <a:spcPts val="0"/>
              </a:spcAft>
              <a:buNone/>
            </a:pPr>
            <a:r>
              <a:rPr b="0" lang="en-US" sz="1400" strike="noStrike">
                <a:solidFill>
                  <a:srgbClr val="000000"/>
                </a:solidFill>
                <a:latin typeface="Arial"/>
                <a:ea typeface="Arial"/>
                <a:cs typeface="Arial"/>
                <a:sym typeface="Arial"/>
              </a:rPr>
              <a:t>Over time, these will coalesce to enable adaptive processes and more agile decision making. These concepts have been around for over 50 years and were originally pioneered when Expert Systems were introduced. Emergent capabilities in companies will become key differentiators across strategy and execution of change through supply chains and value chains where they interoperate with other partners and organizations to improve and extend value delivery to customers. </a:t>
            </a:r>
            <a:endParaRPr b="0" sz="1400" strike="noStrike">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53" name="Google Shape;1553;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38:notes"/>
          <p:cNvSpPr/>
          <p:nvPr>
            <p:ph idx="2" type="sldImg"/>
          </p:nvPr>
        </p:nvSpPr>
        <p:spPr>
          <a:xfrm>
            <a:off x="381240" y="685800"/>
            <a:ext cx="609552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8" name="Google Shape;1608;p38: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1100" strike="noStrike">
                <a:latin typeface="Arial"/>
                <a:ea typeface="Arial"/>
                <a:cs typeface="Arial"/>
                <a:sym typeface="Arial"/>
              </a:rPr>
              <a:t>9/19/2023 +PW</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Future State outcomes a good start &gt; keep going</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RHS Impact (Projected):  recommend to keep metrics simpler (don’t overrotate) eg Baselines: BOLD Qualitative Impacts (not necessary Quantitative eg  1000 executive interlock meetings x 80 hours x…. )</a:t>
            </a:r>
            <a:endParaRPr b="0" sz="1100" strike="noStrike">
              <a:latin typeface="Arial"/>
              <a:ea typeface="Arial"/>
              <a:cs typeface="Arial"/>
              <a:sym typeface="Arial"/>
            </a:endParaRPr>
          </a:p>
          <a:p>
            <a:pPr indent="0" lvl="0" marL="0" rtl="0" algn="l">
              <a:lnSpc>
                <a:spcPct val="100000"/>
              </a:lnSpc>
              <a:spcBef>
                <a:spcPts val="0"/>
              </a:spcBef>
              <a:spcAft>
                <a:spcPts val="0"/>
              </a:spcAft>
              <a:buNone/>
            </a:pPr>
            <a:r>
              <a:rPr b="0" lang="en-US" sz="1100" strike="noStrike">
                <a:latin typeface="Arial"/>
                <a:ea typeface="Arial"/>
                <a:cs typeface="Arial"/>
                <a:sym typeface="Arial"/>
              </a:rPr>
              <a:t>9/18/2023 RP/JW Problem Statement (Pains solved by SPoG):  </a:t>
            </a:r>
            <a:endParaRPr b="0" sz="1100" strike="noStrike">
              <a:latin typeface="Arial"/>
              <a:ea typeface="Arial"/>
              <a:cs typeface="Arial"/>
              <a:sym typeface="Arial"/>
            </a:endParaRPr>
          </a:p>
          <a:p>
            <a:pPr indent="-298080" lvl="0" marL="457200" rtl="0" algn="l">
              <a:lnSpc>
                <a:spcPct val="100000"/>
              </a:lnSpc>
              <a:spcBef>
                <a:spcPts val="0"/>
              </a:spcBef>
              <a:spcAft>
                <a:spcPts val="0"/>
              </a:spcAft>
              <a:buClr>
                <a:srgbClr val="000000"/>
              </a:buClr>
              <a:buSzPts val="1100"/>
              <a:buFont typeface="Noto Sans Symbols"/>
              <a:buChar char="●"/>
            </a:pPr>
            <a:r>
              <a:rPr b="0" lang="en-US" sz="1100" strike="noStrike">
                <a:latin typeface="Arial"/>
                <a:ea typeface="Arial"/>
                <a:cs typeface="Arial"/>
                <a:sym typeface="Arial"/>
              </a:rPr>
              <a:t>Top-level pains that when solved will require transformative revolution to Processes (operations) &amp; Platforms (tech ecosystem)</a:t>
            </a:r>
            <a:endParaRPr b="0" sz="1100" strike="noStrike">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39:notes"/>
          <p:cNvSpPr/>
          <p:nvPr>
            <p:ph idx="2" type="sldImg"/>
          </p:nvPr>
        </p:nvSpPr>
        <p:spPr>
          <a:xfrm>
            <a:off x="1714680" y="685800"/>
            <a:ext cx="342864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5" name="Google Shape;1625;p39:notes"/>
          <p:cNvSpPr txBox="1"/>
          <p:nvPr>
            <p:ph idx="1" type="body"/>
          </p:nvPr>
        </p:nvSpPr>
        <p:spPr>
          <a:xfrm>
            <a:off x="380880" y="4343400"/>
            <a:ext cx="609552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0" lang="en-US" sz="800" strike="noStrike">
                <a:latin typeface="Arial"/>
                <a:ea typeface="Arial"/>
                <a:cs typeface="Arial"/>
                <a:sym typeface="Arial"/>
              </a:rPr>
              <a:t>8/22/2023 RP Refine</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8/21/2023 RP/JW Add Knowledge + cleanup</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6/29/2023 RP Brand “Verizon Data Marketplace v1.x Solution Services Oriented Architecture (SOA)) </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6/28/2023 JW Refined</a:t>
            </a:r>
            <a:endParaRPr b="0" sz="800" strike="noStrike">
              <a:latin typeface="Arial"/>
              <a:ea typeface="Arial"/>
              <a:cs typeface="Arial"/>
              <a:sym typeface="Arial"/>
            </a:endParaRPr>
          </a:p>
          <a:p>
            <a:pPr indent="0" lvl="0" marL="0" rtl="0" algn="l">
              <a:lnSpc>
                <a:spcPct val="100000"/>
              </a:lnSpc>
              <a:spcBef>
                <a:spcPts val="0"/>
              </a:spcBef>
              <a:spcAft>
                <a:spcPts val="0"/>
              </a:spcAft>
              <a:buNone/>
            </a:pPr>
            <a:r>
              <a:rPr b="0" lang="en-US" sz="800" strike="noStrike">
                <a:latin typeface="Arial"/>
                <a:ea typeface="Arial"/>
                <a:cs typeface="Arial"/>
                <a:sym typeface="Arial"/>
              </a:rPr>
              <a:t>6/28/2023 RP Create</a:t>
            </a:r>
            <a:endParaRPr b="0" sz="800" strike="noStrike">
              <a:latin typeface="Arial"/>
              <a:ea typeface="Arial"/>
              <a:cs typeface="Arial"/>
              <a:sym typeface="Arial"/>
            </a:endParaRPr>
          </a:p>
        </p:txBody>
      </p:sp>
      <p:sp>
        <p:nvSpPr>
          <p:cNvPr id="1626" name="Google Shape;1626;p39:notes"/>
          <p:cNvSpPr txBox="1"/>
          <p:nvPr/>
        </p:nvSpPr>
        <p:spPr>
          <a:xfrm>
            <a:off x="3884760" y="8685360"/>
            <a:ext cx="2971440" cy="45684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40:notes"/>
          <p:cNvSpPr/>
          <p:nvPr>
            <p:ph idx="2" type="sldImg"/>
          </p:nvPr>
        </p:nvSpPr>
        <p:spPr>
          <a:xfrm>
            <a:off x="1143360" y="685800"/>
            <a:ext cx="4572000" cy="342864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40:notes"/>
          <p:cNvSpPr txBox="1"/>
          <p:nvPr>
            <p:ph idx="1" type="body"/>
          </p:nvPr>
        </p:nvSpPr>
        <p:spPr>
          <a:xfrm>
            <a:off x="685800" y="4343400"/>
            <a:ext cx="5486040" cy="411444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None/>
            </a:pPr>
            <a:r>
              <a:rPr b="1" lang="en-US" sz="1400" strike="noStrike">
                <a:latin typeface="Arial"/>
                <a:ea typeface="Arial"/>
                <a:cs typeface="Arial"/>
                <a:sym typeface="Arial"/>
              </a:rPr>
              <a:t>Examples of Transient Storage of Content Triples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Calcs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Metrics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Analytics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Reports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Use Cases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Models</a:t>
            </a:r>
            <a:endParaRPr b="0" sz="1400" strike="noStrike">
              <a:latin typeface="Arial"/>
              <a:ea typeface="Arial"/>
              <a:cs typeface="Arial"/>
              <a:sym typeface="Arial"/>
            </a:endParaRPr>
          </a:p>
          <a:p>
            <a:pPr indent="-317160" lvl="0" marL="4572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Reference Data &amp; Assets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Products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Processes</a:t>
            </a:r>
            <a:endParaRPr b="0" sz="1400" strike="noStrike">
              <a:latin typeface="Arial"/>
              <a:ea typeface="Arial"/>
              <a:cs typeface="Arial"/>
              <a:sym typeface="Arial"/>
            </a:endParaRPr>
          </a:p>
          <a:p>
            <a:pPr indent="-317160" lvl="1" marL="914400" rtl="0" algn="l">
              <a:lnSpc>
                <a:spcPct val="100000"/>
              </a:lnSpc>
              <a:spcBef>
                <a:spcPts val="0"/>
              </a:spcBef>
              <a:spcAft>
                <a:spcPts val="0"/>
              </a:spcAft>
              <a:buClr>
                <a:srgbClr val="000000"/>
              </a:buClr>
              <a:buSzPts val="1400"/>
              <a:buFont typeface="Noto Sans Symbols"/>
              <a:buChar char="🌕"/>
            </a:pPr>
            <a:r>
              <a:rPr b="0" lang="en-US" sz="1400" strike="noStrike">
                <a:latin typeface="Arial"/>
                <a:ea typeface="Arial"/>
                <a:cs typeface="Arial"/>
                <a:sym typeface="Arial"/>
              </a:rPr>
              <a:t>…</a:t>
            </a:r>
            <a:endParaRPr b="0" sz="1400" strike="noStrike">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81" name="Google Shape;1781;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9" name="Shape 1839"/>
        <p:cNvGrpSpPr/>
        <p:nvPr/>
      </p:nvGrpSpPr>
      <p:grpSpPr>
        <a:xfrm>
          <a:off x="0" y="0"/>
          <a:ext cx="0" cy="0"/>
          <a:chOff x="0" y="0"/>
          <a:chExt cx="0" cy="0"/>
        </a:xfrm>
      </p:grpSpPr>
      <p:sp>
        <p:nvSpPr>
          <p:cNvPr id="1840" name="Google Shape;1840;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1" name="Google Shape;1841;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4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1" name="Google Shape;1901;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25" name="Google Shape;1925;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2" name="Google Shape;1952;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73" name="Google Shape;1973;p4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9" name="Shape 1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 name="Shape 23"/>
        <p:cNvGrpSpPr/>
        <p:nvPr/>
      </p:nvGrpSpPr>
      <p:grpSpPr>
        <a:xfrm>
          <a:off x="0" y="0"/>
          <a:ext cx="0" cy="0"/>
          <a:chOff x="0" y="0"/>
          <a:chExt cx="0" cy="0"/>
        </a:xfrm>
      </p:grpSpPr>
      <p:sp>
        <p:nvSpPr>
          <p:cNvPr id="24" name="Google Shape;24;p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 name="Shape 29"/>
        <p:cNvGrpSpPr/>
        <p:nvPr/>
      </p:nvGrpSpPr>
      <p:grpSpPr>
        <a:xfrm>
          <a:off x="0" y="0"/>
          <a:ext cx="0" cy="0"/>
          <a:chOff x="0" y="0"/>
          <a:chExt cx="0" cy="0"/>
        </a:xfrm>
      </p:grpSpPr>
      <p:sp>
        <p:nvSpPr>
          <p:cNvPr id="30" name="Google Shape;30;p7"/>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1" name="Shape 31"/>
        <p:cNvGrpSpPr/>
        <p:nvPr/>
      </p:nvGrpSpPr>
      <p:grpSpPr>
        <a:xfrm>
          <a:off x="0" y="0"/>
          <a:ext cx="0" cy="0"/>
          <a:chOff x="0" y="0"/>
          <a:chExt cx="0" cy="0"/>
        </a:xfrm>
      </p:grpSpPr>
      <p:sp>
        <p:nvSpPr>
          <p:cNvPr id="32" name="Google Shape;32;p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6" name="Shape 36"/>
        <p:cNvGrpSpPr/>
        <p:nvPr/>
      </p:nvGrpSpPr>
      <p:grpSpPr>
        <a:xfrm>
          <a:off x="0" y="0"/>
          <a:ext cx="0" cy="0"/>
          <a:chOff x="0" y="0"/>
          <a:chExt cx="0" cy="0"/>
        </a:xfrm>
      </p:grpSpPr>
      <p:sp>
        <p:nvSpPr>
          <p:cNvPr id="37" name="Google Shape;37;p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9"/>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 name="Shape 41"/>
        <p:cNvGrpSpPr/>
        <p:nvPr/>
      </p:nvGrpSpPr>
      <p:grpSpPr>
        <a:xfrm>
          <a:off x="0" y="0"/>
          <a:ext cx="0" cy="0"/>
          <a:chOff x="0" y="0"/>
          <a:chExt cx="0" cy="0"/>
        </a:xfrm>
      </p:grpSpPr>
      <p:sp>
        <p:nvSpPr>
          <p:cNvPr id="42" name="Google Shape;42;p1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0"/>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6" name="Shape 46"/>
        <p:cNvGrpSpPr/>
        <p:nvPr/>
      </p:nvGrpSpPr>
      <p:grpSpPr>
        <a:xfrm>
          <a:off x="0" y="0"/>
          <a:ext cx="0" cy="0"/>
          <a:chOff x="0" y="0"/>
          <a:chExt cx="0" cy="0"/>
        </a:xfrm>
      </p:grpSpPr>
      <p:sp>
        <p:nvSpPr>
          <p:cNvPr id="47" name="Google Shape;47;p1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1"/>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0" name="Shape 50"/>
        <p:cNvGrpSpPr/>
        <p:nvPr/>
      </p:nvGrpSpPr>
      <p:grpSpPr>
        <a:xfrm>
          <a:off x="0" y="0"/>
          <a:ext cx="0" cy="0"/>
          <a:chOff x="0" y="0"/>
          <a:chExt cx="0" cy="0"/>
        </a:xfrm>
      </p:grpSpPr>
      <p:sp>
        <p:nvSpPr>
          <p:cNvPr id="51" name="Google Shape;51;p1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2"/>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6" name="Shape 56"/>
        <p:cNvGrpSpPr/>
        <p:nvPr/>
      </p:nvGrpSpPr>
      <p:grpSpPr>
        <a:xfrm>
          <a:off x="0" y="0"/>
          <a:ext cx="0" cy="0"/>
          <a:chOff x="0" y="0"/>
          <a:chExt cx="0" cy="0"/>
        </a:xfrm>
      </p:grpSpPr>
      <p:sp>
        <p:nvSpPr>
          <p:cNvPr id="57" name="Google Shape;57;p1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13"/>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2" name="Shape 12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3" name="Shape 123"/>
        <p:cNvGrpSpPr/>
        <p:nvPr/>
      </p:nvGrpSpPr>
      <p:grpSpPr>
        <a:xfrm>
          <a:off x="0" y="0"/>
          <a:ext cx="0" cy="0"/>
          <a:chOff x="0" y="0"/>
          <a:chExt cx="0" cy="0"/>
        </a:xfrm>
      </p:grpSpPr>
      <p:sp>
        <p:nvSpPr>
          <p:cNvPr id="124" name="Google Shape;124;p2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9"/>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6" name="Shape 126"/>
        <p:cNvGrpSpPr/>
        <p:nvPr/>
      </p:nvGrpSpPr>
      <p:grpSpPr>
        <a:xfrm>
          <a:off x="0" y="0"/>
          <a:ext cx="0" cy="0"/>
          <a:chOff x="0" y="0"/>
          <a:chExt cx="0" cy="0"/>
        </a:xfrm>
      </p:grpSpPr>
      <p:sp>
        <p:nvSpPr>
          <p:cNvPr id="127" name="Google Shape;127;p3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3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9" name="Shape 129"/>
        <p:cNvGrpSpPr/>
        <p:nvPr/>
      </p:nvGrpSpPr>
      <p:grpSpPr>
        <a:xfrm>
          <a:off x="0" y="0"/>
          <a:ext cx="0" cy="0"/>
          <a:chOff x="0" y="0"/>
          <a:chExt cx="0" cy="0"/>
        </a:xfrm>
      </p:grpSpPr>
      <p:sp>
        <p:nvSpPr>
          <p:cNvPr id="130" name="Google Shape;130;p3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3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31"/>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3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5" name="Shape 135"/>
        <p:cNvGrpSpPr/>
        <p:nvPr/>
      </p:nvGrpSpPr>
      <p:grpSpPr>
        <a:xfrm>
          <a:off x="0" y="0"/>
          <a:ext cx="0" cy="0"/>
          <a:chOff x="0" y="0"/>
          <a:chExt cx="0" cy="0"/>
        </a:xfrm>
      </p:grpSpPr>
      <p:sp>
        <p:nvSpPr>
          <p:cNvPr id="136" name="Google Shape;136;p33"/>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7" name="Shape 137"/>
        <p:cNvGrpSpPr/>
        <p:nvPr/>
      </p:nvGrpSpPr>
      <p:grpSpPr>
        <a:xfrm>
          <a:off x="0" y="0"/>
          <a:ext cx="0" cy="0"/>
          <a:chOff x="0" y="0"/>
          <a:chExt cx="0" cy="0"/>
        </a:xfrm>
      </p:grpSpPr>
      <p:sp>
        <p:nvSpPr>
          <p:cNvPr id="138" name="Google Shape;138;p3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1" name="Google Shape;141;p3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2" name="Shape 142"/>
        <p:cNvGrpSpPr/>
        <p:nvPr/>
      </p:nvGrpSpPr>
      <p:grpSpPr>
        <a:xfrm>
          <a:off x="0" y="0"/>
          <a:ext cx="0" cy="0"/>
          <a:chOff x="0" y="0"/>
          <a:chExt cx="0" cy="0"/>
        </a:xfrm>
      </p:grpSpPr>
      <p:sp>
        <p:nvSpPr>
          <p:cNvPr id="143" name="Google Shape;143;p3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5"/>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5" name="Google Shape;145;p3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5"/>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7" name="Shape 147"/>
        <p:cNvGrpSpPr/>
        <p:nvPr/>
      </p:nvGrpSpPr>
      <p:grpSpPr>
        <a:xfrm>
          <a:off x="0" y="0"/>
          <a:ext cx="0" cy="0"/>
          <a:chOff x="0" y="0"/>
          <a:chExt cx="0" cy="0"/>
        </a:xfrm>
      </p:grpSpPr>
      <p:sp>
        <p:nvSpPr>
          <p:cNvPr id="148" name="Google Shape;148;p3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0" name="Google Shape;150;p3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6"/>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2" name="Shape 152"/>
        <p:cNvGrpSpPr/>
        <p:nvPr/>
      </p:nvGrpSpPr>
      <p:grpSpPr>
        <a:xfrm>
          <a:off x="0" y="0"/>
          <a:ext cx="0" cy="0"/>
          <a:chOff x="0" y="0"/>
          <a:chExt cx="0" cy="0"/>
        </a:xfrm>
      </p:grpSpPr>
      <p:sp>
        <p:nvSpPr>
          <p:cNvPr id="153" name="Google Shape;153;p3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7"/>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5" name="Google Shape;155;p37"/>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6" name="Shape 156"/>
        <p:cNvGrpSpPr/>
        <p:nvPr/>
      </p:nvGrpSpPr>
      <p:grpSpPr>
        <a:xfrm>
          <a:off x="0" y="0"/>
          <a:ext cx="0" cy="0"/>
          <a:chOff x="0" y="0"/>
          <a:chExt cx="0" cy="0"/>
        </a:xfrm>
      </p:grpSpPr>
      <p:sp>
        <p:nvSpPr>
          <p:cNvPr id="157" name="Google Shape;157;p3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38"/>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8"/>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2" name="Shape 162"/>
        <p:cNvGrpSpPr/>
        <p:nvPr/>
      </p:nvGrpSpPr>
      <p:grpSpPr>
        <a:xfrm>
          <a:off x="0" y="0"/>
          <a:ext cx="0" cy="0"/>
          <a:chOff x="0" y="0"/>
          <a:chExt cx="0" cy="0"/>
        </a:xfrm>
      </p:grpSpPr>
      <p:sp>
        <p:nvSpPr>
          <p:cNvPr id="163" name="Google Shape;163;p3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39"/>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5" name="Google Shape;165;p39"/>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5" name="Shape 175"/>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6" name="Shape 176"/>
        <p:cNvGrpSpPr/>
        <p:nvPr/>
      </p:nvGrpSpPr>
      <p:grpSpPr>
        <a:xfrm>
          <a:off x="0" y="0"/>
          <a:ext cx="0" cy="0"/>
          <a:chOff x="0" y="0"/>
          <a:chExt cx="0" cy="0"/>
        </a:xfrm>
      </p:grpSpPr>
      <p:sp>
        <p:nvSpPr>
          <p:cNvPr id="177" name="Google Shape;177;p4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9" name="Shape 179"/>
        <p:cNvGrpSpPr/>
        <p:nvPr/>
      </p:nvGrpSpPr>
      <p:grpSpPr>
        <a:xfrm>
          <a:off x="0" y="0"/>
          <a:ext cx="0" cy="0"/>
          <a:chOff x="0" y="0"/>
          <a:chExt cx="0" cy="0"/>
        </a:xfrm>
      </p:grpSpPr>
      <p:sp>
        <p:nvSpPr>
          <p:cNvPr id="180" name="Google Shape;180;p4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3"/>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2" name="Shape 182"/>
        <p:cNvGrpSpPr/>
        <p:nvPr/>
      </p:nvGrpSpPr>
      <p:grpSpPr>
        <a:xfrm>
          <a:off x="0" y="0"/>
          <a:ext cx="0" cy="0"/>
          <a:chOff x="0" y="0"/>
          <a:chExt cx="0" cy="0"/>
        </a:xfrm>
      </p:grpSpPr>
      <p:sp>
        <p:nvSpPr>
          <p:cNvPr id="183" name="Google Shape;183;p4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5" name="Google Shape;185;p44"/>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6" name="Shape 186"/>
        <p:cNvGrpSpPr/>
        <p:nvPr/>
      </p:nvGrpSpPr>
      <p:grpSpPr>
        <a:xfrm>
          <a:off x="0" y="0"/>
          <a:ext cx="0" cy="0"/>
          <a:chOff x="0" y="0"/>
          <a:chExt cx="0" cy="0"/>
        </a:xfrm>
      </p:grpSpPr>
      <p:sp>
        <p:nvSpPr>
          <p:cNvPr id="187" name="Google Shape;187;p4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8" name="Shape 188"/>
        <p:cNvGrpSpPr/>
        <p:nvPr/>
      </p:nvGrpSpPr>
      <p:grpSpPr>
        <a:xfrm>
          <a:off x="0" y="0"/>
          <a:ext cx="0" cy="0"/>
          <a:chOff x="0" y="0"/>
          <a:chExt cx="0" cy="0"/>
        </a:xfrm>
      </p:grpSpPr>
      <p:sp>
        <p:nvSpPr>
          <p:cNvPr id="189" name="Google Shape;189;p46"/>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0" name="Shape 190"/>
        <p:cNvGrpSpPr/>
        <p:nvPr/>
      </p:nvGrpSpPr>
      <p:grpSpPr>
        <a:xfrm>
          <a:off x="0" y="0"/>
          <a:ext cx="0" cy="0"/>
          <a:chOff x="0" y="0"/>
          <a:chExt cx="0" cy="0"/>
        </a:xfrm>
      </p:grpSpPr>
      <p:sp>
        <p:nvSpPr>
          <p:cNvPr id="191" name="Google Shape;191;p4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3" name="Google Shape;193;p4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4" name="Google Shape;194;p4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5" name="Shape 195"/>
        <p:cNvGrpSpPr/>
        <p:nvPr/>
      </p:nvGrpSpPr>
      <p:grpSpPr>
        <a:xfrm>
          <a:off x="0" y="0"/>
          <a:ext cx="0" cy="0"/>
          <a:chOff x="0" y="0"/>
          <a:chExt cx="0" cy="0"/>
        </a:xfrm>
      </p:grpSpPr>
      <p:sp>
        <p:nvSpPr>
          <p:cNvPr id="196" name="Google Shape;196;p4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8"/>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8" name="Google Shape;198;p4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9" name="Google Shape;199;p48"/>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0" name="Shape 200"/>
        <p:cNvGrpSpPr/>
        <p:nvPr/>
      </p:nvGrpSpPr>
      <p:grpSpPr>
        <a:xfrm>
          <a:off x="0" y="0"/>
          <a:ext cx="0" cy="0"/>
          <a:chOff x="0" y="0"/>
          <a:chExt cx="0" cy="0"/>
        </a:xfrm>
      </p:grpSpPr>
      <p:sp>
        <p:nvSpPr>
          <p:cNvPr id="201" name="Google Shape;201;p4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4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3" name="Google Shape;203;p4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4" name="Google Shape;204;p49"/>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5" name="Shape 205"/>
        <p:cNvGrpSpPr/>
        <p:nvPr/>
      </p:nvGrpSpPr>
      <p:grpSpPr>
        <a:xfrm>
          <a:off x="0" y="0"/>
          <a:ext cx="0" cy="0"/>
          <a:chOff x="0" y="0"/>
          <a:chExt cx="0" cy="0"/>
        </a:xfrm>
      </p:grpSpPr>
      <p:sp>
        <p:nvSpPr>
          <p:cNvPr id="206" name="Google Shape;206;p5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50"/>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8" name="Google Shape;208;p50"/>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9" name="Shape 209"/>
        <p:cNvGrpSpPr/>
        <p:nvPr/>
      </p:nvGrpSpPr>
      <p:grpSpPr>
        <a:xfrm>
          <a:off x="0" y="0"/>
          <a:ext cx="0" cy="0"/>
          <a:chOff x="0" y="0"/>
          <a:chExt cx="0" cy="0"/>
        </a:xfrm>
      </p:grpSpPr>
      <p:sp>
        <p:nvSpPr>
          <p:cNvPr id="210" name="Google Shape;210;p5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5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5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3" name="Google Shape;213;p51"/>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4" name="Google Shape;214;p51"/>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5" name="Shape 215"/>
        <p:cNvGrpSpPr/>
        <p:nvPr/>
      </p:nvGrpSpPr>
      <p:grpSpPr>
        <a:xfrm>
          <a:off x="0" y="0"/>
          <a:ext cx="0" cy="0"/>
          <a:chOff x="0" y="0"/>
          <a:chExt cx="0" cy="0"/>
        </a:xfrm>
      </p:grpSpPr>
      <p:sp>
        <p:nvSpPr>
          <p:cNvPr id="216" name="Google Shape;216;p5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52"/>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8" name="Google Shape;218;p52"/>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9" name="Google Shape;219;p52"/>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0" name="Google Shape;220;p52"/>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8" name="Shape 228"/>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9" name="Shape 229"/>
        <p:cNvGrpSpPr/>
        <p:nvPr/>
      </p:nvGrpSpPr>
      <p:grpSpPr>
        <a:xfrm>
          <a:off x="0" y="0"/>
          <a:ext cx="0" cy="0"/>
          <a:chOff x="0" y="0"/>
          <a:chExt cx="0" cy="0"/>
        </a:xfrm>
      </p:grpSpPr>
      <p:sp>
        <p:nvSpPr>
          <p:cNvPr id="230" name="Google Shape;230;p5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55"/>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2" name="Shape 232"/>
        <p:cNvGrpSpPr/>
        <p:nvPr/>
      </p:nvGrpSpPr>
      <p:grpSpPr>
        <a:xfrm>
          <a:off x="0" y="0"/>
          <a:ext cx="0" cy="0"/>
          <a:chOff x="0" y="0"/>
          <a:chExt cx="0" cy="0"/>
        </a:xfrm>
      </p:grpSpPr>
      <p:sp>
        <p:nvSpPr>
          <p:cNvPr id="233" name="Google Shape;233;p5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5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5" name="Shape 235"/>
        <p:cNvGrpSpPr/>
        <p:nvPr/>
      </p:nvGrpSpPr>
      <p:grpSpPr>
        <a:xfrm>
          <a:off x="0" y="0"/>
          <a:ext cx="0" cy="0"/>
          <a:chOff x="0" y="0"/>
          <a:chExt cx="0" cy="0"/>
        </a:xfrm>
      </p:grpSpPr>
      <p:sp>
        <p:nvSpPr>
          <p:cNvPr id="236" name="Google Shape;236;p5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8" name="Google Shape;238;p57"/>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9" name="Shape 239"/>
        <p:cNvGrpSpPr/>
        <p:nvPr/>
      </p:nvGrpSpPr>
      <p:grpSpPr>
        <a:xfrm>
          <a:off x="0" y="0"/>
          <a:ext cx="0" cy="0"/>
          <a:chOff x="0" y="0"/>
          <a:chExt cx="0" cy="0"/>
        </a:xfrm>
      </p:grpSpPr>
      <p:sp>
        <p:nvSpPr>
          <p:cNvPr id="240" name="Google Shape;240;p5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1" name="Shape 241"/>
        <p:cNvGrpSpPr/>
        <p:nvPr/>
      </p:nvGrpSpPr>
      <p:grpSpPr>
        <a:xfrm>
          <a:off x="0" y="0"/>
          <a:ext cx="0" cy="0"/>
          <a:chOff x="0" y="0"/>
          <a:chExt cx="0" cy="0"/>
        </a:xfrm>
      </p:grpSpPr>
      <p:sp>
        <p:nvSpPr>
          <p:cNvPr id="242" name="Google Shape;242;p59"/>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3" name="Shape 243"/>
        <p:cNvGrpSpPr/>
        <p:nvPr/>
      </p:nvGrpSpPr>
      <p:grpSpPr>
        <a:xfrm>
          <a:off x="0" y="0"/>
          <a:ext cx="0" cy="0"/>
          <a:chOff x="0" y="0"/>
          <a:chExt cx="0" cy="0"/>
        </a:xfrm>
      </p:grpSpPr>
      <p:sp>
        <p:nvSpPr>
          <p:cNvPr id="244" name="Google Shape;244;p6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6" name="Google Shape;246;p6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7" name="Google Shape;247;p6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48" name="Shape 248"/>
        <p:cNvGrpSpPr/>
        <p:nvPr/>
      </p:nvGrpSpPr>
      <p:grpSpPr>
        <a:xfrm>
          <a:off x="0" y="0"/>
          <a:ext cx="0" cy="0"/>
          <a:chOff x="0" y="0"/>
          <a:chExt cx="0" cy="0"/>
        </a:xfrm>
      </p:grpSpPr>
      <p:sp>
        <p:nvSpPr>
          <p:cNvPr id="249" name="Google Shape;249;p6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61"/>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1" name="Google Shape;251;p6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2" name="Google Shape;252;p61"/>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3" name="Shape 253"/>
        <p:cNvGrpSpPr/>
        <p:nvPr/>
      </p:nvGrpSpPr>
      <p:grpSpPr>
        <a:xfrm>
          <a:off x="0" y="0"/>
          <a:ext cx="0" cy="0"/>
          <a:chOff x="0" y="0"/>
          <a:chExt cx="0" cy="0"/>
        </a:xfrm>
      </p:grpSpPr>
      <p:sp>
        <p:nvSpPr>
          <p:cNvPr id="254" name="Google Shape;254;p6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6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6" name="Google Shape;256;p62"/>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7" name="Google Shape;257;p62"/>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58" name="Shape 258"/>
        <p:cNvGrpSpPr/>
        <p:nvPr/>
      </p:nvGrpSpPr>
      <p:grpSpPr>
        <a:xfrm>
          <a:off x="0" y="0"/>
          <a:ext cx="0" cy="0"/>
          <a:chOff x="0" y="0"/>
          <a:chExt cx="0" cy="0"/>
        </a:xfrm>
      </p:grpSpPr>
      <p:sp>
        <p:nvSpPr>
          <p:cNvPr id="259" name="Google Shape;259;p6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63"/>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1" name="Google Shape;261;p63"/>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2" name="Shape 262"/>
        <p:cNvGrpSpPr/>
        <p:nvPr/>
      </p:nvGrpSpPr>
      <p:grpSpPr>
        <a:xfrm>
          <a:off x="0" y="0"/>
          <a:ext cx="0" cy="0"/>
          <a:chOff x="0" y="0"/>
          <a:chExt cx="0" cy="0"/>
        </a:xfrm>
      </p:grpSpPr>
      <p:sp>
        <p:nvSpPr>
          <p:cNvPr id="263" name="Google Shape;263;p6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6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64"/>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7" name="Google Shape;267;p64"/>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8" name="Shape 268"/>
        <p:cNvGrpSpPr/>
        <p:nvPr/>
      </p:nvGrpSpPr>
      <p:grpSpPr>
        <a:xfrm>
          <a:off x="0" y="0"/>
          <a:ext cx="0" cy="0"/>
          <a:chOff x="0" y="0"/>
          <a:chExt cx="0" cy="0"/>
        </a:xfrm>
      </p:grpSpPr>
      <p:sp>
        <p:nvSpPr>
          <p:cNvPr id="269" name="Google Shape;269;p6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65"/>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5"/>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2" name="Google Shape;272;p65"/>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3" name="Google Shape;273;p65"/>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4" name="Google Shape;274;p65"/>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5" name="Google Shape;275;p65"/>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80" name="Shape 280"/>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81" name="Shape 281"/>
        <p:cNvGrpSpPr/>
        <p:nvPr/>
      </p:nvGrpSpPr>
      <p:grpSpPr>
        <a:xfrm>
          <a:off x="0" y="0"/>
          <a:ext cx="0" cy="0"/>
          <a:chOff x="0" y="0"/>
          <a:chExt cx="0" cy="0"/>
        </a:xfrm>
      </p:grpSpPr>
      <p:sp>
        <p:nvSpPr>
          <p:cNvPr id="282" name="Google Shape;282;p6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3" name="Google Shape;283;p6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84" name="Shape 284"/>
        <p:cNvGrpSpPr/>
        <p:nvPr/>
      </p:nvGrpSpPr>
      <p:grpSpPr>
        <a:xfrm>
          <a:off x="0" y="0"/>
          <a:ext cx="0" cy="0"/>
          <a:chOff x="0" y="0"/>
          <a:chExt cx="0" cy="0"/>
        </a:xfrm>
      </p:grpSpPr>
      <p:sp>
        <p:nvSpPr>
          <p:cNvPr id="285" name="Google Shape;285;p6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6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87" name="Shape 287"/>
        <p:cNvGrpSpPr/>
        <p:nvPr/>
      </p:nvGrpSpPr>
      <p:grpSpPr>
        <a:xfrm>
          <a:off x="0" y="0"/>
          <a:ext cx="0" cy="0"/>
          <a:chOff x="0" y="0"/>
          <a:chExt cx="0" cy="0"/>
        </a:xfrm>
      </p:grpSpPr>
      <p:sp>
        <p:nvSpPr>
          <p:cNvPr id="288" name="Google Shape;288;p7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9" name="Google Shape;289;p7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0" name="Google Shape;290;p70"/>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1" name="Shape 291"/>
        <p:cNvGrpSpPr/>
        <p:nvPr/>
      </p:nvGrpSpPr>
      <p:grpSpPr>
        <a:xfrm>
          <a:off x="0" y="0"/>
          <a:ext cx="0" cy="0"/>
          <a:chOff x="0" y="0"/>
          <a:chExt cx="0" cy="0"/>
        </a:xfrm>
      </p:grpSpPr>
      <p:sp>
        <p:nvSpPr>
          <p:cNvPr id="292" name="Google Shape;292;p7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93" name="Shape 293"/>
        <p:cNvGrpSpPr/>
        <p:nvPr/>
      </p:nvGrpSpPr>
      <p:grpSpPr>
        <a:xfrm>
          <a:off x="0" y="0"/>
          <a:ext cx="0" cy="0"/>
          <a:chOff x="0" y="0"/>
          <a:chExt cx="0" cy="0"/>
        </a:xfrm>
      </p:grpSpPr>
      <p:sp>
        <p:nvSpPr>
          <p:cNvPr id="294" name="Google Shape;294;p72"/>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95" name="Shape 295"/>
        <p:cNvGrpSpPr/>
        <p:nvPr/>
      </p:nvGrpSpPr>
      <p:grpSpPr>
        <a:xfrm>
          <a:off x="0" y="0"/>
          <a:ext cx="0" cy="0"/>
          <a:chOff x="0" y="0"/>
          <a:chExt cx="0" cy="0"/>
        </a:xfrm>
      </p:grpSpPr>
      <p:sp>
        <p:nvSpPr>
          <p:cNvPr id="296" name="Google Shape;296;p7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7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8" name="Google Shape;298;p7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9" name="Google Shape;299;p7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00" name="Shape 300"/>
        <p:cNvGrpSpPr/>
        <p:nvPr/>
      </p:nvGrpSpPr>
      <p:grpSpPr>
        <a:xfrm>
          <a:off x="0" y="0"/>
          <a:ext cx="0" cy="0"/>
          <a:chOff x="0" y="0"/>
          <a:chExt cx="0" cy="0"/>
        </a:xfrm>
      </p:grpSpPr>
      <p:sp>
        <p:nvSpPr>
          <p:cNvPr id="301" name="Google Shape;301;p7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2" name="Google Shape;302;p74"/>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3" name="Google Shape;303;p7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4" name="Google Shape;304;p74"/>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05" name="Shape 305"/>
        <p:cNvGrpSpPr/>
        <p:nvPr/>
      </p:nvGrpSpPr>
      <p:grpSpPr>
        <a:xfrm>
          <a:off x="0" y="0"/>
          <a:ext cx="0" cy="0"/>
          <a:chOff x="0" y="0"/>
          <a:chExt cx="0" cy="0"/>
        </a:xfrm>
      </p:grpSpPr>
      <p:sp>
        <p:nvSpPr>
          <p:cNvPr id="306" name="Google Shape;306;p7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7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8" name="Google Shape;308;p75"/>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9" name="Google Shape;309;p75"/>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10" name="Shape 310"/>
        <p:cNvGrpSpPr/>
        <p:nvPr/>
      </p:nvGrpSpPr>
      <p:grpSpPr>
        <a:xfrm>
          <a:off x="0" y="0"/>
          <a:ext cx="0" cy="0"/>
          <a:chOff x="0" y="0"/>
          <a:chExt cx="0" cy="0"/>
        </a:xfrm>
      </p:grpSpPr>
      <p:sp>
        <p:nvSpPr>
          <p:cNvPr id="311" name="Google Shape;311;p7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2" name="Google Shape;312;p76"/>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3" name="Google Shape;313;p76"/>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14" name="Shape 314"/>
        <p:cNvGrpSpPr/>
        <p:nvPr/>
      </p:nvGrpSpPr>
      <p:grpSpPr>
        <a:xfrm>
          <a:off x="0" y="0"/>
          <a:ext cx="0" cy="0"/>
          <a:chOff x="0" y="0"/>
          <a:chExt cx="0" cy="0"/>
        </a:xfrm>
      </p:grpSpPr>
      <p:sp>
        <p:nvSpPr>
          <p:cNvPr id="315" name="Google Shape;315;p7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7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7" name="Google Shape;317;p7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8" name="Google Shape;318;p77"/>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9" name="Google Shape;319;p77"/>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20" name="Shape 320"/>
        <p:cNvGrpSpPr/>
        <p:nvPr/>
      </p:nvGrpSpPr>
      <p:grpSpPr>
        <a:xfrm>
          <a:off x="0" y="0"/>
          <a:ext cx="0" cy="0"/>
          <a:chOff x="0" y="0"/>
          <a:chExt cx="0" cy="0"/>
        </a:xfrm>
      </p:grpSpPr>
      <p:sp>
        <p:nvSpPr>
          <p:cNvPr id="321" name="Google Shape;321;p7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78"/>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3" name="Google Shape;323;p78"/>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4" name="Google Shape;324;p78"/>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5" name="Google Shape;325;p78"/>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6" name="Google Shape;326;p78"/>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7" name="Google Shape;327;p78"/>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3" name="Shape 333"/>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34" name="Shape 334"/>
        <p:cNvGrpSpPr/>
        <p:nvPr/>
      </p:nvGrpSpPr>
      <p:grpSpPr>
        <a:xfrm>
          <a:off x="0" y="0"/>
          <a:ext cx="0" cy="0"/>
          <a:chOff x="0" y="0"/>
          <a:chExt cx="0" cy="0"/>
        </a:xfrm>
      </p:grpSpPr>
      <p:sp>
        <p:nvSpPr>
          <p:cNvPr id="335" name="Google Shape;335;p8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81"/>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37" name="Shape 337"/>
        <p:cNvGrpSpPr/>
        <p:nvPr/>
      </p:nvGrpSpPr>
      <p:grpSpPr>
        <a:xfrm>
          <a:off x="0" y="0"/>
          <a:ext cx="0" cy="0"/>
          <a:chOff x="0" y="0"/>
          <a:chExt cx="0" cy="0"/>
        </a:xfrm>
      </p:grpSpPr>
      <p:sp>
        <p:nvSpPr>
          <p:cNvPr id="338" name="Google Shape;338;p8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8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40" name="Shape 340"/>
        <p:cNvGrpSpPr/>
        <p:nvPr/>
      </p:nvGrpSpPr>
      <p:grpSpPr>
        <a:xfrm>
          <a:off x="0" y="0"/>
          <a:ext cx="0" cy="0"/>
          <a:chOff x="0" y="0"/>
          <a:chExt cx="0" cy="0"/>
        </a:xfrm>
      </p:grpSpPr>
      <p:sp>
        <p:nvSpPr>
          <p:cNvPr id="341" name="Google Shape;341;p8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2" name="Google Shape;342;p8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3" name="Google Shape;343;p83"/>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4" name="Shape 344"/>
        <p:cNvGrpSpPr/>
        <p:nvPr/>
      </p:nvGrpSpPr>
      <p:grpSpPr>
        <a:xfrm>
          <a:off x="0" y="0"/>
          <a:ext cx="0" cy="0"/>
          <a:chOff x="0" y="0"/>
          <a:chExt cx="0" cy="0"/>
        </a:xfrm>
      </p:grpSpPr>
      <p:sp>
        <p:nvSpPr>
          <p:cNvPr id="345" name="Google Shape;345;p8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46" name="Shape 346"/>
        <p:cNvGrpSpPr/>
        <p:nvPr/>
      </p:nvGrpSpPr>
      <p:grpSpPr>
        <a:xfrm>
          <a:off x="0" y="0"/>
          <a:ext cx="0" cy="0"/>
          <a:chOff x="0" y="0"/>
          <a:chExt cx="0" cy="0"/>
        </a:xfrm>
      </p:grpSpPr>
      <p:sp>
        <p:nvSpPr>
          <p:cNvPr id="347" name="Google Shape;347;p85"/>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48" name="Shape 348"/>
        <p:cNvGrpSpPr/>
        <p:nvPr/>
      </p:nvGrpSpPr>
      <p:grpSpPr>
        <a:xfrm>
          <a:off x="0" y="0"/>
          <a:ext cx="0" cy="0"/>
          <a:chOff x="0" y="0"/>
          <a:chExt cx="0" cy="0"/>
        </a:xfrm>
      </p:grpSpPr>
      <p:sp>
        <p:nvSpPr>
          <p:cNvPr id="349" name="Google Shape;349;p8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8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1" name="Google Shape;351;p8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2" name="Google Shape;352;p8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3" name="Shape 353"/>
        <p:cNvGrpSpPr/>
        <p:nvPr/>
      </p:nvGrpSpPr>
      <p:grpSpPr>
        <a:xfrm>
          <a:off x="0" y="0"/>
          <a:ext cx="0" cy="0"/>
          <a:chOff x="0" y="0"/>
          <a:chExt cx="0" cy="0"/>
        </a:xfrm>
      </p:grpSpPr>
      <p:sp>
        <p:nvSpPr>
          <p:cNvPr id="354" name="Google Shape;354;p8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5" name="Google Shape;355;p87"/>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6" name="Google Shape;356;p8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7" name="Google Shape;357;p87"/>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58" name="Shape 358"/>
        <p:cNvGrpSpPr/>
        <p:nvPr/>
      </p:nvGrpSpPr>
      <p:grpSpPr>
        <a:xfrm>
          <a:off x="0" y="0"/>
          <a:ext cx="0" cy="0"/>
          <a:chOff x="0" y="0"/>
          <a:chExt cx="0" cy="0"/>
        </a:xfrm>
      </p:grpSpPr>
      <p:sp>
        <p:nvSpPr>
          <p:cNvPr id="359" name="Google Shape;359;p8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88"/>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1" name="Google Shape;361;p88"/>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2" name="Google Shape;362;p88"/>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363" name="Shape 363"/>
        <p:cNvGrpSpPr/>
        <p:nvPr/>
      </p:nvGrpSpPr>
      <p:grpSpPr>
        <a:xfrm>
          <a:off x="0" y="0"/>
          <a:ext cx="0" cy="0"/>
          <a:chOff x="0" y="0"/>
          <a:chExt cx="0" cy="0"/>
        </a:xfrm>
      </p:grpSpPr>
      <p:sp>
        <p:nvSpPr>
          <p:cNvPr id="364" name="Google Shape;364;p8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89"/>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6" name="Google Shape;366;p89"/>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367" name="Shape 367"/>
        <p:cNvGrpSpPr/>
        <p:nvPr/>
      </p:nvGrpSpPr>
      <p:grpSpPr>
        <a:xfrm>
          <a:off x="0" y="0"/>
          <a:ext cx="0" cy="0"/>
          <a:chOff x="0" y="0"/>
          <a:chExt cx="0" cy="0"/>
        </a:xfrm>
      </p:grpSpPr>
      <p:sp>
        <p:nvSpPr>
          <p:cNvPr id="368" name="Google Shape;368;p9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90"/>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0" name="Google Shape;370;p9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1" name="Google Shape;371;p90"/>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2" name="Google Shape;372;p90"/>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373" name="Shape 373"/>
        <p:cNvGrpSpPr/>
        <p:nvPr/>
      </p:nvGrpSpPr>
      <p:grpSpPr>
        <a:xfrm>
          <a:off x="0" y="0"/>
          <a:ext cx="0" cy="0"/>
          <a:chOff x="0" y="0"/>
          <a:chExt cx="0" cy="0"/>
        </a:xfrm>
      </p:grpSpPr>
      <p:sp>
        <p:nvSpPr>
          <p:cNvPr id="374" name="Google Shape;374;p9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5" name="Google Shape;375;p91"/>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6" name="Google Shape;376;p91"/>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7" name="Google Shape;377;p91"/>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8" name="Google Shape;378;p91"/>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79" name="Google Shape;379;p91"/>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0" name="Google Shape;380;p91"/>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87" name="Shape 387"/>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88" name="Shape 388"/>
        <p:cNvGrpSpPr/>
        <p:nvPr/>
      </p:nvGrpSpPr>
      <p:grpSpPr>
        <a:xfrm>
          <a:off x="0" y="0"/>
          <a:ext cx="0" cy="0"/>
          <a:chOff x="0" y="0"/>
          <a:chExt cx="0" cy="0"/>
        </a:xfrm>
      </p:grpSpPr>
      <p:sp>
        <p:nvSpPr>
          <p:cNvPr id="389" name="Google Shape;389;p9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94"/>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91" name="Shape 391"/>
        <p:cNvGrpSpPr/>
        <p:nvPr/>
      </p:nvGrpSpPr>
      <p:grpSpPr>
        <a:xfrm>
          <a:off x="0" y="0"/>
          <a:ext cx="0" cy="0"/>
          <a:chOff x="0" y="0"/>
          <a:chExt cx="0" cy="0"/>
        </a:xfrm>
      </p:grpSpPr>
      <p:sp>
        <p:nvSpPr>
          <p:cNvPr id="392" name="Google Shape;392;p9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3" name="Google Shape;393;p9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94" name="Shape 394"/>
        <p:cNvGrpSpPr/>
        <p:nvPr/>
      </p:nvGrpSpPr>
      <p:grpSpPr>
        <a:xfrm>
          <a:off x="0" y="0"/>
          <a:ext cx="0" cy="0"/>
          <a:chOff x="0" y="0"/>
          <a:chExt cx="0" cy="0"/>
        </a:xfrm>
      </p:grpSpPr>
      <p:sp>
        <p:nvSpPr>
          <p:cNvPr id="395" name="Google Shape;395;p9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9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7" name="Google Shape;397;p9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8" name="Shape 398"/>
        <p:cNvGrpSpPr/>
        <p:nvPr/>
      </p:nvGrpSpPr>
      <p:grpSpPr>
        <a:xfrm>
          <a:off x="0" y="0"/>
          <a:ext cx="0" cy="0"/>
          <a:chOff x="0" y="0"/>
          <a:chExt cx="0" cy="0"/>
        </a:xfrm>
      </p:grpSpPr>
      <p:sp>
        <p:nvSpPr>
          <p:cNvPr id="399" name="Google Shape;399;p9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00" name="Shape 400"/>
        <p:cNvGrpSpPr/>
        <p:nvPr/>
      </p:nvGrpSpPr>
      <p:grpSpPr>
        <a:xfrm>
          <a:off x="0" y="0"/>
          <a:ext cx="0" cy="0"/>
          <a:chOff x="0" y="0"/>
          <a:chExt cx="0" cy="0"/>
        </a:xfrm>
      </p:grpSpPr>
      <p:sp>
        <p:nvSpPr>
          <p:cNvPr id="401" name="Google Shape;401;p98"/>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02" name="Shape 402"/>
        <p:cNvGrpSpPr/>
        <p:nvPr/>
      </p:nvGrpSpPr>
      <p:grpSpPr>
        <a:xfrm>
          <a:off x="0" y="0"/>
          <a:ext cx="0" cy="0"/>
          <a:chOff x="0" y="0"/>
          <a:chExt cx="0" cy="0"/>
        </a:xfrm>
      </p:grpSpPr>
      <p:sp>
        <p:nvSpPr>
          <p:cNvPr id="403" name="Google Shape;403;p9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4" name="Google Shape;404;p9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5" name="Google Shape;405;p9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6" name="Google Shape;406;p9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07" name="Shape 407"/>
        <p:cNvGrpSpPr/>
        <p:nvPr/>
      </p:nvGrpSpPr>
      <p:grpSpPr>
        <a:xfrm>
          <a:off x="0" y="0"/>
          <a:ext cx="0" cy="0"/>
          <a:chOff x="0" y="0"/>
          <a:chExt cx="0" cy="0"/>
        </a:xfrm>
      </p:grpSpPr>
      <p:sp>
        <p:nvSpPr>
          <p:cNvPr id="408" name="Google Shape;408;p10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100"/>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0" name="Google Shape;410;p100"/>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1" name="Google Shape;411;p100"/>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12" name="Shape 412"/>
        <p:cNvGrpSpPr/>
        <p:nvPr/>
      </p:nvGrpSpPr>
      <p:grpSpPr>
        <a:xfrm>
          <a:off x="0" y="0"/>
          <a:ext cx="0" cy="0"/>
          <a:chOff x="0" y="0"/>
          <a:chExt cx="0" cy="0"/>
        </a:xfrm>
      </p:grpSpPr>
      <p:sp>
        <p:nvSpPr>
          <p:cNvPr id="413" name="Google Shape;413;p10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4" name="Google Shape;414;p101"/>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5" name="Google Shape;415;p101"/>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6" name="Google Shape;416;p101"/>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7" name="Shape 417"/>
        <p:cNvGrpSpPr/>
        <p:nvPr/>
      </p:nvGrpSpPr>
      <p:grpSpPr>
        <a:xfrm>
          <a:off x="0" y="0"/>
          <a:ext cx="0" cy="0"/>
          <a:chOff x="0" y="0"/>
          <a:chExt cx="0" cy="0"/>
        </a:xfrm>
      </p:grpSpPr>
      <p:sp>
        <p:nvSpPr>
          <p:cNvPr id="418" name="Google Shape;418;p10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9" name="Google Shape;419;p102"/>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0" name="Google Shape;420;p102"/>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21" name="Shape 421"/>
        <p:cNvGrpSpPr/>
        <p:nvPr/>
      </p:nvGrpSpPr>
      <p:grpSpPr>
        <a:xfrm>
          <a:off x="0" y="0"/>
          <a:ext cx="0" cy="0"/>
          <a:chOff x="0" y="0"/>
          <a:chExt cx="0" cy="0"/>
        </a:xfrm>
      </p:grpSpPr>
      <p:sp>
        <p:nvSpPr>
          <p:cNvPr id="422" name="Google Shape;422;p10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103"/>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4" name="Google Shape;424;p10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5" name="Google Shape;425;p103"/>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6" name="Google Shape;426;p103"/>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27" name="Shape 427"/>
        <p:cNvGrpSpPr/>
        <p:nvPr/>
      </p:nvGrpSpPr>
      <p:grpSpPr>
        <a:xfrm>
          <a:off x="0" y="0"/>
          <a:ext cx="0" cy="0"/>
          <a:chOff x="0" y="0"/>
          <a:chExt cx="0" cy="0"/>
        </a:xfrm>
      </p:grpSpPr>
      <p:sp>
        <p:nvSpPr>
          <p:cNvPr id="428" name="Google Shape;428;p10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104"/>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0" name="Google Shape;430;p104"/>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1" name="Google Shape;431;p104"/>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2" name="Google Shape;432;p104"/>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3" name="Google Shape;433;p104"/>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4" name="Google Shape;434;p104"/>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41" name="Shape 441"/>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42" name="Shape 442"/>
        <p:cNvGrpSpPr/>
        <p:nvPr/>
      </p:nvGrpSpPr>
      <p:grpSpPr>
        <a:xfrm>
          <a:off x="0" y="0"/>
          <a:ext cx="0" cy="0"/>
          <a:chOff x="0" y="0"/>
          <a:chExt cx="0" cy="0"/>
        </a:xfrm>
      </p:grpSpPr>
      <p:sp>
        <p:nvSpPr>
          <p:cNvPr id="443" name="Google Shape;443;p10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4" name="Google Shape;444;p107"/>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45" name="Shape 445"/>
        <p:cNvGrpSpPr/>
        <p:nvPr/>
      </p:nvGrpSpPr>
      <p:grpSpPr>
        <a:xfrm>
          <a:off x="0" y="0"/>
          <a:ext cx="0" cy="0"/>
          <a:chOff x="0" y="0"/>
          <a:chExt cx="0" cy="0"/>
        </a:xfrm>
      </p:grpSpPr>
      <p:sp>
        <p:nvSpPr>
          <p:cNvPr id="446" name="Google Shape;446;p10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10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448" name="Shape 448"/>
        <p:cNvGrpSpPr/>
        <p:nvPr/>
      </p:nvGrpSpPr>
      <p:grpSpPr>
        <a:xfrm>
          <a:off x="0" y="0"/>
          <a:ext cx="0" cy="0"/>
          <a:chOff x="0" y="0"/>
          <a:chExt cx="0" cy="0"/>
        </a:xfrm>
      </p:grpSpPr>
      <p:sp>
        <p:nvSpPr>
          <p:cNvPr id="449" name="Google Shape;449;p10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0" name="Google Shape;450;p109"/>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1" name="Google Shape;451;p109"/>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2" name="Shape 452"/>
        <p:cNvGrpSpPr/>
        <p:nvPr/>
      </p:nvGrpSpPr>
      <p:grpSpPr>
        <a:xfrm>
          <a:off x="0" y="0"/>
          <a:ext cx="0" cy="0"/>
          <a:chOff x="0" y="0"/>
          <a:chExt cx="0" cy="0"/>
        </a:xfrm>
      </p:grpSpPr>
      <p:sp>
        <p:nvSpPr>
          <p:cNvPr id="453" name="Google Shape;453;p11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54" name="Shape 454"/>
        <p:cNvGrpSpPr/>
        <p:nvPr/>
      </p:nvGrpSpPr>
      <p:grpSpPr>
        <a:xfrm>
          <a:off x="0" y="0"/>
          <a:ext cx="0" cy="0"/>
          <a:chOff x="0" y="0"/>
          <a:chExt cx="0" cy="0"/>
        </a:xfrm>
      </p:grpSpPr>
      <p:sp>
        <p:nvSpPr>
          <p:cNvPr id="455" name="Google Shape;455;p111"/>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6" name="Shape 456"/>
        <p:cNvGrpSpPr/>
        <p:nvPr/>
      </p:nvGrpSpPr>
      <p:grpSpPr>
        <a:xfrm>
          <a:off x="0" y="0"/>
          <a:ext cx="0" cy="0"/>
          <a:chOff x="0" y="0"/>
          <a:chExt cx="0" cy="0"/>
        </a:xfrm>
      </p:grpSpPr>
      <p:sp>
        <p:nvSpPr>
          <p:cNvPr id="457" name="Google Shape;457;p11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112"/>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9" name="Google Shape;459;p112"/>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0" name="Google Shape;460;p112"/>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61" name="Shape 461"/>
        <p:cNvGrpSpPr/>
        <p:nvPr/>
      </p:nvGrpSpPr>
      <p:grpSpPr>
        <a:xfrm>
          <a:off x="0" y="0"/>
          <a:ext cx="0" cy="0"/>
          <a:chOff x="0" y="0"/>
          <a:chExt cx="0" cy="0"/>
        </a:xfrm>
      </p:grpSpPr>
      <p:sp>
        <p:nvSpPr>
          <p:cNvPr id="462" name="Google Shape;462;p11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113"/>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4" name="Google Shape;464;p113"/>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5" name="Google Shape;465;p113"/>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66" name="Shape 466"/>
        <p:cNvGrpSpPr/>
        <p:nvPr/>
      </p:nvGrpSpPr>
      <p:grpSpPr>
        <a:xfrm>
          <a:off x="0" y="0"/>
          <a:ext cx="0" cy="0"/>
          <a:chOff x="0" y="0"/>
          <a:chExt cx="0" cy="0"/>
        </a:xfrm>
      </p:grpSpPr>
      <p:sp>
        <p:nvSpPr>
          <p:cNvPr id="467" name="Google Shape;467;p114"/>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114"/>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9" name="Google Shape;469;p114"/>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0" name="Google Shape;470;p114"/>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71" name="Shape 471"/>
        <p:cNvGrpSpPr/>
        <p:nvPr/>
      </p:nvGrpSpPr>
      <p:grpSpPr>
        <a:xfrm>
          <a:off x="0" y="0"/>
          <a:ext cx="0" cy="0"/>
          <a:chOff x="0" y="0"/>
          <a:chExt cx="0" cy="0"/>
        </a:xfrm>
      </p:grpSpPr>
      <p:sp>
        <p:nvSpPr>
          <p:cNvPr id="472" name="Google Shape;472;p11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3" name="Google Shape;473;p115"/>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4" name="Google Shape;474;p115"/>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5" name="Shape 475"/>
        <p:cNvGrpSpPr/>
        <p:nvPr/>
      </p:nvGrpSpPr>
      <p:grpSpPr>
        <a:xfrm>
          <a:off x="0" y="0"/>
          <a:ext cx="0" cy="0"/>
          <a:chOff x="0" y="0"/>
          <a:chExt cx="0" cy="0"/>
        </a:xfrm>
      </p:grpSpPr>
      <p:sp>
        <p:nvSpPr>
          <p:cNvPr id="476" name="Google Shape;476;p11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7" name="Google Shape;477;p116"/>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8" name="Google Shape;478;p11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79" name="Google Shape;479;p116"/>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0" name="Google Shape;480;p116"/>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481" name="Shape 481"/>
        <p:cNvGrpSpPr/>
        <p:nvPr/>
      </p:nvGrpSpPr>
      <p:grpSpPr>
        <a:xfrm>
          <a:off x="0" y="0"/>
          <a:ext cx="0" cy="0"/>
          <a:chOff x="0" y="0"/>
          <a:chExt cx="0" cy="0"/>
        </a:xfrm>
      </p:grpSpPr>
      <p:sp>
        <p:nvSpPr>
          <p:cNvPr id="482" name="Google Shape;482;p11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3" name="Google Shape;483;p117"/>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4" name="Google Shape;484;p117"/>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5" name="Google Shape;485;p117"/>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6" name="Google Shape;486;p117"/>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7" name="Google Shape;487;p117"/>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8" name="Google Shape;488;p117"/>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95" name="Shape 495"/>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496" name="Shape 496"/>
        <p:cNvGrpSpPr/>
        <p:nvPr/>
      </p:nvGrpSpPr>
      <p:grpSpPr>
        <a:xfrm>
          <a:off x="0" y="0"/>
          <a:ext cx="0" cy="0"/>
          <a:chOff x="0" y="0"/>
          <a:chExt cx="0" cy="0"/>
        </a:xfrm>
      </p:grpSpPr>
      <p:sp>
        <p:nvSpPr>
          <p:cNvPr id="497" name="Google Shape;497;p12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8" name="Google Shape;498;p120"/>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499" name="Shape 499"/>
        <p:cNvGrpSpPr/>
        <p:nvPr/>
      </p:nvGrpSpPr>
      <p:grpSpPr>
        <a:xfrm>
          <a:off x="0" y="0"/>
          <a:ext cx="0" cy="0"/>
          <a:chOff x="0" y="0"/>
          <a:chExt cx="0" cy="0"/>
        </a:xfrm>
      </p:grpSpPr>
      <p:sp>
        <p:nvSpPr>
          <p:cNvPr id="500" name="Google Shape;500;p121"/>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1" name="Google Shape;501;p12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502" name="Shape 502"/>
        <p:cNvGrpSpPr/>
        <p:nvPr/>
      </p:nvGrpSpPr>
      <p:grpSpPr>
        <a:xfrm>
          <a:off x="0" y="0"/>
          <a:ext cx="0" cy="0"/>
          <a:chOff x="0" y="0"/>
          <a:chExt cx="0" cy="0"/>
        </a:xfrm>
      </p:grpSpPr>
      <p:sp>
        <p:nvSpPr>
          <p:cNvPr id="503" name="Google Shape;503;p122"/>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4" name="Google Shape;504;p122"/>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5" name="Google Shape;505;p122"/>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6" name="Shape 506"/>
        <p:cNvGrpSpPr/>
        <p:nvPr/>
      </p:nvGrpSpPr>
      <p:grpSpPr>
        <a:xfrm>
          <a:off x="0" y="0"/>
          <a:ext cx="0" cy="0"/>
          <a:chOff x="0" y="0"/>
          <a:chExt cx="0" cy="0"/>
        </a:xfrm>
      </p:grpSpPr>
      <p:sp>
        <p:nvSpPr>
          <p:cNvPr id="507" name="Google Shape;507;p123"/>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508" name="Shape 508"/>
        <p:cNvGrpSpPr/>
        <p:nvPr/>
      </p:nvGrpSpPr>
      <p:grpSpPr>
        <a:xfrm>
          <a:off x="0" y="0"/>
          <a:ext cx="0" cy="0"/>
          <a:chOff x="0" y="0"/>
          <a:chExt cx="0" cy="0"/>
        </a:xfrm>
      </p:grpSpPr>
      <p:sp>
        <p:nvSpPr>
          <p:cNvPr id="509" name="Google Shape;509;p124"/>
          <p:cNvSpPr txBox="1"/>
          <p:nvPr>
            <p:ph idx="1" type="subTitle"/>
          </p:nvPr>
        </p:nvSpPr>
        <p:spPr>
          <a:xfrm>
            <a:off x="457200" y="590400"/>
            <a:ext cx="8229240" cy="13698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510" name="Shape 510"/>
        <p:cNvGrpSpPr/>
        <p:nvPr/>
      </p:nvGrpSpPr>
      <p:grpSpPr>
        <a:xfrm>
          <a:off x="0" y="0"/>
          <a:ext cx="0" cy="0"/>
          <a:chOff x="0" y="0"/>
          <a:chExt cx="0" cy="0"/>
        </a:xfrm>
      </p:grpSpPr>
      <p:sp>
        <p:nvSpPr>
          <p:cNvPr id="511" name="Google Shape;511;p125"/>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2" name="Google Shape;512;p125"/>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3" name="Google Shape;513;p125"/>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4" name="Google Shape;514;p125"/>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15" name="Shape 515"/>
        <p:cNvGrpSpPr/>
        <p:nvPr/>
      </p:nvGrpSpPr>
      <p:grpSpPr>
        <a:xfrm>
          <a:off x="0" y="0"/>
          <a:ext cx="0" cy="0"/>
          <a:chOff x="0" y="0"/>
          <a:chExt cx="0" cy="0"/>
        </a:xfrm>
      </p:grpSpPr>
      <p:sp>
        <p:nvSpPr>
          <p:cNvPr id="516" name="Google Shape;516;p12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7" name="Google Shape;517;p12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8" name="Google Shape;518;p126"/>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9" name="Google Shape;519;p126"/>
          <p:cNvSpPr txBox="1"/>
          <p:nvPr>
            <p:ph idx="3"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20" name="Shape 520"/>
        <p:cNvGrpSpPr/>
        <p:nvPr/>
      </p:nvGrpSpPr>
      <p:grpSpPr>
        <a:xfrm>
          <a:off x="0" y="0"/>
          <a:ext cx="0" cy="0"/>
          <a:chOff x="0" y="0"/>
          <a:chExt cx="0" cy="0"/>
        </a:xfrm>
      </p:grpSpPr>
      <p:sp>
        <p:nvSpPr>
          <p:cNvPr id="521" name="Google Shape;521;p127"/>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2" name="Google Shape;522;p127"/>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3" name="Google Shape;523;p127"/>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4" name="Google Shape;524;p127"/>
          <p:cNvSpPr txBox="1"/>
          <p:nvPr>
            <p:ph idx="3"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25" name="Shape 525"/>
        <p:cNvGrpSpPr/>
        <p:nvPr/>
      </p:nvGrpSpPr>
      <p:grpSpPr>
        <a:xfrm>
          <a:off x="0" y="0"/>
          <a:ext cx="0" cy="0"/>
          <a:chOff x="0" y="0"/>
          <a:chExt cx="0" cy="0"/>
        </a:xfrm>
      </p:grpSpPr>
      <p:sp>
        <p:nvSpPr>
          <p:cNvPr id="526" name="Google Shape;526;p128"/>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7" name="Google Shape;527;p128"/>
          <p:cNvSpPr txBox="1"/>
          <p:nvPr>
            <p:ph idx="1" type="body"/>
          </p:nvPr>
        </p:nvSpPr>
        <p:spPr>
          <a:xfrm>
            <a:off x="457200" y="120348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8" name="Google Shape;528;p128"/>
          <p:cNvSpPr txBox="1"/>
          <p:nvPr>
            <p:ph idx="2" type="body"/>
          </p:nvPr>
        </p:nvSpPr>
        <p:spPr>
          <a:xfrm>
            <a:off x="457200" y="2761920"/>
            <a:ext cx="822924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529" name="Shape 529"/>
        <p:cNvGrpSpPr/>
        <p:nvPr/>
      </p:nvGrpSpPr>
      <p:grpSpPr>
        <a:xfrm>
          <a:off x="0" y="0"/>
          <a:ext cx="0" cy="0"/>
          <a:chOff x="0" y="0"/>
          <a:chExt cx="0" cy="0"/>
        </a:xfrm>
      </p:grpSpPr>
      <p:sp>
        <p:nvSpPr>
          <p:cNvPr id="530" name="Google Shape;530;p129"/>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1" name="Google Shape;531;p129"/>
          <p:cNvSpPr txBox="1"/>
          <p:nvPr>
            <p:ph idx="1" type="body"/>
          </p:nvPr>
        </p:nvSpPr>
        <p:spPr>
          <a:xfrm>
            <a:off x="45720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2" name="Google Shape;532;p129"/>
          <p:cNvSpPr txBox="1"/>
          <p:nvPr>
            <p:ph idx="2" type="body"/>
          </p:nvPr>
        </p:nvSpPr>
        <p:spPr>
          <a:xfrm>
            <a:off x="4674240" y="120348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3" name="Google Shape;533;p129"/>
          <p:cNvSpPr txBox="1"/>
          <p:nvPr>
            <p:ph idx="3" type="body"/>
          </p:nvPr>
        </p:nvSpPr>
        <p:spPr>
          <a:xfrm>
            <a:off x="45720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4" name="Google Shape;534;p129"/>
          <p:cNvSpPr txBox="1"/>
          <p:nvPr>
            <p:ph idx="4" type="body"/>
          </p:nvPr>
        </p:nvSpPr>
        <p:spPr>
          <a:xfrm>
            <a:off x="4674240" y="2761920"/>
            <a:ext cx="40158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5" name="Shape 535"/>
        <p:cNvGrpSpPr/>
        <p:nvPr/>
      </p:nvGrpSpPr>
      <p:grpSpPr>
        <a:xfrm>
          <a:off x="0" y="0"/>
          <a:ext cx="0" cy="0"/>
          <a:chOff x="0" y="0"/>
          <a:chExt cx="0" cy="0"/>
        </a:xfrm>
      </p:grpSpPr>
      <p:sp>
        <p:nvSpPr>
          <p:cNvPr id="536" name="Google Shape;536;p130"/>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7" name="Google Shape;537;p130"/>
          <p:cNvSpPr txBox="1"/>
          <p:nvPr>
            <p:ph idx="1" type="body"/>
          </p:nvPr>
        </p:nvSpPr>
        <p:spPr>
          <a:xfrm>
            <a:off x="45720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8" name="Google Shape;538;p130"/>
          <p:cNvSpPr txBox="1"/>
          <p:nvPr>
            <p:ph idx="2" type="body"/>
          </p:nvPr>
        </p:nvSpPr>
        <p:spPr>
          <a:xfrm>
            <a:off x="323964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9" name="Google Shape;539;p130"/>
          <p:cNvSpPr txBox="1"/>
          <p:nvPr>
            <p:ph idx="3" type="body"/>
          </p:nvPr>
        </p:nvSpPr>
        <p:spPr>
          <a:xfrm>
            <a:off x="6022080" y="120348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0" name="Google Shape;540;p130"/>
          <p:cNvSpPr txBox="1"/>
          <p:nvPr>
            <p:ph idx="4" type="body"/>
          </p:nvPr>
        </p:nvSpPr>
        <p:spPr>
          <a:xfrm>
            <a:off x="45720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1" name="Google Shape;541;p130"/>
          <p:cNvSpPr txBox="1"/>
          <p:nvPr>
            <p:ph idx="5" type="body"/>
          </p:nvPr>
        </p:nvSpPr>
        <p:spPr>
          <a:xfrm>
            <a:off x="323964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2" name="Google Shape;542;p130"/>
          <p:cNvSpPr txBox="1"/>
          <p:nvPr>
            <p:ph idx="6" type="body"/>
          </p:nvPr>
        </p:nvSpPr>
        <p:spPr>
          <a:xfrm>
            <a:off x="6022080" y="2761920"/>
            <a:ext cx="2649600" cy="14227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6.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0.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7.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71.xml"/><Relationship Id="rId10" Type="http://schemas.openxmlformats.org/officeDocument/2006/relationships/slideLayout" Target="../slideLayouts/slideLayout70.xml"/><Relationship Id="rId13" Type="http://schemas.openxmlformats.org/officeDocument/2006/relationships/theme" Target="../theme/theme8.xml"/><Relationship Id="rId12" Type="http://schemas.openxmlformats.org/officeDocument/2006/relationships/slideLayout" Target="../slideLayouts/slideLayout72.xml"/><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9" Type="http://schemas.openxmlformats.org/officeDocument/2006/relationships/slideLayout" Target="../slideLayouts/slideLayout69.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83.xml"/><Relationship Id="rId10" Type="http://schemas.openxmlformats.org/officeDocument/2006/relationships/slideLayout" Target="../slideLayouts/slideLayout82.xml"/><Relationship Id="rId13" Type="http://schemas.openxmlformats.org/officeDocument/2006/relationships/theme" Target="../theme/theme9.xml"/><Relationship Id="rId12" Type="http://schemas.openxmlformats.org/officeDocument/2006/relationships/slideLayout" Target="../slideLayouts/slideLayout84.xml"/><Relationship Id="rId1" Type="http://schemas.openxmlformats.org/officeDocument/2006/relationships/slideLayout" Target="../slideLayouts/slideLayout73.xml"/><Relationship Id="rId2" Type="http://schemas.openxmlformats.org/officeDocument/2006/relationships/slideLayout" Target="../slideLayouts/slideLayout74.xml"/><Relationship Id="rId3" Type="http://schemas.openxmlformats.org/officeDocument/2006/relationships/slideLayout" Target="../slideLayouts/slideLayout75.xml"/><Relationship Id="rId4" Type="http://schemas.openxmlformats.org/officeDocument/2006/relationships/slideLayout" Target="../slideLayouts/slideLayout76.xml"/><Relationship Id="rId9" Type="http://schemas.openxmlformats.org/officeDocument/2006/relationships/slideLayout" Target="../slideLayouts/slideLayout81.xml"/><Relationship Id="rId5" Type="http://schemas.openxmlformats.org/officeDocument/2006/relationships/slideLayout" Target="../slideLayouts/slideLayout77.xml"/><Relationship Id="rId6" Type="http://schemas.openxmlformats.org/officeDocument/2006/relationships/slideLayout" Target="../slideLayouts/slideLayout78.xml"/><Relationship Id="rId7" Type="http://schemas.openxmlformats.org/officeDocument/2006/relationships/slideLayout" Target="../slideLayouts/slideLayout79.xml"/><Relationship Id="rId8"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95.xml"/><Relationship Id="rId10" Type="http://schemas.openxmlformats.org/officeDocument/2006/relationships/slideLayout" Target="../slideLayouts/slideLayout94.xml"/><Relationship Id="rId13" Type="http://schemas.openxmlformats.org/officeDocument/2006/relationships/theme" Target="../theme/theme11.xml"/><Relationship Id="rId12" Type="http://schemas.openxmlformats.org/officeDocument/2006/relationships/slideLayout" Target="../slideLayouts/slideLayout96.xml"/><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9" Type="http://schemas.openxmlformats.org/officeDocument/2006/relationships/slideLayout" Target="../slideLayouts/slideLayout93.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107.xml"/><Relationship Id="rId10" Type="http://schemas.openxmlformats.org/officeDocument/2006/relationships/slideLayout" Target="../slideLayouts/slideLayout106.xml"/><Relationship Id="rId13" Type="http://schemas.openxmlformats.org/officeDocument/2006/relationships/theme" Target="../theme/theme1.xml"/><Relationship Id="rId12" Type="http://schemas.openxmlformats.org/officeDocument/2006/relationships/slideLayout" Target="../slideLayouts/slideLayout108.xml"/><Relationship Id="rId1" Type="http://schemas.openxmlformats.org/officeDocument/2006/relationships/slideLayout" Target="../slideLayouts/slideLayout97.xml"/><Relationship Id="rId2" Type="http://schemas.openxmlformats.org/officeDocument/2006/relationships/slideLayout" Target="../slideLayouts/slideLayout98.xml"/><Relationship Id="rId3" Type="http://schemas.openxmlformats.org/officeDocument/2006/relationships/slideLayout" Target="../slideLayouts/slideLayout99.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5" Type="http://schemas.openxmlformats.org/officeDocument/2006/relationships/slideLayout" Target="../slideLayouts/slideLayout101.xml"/><Relationship Id="rId6" Type="http://schemas.openxmlformats.org/officeDocument/2006/relationships/slideLayout" Target="../slideLayouts/slideLayout102.xml"/><Relationship Id="rId7" Type="http://schemas.openxmlformats.org/officeDocument/2006/relationships/slideLayout" Target="../slideLayouts/slideLayout103.xml"/><Relationship Id="rId8" Type="http://schemas.openxmlformats.org/officeDocument/2006/relationships/slideLayout" Target="../slideLayouts/slideLayout104.xml"/></Relationships>
</file>

<file path=ppt/slideMasters/_rels/slideMaster10.xml.rels><?xml version="1.0" encoding="UTF-8" standalone="yes"?><Relationships xmlns="http://schemas.openxmlformats.org/package/2006/relationships"><Relationship Id="rId11" Type="http://schemas.openxmlformats.org/officeDocument/2006/relationships/slideLayout" Target="../slideLayouts/slideLayout119.xml"/><Relationship Id="rId10" Type="http://schemas.openxmlformats.org/officeDocument/2006/relationships/slideLayout" Target="../slideLayouts/slideLayout118.xml"/><Relationship Id="rId13" Type="http://schemas.openxmlformats.org/officeDocument/2006/relationships/theme" Target="../theme/theme3.xml"/><Relationship Id="rId12" Type="http://schemas.openxmlformats.org/officeDocument/2006/relationships/slideLayout" Target="../slideLayouts/slideLayout120.xml"/><Relationship Id="rId1" Type="http://schemas.openxmlformats.org/officeDocument/2006/relationships/slideLayout" Target="../slideLayouts/slideLayout109.xml"/><Relationship Id="rId2" Type="http://schemas.openxmlformats.org/officeDocument/2006/relationships/slideLayout" Target="../slideLayouts/slideLayout110.xml"/><Relationship Id="rId3" Type="http://schemas.openxmlformats.org/officeDocument/2006/relationships/slideLayout" Target="../slideLayouts/slideLayout111.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5" Type="http://schemas.openxmlformats.org/officeDocument/2006/relationships/slideLayout" Target="../slideLayouts/slideLayout113.xml"/><Relationship Id="rId6" Type="http://schemas.openxmlformats.org/officeDocument/2006/relationships/slideLayout" Target="../slideLayouts/slideLayout114.xml"/><Relationship Id="rId7" Type="http://schemas.openxmlformats.org/officeDocument/2006/relationships/slideLayout" Target="../slideLayouts/slideLayout115.xml"/><Relationship Id="rId8" Type="http://schemas.openxmlformats.org/officeDocument/2006/relationships/slideLayout" Target="../slideLayouts/slideLayout1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39" r="39" t="0"/>
          <a:stretch/>
        </p:blipFill>
        <p:spPr>
          <a:xfrm>
            <a:off x="374760" y="4629240"/>
            <a:ext cx="847080" cy="347040"/>
          </a:xfrm>
          <a:prstGeom prst="rect">
            <a:avLst/>
          </a:prstGeom>
          <a:noFill/>
          <a:ln>
            <a:noFill/>
          </a:ln>
        </p:spPr>
      </p:pic>
      <p:sp>
        <p:nvSpPr>
          <p:cNvPr id="11" name="Google Shape;11;p1"/>
          <p:cNvSpPr/>
          <p:nvPr/>
        </p:nvSpPr>
        <p:spPr>
          <a:xfrm>
            <a:off x="2377800" y="4800240"/>
            <a:ext cx="3488760" cy="9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Verizon confidential and proprietary. Unauthorized disclosure, reproduction or other use prohibited.</a:t>
            </a:r>
            <a:endParaRPr b="0" i="0" sz="600" u="none" cap="none" strike="noStrike">
              <a:latin typeface="Arial"/>
              <a:ea typeface="Arial"/>
              <a:cs typeface="Arial"/>
              <a:sym typeface="Arial"/>
            </a:endParaRPr>
          </a:p>
        </p:txBody>
      </p:sp>
      <p:sp>
        <p:nvSpPr>
          <p:cNvPr id="12" name="Google Shape;12;p1"/>
          <p:cNvSpPr/>
          <p:nvPr/>
        </p:nvSpPr>
        <p:spPr>
          <a:xfrm>
            <a:off x="5866920" y="4800240"/>
            <a:ext cx="597240" cy="9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 2025 Verizon</a:t>
            </a:r>
            <a:endParaRPr b="0" i="0" sz="600" u="none" cap="none" strike="noStrike">
              <a:latin typeface="Arial"/>
              <a:ea typeface="Arial"/>
              <a:cs typeface="Arial"/>
              <a:sym typeface="Arial"/>
            </a:endParaRPr>
          </a:p>
        </p:txBody>
      </p:sp>
      <p:sp>
        <p:nvSpPr>
          <p:cNvPr id="13" name="Google Shape;13;p1"/>
          <p:cNvSpPr/>
          <p:nvPr/>
        </p:nvSpPr>
        <p:spPr>
          <a:xfrm>
            <a:off x="178200" y="4668840"/>
            <a:ext cx="6554520" cy="30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txBox="1"/>
          <p:nvPr>
            <p:ph idx="1" type="body"/>
          </p:nvPr>
        </p:nvSpPr>
        <p:spPr>
          <a:xfrm>
            <a:off x="457200" y="2615040"/>
            <a:ext cx="6800760" cy="6055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5" name="Google Shape;15;p1"/>
          <p:cNvSpPr txBox="1"/>
          <p:nvPr>
            <p:ph type="title"/>
          </p:nvPr>
        </p:nvSpPr>
        <p:spPr>
          <a:xfrm>
            <a:off x="455400" y="374760"/>
            <a:ext cx="6114960" cy="13251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457200" y="59436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 type="body"/>
          </p:nvPr>
        </p:nvSpPr>
        <p:spPr>
          <a:xfrm>
            <a:off x="457200" y="1459440"/>
            <a:ext cx="7086240" cy="30171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7" name="Google Shape;67;p14"/>
          <p:cNvSpPr txBox="1"/>
          <p:nvPr>
            <p:ph idx="12" type="sldNum"/>
          </p:nvPr>
        </p:nvSpPr>
        <p:spPr>
          <a:xfrm>
            <a:off x="8458200" y="4700160"/>
            <a:ext cx="228240" cy="22824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68" name="Google Shape;68;p14"/>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19" name="Google Shape;119;p27"/>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121" name="Google Shape;121;p2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40"/>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172" name="Google Shape;172;p40"/>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3" name="Google Shape;173;p40"/>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4" name="Google Shape;174;p40"/>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sp>
        <p:nvSpPr>
          <p:cNvPr id="224" name="Google Shape;224;p53"/>
          <p:cNvSpPr txBox="1"/>
          <p:nvPr>
            <p:ph type="title"/>
          </p:nvPr>
        </p:nvSpPr>
        <p:spPr>
          <a:xfrm>
            <a:off x="457200" y="590400"/>
            <a:ext cx="7086240" cy="57132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5" name="Google Shape;225;p53"/>
          <p:cNvSpPr txBox="1"/>
          <p:nvPr>
            <p:ph idx="1" type="body"/>
          </p:nvPr>
        </p:nvSpPr>
        <p:spPr>
          <a:xfrm>
            <a:off x="457200" y="1352520"/>
            <a:ext cx="7086240" cy="30859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26" name="Google Shape;226;p53"/>
          <p:cNvSpPr txBox="1"/>
          <p:nvPr>
            <p:ph idx="12" type="sldNum"/>
          </p:nvPr>
        </p:nvSpPr>
        <p:spPr>
          <a:xfrm>
            <a:off x="8458200" y="182412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1" i="0" sz="7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1" i="0" sz="7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1" i="0" sz="7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1" i="0" sz="7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1" i="0" sz="7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1" i="0" sz="7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1" i="0" sz="7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1" i="0" sz="7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1" i="0" sz="7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a:latin typeface="Times New Roman"/>
              <a:ea typeface="Times New Roman"/>
              <a:cs typeface="Times New Roman"/>
              <a:sym typeface="Times New Roman"/>
            </a:endParaRPr>
          </a:p>
        </p:txBody>
      </p:sp>
      <p:sp>
        <p:nvSpPr>
          <p:cNvPr id="227" name="Google Shape;227;p53"/>
          <p:cNvSpPr/>
          <p:nvPr/>
        </p:nvSpPr>
        <p:spPr>
          <a:xfrm>
            <a:off x="475920" y="468720"/>
            <a:ext cx="8229240" cy="360"/>
          </a:xfrm>
          <a:custGeom>
            <a:rect b="b" l="l" r="r" t="t"/>
            <a:pathLst>
              <a:path extrusionOk="0" h="21600" w="21600">
                <a:moveTo>
                  <a:pt x="0" y="0"/>
                </a:moveTo>
                <a:lnTo>
                  <a:pt x="21600" y="21600"/>
                </a:lnTo>
              </a:path>
            </a:pathLst>
          </a:custGeom>
          <a:solidFill>
            <a:srgbClr val="0089EC"/>
          </a:solidFill>
          <a:ln cap="flat" cmpd="sng" w="25550">
            <a:solidFill>
              <a:srgbClr val="000000"/>
            </a:solidFill>
            <a:prstDash val="solid"/>
            <a:round/>
            <a:headEnd len="sm" w="sm" type="none"/>
            <a:tailEnd len="sm" w="sm" type="none"/>
          </a:ln>
        </p:spPr>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66"/>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278" name="Google Shape;278;p66"/>
          <p:cNvSpPr txBox="1"/>
          <p:nvPr>
            <p:ph type="title"/>
          </p:nvPr>
        </p:nvSpPr>
        <p:spPr>
          <a:xfrm>
            <a:off x="457200" y="59040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9" name="Google Shape;279;p6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8" name="Shape 328"/>
        <p:cNvGrpSpPr/>
        <p:nvPr/>
      </p:nvGrpSpPr>
      <p:grpSpPr>
        <a:xfrm>
          <a:off x="0" y="0"/>
          <a:ext cx="0" cy="0"/>
          <a:chOff x="0" y="0"/>
          <a:chExt cx="0" cy="0"/>
        </a:xfrm>
      </p:grpSpPr>
      <p:sp>
        <p:nvSpPr>
          <p:cNvPr id="329" name="Google Shape;329;p79"/>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Verizon confidential and proprietary. Unauthorized disclosure, reproduction or other use prohibited.</a:t>
            </a:r>
            <a:endParaRPr b="0" i="0" sz="600" u="none" cap="none" strike="noStrike">
              <a:latin typeface="Arial"/>
              <a:ea typeface="Arial"/>
              <a:cs typeface="Arial"/>
              <a:sym typeface="Arial"/>
            </a:endParaRPr>
          </a:p>
        </p:txBody>
      </p:sp>
      <p:sp>
        <p:nvSpPr>
          <p:cNvPr id="330" name="Google Shape;330;p79"/>
          <p:cNvSpPr txBox="1"/>
          <p:nvPr>
            <p:ph idx="1" type="body"/>
          </p:nvPr>
        </p:nvSpPr>
        <p:spPr>
          <a:xfrm>
            <a:off x="473760" y="2629080"/>
            <a:ext cx="4046760" cy="13143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31" name="Google Shape;331;p79"/>
          <p:cNvSpPr txBox="1"/>
          <p:nvPr>
            <p:ph type="title"/>
          </p:nvPr>
        </p:nvSpPr>
        <p:spPr>
          <a:xfrm>
            <a:off x="473760" y="469080"/>
            <a:ext cx="6800760" cy="132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32" name="Google Shape;332;p79"/>
          <p:cNvSpPr txBox="1"/>
          <p:nvPr>
            <p:ph idx="12" type="sldNum"/>
          </p:nvPr>
        </p:nvSpPr>
        <p:spPr>
          <a:xfrm>
            <a:off x="8317440" y="4726080"/>
            <a:ext cx="352080" cy="298332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100" u="none" cap="none" strike="noStrike">
                <a:solidFill>
                  <a:srgbClr val="FFFFFF"/>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FFFFFF"/>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FFFFFF"/>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FFFFFF"/>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FFFFFF"/>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FFFFFF"/>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FFFFFF"/>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FFFFFF"/>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92"/>
          <p:cNvSpPr/>
          <p:nvPr/>
        </p:nvSpPr>
        <p:spPr>
          <a:xfrm>
            <a:off x="2607500" y="4868996"/>
            <a:ext cx="3693600" cy="13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US" sz="600"/>
              <a:t>C</a:t>
            </a:r>
            <a:r>
              <a:rPr b="0" i="0" lang="en-US" sz="600" u="none" cap="none" strike="noStrike">
                <a:solidFill>
                  <a:srgbClr val="000000"/>
                </a:solidFill>
                <a:latin typeface="Arial"/>
                <a:ea typeface="Arial"/>
                <a:cs typeface="Arial"/>
                <a:sym typeface="Arial"/>
              </a:rPr>
              <a:t>onfidential and proprietary. Unauthorized disclosure, reproduction or other use prohibited.</a:t>
            </a:r>
            <a:endParaRPr b="0" i="0" sz="600" u="none" cap="none" strike="noStrike">
              <a:latin typeface="Arial"/>
              <a:ea typeface="Arial"/>
              <a:cs typeface="Arial"/>
              <a:sym typeface="Arial"/>
            </a:endParaRPr>
          </a:p>
        </p:txBody>
      </p:sp>
      <p:sp>
        <p:nvSpPr>
          <p:cNvPr id="383" name="Google Shape;383;p92"/>
          <p:cNvSpPr txBox="1"/>
          <p:nvPr>
            <p:ph idx="1" type="body"/>
          </p:nvPr>
        </p:nvSpPr>
        <p:spPr>
          <a:xfrm>
            <a:off x="457200" y="1097640"/>
            <a:ext cx="7086240" cy="35298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84" name="Google Shape;384;p92"/>
          <p:cNvSpPr txBox="1"/>
          <p:nvPr>
            <p:ph idx="12" type="sldNum"/>
          </p:nvPr>
        </p:nvSpPr>
        <p:spPr>
          <a:xfrm>
            <a:off x="8458200" y="1885680"/>
            <a:ext cx="228240" cy="298332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buNone/>
              <a:defRPr b="0" i="0" sz="1100" u="none" cap="none" strike="noStrike">
                <a:solidFill>
                  <a:srgbClr val="000000"/>
                </a:solidFill>
                <a:latin typeface="Arial"/>
                <a:ea typeface="Arial"/>
                <a:cs typeface="Arial"/>
                <a:sym typeface="Arial"/>
              </a:defRPr>
            </a:lvl1pPr>
            <a:lvl2pPr indent="0" lvl="1" marL="0" marR="0" rtl="0" algn="r">
              <a:lnSpc>
                <a:spcPct val="100000"/>
              </a:lnSpc>
              <a:spcBef>
                <a:spcPts val="0"/>
              </a:spcBef>
              <a:buNone/>
              <a:defRPr b="0" i="0" sz="1100" u="none" cap="none" strike="noStrike">
                <a:solidFill>
                  <a:srgbClr val="000000"/>
                </a:solidFill>
                <a:latin typeface="Arial"/>
                <a:ea typeface="Arial"/>
                <a:cs typeface="Arial"/>
                <a:sym typeface="Arial"/>
              </a:defRPr>
            </a:lvl2pPr>
            <a:lvl3pPr indent="0" lvl="2" marL="0" marR="0" rtl="0" algn="r">
              <a:lnSpc>
                <a:spcPct val="100000"/>
              </a:lnSpc>
              <a:spcBef>
                <a:spcPts val="0"/>
              </a:spcBef>
              <a:buNone/>
              <a:defRPr b="0" i="0" sz="1100" u="none" cap="none" strike="noStrike">
                <a:solidFill>
                  <a:srgbClr val="000000"/>
                </a:solidFill>
                <a:latin typeface="Arial"/>
                <a:ea typeface="Arial"/>
                <a:cs typeface="Arial"/>
                <a:sym typeface="Arial"/>
              </a:defRPr>
            </a:lvl3pPr>
            <a:lvl4pPr indent="0" lvl="3" marL="0" marR="0" rtl="0" algn="r">
              <a:lnSpc>
                <a:spcPct val="100000"/>
              </a:lnSpc>
              <a:spcBef>
                <a:spcPts val="0"/>
              </a:spcBef>
              <a:buNone/>
              <a:defRPr b="0" i="0" sz="1100" u="none" cap="none" strike="noStrike">
                <a:solidFill>
                  <a:srgbClr val="000000"/>
                </a:solidFill>
                <a:latin typeface="Arial"/>
                <a:ea typeface="Arial"/>
                <a:cs typeface="Arial"/>
                <a:sym typeface="Arial"/>
              </a:defRPr>
            </a:lvl4pPr>
            <a:lvl5pPr indent="0" lvl="4" marL="0" marR="0" rtl="0" algn="r">
              <a:lnSpc>
                <a:spcPct val="100000"/>
              </a:lnSpc>
              <a:spcBef>
                <a:spcPts val="0"/>
              </a:spcBef>
              <a:buNone/>
              <a:defRPr b="0" i="0" sz="1100" u="none" cap="none" strike="noStrike">
                <a:solidFill>
                  <a:srgbClr val="000000"/>
                </a:solidFill>
                <a:latin typeface="Arial"/>
                <a:ea typeface="Arial"/>
                <a:cs typeface="Arial"/>
                <a:sym typeface="Arial"/>
              </a:defRPr>
            </a:lvl5pPr>
            <a:lvl6pPr indent="0" lvl="5" marL="0" marR="0" rtl="0" algn="r">
              <a:lnSpc>
                <a:spcPct val="100000"/>
              </a:lnSpc>
              <a:spcBef>
                <a:spcPts val="0"/>
              </a:spcBef>
              <a:buNone/>
              <a:defRPr b="0" i="0" sz="1100" u="none" cap="none" strike="noStrike">
                <a:solidFill>
                  <a:srgbClr val="000000"/>
                </a:solidFill>
                <a:latin typeface="Arial"/>
                <a:ea typeface="Arial"/>
                <a:cs typeface="Arial"/>
                <a:sym typeface="Arial"/>
              </a:defRPr>
            </a:lvl6pPr>
            <a:lvl7pPr indent="0" lvl="6" marL="0" marR="0" rtl="0" algn="r">
              <a:lnSpc>
                <a:spcPct val="100000"/>
              </a:lnSpc>
              <a:spcBef>
                <a:spcPts val="0"/>
              </a:spcBef>
              <a:buNone/>
              <a:defRPr b="0" i="0" sz="1100" u="none" cap="none" strike="noStrike">
                <a:solidFill>
                  <a:srgbClr val="000000"/>
                </a:solidFill>
                <a:latin typeface="Arial"/>
                <a:ea typeface="Arial"/>
                <a:cs typeface="Arial"/>
                <a:sym typeface="Arial"/>
              </a:defRPr>
            </a:lvl7pPr>
            <a:lvl8pPr indent="0" lvl="7" marL="0" marR="0" rtl="0" algn="r">
              <a:lnSpc>
                <a:spcPct val="100000"/>
              </a:lnSpc>
              <a:spcBef>
                <a:spcPts val="0"/>
              </a:spcBef>
              <a:buNone/>
              <a:defRPr b="0" i="0" sz="1100" u="none" cap="none" strike="noStrike">
                <a:solidFill>
                  <a:srgbClr val="000000"/>
                </a:solidFill>
                <a:latin typeface="Arial"/>
                <a:ea typeface="Arial"/>
                <a:cs typeface="Arial"/>
                <a:sym typeface="Arial"/>
              </a:defRPr>
            </a:lvl8pPr>
            <a:lvl9pPr indent="0" lvl="8" marL="0" marR="0" rtl="0" algn="r">
              <a:lnSpc>
                <a:spcPct val="100000"/>
              </a:lnSpc>
              <a:spcBef>
                <a:spcPts val="0"/>
              </a:spcBef>
              <a:buNone/>
              <a:defRPr b="0" i="0" sz="11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latin typeface="Times New Roman"/>
              <a:ea typeface="Times New Roman"/>
              <a:cs typeface="Times New Roman"/>
              <a:sym typeface="Times New Roman"/>
            </a:endParaRPr>
          </a:p>
        </p:txBody>
      </p:sp>
      <p:sp>
        <p:nvSpPr>
          <p:cNvPr id="385" name="Google Shape;385;p92"/>
          <p:cNvSpPr/>
          <p:nvPr/>
        </p:nvSpPr>
        <p:spPr>
          <a:xfrm>
            <a:off x="457200" y="34308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386" name="Google Shape;386;p92"/>
          <p:cNvSpPr txBox="1"/>
          <p:nvPr>
            <p:ph type="title"/>
          </p:nvPr>
        </p:nvSpPr>
        <p:spPr>
          <a:xfrm>
            <a:off x="457200" y="590400"/>
            <a:ext cx="7086240" cy="685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105"/>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US" sz="600"/>
              <a:t>C</a:t>
            </a:r>
            <a:r>
              <a:rPr b="0" i="0" lang="en-US" sz="600" u="none" cap="none" strike="noStrike">
                <a:solidFill>
                  <a:srgbClr val="000000"/>
                </a:solidFill>
                <a:latin typeface="Arial"/>
                <a:ea typeface="Arial"/>
                <a:cs typeface="Arial"/>
                <a:sym typeface="Arial"/>
              </a:rPr>
              <a:t>onfidential and proprietary. Unauthorized disclosure, reproduction or other use prohibited.</a:t>
            </a:r>
            <a:endParaRPr b="0" i="0" sz="600" u="none" cap="none" strike="noStrike">
              <a:latin typeface="Arial"/>
              <a:ea typeface="Arial"/>
              <a:cs typeface="Arial"/>
              <a:sym typeface="Arial"/>
            </a:endParaRPr>
          </a:p>
        </p:txBody>
      </p:sp>
      <p:sp>
        <p:nvSpPr>
          <p:cNvPr id="437" name="Google Shape;437;p105"/>
          <p:cNvSpPr txBox="1"/>
          <p:nvPr>
            <p:ph type="title"/>
          </p:nvPr>
        </p:nvSpPr>
        <p:spPr>
          <a:xfrm>
            <a:off x="457200" y="544680"/>
            <a:ext cx="8229240" cy="2952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38" name="Google Shape;438;p105"/>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439" name="Google Shape;439;p105"/>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440" name="Google Shape;440;p10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9" name="Shape 489"/>
        <p:cNvGrpSpPr/>
        <p:nvPr/>
      </p:nvGrpSpPr>
      <p:grpSpPr>
        <a:xfrm>
          <a:off x="0" y="0"/>
          <a:ext cx="0" cy="0"/>
          <a:chOff x="0" y="0"/>
          <a:chExt cx="0" cy="0"/>
        </a:xfrm>
      </p:grpSpPr>
      <p:sp>
        <p:nvSpPr>
          <p:cNvPr id="490" name="Google Shape;490;p118"/>
          <p:cNvSpPr/>
          <p:nvPr/>
        </p:nvSpPr>
        <p:spPr>
          <a:xfrm>
            <a:off x="2625480" y="4761360"/>
            <a:ext cx="3693600" cy="91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lang="en-US" sz="600"/>
              <a:t>Co</a:t>
            </a:r>
            <a:r>
              <a:rPr b="0" i="0" lang="en-US" sz="600" u="none" cap="none" strike="noStrike">
                <a:solidFill>
                  <a:srgbClr val="000000"/>
                </a:solidFill>
                <a:latin typeface="Arial"/>
                <a:ea typeface="Arial"/>
                <a:cs typeface="Arial"/>
                <a:sym typeface="Arial"/>
              </a:rPr>
              <a:t>nfidential and proprietary. Unauthorized disclosure, reproduction or other use prohibited.</a:t>
            </a:r>
            <a:endParaRPr b="0" i="0" sz="600" u="none" cap="none" strike="noStrike">
              <a:latin typeface="Arial"/>
              <a:ea typeface="Arial"/>
              <a:cs typeface="Arial"/>
              <a:sym typeface="Arial"/>
            </a:endParaRPr>
          </a:p>
        </p:txBody>
      </p:sp>
      <p:sp>
        <p:nvSpPr>
          <p:cNvPr id="491" name="Google Shape;491;p118"/>
          <p:cNvSpPr/>
          <p:nvPr/>
        </p:nvSpPr>
        <p:spPr>
          <a:xfrm>
            <a:off x="457200" y="457200"/>
            <a:ext cx="8229240" cy="360"/>
          </a:xfrm>
          <a:custGeom>
            <a:rect b="b" l="l" r="r" t="t"/>
            <a:pathLst>
              <a:path extrusionOk="0" h="21600" w="21600">
                <a:moveTo>
                  <a:pt x="0" y="0"/>
                </a:moveTo>
                <a:lnTo>
                  <a:pt x="21600" y="21600"/>
                </a:lnTo>
              </a:path>
            </a:pathLst>
          </a:custGeom>
          <a:noFill/>
          <a:ln cap="flat" cmpd="sng" w="47500">
            <a:solidFill>
              <a:srgbClr val="000000"/>
            </a:solidFill>
            <a:prstDash val="solid"/>
            <a:round/>
            <a:headEnd len="sm" w="sm" type="none"/>
            <a:tailEnd len="sm" w="sm" type="none"/>
          </a:ln>
        </p:spPr>
      </p:sp>
      <p:sp>
        <p:nvSpPr>
          <p:cNvPr id="492" name="Google Shape;492;p118"/>
          <p:cNvSpPr txBox="1"/>
          <p:nvPr>
            <p:ph type="title"/>
          </p:nvPr>
        </p:nvSpPr>
        <p:spPr>
          <a:xfrm>
            <a:off x="457200" y="590400"/>
            <a:ext cx="8229240" cy="8589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93" name="Google Shape;493;p118"/>
          <p:cNvSpPr/>
          <p:nvPr/>
        </p:nvSpPr>
        <p:spPr>
          <a:xfrm>
            <a:off x="8458200" y="4700160"/>
            <a:ext cx="228240" cy="228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1" i="0" lang="en-US" sz="700" u="none" cap="none" strike="noStrike">
                <a:solidFill>
                  <a:srgbClr val="000000"/>
                </a:solidFill>
                <a:latin typeface="Arial"/>
                <a:ea typeface="Arial"/>
                <a:cs typeface="Arial"/>
                <a:sym typeface="Arial"/>
              </a:rPr>
              <a:t>‹#›</a:t>
            </a:fld>
            <a:endParaRPr b="0" i="0" sz="700" u="none" cap="none" strike="noStrike">
              <a:latin typeface="Arial"/>
              <a:ea typeface="Arial"/>
              <a:cs typeface="Arial"/>
              <a:sym typeface="Arial"/>
            </a:endParaRPr>
          </a:p>
        </p:txBody>
      </p:sp>
      <p:sp>
        <p:nvSpPr>
          <p:cNvPr id="494" name="Google Shape;494;p118"/>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 Id="rId3" Type="http://schemas.openxmlformats.org/officeDocument/2006/relationships/image" Target="../media/image6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98.png"/><Relationship Id="rId4" Type="http://schemas.openxmlformats.org/officeDocument/2006/relationships/image" Target="../media/image35.png"/><Relationship Id="rId5" Type="http://schemas.openxmlformats.org/officeDocument/2006/relationships/image" Target="../media/image77.png"/><Relationship Id="rId6" Type="http://schemas.openxmlformats.org/officeDocument/2006/relationships/image" Target="../media/image6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image" Target="../media/image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6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6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6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 Id="rId3"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 Id="rId3" Type="http://schemas.openxmlformats.org/officeDocument/2006/relationships/image" Target="../media/image6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6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3.xml"/><Relationship Id="rId3"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61.png"/></Relationships>
</file>

<file path=ppt/slides/_rels/slide17.xml.rels><?xml version="1.0" encoding="UTF-8" standalone="yes"?><Relationships xmlns="http://schemas.openxmlformats.org/package/2006/relationships"><Relationship Id="rId10" Type="http://schemas.openxmlformats.org/officeDocument/2006/relationships/image" Target="../media/image61.png"/><Relationship Id="rId1" Type="http://schemas.openxmlformats.org/officeDocument/2006/relationships/slideLayout" Target="../slideLayouts/slideLayout6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75.png"/><Relationship Id="rId5" Type="http://schemas.openxmlformats.org/officeDocument/2006/relationships/image" Target="../media/image24.png"/><Relationship Id="rId6" Type="http://schemas.openxmlformats.org/officeDocument/2006/relationships/image" Target="../media/image21.png"/><Relationship Id="rId7" Type="http://schemas.openxmlformats.org/officeDocument/2006/relationships/image" Target="../media/image26.png"/><Relationship Id="rId8"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 Id="rId3" Type="http://schemas.openxmlformats.org/officeDocument/2006/relationships/image" Target="../media/image86.png"/><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 Id="rId3"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 Id="rId3"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6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76.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 Id="rId3" Type="http://schemas.openxmlformats.org/officeDocument/2006/relationships/image" Target="../media/image72.png"/><Relationship Id="rId4" Type="http://schemas.openxmlformats.org/officeDocument/2006/relationships/image" Target="../media/image93.png"/><Relationship Id="rId5" Type="http://schemas.openxmlformats.org/officeDocument/2006/relationships/image" Target="../media/image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xml"/><Relationship Id="rId3" Type="http://schemas.openxmlformats.org/officeDocument/2006/relationships/image" Target="../media/image72.png"/><Relationship Id="rId4" Type="http://schemas.openxmlformats.org/officeDocument/2006/relationships/image" Target="../media/image87.png"/><Relationship Id="rId5" Type="http://schemas.openxmlformats.org/officeDocument/2006/relationships/image" Target="../media/image93.png"/><Relationship Id="rId6"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 Id="rId3" Type="http://schemas.openxmlformats.org/officeDocument/2006/relationships/image" Target="../media/image8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notesSlide" Target="../notesSlides/notesSlide30.xml"/><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3.xml"/><Relationship Id="rId3" Type="http://schemas.openxmlformats.org/officeDocument/2006/relationships/image" Target="../media/image1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4.xml"/><Relationship Id="rId3" Type="http://schemas.openxmlformats.org/officeDocument/2006/relationships/image" Target="../media/image89.png"/><Relationship Id="rId4" Type="http://schemas.openxmlformats.org/officeDocument/2006/relationships/image" Target="../media/image101.png"/><Relationship Id="rId5" Type="http://schemas.openxmlformats.org/officeDocument/2006/relationships/image" Target="../media/image98.png"/><Relationship Id="rId6" Type="http://schemas.openxmlformats.org/officeDocument/2006/relationships/image" Target="../media/image35.png"/><Relationship Id="rId7"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 Id="rId3"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Relationship Id="rId3" Type="http://schemas.openxmlformats.org/officeDocument/2006/relationships/image" Target="../media/image6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7.xml"/><Relationship Id="rId3" Type="http://schemas.openxmlformats.org/officeDocument/2006/relationships/image" Target="../media/image103.png"/><Relationship Id="rId4" Type="http://schemas.openxmlformats.org/officeDocument/2006/relationships/image" Target="../media/image72.png"/><Relationship Id="rId5"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38.xml"/><Relationship Id="rId3"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39.xml"/><Relationship Id="rId3" Type="http://schemas.openxmlformats.org/officeDocument/2006/relationships/image" Target="../media/image126.png"/><Relationship Id="rId4" Type="http://schemas.openxmlformats.org/officeDocument/2006/relationships/image" Target="../media/image123.png"/><Relationship Id="rId5" Type="http://schemas.openxmlformats.org/officeDocument/2006/relationships/image" Target="../media/image118.png"/><Relationship Id="rId6" Type="http://schemas.openxmlformats.org/officeDocument/2006/relationships/image" Target="../media/image3.png"/><Relationship Id="rId7" Type="http://schemas.openxmlformats.org/officeDocument/2006/relationships/image" Target="../media/image6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129.png"/><Relationship Id="rId9" Type="http://schemas.openxmlformats.org/officeDocument/2006/relationships/image" Target="../media/image61.png"/><Relationship Id="rId5" Type="http://schemas.openxmlformats.org/officeDocument/2006/relationships/image" Target="../media/image118.png"/><Relationship Id="rId6" Type="http://schemas.openxmlformats.org/officeDocument/2006/relationships/image" Target="../media/image133.png"/><Relationship Id="rId7" Type="http://schemas.openxmlformats.org/officeDocument/2006/relationships/image" Target="../media/image130.png"/><Relationship Id="rId8" Type="http://schemas.openxmlformats.org/officeDocument/2006/relationships/image" Target="../media/image13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1.xml"/><Relationship Id="rId3" Type="http://schemas.openxmlformats.org/officeDocument/2006/relationships/image" Target="../media/image137.jp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hyperlink" Target="https://docs.google.com/presentation/d/18pYTHS_rOknWRM_3MF6pOMYL2S_p9c5OH6EOxuxyW9g/edit#slide=id.g29066e445ce_0_0" TargetMode="External"/><Relationship Id="rId7" Type="http://schemas.openxmlformats.org/officeDocument/2006/relationships/image" Target="../media/image6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2.xml"/><Relationship Id="rId3"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3.xml"/><Relationship Id="rId3"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4.xml"/><Relationship Id="rId3"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image" Target="../media/image6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6.xml"/><Relationship Id="rId3"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31"/>
          <p:cNvSpPr txBox="1"/>
          <p:nvPr/>
        </p:nvSpPr>
        <p:spPr>
          <a:xfrm>
            <a:off x="643450" y="1518735"/>
            <a:ext cx="5487600" cy="1770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4800" u="none" cap="none" strike="noStrike">
                <a:solidFill>
                  <a:srgbClr val="EE001E"/>
                </a:solidFill>
                <a:latin typeface="Arial"/>
                <a:ea typeface="Arial"/>
                <a:cs typeface="Arial"/>
                <a:sym typeface="Arial"/>
              </a:rPr>
              <a:t>Semantic </a:t>
            </a:r>
            <a:r>
              <a:rPr b="1" i="0" lang="en-US" sz="4800" u="none" cap="none" strike="noStrike">
                <a:solidFill>
                  <a:srgbClr val="000000"/>
                </a:solidFill>
                <a:latin typeface="Arial"/>
                <a:ea typeface="Arial"/>
                <a:cs typeface="Arial"/>
                <a:sym typeface="Arial"/>
              </a:rPr>
              <a:t>Governance</a:t>
            </a:r>
            <a:r>
              <a:rPr b="1" i="0" lang="en-US" sz="4800" u="none" cap="none" strike="noStrike">
                <a:solidFill>
                  <a:srgbClr val="EE001E"/>
                </a:solidFill>
                <a:latin typeface="Arial"/>
                <a:ea typeface="Arial"/>
                <a:cs typeface="Arial"/>
                <a:sym typeface="Arial"/>
              </a:rPr>
              <a:t> Walkaround Deck</a:t>
            </a:r>
            <a:endParaRPr b="0" i="0" sz="4800" u="none" cap="none" strike="noStrike">
              <a:solidFill>
                <a:srgbClr val="000000"/>
              </a:solidFill>
              <a:latin typeface="Arial"/>
              <a:ea typeface="Arial"/>
              <a:cs typeface="Arial"/>
              <a:sym typeface="Arial"/>
            </a:endParaRPr>
          </a:p>
        </p:txBody>
      </p:sp>
      <p:grpSp>
        <p:nvGrpSpPr>
          <p:cNvPr id="548" name="Google Shape;548;p131"/>
          <p:cNvGrpSpPr/>
          <p:nvPr/>
        </p:nvGrpSpPr>
        <p:grpSpPr>
          <a:xfrm>
            <a:off x="6789375" y="1931780"/>
            <a:ext cx="1323360" cy="1514520"/>
            <a:chOff x="6703200" y="631080"/>
            <a:chExt cx="1323360" cy="1514520"/>
          </a:xfrm>
        </p:grpSpPr>
        <p:sp>
          <p:nvSpPr>
            <p:cNvPr id="549" name="Google Shape;549;p131"/>
            <p:cNvSpPr/>
            <p:nvPr/>
          </p:nvSpPr>
          <p:spPr>
            <a:xfrm>
              <a:off x="6703200" y="631080"/>
              <a:ext cx="1323360" cy="151416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0" name="Google Shape;550;p131"/>
            <p:cNvGrpSpPr/>
            <p:nvPr/>
          </p:nvGrpSpPr>
          <p:grpSpPr>
            <a:xfrm>
              <a:off x="6789240" y="631080"/>
              <a:ext cx="1237320" cy="1514520"/>
              <a:chOff x="6789240" y="631080"/>
              <a:chExt cx="1237320" cy="1514520"/>
            </a:xfrm>
          </p:grpSpPr>
          <p:pic>
            <p:nvPicPr>
              <p:cNvPr id="551" name="Google Shape;551;p131"/>
              <p:cNvPicPr preferRelativeResize="0"/>
              <p:nvPr/>
            </p:nvPicPr>
            <p:blipFill rotWithShape="1">
              <a:blip r:embed="rId3">
                <a:alphaModFix/>
              </a:blip>
              <a:srcRect b="0" l="20669" r="9844" t="0"/>
              <a:stretch/>
            </p:blipFill>
            <p:spPr>
              <a:xfrm>
                <a:off x="6789240" y="631080"/>
                <a:ext cx="1182600" cy="1182600"/>
              </a:xfrm>
              <a:prstGeom prst="rect">
                <a:avLst/>
              </a:prstGeom>
              <a:noFill/>
              <a:ln>
                <a:noFill/>
              </a:ln>
            </p:spPr>
          </p:pic>
          <p:sp>
            <p:nvSpPr>
              <p:cNvPr id="552" name="Google Shape;552;p131"/>
              <p:cNvSpPr/>
              <p:nvPr/>
            </p:nvSpPr>
            <p:spPr>
              <a:xfrm>
                <a:off x="6789240" y="1730520"/>
                <a:ext cx="1237320" cy="415080"/>
              </a:xfrm>
              <a:prstGeom prst="rect">
                <a:avLst/>
              </a:prstGeom>
              <a:noFill/>
              <a:ln>
                <a:noFill/>
              </a:ln>
            </p:spPr>
            <p:txBody>
              <a:bodyPr anchorCtr="0" anchor="ctr" bIns="95025" lIns="95025" spcFirstLastPara="1" rIns="95025" wrap="square" tIns="95025">
                <a:noAutofit/>
              </a:bodyPr>
              <a:lstStyle/>
              <a:p>
                <a:pPr indent="0" lvl="0" marL="0" marR="0" rtl="0" algn="ctr">
                  <a:lnSpc>
                    <a:spcPct val="100000"/>
                  </a:lnSpc>
                  <a:spcBef>
                    <a:spcPts val="0"/>
                  </a:spcBef>
                  <a:spcAft>
                    <a:spcPts val="0"/>
                  </a:spcAft>
                  <a:buNone/>
                </a:pPr>
                <a:r>
                  <a:rPr b="1" i="0" lang="en-US" sz="1350" u="none" cap="none" strike="noStrike">
                    <a:solidFill>
                      <a:srgbClr val="EE001E"/>
                    </a:solidFill>
                    <a:latin typeface="Arial"/>
                    <a:ea typeface="Arial"/>
                    <a:cs typeface="Arial"/>
                    <a:sym typeface="Arial"/>
                  </a:rPr>
                  <a:t>SEMANTIC</a:t>
                </a:r>
                <a:endParaRPr b="0" i="0" sz="135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350" u="none" cap="none" strike="noStrike">
                    <a:solidFill>
                      <a:srgbClr val="000000"/>
                    </a:solidFill>
                    <a:latin typeface="Arial"/>
                    <a:ea typeface="Arial"/>
                    <a:cs typeface="Arial"/>
                    <a:sym typeface="Arial"/>
                  </a:rPr>
                  <a:t>Governance</a:t>
                </a:r>
                <a:endParaRPr b="0" i="0" sz="1350" u="none" cap="none" strike="noStrike">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32"/>
          <p:cNvSpPr txBox="1"/>
          <p:nvPr/>
        </p:nvSpPr>
        <p:spPr>
          <a:xfrm>
            <a:off x="457200" y="155520"/>
            <a:ext cx="483660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Governance?</a:t>
            </a:r>
            <a:endParaRPr b="0" i="0" sz="1800" u="none" cap="none" strike="noStrike">
              <a:solidFill>
                <a:srgbClr val="000000"/>
              </a:solidFill>
              <a:latin typeface="Arial"/>
              <a:ea typeface="Arial"/>
              <a:cs typeface="Arial"/>
              <a:sym typeface="Arial"/>
            </a:endParaRPr>
          </a:p>
        </p:txBody>
      </p:sp>
      <p:sp>
        <p:nvSpPr>
          <p:cNvPr id="558" name="Google Shape;558;p132"/>
          <p:cNvSpPr/>
          <p:nvPr/>
        </p:nvSpPr>
        <p:spPr>
          <a:xfrm>
            <a:off x="402480" y="941760"/>
            <a:ext cx="8194680" cy="331596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Semantic Governance helps users access data using </a:t>
            </a:r>
            <a:r>
              <a:rPr b="1" i="0" lang="en-US" sz="1500" u="none" cap="none" strike="noStrike">
                <a:solidFill>
                  <a:srgbClr val="747676"/>
                </a:solidFill>
                <a:latin typeface="Arial"/>
                <a:ea typeface="Arial"/>
                <a:cs typeface="Arial"/>
                <a:sym typeface="Arial"/>
              </a:rPr>
              <a:t>familiar terms</a:t>
            </a:r>
            <a:r>
              <a:rPr b="0" i="0" lang="en-US" sz="1500" u="none" cap="none" strike="noStrike">
                <a:solidFill>
                  <a:srgbClr val="747676"/>
                </a:solidFill>
                <a:latin typeface="Arial"/>
                <a:ea typeface="Arial"/>
                <a:cs typeface="Arial"/>
                <a:sym typeface="Arial"/>
              </a:rPr>
              <a:t> (not necessarily those in the glossary of terms in a catalog or perhaps an enterprise dictionary). Semantics are associated with a point of view (</a:t>
            </a:r>
            <a:r>
              <a:rPr b="1" i="0" lang="en-US" sz="1500" u="none" cap="none" strike="noStrike">
                <a:solidFill>
                  <a:srgbClr val="747676"/>
                </a:solidFill>
                <a:latin typeface="Arial"/>
                <a:ea typeface="Arial"/>
                <a:cs typeface="Arial"/>
                <a:sym typeface="Arial"/>
              </a:rPr>
              <a:t>POV</a:t>
            </a:r>
            <a:r>
              <a:rPr b="0" i="0" lang="en-US" sz="1500" u="none" cap="none" strike="noStrike">
                <a:solidFill>
                  <a:srgbClr val="747676"/>
                </a:solidFill>
                <a:latin typeface="Arial"/>
                <a:ea typeface="Arial"/>
                <a:cs typeface="Arial"/>
                <a:sym typeface="Arial"/>
              </a:rPr>
              <a:t>) for a persona and/or a point in context (</a:t>
            </a:r>
            <a:r>
              <a:rPr b="1" i="0" lang="en-US" sz="1500" u="none" cap="none" strike="noStrike">
                <a:solidFill>
                  <a:srgbClr val="747676"/>
                </a:solidFill>
                <a:latin typeface="Arial"/>
                <a:ea typeface="Arial"/>
                <a:cs typeface="Arial"/>
                <a:sym typeface="Arial"/>
              </a:rPr>
              <a:t>scenario</a:t>
            </a:r>
            <a:r>
              <a:rPr b="0" i="0" lang="en-US" sz="1500" u="none" cap="none" strike="noStrike">
                <a:solidFill>
                  <a:srgbClr val="747676"/>
                </a:solidFill>
                <a:latin typeface="Arial"/>
                <a:ea typeface="Arial"/>
                <a:cs typeface="Arial"/>
                <a:sym typeface="Arial"/>
              </a:rPr>
              <a:t>). But, it's more than just simple mapping of terms. It extends to phrases that can be interpreted and mapped to complex data. The semantic layer provides contextual relevance for our analytics so we can harmonize points of view into a holistic and consistent understanding.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HOW:</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In order to achieve a consistent meaning of content it must be informed by context that is relevant (mapped to terms that are familiar to Personas) across the organization.  Requires a disciplined effort to curate both the semantics and their mappings to our structured vocabularies and ontologies.</a:t>
            </a:r>
            <a:endParaRPr b="0" i="0" sz="1500" u="none" cap="none" strike="noStrike">
              <a:latin typeface="Arial"/>
              <a:ea typeface="Arial"/>
              <a:cs typeface="Arial"/>
              <a:sym typeface="Arial"/>
            </a:endParaRPr>
          </a:p>
        </p:txBody>
      </p:sp>
      <p:sp>
        <p:nvSpPr>
          <p:cNvPr id="559" name="Google Shape;559;p132"/>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Business Focus</a:t>
            </a:r>
            <a:endParaRPr b="0" i="0" sz="900" u="none" cap="none" strike="noStrike">
              <a:latin typeface="Arial"/>
              <a:ea typeface="Arial"/>
              <a:cs typeface="Arial"/>
              <a:sym typeface="Arial"/>
            </a:endParaRPr>
          </a:p>
        </p:txBody>
      </p:sp>
      <p:grpSp>
        <p:nvGrpSpPr>
          <p:cNvPr id="560" name="Google Shape;560;p132"/>
          <p:cNvGrpSpPr/>
          <p:nvPr/>
        </p:nvGrpSpPr>
        <p:grpSpPr>
          <a:xfrm>
            <a:off x="8546760" y="0"/>
            <a:ext cx="594000" cy="679680"/>
            <a:chOff x="8546760" y="0"/>
            <a:chExt cx="594000" cy="679680"/>
          </a:xfrm>
        </p:grpSpPr>
        <p:sp>
          <p:nvSpPr>
            <p:cNvPr id="561" name="Google Shape;561;p132"/>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132"/>
            <p:cNvGrpSpPr/>
            <p:nvPr/>
          </p:nvGrpSpPr>
          <p:grpSpPr>
            <a:xfrm>
              <a:off x="8585280" y="0"/>
              <a:ext cx="555480" cy="679680"/>
              <a:chOff x="8585280" y="0"/>
              <a:chExt cx="555480" cy="679680"/>
            </a:xfrm>
          </p:grpSpPr>
          <p:pic>
            <p:nvPicPr>
              <p:cNvPr id="563" name="Google Shape;563;p132"/>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564" name="Google Shape;564;p132"/>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33"/>
          <p:cNvSpPr txBox="1"/>
          <p:nvPr/>
        </p:nvSpPr>
        <p:spPr>
          <a:xfrm>
            <a:off x="457200" y="154080"/>
            <a:ext cx="5441400" cy="85896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Why invest in a Semantic Governance?</a:t>
            </a:r>
            <a:endParaRPr b="0" i="0" sz="1800" u="none" cap="none" strike="noStrike">
              <a:solidFill>
                <a:srgbClr val="000000"/>
              </a:solidFill>
              <a:latin typeface="Arial"/>
              <a:ea typeface="Arial"/>
              <a:cs typeface="Arial"/>
              <a:sym typeface="Arial"/>
            </a:endParaRPr>
          </a:p>
        </p:txBody>
      </p:sp>
      <p:sp>
        <p:nvSpPr>
          <p:cNvPr id="570" name="Google Shape;570;p133"/>
          <p:cNvSpPr/>
          <p:nvPr/>
        </p:nvSpPr>
        <p:spPr>
          <a:xfrm>
            <a:off x="457200" y="694080"/>
            <a:ext cx="7141320" cy="296064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What can it do for me?</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Aggregates, integrates, and organizes data and information to create a unified view, making it easily accessible for decision-makers by providing relevant insights and context at the right time.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Provides a structured way to represent information to model relationships, context, and hierarchies to enhance learning, curate context, and connect structured and unstructured  data to help AI understand and interpret data and information to deliver meaningful insights.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Supports continuous learning for AI so it can adapt as new data, context, and information become available and improves insight delivery by enhancing transparency and explainability.</a:t>
            </a:r>
            <a:endParaRPr b="0" i="0" sz="1500" u="none" cap="none" strike="noStrike">
              <a:latin typeface="Arial"/>
              <a:ea typeface="Arial"/>
              <a:cs typeface="Arial"/>
              <a:sym typeface="Arial"/>
            </a:endParaRPr>
          </a:p>
        </p:txBody>
      </p:sp>
      <p:sp>
        <p:nvSpPr>
          <p:cNvPr id="571" name="Google Shape;571;p133"/>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grpSp>
        <p:nvGrpSpPr>
          <p:cNvPr id="572" name="Google Shape;572;p133"/>
          <p:cNvGrpSpPr/>
          <p:nvPr/>
        </p:nvGrpSpPr>
        <p:grpSpPr>
          <a:xfrm>
            <a:off x="8546760" y="0"/>
            <a:ext cx="594000" cy="679680"/>
            <a:chOff x="8546760" y="0"/>
            <a:chExt cx="594000" cy="679680"/>
          </a:xfrm>
        </p:grpSpPr>
        <p:sp>
          <p:nvSpPr>
            <p:cNvPr id="573" name="Google Shape;573;p133"/>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4" name="Google Shape;574;p133"/>
            <p:cNvGrpSpPr/>
            <p:nvPr/>
          </p:nvGrpSpPr>
          <p:grpSpPr>
            <a:xfrm>
              <a:off x="8585280" y="0"/>
              <a:ext cx="555480" cy="679680"/>
              <a:chOff x="8585280" y="0"/>
              <a:chExt cx="555480" cy="679680"/>
            </a:xfrm>
          </p:grpSpPr>
          <p:pic>
            <p:nvPicPr>
              <p:cNvPr id="575" name="Google Shape;575;p133"/>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576" name="Google Shape;576;p133"/>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34"/>
          <p:cNvSpPr txBox="1"/>
          <p:nvPr/>
        </p:nvSpPr>
        <p:spPr>
          <a:xfrm>
            <a:off x="457200" y="16416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How will Semantic Governance help VZ?</a:t>
            </a:r>
            <a:endParaRPr b="0" i="0" sz="1800" u="none" cap="none" strike="noStrike">
              <a:solidFill>
                <a:srgbClr val="000000"/>
              </a:solidFill>
              <a:latin typeface="Arial"/>
              <a:ea typeface="Arial"/>
              <a:cs typeface="Arial"/>
              <a:sym typeface="Arial"/>
            </a:endParaRPr>
          </a:p>
        </p:txBody>
      </p:sp>
      <p:sp>
        <p:nvSpPr>
          <p:cNvPr id="582" name="Google Shape;582;p134"/>
          <p:cNvSpPr/>
          <p:nvPr/>
        </p:nvSpPr>
        <p:spPr>
          <a:xfrm>
            <a:off x="457200" y="720000"/>
            <a:ext cx="8194680" cy="3570120"/>
          </a:xfrm>
          <a:prstGeom prst="rect">
            <a:avLst/>
          </a:prstGeom>
          <a:noFill/>
          <a:ln>
            <a:noFill/>
          </a:ln>
        </p:spPr>
        <p:txBody>
          <a:bodyPr anchorCtr="0" anchor="t" bIns="34200" lIns="68400" spcFirstLastPara="1" rIns="68400" wrap="square" tIns="34200">
            <a:noAutofit/>
          </a:bodyPr>
          <a:lstStyle/>
          <a:p>
            <a:pPr indent="0" lvl="0" marL="0" marR="0" rtl="0" algn="l">
              <a:lnSpc>
                <a:spcPct val="100000"/>
              </a:lnSpc>
              <a:spcBef>
                <a:spcPts val="0"/>
              </a:spcBef>
              <a:spcAft>
                <a:spcPts val="0"/>
              </a:spcAft>
              <a:buNone/>
            </a:pPr>
            <a:r>
              <a:rPr b="1" i="0" lang="en-US" sz="1500" u="none" cap="none" strike="noStrike">
                <a:solidFill>
                  <a:srgbClr val="747676"/>
                </a:solidFill>
                <a:latin typeface="Arial"/>
                <a:ea typeface="Arial"/>
                <a:cs typeface="Arial"/>
                <a:sym typeface="Arial"/>
              </a:rPr>
              <a:t>Key Outcomes:</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Consistent | Connected | Clear understanding about what changed, why things changed, and who might be impacted.  Ensure our Data is FAIR (next slide) and Consumable (search &amp; understand).</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We could leverage the semantic layer to </a:t>
            </a:r>
            <a:r>
              <a:rPr b="1" i="0" lang="en-US" sz="1500" u="none" cap="none" strike="noStrike">
                <a:solidFill>
                  <a:srgbClr val="747676"/>
                </a:solidFill>
                <a:latin typeface="Arial"/>
                <a:ea typeface="Arial"/>
                <a:cs typeface="Arial"/>
                <a:sym typeface="Arial"/>
              </a:rPr>
              <a:t>reduce ambiguity</a:t>
            </a:r>
            <a:r>
              <a:rPr b="0" i="0" lang="en-US" sz="1500" u="none" cap="none" strike="noStrike">
                <a:solidFill>
                  <a:srgbClr val="747676"/>
                </a:solidFill>
                <a:latin typeface="Arial"/>
                <a:ea typeface="Arial"/>
                <a:cs typeface="Arial"/>
                <a:sym typeface="Arial"/>
              </a:rPr>
              <a:t> with different reports about the same topic (for example: Customer Churn could generate multiple reports showing various perspectives, where each is correct but only result in confusion until they are contextually harmonized so we can clarify meaning across a complex set of factors. )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1" i="0" lang="en-US" sz="1500" u="none" cap="none" strike="noStrike">
                <a:solidFill>
                  <a:srgbClr val="747676"/>
                </a:solidFill>
                <a:latin typeface="Arial"/>
                <a:ea typeface="Arial"/>
                <a:cs typeface="Arial"/>
                <a:sym typeface="Arial"/>
              </a:rPr>
              <a:t>Goal:</a:t>
            </a:r>
            <a:endParaRPr b="0" i="0" sz="1500" u="none" cap="none" strike="noStrike">
              <a:latin typeface="Arial"/>
              <a:ea typeface="Arial"/>
              <a:cs typeface="Arial"/>
              <a:sym typeface="Arial"/>
            </a:endParaRPr>
          </a:p>
          <a:p>
            <a:pPr indent="0" lvl="0" marL="0" marR="0" rtl="0" algn="l">
              <a:lnSpc>
                <a:spcPct val="100000"/>
              </a:lnSpc>
              <a:spcBef>
                <a:spcPts val="1001"/>
              </a:spcBef>
              <a:spcAft>
                <a:spcPts val="0"/>
              </a:spcAft>
              <a:buNone/>
            </a:pPr>
            <a:r>
              <a:rPr b="0" i="0" lang="en-US" sz="1500" u="none" cap="none" strike="noStrike">
                <a:solidFill>
                  <a:srgbClr val="747676"/>
                </a:solidFill>
                <a:latin typeface="Arial"/>
                <a:ea typeface="Arial"/>
                <a:cs typeface="Arial"/>
                <a:sym typeface="Arial"/>
              </a:rPr>
              <a:t>Deliver </a:t>
            </a:r>
            <a:r>
              <a:rPr b="1" i="0" lang="en-US" sz="1500" u="none" cap="none" strike="noStrike">
                <a:solidFill>
                  <a:srgbClr val="747676"/>
                </a:solidFill>
                <a:latin typeface="Arial"/>
                <a:ea typeface="Arial"/>
                <a:cs typeface="Arial"/>
                <a:sym typeface="Arial"/>
              </a:rPr>
              <a:t>adaptable</a:t>
            </a:r>
            <a:r>
              <a:rPr b="0" i="0" lang="en-US" sz="1500" u="none" cap="none" strike="noStrike">
                <a:solidFill>
                  <a:srgbClr val="747676"/>
                </a:solidFill>
                <a:latin typeface="Arial"/>
                <a:ea typeface="Arial"/>
                <a:cs typeface="Arial"/>
                <a:sym typeface="Arial"/>
              </a:rPr>
              <a:t> services, processes, systems, analytics, UX, and CX and </a:t>
            </a:r>
            <a:r>
              <a:rPr b="1" i="0" lang="en-US" sz="1500" u="none" cap="none" strike="noStrike">
                <a:solidFill>
                  <a:srgbClr val="747676"/>
                </a:solidFill>
                <a:latin typeface="Arial"/>
                <a:ea typeface="Arial"/>
                <a:cs typeface="Arial"/>
                <a:sym typeface="Arial"/>
              </a:rPr>
              <a:t>accelerate decision making</a:t>
            </a:r>
            <a:r>
              <a:rPr b="0" i="0" lang="en-US" sz="1500" u="none" cap="none" strike="noStrike">
                <a:solidFill>
                  <a:srgbClr val="747676"/>
                </a:solidFill>
                <a:latin typeface="Arial"/>
                <a:ea typeface="Arial"/>
                <a:cs typeface="Arial"/>
                <a:sym typeface="Arial"/>
              </a:rPr>
              <a:t> across the organization.</a:t>
            </a:r>
            <a:endParaRPr b="0" i="0" sz="1500" u="none" cap="none" strike="noStrike">
              <a:latin typeface="Arial"/>
              <a:ea typeface="Arial"/>
              <a:cs typeface="Arial"/>
              <a:sym typeface="Arial"/>
            </a:endParaRPr>
          </a:p>
        </p:txBody>
      </p:sp>
      <p:sp>
        <p:nvSpPr>
          <p:cNvPr id="583" name="Google Shape;583;p134"/>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grpSp>
        <p:nvGrpSpPr>
          <p:cNvPr id="584" name="Google Shape;584;p134"/>
          <p:cNvGrpSpPr/>
          <p:nvPr/>
        </p:nvGrpSpPr>
        <p:grpSpPr>
          <a:xfrm>
            <a:off x="8546760" y="0"/>
            <a:ext cx="594000" cy="679680"/>
            <a:chOff x="8546760" y="0"/>
            <a:chExt cx="594000" cy="679680"/>
          </a:xfrm>
        </p:grpSpPr>
        <p:sp>
          <p:nvSpPr>
            <p:cNvPr id="585" name="Google Shape;585;p134"/>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 name="Google Shape;586;p134"/>
            <p:cNvGrpSpPr/>
            <p:nvPr/>
          </p:nvGrpSpPr>
          <p:grpSpPr>
            <a:xfrm>
              <a:off x="8585280" y="0"/>
              <a:ext cx="555480" cy="679680"/>
              <a:chOff x="8585280" y="0"/>
              <a:chExt cx="555480" cy="679680"/>
            </a:xfrm>
          </p:grpSpPr>
          <p:pic>
            <p:nvPicPr>
              <p:cNvPr id="587" name="Google Shape;587;p134"/>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588" name="Google Shape;588;p134"/>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35"/>
          <p:cNvSpPr txBox="1"/>
          <p:nvPr/>
        </p:nvSpPr>
        <p:spPr>
          <a:xfrm>
            <a:off x="457200" y="164160"/>
            <a:ext cx="5199480" cy="221040"/>
          </a:xfrm>
          <a:prstGeom prst="rect">
            <a:avLst/>
          </a:prstGeom>
          <a:noFill/>
          <a:ln>
            <a:noFill/>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Scope</a:t>
            </a:r>
            <a:endParaRPr b="0" i="0" sz="1800" u="none" cap="none" strike="noStrike">
              <a:solidFill>
                <a:srgbClr val="000000"/>
              </a:solidFill>
              <a:latin typeface="Arial"/>
              <a:ea typeface="Arial"/>
              <a:cs typeface="Arial"/>
              <a:sym typeface="Arial"/>
            </a:endParaRPr>
          </a:p>
        </p:txBody>
      </p:sp>
      <p:sp>
        <p:nvSpPr>
          <p:cNvPr id="594" name="Google Shape;594;p135"/>
          <p:cNvSpPr/>
          <p:nvPr/>
        </p:nvSpPr>
        <p:spPr>
          <a:xfrm>
            <a:off x="7968960" y="4789440"/>
            <a:ext cx="1174680" cy="350640"/>
          </a:xfrm>
          <a:prstGeom prst="rect">
            <a:avLst/>
          </a:prstGeom>
          <a:solidFill>
            <a:srgbClr val="00AC3E"/>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grpSp>
        <p:nvGrpSpPr>
          <p:cNvPr id="595" name="Google Shape;595;p135"/>
          <p:cNvGrpSpPr/>
          <p:nvPr/>
        </p:nvGrpSpPr>
        <p:grpSpPr>
          <a:xfrm>
            <a:off x="971280" y="667080"/>
            <a:ext cx="7683480" cy="3735720"/>
            <a:chOff x="971280" y="667080"/>
            <a:chExt cx="7683480" cy="3735720"/>
          </a:xfrm>
        </p:grpSpPr>
        <p:sp>
          <p:nvSpPr>
            <p:cNvPr id="596" name="Google Shape;596;p135"/>
            <p:cNvSpPr/>
            <p:nvPr/>
          </p:nvSpPr>
          <p:spPr>
            <a:xfrm>
              <a:off x="971280" y="667080"/>
              <a:ext cx="7683480" cy="3735720"/>
            </a:xfrm>
            <a:prstGeom prst="ellipse">
              <a:avLst/>
            </a:prstGeom>
            <a:solidFill>
              <a:srgbClr val="F3ED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35"/>
            <p:cNvSpPr/>
            <p:nvPr/>
          </p:nvSpPr>
          <p:spPr>
            <a:xfrm>
              <a:off x="3370320" y="745560"/>
              <a:ext cx="2400840" cy="3963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Controlled Vocabularies</a:t>
              </a:r>
              <a:endParaRPr b="0" i="0" sz="1400" u="none" cap="none" strike="noStrike">
                <a:latin typeface="Arial"/>
                <a:ea typeface="Arial"/>
                <a:cs typeface="Arial"/>
                <a:sym typeface="Arial"/>
              </a:endParaRPr>
            </a:p>
          </p:txBody>
        </p:sp>
      </p:grpSp>
      <p:grpSp>
        <p:nvGrpSpPr>
          <p:cNvPr id="598" name="Google Shape;598;p135"/>
          <p:cNvGrpSpPr/>
          <p:nvPr/>
        </p:nvGrpSpPr>
        <p:grpSpPr>
          <a:xfrm>
            <a:off x="2195280" y="1094760"/>
            <a:ext cx="6391080" cy="3128760"/>
            <a:chOff x="2195280" y="1094760"/>
            <a:chExt cx="6391080" cy="3128760"/>
          </a:xfrm>
        </p:grpSpPr>
        <p:sp>
          <p:nvSpPr>
            <p:cNvPr id="599" name="Google Shape;599;p135"/>
            <p:cNvSpPr/>
            <p:nvPr/>
          </p:nvSpPr>
          <p:spPr>
            <a:xfrm>
              <a:off x="2195280" y="1094760"/>
              <a:ext cx="6391080" cy="3128760"/>
            </a:xfrm>
            <a:prstGeom prst="ellipse">
              <a:avLst/>
            </a:prstGeom>
            <a:solidFill>
              <a:srgbClr val="FFFFFF"/>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35"/>
            <p:cNvSpPr/>
            <p:nvPr/>
          </p:nvSpPr>
          <p:spPr>
            <a:xfrm>
              <a:off x="4285080" y="1190520"/>
              <a:ext cx="1820160" cy="331920"/>
            </a:xfrm>
            <a:prstGeom prst="rect">
              <a:avLst/>
            </a:prstGeom>
            <a:solidFill>
              <a:srgbClr val="FFFFFF"/>
            </a:solidFill>
            <a:ln>
              <a:noFill/>
            </a:ln>
          </p:spPr>
          <p:txBody>
            <a:bodyPr anchorCtr="0" anchor="t" bIns="76675" lIns="76675" spcFirstLastPara="1" rIns="76675" wrap="square" tIns="76675">
              <a:noAutofit/>
            </a:bodyPr>
            <a:lstStyle/>
            <a:p>
              <a:pPr indent="0" lvl="0" marL="0" marR="0" rtl="0" algn="ctr">
                <a:lnSpc>
                  <a:spcPct val="100000"/>
                </a:lnSpc>
                <a:spcBef>
                  <a:spcPts val="0"/>
                </a:spcBef>
                <a:spcAft>
                  <a:spcPts val="0"/>
                </a:spcAft>
                <a:buNone/>
              </a:pPr>
              <a:r>
                <a:rPr b="1" i="0" lang="en-US" sz="1170" u="none" cap="none" strike="noStrike">
                  <a:solidFill>
                    <a:srgbClr val="000000"/>
                  </a:solidFill>
                  <a:latin typeface="Arial"/>
                  <a:ea typeface="Arial"/>
                  <a:cs typeface="Arial"/>
                  <a:sym typeface="Arial"/>
                </a:rPr>
                <a:t>Taxonomies</a:t>
              </a:r>
              <a:endParaRPr b="0" i="0" sz="1170" u="none" cap="none" strike="noStrike">
                <a:latin typeface="Arial"/>
                <a:ea typeface="Arial"/>
                <a:cs typeface="Arial"/>
                <a:sym typeface="Arial"/>
              </a:endParaRPr>
            </a:p>
          </p:txBody>
        </p:sp>
      </p:grpSp>
      <p:grpSp>
        <p:nvGrpSpPr>
          <p:cNvPr id="601" name="Google Shape;601;p135"/>
          <p:cNvGrpSpPr/>
          <p:nvPr/>
        </p:nvGrpSpPr>
        <p:grpSpPr>
          <a:xfrm>
            <a:off x="3790800" y="1505880"/>
            <a:ext cx="4721400" cy="2547360"/>
            <a:chOff x="3790800" y="1505880"/>
            <a:chExt cx="4721400" cy="2547360"/>
          </a:xfrm>
        </p:grpSpPr>
        <p:sp>
          <p:nvSpPr>
            <p:cNvPr id="602" name="Google Shape;602;p135"/>
            <p:cNvSpPr/>
            <p:nvPr/>
          </p:nvSpPr>
          <p:spPr>
            <a:xfrm>
              <a:off x="3790800" y="1505880"/>
              <a:ext cx="4721400" cy="2547360"/>
            </a:xfrm>
            <a:prstGeom prst="ellipse">
              <a:avLst/>
            </a:prstGeom>
            <a:solidFill>
              <a:srgbClr val="F5FF1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35"/>
            <p:cNvSpPr/>
            <p:nvPr/>
          </p:nvSpPr>
          <p:spPr>
            <a:xfrm>
              <a:off x="5356440" y="1585800"/>
              <a:ext cx="1363320" cy="363960"/>
            </a:xfrm>
            <a:prstGeom prst="rect">
              <a:avLst/>
            </a:prstGeom>
            <a:solidFill>
              <a:srgbClr val="F5FF1E"/>
            </a:solidFill>
            <a:ln>
              <a:noFill/>
            </a:ln>
          </p:spPr>
          <p:txBody>
            <a:bodyPr anchorCtr="0" anchor="t" bIns="83875" lIns="83875" spcFirstLastPara="1" rIns="83875" wrap="square" tIns="83875">
              <a:noAutofit/>
            </a:bodyPr>
            <a:lstStyle/>
            <a:p>
              <a:pPr indent="0" lvl="0" marL="0" marR="0" rtl="0" algn="ctr">
                <a:lnSpc>
                  <a:spcPct val="100000"/>
                </a:lnSpc>
                <a:spcBef>
                  <a:spcPts val="0"/>
                </a:spcBef>
                <a:spcAft>
                  <a:spcPts val="0"/>
                </a:spcAft>
                <a:buNone/>
              </a:pPr>
              <a:r>
                <a:rPr b="1" i="0" lang="en-US" sz="1290" u="none" cap="none" strike="noStrike">
                  <a:solidFill>
                    <a:srgbClr val="000000"/>
                  </a:solidFill>
                  <a:latin typeface="Arial"/>
                  <a:ea typeface="Arial"/>
                  <a:cs typeface="Arial"/>
                  <a:sym typeface="Arial"/>
                </a:rPr>
                <a:t>Ontologies</a:t>
              </a:r>
              <a:endParaRPr b="0" i="0" sz="1290" u="none" cap="none" strike="noStrike">
                <a:latin typeface="Arial"/>
                <a:ea typeface="Arial"/>
                <a:cs typeface="Arial"/>
                <a:sym typeface="Arial"/>
              </a:endParaRPr>
            </a:p>
          </p:txBody>
        </p:sp>
      </p:grpSp>
      <p:sp>
        <p:nvSpPr>
          <p:cNvPr id="604" name="Google Shape;604;p135"/>
          <p:cNvSpPr/>
          <p:nvPr/>
        </p:nvSpPr>
        <p:spPr>
          <a:xfrm>
            <a:off x="1108440" y="2003040"/>
            <a:ext cx="11221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Closed list of terms, preferred labels, alternate labels, related terms</a:t>
            </a:r>
            <a:endParaRPr b="0" i="0" sz="1000" u="none" cap="none" strike="noStrike">
              <a:latin typeface="Arial"/>
              <a:ea typeface="Arial"/>
              <a:cs typeface="Arial"/>
              <a:sym typeface="Arial"/>
            </a:endParaRPr>
          </a:p>
        </p:txBody>
      </p:sp>
      <p:sp>
        <p:nvSpPr>
          <p:cNvPr id="605" name="Google Shape;605;p135"/>
          <p:cNvSpPr/>
          <p:nvPr/>
        </p:nvSpPr>
        <p:spPr>
          <a:xfrm>
            <a:off x="2529360" y="2285640"/>
            <a:ext cx="1312920" cy="9874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Hierarchical structures of broader 2 narrower terms, and lists of related terms</a:t>
            </a:r>
            <a:endParaRPr b="0" i="0" sz="1000" u="none" cap="none" strike="noStrike">
              <a:latin typeface="Arial"/>
              <a:ea typeface="Arial"/>
              <a:cs typeface="Arial"/>
              <a:sym typeface="Arial"/>
            </a:endParaRPr>
          </a:p>
        </p:txBody>
      </p:sp>
      <p:sp>
        <p:nvSpPr>
          <p:cNvPr id="606" name="Google Shape;606;p135"/>
          <p:cNvSpPr/>
          <p:nvPr/>
        </p:nvSpPr>
        <p:spPr>
          <a:xfrm>
            <a:off x="4297680" y="2465640"/>
            <a:ext cx="1746720" cy="9169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Multi-faceted graph of terms (classes) connected using semantic triples (subject, predicate, object) using the RDF standard</a:t>
            </a:r>
            <a:endParaRPr b="0" i="0" sz="1000" u="none" cap="none" strike="noStrike">
              <a:latin typeface="Arial"/>
              <a:ea typeface="Arial"/>
              <a:cs typeface="Arial"/>
              <a:sym typeface="Arial"/>
            </a:endParaRPr>
          </a:p>
        </p:txBody>
      </p:sp>
      <p:sp>
        <p:nvSpPr>
          <p:cNvPr id="607" name="Google Shape;607;p135"/>
          <p:cNvSpPr/>
          <p:nvPr/>
        </p:nvSpPr>
        <p:spPr>
          <a:xfrm>
            <a:off x="6319080" y="2559960"/>
            <a:ext cx="1791000" cy="67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Graphs can connect to other graphs forming a </a:t>
            </a:r>
            <a:r>
              <a:rPr b="0" i="0" lang="en-US" sz="1000" u="none" cap="none" strike="noStrike">
                <a:solidFill>
                  <a:srgbClr val="EE0000"/>
                </a:solidFill>
                <a:latin typeface="Arial"/>
                <a:ea typeface="Arial"/>
                <a:cs typeface="Arial"/>
                <a:sym typeface="Arial"/>
              </a:rPr>
              <a:t>knowledge fabric</a:t>
            </a:r>
            <a:r>
              <a:rPr b="0" i="0" lang="en-US" sz="1000" u="none" cap="none" strike="noStrike">
                <a:solidFill>
                  <a:srgbClr val="000000"/>
                </a:solidFill>
                <a:latin typeface="Arial"/>
                <a:ea typeface="Arial"/>
                <a:cs typeface="Arial"/>
                <a:sym typeface="Arial"/>
              </a:rPr>
              <a:t> across business domains.</a:t>
            </a:r>
            <a:endParaRPr b="0" i="0" sz="1000" u="none" cap="none" strike="noStrike">
              <a:latin typeface="Arial"/>
              <a:ea typeface="Arial"/>
              <a:cs typeface="Arial"/>
              <a:sym typeface="Arial"/>
            </a:endParaRPr>
          </a:p>
        </p:txBody>
      </p:sp>
      <p:sp>
        <p:nvSpPr>
          <p:cNvPr id="608" name="Google Shape;608;p135"/>
          <p:cNvSpPr/>
          <p:nvPr/>
        </p:nvSpPr>
        <p:spPr>
          <a:xfrm>
            <a:off x="4996080" y="3382560"/>
            <a:ext cx="247932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Each graph is built (modeled) using Process as the centerpiece</a:t>
            </a:r>
            <a:endParaRPr b="0" i="0" sz="900" u="none" cap="none" strike="noStrike">
              <a:latin typeface="Arial"/>
              <a:ea typeface="Arial"/>
              <a:cs typeface="Arial"/>
              <a:sym typeface="Arial"/>
            </a:endParaRPr>
          </a:p>
        </p:txBody>
      </p:sp>
      <p:pic>
        <p:nvPicPr>
          <p:cNvPr id="609" name="Google Shape;609;p135"/>
          <p:cNvPicPr preferRelativeResize="0"/>
          <p:nvPr/>
        </p:nvPicPr>
        <p:blipFill rotWithShape="1">
          <a:blip r:embed="rId3">
            <a:alphaModFix/>
          </a:blip>
          <a:srcRect b="0" l="0" r="0" t="0"/>
          <a:stretch/>
        </p:blipFill>
        <p:spPr>
          <a:xfrm>
            <a:off x="1532520" y="1203840"/>
            <a:ext cx="1312920" cy="911880"/>
          </a:xfrm>
          <a:prstGeom prst="rect">
            <a:avLst/>
          </a:prstGeom>
          <a:noFill/>
          <a:ln>
            <a:noFill/>
          </a:ln>
        </p:spPr>
      </p:pic>
      <p:pic>
        <p:nvPicPr>
          <p:cNvPr id="610" name="Google Shape;610;p135"/>
          <p:cNvPicPr preferRelativeResize="0"/>
          <p:nvPr/>
        </p:nvPicPr>
        <p:blipFill rotWithShape="1">
          <a:blip r:embed="rId4">
            <a:alphaModFix/>
          </a:blip>
          <a:srcRect b="0" l="0" r="0" t="0"/>
          <a:stretch/>
        </p:blipFill>
        <p:spPr>
          <a:xfrm>
            <a:off x="2786040" y="1505880"/>
            <a:ext cx="1312920" cy="911880"/>
          </a:xfrm>
          <a:prstGeom prst="rect">
            <a:avLst/>
          </a:prstGeom>
          <a:noFill/>
          <a:ln>
            <a:noFill/>
          </a:ln>
        </p:spPr>
      </p:pic>
      <p:pic>
        <p:nvPicPr>
          <p:cNvPr id="611" name="Google Shape;611;p135"/>
          <p:cNvPicPr preferRelativeResize="0"/>
          <p:nvPr/>
        </p:nvPicPr>
        <p:blipFill rotWithShape="1">
          <a:blip r:embed="rId5">
            <a:alphaModFix/>
          </a:blip>
          <a:srcRect b="0" l="0" r="0" t="0"/>
          <a:stretch/>
        </p:blipFill>
        <p:spPr>
          <a:xfrm>
            <a:off x="5387760" y="1873440"/>
            <a:ext cx="1174680" cy="816120"/>
          </a:xfrm>
          <a:prstGeom prst="rect">
            <a:avLst/>
          </a:prstGeom>
          <a:noFill/>
          <a:ln>
            <a:noFill/>
          </a:ln>
        </p:spPr>
      </p:pic>
      <p:grpSp>
        <p:nvGrpSpPr>
          <p:cNvPr id="612" name="Google Shape;612;p135"/>
          <p:cNvGrpSpPr/>
          <p:nvPr/>
        </p:nvGrpSpPr>
        <p:grpSpPr>
          <a:xfrm>
            <a:off x="8546760" y="0"/>
            <a:ext cx="594000" cy="679680"/>
            <a:chOff x="8546760" y="0"/>
            <a:chExt cx="594000" cy="679680"/>
          </a:xfrm>
        </p:grpSpPr>
        <p:sp>
          <p:nvSpPr>
            <p:cNvPr id="613" name="Google Shape;613;p135"/>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 name="Google Shape;614;p135"/>
            <p:cNvGrpSpPr/>
            <p:nvPr/>
          </p:nvGrpSpPr>
          <p:grpSpPr>
            <a:xfrm>
              <a:off x="8585280" y="0"/>
              <a:ext cx="555480" cy="679680"/>
              <a:chOff x="8585280" y="0"/>
              <a:chExt cx="555480" cy="679680"/>
            </a:xfrm>
          </p:grpSpPr>
          <p:pic>
            <p:nvPicPr>
              <p:cNvPr id="615" name="Google Shape;615;p135"/>
              <p:cNvPicPr preferRelativeResize="0"/>
              <p:nvPr/>
            </p:nvPicPr>
            <p:blipFill rotWithShape="1">
              <a:blip r:embed="rId6">
                <a:alphaModFix/>
              </a:blip>
              <a:srcRect b="0" l="20669" r="9844" t="0"/>
              <a:stretch/>
            </p:blipFill>
            <p:spPr>
              <a:xfrm>
                <a:off x="8585280" y="0"/>
                <a:ext cx="530640" cy="530640"/>
              </a:xfrm>
              <a:prstGeom prst="rect">
                <a:avLst/>
              </a:prstGeom>
              <a:noFill/>
              <a:ln>
                <a:noFill/>
              </a:ln>
            </p:spPr>
          </p:pic>
          <p:sp>
            <p:nvSpPr>
              <p:cNvPr id="616" name="Google Shape;616;p135"/>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36"/>
          <p:cNvSpPr txBox="1"/>
          <p:nvPr/>
        </p:nvSpPr>
        <p:spPr>
          <a:xfrm>
            <a:off x="470160" y="148320"/>
            <a:ext cx="7086240" cy="32040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a:t>
            </a:r>
            <a:r>
              <a:rPr b="1" i="0" lang="en-US" sz="2100" u="none" cap="none" strike="noStrike">
                <a:solidFill>
                  <a:srgbClr val="000000"/>
                </a:solidFill>
                <a:latin typeface="Arial"/>
                <a:ea typeface="Arial"/>
                <a:cs typeface="Arial"/>
                <a:sym typeface="Arial"/>
              </a:rPr>
              <a:t>Target Outcomes</a:t>
            </a:r>
            <a:endParaRPr b="0" i="0" sz="2100" u="none" cap="none" strike="noStrike">
              <a:solidFill>
                <a:srgbClr val="000000"/>
              </a:solidFill>
              <a:latin typeface="Arial"/>
              <a:ea typeface="Arial"/>
              <a:cs typeface="Arial"/>
              <a:sym typeface="Arial"/>
            </a:endParaRPr>
          </a:p>
        </p:txBody>
      </p:sp>
      <p:sp>
        <p:nvSpPr>
          <p:cNvPr id="622" name="Google Shape;622;p136"/>
          <p:cNvSpPr txBox="1"/>
          <p:nvPr/>
        </p:nvSpPr>
        <p:spPr>
          <a:xfrm>
            <a:off x="470160" y="100728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Trusted BI &amp; AI</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Smarter, More Reliable AI &amp; Analytics </a:t>
            </a:r>
            <a:endParaRPr b="0" i="0" sz="900" u="none" cap="none" strike="noStrike">
              <a:solidFill>
                <a:srgbClr val="000000"/>
              </a:solidFill>
              <a:latin typeface="Arial"/>
              <a:ea typeface="Arial"/>
              <a:cs typeface="Arial"/>
              <a:sym typeface="Arial"/>
            </a:endParaRPr>
          </a:p>
        </p:txBody>
      </p:sp>
      <p:sp>
        <p:nvSpPr>
          <p:cNvPr id="623" name="Google Shape;623;p136"/>
          <p:cNvSpPr txBox="1"/>
          <p:nvPr/>
        </p:nvSpPr>
        <p:spPr>
          <a:xfrm>
            <a:off x="3247920" y="100728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Business Literacy</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A Single Source of Truth for Business Language</a:t>
            </a:r>
            <a:endParaRPr b="0" i="0" sz="900" u="none" cap="none" strike="noStrike">
              <a:solidFill>
                <a:srgbClr val="000000"/>
              </a:solidFill>
              <a:latin typeface="Arial"/>
              <a:ea typeface="Arial"/>
              <a:cs typeface="Arial"/>
              <a:sym typeface="Arial"/>
            </a:endParaRPr>
          </a:p>
        </p:txBody>
      </p:sp>
      <p:sp>
        <p:nvSpPr>
          <p:cNvPr id="624" name="Google Shape;624;p136"/>
          <p:cNvSpPr txBox="1"/>
          <p:nvPr/>
        </p:nvSpPr>
        <p:spPr>
          <a:xfrm>
            <a:off x="6012720" y="100728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Meaning at Scale </a:t>
            </a:r>
            <a:br>
              <a:rPr b="0" i="0" lang="en-US" sz="1800" u="none" cap="none" strike="noStrike"/>
            </a:br>
            <a:r>
              <a:rPr b="0" i="0" lang="en-US" sz="900" u="none" cap="none" strike="noStrike">
                <a:solidFill>
                  <a:srgbClr val="000000"/>
                </a:solidFill>
                <a:latin typeface="Arial"/>
                <a:ea typeface="Arial"/>
                <a:cs typeface="Arial"/>
                <a:sym typeface="Arial"/>
              </a:rPr>
              <a:t>Future-Proof, Standards-Based Knowledge</a:t>
            </a:r>
            <a:endParaRPr b="0" i="0" sz="900" u="none" cap="none" strike="noStrike">
              <a:solidFill>
                <a:srgbClr val="000000"/>
              </a:solidFill>
              <a:latin typeface="Arial"/>
              <a:ea typeface="Arial"/>
              <a:cs typeface="Arial"/>
              <a:sym typeface="Arial"/>
            </a:endParaRPr>
          </a:p>
        </p:txBody>
      </p:sp>
      <p:sp>
        <p:nvSpPr>
          <p:cNvPr id="625" name="Google Shape;625;p136"/>
          <p:cNvSpPr txBox="1"/>
          <p:nvPr/>
        </p:nvSpPr>
        <p:spPr>
          <a:xfrm>
            <a:off x="470160" y="245556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Improved Decision Making </a:t>
            </a:r>
            <a:endParaRPr b="0" i="0" sz="2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More Informed Decisions, Faster</a:t>
            </a:r>
            <a:endParaRPr b="0" i="0" sz="900" u="none" cap="none" strike="noStrike">
              <a:solidFill>
                <a:srgbClr val="000000"/>
              </a:solidFill>
              <a:latin typeface="Arial"/>
              <a:ea typeface="Arial"/>
              <a:cs typeface="Arial"/>
              <a:sym typeface="Arial"/>
            </a:endParaRPr>
          </a:p>
        </p:txBody>
      </p:sp>
      <p:sp>
        <p:nvSpPr>
          <p:cNvPr id="626" name="Google Shape;626;p136"/>
          <p:cNvSpPr txBox="1"/>
          <p:nvPr/>
        </p:nvSpPr>
        <p:spPr>
          <a:xfrm>
            <a:off x="3247920" y="2455560"/>
            <a:ext cx="2545200" cy="1262880"/>
          </a:xfrm>
          <a:prstGeom prst="rect">
            <a:avLst/>
          </a:prstGeom>
          <a:solidFill>
            <a:srgbClr val="F3EDE0"/>
          </a:solid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Knowledge Preservation</a:t>
            </a:r>
            <a:r>
              <a:rPr b="1" i="0" lang="en-US" sz="900" u="none" cap="none" strike="noStrike">
                <a:solidFill>
                  <a:srgbClr val="F50A23"/>
                </a:solidFill>
                <a:latin typeface="Arial"/>
                <a:ea typeface="Arial"/>
                <a:cs typeface="Arial"/>
                <a:sym typeface="Arial"/>
              </a:rPr>
              <a:t>  </a:t>
            </a:r>
            <a:br>
              <a:rPr b="0" i="0" lang="en-US" sz="1800" u="none" cap="none" strike="noStrike"/>
            </a:br>
            <a:r>
              <a:rPr b="0" i="0" lang="en-US" sz="900" u="none" cap="none" strike="noStrike">
                <a:solidFill>
                  <a:srgbClr val="000000"/>
                </a:solidFill>
                <a:latin typeface="Arial"/>
                <a:ea typeface="Arial"/>
                <a:cs typeface="Arial"/>
                <a:sym typeface="Arial"/>
              </a:rPr>
              <a:t>Living Business Knowledge That Evolves With Us</a:t>
            </a:r>
            <a:endParaRPr b="0" i="0" sz="900" u="none" cap="none" strike="noStrike">
              <a:solidFill>
                <a:srgbClr val="000000"/>
              </a:solidFill>
              <a:latin typeface="Arial"/>
              <a:ea typeface="Arial"/>
              <a:cs typeface="Arial"/>
              <a:sym typeface="Arial"/>
            </a:endParaRPr>
          </a:p>
        </p:txBody>
      </p:sp>
      <p:sp>
        <p:nvSpPr>
          <p:cNvPr id="627" name="Google Shape;627;p136"/>
          <p:cNvSpPr txBox="1"/>
          <p:nvPr/>
        </p:nvSpPr>
        <p:spPr>
          <a:xfrm>
            <a:off x="6012720" y="2455560"/>
            <a:ext cx="2545200" cy="126288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None/>
            </a:pPr>
            <a:r>
              <a:rPr b="1" i="0" lang="en-US" sz="2000" u="none" cap="none" strike="noStrike">
                <a:solidFill>
                  <a:srgbClr val="F50A23"/>
                </a:solidFill>
                <a:latin typeface="Arial"/>
                <a:ea typeface="Arial"/>
                <a:cs typeface="Arial"/>
                <a:sym typeface="Arial"/>
              </a:rPr>
              <a:t>Align Business with Technology</a:t>
            </a:r>
            <a:br>
              <a:rPr b="0" i="0" lang="en-US" sz="1800" u="none" cap="none" strike="noStrike"/>
            </a:br>
            <a:r>
              <a:rPr b="0" i="0" lang="en-US" sz="900" u="none" cap="none" strike="noStrike">
                <a:solidFill>
                  <a:srgbClr val="000000"/>
                </a:solidFill>
                <a:latin typeface="Arial"/>
                <a:ea typeface="Arial"/>
                <a:cs typeface="Arial"/>
                <a:sym typeface="Arial"/>
              </a:rPr>
              <a:t>One Semantic Layer Connecting People and Systems</a:t>
            </a:r>
            <a:endParaRPr b="0" i="0" sz="900" u="none" cap="none" strike="noStrike">
              <a:solidFill>
                <a:srgbClr val="000000"/>
              </a:solidFill>
              <a:latin typeface="Arial"/>
              <a:ea typeface="Arial"/>
              <a:cs typeface="Arial"/>
              <a:sym typeface="Arial"/>
            </a:endParaRPr>
          </a:p>
        </p:txBody>
      </p:sp>
      <p:sp>
        <p:nvSpPr>
          <p:cNvPr id="628" name="Google Shape;628;p136"/>
          <p:cNvSpPr/>
          <p:nvPr/>
        </p:nvSpPr>
        <p:spPr>
          <a:xfrm>
            <a:off x="7968960" y="4789440"/>
            <a:ext cx="1174680" cy="350640"/>
          </a:xfrm>
          <a:prstGeom prst="rect">
            <a:avLst/>
          </a:prstGeom>
          <a:solidFill>
            <a:srgbClr val="00B84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grpSp>
        <p:nvGrpSpPr>
          <p:cNvPr id="629" name="Google Shape;629;p136"/>
          <p:cNvGrpSpPr/>
          <p:nvPr/>
        </p:nvGrpSpPr>
        <p:grpSpPr>
          <a:xfrm>
            <a:off x="8546760" y="0"/>
            <a:ext cx="594000" cy="679680"/>
            <a:chOff x="8546760" y="0"/>
            <a:chExt cx="594000" cy="679680"/>
          </a:xfrm>
        </p:grpSpPr>
        <p:sp>
          <p:nvSpPr>
            <p:cNvPr id="630" name="Google Shape;630;p136"/>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136"/>
            <p:cNvGrpSpPr/>
            <p:nvPr/>
          </p:nvGrpSpPr>
          <p:grpSpPr>
            <a:xfrm>
              <a:off x="8585280" y="0"/>
              <a:ext cx="555480" cy="679680"/>
              <a:chOff x="8585280" y="0"/>
              <a:chExt cx="555480" cy="679680"/>
            </a:xfrm>
          </p:grpSpPr>
          <p:pic>
            <p:nvPicPr>
              <p:cNvPr id="632" name="Google Shape;632;p136"/>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633" name="Google Shape;633;p136"/>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37"/>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Aim Higher: Enabling Progressive Search </a:t>
            </a:r>
            <a:endParaRPr b="0" i="0" sz="2000" u="none" cap="none" strike="noStrike">
              <a:latin typeface="Arial"/>
              <a:ea typeface="Arial"/>
              <a:cs typeface="Arial"/>
              <a:sym typeface="Arial"/>
            </a:endParaRPr>
          </a:p>
        </p:txBody>
      </p:sp>
      <p:sp>
        <p:nvSpPr>
          <p:cNvPr id="639" name="Google Shape;639;p137"/>
          <p:cNvSpPr/>
          <p:nvPr/>
        </p:nvSpPr>
        <p:spPr>
          <a:xfrm>
            <a:off x="4564800" y="779760"/>
            <a:ext cx="14040" cy="361512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7"/>
          <p:cNvSpPr/>
          <p:nvPr/>
        </p:nvSpPr>
        <p:spPr>
          <a:xfrm>
            <a:off x="4007880" y="105408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37"/>
          <p:cNvSpPr/>
          <p:nvPr/>
        </p:nvSpPr>
        <p:spPr>
          <a:xfrm>
            <a:off x="4431240" y="92052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7"/>
          <p:cNvSpPr/>
          <p:nvPr/>
        </p:nvSpPr>
        <p:spPr>
          <a:xfrm>
            <a:off x="4536720" y="967320"/>
            <a:ext cx="6984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1</a:t>
            </a:r>
            <a:endParaRPr b="0" i="0" sz="1500" u="none" cap="none" strike="noStrike">
              <a:latin typeface="Arial"/>
              <a:ea typeface="Arial"/>
              <a:cs typeface="Arial"/>
              <a:sym typeface="Arial"/>
            </a:endParaRPr>
          </a:p>
        </p:txBody>
      </p:sp>
      <p:sp>
        <p:nvSpPr>
          <p:cNvPr id="643" name="Google Shape;643;p137"/>
          <p:cNvSpPr/>
          <p:nvPr/>
        </p:nvSpPr>
        <p:spPr>
          <a:xfrm>
            <a:off x="2320200" y="90468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Basic Search</a:t>
            </a:r>
            <a:endParaRPr b="0" i="0" sz="1200" u="none" cap="none" strike="noStrike">
              <a:latin typeface="Arial"/>
              <a:ea typeface="Arial"/>
              <a:cs typeface="Arial"/>
              <a:sym typeface="Arial"/>
            </a:endParaRPr>
          </a:p>
        </p:txBody>
      </p:sp>
      <p:sp>
        <p:nvSpPr>
          <p:cNvPr id="644" name="Google Shape;644;p137"/>
          <p:cNvSpPr/>
          <p:nvPr/>
        </p:nvSpPr>
        <p:spPr>
          <a:xfrm>
            <a:off x="437760" y="1175400"/>
            <a:ext cx="3445920" cy="39996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Keyword matching, boolean logic, simple filtering, and personalized results based on Persona Outcomes.</a:t>
            </a:r>
            <a:endParaRPr b="0" i="0" sz="1000" u="none" cap="none" strike="noStrike">
              <a:latin typeface="Arial"/>
              <a:ea typeface="Arial"/>
              <a:cs typeface="Arial"/>
              <a:sym typeface="Arial"/>
            </a:endParaRPr>
          </a:p>
        </p:txBody>
      </p:sp>
      <p:sp>
        <p:nvSpPr>
          <p:cNvPr id="645" name="Google Shape;645;p137"/>
          <p:cNvSpPr/>
          <p:nvPr/>
        </p:nvSpPr>
        <p:spPr>
          <a:xfrm>
            <a:off x="4698360" y="167940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37"/>
          <p:cNvSpPr/>
          <p:nvPr/>
        </p:nvSpPr>
        <p:spPr>
          <a:xfrm>
            <a:off x="4431240" y="154584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37"/>
          <p:cNvSpPr/>
          <p:nvPr/>
        </p:nvSpPr>
        <p:spPr>
          <a:xfrm>
            <a:off x="4516920" y="1592640"/>
            <a:ext cx="10944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2</a:t>
            </a:r>
            <a:endParaRPr b="0" i="0" sz="1500" u="none" cap="none" strike="noStrike">
              <a:latin typeface="Arial"/>
              <a:ea typeface="Arial"/>
              <a:cs typeface="Arial"/>
              <a:sym typeface="Arial"/>
            </a:endParaRPr>
          </a:p>
        </p:txBody>
      </p:sp>
      <p:sp>
        <p:nvSpPr>
          <p:cNvPr id="648" name="Google Shape;648;p137"/>
          <p:cNvSpPr/>
          <p:nvPr/>
        </p:nvSpPr>
        <p:spPr>
          <a:xfrm>
            <a:off x="5259960" y="1530000"/>
            <a:ext cx="1563480" cy="1951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Augmented Search</a:t>
            </a:r>
            <a:endParaRPr b="0" i="0" sz="1200" u="none" cap="none" strike="noStrike">
              <a:latin typeface="Arial"/>
              <a:ea typeface="Arial"/>
              <a:cs typeface="Arial"/>
              <a:sym typeface="Arial"/>
            </a:endParaRPr>
          </a:p>
        </p:txBody>
      </p:sp>
      <p:sp>
        <p:nvSpPr>
          <p:cNvPr id="649" name="Google Shape;649;p137"/>
          <p:cNvSpPr/>
          <p:nvPr/>
        </p:nvSpPr>
        <p:spPr>
          <a:xfrm>
            <a:off x="5259960" y="1800720"/>
            <a:ext cx="3445920" cy="600120"/>
          </a:xfrm>
          <a:prstGeom prst="rect">
            <a:avLst/>
          </a:prstGeom>
          <a:noFill/>
          <a:ln>
            <a:noFill/>
          </a:ln>
        </p:spPr>
        <p:txBody>
          <a:bodyPr anchorCtr="0" anchor="t" bIns="0" lIns="0" spcFirstLastPara="1" rIns="0" wrap="square" tIns="0">
            <a:noAutofit/>
          </a:bodyPr>
          <a:lstStyle/>
          <a:p>
            <a:pPr indent="0" lvl="0" marL="0" marR="0" rtl="0" algn="l">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Support for complex logic and phrase matching, basic analytics, and personalized analytics views based on user roles and preferences.</a:t>
            </a:r>
            <a:endParaRPr b="0" i="0" sz="1000" u="none" cap="none" strike="noStrike">
              <a:latin typeface="Arial"/>
              <a:ea typeface="Arial"/>
              <a:cs typeface="Arial"/>
              <a:sym typeface="Arial"/>
            </a:endParaRPr>
          </a:p>
        </p:txBody>
      </p:sp>
      <p:sp>
        <p:nvSpPr>
          <p:cNvPr id="650" name="Google Shape;650;p137"/>
          <p:cNvSpPr/>
          <p:nvPr/>
        </p:nvSpPr>
        <p:spPr>
          <a:xfrm>
            <a:off x="4007880" y="230220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7"/>
          <p:cNvSpPr/>
          <p:nvPr/>
        </p:nvSpPr>
        <p:spPr>
          <a:xfrm>
            <a:off x="4431240" y="216864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7"/>
          <p:cNvSpPr/>
          <p:nvPr/>
        </p:nvSpPr>
        <p:spPr>
          <a:xfrm>
            <a:off x="4516560" y="2215800"/>
            <a:ext cx="1101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3</a:t>
            </a:r>
            <a:endParaRPr b="0" i="0" sz="1500" u="none" cap="none" strike="noStrike">
              <a:latin typeface="Arial"/>
              <a:ea typeface="Arial"/>
              <a:cs typeface="Arial"/>
              <a:sym typeface="Arial"/>
            </a:endParaRPr>
          </a:p>
        </p:txBody>
      </p:sp>
      <p:sp>
        <p:nvSpPr>
          <p:cNvPr id="653" name="Google Shape;653;p137"/>
          <p:cNvSpPr/>
          <p:nvPr/>
        </p:nvSpPr>
        <p:spPr>
          <a:xfrm>
            <a:off x="2320200" y="215316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Intelligent Search</a:t>
            </a:r>
            <a:endParaRPr b="0" i="0" sz="1200" u="none" cap="none" strike="noStrike">
              <a:latin typeface="Arial"/>
              <a:ea typeface="Arial"/>
              <a:cs typeface="Arial"/>
              <a:sym typeface="Arial"/>
            </a:endParaRPr>
          </a:p>
        </p:txBody>
      </p:sp>
      <p:sp>
        <p:nvSpPr>
          <p:cNvPr id="654" name="Google Shape;654;p137"/>
          <p:cNvSpPr/>
          <p:nvPr/>
        </p:nvSpPr>
        <p:spPr>
          <a:xfrm>
            <a:off x="437760" y="2423520"/>
            <a:ext cx="3445920" cy="60012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Multi-dimensional analytics, causal analysis, trend forecasting, and AI-powered insights based on individual goals and user context.</a:t>
            </a:r>
            <a:endParaRPr b="0" i="0" sz="1000" u="none" cap="none" strike="noStrike">
              <a:latin typeface="Arial"/>
              <a:ea typeface="Arial"/>
              <a:cs typeface="Arial"/>
              <a:sym typeface="Arial"/>
            </a:endParaRPr>
          </a:p>
        </p:txBody>
      </p:sp>
      <p:sp>
        <p:nvSpPr>
          <p:cNvPr id="655" name="Google Shape;655;p137"/>
          <p:cNvSpPr/>
          <p:nvPr/>
        </p:nvSpPr>
        <p:spPr>
          <a:xfrm>
            <a:off x="4698360" y="292536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37"/>
          <p:cNvSpPr/>
          <p:nvPr/>
        </p:nvSpPr>
        <p:spPr>
          <a:xfrm>
            <a:off x="4431240" y="279180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37"/>
          <p:cNvSpPr/>
          <p:nvPr/>
        </p:nvSpPr>
        <p:spPr>
          <a:xfrm>
            <a:off x="4515840" y="2838600"/>
            <a:ext cx="1119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4</a:t>
            </a:r>
            <a:endParaRPr b="0" i="0" sz="1500" u="none" cap="none" strike="noStrike">
              <a:latin typeface="Arial"/>
              <a:ea typeface="Arial"/>
              <a:cs typeface="Arial"/>
              <a:sym typeface="Arial"/>
            </a:endParaRPr>
          </a:p>
        </p:txBody>
      </p:sp>
      <p:sp>
        <p:nvSpPr>
          <p:cNvPr id="658" name="Google Shape;658;p137"/>
          <p:cNvSpPr/>
          <p:nvPr/>
        </p:nvSpPr>
        <p:spPr>
          <a:xfrm>
            <a:off x="5259960" y="2776320"/>
            <a:ext cx="1563480" cy="1951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Simulation Search</a:t>
            </a:r>
            <a:endParaRPr b="0" i="0" sz="1200" u="none" cap="none" strike="noStrike">
              <a:latin typeface="Arial"/>
              <a:ea typeface="Arial"/>
              <a:cs typeface="Arial"/>
              <a:sym typeface="Arial"/>
            </a:endParaRPr>
          </a:p>
        </p:txBody>
      </p:sp>
      <p:sp>
        <p:nvSpPr>
          <p:cNvPr id="659" name="Google Shape;659;p137"/>
          <p:cNvSpPr/>
          <p:nvPr/>
        </p:nvSpPr>
        <p:spPr>
          <a:xfrm>
            <a:off x="5259960" y="3046680"/>
            <a:ext cx="3445920" cy="600120"/>
          </a:xfrm>
          <a:prstGeom prst="rect">
            <a:avLst/>
          </a:prstGeom>
          <a:noFill/>
          <a:ln>
            <a:noFill/>
          </a:ln>
        </p:spPr>
        <p:txBody>
          <a:bodyPr anchorCtr="0" anchor="t" bIns="0" lIns="0" spcFirstLastPara="1" rIns="0" wrap="square" tIns="0">
            <a:noAutofit/>
          </a:bodyPr>
          <a:lstStyle/>
          <a:p>
            <a:pPr indent="0" lvl="0" marL="0" marR="0" rtl="0" algn="l">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Simulate outcomes based on user-defined scenarios, model "what-if" scenarios, and highlight relevant simulations based on past actions.</a:t>
            </a:r>
            <a:endParaRPr b="0" i="0" sz="1000" u="none" cap="none" strike="noStrike">
              <a:latin typeface="Arial"/>
              <a:ea typeface="Arial"/>
              <a:cs typeface="Arial"/>
              <a:sym typeface="Arial"/>
            </a:endParaRPr>
          </a:p>
        </p:txBody>
      </p:sp>
      <p:sp>
        <p:nvSpPr>
          <p:cNvPr id="660" name="Google Shape;660;p137"/>
          <p:cNvSpPr/>
          <p:nvPr/>
        </p:nvSpPr>
        <p:spPr>
          <a:xfrm>
            <a:off x="4007880" y="3548520"/>
            <a:ext cx="437400" cy="14040"/>
          </a:xfrm>
          <a:prstGeom prst="roundRect">
            <a:avLst>
              <a:gd fmla="val 367766" name="adj"/>
            </a:avLst>
          </a:prstGeom>
          <a:solidFill>
            <a:srgbClr val="B8C3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37"/>
          <p:cNvSpPr/>
          <p:nvPr/>
        </p:nvSpPr>
        <p:spPr>
          <a:xfrm>
            <a:off x="4431240" y="3414960"/>
            <a:ext cx="281160" cy="281160"/>
          </a:xfrm>
          <a:prstGeom prst="roundRect">
            <a:avLst>
              <a:gd fmla="val 18670" name="adj"/>
            </a:avLst>
          </a:prstGeom>
          <a:solidFill>
            <a:srgbClr val="D2DDF9"/>
          </a:solidFill>
          <a:ln cap="flat" cmpd="sng" w="9525">
            <a:solidFill>
              <a:srgbClr val="B8C3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37"/>
          <p:cNvSpPr/>
          <p:nvPr/>
        </p:nvSpPr>
        <p:spPr>
          <a:xfrm>
            <a:off x="4514040" y="3461760"/>
            <a:ext cx="115560" cy="1875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US" sz="1500" u="none" cap="none" strike="noStrike">
                <a:solidFill>
                  <a:srgbClr val="404155"/>
                </a:solidFill>
                <a:latin typeface="Alexandria"/>
                <a:ea typeface="Alexandria"/>
                <a:cs typeface="Alexandria"/>
                <a:sym typeface="Alexandria"/>
              </a:rPr>
              <a:t>5</a:t>
            </a:r>
            <a:endParaRPr b="0" i="0" sz="1500" u="none" cap="none" strike="noStrike">
              <a:latin typeface="Arial"/>
              <a:ea typeface="Arial"/>
              <a:cs typeface="Arial"/>
              <a:sym typeface="Arial"/>
            </a:endParaRPr>
          </a:p>
        </p:txBody>
      </p:sp>
      <p:sp>
        <p:nvSpPr>
          <p:cNvPr id="663" name="Google Shape;663;p137"/>
          <p:cNvSpPr/>
          <p:nvPr/>
        </p:nvSpPr>
        <p:spPr>
          <a:xfrm>
            <a:off x="2320200" y="3399480"/>
            <a:ext cx="1563480" cy="19512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04155"/>
                </a:solidFill>
                <a:latin typeface="Alexandria"/>
                <a:ea typeface="Alexandria"/>
                <a:cs typeface="Alexandria"/>
                <a:sym typeface="Alexandria"/>
              </a:rPr>
              <a:t>Intelligent Assistant</a:t>
            </a:r>
            <a:endParaRPr b="0" i="0" sz="1200" u="none" cap="none" strike="noStrike">
              <a:latin typeface="Arial"/>
              <a:ea typeface="Arial"/>
              <a:cs typeface="Arial"/>
              <a:sym typeface="Arial"/>
            </a:endParaRPr>
          </a:p>
        </p:txBody>
      </p:sp>
      <p:sp>
        <p:nvSpPr>
          <p:cNvPr id="664" name="Google Shape;664;p137"/>
          <p:cNvSpPr/>
          <p:nvPr/>
        </p:nvSpPr>
        <p:spPr>
          <a:xfrm>
            <a:off x="437760" y="3669840"/>
            <a:ext cx="3445920" cy="600120"/>
          </a:xfrm>
          <a:prstGeom prst="rect">
            <a:avLst/>
          </a:prstGeom>
          <a:noFill/>
          <a:ln>
            <a:noFill/>
          </a:ln>
        </p:spPr>
        <p:txBody>
          <a:bodyPr anchorCtr="0" anchor="t" bIns="0" lIns="0" spcFirstLastPara="1" rIns="0" wrap="square" tIns="0">
            <a:noAutofit/>
          </a:bodyPr>
          <a:lstStyle/>
          <a:p>
            <a:pPr indent="0" lvl="0" marL="0" marR="0" rtl="0" algn="r">
              <a:lnSpc>
                <a:spcPct val="161000"/>
              </a:lnSpc>
              <a:spcBef>
                <a:spcPts val="0"/>
              </a:spcBef>
              <a:spcAft>
                <a:spcPts val="0"/>
              </a:spcAft>
              <a:buNone/>
            </a:pPr>
            <a:r>
              <a:rPr b="0" i="0" lang="en-US" sz="1000" u="none" cap="none" strike="noStrike">
                <a:solidFill>
                  <a:srgbClr val="404155"/>
                </a:solidFill>
                <a:latin typeface="Nobile"/>
                <a:ea typeface="Nobile"/>
                <a:cs typeface="Nobile"/>
                <a:sym typeface="Nobile"/>
              </a:rPr>
              <a:t>Natural language processing for conversational search, real-time decision support, and personalized recommendations based on context, history, and intent.</a:t>
            </a:r>
            <a:endParaRPr b="0" i="0" sz="1000" u="none" cap="none" strike="noStrike">
              <a:latin typeface="Arial"/>
              <a:ea typeface="Arial"/>
              <a:cs typeface="Arial"/>
              <a:sym typeface="Arial"/>
            </a:endParaRPr>
          </a:p>
        </p:txBody>
      </p:sp>
      <p:sp>
        <p:nvSpPr>
          <p:cNvPr id="665" name="Google Shape;665;p137"/>
          <p:cNvSpPr/>
          <p:nvPr/>
        </p:nvSpPr>
        <p:spPr>
          <a:xfrm>
            <a:off x="5241960" y="982440"/>
            <a:ext cx="367920" cy="195120"/>
          </a:xfrm>
          <a:prstGeom prst="leftArrow">
            <a:avLst>
              <a:gd fmla="val 50000" name="adj1"/>
              <a:gd fmla="val 50000" name="adj2"/>
            </a:avLst>
          </a:prstGeom>
          <a:solidFill>
            <a:srgbClr val="7F7F7F"/>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37"/>
          <p:cNvSpPr/>
          <p:nvPr/>
        </p:nvSpPr>
        <p:spPr>
          <a:xfrm>
            <a:off x="5677200" y="921960"/>
            <a:ext cx="911520" cy="31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We are here</a:t>
            </a:r>
            <a:endParaRPr b="0" i="0" sz="900" u="none" cap="none" strike="noStrike">
              <a:latin typeface="Arial"/>
              <a:ea typeface="Arial"/>
              <a:cs typeface="Arial"/>
              <a:sym typeface="Arial"/>
            </a:endParaRPr>
          </a:p>
        </p:txBody>
      </p:sp>
      <p:sp>
        <p:nvSpPr>
          <p:cNvPr id="667" name="Google Shape;667;p137"/>
          <p:cNvSpPr/>
          <p:nvPr/>
        </p:nvSpPr>
        <p:spPr>
          <a:xfrm>
            <a:off x="7968960" y="4789440"/>
            <a:ext cx="1174680" cy="350640"/>
          </a:xfrm>
          <a:prstGeom prst="rect">
            <a:avLst/>
          </a:prstGeom>
          <a:solidFill>
            <a:srgbClr val="00B84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rgbClr val="FFFFFF"/>
                </a:solidFill>
                <a:latin typeface="Arial"/>
                <a:ea typeface="Arial"/>
                <a:cs typeface="Arial"/>
                <a:sym typeface="Arial"/>
              </a:rPr>
              <a:t>Business Focus</a:t>
            </a:r>
            <a:endParaRPr b="0" i="0" sz="1000" u="none" cap="none" strike="noStrike">
              <a:latin typeface="Arial"/>
              <a:ea typeface="Arial"/>
              <a:cs typeface="Arial"/>
              <a:sym typeface="Arial"/>
            </a:endParaRPr>
          </a:p>
        </p:txBody>
      </p:sp>
      <p:sp>
        <p:nvSpPr>
          <p:cNvPr id="668" name="Google Shape;668;p137"/>
          <p:cNvSpPr/>
          <p:nvPr/>
        </p:nvSpPr>
        <p:spPr>
          <a:xfrm>
            <a:off x="5224680" y="4024080"/>
            <a:ext cx="367920" cy="195120"/>
          </a:xfrm>
          <a:prstGeom prst="leftArrow">
            <a:avLst>
              <a:gd fmla="val 50000" name="adj1"/>
              <a:gd fmla="val 50000" name="adj2"/>
            </a:avLst>
          </a:prstGeom>
          <a:solidFill>
            <a:srgbClr val="00B845"/>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37"/>
          <p:cNvSpPr/>
          <p:nvPr/>
        </p:nvSpPr>
        <p:spPr>
          <a:xfrm>
            <a:off x="5660280" y="3963240"/>
            <a:ext cx="1520280" cy="3164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Where we need to be</a:t>
            </a:r>
            <a:endParaRPr b="0" i="0" sz="900" u="none" cap="none" strike="noStrike">
              <a:latin typeface="Arial"/>
              <a:ea typeface="Arial"/>
              <a:cs typeface="Arial"/>
              <a:sym typeface="Arial"/>
            </a:endParaRPr>
          </a:p>
        </p:txBody>
      </p:sp>
      <p:grpSp>
        <p:nvGrpSpPr>
          <p:cNvPr id="670" name="Google Shape;670;p137"/>
          <p:cNvGrpSpPr/>
          <p:nvPr/>
        </p:nvGrpSpPr>
        <p:grpSpPr>
          <a:xfrm>
            <a:off x="8546760" y="0"/>
            <a:ext cx="594000" cy="679680"/>
            <a:chOff x="8546760" y="0"/>
            <a:chExt cx="594000" cy="679680"/>
          </a:xfrm>
        </p:grpSpPr>
        <p:sp>
          <p:nvSpPr>
            <p:cNvPr id="671" name="Google Shape;671;p137"/>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 name="Google Shape;672;p137"/>
            <p:cNvGrpSpPr/>
            <p:nvPr/>
          </p:nvGrpSpPr>
          <p:grpSpPr>
            <a:xfrm>
              <a:off x="8585280" y="0"/>
              <a:ext cx="555480" cy="679680"/>
              <a:chOff x="8585280" y="0"/>
              <a:chExt cx="555480" cy="679680"/>
            </a:xfrm>
          </p:grpSpPr>
          <p:pic>
            <p:nvPicPr>
              <p:cNvPr id="673" name="Google Shape;673;p137"/>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674" name="Google Shape;674;p137"/>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38"/>
          <p:cNvSpPr txBox="1"/>
          <p:nvPr/>
        </p:nvSpPr>
        <p:spPr>
          <a:xfrm>
            <a:off x="473760" y="125280"/>
            <a:ext cx="7086240" cy="294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Governance Dashboard:</a:t>
            </a:r>
            <a:r>
              <a:rPr b="1" i="0" lang="en-US" sz="2100" u="none" cap="none" strike="noStrike">
                <a:solidFill>
                  <a:srgbClr val="000000"/>
                </a:solidFill>
                <a:latin typeface="Arial"/>
                <a:ea typeface="Arial"/>
                <a:cs typeface="Arial"/>
                <a:sym typeface="Arial"/>
              </a:rPr>
              <a:t> Areas, Standards, Engineering</a:t>
            </a:r>
            <a:br>
              <a:rPr b="0" i="0" lang="en-US" sz="1800" u="none" cap="none" strike="noStrike"/>
            </a:br>
            <a:endParaRPr b="0" i="0" sz="2100" u="none" cap="none" strike="noStrike">
              <a:solidFill>
                <a:srgbClr val="000000"/>
              </a:solidFill>
              <a:latin typeface="Arial"/>
              <a:ea typeface="Arial"/>
              <a:cs typeface="Arial"/>
              <a:sym typeface="Arial"/>
            </a:endParaRPr>
          </a:p>
        </p:txBody>
      </p:sp>
      <p:graphicFrame>
        <p:nvGraphicFramePr>
          <p:cNvPr id="680" name="Google Shape;680;p138"/>
          <p:cNvGraphicFramePr/>
          <p:nvPr/>
        </p:nvGraphicFramePr>
        <p:xfrm>
          <a:off x="557640" y="627480"/>
          <a:ext cx="3000000" cy="3000000"/>
        </p:xfrm>
        <a:graphic>
          <a:graphicData uri="http://schemas.openxmlformats.org/drawingml/2006/table">
            <a:tbl>
              <a:tblPr>
                <a:noFill/>
                <a:tableStyleId>{A5CCED54-64A5-4922-B6CA-C00A0C7C77DD}</a:tableStyleId>
              </a:tblPr>
              <a:tblGrid>
                <a:gridCol w="1555200"/>
                <a:gridCol w="1918075"/>
                <a:gridCol w="2073600"/>
                <a:gridCol w="2482200"/>
              </a:tblGrid>
              <a:tr h="367550">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Governance Practice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Area Focused</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Standards (ISO/OMG)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Supporting Engineering Discipline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D2DDF9"/>
                    </a:solidFill>
                  </a:tcPr>
                </a:tc>
              </a:tr>
              <a:tr h="52885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DG Data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quality, access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 38505, DAMA DMBOK, ISO 8000</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Engineering, Information Systems</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7700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Part of DG</a:t>
                      </a:r>
                      <a:endParaRPr b="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Master Data Management</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Core entities, harmonization</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OMG MDM, ISO 11179</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Database Engineering, Systems Design</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r>
              <a:tr h="63360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SG Semantic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Vocabularies, Taxonomies, Ontologies, Meaning, Context, Lineage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W3C, OMG Semantic Governance, ISO 11179</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Knowledge Engineering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52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Part of SG </a:t>
                      </a:r>
                      <a:endParaRPr b="0" sz="9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Metadata Management</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Data Context, Lineage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 11179, OMG Meta-Object Facility</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Software Engineering, Information Architecture</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solidFill>
                      <a:srgbClr val="F3EDE0"/>
                    </a:solidFill>
                  </a:tcPr>
                </a:tc>
              </a:tr>
              <a:tr h="33732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BI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Reporting, analytics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Various (industry-specific)</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Business Intelligence, Analytics Engineering</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5275">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AI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Model oversight, ethics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ISO/IEC 42001, EU AI Act, NIST AI RMF</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Machine Learning Engineering, Responsible AI</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r h="484550">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DI Decision Intelligence Governance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Decision modeling, feedback</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OMG Decision Model &amp; Notation (DMN)</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900" u="none" cap="none" strike="noStrike">
                          <a:solidFill>
                            <a:srgbClr val="222222"/>
                          </a:solidFill>
                          <a:latin typeface="Arial"/>
                          <a:ea typeface="Arial"/>
                          <a:cs typeface="Arial"/>
                          <a:sym typeface="Arial"/>
                        </a:rPr>
                        <a:t>Decision Science, Operations Research</a:t>
                      </a:r>
                      <a:endParaRPr b="0" sz="900" u="none" cap="none" strike="noStrike">
                        <a:latin typeface="Arial"/>
                        <a:ea typeface="Arial"/>
                        <a:cs typeface="Arial"/>
                        <a:sym typeface="Arial"/>
                      </a:endParaRPr>
                    </a:p>
                  </a:txBody>
                  <a:tcPr marT="45725" marB="45725" marR="91075" marL="91075">
                    <a:lnL cap="flat" cmpd="sng" w="18700">
                      <a:solidFill>
                        <a:srgbClr val="0089EC"/>
                      </a:solidFill>
                      <a:prstDash val="solid"/>
                      <a:round/>
                      <a:headEnd len="sm" w="sm" type="none"/>
                      <a:tailEnd len="sm" w="sm" type="none"/>
                    </a:lnL>
                    <a:lnR cap="flat" cmpd="sng" w="18700">
                      <a:solidFill>
                        <a:srgbClr val="0089EC"/>
                      </a:solidFill>
                      <a:prstDash val="solid"/>
                      <a:round/>
                      <a:headEnd len="sm" w="sm" type="none"/>
                      <a:tailEnd len="sm" w="sm" type="none"/>
                    </a:lnR>
                    <a:lnT cap="flat" cmpd="sng" w="18700">
                      <a:solidFill>
                        <a:srgbClr val="0089EC"/>
                      </a:solidFill>
                      <a:prstDash val="solid"/>
                      <a:round/>
                      <a:headEnd len="sm" w="sm" type="none"/>
                      <a:tailEnd len="sm" w="sm" type="none"/>
                    </a:lnT>
                    <a:lnB cap="flat" cmpd="sng" w="18700">
                      <a:solidFill>
                        <a:srgbClr val="0089EC"/>
                      </a:solidFill>
                      <a:prstDash val="solid"/>
                      <a:round/>
                      <a:headEnd len="sm" w="sm" type="none"/>
                      <a:tailEnd len="sm" w="sm" type="none"/>
                    </a:lnB>
                  </a:tcPr>
                </a:tc>
              </a:tr>
            </a:tbl>
          </a:graphicData>
        </a:graphic>
      </p:graphicFrame>
      <p:sp>
        <p:nvSpPr>
          <p:cNvPr id="681" name="Google Shape;681;p138"/>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682" name="Google Shape;682;p138"/>
          <p:cNvGrpSpPr/>
          <p:nvPr/>
        </p:nvGrpSpPr>
        <p:grpSpPr>
          <a:xfrm>
            <a:off x="8546760" y="0"/>
            <a:ext cx="594000" cy="679680"/>
            <a:chOff x="8546760" y="0"/>
            <a:chExt cx="594000" cy="679680"/>
          </a:xfrm>
        </p:grpSpPr>
        <p:sp>
          <p:nvSpPr>
            <p:cNvPr id="683" name="Google Shape;683;p138"/>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4" name="Google Shape;684;p138"/>
            <p:cNvGrpSpPr/>
            <p:nvPr/>
          </p:nvGrpSpPr>
          <p:grpSpPr>
            <a:xfrm>
              <a:off x="8585280" y="0"/>
              <a:ext cx="555480" cy="679680"/>
              <a:chOff x="8585280" y="0"/>
              <a:chExt cx="555480" cy="679680"/>
            </a:xfrm>
          </p:grpSpPr>
          <p:pic>
            <p:nvPicPr>
              <p:cNvPr id="685" name="Google Shape;685;p138"/>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686" name="Google Shape;686;p138"/>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39"/>
          <p:cNvSpPr txBox="1"/>
          <p:nvPr/>
        </p:nvSpPr>
        <p:spPr>
          <a:xfrm>
            <a:off x="473760" y="125280"/>
            <a:ext cx="7086240" cy="294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Governance Dashboard:</a:t>
            </a:r>
            <a:r>
              <a:rPr b="1" i="0" lang="en-US" sz="2100" u="none" cap="none" strike="noStrike">
                <a:solidFill>
                  <a:srgbClr val="000000"/>
                </a:solidFill>
                <a:latin typeface="Arial"/>
                <a:ea typeface="Arial"/>
                <a:cs typeface="Arial"/>
                <a:sym typeface="Arial"/>
              </a:rPr>
              <a:t> What, Why, HOW SG Impacts</a:t>
            </a:r>
            <a:endParaRPr b="0" i="0" sz="2100" u="none" cap="none" strike="noStrike">
              <a:solidFill>
                <a:srgbClr val="000000"/>
              </a:solidFill>
              <a:latin typeface="Arial"/>
              <a:ea typeface="Arial"/>
              <a:cs typeface="Arial"/>
              <a:sym typeface="Arial"/>
            </a:endParaRPr>
          </a:p>
        </p:txBody>
      </p:sp>
      <p:graphicFrame>
        <p:nvGraphicFramePr>
          <p:cNvPr id="692" name="Google Shape;692;p139"/>
          <p:cNvGraphicFramePr/>
          <p:nvPr/>
        </p:nvGraphicFramePr>
        <p:xfrm>
          <a:off x="472680" y="592920"/>
          <a:ext cx="3000000" cy="3000000"/>
        </p:xfrm>
        <a:graphic>
          <a:graphicData uri="http://schemas.openxmlformats.org/drawingml/2006/table">
            <a:tbl>
              <a:tblPr>
                <a:noFill/>
                <a:tableStyleId>{A5CCED54-64A5-4922-B6CA-C00A0C7C77DD}</a:tableStyleId>
              </a:tblPr>
              <a:tblGrid>
                <a:gridCol w="1609200"/>
                <a:gridCol w="1984675"/>
                <a:gridCol w="2145600"/>
                <a:gridCol w="2568600"/>
              </a:tblGrid>
              <a:tr h="329750">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Governance Type</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WHAT is Governed</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WHY it Matters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c>
                  <a:txBody>
                    <a:bodyPr/>
                    <a:lstStyle/>
                    <a:p>
                      <a:pPr indent="0" lvl="0" marL="0" marR="0" rtl="0" algn="ctr">
                        <a:lnSpc>
                          <a:spcPct val="115000"/>
                        </a:lnSpc>
                        <a:spcBef>
                          <a:spcPts val="0"/>
                        </a:spcBef>
                        <a:spcAft>
                          <a:spcPts val="0"/>
                        </a:spcAft>
                        <a:buNone/>
                      </a:pPr>
                      <a:r>
                        <a:rPr b="1" lang="en-US" sz="900" u="none" cap="none" strike="noStrike">
                          <a:solidFill>
                            <a:srgbClr val="222222"/>
                          </a:solidFill>
                          <a:latin typeface="Arial"/>
                          <a:ea typeface="Arial"/>
                          <a:cs typeface="Arial"/>
                          <a:sym typeface="Arial"/>
                        </a:rPr>
                        <a:t>HOW Semantic Governance Impacts</a:t>
                      </a:r>
                      <a:endParaRPr b="0" sz="9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D2DDF9"/>
                    </a:solidFill>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DG Data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Data quality, access, privacy, lifecycle, stewardship</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Ensures trustworthy, compliant, and usable data</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Provides unified meaning, links policies to semantics, enables interoperability​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Part of DG</a:t>
                      </a:r>
                      <a:endParaRPr b="0" sz="8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Master Data Management </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Core business entities ("golden records")—customers, products, etc.</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Accurate foundational data powers business operations, analytics, compliance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Aligns entity definitions, links master data across silos via ontologies, enables consistency​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SG Semantic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Meanings, ontologies, taxonomies, cross-organizational alignment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Prevents data silos, boosts interoperability, ensures context and meaning</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00"/>
                          </a:solidFill>
                          <a:latin typeface="Arial"/>
                          <a:ea typeface="Arial"/>
                          <a:cs typeface="Arial"/>
                          <a:sym typeface="Arial"/>
                        </a:rPr>
                        <a:t>Directly governs meanings, creates harmonized semantic artefacts, influences all other governance areas​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Part of SG </a:t>
                      </a:r>
                      <a:endParaRPr b="0" sz="8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Metadata Management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Data about data—context, lineage, definitions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Traceability, discoverability, regulatory reporting, AI &amp; analytics success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Aligns metadata vocabularies, integrates glossaries, harmonizes context for advanced analytics​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solidFill>
                      <a:srgbClr val="F3EDE0"/>
                    </a:solidFill>
                  </a:tcPr>
                </a:tc>
              </a:tr>
              <a:tr h="4453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BI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Analytics, business reporting, KPIs, dashboard data</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Accurate decision-making, regulatory reporting, performance management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Links report definitions to semantic models and controlled vocabularies for consistency​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AI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Models, training data, model ethics and transparency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Mitigates risk, ensures responsible use, explains outcomes and compliance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Embeds semantic intelligence in models, standardizes input/output concepts, improves explainability​</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r h="576725">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DI Decision Intelligence Governance</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Decision making frameworks, feedback loops, rationale, decision models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222222"/>
                          </a:solidFill>
                          <a:latin typeface="Arial"/>
                          <a:ea typeface="Arial"/>
                          <a:cs typeface="Arial"/>
                          <a:sym typeface="Arial"/>
                        </a:rPr>
                        <a:t>Increases decision quality, traceability, accountability, optimizes outcomes</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b="0" lang="en-US" sz="800" u="none" cap="none" strike="noStrike">
                          <a:solidFill>
                            <a:srgbClr val="0000FF"/>
                          </a:solidFill>
                          <a:latin typeface="Arial"/>
                          <a:ea typeface="Arial"/>
                          <a:cs typeface="Arial"/>
                          <a:sym typeface="Arial"/>
                        </a:rPr>
                        <a:t>Links decision logic, business rules, and causal relationships through semantic artifacts and ontology alignment</a:t>
                      </a:r>
                      <a:endParaRPr b="0" sz="800" u="none" cap="none" strike="noStrike">
                        <a:latin typeface="Arial"/>
                        <a:ea typeface="Arial"/>
                        <a:cs typeface="Arial"/>
                        <a:sym typeface="Arial"/>
                      </a:endParaRPr>
                    </a:p>
                  </a:txBody>
                  <a:tcPr marT="45725" marB="45725" marR="91075" marL="91075">
                    <a:lnL cap="flat" cmpd="sng" w="18700">
                      <a:solidFill>
                        <a:srgbClr val="5C73E6"/>
                      </a:solidFill>
                      <a:prstDash val="solid"/>
                      <a:round/>
                      <a:headEnd len="sm" w="sm" type="none"/>
                      <a:tailEnd len="sm" w="sm" type="none"/>
                    </a:lnL>
                    <a:lnR cap="flat" cmpd="sng" w="18700">
                      <a:solidFill>
                        <a:srgbClr val="5C73E6"/>
                      </a:solidFill>
                      <a:prstDash val="solid"/>
                      <a:round/>
                      <a:headEnd len="sm" w="sm" type="none"/>
                      <a:tailEnd len="sm" w="sm" type="none"/>
                    </a:lnR>
                    <a:lnT cap="flat" cmpd="sng" w="18700">
                      <a:solidFill>
                        <a:srgbClr val="5C73E6"/>
                      </a:solidFill>
                      <a:prstDash val="solid"/>
                      <a:round/>
                      <a:headEnd len="sm" w="sm" type="none"/>
                      <a:tailEnd len="sm" w="sm" type="none"/>
                    </a:lnT>
                    <a:lnB cap="flat" cmpd="sng" w="18700">
                      <a:solidFill>
                        <a:srgbClr val="5C73E6"/>
                      </a:solidFill>
                      <a:prstDash val="solid"/>
                      <a:round/>
                      <a:headEnd len="sm" w="sm" type="none"/>
                      <a:tailEnd len="sm" w="sm" type="none"/>
                    </a:lnB>
                  </a:tcPr>
                </a:tc>
              </a:tr>
            </a:tbl>
          </a:graphicData>
        </a:graphic>
      </p:graphicFrame>
      <p:sp>
        <p:nvSpPr>
          <p:cNvPr id="693" name="Google Shape;693;p139"/>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694" name="Google Shape;694;p139"/>
          <p:cNvGrpSpPr/>
          <p:nvPr/>
        </p:nvGrpSpPr>
        <p:grpSpPr>
          <a:xfrm>
            <a:off x="8546760" y="0"/>
            <a:ext cx="594000" cy="679680"/>
            <a:chOff x="8546760" y="0"/>
            <a:chExt cx="594000" cy="679680"/>
          </a:xfrm>
        </p:grpSpPr>
        <p:sp>
          <p:nvSpPr>
            <p:cNvPr id="695" name="Google Shape;695;p139"/>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6" name="Google Shape;696;p139"/>
            <p:cNvGrpSpPr/>
            <p:nvPr/>
          </p:nvGrpSpPr>
          <p:grpSpPr>
            <a:xfrm>
              <a:off x="8585280" y="0"/>
              <a:ext cx="555480" cy="679680"/>
              <a:chOff x="8585280" y="0"/>
              <a:chExt cx="555480" cy="679680"/>
            </a:xfrm>
          </p:grpSpPr>
          <p:pic>
            <p:nvPicPr>
              <p:cNvPr id="697" name="Google Shape;697;p139"/>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698" name="Google Shape;698;p139"/>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40"/>
          <p:cNvSpPr txBox="1"/>
          <p:nvPr/>
        </p:nvSpPr>
        <p:spPr>
          <a:xfrm>
            <a:off x="473760" y="82080"/>
            <a:ext cx="7086240" cy="34632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Enabling the Knowledge Fabric</a:t>
            </a:r>
            <a:endParaRPr b="0" i="0" sz="2100" u="none" cap="none" strike="noStrike">
              <a:solidFill>
                <a:srgbClr val="000000"/>
              </a:solidFill>
              <a:latin typeface="Arial"/>
              <a:ea typeface="Arial"/>
              <a:cs typeface="Arial"/>
              <a:sym typeface="Arial"/>
            </a:endParaRPr>
          </a:p>
        </p:txBody>
      </p:sp>
      <p:sp>
        <p:nvSpPr>
          <p:cNvPr id="704" name="Google Shape;704;p140"/>
          <p:cNvSpPr txBox="1"/>
          <p:nvPr/>
        </p:nvSpPr>
        <p:spPr>
          <a:xfrm>
            <a:off x="444240" y="818280"/>
            <a:ext cx="416952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Data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infrastructure enabling integration, access, and orchestration of data across diverse systems, formats, and locations in a unified, scalable way. </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Ensure that data is accessible, governed, and available to support operational and analytical use cases.</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Typically includes ETL/ELT tools, data lakes, data warehouses, APIs, and governance frameworks</a:t>
            </a:r>
            <a:endParaRPr b="0" i="0" sz="1100" u="none" cap="none" strike="noStrike">
              <a:solidFill>
                <a:srgbClr val="000000"/>
              </a:solidFill>
              <a:latin typeface="Arial"/>
              <a:ea typeface="Arial"/>
              <a:cs typeface="Arial"/>
              <a:sym typeface="Arial"/>
            </a:endParaRPr>
          </a:p>
        </p:txBody>
      </p:sp>
      <p:sp>
        <p:nvSpPr>
          <p:cNvPr id="705" name="Google Shape;705;p140"/>
          <p:cNvSpPr txBox="1"/>
          <p:nvPr/>
        </p:nvSpPr>
        <p:spPr>
          <a:xfrm>
            <a:off x="4787640" y="818280"/>
            <a:ext cx="4021560" cy="3085920"/>
          </a:xfrm>
          <a:prstGeom prst="rect">
            <a:avLst/>
          </a:prstGeom>
          <a:solidFill>
            <a:srgbClr val="F3EDE0"/>
          </a:solidFill>
          <a:ln cap="flat" cmpd="sng" w="28425">
            <a:solidFill>
              <a:srgbClr val="F3EDE0"/>
            </a:solidFill>
            <a:prstDash val="solid"/>
            <a:round/>
            <a:headEnd len="sm" w="sm" type="none"/>
            <a:tailEnd len="sm" w="sm" type="none"/>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Knowledge Fabric</a:t>
            </a:r>
            <a:endParaRPr b="0" i="0" sz="139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Focus on context, meaning, and intelligence from integrated data.</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Extends the data fabric emphasizing the semantic layer by dynamically enriching data with context, relationships, and meaning using ontologies, knowledge graphs, and AI-driven reasoning.</a:t>
            </a:r>
            <a:endParaRPr b="0" i="0" sz="1100" u="none" cap="none" strike="noStrike">
              <a:solidFill>
                <a:srgbClr val="000000"/>
              </a:solidFill>
              <a:latin typeface="Arial"/>
              <a:ea typeface="Arial"/>
              <a:cs typeface="Arial"/>
              <a:sym typeface="Arial"/>
            </a:endParaRPr>
          </a:p>
          <a:p>
            <a:pPr indent="-298080" lvl="0" marL="457200" marR="0" rtl="0" algn="l">
              <a:lnSpc>
                <a:spcPct val="115000"/>
              </a:lnSpc>
              <a:spcBef>
                <a:spcPts val="1001"/>
              </a:spcBef>
              <a:spcAft>
                <a:spcPts val="0"/>
              </a:spcAft>
              <a:buClr>
                <a:srgbClr val="222222"/>
              </a:buClr>
              <a:buSzPts val="1100"/>
              <a:buFont typeface="Arial"/>
              <a:buChar char="●"/>
            </a:pPr>
            <a:r>
              <a:rPr b="0" i="0" lang="en-US" sz="1100" u="none" cap="none" strike="noStrike">
                <a:solidFill>
                  <a:srgbClr val="222222"/>
                </a:solidFill>
                <a:latin typeface="Arial"/>
                <a:ea typeface="Arial"/>
                <a:cs typeface="Arial"/>
                <a:sym typeface="Arial"/>
              </a:rPr>
              <a:t>Derives insights, enhances decision-making, and creates a shared understanding across an organization by connecting and contextualizing data.</a:t>
            </a:r>
            <a:endParaRPr b="0" i="0" sz="1100" u="none" cap="none" strike="noStrike">
              <a:solidFill>
                <a:srgbClr val="000000"/>
              </a:solidFill>
              <a:latin typeface="Arial"/>
              <a:ea typeface="Arial"/>
              <a:cs typeface="Arial"/>
              <a:sym typeface="Arial"/>
            </a:endParaRPr>
          </a:p>
        </p:txBody>
      </p:sp>
      <p:sp>
        <p:nvSpPr>
          <p:cNvPr id="706" name="Google Shape;706;p140"/>
          <p:cNvSpPr/>
          <p:nvPr/>
        </p:nvSpPr>
        <p:spPr>
          <a:xfrm>
            <a:off x="4108680" y="3531960"/>
            <a:ext cx="1222560" cy="281520"/>
          </a:xfrm>
          <a:prstGeom prst="leftRightArrow">
            <a:avLst>
              <a:gd fmla="val 50000" name="adj1"/>
              <a:gd fmla="val 50000" name="adj2"/>
            </a:avLst>
          </a:prstGeom>
          <a:solidFill>
            <a:srgbClr val="D8D8D8"/>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800" u="none" cap="none" strike="noStrike">
                <a:solidFill>
                  <a:srgbClr val="595959"/>
                </a:solidFill>
                <a:latin typeface="Arial"/>
                <a:ea typeface="Arial"/>
                <a:cs typeface="Arial"/>
                <a:sym typeface="Arial"/>
              </a:rPr>
              <a:t>Complimentary</a:t>
            </a:r>
            <a:endParaRPr b="0" i="0" sz="800" u="none" cap="none" strike="noStrike">
              <a:latin typeface="Arial"/>
              <a:ea typeface="Arial"/>
              <a:cs typeface="Arial"/>
              <a:sym typeface="Arial"/>
            </a:endParaRPr>
          </a:p>
        </p:txBody>
      </p:sp>
      <p:sp>
        <p:nvSpPr>
          <p:cNvPr id="707" name="Google Shape;707;p140"/>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708" name="Google Shape;708;p140"/>
          <p:cNvGrpSpPr/>
          <p:nvPr/>
        </p:nvGrpSpPr>
        <p:grpSpPr>
          <a:xfrm>
            <a:off x="8546760" y="0"/>
            <a:ext cx="594000" cy="679680"/>
            <a:chOff x="8546760" y="0"/>
            <a:chExt cx="594000" cy="679680"/>
          </a:xfrm>
        </p:grpSpPr>
        <p:sp>
          <p:nvSpPr>
            <p:cNvPr id="709" name="Google Shape;709;p140"/>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0" name="Google Shape;710;p140"/>
            <p:cNvGrpSpPr/>
            <p:nvPr/>
          </p:nvGrpSpPr>
          <p:grpSpPr>
            <a:xfrm>
              <a:off x="8585280" y="0"/>
              <a:ext cx="555480" cy="679680"/>
              <a:chOff x="8585280" y="0"/>
              <a:chExt cx="555480" cy="679680"/>
            </a:xfrm>
          </p:grpSpPr>
          <p:pic>
            <p:nvPicPr>
              <p:cNvPr id="711" name="Google Shape;711;p140"/>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712" name="Google Shape;712;p140"/>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141"/>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Overview</a:t>
            </a:r>
            <a:endParaRPr b="0" i="0" sz="2000" u="none" cap="none" strike="noStrike">
              <a:solidFill>
                <a:srgbClr val="000000"/>
              </a:solidFill>
              <a:latin typeface="Arial"/>
              <a:ea typeface="Arial"/>
              <a:cs typeface="Arial"/>
              <a:sym typeface="Arial"/>
            </a:endParaRPr>
          </a:p>
        </p:txBody>
      </p:sp>
      <p:sp>
        <p:nvSpPr>
          <p:cNvPr id="718" name="Google Shape;718;p141"/>
          <p:cNvSpPr/>
          <p:nvPr/>
        </p:nvSpPr>
        <p:spPr>
          <a:xfrm>
            <a:off x="563400" y="712080"/>
            <a:ext cx="8158320" cy="250704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550" u="none" cap="none" strike="noStrike">
                <a:solidFill>
                  <a:srgbClr val="3A383F"/>
                </a:solidFill>
                <a:latin typeface="Arial"/>
                <a:ea typeface="Arial"/>
                <a:cs typeface="Arial"/>
                <a:sym typeface="Arial"/>
              </a:rPr>
              <a:t>Semantic Governance is built upon standards (ISO) and best practices for Knowledge Engineering to create and maintain the core knowledge (vocabularies, taxonomies, and ontologies) shared across the organization and the domain-specific knowledge (vocabularies, taxonomies, and ontologies unique to each domain and sub-domain)</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rPr b="0" i="0" lang="en-US" sz="1550" u="none" cap="none" strike="noStrike">
                <a:solidFill>
                  <a:srgbClr val="3A383F"/>
                </a:solidFill>
                <a:latin typeface="Arial"/>
                <a:ea typeface="Arial"/>
                <a:cs typeface="Arial"/>
                <a:sym typeface="Arial"/>
              </a:rPr>
              <a:t>These knowledge artifacts are built and maintained in our Semantic Knowledge Layer using the Semantic Services (prior slide) and governed with our Operating Model to ensure controls are in place covering all phases of the Knowledge Engineering Lifecycle including publishing and downstream consumption of enterprise and domain-specific knowledge. </a:t>
            </a:r>
            <a:endParaRPr b="0" i="0" sz="1550" u="none" cap="none" strike="noStrike">
              <a:latin typeface="Arial"/>
              <a:ea typeface="Arial"/>
              <a:cs typeface="Arial"/>
              <a:sym typeface="Arial"/>
            </a:endParaRPr>
          </a:p>
        </p:txBody>
      </p:sp>
      <p:sp>
        <p:nvSpPr>
          <p:cNvPr id="719" name="Google Shape;719;p141"/>
          <p:cNvSpPr/>
          <p:nvPr/>
        </p:nvSpPr>
        <p:spPr>
          <a:xfrm>
            <a:off x="7560360" y="4789440"/>
            <a:ext cx="1582920" cy="35064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720" name="Google Shape;720;p141"/>
          <p:cNvGrpSpPr/>
          <p:nvPr/>
        </p:nvGrpSpPr>
        <p:grpSpPr>
          <a:xfrm>
            <a:off x="8546760" y="0"/>
            <a:ext cx="594000" cy="679680"/>
            <a:chOff x="8546760" y="0"/>
            <a:chExt cx="594000" cy="679680"/>
          </a:xfrm>
        </p:grpSpPr>
        <p:sp>
          <p:nvSpPr>
            <p:cNvPr id="721" name="Google Shape;721;p141"/>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141"/>
            <p:cNvGrpSpPr/>
            <p:nvPr/>
          </p:nvGrpSpPr>
          <p:grpSpPr>
            <a:xfrm>
              <a:off x="8585280" y="0"/>
              <a:ext cx="555480" cy="679680"/>
              <a:chOff x="8585280" y="0"/>
              <a:chExt cx="555480" cy="679680"/>
            </a:xfrm>
          </p:grpSpPr>
          <p:pic>
            <p:nvPicPr>
              <p:cNvPr id="723" name="Google Shape;723;p141"/>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724" name="Google Shape;724;p141"/>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42"/>
          <p:cNvSpPr txBox="1"/>
          <p:nvPr/>
        </p:nvSpPr>
        <p:spPr>
          <a:xfrm>
            <a:off x="451080" y="136800"/>
            <a:ext cx="8350920" cy="3319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2100" u="none" cap="none" strike="noStrike">
                <a:solidFill>
                  <a:srgbClr val="000000"/>
                </a:solidFill>
                <a:latin typeface="Arial"/>
                <a:ea typeface="Arial"/>
                <a:cs typeface="Arial"/>
                <a:sym typeface="Arial"/>
              </a:rPr>
              <a:t>Semantic Governance (What &amp; Where) </a:t>
            </a:r>
            <a:endParaRPr b="0" i="0" sz="2100" u="none" cap="none" strike="noStrike">
              <a:solidFill>
                <a:srgbClr val="000000"/>
              </a:solidFill>
              <a:latin typeface="Arial"/>
              <a:ea typeface="Arial"/>
              <a:cs typeface="Arial"/>
              <a:sym typeface="Arial"/>
            </a:endParaRPr>
          </a:p>
        </p:txBody>
      </p:sp>
      <p:sp>
        <p:nvSpPr>
          <p:cNvPr id="730" name="Google Shape;730;p142"/>
          <p:cNvSpPr txBox="1"/>
          <p:nvPr/>
        </p:nvSpPr>
        <p:spPr>
          <a:xfrm>
            <a:off x="457200" y="1014480"/>
            <a:ext cx="8103600" cy="2421360"/>
          </a:xfrm>
          <a:prstGeom prst="rect">
            <a:avLst/>
          </a:prstGeom>
          <a:noFill/>
          <a:ln cap="flat" cmpd="sng" w="9525">
            <a:solidFill>
              <a:srgbClr val="FFFFFF"/>
            </a:solidFill>
            <a:prstDash val="solid"/>
            <a:round/>
            <a:headEnd len="sm" w="sm" type="none"/>
            <a:tailEnd len="sm" w="sm" type="none"/>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390" u="none" cap="none" strike="noStrike">
                <a:solidFill>
                  <a:srgbClr val="000000"/>
                </a:solidFill>
                <a:latin typeface="Arial"/>
                <a:ea typeface="Arial"/>
                <a:cs typeface="Arial"/>
                <a:sym typeface="Arial"/>
              </a:rPr>
              <a:t>WHAT is it?</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built atop ontologies, linked data, and graphs to simplify search, discovery, and enable advanced querying, reasoning, and understanding across digital assets.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1" i="0" lang="en-US" sz="1390" u="none" cap="none" strike="noStrike">
                <a:solidFill>
                  <a:srgbClr val="000000"/>
                </a:solidFill>
                <a:latin typeface="Arial"/>
                <a:ea typeface="Arial"/>
                <a:cs typeface="Arial"/>
                <a:sym typeface="Arial"/>
              </a:rPr>
              <a:t>WHERE does it fit in?</a:t>
            </a:r>
            <a:endParaRPr b="0" i="0" sz="1390" u="none" cap="none" strike="noStrike">
              <a:solidFill>
                <a:srgbClr val="000000"/>
              </a:solidFill>
              <a:latin typeface="Arial"/>
              <a:ea typeface="Arial"/>
              <a:cs typeface="Arial"/>
              <a:sym typeface="Arial"/>
            </a:endParaRPr>
          </a:p>
          <a:p>
            <a:pPr indent="-316800" lvl="0" marL="457200" marR="0" rtl="0" algn="l">
              <a:lnSpc>
                <a:spcPct val="100000"/>
              </a:lnSpc>
              <a:spcBef>
                <a:spcPts val="1001"/>
              </a:spcBef>
              <a:spcAft>
                <a:spcPts val="0"/>
              </a:spcAft>
              <a:buClr>
                <a:srgbClr val="000000"/>
              </a:buClr>
              <a:buSzPts val="1390"/>
              <a:buFont typeface="Arial"/>
              <a:buChar char="●"/>
            </a:pPr>
            <a:r>
              <a:rPr b="0" i="0" lang="en-US" sz="1390" u="none" cap="none" strike="noStrike">
                <a:solidFill>
                  <a:srgbClr val="000000"/>
                </a:solidFill>
                <a:latin typeface="Arial"/>
                <a:ea typeface="Arial"/>
                <a:cs typeface="Arial"/>
                <a:sym typeface="Arial"/>
              </a:rPr>
              <a:t>Semantic Governance is enabled by a Semantic Knowledge Layer that sits atop existing infrastructure (e.g., data, systems, tools) to provide a unified, meaningful view of structured and unstructured information for services and stakeholders.</a:t>
            </a:r>
            <a:endParaRPr b="0" i="0" sz="139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390" u="none" cap="none" strike="noStrike">
              <a:solidFill>
                <a:srgbClr val="000000"/>
              </a:solidFill>
              <a:latin typeface="Arial"/>
              <a:ea typeface="Arial"/>
              <a:cs typeface="Arial"/>
              <a:sym typeface="Arial"/>
            </a:endParaRPr>
          </a:p>
        </p:txBody>
      </p:sp>
      <p:sp>
        <p:nvSpPr>
          <p:cNvPr id="731" name="Google Shape;731;p142"/>
          <p:cNvSpPr/>
          <p:nvPr/>
        </p:nvSpPr>
        <p:spPr>
          <a:xfrm>
            <a:off x="1284840" y="3610800"/>
            <a:ext cx="6471720" cy="32904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None/>
            </a:pPr>
            <a:r>
              <a:rPr b="1" i="0" lang="en-US" sz="1200" u="none" cap="none" strike="noStrike">
                <a:solidFill>
                  <a:srgbClr val="F50A23"/>
                </a:solidFill>
                <a:latin typeface="Arial"/>
                <a:ea typeface="Arial"/>
                <a:cs typeface="Arial"/>
                <a:sym typeface="Arial"/>
              </a:rPr>
              <a:t>Goal: Improve Relevancy &amp; Understanding for Business and Technical Stakeholders</a:t>
            </a:r>
            <a:endParaRPr b="0" i="0" sz="1200" u="none" cap="none" strike="noStrike">
              <a:latin typeface="Arial"/>
              <a:ea typeface="Arial"/>
              <a:cs typeface="Arial"/>
              <a:sym typeface="Arial"/>
            </a:endParaRPr>
          </a:p>
        </p:txBody>
      </p:sp>
      <p:sp>
        <p:nvSpPr>
          <p:cNvPr id="732" name="Google Shape;732;p142"/>
          <p:cNvSpPr/>
          <p:nvPr/>
        </p:nvSpPr>
        <p:spPr>
          <a:xfrm>
            <a:off x="7560360" y="4789440"/>
            <a:ext cx="1582920" cy="350640"/>
          </a:xfrm>
          <a:prstGeom prst="rect">
            <a:avLst/>
          </a:prstGeom>
          <a:solidFill>
            <a:srgbClr val="F50A2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733" name="Google Shape;733;p142"/>
          <p:cNvGrpSpPr/>
          <p:nvPr/>
        </p:nvGrpSpPr>
        <p:grpSpPr>
          <a:xfrm>
            <a:off x="8546760" y="0"/>
            <a:ext cx="594000" cy="679680"/>
            <a:chOff x="8546760" y="0"/>
            <a:chExt cx="594000" cy="679680"/>
          </a:xfrm>
        </p:grpSpPr>
        <p:sp>
          <p:nvSpPr>
            <p:cNvPr id="734" name="Google Shape;734;p142"/>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 name="Google Shape;735;p142"/>
            <p:cNvGrpSpPr/>
            <p:nvPr/>
          </p:nvGrpSpPr>
          <p:grpSpPr>
            <a:xfrm>
              <a:off x="8585280" y="0"/>
              <a:ext cx="555480" cy="679680"/>
              <a:chOff x="8585280" y="0"/>
              <a:chExt cx="555480" cy="679680"/>
            </a:xfrm>
          </p:grpSpPr>
          <p:pic>
            <p:nvPicPr>
              <p:cNvPr id="736" name="Google Shape;736;p142"/>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737" name="Google Shape;737;p142"/>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43"/>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(How)</a:t>
            </a:r>
            <a:endParaRPr b="0" i="0" sz="2000" u="none" cap="none" strike="noStrike">
              <a:solidFill>
                <a:srgbClr val="000000"/>
              </a:solidFill>
              <a:latin typeface="Arial"/>
              <a:ea typeface="Arial"/>
              <a:cs typeface="Arial"/>
              <a:sym typeface="Arial"/>
            </a:endParaRPr>
          </a:p>
        </p:txBody>
      </p:sp>
      <p:sp>
        <p:nvSpPr>
          <p:cNvPr id="743" name="Google Shape;743;p143"/>
          <p:cNvSpPr/>
          <p:nvPr/>
        </p:nvSpPr>
        <p:spPr>
          <a:xfrm>
            <a:off x="563400" y="712080"/>
            <a:ext cx="8158320" cy="362592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550" u="none" cap="none" strike="noStrike">
                <a:solidFill>
                  <a:srgbClr val="3A383F"/>
                </a:solidFill>
                <a:latin typeface="Arial"/>
                <a:ea typeface="Arial"/>
                <a:cs typeface="Arial"/>
                <a:sym typeface="Arial"/>
              </a:rPr>
              <a:t>Establish Foundation, Operating Model and Semantic Services to </a:t>
            </a:r>
            <a:r>
              <a:rPr b="1" i="0" lang="en-US" sz="1550" u="none" cap="none" strike="noStrike">
                <a:solidFill>
                  <a:srgbClr val="00AC3E"/>
                </a:solidFill>
                <a:latin typeface="Arial"/>
                <a:ea typeface="Arial"/>
                <a:cs typeface="Arial"/>
                <a:sym typeface="Arial"/>
              </a:rPr>
              <a:t>reduce ambiguity, manage heterogeneity, and improve the accuracy and relevancy of search for people and machines</a:t>
            </a:r>
            <a:r>
              <a:rPr b="0" i="0" lang="en-US" sz="1550" u="none" cap="none" strike="noStrike">
                <a:solidFill>
                  <a:srgbClr val="3A383F"/>
                </a:solidFill>
                <a:latin typeface="Arial"/>
                <a:ea typeface="Arial"/>
                <a:cs typeface="Arial"/>
                <a:sym typeface="Arial"/>
              </a:rPr>
              <a:t> (including AI via Vector DB &amp; LLM optimization).</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t/>
            </a:r>
            <a:endParaRPr b="0" i="0" sz="1550" u="none" cap="none" strike="noStrike">
              <a:latin typeface="Arial"/>
              <a:ea typeface="Arial"/>
              <a:cs typeface="Arial"/>
              <a:sym typeface="Arial"/>
            </a:endParaRPr>
          </a:p>
          <a:p>
            <a:pPr indent="0" lvl="0" marL="0" marR="0" rtl="0" algn="l">
              <a:lnSpc>
                <a:spcPct val="115000"/>
              </a:lnSpc>
              <a:spcBef>
                <a:spcPts val="1199"/>
              </a:spcBef>
              <a:spcAft>
                <a:spcPts val="0"/>
              </a:spcAft>
              <a:buNone/>
            </a:pPr>
            <a:r>
              <a:rPr b="0" i="0" lang="en-US" sz="1550" u="none" cap="none" strike="noStrike">
                <a:solidFill>
                  <a:srgbClr val="3A383F"/>
                </a:solidFill>
                <a:latin typeface="Arial"/>
                <a:ea typeface="Arial"/>
                <a:cs typeface="Arial"/>
                <a:sym typeface="Arial"/>
              </a:rPr>
              <a:t>Semantic Services covers 3 core areas:</a:t>
            </a:r>
            <a:endParaRPr b="0" i="0" sz="1550" u="none" cap="none" strike="noStrike">
              <a:latin typeface="Arial"/>
              <a:ea typeface="Arial"/>
              <a:cs typeface="Arial"/>
              <a:sym typeface="Arial"/>
            </a:endParaRPr>
          </a:p>
          <a:p>
            <a:pPr indent="-326520" lvl="0" marL="457200" marR="0" rtl="0" algn="l">
              <a:lnSpc>
                <a:spcPct val="115000"/>
              </a:lnSpc>
              <a:spcBef>
                <a:spcPts val="1199"/>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Inbound - ingestion of structures which contain metadata about Digital Assets across the company</a:t>
            </a:r>
            <a:endParaRPr b="0" i="0" sz="1550" u="none" cap="none" strike="noStrike">
              <a:latin typeface="Arial"/>
              <a:ea typeface="Arial"/>
              <a:cs typeface="Arial"/>
              <a:sym typeface="Arial"/>
            </a:endParaRPr>
          </a:p>
          <a:p>
            <a:pPr indent="-326520" lvl="0" marL="457200" marR="0" rtl="0" algn="l">
              <a:lnSpc>
                <a:spcPct val="115000"/>
              </a:lnSpc>
              <a:spcBef>
                <a:spcPts val="0"/>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Processing - mapping of knowledge (Top-Down) to structures for digital assets (Bottom-Up) and extending knowledge (Top-Down)</a:t>
            </a:r>
            <a:endParaRPr b="0" i="0" sz="1550" u="none" cap="none" strike="noStrike">
              <a:latin typeface="Arial"/>
              <a:ea typeface="Arial"/>
              <a:cs typeface="Arial"/>
              <a:sym typeface="Arial"/>
            </a:endParaRPr>
          </a:p>
          <a:p>
            <a:pPr indent="-326520" lvl="0" marL="457200" marR="0" rtl="0" algn="l">
              <a:lnSpc>
                <a:spcPct val="115000"/>
              </a:lnSpc>
              <a:spcBef>
                <a:spcPts val="0"/>
              </a:spcBef>
              <a:spcAft>
                <a:spcPts val="0"/>
              </a:spcAft>
              <a:buClr>
                <a:srgbClr val="3A383F"/>
              </a:buClr>
              <a:buSzPts val="1550"/>
              <a:buFont typeface="Arial"/>
              <a:buChar char="●"/>
            </a:pPr>
            <a:r>
              <a:rPr b="0" i="0" lang="en-US" sz="1550" u="none" cap="none" strike="noStrike">
                <a:solidFill>
                  <a:srgbClr val="3A383F"/>
                </a:solidFill>
                <a:latin typeface="Arial"/>
                <a:ea typeface="Arial"/>
                <a:cs typeface="Arial"/>
                <a:sym typeface="Arial"/>
              </a:rPr>
              <a:t>Outbound - publishing Vocabularies, Taxonomies, Ontologies as Knowledge Artifacts that can be used by systems to deliver value</a:t>
            </a:r>
            <a:endParaRPr b="0" i="0" sz="1550" u="none" cap="none" strike="noStrike">
              <a:latin typeface="Arial"/>
              <a:ea typeface="Arial"/>
              <a:cs typeface="Arial"/>
              <a:sym typeface="Arial"/>
            </a:endParaRPr>
          </a:p>
        </p:txBody>
      </p:sp>
      <p:sp>
        <p:nvSpPr>
          <p:cNvPr id="744" name="Google Shape;744;p143"/>
          <p:cNvSpPr/>
          <p:nvPr/>
        </p:nvSpPr>
        <p:spPr>
          <a:xfrm>
            <a:off x="7560360" y="4789440"/>
            <a:ext cx="1582920" cy="35064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Arial"/>
                <a:ea typeface="Arial"/>
                <a:cs typeface="Arial"/>
                <a:sym typeface="Arial"/>
              </a:rPr>
              <a:t>Governance  Focus</a:t>
            </a:r>
            <a:endParaRPr b="0" i="0" sz="1100" u="none" cap="none" strike="noStrike">
              <a:latin typeface="Arial"/>
              <a:ea typeface="Arial"/>
              <a:cs typeface="Arial"/>
              <a:sym typeface="Arial"/>
            </a:endParaRPr>
          </a:p>
        </p:txBody>
      </p:sp>
      <p:grpSp>
        <p:nvGrpSpPr>
          <p:cNvPr id="745" name="Google Shape;745;p143"/>
          <p:cNvGrpSpPr/>
          <p:nvPr/>
        </p:nvGrpSpPr>
        <p:grpSpPr>
          <a:xfrm>
            <a:off x="8546760" y="0"/>
            <a:ext cx="594000" cy="679680"/>
            <a:chOff x="8546760" y="0"/>
            <a:chExt cx="594000" cy="679680"/>
          </a:xfrm>
        </p:grpSpPr>
        <p:sp>
          <p:nvSpPr>
            <p:cNvPr id="746" name="Google Shape;746;p143"/>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7" name="Google Shape;747;p143"/>
            <p:cNvGrpSpPr/>
            <p:nvPr/>
          </p:nvGrpSpPr>
          <p:grpSpPr>
            <a:xfrm>
              <a:off x="8585280" y="0"/>
              <a:ext cx="555480" cy="679680"/>
              <a:chOff x="8585280" y="0"/>
              <a:chExt cx="555480" cy="679680"/>
            </a:xfrm>
          </p:grpSpPr>
          <p:pic>
            <p:nvPicPr>
              <p:cNvPr id="748" name="Google Shape;748;p143"/>
              <p:cNvPicPr preferRelativeResize="0"/>
              <p:nvPr/>
            </p:nvPicPr>
            <p:blipFill rotWithShape="1">
              <a:blip r:embed="rId3">
                <a:alphaModFix/>
              </a:blip>
              <a:srcRect b="0" l="20669" r="9844" t="0"/>
              <a:stretch/>
            </p:blipFill>
            <p:spPr>
              <a:xfrm>
                <a:off x="8585280" y="0"/>
                <a:ext cx="530640" cy="530640"/>
              </a:xfrm>
              <a:prstGeom prst="rect">
                <a:avLst/>
              </a:prstGeom>
              <a:noFill/>
              <a:ln>
                <a:noFill/>
              </a:ln>
            </p:spPr>
          </p:pic>
          <p:sp>
            <p:nvSpPr>
              <p:cNvPr id="749" name="Google Shape;749;p143"/>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44"/>
          <p:cNvSpPr txBox="1"/>
          <p:nvPr/>
        </p:nvSpPr>
        <p:spPr>
          <a:xfrm>
            <a:off x="473760" y="469080"/>
            <a:ext cx="6800760" cy="1324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None/>
            </a:pPr>
            <a:r>
              <a:rPr b="1" i="0" lang="en-US" sz="5000" u="none" cap="none" strike="noStrike">
                <a:solidFill>
                  <a:srgbClr val="FFFFFF"/>
                </a:solidFill>
                <a:latin typeface="Arial"/>
                <a:ea typeface="Arial"/>
                <a:cs typeface="Arial"/>
                <a:sym typeface="Arial"/>
              </a:rPr>
              <a:t>Technical Deep Dive</a:t>
            </a:r>
            <a:endParaRPr b="0" i="0" sz="5000" u="none" cap="none" strike="noStrike">
              <a:solidFill>
                <a:srgbClr val="000000"/>
              </a:solidFill>
              <a:latin typeface="Arial"/>
              <a:ea typeface="Arial"/>
              <a:cs typeface="Arial"/>
              <a:sym typeface="Arial"/>
            </a:endParaRPr>
          </a:p>
        </p:txBody>
      </p:sp>
      <p:sp>
        <p:nvSpPr>
          <p:cNvPr id="755" name="Google Shape;755;p144"/>
          <p:cNvSpPr txBox="1"/>
          <p:nvPr/>
        </p:nvSpPr>
        <p:spPr>
          <a:xfrm>
            <a:off x="473760" y="2577600"/>
            <a:ext cx="7504200" cy="1314360"/>
          </a:xfrm>
          <a:prstGeom prst="rect">
            <a:avLst/>
          </a:prstGeom>
          <a:noFill/>
          <a:ln>
            <a:noFill/>
          </a:ln>
        </p:spPr>
        <p:txBody>
          <a:bodyPr anchorCtr="0" anchor="t" bIns="0" lIns="0" spcFirstLastPara="1" rIns="0" wrap="square" tIns="0">
            <a:normAutofit/>
          </a:bodyPr>
          <a:lstStyle/>
          <a:p>
            <a:pPr indent="0" lvl="0" marL="0" marR="0" rtl="0" algn="l">
              <a:lnSpc>
                <a:spcPct val="98000"/>
              </a:lnSpc>
              <a:spcBef>
                <a:spcPts val="0"/>
              </a:spcBef>
              <a:spcAft>
                <a:spcPts val="0"/>
              </a:spcAft>
              <a:buNone/>
            </a:pPr>
            <a:r>
              <a:rPr b="1" i="0" lang="en-US" sz="2400" u="none" cap="none" strike="noStrike">
                <a:solidFill>
                  <a:srgbClr val="FF8027"/>
                </a:solidFill>
                <a:latin typeface="Arial"/>
                <a:ea typeface="Arial"/>
                <a:cs typeface="Arial"/>
                <a:sym typeface="Arial"/>
              </a:rPr>
              <a:t>Implementing Semantic Governance Services</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45"/>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(Top-Down Structure)</a:t>
            </a:r>
            <a:endParaRPr b="0" i="0" sz="2000" u="none" cap="none" strike="noStrike">
              <a:solidFill>
                <a:srgbClr val="000000"/>
              </a:solidFill>
              <a:latin typeface="Arial"/>
              <a:ea typeface="Arial"/>
              <a:cs typeface="Arial"/>
              <a:sym typeface="Arial"/>
            </a:endParaRPr>
          </a:p>
        </p:txBody>
      </p:sp>
      <p:sp>
        <p:nvSpPr>
          <p:cNvPr id="761" name="Google Shape;761;p145"/>
          <p:cNvSpPr/>
          <p:nvPr/>
        </p:nvSpPr>
        <p:spPr>
          <a:xfrm>
            <a:off x="5913720" y="1083240"/>
            <a:ext cx="127224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Base Classes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Relations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Properties</a:t>
            </a:r>
            <a:endParaRPr b="0" i="0" sz="900" u="none" cap="none" strike="noStrike">
              <a:latin typeface="Arial"/>
              <a:ea typeface="Arial"/>
              <a:cs typeface="Arial"/>
              <a:sym typeface="Arial"/>
            </a:endParaRPr>
          </a:p>
        </p:txBody>
      </p:sp>
      <p:sp>
        <p:nvSpPr>
          <p:cNvPr id="762" name="Google Shape;762;p145"/>
          <p:cNvSpPr/>
          <p:nvPr/>
        </p:nvSpPr>
        <p:spPr>
          <a:xfrm>
            <a:off x="1270440" y="3838680"/>
            <a:ext cx="174672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Unifying Ontology (DNA) is used to build all Domain-Specific Ontologies</a:t>
            </a:r>
            <a:endParaRPr b="0" i="0" sz="900" u="none" cap="none" strike="noStrike">
              <a:latin typeface="Arial"/>
              <a:ea typeface="Arial"/>
              <a:cs typeface="Arial"/>
              <a:sym typeface="Arial"/>
            </a:endParaRPr>
          </a:p>
        </p:txBody>
      </p:sp>
      <p:grpSp>
        <p:nvGrpSpPr>
          <p:cNvPr id="763" name="Google Shape;763;p145"/>
          <p:cNvGrpSpPr/>
          <p:nvPr/>
        </p:nvGrpSpPr>
        <p:grpSpPr>
          <a:xfrm>
            <a:off x="3784680" y="815040"/>
            <a:ext cx="1963440" cy="1121040"/>
            <a:chOff x="3784680" y="815040"/>
            <a:chExt cx="1963440" cy="1121040"/>
          </a:xfrm>
        </p:grpSpPr>
        <p:sp>
          <p:nvSpPr>
            <p:cNvPr id="764" name="Google Shape;764;p145"/>
            <p:cNvSpPr/>
            <p:nvPr/>
          </p:nvSpPr>
          <p:spPr>
            <a:xfrm>
              <a:off x="3784680" y="815040"/>
              <a:ext cx="1963440" cy="112104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Upper Ontology</a:t>
              </a:r>
              <a:endParaRPr b="0" i="0" sz="1000" u="none" cap="none" strike="noStrike">
                <a:latin typeface="Arial"/>
                <a:ea typeface="Arial"/>
                <a:cs typeface="Arial"/>
                <a:sym typeface="Arial"/>
              </a:endParaRPr>
            </a:p>
          </p:txBody>
        </p:sp>
        <p:pic>
          <p:nvPicPr>
            <p:cNvPr id="765" name="Google Shape;765;p145"/>
            <p:cNvPicPr preferRelativeResize="0"/>
            <p:nvPr/>
          </p:nvPicPr>
          <p:blipFill rotWithShape="1">
            <a:blip r:embed="rId3">
              <a:alphaModFix/>
            </a:blip>
            <a:srcRect b="0" l="0" r="0" t="0"/>
            <a:stretch/>
          </p:blipFill>
          <p:spPr>
            <a:xfrm>
              <a:off x="4213440" y="1268640"/>
              <a:ext cx="1106280" cy="550080"/>
            </a:xfrm>
            <a:prstGeom prst="rect">
              <a:avLst/>
            </a:prstGeom>
            <a:noFill/>
            <a:ln>
              <a:noFill/>
            </a:ln>
          </p:spPr>
        </p:pic>
      </p:grpSp>
      <p:sp>
        <p:nvSpPr>
          <p:cNvPr id="766" name="Google Shape;766;p145"/>
          <p:cNvSpPr/>
          <p:nvPr/>
        </p:nvSpPr>
        <p:spPr>
          <a:xfrm>
            <a:off x="1001880" y="2296080"/>
            <a:ext cx="2014920" cy="143136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Unifying Ontology</a:t>
            </a:r>
            <a:endParaRPr b="0" i="0" sz="1000" u="none" cap="none" strike="noStrike">
              <a:latin typeface="Arial"/>
              <a:ea typeface="Arial"/>
              <a:cs typeface="Arial"/>
              <a:sym typeface="Arial"/>
            </a:endParaRPr>
          </a:p>
        </p:txBody>
      </p:sp>
      <p:pic>
        <p:nvPicPr>
          <p:cNvPr id="767" name="Google Shape;767;p145"/>
          <p:cNvPicPr preferRelativeResize="0"/>
          <p:nvPr/>
        </p:nvPicPr>
        <p:blipFill rotWithShape="1">
          <a:blip r:embed="rId4">
            <a:alphaModFix/>
          </a:blip>
          <a:srcRect b="0" l="0" r="0" t="0"/>
          <a:stretch/>
        </p:blipFill>
        <p:spPr>
          <a:xfrm>
            <a:off x="1423800" y="2694960"/>
            <a:ext cx="1171440" cy="699120"/>
          </a:xfrm>
          <a:prstGeom prst="rect">
            <a:avLst/>
          </a:prstGeom>
          <a:noFill/>
          <a:ln>
            <a:noFill/>
          </a:ln>
        </p:spPr>
      </p:pic>
      <p:sp>
        <p:nvSpPr>
          <p:cNvPr id="768" name="Google Shape;768;p145"/>
          <p:cNvSpPr/>
          <p:nvPr/>
        </p:nvSpPr>
        <p:spPr>
          <a:xfrm>
            <a:off x="1595880" y="3394440"/>
            <a:ext cx="826920" cy="1731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Calibri"/>
                <a:ea typeface="Calibri"/>
                <a:cs typeface="Calibri"/>
                <a:sym typeface="Calibri"/>
              </a:rPr>
              <a:t>Core Domain</a:t>
            </a:r>
            <a:endParaRPr b="0" i="0" sz="800" u="none" cap="none" strike="noStrike">
              <a:latin typeface="Arial"/>
              <a:ea typeface="Arial"/>
              <a:cs typeface="Arial"/>
              <a:sym typeface="Arial"/>
            </a:endParaRPr>
          </a:p>
        </p:txBody>
      </p:sp>
      <p:grpSp>
        <p:nvGrpSpPr>
          <p:cNvPr id="769" name="Google Shape;769;p145"/>
          <p:cNvGrpSpPr/>
          <p:nvPr/>
        </p:nvGrpSpPr>
        <p:grpSpPr>
          <a:xfrm>
            <a:off x="3446640" y="2040120"/>
            <a:ext cx="2639520" cy="1910520"/>
            <a:chOff x="3446640" y="2040120"/>
            <a:chExt cx="2639520" cy="1910520"/>
          </a:xfrm>
        </p:grpSpPr>
        <p:pic>
          <p:nvPicPr>
            <p:cNvPr id="770" name="Google Shape;770;p145"/>
            <p:cNvPicPr preferRelativeResize="0"/>
            <p:nvPr/>
          </p:nvPicPr>
          <p:blipFill rotWithShape="1">
            <a:blip r:embed="rId5">
              <a:alphaModFix/>
            </a:blip>
            <a:srcRect b="0" l="0" r="0" t="0"/>
            <a:stretch/>
          </p:blipFill>
          <p:spPr>
            <a:xfrm>
              <a:off x="3661200" y="2544120"/>
              <a:ext cx="506880" cy="407520"/>
            </a:xfrm>
            <a:prstGeom prst="rect">
              <a:avLst/>
            </a:prstGeom>
            <a:noFill/>
            <a:ln>
              <a:noFill/>
            </a:ln>
          </p:spPr>
        </p:pic>
        <p:pic>
          <p:nvPicPr>
            <p:cNvPr id="771" name="Google Shape;771;p145"/>
            <p:cNvPicPr preferRelativeResize="0"/>
            <p:nvPr/>
          </p:nvPicPr>
          <p:blipFill rotWithShape="1">
            <a:blip r:embed="rId5">
              <a:alphaModFix/>
            </a:blip>
            <a:srcRect b="0" l="0" r="0" t="0"/>
            <a:stretch/>
          </p:blipFill>
          <p:spPr>
            <a:xfrm>
              <a:off x="4626000" y="2544120"/>
              <a:ext cx="506880" cy="407520"/>
            </a:xfrm>
            <a:prstGeom prst="rect">
              <a:avLst/>
            </a:prstGeom>
            <a:noFill/>
            <a:ln>
              <a:noFill/>
            </a:ln>
          </p:spPr>
        </p:pic>
        <p:pic>
          <p:nvPicPr>
            <p:cNvPr id="772" name="Google Shape;772;p145"/>
            <p:cNvPicPr preferRelativeResize="0"/>
            <p:nvPr/>
          </p:nvPicPr>
          <p:blipFill rotWithShape="1">
            <a:blip r:embed="rId5">
              <a:alphaModFix/>
            </a:blip>
            <a:srcRect b="0" l="0" r="0" t="0"/>
            <a:stretch/>
          </p:blipFill>
          <p:spPr>
            <a:xfrm>
              <a:off x="5433480" y="2544120"/>
              <a:ext cx="506880" cy="407520"/>
            </a:xfrm>
            <a:prstGeom prst="rect">
              <a:avLst/>
            </a:prstGeom>
            <a:noFill/>
            <a:ln>
              <a:noFill/>
            </a:ln>
          </p:spPr>
        </p:pic>
        <p:pic>
          <p:nvPicPr>
            <p:cNvPr id="773" name="Google Shape;773;p145"/>
            <p:cNvPicPr preferRelativeResize="0"/>
            <p:nvPr/>
          </p:nvPicPr>
          <p:blipFill rotWithShape="1">
            <a:blip r:embed="rId5">
              <a:alphaModFix/>
            </a:blip>
            <a:srcRect b="0" l="0" r="0" t="0"/>
            <a:stretch/>
          </p:blipFill>
          <p:spPr>
            <a:xfrm>
              <a:off x="5433480" y="3324960"/>
              <a:ext cx="506880" cy="407520"/>
            </a:xfrm>
            <a:prstGeom prst="rect">
              <a:avLst/>
            </a:prstGeom>
            <a:noFill/>
            <a:ln>
              <a:noFill/>
            </a:ln>
          </p:spPr>
        </p:pic>
        <p:pic>
          <p:nvPicPr>
            <p:cNvPr id="774" name="Google Shape;774;p145"/>
            <p:cNvPicPr preferRelativeResize="0"/>
            <p:nvPr/>
          </p:nvPicPr>
          <p:blipFill rotWithShape="1">
            <a:blip r:embed="rId5">
              <a:alphaModFix/>
            </a:blip>
            <a:srcRect b="0" l="0" r="0" t="0"/>
            <a:stretch/>
          </p:blipFill>
          <p:spPr>
            <a:xfrm>
              <a:off x="4700880" y="3225600"/>
              <a:ext cx="506880" cy="407520"/>
            </a:xfrm>
            <a:prstGeom prst="rect">
              <a:avLst/>
            </a:prstGeom>
            <a:noFill/>
            <a:ln>
              <a:noFill/>
            </a:ln>
          </p:spPr>
        </p:pic>
        <p:pic>
          <p:nvPicPr>
            <p:cNvPr id="775" name="Google Shape;775;p145"/>
            <p:cNvPicPr preferRelativeResize="0"/>
            <p:nvPr/>
          </p:nvPicPr>
          <p:blipFill rotWithShape="1">
            <a:blip r:embed="rId5">
              <a:alphaModFix/>
            </a:blip>
            <a:srcRect b="0" l="0" r="0" t="0"/>
            <a:stretch/>
          </p:blipFill>
          <p:spPr>
            <a:xfrm>
              <a:off x="3860280" y="3261600"/>
              <a:ext cx="506880" cy="407520"/>
            </a:xfrm>
            <a:prstGeom prst="rect">
              <a:avLst/>
            </a:prstGeom>
            <a:noFill/>
            <a:ln>
              <a:noFill/>
            </a:ln>
          </p:spPr>
        </p:pic>
        <p:sp>
          <p:nvSpPr>
            <p:cNvPr id="776" name="Google Shape;776;p145"/>
            <p:cNvSpPr/>
            <p:nvPr/>
          </p:nvSpPr>
          <p:spPr>
            <a:xfrm>
              <a:off x="3446640" y="2040120"/>
              <a:ext cx="2639520" cy="19105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Domain-Specific Ontologies</a:t>
              </a:r>
              <a:endParaRPr b="0" i="0" sz="1000" u="none" cap="none" strike="noStrike">
                <a:latin typeface="Arial"/>
                <a:ea typeface="Arial"/>
                <a:cs typeface="Arial"/>
                <a:sym typeface="Arial"/>
              </a:endParaRPr>
            </a:p>
          </p:txBody>
        </p:sp>
      </p:grpSp>
      <p:pic>
        <p:nvPicPr>
          <p:cNvPr id="777" name="Google Shape;777;p145"/>
          <p:cNvPicPr preferRelativeResize="0"/>
          <p:nvPr/>
        </p:nvPicPr>
        <p:blipFill rotWithShape="1">
          <a:blip r:embed="rId4">
            <a:alphaModFix/>
          </a:blip>
          <a:srcRect b="0" l="0" r="0" t="0"/>
          <a:stretch/>
        </p:blipFill>
        <p:spPr>
          <a:xfrm>
            <a:off x="4705920" y="2561760"/>
            <a:ext cx="794520" cy="394200"/>
          </a:xfrm>
          <a:prstGeom prst="rect">
            <a:avLst/>
          </a:prstGeom>
          <a:noFill/>
          <a:ln>
            <a:noFill/>
          </a:ln>
        </p:spPr>
      </p:pic>
      <p:pic>
        <p:nvPicPr>
          <p:cNvPr id="778" name="Google Shape;778;p145"/>
          <p:cNvPicPr preferRelativeResize="0"/>
          <p:nvPr/>
        </p:nvPicPr>
        <p:blipFill rotWithShape="1">
          <a:blip r:embed="rId4">
            <a:alphaModFix/>
          </a:blip>
          <a:srcRect b="0" l="0" r="0" t="0"/>
          <a:stretch/>
        </p:blipFill>
        <p:spPr>
          <a:xfrm>
            <a:off x="4873680" y="3160080"/>
            <a:ext cx="794520" cy="394200"/>
          </a:xfrm>
          <a:prstGeom prst="rect">
            <a:avLst/>
          </a:prstGeom>
          <a:noFill/>
          <a:ln>
            <a:noFill/>
          </a:ln>
        </p:spPr>
      </p:pic>
      <p:sp>
        <p:nvSpPr>
          <p:cNvPr id="779" name="Google Shape;779;p145"/>
          <p:cNvSpPr/>
          <p:nvPr/>
        </p:nvSpPr>
        <p:spPr>
          <a:xfrm flipH="1" rot="10800000">
            <a:off x="2635875" y="2764910"/>
            <a:ext cx="978210" cy="2921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0" name="Google Shape;780;p145"/>
          <p:cNvSpPr/>
          <p:nvPr/>
        </p:nvSpPr>
        <p:spPr>
          <a:xfrm>
            <a:off x="2595600" y="3044520"/>
            <a:ext cx="1188720" cy="3427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1" name="Google Shape;781;p145"/>
          <p:cNvSpPr/>
          <p:nvPr/>
        </p:nvSpPr>
        <p:spPr>
          <a:xfrm flipH="1" rot="10800000">
            <a:off x="2642650" y="2771746"/>
            <a:ext cx="2078838" cy="27853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2" name="Google Shape;782;p145"/>
          <p:cNvSpPr/>
          <p:nvPr/>
        </p:nvSpPr>
        <p:spPr>
          <a:xfrm>
            <a:off x="2595600" y="3044520"/>
            <a:ext cx="2277720" cy="3124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783" name="Google Shape;783;p145"/>
          <p:cNvPicPr preferRelativeResize="0"/>
          <p:nvPr/>
        </p:nvPicPr>
        <p:blipFill rotWithShape="1">
          <a:blip r:embed="rId4">
            <a:alphaModFix/>
          </a:blip>
          <a:srcRect b="0" l="0" r="0" t="0"/>
          <a:stretch/>
        </p:blipFill>
        <p:spPr>
          <a:xfrm>
            <a:off x="3607920" y="2526840"/>
            <a:ext cx="794520" cy="394200"/>
          </a:xfrm>
          <a:prstGeom prst="rect">
            <a:avLst/>
          </a:prstGeom>
          <a:noFill/>
          <a:ln>
            <a:noFill/>
          </a:ln>
        </p:spPr>
      </p:pic>
      <p:pic>
        <p:nvPicPr>
          <p:cNvPr id="784" name="Google Shape;784;p145"/>
          <p:cNvPicPr preferRelativeResize="0"/>
          <p:nvPr/>
        </p:nvPicPr>
        <p:blipFill rotWithShape="1">
          <a:blip r:embed="rId4">
            <a:alphaModFix/>
          </a:blip>
          <a:srcRect b="0" l="0" r="0" t="0"/>
          <a:stretch/>
        </p:blipFill>
        <p:spPr>
          <a:xfrm>
            <a:off x="3784680" y="3190320"/>
            <a:ext cx="794520" cy="394200"/>
          </a:xfrm>
          <a:prstGeom prst="rect">
            <a:avLst/>
          </a:prstGeom>
          <a:noFill/>
          <a:ln>
            <a:noFill/>
          </a:ln>
        </p:spPr>
      </p:pic>
      <p:sp>
        <p:nvSpPr>
          <p:cNvPr id="785" name="Google Shape;785;p145"/>
          <p:cNvSpPr/>
          <p:nvPr/>
        </p:nvSpPr>
        <p:spPr>
          <a:xfrm>
            <a:off x="3812760" y="4088880"/>
            <a:ext cx="1935360" cy="6206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Each Domain-Specific Ontology has their own unique set of Voc, Tax, and Ontology elements</a:t>
            </a:r>
            <a:endParaRPr b="0" i="0" sz="900" u="none" cap="none" strike="noStrike">
              <a:latin typeface="Arial"/>
              <a:ea typeface="Arial"/>
              <a:cs typeface="Arial"/>
              <a:sym typeface="Arial"/>
            </a:endParaRPr>
          </a:p>
        </p:txBody>
      </p:sp>
      <p:sp>
        <p:nvSpPr>
          <p:cNvPr id="786" name="Google Shape;786;p145"/>
          <p:cNvSpPr/>
          <p:nvPr/>
        </p:nvSpPr>
        <p:spPr>
          <a:xfrm>
            <a:off x="4766760" y="1819440"/>
            <a:ext cx="360" cy="22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787" name="Google Shape;787;p145"/>
          <p:cNvSpPr/>
          <p:nvPr/>
        </p:nvSpPr>
        <p:spPr>
          <a:xfrm flipH="1">
            <a:off x="6276600" y="2794320"/>
            <a:ext cx="1552320" cy="500040"/>
          </a:xfrm>
          <a:prstGeom prst="stripedRightArrow">
            <a:avLst>
              <a:gd fmla="val 50000" name="adj1"/>
              <a:gd fmla="val 50000" name="adj2"/>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Learning</a:t>
            </a:r>
            <a:endParaRPr b="0" i="0" sz="1400" u="none" cap="none" strike="noStrike">
              <a:latin typeface="Arial"/>
              <a:ea typeface="Arial"/>
              <a:cs typeface="Arial"/>
              <a:sym typeface="Arial"/>
            </a:endParaRPr>
          </a:p>
        </p:txBody>
      </p:sp>
      <p:grpSp>
        <p:nvGrpSpPr>
          <p:cNvPr id="788" name="Google Shape;788;p145"/>
          <p:cNvGrpSpPr/>
          <p:nvPr/>
        </p:nvGrpSpPr>
        <p:grpSpPr>
          <a:xfrm>
            <a:off x="8546760" y="0"/>
            <a:ext cx="594000" cy="679680"/>
            <a:chOff x="8546760" y="0"/>
            <a:chExt cx="594000" cy="679680"/>
          </a:xfrm>
        </p:grpSpPr>
        <p:sp>
          <p:nvSpPr>
            <p:cNvPr id="789" name="Google Shape;789;p145"/>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145"/>
            <p:cNvGrpSpPr/>
            <p:nvPr/>
          </p:nvGrpSpPr>
          <p:grpSpPr>
            <a:xfrm>
              <a:off x="8585280" y="0"/>
              <a:ext cx="555480" cy="679680"/>
              <a:chOff x="8585280" y="0"/>
              <a:chExt cx="555480" cy="679680"/>
            </a:xfrm>
          </p:grpSpPr>
          <p:pic>
            <p:nvPicPr>
              <p:cNvPr id="791" name="Google Shape;791;p145"/>
              <p:cNvPicPr preferRelativeResize="0"/>
              <p:nvPr/>
            </p:nvPicPr>
            <p:blipFill rotWithShape="1">
              <a:blip r:embed="rId6">
                <a:alphaModFix/>
              </a:blip>
              <a:srcRect b="0" l="20669" r="9844" t="0"/>
              <a:stretch/>
            </p:blipFill>
            <p:spPr>
              <a:xfrm>
                <a:off x="8585280" y="0"/>
                <a:ext cx="530640" cy="530640"/>
              </a:xfrm>
              <a:prstGeom prst="rect">
                <a:avLst/>
              </a:prstGeom>
              <a:noFill/>
              <a:ln>
                <a:noFill/>
              </a:ln>
            </p:spPr>
          </p:pic>
          <p:sp>
            <p:nvSpPr>
              <p:cNvPr id="792" name="Google Shape;792;p145"/>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46"/>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(Bottom Up Structure)</a:t>
            </a:r>
            <a:endParaRPr b="0" i="0" sz="2000" u="none" cap="none" strike="noStrike">
              <a:solidFill>
                <a:srgbClr val="000000"/>
              </a:solidFill>
              <a:latin typeface="Arial"/>
              <a:ea typeface="Arial"/>
              <a:cs typeface="Arial"/>
              <a:sym typeface="Arial"/>
            </a:endParaRPr>
          </a:p>
        </p:txBody>
      </p:sp>
      <p:sp>
        <p:nvSpPr>
          <p:cNvPr id="798" name="Google Shape;798;p146"/>
          <p:cNvSpPr/>
          <p:nvPr/>
        </p:nvSpPr>
        <p:spPr>
          <a:xfrm>
            <a:off x="485640" y="3243960"/>
            <a:ext cx="144576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Definitions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Attributes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Schema (versions)</a:t>
            </a:r>
            <a:endParaRPr b="0" i="0" sz="900" u="none" cap="none" strike="noStrike">
              <a:latin typeface="Arial"/>
              <a:ea typeface="Arial"/>
              <a:cs typeface="Arial"/>
              <a:sym typeface="Arial"/>
            </a:endParaRPr>
          </a:p>
        </p:txBody>
      </p:sp>
      <p:sp>
        <p:nvSpPr>
          <p:cNvPr id="799" name="Google Shape;799;p146"/>
          <p:cNvSpPr/>
          <p:nvPr/>
        </p:nvSpPr>
        <p:spPr>
          <a:xfrm>
            <a:off x="1518840" y="2766960"/>
            <a:ext cx="180540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800" name="Google Shape;800;p146"/>
          <p:cNvGrpSpPr/>
          <p:nvPr/>
        </p:nvGrpSpPr>
        <p:grpSpPr>
          <a:xfrm>
            <a:off x="6046920" y="1812600"/>
            <a:ext cx="2639520" cy="1910520"/>
            <a:chOff x="6046920" y="1812600"/>
            <a:chExt cx="2639520" cy="1910520"/>
          </a:xfrm>
        </p:grpSpPr>
        <p:pic>
          <p:nvPicPr>
            <p:cNvPr id="801" name="Google Shape;801;p146"/>
            <p:cNvPicPr preferRelativeResize="0"/>
            <p:nvPr/>
          </p:nvPicPr>
          <p:blipFill rotWithShape="1">
            <a:blip r:embed="rId3">
              <a:alphaModFix/>
            </a:blip>
            <a:srcRect b="0" l="0" r="0" t="0"/>
            <a:stretch/>
          </p:blipFill>
          <p:spPr>
            <a:xfrm>
              <a:off x="6261480" y="2316600"/>
              <a:ext cx="506880" cy="407520"/>
            </a:xfrm>
            <a:prstGeom prst="rect">
              <a:avLst/>
            </a:prstGeom>
            <a:noFill/>
            <a:ln>
              <a:noFill/>
            </a:ln>
          </p:spPr>
        </p:pic>
        <p:pic>
          <p:nvPicPr>
            <p:cNvPr id="802" name="Google Shape;802;p146"/>
            <p:cNvPicPr preferRelativeResize="0"/>
            <p:nvPr/>
          </p:nvPicPr>
          <p:blipFill rotWithShape="1">
            <a:blip r:embed="rId3">
              <a:alphaModFix/>
            </a:blip>
            <a:srcRect b="0" l="0" r="0" t="0"/>
            <a:stretch/>
          </p:blipFill>
          <p:spPr>
            <a:xfrm>
              <a:off x="7226280" y="2316600"/>
              <a:ext cx="506880" cy="407520"/>
            </a:xfrm>
            <a:prstGeom prst="rect">
              <a:avLst/>
            </a:prstGeom>
            <a:noFill/>
            <a:ln>
              <a:noFill/>
            </a:ln>
          </p:spPr>
        </p:pic>
        <p:pic>
          <p:nvPicPr>
            <p:cNvPr id="803" name="Google Shape;803;p146"/>
            <p:cNvPicPr preferRelativeResize="0"/>
            <p:nvPr/>
          </p:nvPicPr>
          <p:blipFill rotWithShape="1">
            <a:blip r:embed="rId3">
              <a:alphaModFix/>
            </a:blip>
            <a:srcRect b="0" l="0" r="0" t="0"/>
            <a:stretch/>
          </p:blipFill>
          <p:spPr>
            <a:xfrm>
              <a:off x="8033760" y="2316600"/>
              <a:ext cx="506880" cy="407520"/>
            </a:xfrm>
            <a:prstGeom prst="rect">
              <a:avLst/>
            </a:prstGeom>
            <a:noFill/>
            <a:ln>
              <a:noFill/>
            </a:ln>
          </p:spPr>
        </p:pic>
        <p:pic>
          <p:nvPicPr>
            <p:cNvPr id="804" name="Google Shape;804;p146"/>
            <p:cNvPicPr preferRelativeResize="0"/>
            <p:nvPr/>
          </p:nvPicPr>
          <p:blipFill rotWithShape="1">
            <a:blip r:embed="rId3">
              <a:alphaModFix/>
            </a:blip>
            <a:srcRect b="0" l="0" r="0" t="0"/>
            <a:stretch/>
          </p:blipFill>
          <p:spPr>
            <a:xfrm>
              <a:off x="8033760" y="3097440"/>
              <a:ext cx="506880" cy="407520"/>
            </a:xfrm>
            <a:prstGeom prst="rect">
              <a:avLst/>
            </a:prstGeom>
            <a:noFill/>
            <a:ln>
              <a:noFill/>
            </a:ln>
          </p:spPr>
        </p:pic>
        <p:pic>
          <p:nvPicPr>
            <p:cNvPr id="805" name="Google Shape;805;p146"/>
            <p:cNvPicPr preferRelativeResize="0"/>
            <p:nvPr/>
          </p:nvPicPr>
          <p:blipFill rotWithShape="1">
            <a:blip r:embed="rId3">
              <a:alphaModFix/>
            </a:blip>
            <a:srcRect b="0" l="0" r="0" t="0"/>
            <a:stretch/>
          </p:blipFill>
          <p:spPr>
            <a:xfrm>
              <a:off x="7301160" y="2998080"/>
              <a:ext cx="506880" cy="407520"/>
            </a:xfrm>
            <a:prstGeom prst="rect">
              <a:avLst/>
            </a:prstGeom>
            <a:noFill/>
            <a:ln>
              <a:noFill/>
            </a:ln>
          </p:spPr>
        </p:pic>
        <p:pic>
          <p:nvPicPr>
            <p:cNvPr id="806" name="Google Shape;806;p146"/>
            <p:cNvPicPr preferRelativeResize="0"/>
            <p:nvPr/>
          </p:nvPicPr>
          <p:blipFill rotWithShape="1">
            <a:blip r:embed="rId3">
              <a:alphaModFix/>
            </a:blip>
            <a:srcRect b="0" l="0" r="0" t="0"/>
            <a:stretch/>
          </p:blipFill>
          <p:spPr>
            <a:xfrm>
              <a:off x="6460560" y="3034080"/>
              <a:ext cx="506880" cy="407520"/>
            </a:xfrm>
            <a:prstGeom prst="rect">
              <a:avLst/>
            </a:prstGeom>
            <a:noFill/>
            <a:ln>
              <a:noFill/>
            </a:ln>
          </p:spPr>
        </p:pic>
        <p:sp>
          <p:nvSpPr>
            <p:cNvPr id="807" name="Google Shape;807;p146"/>
            <p:cNvSpPr/>
            <p:nvPr/>
          </p:nvSpPr>
          <p:spPr>
            <a:xfrm>
              <a:off x="6046920" y="1812600"/>
              <a:ext cx="2639520" cy="19105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Ontologies</a:t>
              </a:r>
              <a:endParaRPr b="0" i="0" sz="1000" u="none" cap="none" strike="noStrike">
                <a:latin typeface="Arial"/>
                <a:ea typeface="Arial"/>
                <a:cs typeface="Arial"/>
                <a:sym typeface="Arial"/>
              </a:endParaRPr>
            </a:p>
          </p:txBody>
        </p:sp>
      </p:grpSp>
      <p:sp>
        <p:nvSpPr>
          <p:cNvPr id="808" name="Google Shape;808;p146"/>
          <p:cNvSpPr/>
          <p:nvPr/>
        </p:nvSpPr>
        <p:spPr>
          <a:xfrm>
            <a:off x="6437880" y="3789720"/>
            <a:ext cx="1935360" cy="461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Class Objects representing each structure (DB, Table, Cols)</a:t>
            </a:r>
            <a:endParaRPr b="0" i="0" sz="900" u="none" cap="none" strike="noStrike">
              <a:latin typeface="Arial"/>
              <a:ea typeface="Arial"/>
              <a:cs typeface="Arial"/>
              <a:sym typeface="Arial"/>
            </a:endParaRPr>
          </a:p>
        </p:txBody>
      </p:sp>
      <p:grpSp>
        <p:nvGrpSpPr>
          <p:cNvPr id="809" name="Google Shape;809;p146"/>
          <p:cNvGrpSpPr/>
          <p:nvPr/>
        </p:nvGrpSpPr>
        <p:grpSpPr>
          <a:xfrm>
            <a:off x="3324600" y="2139480"/>
            <a:ext cx="1963440" cy="1255320"/>
            <a:chOff x="3324600" y="2139480"/>
            <a:chExt cx="1963440" cy="1255320"/>
          </a:xfrm>
        </p:grpSpPr>
        <p:sp>
          <p:nvSpPr>
            <p:cNvPr id="810" name="Google Shape;810;p146"/>
            <p:cNvSpPr/>
            <p:nvPr/>
          </p:nvSpPr>
          <p:spPr>
            <a:xfrm>
              <a:off x="3324600" y="213948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Metaphactory</a:t>
              </a:r>
              <a:endParaRPr b="0" i="0" sz="1000" u="none" cap="none" strike="noStrike">
                <a:latin typeface="Arial"/>
                <a:ea typeface="Arial"/>
                <a:cs typeface="Arial"/>
                <a:sym typeface="Arial"/>
              </a:endParaRPr>
            </a:p>
          </p:txBody>
        </p:sp>
        <p:pic>
          <p:nvPicPr>
            <p:cNvPr id="811" name="Google Shape;811;p146"/>
            <p:cNvPicPr preferRelativeResize="0"/>
            <p:nvPr/>
          </p:nvPicPr>
          <p:blipFill rotWithShape="1">
            <a:blip r:embed="rId4">
              <a:alphaModFix/>
            </a:blip>
            <a:srcRect b="0" l="0" r="0" t="0"/>
            <a:stretch/>
          </p:blipFill>
          <p:spPr>
            <a:xfrm>
              <a:off x="3866760" y="2531880"/>
              <a:ext cx="878760" cy="655560"/>
            </a:xfrm>
            <a:prstGeom prst="rect">
              <a:avLst/>
            </a:prstGeom>
            <a:noFill/>
            <a:ln>
              <a:noFill/>
            </a:ln>
          </p:spPr>
        </p:pic>
      </p:grpSp>
      <p:grpSp>
        <p:nvGrpSpPr>
          <p:cNvPr id="812" name="Google Shape;812;p146"/>
          <p:cNvGrpSpPr/>
          <p:nvPr/>
        </p:nvGrpSpPr>
        <p:grpSpPr>
          <a:xfrm>
            <a:off x="3324600" y="590400"/>
            <a:ext cx="1963440" cy="1255320"/>
            <a:chOff x="3324600" y="590400"/>
            <a:chExt cx="1963440" cy="1255320"/>
          </a:xfrm>
        </p:grpSpPr>
        <p:sp>
          <p:nvSpPr>
            <p:cNvPr id="813" name="Google Shape;813;p146"/>
            <p:cNvSpPr/>
            <p:nvPr/>
          </p:nvSpPr>
          <p:spPr>
            <a:xfrm>
              <a:off x="3324600" y="59040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VZ Gemini</a:t>
              </a:r>
              <a:endParaRPr b="0" i="0" sz="1000" u="none" cap="none" strike="noStrike">
                <a:latin typeface="Arial"/>
                <a:ea typeface="Arial"/>
                <a:cs typeface="Arial"/>
                <a:sym typeface="Arial"/>
              </a:endParaRPr>
            </a:p>
          </p:txBody>
        </p:sp>
        <p:pic>
          <p:nvPicPr>
            <p:cNvPr id="814" name="Google Shape;814;p146"/>
            <p:cNvPicPr preferRelativeResize="0"/>
            <p:nvPr/>
          </p:nvPicPr>
          <p:blipFill rotWithShape="1">
            <a:blip r:embed="rId5">
              <a:alphaModFix/>
            </a:blip>
            <a:srcRect b="0" l="0" r="0" t="0"/>
            <a:stretch/>
          </p:blipFill>
          <p:spPr>
            <a:xfrm>
              <a:off x="3646080" y="974160"/>
              <a:ext cx="1320480" cy="693000"/>
            </a:xfrm>
            <a:prstGeom prst="rect">
              <a:avLst/>
            </a:prstGeom>
            <a:noFill/>
            <a:ln cap="flat" cmpd="sng" w="28425">
              <a:solidFill>
                <a:srgbClr val="EE0000"/>
              </a:solidFill>
              <a:prstDash val="solid"/>
              <a:round/>
              <a:headEnd len="sm" w="sm" type="none"/>
              <a:tailEnd len="sm" w="sm" type="none"/>
            </a:ln>
          </p:spPr>
        </p:pic>
      </p:grpSp>
      <p:sp>
        <p:nvSpPr>
          <p:cNvPr id="815" name="Google Shape;815;p146"/>
          <p:cNvSpPr/>
          <p:nvPr/>
        </p:nvSpPr>
        <p:spPr>
          <a:xfrm>
            <a:off x="4306320" y="1846080"/>
            <a:ext cx="360" cy="293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816" name="Google Shape;816;p146"/>
          <p:cNvGrpSpPr/>
          <p:nvPr/>
        </p:nvGrpSpPr>
        <p:grpSpPr>
          <a:xfrm>
            <a:off x="361800" y="1290960"/>
            <a:ext cx="1693440" cy="1885320"/>
            <a:chOff x="361800" y="1290960"/>
            <a:chExt cx="1693440" cy="1885320"/>
          </a:xfrm>
        </p:grpSpPr>
        <p:pic>
          <p:nvPicPr>
            <p:cNvPr id="817" name="Google Shape;817;p146"/>
            <p:cNvPicPr preferRelativeResize="0"/>
            <p:nvPr/>
          </p:nvPicPr>
          <p:blipFill rotWithShape="1">
            <a:blip r:embed="rId3">
              <a:alphaModFix/>
            </a:blip>
            <a:srcRect b="0" l="0" r="0" t="0"/>
            <a:stretch/>
          </p:blipFill>
          <p:spPr>
            <a:xfrm>
              <a:off x="982440" y="1788120"/>
              <a:ext cx="403200" cy="402120"/>
            </a:xfrm>
            <a:prstGeom prst="rect">
              <a:avLst/>
            </a:prstGeom>
            <a:noFill/>
            <a:ln>
              <a:noFill/>
            </a:ln>
          </p:spPr>
        </p:pic>
        <p:pic>
          <p:nvPicPr>
            <p:cNvPr id="818" name="Google Shape;818;p146"/>
            <p:cNvPicPr preferRelativeResize="0"/>
            <p:nvPr/>
          </p:nvPicPr>
          <p:blipFill rotWithShape="1">
            <a:blip r:embed="rId3">
              <a:alphaModFix/>
            </a:blip>
            <a:srcRect b="0" l="0" r="0" t="0"/>
            <a:stretch/>
          </p:blipFill>
          <p:spPr>
            <a:xfrm>
              <a:off x="1625040" y="1788120"/>
              <a:ext cx="403200" cy="402120"/>
            </a:xfrm>
            <a:prstGeom prst="rect">
              <a:avLst/>
            </a:prstGeom>
            <a:noFill/>
            <a:ln>
              <a:noFill/>
            </a:ln>
          </p:spPr>
        </p:pic>
        <p:pic>
          <p:nvPicPr>
            <p:cNvPr id="819" name="Google Shape;819;p146"/>
            <p:cNvPicPr preferRelativeResize="0"/>
            <p:nvPr/>
          </p:nvPicPr>
          <p:blipFill rotWithShape="1">
            <a:blip r:embed="rId3">
              <a:alphaModFix/>
            </a:blip>
            <a:srcRect b="0" l="0" r="0" t="0"/>
            <a:stretch/>
          </p:blipFill>
          <p:spPr>
            <a:xfrm>
              <a:off x="1625040" y="2558880"/>
              <a:ext cx="403200" cy="402120"/>
            </a:xfrm>
            <a:prstGeom prst="rect">
              <a:avLst/>
            </a:prstGeom>
            <a:noFill/>
            <a:ln>
              <a:noFill/>
            </a:ln>
          </p:spPr>
        </p:pic>
        <p:pic>
          <p:nvPicPr>
            <p:cNvPr id="820" name="Google Shape;820;p146"/>
            <p:cNvPicPr preferRelativeResize="0"/>
            <p:nvPr/>
          </p:nvPicPr>
          <p:blipFill rotWithShape="1">
            <a:blip r:embed="rId3">
              <a:alphaModFix/>
            </a:blip>
            <a:srcRect b="0" l="0" r="0" t="0"/>
            <a:stretch/>
          </p:blipFill>
          <p:spPr>
            <a:xfrm>
              <a:off x="1041840" y="2460600"/>
              <a:ext cx="403200" cy="402120"/>
            </a:xfrm>
            <a:prstGeom prst="rect">
              <a:avLst/>
            </a:prstGeom>
            <a:noFill/>
            <a:ln>
              <a:noFill/>
            </a:ln>
          </p:spPr>
        </p:pic>
        <p:pic>
          <p:nvPicPr>
            <p:cNvPr id="821" name="Google Shape;821;p146"/>
            <p:cNvPicPr preferRelativeResize="0"/>
            <p:nvPr/>
          </p:nvPicPr>
          <p:blipFill rotWithShape="1">
            <a:blip r:embed="rId3">
              <a:alphaModFix/>
            </a:blip>
            <a:srcRect b="0" l="0" r="0" t="0"/>
            <a:stretch/>
          </p:blipFill>
          <p:spPr>
            <a:xfrm>
              <a:off x="372960" y="2496240"/>
              <a:ext cx="403200" cy="402120"/>
            </a:xfrm>
            <a:prstGeom prst="rect">
              <a:avLst/>
            </a:prstGeom>
            <a:noFill/>
            <a:ln>
              <a:noFill/>
            </a:ln>
          </p:spPr>
        </p:pic>
        <p:sp>
          <p:nvSpPr>
            <p:cNvPr id="822" name="Google Shape;822;p146"/>
            <p:cNvSpPr/>
            <p:nvPr/>
          </p:nvSpPr>
          <p:spPr>
            <a:xfrm>
              <a:off x="361800" y="1290960"/>
              <a:ext cx="1693440" cy="188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VZ Governed Content</a:t>
              </a:r>
              <a:endParaRPr b="0" i="0" sz="1000" u="none" cap="none" strike="noStrike">
                <a:latin typeface="Arial"/>
                <a:ea typeface="Arial"/>
                <a:cs typeface="Arial"/>
                <a:sym typeface="Arial"/>
              </a:endParaRPr>
            </a:p>
          </p:txBody>
        </p:sp>
        <p:sp>
          <p:nvSpPr>
            <p:cNvPr id="823" name="Google Shape;823;p146"/>
            <p:cNvSpPr/>
            <p:nvPr/>
          </p:nvSpPr>
          <p:spPr>
            <a:xfrm>
              <a:off x="884520" y="2010960"/>
              <a:ext cx="618120" cy="29484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824" name="Google Shape;824;p146"/>
            <p:cNvSpPr/>
            <p:nvPr/>
          </p:nvSpPr>
          <p:spPr>
            <a:xfrm>
              <a:off x="884520" y="175536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825" name="Google Shape;825;p146"/>
            <p:cNvSpPr/>
            <p:nvPr/>
          </p:nvSpPr>
          <p:spPr>
            <a:xfrm>
              <a:off x="869040" y="260352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VZ Data Catalog</a:t>
              </a:r>
              <a:endParaRPr b="0" i="0" sz="700" u="none" cap="none" strike="noStrike">
                <a:latin typeface="Arial"/>
                <a:ea typeface="Arial"/>
                <a:cs typeface="Arial"/>
                <a:sym typeface="Arial"/>
              </a:endParaRPr>
            </a:p>
          </p:txBody>
        </p:sp>
        <p:sp>
          <p:nvSpPr>
            <p:cNvPr id="826" name="Google Shape;826;p146"/>
            <p:cNvSpPr/>
            <p:nvPr/>
          </p:nvSpPr>
          <p:spPr>
            <a:xfrm>
              <a:off x="1194120" y="2306160"/>
              <a:ext cx="360" cy="29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pic>
        <p:nvPicPr>
          <p:cNvPr id="827" name="Google Shape;827;p146"/>
          <p:cNvPicPr preferRelativeResize="0"/>
          <p:nvPr/>
        </p:nvPicPr>
        <p:blipFill rotWithShape="1">
          <a:blip r:embed="rId6">
            <a:alphaModFix/>
          </a:blip>
          <a:srcRect b="0" l="0" r="0" t="0"/>
          <a:stretch/>
        </p:blipFill>
        <p:spPr>
          <a:xfrm>
            <a:off x="3541680" y="3598200"/>
            <a:ext cx="1528920" cy="1145160"/>
          </a:xfrm>
          <a:prstGeom prst="rect">
            <a:avLst/>
          </a:prstGeom>
          <a:noFill/>
          <a:ln>
            <a:noFill/>
          </a:ln>
        </p:spPr>
      </p:pic>
      <p:sp>
        <p:nvSpPr>
          <p:cNvPr id="828" name="Google Shape;828;p146"/>
          <p:cNvSpPr/>
          <p:nvPr/>
        </p:nvSpPr>
        <p:spPr>
          <a:xfrm rot="10800000">
            <a:off x="4305960" y="3395520"/>
            <a:ext cx="360" cy="2026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829" name="Google Shape;829;p146"/>
          <p:cNvSpPr/>
          <p:nvPr/>
        </p:nvSpPr>
        <p:spPr>
          <a:xfrm>
            <a:off x="1959480" y="4120200"/>
            <a:ext cx="1528920" cy="584640"/>
          </a:xfrm>
          <a:prstGeom prst="rect">
            <a:avLst/>
          </a:prstGeom>
          <a:no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Rag-Based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AI Training Dashboard</a:t>
            </a:r>
            <a:endParaRPr b="0" i="0" sz="900" u="none" cap="none" strike="noStrike">
              <a:latin typeface="Arial"/>
              <a:ea typeface="Arial"/>
              <a:cs typeface="Arial"/>
              <a:sym typeface="Arial"/>
            </a:endParaRPr>
          </a:p>
        </p:txBody>
      </p:sp>
      <p:sp>
        <p:nvSpPr>
          <p:cNvPr id="830" name="Google Shape;830;p146"/>
          <p:cNvSpPr/>
          <p:nvPr/>
        </p:nvSpPr>
        <p:spPr>
          <a:xfrm>
            <a:off x="2036520" y="2801160"/>
            <a:ext cx="1240560" cy="45756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Ingestion Pipeline (</a:t>
            </a:r>
            <a:r>
              <a:rPr b="1" i="0" lang="en-US" sz="800" u="none" cap="none" strike="noStrike">
                <a:solidFill>
                  <a:srgbClr val="747676"/>
                </a:solidFill>
                <a:latin typeface="Arial"/>
                <a:ea typeface="Arial"/>
                <a:cs typeface="Arial"/>
                <a:sym typeface="Arial"/>
              </a:rPr>
              <a:t>Semantic Services</a:t>
            </a:r>
            <a:r>
              <a:rPr b="1" i="0" lang="en-US" sz="900" u="none" cap="none" strike="noStrike">
                <a:solidFill>
                  <a:srgbClr val="747676"/>
                </a:solidFill>
                <a:latin typeface="Arial"/>
                <a:ea typeface="Arial"/>
                <a:cs typeface="Arial"/>
                <a:sym typeface="Arial"/>
              </a:rPr>
              <a:t>)</a:t>
            </a:r>
            <a:endParaRPr b="0" i="0" sz="900" u="none" cap="none" strike="noStrike">
              <a:latin typeface="Arial"/>
              <a:ea typeface="Arial"/>
              <a:cs typeface="Arial"/>
              <a:sym typeface="Arial"/>
            </a:endParaRPr>
          </a:p>
        </p:txBody>
      </p:sp>
      <p:sp>
        <p:nvSpPr>
          <p:cNvPr id="831" name="Google Shape;831;p146"/>
          <p:cNvSpPr/>
          <p:nvPr/>
        </p:nvSpPr>
        <p:spPr>
          <a:xfrm>
            <a:off x="5288400" y="2767320"/>
            <a:ext cx="7585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832" name="Google Shape;832;p146"/>
          <p:cNvSpPr/>
          <p:nvPr/>
        </p:nvSpPr>
        <p:spPr>
          <a:xfrm>
            <a:off x="6257880" y="22363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3" name="Google Shape;833;p146"/>
          <p:cNvSpPr/>
          <p:nvPr/>
        </p:nvSpPr>
        <p:spPr>
          <a:xfrm>
            <a:off x="7057440" y="230616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4" name="Google Shape;834;p146"/>
          <p:cNvSpPr/>
          <p:nvPr/>
        </p:nvSpPr>
        <p:spPr>
          <a:xfrm>
            <a:off x="6368760" y="280116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5" name="Google Shape;835;p146"/>
          <p:cNvSpPr/>
          <p:nvPr/>
        </p:nvSpPr>
        <p:spPr>
          <a:xfrm>
            <a:off x="7150680" y="29563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6" name="Google Shape;836;p146"/>
          <p:cNvSpPr/>
          <p:nvPr/>
        </p:nvSpPr>
        <p:spPr>
          <a:xfrm>
            <a:off x="7810920" y="246492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7" name="Google Shape;837;p146"/>
          <p:cNvSpPr/>
          <p:nvPr/>
        </p:nvSpPr>
        <p:spPr>
          <a:xfrm>
            <a:off x="7932960" y="2967480"/>
            <a:ext cx="618120" cy="3459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38" name="Google Shape;838;p146"/>
          <p:cNvSpPr/>
          <p:nvPr/>
        </p:nvSpPr>
        <p:spPr>
          <a:xfrm>
            <a:off x="5435640" y="997920"/>
            <a:ext cx="1240560" cy="500040"/>
          </a:xfrm>
          <a:prstGeom prst="stripedRightArrow">
            <a:avLst>
              <a:gd fmla="val 50000" name="adj1"/>
              <a:gd fmla="val 50000" name="adj2"/>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Learning</a:t>
            </a:r>
            <a:endParaRPr b="0" i="0" sz="1400" u="none" cap="none" strike="noStrike">
              <a:latin typeface="Arial"/>
              <a:ea typeface="Arial"/>
              <a:cs typeface="Arial"/>
              <a:sym typeface="Arial"/>
            </a:endParaRPr>
          </a:p>
        </p:txBody>
      </p:sp>
      <p:grpSp>
        <p:nvGrpSpPr>
          <p:cNvPr id="839" name="Google Shape;839;p146"/>
          <p:cNvGrpSpPr/>
          <p:nvPr/>
        </p:nvGrpSpPr>
        <p:grpSpPr>
          <a:xfrm>
            <a:off x="8546760" y="0"/>
            <a:ext cx="594000" cy="679680"/>
            <a:chOff x="8546760" y="0"/>
            <a:chExt cx="594000" cy="679680"/>
          </a:xfrm>
        </p:grpSpPr>
        <p:sp>
          <p:nvSpPr>
            <p:cNvPr id="840" name="Google Shape;840;p146"/>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1" name="Google Shape;841;p146"/>
            <p:cNvGrpSpPr/>
            <p:nvPr/>
          </p:nvGrpSpPr>
          <p:grpSpPr>
            <a:xfrm>
              <a:off x="8585280" y="0"/>
              <a:ext cx="555480" cy="679680"/>
              <a:chOff x="8585280" y="0"/>
              <a:chExt cx="555480" cy="679680"/>
            </a:xfrm>
          </p:grpSpPr>
          <p:pic>
            <p:nvPicPr>
              <p:cNvPr id="842" name="Google Shape;842;p146"/>
              <p:cNvPicPr preferRelativeResize="0"/>
              <p:nvPr/>
            </p:nvPicPr>
            <p:blipFill rotWithShape="1">
              <a:blip r:embed="rId7">
                <a:alphaModFix/>
              </a:blip>
              <a:srcRect b="0" l="20669" r="9844" t="0"/>
              <a:stretch/>
            </p:blipFill>
            <p:spPr>
              <a:xfrm>
                <a:off x="8585280" y="0"/>
                <a:ext cx="530640" cy="530640"/>
              </a:xfrm>
              <a:prstGeom prst="rect">
                <a:avLst/>
              </a:prstGeom>
              <a:noFill/>
              <a:ln>
                <a:noFill/>
              </a:ln>
            </p:spPr>
          </p:pic>
          <p:sp>
            <p:nvSpPr>
              <p:cNvPr id="843" name="Google Shape;843;p146"/>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47"/>
          <p:cNvSpPr txBox="1"/>
          <p:nvPr/>
        </p:nvSpPr>
        <p:spPr>
          <a:xfrm>
            <a:off x="457200" y="110880"/>
            <a:ext cx="708624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(Mapping  Structure)</a:t>
            </a:r>
            <a:endParaRPr b="0" i="0" sz="2000" u="none" cap="none" strike="noStrike">
              <a:solidFill>
                <a:srgbClr val="000000"/>
              </a:solidFill>
              <a:latin typeface="Arial"/>
              <a:ea typeface="Arial"/>
              <a:cs typeface="Arial"/>
              <a:sym typeface="Arial"/>
            </a:endParaRPr>
          </a:p>
        </p:txBody>
      </p:sp>
      <p:grpSp>
        <p:nvGrpSpPr>
          <p:cNvPr id="849" name="Google Shape;849;p147"/>
          <p:cNvGrpSpPr/>
          <p:nvPr/>
        </p:nvGrpSpPr>
        <p:grpSpPr>
          <a:xfrm>
            <a:off x="367560" y="1179360"/>
            <a:ext cx="2172600" cy="1368000"/>
            <a:chOff x="367560" y="1179360"/>
            <a:chExt cx="2172600" cy="1368000"/>
          </a:xfrm>
        </p:grpSpPr>
        <p:grpSp>
          <p:nvGrpSpPr>
            <p:cNvPr id="850" name="Google Shape;850;p147"/>
            <p:cNvGrpSpPr/>
            <p:nvPr/>
          </p:nvGrpSpPr>
          <p:grpSpPr>
            <a:xfrm>
              <a:off x="367560" y="1179360"/>
              <a:ext cx="2172600" cy="1368000"/>
              <a:chOff x="367560" y="1179360"/>
              <a:chExt cx="2172600" cy="1368000"/>
            </a:xfrm>
          </p:grpSpPr>
          <p:pic>
            <p:nvPicPr>
              <p:cNvPr id="851" name="Google Shape;851;p147"/>
              <p:cNvPicPr preferRelativeResize="0"/>
              <p:nvPr/>
            </p:nvPicPr>
            <p:blipFill rotWithShape="1">
              <a:blip r:embed="rId3">
                <a:alphaModFix/>
              </a:blip>
              <a:srcRect b="0" l="0" r="0" t="0"/>
              <a:stretch/>
            </p:blipFill>
            <p:spPr>
              <a:xfrm>
                <a:off x="543960" y="1540080"/>
                <a:ext cx="417240" cy="291960"/>
              </a:xfrm>
              <a:prstGeom prst="rect">
                <a:avLst/>
              </a:prstGeom>
              <a:noFill/>
              <a:ln>
                <a:noFill/>
              </a:ln>
            </p:spPr>
          </p:pic>
          <p:pic>
            <p:nvPicPr>
              <p:cNvPr id="852" name="Google Shape;852;p147"/>
              <p:cNvPicPr preferRelativeResize="0"/>
              <p:nvPr/>
            </p:nvPicPr>
            <p:blipFill rotWithShape="1">
              <a:blip r:embed="rId3">
                <a:alphaModFix/>
              </a:blip>
              <a:srcRect b="0" l="0" r="0" t="0"/>
              <a:stretch/>
            </p:blipFill>
            <p:spPr>
              <a:xfrm>
                <a:off x="1338480" y="1540080"/>
                <a:ext cx="417240" cy="291960"/>
              </a:xfrm>
              <a:prstGeom prst="rect">
                <a:avLst/>
              </a:prstGeom>
              <a:noFill/>
              <a:ln>
                <a:noFill/>
              </a:ln>
            </p:spPr>
          </p:pic>
          <p:pic>
            <p:nvPicPr>
              <p:cNvPr id="853" name="Google Shape;853;p147"/>
              <p:cNvPicPr preferRelativeResize="0"/>
              <p:nvPr/>
            </p:nvPicPr>
            <p:blipFill rotWithShape="1">
              <a:blip r:embed="rId3">
                <a:alphaModFix/>
              </a:blip>
              <a:srcRect b="0" l="0" r="0" t="0"/>
              <a:stretch/>
            </p:blipFill>
            <p:spPr>
              <a:xfrm>
                <a:off x="2003040" y="1540080"/>
                <a:ext cx="417240" cy="291960"/>
              </a:xfrm>
              <a:prstGeom prst="rect">
                <a:avLst/>
              </a:prstGeom>
              <a:noFill/>
              <a:ln>
                <a:noFill/>
              </a:ln>
            </p:spPr>
          </p:pic>
          <p:pic>
            <p:nvPicPr>
              <p:cNvPr id="854" name="Google Shape;854;p147"/>
              <p:cNvPicPr preferRelativeResize="0"/>
              <p:nvPr/>
            </p:nvPicPr>
            <p:blipFill rotWithShape="1">
              <a:blip r:embed="rId3">
                <a:alphaModFix/>
              </a:blip>
              <a:srcRect b="0" l="0" r="0" t="0"/>
              <a:stretch/>
            </p:blipFill>
            <p:spPr>
              <a:xfrm>
                <a:off x="2003040" y="2099520"/>
                <a:ext cx="417240" cy="291960"/>
              </a:xfrm>
              <a:prstGeom prst="rect">
                <a:avLst/>
              </a:prstGeom>
              <a:noFill/>
              <a:ln>
                <a:noFill/>
              </a:ln>
            </p:spPr>
          </p:pic>
          <p:pic>
            <p:nvPicPr>
              <p:cNvPr id="855" name="Google Shape;855;p147"/>
              <p:cNvPicPr preferRelativeResize="0"/>
              <p:nvPr/>
            </p:nvPicPr>
            <p:blipFill rotWithShape="1">
              <a:blip r:embed="rId3">
                <a:alphaModFix/>
              </a:blip>
              <a:srcRect b="0" l="0" r="0" t="0"/>
              <a:stretch/>
            </p:blipFill>
            <p:spPr>
              <a:xfrm>
                <a:off x="1400040" y="2028240"/>
                <a:ext cx="417240" cy="291960"/>
              </a:xfrm>
              <a:prstGeom prst="rect">
                <a:avLst/>
              </a:prstGeom>
              <a:noFill/>
              <a:ln>
                <a:noFill/>
              </a:ln>
            </p:spPr>
          </p:pic>
          <p:pic>
            <p:nvPicPr>
              <p:cNvPr id="856" name="Google Shape;856;p147"/>
              <p:cNvPicPr preferRelativeResize="0"/>
              <p:nvPr/>
            </p:nvPicPr>
            <p:blipFill rotWithShape="1">
              <a:blip r:embed="rId3">
                <a:alphaModFix/>
              </a:blip>
              <a:srcRect b="0" l="0" r="0" t="0"/>
              <a:stretch/>
            </p:blipFill>
            <p:spPr>
              <a:xfrm>
                <a:off x="707760" y="2054160"/>
                <a:ext cx="417240" cy="291960"/>
              </a:xfrm>
              <a:prstGeom prst="rect">
                <a:avLst/>
              </a:prstGeom>
              <a:noFill/>
              <a:ln>
                <a:noFill/>
              </a:ln>
            </p:spPr>
          </p:pic>
          <p:sp>
            <p:nvSpPr>
              <p:cNvPr id="857" name="Google Shape;857;p147"/>
              <p:cNvSpPr/>
              <p:nvPr/>
            </p:nvSpPr>
            <p:spPr>
              <a:xfrm>
                <a:off x="367560" y="117936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Domain-Specific Ontologies</a:t>
                </a:r>
                <a:endParaRPr b="0" i="0" sz="1000" u="none" cap="none" strike="noStrike">
                  <a:latin typeface="Arial"/>
                  <a:ea typeface="Arial"/>
                  <a:cs typeface="Arial"/>
                  <a:sym typeface="Arial"/>
                </a:endParaRPr>
              </a:p>
            </p:txBody>
          </p:sp>
        </p:grpSp>
        <p:pic>
          <p:nvPicPr>
            <p:cNvPr id="858" name="Google Shape;858;p147"/>
            <p:cNvPicPr preferRelativeResize="0"/>
            <p:nvPr/>
          </p:nvPicPr>
          <p:blipFill rotWithShape="1">
            <a:blip r:embed="rId4">
              <a:alphaModFix/>
            </a:blip>
            <a:srcRect b="0" l="0" r="0" t="0"/>
            <a:stretch/>
          </p:blipFill>
          <p:spPr>
            <a:xfrm>
              <a:off x="1404000" y="1553040"/>
              <a:ext cx="654120" cy="282240"/>
            </a:xfrm>
            <a:prstGeom prst="rect">
              <a:avLst/>
            </a:prstGeom>
            <a:noFill/>
            <a:ln>
              <a:noFill/>
            </a:ln>
          </p:spPr>
        </p:pic>
        <p:pic>
          <p:nvPicPr>
            <p:cNvPr id="859" name="Google Shape;859;p147"/>
            <p:cNvPicPr preferRelativeResize="0"/>
            <p:nvPr/>
          </p:nvPicPr>
          <p:blipFill rotWithShape="1">
            <a:blip r:embed="rId4">
              <a:alphaModFix/>
            </a:blip>
            <a:srcRect b="0" l="0" r="0" t="0"/>
            <a:stretch/>
          </p:blipFill>
          <p:spPr>
            <a:xfrm>
              <a:off x="1542240" y="1981440"/>
              <a:ext cx="654120" cy="282240"/>
            </a:xfrm>
            <a:prstGeom prst="rect">
              <a:avLst/>
            </a:prstGeom>
            <a:noFill/>
            <a:ln>
              <a:noFill/>
            </a:ln>
          </p:spPr>
        </p:pic>
        <p:pic>
          <p:nvPicPr>
            <p:cNvPr id="860" name="Google Shape;860;p147"/>
            <p:cNvPicPr preferRelativeResize="0"/>
            <p:nvPr/>
          </p:nvPicPr>
          <p:blipFill rotWithShape="1">
            <a:blip r:embed="rId4">
              <a:alphaModFix/>
            </a:blip>
            <a:srcRect b="0" l="0" r="0" t="0"/>
            <a:stretch/>
          </p:blipFill>
          <p:spPr>
            <a:xfrm>
              <a:off x="527040" y="1553040"/>
              <a:ext cx="654120" cy="282240"/>
            </a:xfrm>
            <a:prstGeom prst="rect">
              <a:avLst/>
            </a:prstGeom>
            <a:noFill/>
            <a:ln>
              <a:noFill/>
            </a:ln>
          </p:spPr>
        </p:pic>
        <p:pic>
          <p:nvPicPr>
            <p:cNvPr id="861" name="Google Shape;861;p147"/>
            <p:cNvPicPr preferRelativeResize="0"/>
            <p:nvPr/>
          </p:nvPicPr>
          <p:blipFill rotWithShape="1">
            <a:blip r:embed="rId4">
              <a:alphaModFix/>
            </a:blip>
            <a:srcRect b="0" l="0" r="0" t="0"/>
            <a:stretch/>
          </p:blipFill>
          <p:spPr>
            <a:xfrm>
              <a:off x="645840" y="2003040"/>
              <a:ext cx="654120" cy="282240"/>
            </a:xfrm>
            <a:prstGeom prst="rect">
              <a:avLst/>
            </a:prstGeom>
            <a:noFill/>
            <a:ln>
              <a:noFill/>
            </a:ln>
          </p:spPr>
        </p:pic>
      </p:grpSp>
      <p:grpSp>
        <p:nvGrpSpPr>
          <p:cNvPr id="862" name="Google Shape;862;p147"/>
          <p:cNvGrpSpPr/>
          <p:nvPr/>
        </p:nvGrpSpPr>
        <p:grpSpPr>
          <a:xfrm>
            <a:off x="3324600" y="2215800"/>
            <a:ext cx="1963440" cy="1255320"/>
            <a:chOff x="3324600" y="2215800"/>
            <a:chExt cx="1963440" cy="1255320"/>
          </a:xfrm>
        </p:grpSpPr>
        <p:sp>
          <p:nvSpPr>
            <p:cNvPr id="863" name="Google Shape;863;p147"/>
            <p:cNvSpPr/>
            <p:nvPr/>
          </p:nvSpPr>
          <p:spPr>
            <a:xfrm>
              <a:off x="3324600" y="221580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Metaphactory</a:t>
              </a:r>
              <a:endParaRPr b="0" i="0" sz="1000" u="none" cap="none" strike="noStrike">
                <a:latin typeface="Arial"/>
                <a:ea typeface="Arial"/>
                <a:cs typeface="Arial"/>
                <a:sym typeface="Arial"/>
              </a:endParaRPr>
            </a:p>
          </p:txBody>
        </p:sp>
        <p:pic>
          <p:nvPicPr>
            <p:cNvPr id="864" name="Google Shape;864;p147"/>
            <p:cNvPicPr preferRelativeResize="0"/>
            <p:nvPr/>
          </p:nvPicPr>
          <p:blipFill rotWithShape="1">
            <a:blip r:embed="rId5">
              <a:alphaModFix/>
            </a:blip>
            <a:srcRect b="0" l="0" r="0" t="0"/>
            <a:stretch/>
          </p:blipFill>
          <p:spPr>
            <a:xfrm>
              <a:off x="3866760" y="2608200"/>
              <a:ext cx="878760" cy="655560"/>
            </a:xfrm>
            <a:prstGeom prst="rect">
              <a:avLst/>
            </a:prstGeom>
            <a:noFill/>
            <a:ln>
              <a:noFill/>
            </a:ln>
          </p:spPr>
        </p:pic>
      </p:grpSp>
      <p:grpSp>
        <p:nvGrpSpPr>
          <p:cNvPr id="865" name="Google Shape;865;p147"/>
          <p:cNvGrpSpPr/>
          <p:nvPr/>
        </p:nvGrpSpPr>
        <p:grpSpPr>
          <a:xfrm>
            <a:off x="3324600" y="666720"/>
            <a:ext cx="1963440" cy="1255320"/>
            <a:chOff x="3324600" y="666720"/>
            <a:chExt cx="1963440" cy="1255320"/>
          </a:xfrm>
        </p:grpSpPr>
        <p:sp>
          <p:nvSpPr>
            <p:cNvPr id="866" name="Google Shape;866;p147"/>
            <p:cNvSpPr/>
            <p:nvPr/>
          </p:nvSpPr>
          <p:spPr>
            <a:xfrm>
              <a:off x="3324600" y="666720"/>
              <a:ext cx="1963440" cy="125532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VZ Gemini</a:t>
              </a:r>
              <a:endParaRPr b="0" i="0" sz="1000" u="none" cap="none" strike="noStrike">
                <a:latin typeface="Arial"/>
                <a:ea typeface="Arial"/>
                <a:cs typeface="Arial"/>
                <a:sym typeface="Arial"/>
              </a:endParaRPr>
            </a:p>
          </p:txBody>
        </p:sp>
        <p:pic>
          <p:nvPicPr>
            <p:cNvPr id="867" name="Google Shape;867;p147"/>
            <p:cNvPicPr preferRelativeResize="0"/>
            <p:nvPr/>
          </p:nvPicPr>
          <p:blipFill rotWithShape="1">
            <a:blip r:embed="rId6">
              <a:alphaModFix/>
            </a:blip>
            <a:srcRect b="0" l="0" r="0" t="0"/>
            <a:stretch/>
          </p:blipFill>
          <p:spPr>
            <a:xfrm>
              <a:off x="3646080" y="1050480"/>
              <a:ext cx="1320480" cy="693000"/>
            </a:xfrm>
            <a:prstGeom prst="rect">
              <a:avLst/>
            </a:prstGeom>
            <a:noFill/>
            <a:ln cap="flat" cmpd="sng" w="28425">
              <a:solidFill>
                <a:srgbClr val="EE0000"/>
              </a:solidFill>
              <a:prstDash val="solid"/>
              <a:round/>
              <a:headEnd len="sm" w="sm" type="none"/>
              <a:tailEnd len="sm" w="sm" type="none"/>
            </a:ln>
          </p:spPr>
        </p:pic>
      </p:grpSp>
      <p:sp>
        <p:nvSpPr>
          <p:cNvPr id="868" name="Google Shape;868;p147"/>
          <p:cNvSpPr/>
          <p:nvPr/>
        </p:nvSpPr>
        <p:spPr>
          <a:xfrm>
            <a:off x="4306320" y="1922400"/>
            <a:ext cx="360" cy="293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869" name="Google Shape;869;p147"/>
          <p:cNvPicPr preferRelativeResize="0"/>
          <p:nvPr/>
        </p:nvPicPr>
        <p:blipFill rotWithShape="1">
          <a:blip r:embed="rId7">
            <a:alphaModFix/>
          </a:blip>
          <a:srcRect b="0" l="0" r="0" t="0"/>
          <a:stretch/>
        </p:blipFill>
        <p:spPr>
          <a:xfrm>
            <a:off x="3541680" y="3750480"/>
            <a:ext cx="1528920" cy="1145160"/>
          </a:xfrm>
          <a:prstGeom prst="rect">
            <a:avLst/>
          </a:prstGeom>
          <a:noFill/>
          <a:ln>
            <a:noFill/>
          </a:ln>
        </p:spPr>
      </p:pic>
      <p:sp>
        <p:nvSpPr>
          <p:cNvPr id="870" name="Google Shape;870;p147"/>
          <p:cNvSpPr/>
          <p:nvPr/>
        </p:nvSpPr>
        <p:spPr>
          <a:xfrm rot="10800000">
            <a:off x="4305960" y="3471480"/>
            <a:ext cx="360" cy="279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871" name="Google Shape;871;p147"/>
          <p:cNvSpPr/>
          <p:nvPr/>
        </p:nvSpPr>
        <p:spPr>
          <a:xfrm>
            <a:off x="2012400" y="4468680"/>
            <a:ext cx="1528920" cy="584640"/>
          </a:xfrm>
          <a:prstGeom prst="rect">
            <a:avLst/>
          </a:prstGeom>
          <a:solidFill>
            <a:srgbClr val="FFFFFF"/>
          </a:solidFill>
          <a:ln>
            <a:noFill/>
          </a:ln>
        </p:spPr>
        <p:txBody>
          <a:bodyPr anchorCtr="0" anchor="ctr" bIns="91425" lIns="91425" spcFirstLastPara="1" rIns="91425" wrap="square" tIns="91425">
            <a:noAutofit/>
          </a:bodyPr>
          <a:lstStyle/>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Rag-Based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747676"/>
              </a:buClr>
              <a:buSzPts val="900"/>
              <a:buFont typeface="Arial"/>
              <a:buChar char="●"/>
            </a:pPr>
            <a:r>
              <a:rPr b="1" i="0" lang="en-US" sz="900" u="none" cap="none" strike="noStrike">
                <a:solidFill>
                  <a:srgbClr val="747676"/>
                </a:solidFill>
                <a:latin typeface="Arial"/>
                <a:ea typeface="Arial"/>
                <a:cs typeface="Arial"/>
                <a:sym typeface="Arial"/>
              </a:rPr>
              <a:t>AI Training Dashboard</a:t>
            </a:r>
            <a:endParaRPr b="0" i="0" sz="900" u="none" cap="none" strike="noStrike">
              <a:latin typeface="Arial"/>
              <a:ea typeface="Arial"/>
              <a:cs typeface="Arial"/>
              <a:sym typeface="Arial"/>
            </a:endParaRPr>
          </a:p>
        </p:txBody>
      </p:sp>
      <p:sp>
        <p:nvSpPr>
          <p:cNvPr id="872" name="Google Shape;872;p147"/>
          <p:cNvSpPr/>
          <p:nvPr/>
        </p:nvSpPr>
        <p:spPr>
          <a:xfrm>
            <a:off x="2540520" y="1863360"/>
            <a:ext cx="783720" cy="9799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873" name="Google Shape;873;p147"/>
          <p:cNvGrpSpPr/>
          <p:nvPr/>
        </p:nvGrpSpPr>
        <p:grpSpPr>
          <a:xfrm>
            <a:off x="367200" y="2665440"/>
            <a:ext cx="2172600" cy="1646280"/>
            <a:chOff x="367200" y="2665440"/>
            <a:chExt cx="2172600" cy="1646280"/>
          </a:xfrm>
        </p:grpSpPr>
        <p:grpSp>
          <p:nvGrpSpPr>
            <p:cNvPr id="874" name="Google Shape;874;p147"/>
            <p:cNvGrpSpPr/>
            <p:nvPr/>
          </p:nvGrpSpPr>
          <p:grpSpPr>
            <a:xfrm>
              <a:off x="367200" y="2665440"/>
              <a:ext cx="2172600" cy="1646280"/>
              <a:chOff x="367200" y="2665440"/>
              <a:chExt cx="2172600" cy="1646280"/>
            </a:xfrm>
          </p:grpSpPr>
          <p:pic>
            <p:nvPicPr>
              <p:cNvPr id="875" name="Google Shape;875;p147"/>
              <p:cNvPicPr preferRelativeResize="0"/>
              <p:nvPr/>
            </p:nvPicPr>
            <p:blipFill rotWithShape="1">
              <a:blip r:embed="rId3">
                <a:alphaModFix/>
              </a:blip>
              <a:srcRect b="0" l="0" r="0" t="0"/>
              <a:stretch/>
            </p:blipFill>
            <p:spPr>
              <a:xfrm>
                <a:off x="543960" y="3099600"/>
                <a:ext cx="417240" cy="351360"/>
              </a:xfrm>
              <a:prstGeom prst="rect">
                <a:avLst/>
              </a:prstGeom>
              <a:noFill/>
              <a:ln>
                <a:noFill/>
              </a:ln>
            </p:spPr>
          </p:pic>
          <p:pic>
            <p:nvPicPr>
              <p:cNvPr id="876" name="Google Shape;876;p147"/>
              <p:cNvPicPr preferRelativeResize="0"/>
              <p:nvPr/>
            </p:nvPicPr>
            <p:blipFill rotWithShape="1">
              <a:blip r:embed="rId3">
                <a:alphaModFix/>
              </a:blip>
              <a:srcRect b="0" l="0" r="0" t="0"/>
              <a:stretch/>
            </p:blipFill>
            <p:spPr>
              <a:xfrm>
                <a:off x="1338120" y="3099600"/>
                <a:ext cx="417240" cy="351360"/>
              </a:xfrm>
              <a:prstGeom prst="rect">
                <a:avLst/>
              </a:prstGeom>
              <a:noFill/>
              <a:ln>
                <a:noFill/>
              </a:ln>
            </p:spPr>
          </p:pic>
          <p:pic>
            <p:nvPicPr>
              <p:cNvPr id="877" name="Google Shape;877;p147"/>
              <p:cNvPicPr preferRelativeResize="0"/>
              <p:nvPr/>
            </p:nvPicPr>
            <p:blipFill rotWithShape="1">
              <a:blip r:embed="rId3">
                <a:alphaModFix/>
              </a:blip>
              <a:srcRect b="0" l="0" r="0" t="0"/>
              <a:stretch/>
            </p:blipFill>
            <p:spPr>
              <a:xfrm>
                <a:off x="2003040" y="3099600"/>
                <a:ext cx="417240" cy="351360"/>
              </a:xfrm>
              <a:prstGeom prst="rect">
                <a:avLst/>
              </a:prstGeom>
              <a:noFill/>
              <a:ln>
                <a:noFill/>
              </a:ln>
            </p:spPr>
          </p:pic>
          <p:pic>
            <p:nvPicPr>
              <p:cNvPr id="878" name="Google Shape;878;p147"/>
              <p:cNvPicPr preferRelativeResize="0"/>
              <p:nvPr/>
            </p:nvPicPr>
            <p:blipFill rotWithShape="1">
              <a:blip r:embed="rId3">
                <a:alphaModFix/>
              </a:blip>
              <a:srcRect b="0" l="0" r="0" t="0"/>
              <a:stretch/>
            </p:blipFill>
            <p:spPr>
              <a:xfrm>
                <a:off x="2003040" y="3772800"/>
                <a:ext cx="417240" cy="351360"/>
              </a:xfrm>
              <a:prstGeom prst="rect">
                <a:avLst/>
              </a:prstGeom>
              <a:noFill/>
              <a:ln>
                <a:noFill/>
              </a:ln>
            </p:spPr>
          </p:pic>
          <p:pic>
            <p:nvPicPr>
              <p:cNvPr id="879" name="Google Shape;879;p147"/>
              <p:cNvPicPr preferRelativeResize="0"/>
              <p:nvPr/>
            </p:nvPicPr>
            <p:blipFill rotWithShape="1">
              <a:blip r:embed="rId3">
                <a:alphaModFix/>
              </a:blip>
              <a:srcRect b="0" l="0" r="0" t="0"/>
              <a:stretch/>
            </p:blipFill>
            <p:spPr>
              <a:xfrm>
                <a:off x="1399680" y="3687120"/>
                <a:ext cx="417240" cy="351360"/>
              </a:xfrm>
              <a:prstGeom prst="rect">
                <a:avLst/>
              </a:prstGeom>
              <a:noFill/>
              <a:ln>
                <a:noFill/>
              </a:ln>
            </p:spPr>
          </p:pic>
          <p:pic>
            <p:nvPicPr>
              <p:cNvPr id="880" name="Google Shape;880;p147"/>
              <p:cNvPicPr preferRelativeResize="0"/>
              <p:nvPr/>
            </p:nvPicPr>
            <p:blipFill rotWithShape="1">
              <a:blip r:embed="rId3">
                <a:alphaModFix/>
              </a:blip>
              <a:srcRect b="0" l="0" r="0" t="0"/>
              <a:stretch/>
            </p:blipFill>
            <p:spPr>
              <a:xfrm>
                <a:off x="707760" y="3718080"/>
                <a:ext cx="417240" cy="351360"/>
              </a:xfrm>
              <a:prstGeom prst="rect">
                <a:avLst/>
              </a:prstGeom>
              <a:noFill/>
              <a:ln>
                <a:noFill/>
              </a:ln>
            </p:spPr>
          </p:pic>
          <p:sp>
            <p:nvSpPr>
              <p:cNvPr id="881" name="Google Shape;881;p147"/>
              <p:cNvSpPr/>
              <p:nvPr/>
            </p:nvSpPr>
            <p:spPr>
              <a:xfrm>
                <a:off x="367200" y="2665440"/>
                <a:ext cx="2172600" cy="164628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Ontologies</a:t>
                </a:r>
                <a:endParaRPr b="0" i="0" sz="1000" u="none" cap="none" strike="noStrike">
                  <a:latin typeface="Arial"/>
                  <a:ea typeface="Arial"/>
                  <a:cs typeface="Arial"/>
                  <a:sym typeface="Arial"/>
                </a:endParaRPr>
              </a:p>
            </p:txBody>
          </p:sp>
        </p:grpSp>
        <p:sp>
          <p:nvSpPr>
            <p:cNvPr id="882" name="Google Shape;882;p147"/>
            <p:cNvSpPr/>
            <p:nvPr/>
          </p:nvSpPr>
          <p:spPr>
            <a:xfrm>
              <a:off x="541080" y="3030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83" name="Google Shape;883;p147"/>
            <p:cNvSpPr/>
            <p:nvPr/>
          </p:nvSpPr>
          <p:spPr>
            <a:xfrm>
              <a:off x="1199160" y="30909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84" name="Google Shape;884;p147"/>
            <p:cNvSpPr/>
            <p:nvPr/>
          </p:nvSpPr>
          <p:spPr>
            <a:xfrm>
              <a:off x="632160" y="351756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85" name="Google Shape;885;p147"/>
            <p:cNvSpPr/>
            <p:nvPr/>
          </p:nvSpPr>
          <p:spPr>
            <a:xfrm>
              <a:off x="1275840" y="365148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86" name="Google Shape;886;p147"/>
            <p:cNvSpPr/>
            <p:nvPr/>
          </p:nvSpPr>
          <p:spPr>
            <a:xfrm>
              <a:off x="1819440" y="322740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887" name="Google Shape;887;p147"/>
            <p:cNvSpPr/>
            <p:nvPr/>
          </p:nvSpPr>
          <p:spPr>
            <a:xfrm>
              <a:off x="1919880" y="3660840"/>
              <a:ext cx="509040" cy="29808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grpSp>
      <p:sp>
        <p:nvSpPr>
          <p:cNvPr id="888" name="Google Shape;888;p147"/>
          <p:cNvSpPr/>
          <p:nvPr/>
        </p:nvSpPr>
        <p:spPr>
          <a:xfrm flipH="1" rot="10800000">
            <a:off x="2567925" y="2805698"/>
            <a:ext cx="754110" cy="69973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grpSp>
        <p:nvGrpSpPr>
          <p:cNvPr id="889" name="Google Shape;889;p147"/>
          <p:cNvGrpSpPr/>
          <p:nvPr/>
        </p:nvGrpSpPr>
        <p:grpSpPr>
          <a:xfrm>
            <a:off x="6072480" y="2159280"/>
            <a:ext cx="2172600" cy="1368000"/>
            <a:chOff x="6072480" y="2159280"/>
            <a:chExt cx="2172600" cy="1368000"/>
          </a:xfrm>
        </p:grpSpPr>
        <p:grpSp>
          <p:nvGrpSpPr>
            <p:cNvPr id="890" name="Google Shape;890;p147"/>
            <p:cNvGrpSpPr/>
            <p:nvPr/>
          </p:nvGrpSpPr>
          <p:grpSpPr>
            <a:xfrm>
              <a:off x="6072480" y="2159280"/>
              <a:ext cx="2172600" cy="1368000"/>
              <a:chOff x="6072480" y="2159280"/>
              <a:chExt cx="2172600" cy="1368000"/>
            </a:xfrm>
          </p:grpSpPr>
          <p:pic>
            <p:nvPicPr>
              <p:cNvPr id="891" name="Google Shape;891;p147"/>
              <p:cNvPicPr preferRelativeResize="0"/>
              <p:nvPr/>
            </p:nvPicPr>
            <p:blipFill rotWithShape="1">
              <a:blip r:embed="rId3">
                <a:alphaModFix/>
              </a:blip>
              <a:srcRect b="0" l="0" r="0" t="0"/>
              <a:stretch/>
            </p:blipFill>
            <p:spPr>
              <a:xfrm>
                <a:off x="6248880" y="2520360"/>
                <a:ext cx="417240" cy="291960"/>
              </a:xfrm>
              <a:prstGeom prst="rect">
                <a:avLst/>
              </a:prstGeom>
              <a:noFill/>
              <a:ln>
                <a:noFill/>
              </a:ln>
            </p:spPr>
          </p:pic>
          <p:pic>
            <p:nvPicPr>
              <p:cNvPr id="892" name="Google Shape;892;p147"/>
              <p:cNvPicPr preferRelativeResize="0"/>
              <p:nvPr/>
            </p:nvPicPr>
            <p:blipFill rotWithShape="1">
              <a:blip r:embed="rId3">
                <a:alphaModFix/>
              </a:blip>
              <a:srcRect b="0" l="0" r="0" t="0"/>
              <a:stretch/>
            </p:blipFill>
            <p:spPr>
              <a:xfrm>
                <a:off x="7043400" y="2520360"/>
                <a:ext cx="417240" cy="291960"/>
              </a:xfrm>
              <a:prstGeom prst="rect">
                <a:avLst/>
              </a:prstGeom>
              <a:noFill/>
              <a:ln>
                <a:noFill/>
              </a:ln>
            </p:spPr>
          </p:pic>
          <p:pic>
            <p:nvPicPr>
              <p:cNvPr id="893" name="Google Shape;893;p147"/>
              <p:cNvPicPr preferRelativeResize="0"/>
              <p:nvPr/>
            </p:nvPicPr>
            <p:blipFill rotWithShape="1">
              <a:blip r:embed="rId3">
                <a:alphaModFix/>
              </a:blip>
              <a:srcRect b="0" l="0" r="0" t="0"/>
              <a:stretch/>
            </p:blipFill>
            <p:spPr>
              <a:xfrm>
                <a:off x="7707960" y="2520360"/>
                <a:ext cx="417240" cy="291960"/>
              </a:xfrm>
              <a:prstGeom prst="rect">
                <a:avLst/>
              </a:prstGeom>
              <a:noFill/>
              <a:ln>
                <a:noFill/>
              </a:ln>
            </p:spPr>
          </p:pic>
          <p:pic>
            <p:nvPicPr>
              <p:cNvPr id="894" name="Google Shape;894;p147"/>
              <p:cNvPicPr preferRelativeResize="0"/>
              <p:nvPr/>
            </p:nvPicPr>
            <p:blipFill rotWithShape="1">
              <a:blip r:embed="rId3">
                <a:alphaModFix/>
              </a:blip>
              <a:srcRect b="0" l="0" r="0" t="0"/>
              <a:stretch/>
            </p:blipFill>
            <p:spPr>
              <a:xfrm>
                <a:off x="7707960" y="3079440"/>
                <a:ext cx="417240" cy="291960"/>
              </a:xfrm>
              <a:prstGeom prst="rect">
                <a:avLst/>
              </a:prstGeom>
              <a:noFill/>
              <a:ln>
                <a:noFill/>
              </a:ln>
            </p:spPr>
          </p:pic>
          <p:pic>
            <p:nvPicPr>
              <p:cNvPr id="895" name="Google Shape;895;p147"/>
              <p:cNvPicPr preferRelativeResize="0"/>
              <p:nvPr/>
            </p:nvPicPr>
            <p:blipFill rotWithShape="1">
              <a:blip r:embed="rId3">
                <a:alphaModFix/>
              </a:blip>
              <a:srcRect b="0" l="0" r="0" t="0"/>
              <a:stretch/>
            </p:blipFill>
            <p:spPr>
              <a:xfrm>
                <a:off x="7104600" y="3008160"/>
                <a:ext cx="417240" cy="291960"/>
              </a:xfrm>
              <a:prstGeom prst="rect">
                <a:avLst/>
              </a:prstGeom>
              <a:noFill/>
              <a:ln>
                <a:noFill/>
              </a:ln>
            </p:spPr>
          </p:pic>
          <p:pic>
            <p:nvPicPr>
              <p:cNvPr id="896" name="Google Shape;896;p147"/>
              <p:cNvPicPr preferRelativeResize="0"/>
              <p:nvPr/>
            </p:nvPicPr>
            <p:blipFill rotWithShape="1">
              <a:blip r:embed="rId3">
                <a:alphaModFix/>
              </a:blip>
              <a:srcRect b="0" l="0" r="0" t="0"/>
              <a:stretch/>
            </p:blipFill>
            <p:spPr>
              <a:xfrm>
                <a:off x="6412680" y="3034080"/>
                <a:ext cx="417240" cy="291960"/>
              </a:xfrm>
              <a:prstGeom prst="rect">
                <a:avLst/>
              </a:prstGeom>
              <a:noFill/>
              <a:ln>
                <a:noFill/>
              </a:ln>
            </p:spPr>
          </p:pic>
          <p:sp>
            <p:nvSpPr>
              <p:cNvPr id="897" name="Google Shape;897;p147"/>
              <p:cNvSpPr/>
              <p:nvPr/>
            </p:nvSpPr>
            <p:spPr>
              <a:xfrm>
                <a:off x="6072480" y="2159280"/>
                <a:ext cx="2172600" cy="1368000"/>
              </a:xfrm>
              <a:prstGeom prst="roundRect">
                <a:avLst>
                  <a:gd fmla="val 16667" name="adj"/>
                </a:avLst>
              </a:prstGeom>
              <a:solidFill>
                <a:srgbClr val="F9F9FF"/>
              </a:solidFill>
              <a:ln cap="flat" cmpd="sng" w="9525">
                <a:solidFill>
                  <a:srgbClr val="74767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Schema Mapping Ontologies</a:t>
                </a:r>
                <a:endParaRPr b="0" i="0" sz="1000" u="none" cap="none" strike="noStrike">
                  <a:latin typeface="Arial"/>
                  <a:ea typeface="Arial"/>
                  <a:cs typeface="Arial"/>
                  <a:sym typeface="Arial"/>
                </a:endParaRPr>
              </a:p>
            </p:txBody>
          </p:sp>
        </p:grpSp>
        <p:pic>
          <p:nvPicPr>
            <p:cNvPr id="898" name="Google Shape;898;p147"/>
            <p:cNvPicPr preferRelativeResize="0"/>
            <p:nvPr/>
          </p:nvPicPr>
          <p:blipFill rotWithShape="1">
            <a:blip r:embed="rId4">
              <a:alphaModFix/>
            </a:blip>
            <a:srcRect b="0" l="0" r="0" t="0"/>
            <a:stretch/>
          </p:blipFill>
          <p:spPr>
            <a:xfrm>
              <a:off x="7184880" y="2532960"/>
              <a:ext cx="654120" cy="282240"/>
            </a:xfrm>
            <a:prstGeom prst="rect">
              <a:avLst/>
            </a:prstGeom>
            <a:noFill/>
            <a:ln>
              <a:noFill/>
            </a:ln>
          </p:spPr>
        </p:pic>
        <p:pic>
          <p:nvPicPr>
            <p:cNvPr id="899" name="Google Shape;899;p147"/>
            <p:cNvPicPr preferRelativeResize="0"/>
            <p:nvPr/>
          </p:nvPicPr>
          <p:blipFill rotWithShape="1">
            <a:blip r:embed="rId4">
              <a:alphaModFix/>
            </a:blip>
            <a:srcRect b="0" l="0" r="0" t="0"/>
            <a:stretch/>
          </p:blipFill>
          <p:spPr>
            <a:xfrm>
              <a:off x="6231960" y="2685240"/>
              <a:ext cx="654120" cy="282240"/>
            </a:xfrm>
            <a:prstGeom prst="rect">
              <a:avLst/>
            </a:prstGeom>
            <a:noFill/>
            <a:ln>
              <a:noFill/>
            </a:ln>
          </p:spPr>
        </p:pic>
        <p:pic>
          <p:nvPicPr>
            <p:cNvPr id="900" name="Google Shape;900;p147"/>
            <p:cNvPicPr preferRelativeResize="0"/>
            <p:nvPr/>
          </p:nvPicPr>
          <p:blipFill rotWithShape="1">
            <a:blip r:embed="rId4">
              <a:alphaModFix/>
            </a:blip>
            <a:srcRect b="0" l="0" r="0" t="0"/>
            <a:stretch/>
          </p:blipFill>
          <p:spPr>
            <a:xfrm>
              <a:off x="6274440" y="3135600"/>
              <a:ext cx="654120" cy="282240"/>
            </a:xfrm>
            <a:prstGeom prst="rect">
              <a:avLst/>
            </a:prstGeom>
            <a:noFill/>
            <a:ln>
              <a:noFill/>
            </a:ln>
          </p:spPr>
        </p:pic>
      </p:grpSp>
      <p:sp>
        <p:nvSpPr>
          <p:cNvPr id="901" name="Google Shape;901;p147"/>
          <p:cNvSpPr/>
          <p:nvPr/>
        </p:nvSpPr>
        <p:spPr>
          <a:xfrm>
            <a:off x="5288400" y="2843640"/>
            <a:ext cx="7837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902" name="Google Shape;902;p147"/>
          <p:cNvSpPr/>
          <p:nvPr/>
        </p:nvSpPr>
        <p:spPr>
          <a:xfrm>
            <a:off x="6147360" y="3604320"/>
            <a:ext cx="2022120" cy="4615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747676"/>
                </a:solidFill>
                <a:latin typeface="Arial"/>
                <a:ea typeface="Arial"/>
                <a:cs typeface="Arial"/>
                <a:sym typeface="Arial"/>
              </a:rPr>
              <a:t>Top-Down Ontologies are mapped to Bottom Up Ontologies</a:t>
            </a:r>
            <a:endParaRPr b="0" i="0" sz="900" u="none" cap="none" strike="noStrike">
              <a:latin typeface="Arial"/>
              <a:ea typeface="Arial"/>
              <a:cs typeface="Arial"/>
              <a:sym typeface="Arial"/>
            </a:endParaRPr>
          </a:p>
        </p:txBody>
      </p:sp>
      <p:pic>
        <p:nvPicPr>
          <p:cNvPr id="903" name="Google Shape;903;p147"/>
          <p:cNvPicPr preferRelativeResize="0"/>
          <p:nvPr/>
        </p:nvPicPr>
        <p:blipFill rotWithShape="1">
          <a:blip r:embed="rId8">
            <a:alphaModFix/>
          </a:blip>
          <a:srcRect b="0" l="0" r="0" t="0"/>
          <a:stretch/>
        </p:blipFill>
        <p:spPr>
          <a:xfrm>
            <a:off x="6549120" y="704160"/>
            <a:ext cx="1219320" cy="862920"/>
          </a:xfrm>
          <a:prstGeom prst="rect">
            <a:avLst/>
          </a:prstGeom>
          <a:noFill/>
          <a:ln cap="flat" cmpd="sng" w="28425">
            <a:solidFill>
              <a:srgbClr val="D8DADA"/>
            </a:solidFill>
            <a:prstDash val="solid"/>
            <a:round/>
            <a:headEnd len="sm" w="sm" type="none"/>
            <a:tailEnd len="sm" w="sm" type="none"/>
          </a:ln>
        </p:spPr>
      </p:pic>
      <p:sp>
        <p:nvSpPr>
          <p:cNvPr id="904" name="Google Shape;904;p147"/>
          <p:cNvSpPr/>
          <p:nvPr/>
        </p:nvSpPr>
        <p:spPr>
          <a:xfrm>
            <a:off x="7158960" y="1567440"/>
            <a:ext cx="360" cy="59148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905" name="Google Shape;905;p147"/>
          <p:cNvSpPr/>
          <p:nvPr/>
        </p:nvSpPr>
        <p:spPr>
          <a:xfrm>
            <a:off x="7233120" y="2950560"/>
            <a:ext cx="549000" cy="225360"/>
          </a:xfrm>
          <a:prstGeom prst="roundRect">
            <a:avLst>
              <a:gd fmla="val 16667" name="adj"/>
            </a:avLst>
          </a:prstGeom>
          <a:solidFill>
            <a:srgbClr val="E6B8A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Ontology</a:t>
            </a:r>
            <a:endParaRPr b="0" i="0" sz="500" u="none" cap="none" strike="noStrike">
              <a:latin typeface="Arial"/>
              <a:ea typeface="Arial"/>
              <a:cs typeface="Arial"/>
              <a:sym typeface="Arial"/>
            </a:endParaRPr>
          </a:p>
        </p:txBody>
      </p:sp>
      <p:sp>
        <p:nvSpPr>
          <p:cNvPr id="906" name="Google Shape;906;p147"/>
          <p:cNvSpPr/>
          <p:nvPr/>
        </p:nvSpPr>
        <p:spPr>
          <a:xfrm>
            <a:off x="6886080" y="2826720"/>
            <a:ext cx="346320" cy="2365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907" name="Google Shape;907;p147"/>
          <p:cNvSpPr/>
          <p:nvPr/>
        </p:nvSpPr>
        <p:spPr>
          <a:xfrm flipH="1" rot="10800000">
            <a:off x="6902150" y="3063901"/>
            <a:ext cx="312498" cy="237762"/>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908" name="Google Shape;908;p147"/>
          <p:cNvSpPr/>
          <p:nvPr/>
        </p:nvSpPr>
        <p:spPr>
          <a:xfrm flipH="1">
            <a:off x="7507800" y="2815560"/>
            <a:ext cx="4320" cy="1346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pic>
        <p:nvPicPr>
          <p:cNvPr id="909" name="Google Shape;909;p147"/>
          <p:cNvPicPr preferRelativeResize="0"/>
          <p:nvPr/>
        </p:nvPicPr>
        <p:blipFill rotWithShape="1">
          <a:blip r:embed="rId9">
            <a:alphaModFix/>
          </a:blip>
          <a:srcRect b="0" l="0" r="0" t="0"/>
          <a:stretch/>
        </p:blipFill>
        <p:spPr>
          <a:xfrm>
            <a:off x="204840" y="3942360"/>
            <a:ext cx="369360" cy="369360"/>
          </a:xfrm>
          <a:prstGeom prst="rect">
            <a:avLst/>
          </a:prstGeom>
          <a:noFill/>
          <a:ln>
            <a:noFill/>
          </a:ln>
        </p:spPr>
      </p:pic>
      <p:pic>
        <p:nvPicPr>
          <p:cNvPr id="910" name="Google Shape;910;p147"/>
          <p:cNvPicPr preferRelativeResize="0"/>
          <p:nvPr/>
        </p:nvPicPr>
        <p:blipFill rotWithShape="1">
          <a:blip r:embed="rId9">
            <a:alphaModFix/>
          </a:blip>
          <a:srcRect b="0" l="0" r="0" t="0"/>
          <a:stretch/>
        </p:blipFill>
        <p:spPr>
          <a:xfrm>
            <a:off x="131040" y="2122560"/>
            <a:ext cx="424800" cy="424800"/>
          </a:xfrm>
          <a:prstGeom prst="rect">
            <a:avLst/>
          </a:prstGeom>
          <a:noFill/>
          <a:ln>
            <a:noFill/>
          </a:ln>
        </p:spPr>
      </p:pic>
      <p:grpSp>
        <p:nvGrpSpPr>
          <p:cNvPr id="911" name="Google Shape;911;p147"/>
          <p:cNvGrpSpPr/>
          <p:nvPr/>
        </p:nvGrpSpPr>
        <p:grpSpPr>
          <a:xfrm>
            <a:off x="8549640" y="0"/>
            <a:ext cx="594000" cy="679680"/>
            <a:chOff x="8549640" y="0"/>
            <a:chExt cx="594000" cy="679680"/>
          </a:xfrm>
        </p:grpSpPr>
        <p:sp>
          <p:nvSpPr>
            <p:cNvPr id="912" name="Google Shape;912;p147"/>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3" name="Google Shape;913;p147"/>
            <p:cNvGrpSpPr/>
            <p:nvPr/>
          </p:nvGrpSpPr>
          <p:grpSpPr>
            <a:xfrm>
              <a:off x="8588160" y="0"/>
              <a:ext cx="555480" cy="679680"/>
              <a:chOff x="8588160" y="0"/>
              <a:chExt cx="555480" cy="679680"/>
            </a:xfrm>
          </p:grpSpPr>
          <p:pic>
            <p:nvPicPr>
              <p:cNvPr id="914" name="Google Shape;914;p147"/>
              <p:cNvPicPr preferRelativeResize="0"/>
              <p:nvPr/>
            </p:nvPicPr>
            <p:blipFill rotWithShape="1">
              <a:blip r:embed="rId10">
                <a:alphaModFix/>
              </a:blip>
              <a:srcRect b="0" l="20669" r="9844" t="0"/>
              <a:stretch/>
            </p:blipFill>
            <p:spPr>
              <a:xfrm>
                <a:off x="8588160" y="0"/>
                <a:ext cx="530640" cy="530640"/>
              </a:xfrm>
              <a:prstGeom prst="rect">
                <a:avLst/>
              </a:prstGeom>
              <a:noFill/>
              <a:ln>
                <a:noFill/>
              </a:ln>
            </p:spPr>
          </p:pic>
          <p:sp>
            <p:nvSpPr>
              <p:cNvPr id="915" name="Google Shape;915;p147"/>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48"/>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Extending Semantic Governance with AI: </a:t>
            </a:r>
            <a:r>
              <a:rPr b="1" i="0" lang="en-US" sz="2000" u="none" cap="none" strike="noStrike">
                <a:solidFill>
                  <a:srgbClr val="0089EC"/>
                </a:solidFill>
                <a:latin typeface="Arial"/>
                <a:ea typeface="Arial"/>
                <a:cs typeface="Arial"/>
                <a:sym typeface="Arial"/>
              </a:rPr>
              <a:t>Leveraging LLMs</a:t>
            </a:r>
            <a:endParaRPr b="0" i="0" sz="2000" u="none" cap="none" strike="noStrike">
              <a:latin typeface="Arial"/>
              <a:ea typeface="Arial"/>
              <a:cs typeface="Arial"/>
              <a:sym typeface="Arial"/>
            </a:endParaRPr>
          </a:p>
        </p:txBody>
      </p:sp>
      <p:pic>
        <p:nvPicPr>
          <p:cNvPr id="921" name="Google Shape;921;p148"/>
          <p:cNvPicPr preferRelativeResize="0"/>
          <p:nvPr/>
        </p:nvPicPr>
        <p:blipFill rotWithShape="1">
          <a:blip r:embed="rId3">
            <a:alphaModFix/>
          </a:blip>
          <a:srcRect b="0" l="0" r="0" t="0"/>
          <a:stretch/>
        </p:blipFill>
        <p:spPr>
          <a:xfrm>
            <a:off x="1225080" y="613080"/>
            <a:ext cx="6910920" cy="4367880"/>
          </a:xfrm>
          <a:prstGeom prst="rect">
            <a:avLst/>
          </a:prstGeom>
          <a:noFill/>
          <a:ln>
            <a:noFill/>
          </a:ln>
        </p:spPr>
      </p:pic>
      <p:grpSp>
        <p:nvGrpSpPr>
          <p:cNvPr id="922" name="Google Shape;922;p148"/>
          <p:cNvGrpSpPr/>
          <p:nvPr/>
        </p:nvGrpSpPr>
        <p:grpSpPr>
          <a:xfrm>
            <a:off x="8549640" y="0"/>
            <a:ext cx="594000" cy="679680"/>
            <a:chOff x="8549640" y="0"/>
            <a:chExt cx="594000" cy="679680"/>
          </a:xfrm>
        </p:grpSpPr>
        <p:sp>
          <p:nvSpPr>
            <p:cNvPr id="923" name="Google Shape;923;p148"/>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4" name="Google Shape;924;p148"/>
            <p:cNvGrpSpPr/>
            <p:nvPr/>
          </p:nvGrpSpPr>
          <p:grpSpPr>
            <a:xfrm>
              <a:off x="8588160" y="0"/>
              <a:ext cx="555480" cy="679680"/>
              <a:chOff x="8588160" y="0"/>
              <a:chExt cx="555480" cy="679680"/>
            </a:xfrm>
          </p:grpSpPr>
          <p:pic>
            <p:nvPicPr>
              <p:cNvPr id="925" name="Google Shape;925;p148"/>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926" name="Google Shape;926;p148"/>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149"/>
          <p:cNvSpPr/>
          <p:nvPr/>
        </p:nvSpPr>
        <p:spPr>
          <a:xfrm>
            <a:off x="445320" y="73656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932" name="Google Shape;932;p149"/>
          <p:cNvSpPr/>
          <p:nvPr/>
        </p:nvSpPr>
        <p:spPr>
          <a:xfrm>
            <a:off x="553680" y="126432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(DNA)</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700" u="none" cap="none" strike="noStrike">
              <a:latin typeface="Arial"/>
              <a:ea typeface="Arial"/>
              <a:cs typeface="Arial"/>
              <a:sym typeface="Arial"/>
            </a:endParaRPr>
          </a:p>
        </p:txBody>
      </p:sp>
      <p:sp>
        <p:nvSpPr>
          <p:cNvPr id="933" name="Google Shape;933;p149"/>
          <p:cNvSpPr/>
          <p:nvPr/>
        </p:nvSpPr>
        <p:spPr>
          <a:xfrm>
            <a:off x="673920" y="1752120"/>
            <a:ext cx="1227960" cy="23148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934" name="Google Shape;934;p149"/>
          <p:cNvSpPr/>
          <p:nvPr/>
        </p:nvSpPr>
        <p:spPr>
          <a:xfrm>
            <a:off x="1901880" y="1752120"/>
            <a:ext cx="1176840" cy="6714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935" name="Google Shape;935;p149"/>
          <p:cNvSpPr/>
          <p:nvPr/>
        </p:nvSpPr>
        <p:spPr>
          <a:xfrm>
            <a:off x="673920" y="1983960"/>
            <a:ext cx="1227960" cy="439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936" name="Google Shape;936;p149"/>
          <p:cNvSpPr/>
          <p:nvPr/>
        </p:nvSpPr>
        <p:spPr>
          <a:xfrm>
            <a:off x="3185640" y="1264320"/>
            <a:ext cx="14407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Content</a:t>
            </a:r>
            <a:endParaRPr b="0" i="0" sz="900" u="none" cap="none" strike="noStrike">
              <a:latin typeface="Arial"/>
              <a:ea typeface="Arial"/>
              <a:cs typeface="Arial"/>
              <a:sym typeface="Arial"/>
            </a:endParaRPr>
          </a:p>
        </p:txBody>
      </p:sp>
      <p:sp>
        <p:nvSpPr>
          <p:cNvPr id="937" name="Google Shape;937;p149"/>
          <p:cNvSpPr/>
          <p:nvPr/>
        </p:nvSpPr>
        <p:spPr>
          <a:xfrm>
            <a:off x="3293640" y="17521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938" name="Google Shape;938;p149"/>
          <p:cNvSpPr/>
          <p:nvPr/>
        </p:nvSpPr>
        <p:spPr>
          <a:xfrm>
            <a:off x="3290400" y="2035440"/>
            <a:ext cx="1227960" cy="38772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 Schemas</a:t>
            </a:r>
            <a:endParaRPr b="0" i="0" sz="900" u="none" cap="none" strike="noStrike">
              <a:latin typeface="Arial"/>
              <a:ea typeface="Arial"/>
              <a:cs typeface="Arial"/>
              <a:sym typeface="Arial"/>
            </a:endParaRPr>
          </a:p>
        </p:txBody>
      </p:sp>
      <p:sp>
        <p:nvSpPr>
          <p:cNvPr id="939" name="Google Shape;939;p149"/>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a:t>
            </a:r>
            <a:r>
              <a:rPr b="1" i="0" lang="en-US" sz="1900" u="none" cap="none" strike="noStrike">
                <a:solidFill>
                  <a:srgbClr val="0089EC"/>
                </a:solidFill>
                <a:latin typeface="Arial"/>
                <a:ea typeface="Arial"/>
                <a:cs typeface="Arial"/>
                <a:sym typeface="Arial"/>
              </a:rPr>
              <a:t>Mapping Meaning to Digital Assets</a:t>
            </a:r>
            <a:endParaRPr b="0" i="0" sz="1900" u="none" cap="none" strike="noStrike">
              <a:latin typeface="Arial"/>
              <a:ea typeface="Arial"/>
              <a:cs typeface="Arial"/>
              <a:sym typeface="Arial"/>
            </a:endParaRPr>
          </a:p>
        </p:txBody>
      </p:sp>
      <p:sp>
        <p:nvSpPr>
          <p:cNvPr id="940" name="Google Shape;940;p149"/>
          <p:cNvSpPr/>
          <p:nvPr/>
        </p:nvSpPr>
        <p:spPr>
          <a:xfrm>
            <a:off x="5009040" y="829440"/>
            <a:ext cx="3692880" cy="329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Now</a:t>
            </a:r>
            <a:br>
              <a:rPr b="0" i="0" lang="en-US" sz="1800" u="none" cap="none" strike="noStrike">
                <a:latin typeface="Arial"/>
                <a:ea typeface="Arial"/>
                <a:cs typeface="Arial"/>
                <a:sym typeface="Arial"/>
              </a:rPr>
            </a:br>
            <a:r>
              <a:rPr b="1" i="0" lang="en-US" sz="1000" u="none" cap="none" strike="noStrike">
                <a:solidFill>
                  <a:srgbClr val="222222"/>
                </a:solidFill>
                <a:latin typeface="Arial"/>
                <a:ea typeface="Arial"/>
                <a:cs typeface="Arial"/>
                <a:sym typeface="Arial"/>
              </a:rPr>
              <a:t>The 3-Tier Approach to Smarter Content &amp; Knowledge</a:t>
            </a:r>
            <a:br>
              <a:rPr b="0" i="0" lang="en-US" sz="1800" u="none" cap="none" strike="noStrike">
                <a:latin typeface="Arial"/>
                <a:ea typeface="Arial"/>
                <a:cs typeface="Arial"/>
                <a:sym typeface="Arial"/>
              </a:rPr>
            </a:br>
            <a:r>
              <a:rPr b="0" i="0" lang="en-US" sz="1000" u="none" cap="none" strike="noStrike">
                <a:solidFill>
                  <a:srgbClr val="222222"/>
                </a:solidFill>
                <a:latin typeface="Arial"/>
                <a:ea typeface="Arial"/>
                <a:cs typeface="Arial"/>
                <a:sym typeface="Arial"/>
              </a:rPr>
              <a:t>Uses current infrastructure to make content more relevant to users based on their context and persona.</a:t>
            </a:r>
            <a:endParaRPr b="0" i="0" sz="1000" u="none" cap="none" strike="noStrike">
              <a:latin typeface="Arial"/>
              <a:ea typeface="Arial"/>
              <a:cs typeface="Arial"/>
              <a:sym typeface="Arial"/>
            </a:endParaRPr>
          </a:p>
          <a:p>
            <a:pPr indent="-291600" lvl="0" marL="457200" marR="0" rtl="0" algn="l">
              <a:lnSpc>
                <a:spcPct val="115000"/>
              </a:lnSpc>
              <a:spcBef>
                <a:spcPts val="10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Smarter organization by breaking down complex topics into manageable component knowledge</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Unified intelligence by establishing clear rules for a more evolved model of knowledge</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Enhance search capabilities</a:t>
            </a:r>
            <a:endParaRPr b="0" i="0" sz="1000" u="none" cap="none" strike="noStrike">
              <a:latin typeface="Arial"/>
              <a:ea typeface="Arial"/>
              <a:cs typeface="Arial"/>
              <a:sym typeface="Arial"/>
            </a:endParaRPr>
          </a:p>
          <a:p>
            <a:pPr indent="0" lvl="0" marL="0" marR="0" rtl="0" algn="l">
              <a:lnSpc>
                <a:spcPct val="115000"/>
              </a:lnSpc>
              <a:spcBef>
                <a:spcPts val="1001"/>
              </a:spcBef>
              <a:spcAft>
                <a:spcPts val="0"/>
              </a:spcAft>
              <a:buNone/>
            </a:pPr>
            <a:r>
              <a:rPr b="1" i="0" lang="en-US" sz="1300" u="none" cap="none" strike="noStrike">
                <a:solidFill>
                  <a:srgbClr val="222222"/>
                </a:solidFill>
                <a:latin typeface="Arial"/>
                <a:ea typeface="Arial"/>
                <a:cs typeface="Arial"/>
                <a:sym typeface="Arial"/>
              </a:rPr>
              <a:t>Future</a:t>
            </a:r>
            <a:r>
              <a:rPr b="1" i="0" lang="en-US" sz="900" u="none" cap="none" strike="noStrike">
                <a:solidFill>
                  <a:srgbClr val="222222"/>
                </a:solidFill>
                <a:latin typeface="Arial"/>
                <a:ea typeface="Arial"/>
                <a:cs typeface="Arial"/>
                <a:sym typeface="Arial"/>
              </a:rPr>
              <a:t> </a:t>
            </a:r>
            <a:br>
              <a:rPr b="0" i="0" lang="en-US" sz="1800" u="none" cap="none" strike="noStrike">
                <a:latin typeface="Arial"/>
                <a:ea typeface="Arial"/>
                <a:cs typeface="Arial"/>
                <a:sym typeface="Arial"/>
              </a:rPr>
            </a:br>
            <a:r>
              <a:rPr b="1" i="0" lang="en-US" sz="1000" u="none" cap="none" strike="noStrike">
                <a:solidFill>
                  <a:srgbClr val="222222"/>
                </a:solidFill>
                <a:latin typeface="Arial"/>
                <a:ea typeface="Arial"/>
                <a:cs typeface="Arial"/>
                <a:sym typeface="Arial"/>
              </a:rPr>
              <a:t>Building a Learning System</a:t>
            </a:r>
            <a:endParaRPr b="0" i="0" sz="1000" u="none" cap="none" strike="noStrike">
              <a:latin typeface="Arial"/>
              <a:ea typeface="Arial"/>
              <a:cs typeface="Arial"/>
              <a:sym typeface="Arial"/>
            </a:endParaRPr>
          </a:p>
          <a:p>
            <a:pPr indent="-291600" lvl="0" marL="457200" marR="0" rtl="0" algn="l">
              <a:lnSpc>
                <a:spcPct val="115000"/>
              </a:lnSpc>
              <a:spcBef>
                <a:spcPts val="1001"/>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Introduce lifecycle standards and design patterns</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Implement both virtual &amp; physical knowledge graphs</a:t>
            </a:r>
            <a:endParaRPr b="0" i="0" sz="1000" u="none" cap="none" strike="noStrike">
              <a:latin typeface="Arial"/>
              <a:ea typeface="Arial"/>
              <a:cs typeface="Arial"/>
              <a:sym typeface="Arial"/>
            </a:endParaRPr>
          </a:p>
          <a:p>
            <a:pPr indent="-291600" lvl="0" marL="457200" marR="0" rtl="0" algn="l">
              <a:lnSpc>
                <a:spcPct val="115000"/>
              </a:lnSpc>
              <a:spcBef>
                <a:spcPts val="0"/>
              </a:spcBef>
              <a:spcAft>
                <a:spcPts val="0"/>
              </a:spcAft>
              <a:buClr>
                <a:srgbClr val="222222"/>
              </a:buClr>
              <a:buSzPts val="1000"/>
              <a:buFont typeface="Arial"/>
              <a:buChar char="●"/>
            </a:pPr>
            <a:r>
              <a:rPr b="0" i="0" lang="en-US" sz="1000" u="none" cap="none" strike="noStrike">
                <a:solidFill>
                  <a:srgbClr val="222222"/>
                </a:solidFill>
                <a:latin typeface="Arial"/>
                <a:ea typeface="Arial"/>
                <a:cs typeface="Arial"/>
                <a:sym typeface="Arial"/>
              </a:rPr>
              <a:t>Develop an evolving learning capability by capturing clear facts &amp; capturing probable knowledge</a:t>
            </a:r>
            <a:endParaRPr b="0" i="0" sz="1000" u="none" cap="none" strike="noStrike">
              <a:latin typeface="Arial"/>
              <a:ea typeface="Arial"/>
              <a:cs typeface="Arial"/>
              <a:sym typeface="Arial"/>
            </a:endParaRPr>
          </a:p>
        </p:txBody>
      </p:sp>
      <p:grpSp>
        <p:nvGrpSpPr>
          <p:cNvPr id="941" name="Google Shape;941;p149"/>
          <p:cNvGrpSpPr/>
          <p:nvPr/>
        </p:nvGrpSpPr>
        <p:grpSpPr>
          <a:xfrm>
            <a:off x="8549640" y="0"/>
            <a:ext cx="594000" cy="679680"/>
            <a:chOff x="8549640" y="0"/>
            <a:chExt cx="594000" cy="679680"/>
          </a:xfrm>
        </p:grpSpPr>
        <p:sp>
          <p:nvSpPr>
            <p:cNvPr id="942" name="Google Shape;942;p149"/>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3" name="Google Shape;943;p149"/>
            <p:cNvGrpSpPr/>
            <p:nvPr/>
          </p:nvGrpSpPr>
          <p:grpSpPr>
            <a:xfrm>
              <a:off x="8588160" y="0"/>
              <a:ext cx="555480" cy="679680"/>
              <a:chOff x="8588160" y="0"/>
              <a:chExt cx="555480" cy="679680"/>
            </a:xfrm>
          </p:grpSpPr>
          <p:pic>
            <p:nvPicPr>
              <p:cNvPr id="944" name="Google Shape;944;p149"/>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945" name="Google Shape;945;p149"/>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50"/>
          <p:cNvSpPr/>
          <p:nvPr/>
        </p:nvSpPr>
        <p:spPr>
          <a:xfrm>
            <a:off x="4548240" y="3387600"/>
            <a:ext cx="904320" cy="326160"/>
          </a:xfrm>
          <a:prstGeom prst="can">
            <a:avLst>
              <a:gd fmla="val 20258"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951" name="Google Shape;951;p150"/>
          <p:cNvSpPr/>
          <p:nvPr/>
        </p:nvSpPr>
        <p:spPr>
          <a:xfrm>
            <a:off x="3120480" y="3174480"/>
            <a:ext cx="649440" cy="290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952" name="Google Shape;952;p150"/>
          <p:cNvSpPr/>
          <p:nvPr/>
        </p:nvSpPr>
        <p:spPr>
          <a:xfrm>
            <a:off x="4626720" y="1892160"/>
            <a:ext cx="1482120" cy="559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53" name="Google Shape;953;p150"/>
          <p:cNvSpPr/>
          <p:nvPr/>
        </p:nvSpPr>
        <p:spPr>
          <a:xfrm>
            <a:off x="6124680" y="1893600"/>
            <a:ext cx="618120" cy="29484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954" name="Google Shape;954;p150"/>
          <p:cNvSpPr/>
          <p:nvPr/>
        </p:nvSpPr>
        <p:spPr>
          <a:xfrm>
            <a:off x="6124680" y="16380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955" name="Google Shape;955;p150"/>
          <p:cNvSpPr/>
          <p:nvPr/>
        </p:nvSpPr>
        <p:spPr>
          <a:xfrm>
            <a:off x="1807200" y="3882240"/>
            <a:ext cx="64944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956" name="Google Shape;956;p150"/>
          <p:cNvSpPr/>
          <p:nvPr/>
        </p:nvSpPr>
        <p:spPr>
          <a:xfrm>
            <a:off x="6109200" y="228924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957" name="Google Shape;957;p150"/>
          <p:cNvSpPr/>
          <p:nvPr/>
        </p:nvSpPr>
        <p:spPr>
          <a:xfrm>
            <a:off x="6109200" y="271584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958" name="Google Shape;958;p150"/>
          <p:cNvSpPr/>
          <p:nvPr/>
        </p:nvSpPr>
        <p:spPr>
          <a:xfrm>
            <a:off x="6124680" y="345816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959" name="Google Shape;959;p150"/>
          <p:cNvGrpSpPr/>
          <p:nvPr/>
        </p:nvGrpSpPr>
        <p:grpSpPr>
          <a:xfrm>
            <a:off x="872640" y="3011400"/>
            <a:ext cx="830520" cy="720000"/>
            <a:chOff x="872640" y="3011400"/>
            <a:chExt cx="830520" cy="720000"/>
          </a:xfrm>
        </p:grpSpPr>
        <p:sp>
          <p:nvSpPr>
            <p:cNvPr id="960" name="Google Shape;960;p150"/>
            <p:cNvSpPr/>
            <p:nvPr/>
          </p:nvSpPr>
          <p:spPr>
            <a:xfrm>
              <a:off x="872640" y="301140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961" name="Google Shape;961;p150"/>
            <p:cNvGrpSpPr/>
            <p:nvPr/>
          </p:nvGrpSpPr>
          <p:grpSpPr>
            <a:xfrm>
              <a:off x="1047240" y="3263760"/>
              <a:ext cx="480960" cy="353520"/>
              <a:chOff x="1047240" y="3263760"/>
              <a:chExt cx="480960" cy="353520"/>
            </a:xfrm>
          </p:grpSpPr>
          <p:sp>
            <p:nvSpPr>
              <p:cNvPr id="962" name="Google Shape;962;p150"/>
              <p:cNvSpPr/>
              <p:nvPr/>
            </p:nvSpPr>
            <p:spPr>
              <a:xfrm>
                <a:off x="1193760" y="32637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50"/>
              <p:cNvSpPr/>
              <p:nvPr/>
            </p:nvSpPr>
            <p:spPr>
              <a:xfrm>
                <a:off x="1349640" y="33843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4" name="Google Shape;964;p150"/>
              <p:cNvCxnSpPr/>
              <p:nvPr/>
            </p:nvCxnSpPr>
            <p:spPr>
              <a:xfrm flipH="1" rot="-5400000">
                <a:off x="1276560" y="3351960"/>
                <a:ext cx="79920" cy="65520"/>
              </a:xfrm>
              <a:prstGeom prst="bentConnector2">
                <a:avLst/>
              </a:prstGeom>
              <a:noFill/>
              <a:ln cap="flat" cmpd="sng" w="9525">
                <a:solidFill>
                  <a:srgbClr val="FFFFFF"/>
                </a:solidFill>
                <a:prstDash val="solid"/>
                <a:round/>
                <a:headEnd len="sm" w="sm" type="none"/>
                <a:tailEnd len="sm" w="sm" type="none"/>
              </a:ln>
            </p:spPr>
          </p:cxnSp>
          <p:sp>
            <p:nvSpPr>
              <p:cNvPr id="965" name="Google Shape;965;p150"/>
              <p:cNvSpPr/>
              <p:nvPr/>
            </p:nvSpPr>
            <p:spPr>
              <a:xfrm>
                <a:off x="1047240" y="344052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6" name="Google Shape;966;p150"/>
              <p:cNvCxnSpPr/>
              <p:nvPr/>
            </p:nvCxnSpPr>
            <p:spPr>
              <a:xfrm rot="5400000">
                <a:off x="1187280" y="3384360"/>
                <a:ext cx="135720" cy="56520"/>
              </a:xfrm>
              <a:prstGeom prst="bentConnector2">
                <a:avLst/>
              </a:prstGeom>
              <a:noFill/>
              <a:ln cap="flat" cmpd="sng" w="9525">
                <a:solidFill>
                  <a:srgbClr val="FFFFFF"/>
                </a:solidFill>
                <a:prstDash val="solid"/>
                <a:round/>
                <a:headEnd len="sm" w="sm" type="none"/>
                <a:tailEnd len="sm" w="sm" type="none"/>
              </a:ln>
            </p:spPr>
          </p:cxnSp>
          <p:sp>
            <p:nvSpPr>
              <p:cNvPr id="967" name="Google Shape;967;p150"/>
              <p:cNvSpPr/>
              <p:nvPr/>
            </p:nvSpPr>
            <p:spPr>
              <a:xfrm>
                <a:off x="1349640" y="35366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8" name="Google Shape;968;p150"/>
              <p:cNvCxnSpPr/>
              <p:nvPr/>
            </p:nvCxnSpPr>
            <p:spPr>
              <a:xfrm flipH="1" rot="-5400000">
                <a:off x="1200240" y="3427920"/>
                <a:ext cx="232200" cy="65520"/>
              </a:xfrm>
              <a:prstGeom prst="bentConnector2">
                <a:avLst/>
              </a:prstGeom>
              <a:noFill/>
              <a:ln cap="flat" cmpd="sng" w="9525">
                <a:solidFill>
                  <a:srgbClr val="FFFFFF"/>
                </a:solidFill>
                <a:prstDash val="solid"/>
                <a:round/>
                <a:headEnd len="sm" w="sm" type="none"/>
                <a:tailEnd len="sm" w="sm" type="none"/>
              </a:ln>
            </p:spPr>
          </p:cxnSp>
        </p:grpSp>
      </p:grpSp>
      <p:sp>
        <p:nvSpPr>
          <p:cNvPr id="969" name="Google Shape;969;p150"/>
          <p:cNvSpPr/>
          <p:nvPr/>
        </p:nvSpPr>
        <p:spPr>
          <a:xfrm>
            <a:off x="6109200" y="307656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970" name="Google Shape;970;p150"/>
          <p:cNvSpPr/>
          <p:nvPr/>
        </p:nvSpPr>
        <p:spPr>
          <a:xfrm rot="10800000">
            <a:off x="4627080" y="1892520"/>
            <a:ext cx="1482120" cy="13474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1" name="Google Shape;971;p150"/>
          <p:cNvSpPr/>
          <p:nvPr/>
        </p:nvSpPr>
        <p:spPr>
          <a:xfrm flipH="1" rot="10800000">
            <a:off x="2126345" y="3186114"/>
            <a:ext cx="108702" cy="706536"/>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2" name="Google Shape;972;p150"/>
          <p:cNvSpPr/>
          <p:nvPr/>
        </p:nvSpPr>
        <p:spPr>
          <a:xfrm flipH="1" rot="10800000">
            <a:off x="4627080" y="1892160"/>
            <a:ext cx="1497600" cy="90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3" name="Google Shape;973;p150"/>
          <p:cNvSpPr/>
          <p:nvPr/>
        </p:nvSpPr>
        <p:spPr>
          <a:xfrm>
            <a:off x="4626720" y="1892160"/>
            <a:ext cx="1482120" cy="9687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4" name="Google Shape;974;p150"/>
          <p:cNvSpPr/>
          <p:nvPr/>
        </p:nvSpPr>
        <p:spPr>
          <a:xfrm>
            <a:off x="1288080" y="2423880"/>
            <a:ext cx="360" cy="587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5" name="Google Shape;975;p150"/>
          <p:cNvSpPr/>
          <p:nvPr/>
        </p:nvSpPr>
        <p:spPr>
          <a:xfrm rot="10800000">
            <a:off x="4627080" y="1892520"/>
            <a:ext cx="1497600" cy="17290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6" name="Google Shape;976;p150"/>
          <p:cNvSpPr/>
          <p:nvPr/>
        </p:nvSpPr>
        <p:spPr>
          <a:xfrm flipH="1" rot="10800000">
            <a:off x="3468605" y="2471773"/>
            <a:ext cx="460458" cy="65410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7" name="Google Shape;977;p150"/>
          <p:cNvSpPr/>
          <p:nvPr/>
        </p:nvSpPr>
        <p:spPr>
          <a:xfrm rot="10800000">
            <a:off x="2221423" y="3179359"/>
            <a:ext cx="475578" cy="292086"/>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78" name="Google Shape;978;p150"/>
          <p:cNvSpPr/>
          <p:nvPr/>
        </p:nvSpPr>
        <p:spPr>
          <a:xfrm>
            <a:off x="2271600" y="3468960"/>
            <a:ext cx="8521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979" name="Google Shape;979;p150"/>
          <p:cNvSpPr/>
          <p:nvPr/>
        </p:nvSpPr>
        <p:spPr>
          <a:xfrm>
            <a:off x="3518640" y="3975480"/>
            <a:ext cx="830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980" name="Google Shape;980;p150"/>
          <p:cNvSpPr/>
          <p:nvPr/>
        </p:nvSpPr>
        <p:spPr>
          <a:xfrm rot="10800000">
            <a:off x="2490840" y="2424240"/>
            <a:ext cx="207000" cy="1044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81" name="Google Shape;981;p150"/>
          <p:cNvSpPr/>
          <p:nvPr/>
        </p:nvSpPr>
        <p:spPr>
          <a:xfrm rot="10800000">
            <a:off x="3906360" y="2520360"/>
            <a:ext cx="27720" cy="14551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82" name="Google Shape;982;p150"/>
          <p:cNvSpPr/>
          <p:nvPr/>
        </p:nvSpPr>
        <p:spPr>
          <a:xfrm rot="10800000">
            <a:off x="2490840" y="2423880"/>
            <a:ext cx="954720" cy="7506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83" name="Google Shape;983;p150"/>
          <p:cNvSpPr/>
          <p:nvPr/>
        </p:nvSpPr>
        <p:spPr>
          <a:xfrm>
            <a:off x="4548240" y="321984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984" name="Google Shape;984;p150"/>
          <p:cNvSpPr/>
          <p:nvPr/>
        </p:nvSpPr>
        <p:spPr>
          <a:xfrm rot="10800000">
            <a:off x="3906360" y="2520360"/>
            <a:ext cx="1094040" cy="6994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85" name="Google Shape;985;p150"/>
          <p:cNvSpPr/>
          <p:nvPr/>
        </p:nvSpPr>
        <p:spPr>
          <a:xfrm>
            <a:off x="1902240" y="29512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986" name="Google Shape;986;p150"/>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a:t>
            </a:r>
            <a:r>
              <a:rPr b="1" i="0" lang="en-US" sz="1900" u="none" cap="none" strike="noStrike">
                <a:solidFill>
                  <a:srgbClr val="0089EC"/>
                </a:solidFill>
                <a:latin typeface="Arial"/>
                <a:ea typeface="Arial"/>
                <a:cs typeface="Arial"/>
                <a:sym typeface="Arial"/>
              </a:rPr>
              <a:t>Mapping Meaning to Digital Assets</a:t>
            </a:r>
            <a:endParaRPr b="0" i="0" sz="1900" u="none" cap="none" strike="noStrike">
              <a:latin typeface="Arial"/>
              <a:ea typeface="Arial"/>
              <a:cs typeface="Arial"/>
              <a:sym typeface="Arial"/>
            </a:endParaRPr>
          </a:p>
        </p:txBody>
      </p:sp>
      <p:sp>
        <p:nvSpPr>
          <p:cNvPr id="987" name="Google Shape;987;p150"/>
          <p:cNvSpPr/>
          <p:nvPr/>
        </p:nvSpPr>
        <p:spPr>
          <a:xfrm>
            <a:off x="6109200" y="118836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sp>
        <p:nvSpPr>
          <p:cNvPr id="988" name="Google Shape;988;p150"/>
          <p:cNvSpPr/>
          <p:nvPr/>
        </p:nvSpPr>
        <p:spPr>
          <a:xfrm flipH="1" rot="10800000">
            <a:off x="4572000" y="1892174"/>
            <a:ext cx="1535760" cy="30213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89" name="Google Shape;989;p150"/>
          <p:cNvSpPr/>
          <p:nvPr/>
        </p:nvSpPr>
        <p:spPr>
          <a:xfrm>
            <a:off x="6109200" y="70596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VZ Data Catalog</a:t>
            </a:r>
            <a:endParaRPr b="0" i="0" sz="700" u="none" cap="none" strike="noStrike">
              <a:latin typeface="Arial"/>
              <a:ea typeface="Arial"/>
              <a:cs typeface="Arial"/>
              <a:sym typeface="Arial"/>
            </a:endParaRPr>
          </a:p>
        </p:txBody>
      </p:sp>
      <p:sp>
        <p:nvSpPr>
          <p:cNvPr id="990" name="Google Shape;990;p150"/>
          <p:cNvSpPr/>
          <p:nvPr/>
        </p:nvSpPr>
        <p:spPr>
          <a:xfrm flipH="1" rot="10800000">
            <a:off x="4673900" y="1892164"/>
            <a:ext cx="1433862" cy="274968"/>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991" name="Google Shape;991;p150"/>
          <p:cNvSpPr/>
          <p:nvPr/>
        </p:nvSpPr>
        <p:spPr>
          <a:xfrm>
            <a:off x="445320" y="73656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992" name="Google Shape;992;p150"/>
          <p:cNvSpPr/>
          <p:nvPr/>
        </p:nvSpPr>
        <p:spPr>
          <a:xfrm>
            <a:off x="553680" y="126432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(DNA)</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700" u="none" cap="none" strike="noStrike">
              <a:latin typeface="Arial"/>
              <a:ea typeface="Arial"/>
              <a:cs typeface="Arial"/>
              <a:sym typeface="Arial"/>
            </a:endParaRPr>
          </a:p>
        </p:txBody>
      </p:sp>
      <p:sp>
        <p:nvSpPr>
          <p:cNvPr id="993" name="Google Shape;993;p150"/>
          <p:cNvSpPr/>
          <p:nvPr/>
        </p:nvSpPr>
        <p:spPr>
          <a:xfrm>
            <a:off x="673920" y="1752120"/>
            <a:ext cx="1227960" cy="23148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994" name="Google Shape;994;p150"/>
          <p:cNvSpPr/>
          <p:nvPr/>
        </p:nvSpPr>
        <p:spPr>
          <a:xfrm>
            <a:off x="1901880" y="1752120"/>
            <a:ext cx="1176840" cy="6714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995" name="Google Shape;995;p150"/>
          <p:cNvSpPr/>
          <p:nvPr/>
        </p:nvSpPr>
        <p:spPr>
          <a:xfrm>
            <a:off x="673920" y="1983960"/>
            <a:ext cx="1227960" cy="439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996" name="Google Shape;996;p150"/>
          <p:cNvSpPr/>
          <p:nvPr/>
        </p:nvSpPr>
        <p:spPr>
          <a:xfrm>
            <a:off x="3185640" y="1264320"/>
            <a:ext cx="14407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Content</a:t>
            </a:r>
            <a:endParaRPr b="0" i="0" sz="900" u="none" cap="none" strike="noStrike">
              <a:latin typeface="Arial"/>
              <a:ea typeface="Arial"/>
              <a:cs typeface="Arial"/>
              <a:sym typeface="Arial"/>
            </a:endParaRPr>
          </a:p>
        </p:txBody>
      </p:sp>
      <p:sp>
        <p:nvSpPr>
          <p:cNvPr id="997" name="Google Shape;997;p150"/>
          <p:cNvSpPr/>
          <p:nvPr/>
        </p:nvSpPr>
        <p:spPr>
          <a:xfrm>
            <a:off x="3293640" y="17521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998" name="Google Shape;998;p150"/>
          <p:cNvSpPr/>
          <p:nvPr/>
        </p:nvSpPr>
        <p:spPr>
          <a:xfrm>
            <a:off x="3290400" y="2035440"/>
            <a:ext cx="1227960" cy="38772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 Schemas</a:t>
            </a:r>
            <a:endParaRPr b="0" i="0" sz="900" u="none" cap="none" strike="noStrike">
              <a:latin typeface="Arial"/>
              <a:ea typeface="Arial"/>
              <a:cs typeface="Arial"/>
              <a:sym typeface="Arial"/>
            </a:endParaRPr>
          </a:p>
        </p:txBody>
      </p:sp>
      <p:grpSp>
        <p:nvGrpSpPr>
          <p:cNvPr id="999" name="Google Shape;999;p150"/>
          <p:cNvGrpSpPr/>
          <p:nvPr/>
        </p:nvGrpSpPr>
        <p:grpSpPr>
          <a:xfrm>
            <a:off x="8549640" y="0"/>
            <a:ext cx="594000" cy="679680"/>
            <a:chOff x="8549640" y="0"/>
            <a:chExt cx="594000" cy="679680"/>
          </a:xfrm>
        </p:grpSpPr>
        <p:sp>
          <p:nvSpPr>
            <p:cNvPr id="1000" name="Google Shape;1000;p150"/>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1" name="Google Shape;1001;p150"/>
            <p:cNvGrpSpPr/>
            <p:nvPr/>
          </p:nvGrpSpPr>
          <p:grpSpPr>
            <a:xfrm>
              <a:off x="8588160" y="0"/>
              <a:ext cx="555480" cy="679680"/>
              <a:chOff x="8588160" y="0"/>
              <a:chExt cx="555480" cy="679680"/>
            </a:xfrm>
          </p:grpSpPr>
          <p:pic>
            <p:nvPicPr>
              <p:cNvPr id="1002" name="Google Shape;1002;p150"/>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003" name="Google Shape;1003;p150"/>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151"/>
          <p:cNvSpPr/>
          <p:nvPr/>
        </p:nvSpPr>
        <p:spPr>
          <a:xfrm>
            <a:off x="4548240" y="3387600"/>
            <a:ext cx="904200" cy="326100"/>
          </a:xfrm>
          <a:prstGeom prst="can">
            <a:avLst>
              <a:gd fmla="val 20258"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1009" name="Google Shape;1009;p151"/>
          <p:cNvSpPr/>
          <p:nvPr/>
        </p:nvSpPr>
        <p:spPr>
          <a:xfrm>
            <a:off x="3120480" y="3174480"/>
            <a:ext cx="649500" cy="2904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010" name="Google Shape;1010;p151"/>
          <p:cNvSpPr/>
          <p:nvPr/>
        </p:nvSpPr>
        <p:spPr>
          <a:xfrm>
            <a:off x="4626720" y="1892160"/>
            <a:ext cx="1482138" cy="559818"/>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11" name="Google Shape;1011;p151"/>
          <p:cNvSpPr/>
          <p:nvPr/>
        </p:nvSpPr>
        <p:spPr>
          <a:xfrm>
            <a:off x="6124680" y="1893600"/>
            <a:ext cx="618000" cy="29490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012" name="Google Shape;1012;p151"/>
          <p:cNvSpPr/>
          <p:nvPr/>
        </p:nvSpPr>
        <p:spPr>
          <a:xfrm>
            <a:off x="6124680" y="1638000"/>
            <a:ext cx="6180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013" name="Google Shape;1013;p151"/>
          <p:cNvSpPr/>
          <p:nvPr/>
        </p:nvSpPr>
        <p:spPr>
          <a:xfrm>
            <a:off x="1807200" y="3882240"/>
            <a:ext cx="6495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014" name="Google Shape;1014;p151"/>
          <p:cNvSpPr/>
          <p:nvPr/>
        </p:nvSpPr>
        <p:spPr>
          <a:xfrm>
            <a:off x="6109200" y="228924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015" name="Google Shape;1015;p151"/>
          <p:cNvSpPr/>
          <p:nvPr/>
        </p:nvSpPr>
        <p:spPr>
          <a:xfrm>
            <a:off x="6109200" y="2715840"/>
            <a:ext cx="649500" cy="29040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016" name="Google Shape;1016;p151"/>
          <p:cNvSpPr/>
          <p:nvPr/>
        </p:nvSpPr>
        <p:spPr>
          <a:xfrm>
            <a:off x="6124680" y="3458160"/>
            <a:ext cx="6180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017" name="Google Shape;1017;p151"/>
          <p:cNvGrpSpPr/>
          <p:nvPr/>
        </p:nvGrpSpPr>
        <p:grpSpPr>
          <a:xfrm>
            <a:off x="872640" y="3011400"/>
            <a:ext cx="830400" cy="720000"/>
            <a:chOff x="872640" y="3011400"/>
            <a:chExt cx="830400" cy="720000"/>
          </a:xfrm>
        </p:grpSpPr>
        <p:sp>
          <p:nvSpPr>
            <p:cNvPr id="1018" name="Google Shape;1018;p151"/>
            <p:cNvSpPr/>
            <p:nvPr/>
          </p:nvSpPr>
          <p:spPr>
            <a:xfrm>
              <a:off x="872640" y="3011400"/>
              <a:ext cx="83040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019" name="Google Shape;1019;p151"/>
            <p:cNvGrpSpPr/>
            <p:nvPr/>
          </p:nvGrpSpPr>
          <p:grpSpPr>
            <a:xfrm>
              <a:off x="1047240" y="3263760"/>
              <a:ext cx="480900" cy="353580"/>
              <a:chOff x="1047240" y="3263760"/>
              <a:chExt cx="480900" cy="353580"/>
            </a:xfrm>
          </p:grpSpPr>
          <p:sp>
            <p:nvSpPr>
              <p:cNvPr id="1020" name="Google Shape;1020;p151"/>
              <p:cNvSpPr/>
              <p:nvPr/>
            </p:nvSpPr>
            <p:spPr>
              <a:xfrm>
                <a:off x="1193760" y="3263760"/>
                <a:ext cx="178500" cy="807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51"/>
              <p:cNvSpPr/>
              <p:nvPr/>
            </p:nvSpPr>
            <p:spPr>
              <a:xfrm>
                <a:off x="1349640" y="3384360"/>
                <a:ext cx="178500" cy="807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2" name="Google Shape;1022;p151"/>
              <p:cNvCxnSpPr/>
              <p:nvPr/>
            </p:nvCxnSpPr>
            <p:spPr>
              <a:xfrm flipH="1" rot="-5400000">
                <a:off x="1276560" y="3351960"/>
                <a:ext cx="79800" cy="65400"/>
              </a:xfrm>
              <a:prstGeom prst="bentConnector2">
                <a:avLst/>
              </a:prstGeom>
              <a:noFill/>
              <a:ln cap="flat" cmpd="sng" w="9525">
                <a:solidFill>
                  <a:srgbClr val="FFFFFF"/>
                </a:solidFill>
                <a:prstDash val="solid"/>
                <a:round/>
                <a:headEnd len="sm" w="sm" type="none"/>
                <a:tailEnd len="sm" w="sm" type="none"/>
              </a:ln>
            </p:spPr>
          </p:cxnSp>
          <p:sp>
            <p:nvSpPr>
              <p:cNvPr id="1023" name="Google Shape;1023;p151"/>
              <p:cNvSpPr/>
              <p:nvPr/>
            </p:nvSpPr>
            <p:spPr>
              <a:xfrm>
                <a:off x="1047240" y="3440520"/>
                <a:ext cx="178500" cy="807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4" name="Google Shape;1024;p151"/>
              <p:cNvCxnSpPr/>
              <p:nvPr/>
            </p:nvCxnSpPr>
            <p:spPr>
              <a:xfrm rot="5400000">
                <a:off x="1187400" y="3384360"/>
                <a:ext cx="135600" cy="56400"/>
              </a:xfrm>
              <a:prstGeom prst="bentConnector2">
                <a:avLst/>
              </a:prstGeom>
              <a:noFill/>
              <a:ln cap="flat" cmpd="sng" w="9525">
                <a:solidFill>
                  <a:srgbClr val="FFFFFF"/>
                </a:solidFill>
                <a:prstDash val="solid"/>
                <a:round/>
                <a:headEnd len="sm" w="sm" type="none"/>
                <a:tailEnd len="sm" w="sm" type="none"/>
              </a:ln>
            </p:spPr>
          </p:cxnSp>
          <p:sp>
            <p:nvSpPr>
              <p:cNvPr id="1025" name="Google Shape;1025;p151"/>
              <p:cNvSpPr/>
              <p:nvPr/>
            </p:nvSpPr>
            <p:spPr>
              <a:xfrm>
                <a:off x="1349640" y="3536640"/>
                <a:ext cx="178500" cy="807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6" name="Google Shape;1026;p151"/>
              <p:cNvCxnSpPr/>
              <p:nvPr/>
            </p:nvCxnSpPr>
            <p:spPr>
              <a:xfrm flipH="1" rot="-5400000">
                <a:off x="1200180" y="3427980"/>
                <a:ext cx="232200" cy="65400"/>
              </a:xfrm>
              <a:prstGeom prst="bentConnector2">
                <a:avLst/>
              </a:prstGeom>
              <a:noFill/>
              <a:ln cap="flat" cmpd="sng" w="9525">
                <a:solidFill>
                  <a:srgbClr val="FFFFFF"/>
                </a:solidFill>
                <a:prstDash val="solid"/>
                <a:round/>
                <a:headEnd len="sm" w="sm" type="none"/>
                <a:tailEnd len="sm" w="sm" type="none"/>
              </a:ln>
            </p:spPr>
          </p:cxnSp>
        </p:grpSp>
      </p:grpSp>
      <p:sp>
        <p:nvSpPr>
          <p:cNvPr id="1027" name="Google Shape;1027;p151"/>
          <p:cNvSpPr/>
          <p:nvPr/>
        </p:nvSpPr>
        <p:spPr>
          <a:xfrm>
            <a:off x="6109200" y="307656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028" name="Google Shape;1028;p151"/>
          <p:cNvSpPr/>
          <p:nvPr/>
        </p:nvSpPr>
        <p:spPr>
          <a:xfrm rot="10800000">
            <a:off x="4627062" y="1892538"/>
            <a:ext cx="1482138" cy="134746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29" name="Google Shape;1029;p151"/>
          <p:cNvSpPr/>
          <p:nvPr/>
        </p:nvSpPr>
        <p:spPr>
          <a:xfrm flipH="1" rot="10800000">
            <a:off x="2126345" y="3186114"/>
            <a:ext cx="108702" cy="706536"/>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0" name="Google Shape;1030;p151"/>
          <p:cNvSpPr/>
          <p:nvPr/>
        </p:nvSpPr>
        <p:spPr>
          <a:xfrm flipH="1" rot="10800000">
            <a:off x="4627080" y="1892160"/>
            <a:ext cx="1497582" cy="907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1" name="Google Shape;1031;p151"/>
          <p:cNvSpPr/>
          <p:nvPr/>
        </p:nvSpPr>
        <p:spPr>
          <a:xfrm>
            <a:off x="4626720" y="1892160"/>
            <a:ext cx="1482138" cy="9687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2" name="Google Shape;1032;p151"/>
          <p:cNvSpPr/>
          <p:nvPr/>
        </p:nvSpPr>
        <p:spPr>
          <a:xfrm>
            <a:off x="1288080" y="2423880"/>
            <a:ext cx="378" cy="58714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3" name="Google Shape;1033;p151"/>
          <p:cNvSpPr/>
          <p:nvPr/>
        </p:nvSpPr>
        <p:spPr>
          <a:xfrm rot="10800000">
            <a:off x="4627098" y="1892520"/>
            <a:ext cx="1497582" cy="17290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4" name="Google Shape;1034;p151"/>
          <p:cNvSpPr/>
          <p:nvPr/>
        </p:nvSpPr>
        <p:spPr>
          <a:xfrm flipH="1" rot="10800000">
            <a:off x="3468605" y="2471773"/>
            <a:ext cx="460458" cy="65410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5" name="Google Shape;1035;p151"/>
          <p:cNvSpPr/>
          <p:nvPr/>
        </p:nvSpPr>
        <p:spPr>
          <a:xfrm rot="10800000">
            <a:off x="2221423" y="3179359"/>
            <a:ext cx="475578" cy="292086"/>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6" name="Google Shape;1036;p151"/>
          <p:cNvSpPr/>
          <p:nvPr/>
        </p:nvSpPr>
        <p:spPr>
          <a:xfrm>
            <a:off x="2271600" y="3468960"/>
            <a:ext cx="8520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1037" name="Google Shape;1037;p151"/>
          <p:cNvSpPr/>
          <p:nvPr/>
        </p:nvSpPr>
        <p:spPr>
          <a:xfrm>
            <a:off x="3518640" y="3975480"/>
            <a:ext cx="8304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1038" name="Google Shape;1038;p151"/>
          <p:cNvSpPr/>
          <p:nvPr/>
        </p:nvSpPr>
        <p:spPr>
          <a:xfrm rot="10800000">
            <a:off x="2490858" y="2424222"/>
            <a:ext cx="206982" cy="1044738"/>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39" name="Google Shape;1039;p151"/>
          <p:cNvSpPr/>
          <p:nvPr/>
        </p:nvSpPr>
        <p:spPr>
          <a:xfrm rot="10800000">
            <a:off x="3906378" y="2520342"/>
            <a:ext cx="27702" cy="1455138"/>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40" name="Google Shape;1040;p151"/>
          <p:cNvSpPr/>
          <p:nvPr/>
        </p:nvSpPr>
        <p:spPr>
          <a:xfrm rot="10800000">
            <a:off x="2490840" y="2423880"/>
            <a:ext cx="954720" cy="7506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41" name="Google Shape;1041;p151"/>
          <p:cNvSpPr/>
          <p:nvPr/>
        </p:nvSpPr>
        <p:spPr>
          <a:xfrm>
            <a:off x="4548240" y="3219840"/>
            <a:ext cx="9042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042" name="Google Shape;1042;p151"/>
          <p:cNvSpPr/>
          <p:nvPr/>
        </p:nvSpPr>
        <p:spPr>
          <a:xfrm rot="10800000">
            <a:off x="3906360" y="2520378"/>
            <a:ext cx="1094040" cy="69946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43" name="Google Shape;1043;p151"/>
          <p:cNvSpPr/>
          <p:nvPr/>
        </p:nvSpPr>
        <p:spPr>
          <a:xfrm>
            <a:off x="1902240" y="2951280"/>
            <a:ext cx="659400" cy="2586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044" name="Google Shape;1044;p151"/>
          <p:cNvSpPr/>
          <p:nvPr/>
        </p:nvSpPr>
        <p:spPr>
          <a:xfrm>
            <a:off x="438120" y="153720"/>
            <a:ext cx="8233500" cy="3165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Conceptual View:  </a:t>
            </a:r>
            <a:r>
              <a:rPr b="1" i="0" lang="en-US" sz="1900" u="none" cap="none" strike="noStrike">
                <a:solidFill>
                  <a:srgbClr val="0089EC"/>
                </a:solidFill>
                <a:latin typeface="Arial"/>
                <a:ea typeface="Arial"/>
                <a:cs typeface="Arial"/>
                <a:sym typeface="Arial"/>
              </a:rPr>
              <a:t>Mapping Meaning to Digital Assets</a:t>
            </a:r>
            <a:endParaRPr b="0" i="0" sz="1900" u="none" cap="none" strike="noStrike">
              <a:latin typeface="Arial"/>
              <a:ea typeface="Arial"/>
              <a:cs typeface="Arial"/>
              <a:sym typeface="Arial"/>
            </a:endParaRPr>
          </a:p>
        </p:txBody>
      </p:sp>
      <p:sp>
        <p:nvSpPr>
          <p:cNvPr id="1045" name="Google Shape;1045;p151"/>
          <p:cNvSpPr/>
          <p:nvPr/>
        </p:nvSpPr>
        <p:spPr>
          <a:xfrm>
            <a:off x="6109200" y="118836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sp>
        <p:nvSpPr>
          <p:cNvPr id="1046" name="Google Shape;1046;p151"/>
          <p:cNvSpPr/>
          <p:nvPr/>
        </p:nvSpPr>
        <p:spPr>
          <a:xfrm flipH="1" rot="10800000">
            <a:off x="4572000" y="1892174"/>
            <a:ext cx="1535760" cy="30213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47" name="Google Shape;1047;p151"/>
          <p:cNvSpPr/>
          <p:nvPr/>
        </p:nvSpPr>
        <p:spPr>
          <a:xfrm>
            <a:off x="6109200" y="705960"/>
            <a:ext cx="649500" cy="3261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VZ Data Catalog</a:t>
            </a:r>
            <a:endParaRPr b="0" i="0" sz="700" u="none" cap="none" strike="noStrike">
              <a:latin typeface="Arial"/>
              <a:ea typeface="Arial"/>
              <a:cs typeface="Arial"/>
              <a:sym typeface="Arial"/>
            </a:endParaRPr>
          </a:p>
        </p:txBody>
      </p:sp>
      <p:sp>
        <p:nvSpPr>
          <p:cNvPr id="1048" name="Google Shape;1048;p151"/>
          <p:cNvSpPr/>
          <p:nvPr/>
        </p:nvSpPr>
        <p:spPr>
          <a:xfrm flipH="1" rot="10800000">
            <a:off x="4673900" y="1892164"/>
            <a:ext cx="1433862" cy="274968"/>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049" name="Google Shape;1049;p151"/>
          <p:cNvSpPr/>
          <p:nvPr/>
        </p:nvSpPr>
        <p:spPr>
          <a:xfrm>
            <a:off x="445320" y="736560"/>
            <a:ext cx="4219500" cy="19110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050" name="Google Shape;1050;p151"/>
          <p:cNvSpPr/>
          <p:nvPr/>
        </p:nvSpPr>
        <p:spPr>
          <a:xfrm>
            <a:off x="553680" y="1264320"/>
            <a:ext cx="2570100" cy="12552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(DNA)</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700" u="none" cap="none" strike="noStrike">
              <a:latin typeface="Arial"/>
              <a:ea typeface="Arial"/>
              <a:cs typeface="Arial"/>
              <a:sym typeface="Arial"/>
            </a:endParaRPr>
          </a:p>
        </p:txBody>
      </p:sp>
      <p:sp>
        <p:nvSpPr>
          <p:cNvPr id="1051" name="Google Shape;1051;p151"/>
          <p:cNvSpPr/>
          <p:nvPr/>
        </p:nvSpPr>
        <p:spPr>
          <a:xfrm>
            <a:off x="673920" y="1752120"/>
            <a:ext cx="1227900" cy="2316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052" name="Google Shape;1052;p151"/>
          <p:cNvSpPr/>
          <p:nvPr/>
        </p:nvSpPr>
        <p:spPr>
          <a:xfrm>
            <a:off x="1901880" y="1752120"/>
            <a:ext cx="1176900" cy="6714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053" name="Google Shape;1053;p151"/>
          <p:cNvSpPr/>
          <p:nvPr/>
        </p:nvSpPr>
        <p:spPr>
          <a:xfrm>
            <a:off x="673920" y="1983960"/>
            <a:ext cx="1227900" cy="439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054" name="Google Shape;1054;p151"/>
          <p:cNvSpPr/>
          <p:nvPr/>
        </p:nvSpPr>
        <p:spPr>
          <a:xfrm>
            <a:off x="3185640" y="1264320"/>
            <a:ext cx="1440600" cy="12552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Content</a:t>
            </a:r>
            <a:endParaRPr b="0" i="0" sz="900" u="none" cap="none" strike="noStrike">
              <a:latin typeface="Arial"/>
              <a:ea typeface="Arial"/>
              <a:cs typeface="Arial"/>
              <a:sym typeface="Arial"/>
            </a:endParaRPr>
          </a:p>
        </p:txBody>
      </p:sp>
      <p:sp>
        <p:nvSpPr>
          <p:cNvPr id="1055" name="Google Shape;1055;p151"/>
          <p:cNvSpPr/>
          <p:nvPr/>
        </p:nvSpPr>
        <p:spPr>
          <a:xfrm>
            <a:off x="3293640" y="1752120"/>
            <a:ext cx="1227900" cy="2796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056" name="Google Shape;1056;p151"/>
          <p:cNvSpPr/>
          <p:nvPr/>
        </p:nvSpPr>
        <p:spPr>
          <a:xfrm>
            <a:off x="3290400" y="2035440"/>
            <a:ext cx="1227900" cy="38760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 Schemas</a:t>
            </a:r>
            <a:endParaRPr b="0" i="0" sz="900" u="none" cap="none" strike="noStrike">
              <a:latin typeface="Arial"/>
              <a:ea typeface="Arial"/>
              <a:cs typeface="Arial"/>
              <a:sym typeface="Arial"/>
            </a:endParaRPr>
          </a:p>
        </p:txBody>
      </p:sp>
      <p:grpSp>
        <p:nvGrpSpPr>
          <p:cNvPr id="1057" name="Google Shape;1057;p151"/>
          <p:cNvGrpSpPr/>
          <p:nvPr/>
        </p:nvGrpSpPr>
        <p:grpSpPr>
          <a:xfrm>
            <a:off x="8549640" y="0"/>
            <a:ext cx="594120" cy="679800"/>
            <a:chOff x="8549640" y="0"/>
            <a:chExt cx="594120" cy="679800"/>
          </a:xfrm>
        </p:grpSpPr>
        <p:sp>
          <p:nvSpPr>
            <p:cNvPr id="1058" name="Google Shape;1058;p151"/>
            <p:cNvSpPr/>
            <p:nvPr/>
          </p:nvSpPr>
          <p:spPr>
            <a:xfrm>
              <a:off x="8549640" y="0"/>
              <a:ext cx="594000" cy="679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9" name="Google Shape;1059;p151"/>
            <p:cNvGrpSpPr/>
            <p:nvPr/>
          </p:nvGrpSpPr>
          <p:grpSpPr>
            <a:xfrm>
              <a:off x="8588160" y="0"/>
              <a:ext cx="555600" cy="679560"/>
              <a:chOff x="8588160" y="0"/>
              <a:chExt cx="555600" cy="679560"/>
            </a:xfrm>
          </p:grpSpPr>
          <p:pic>
            <p:nvPicPr>
              <p:cNvPr id="1060" name="Google Shape;1060;p151"/>
              <p:cNvPicPr preferRelativeResize="0"/>
              <p:nvPr/>
            </p:nvPicPr>
            <p:blipFill rotWithShape="1">
              <a:blip r:embed="rId3">
                <a:alphaModFix/>
              </a:blip>
              <a:srcRect b="0" l="20673" r="9839" t="0"/>
              <a:stretch/>
            </p:blipFill>
            <p:spPr>
              <a:xfrm>
                <a:off x="8588160" y="0"/>
                <a:ext cx="530640" cy="530638"/>
              </a:xfrm>
              <a:prstGeom prst="rect">
                <a:avLst/>
              </a:prstGeom>
              <a:noFill/>
              <a:ln>
                <a:noFill/>
              </a:ln>
            </p:spPr>
          </p:pic>
          <p:sp>
            <p:nvSpPr>
              <p:cNvPr id="1061" name="Google Shape;1061;p151"/>
              <p:cNvSpPr/>
              <p:nvPr/>
            </p:nvSpPr>
            <p:spPr>
              <a:xfrm>
                <a:off x="8588160" y="493560"/>
                <a:ext cx="555600" cy="18600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cxnSp>
        <p:nvCxnSpPr>
          <p:cNvPr id="1062" name="Google Shape;1062;p151"/>
          <p:cNvCxnSpPr/>
          <p:nvPr/>
        </p:nvCxnSpPr>
        <p:spPr>
          <a:xfrm flipH="1">
            <a:off x="1288140" y="1351440"/>
            <a:ext cx="5470500" cy="2379900"/>
          </a:xfrm>
          <a:prstGeom prst="curvedConnector4">
            <a:avLst>
              <a:gd fmla="val -16459" name="adj1"/>
              <a:gd fmla="val 132829" name="adj2"/>
            </a:avLst>
          </a:prstGeom>
          <a:noFill/>
          <a:ln cap="flat" cmpd="sng" w="9525">
            <a:solidFill>
              <a:srgbClr val="F50A23"/>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52"/>
          <p:cNvSpPr/>
          <p:nvPr/>
        </p:nvSpPr>
        <p:spPr>
          <a:xfrm>
            <a:off x="368640" y="756000"/>
            <a:ext cx="6855120" cy="33073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Top-Down Knowledge (Federated)</a:t>
            </a:r>
            <a:endParaRPr b="0" i="0" sz="1200" u="none" cap="none" strike="noStrike">
              <a:latin typeface="Arial"/>
              <a:ea typeface="Arial"/>
              <a:cs typeface="Arial"/>
              <a:sym typeface="Arial"/>
            </a:endParaRPr>
          </a:p>
        </p:txBody>
      </p:sp>
      <p:sp>
        <p:nvSpPr>
          <p:cNvPr id="1068" name="Google Shape;1068;p152"/>
          <p:cNvSpPr/>
          <p:nvPr/>
        </p:nvSpPr>
        <p:spPr>
          <a:xfrm>
            <a:off x="553680" y="118836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(Enterprise)</a:t>
            </a:r>
            <a:endParaRPr b="0" i="0" sz="700" u="none" cap="none" strike="noStrike">
              <a:latin typeface="Arial"/>
              <a:ea typeface="Arial"/>
              <a:cs typeface="Arial"/>
              <a:sym typeface="Arial"/>
            </a:endParaRPr>
          </a:p>
        </p:txBody>
      </p:sp>
      <p:sp>
        <p:nvSpPr>
          <p:cNvPr id="1069" name="Google Shape;1069;p152"/>
          <p:cNvSpPr/>
          <p:nvPr/>
        </p:nvSpPr>
        <p:spPr>
          <a:xfrm>
            <a:off x="673920" y="1631880"/>
            <a:ext cx="1227960" cy="2466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070" name="Google Shape;1070;p152"/>
          <p:cNvSpPr/>
          <p:nvPr/>
        </p:nvSpPr>
        <p:spPr>
          <a:xfrm>
            <a:off x="1901880" y="1631880"/>
            <a:ext cx="1176840" cy="715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071" name="Google Shape;1071;p152"/>
          <p:cNvSpPr/>
          <p:nvPr/>
        </p:nvSpPr>
        <p:spPr>
          <a:xfrm>
            <a:off x="673920" y="1878840"/>
            <a:ext cx="1227960" cy="468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072" name="Google Shape;1072;p152"/>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Component Model for Knowledge: </a:t>
            </a:r>
            <a:r>
              <a:rPr b="1" i="0" lang="en-US" sz="2000" u="none" cap="none" strike="noStrike">
                <a:solidFill>
                  <a:srgbClr val="0089EC"/>
                </a:solidFill>
                <a:latin typeface="Arial"/>
                <a:ea typeface="Arial"/>
                <a:cs typeface="Arial"/>
                <a:sym typeface="Arial"/>
              </a:rPr>
              <a:t>Overview</a:t>
            </a:r>
            <a:endParaRPr b="0" i="0" sz="2000" u="none" cap="none" strike="noStrike">
              <a:latin typeface="Arial"/>
              <a:ea typeface="Arial"/>
              <a:cs typeface="Arial"/>
              <a:sym typeface="Arial"/>
            </a:endParaRPr>
          </a:p>
        </p:txBody>
      </p:sp>
      <p:sp>
        <p:nvSpPr>
          <p:cNvPr id="1073" name="Google Shape;1073;p152"/>
          <p:cNvSpPr/>
          <p:nvPr/>
        </p:nvSpPr>
        <p:spPr>
          <a:xfrm>
            <a:off x="32025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074" name="Google Shape;1074;p152"/>
          <p:cNvSpPr/>
          <p:nvPr/>
        </p:nvSpPr>
        <p:spPr>
          <a:xfrm>
            <a:off x="3305160" y="171396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075" name="Google Shape;1075;p152"/>
          <p:cNvSpPr/>
          <p:nvPr/>
        </p:nvSpPr>
        <p:spPr>
          <a:xfrm>
            <a:off x="4119120" y="171396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076" name="Google Shape;1076;p152"/>
          <p:cNvSpPr/>
          <p:nvPr/>
        </p:nvSpPr>
        <p:spPr>
          <a:xfrm>
            <a:off x="3305160" y="188856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077" name="Google Shape;1077;p152"/>
          <p:cNvSpPr/>
          <p:nvPr/>
        </p:nvSpPr>
        <p:spPr>
          <a:xfrm>
            <a:off x="5206680" y="11883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078" name="Google Shape;1078;p152"/>
          <p:cNvSpPr/>
          <p:nvPr/>
        </p:nvSpPr>
        <p:spPr>
          <a:xfrm>
            <a:off x="5309280" y="172008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079" name="Google Shape;1079;p152"/>
          <p:cNvSpPr/>
          <p:nvPr/>
        </p:nvSpPr>
        <p:spPr>
          <a:xfrm>
            <a:off x="6123240" y="172008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080" name="Google Shape;1080;p152"/>
          <p:cNvSpPr/>
          <p:nvPr/>
        </p:nvSpPr>
        <p:spPr>
          <a:xfrm>
            <a:off x="5309280" y="18950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081" name="Google Shape;1081;p152"/>
          <p:cNvSpPr/>
          <p:nvPr/>
        </p:nvSpPr>
        <p:spPr>
          <a:xfrm>
            <a:off x="3202560" y="254556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082" name="Google Shape;1082;p152"/>
          <p:cNvSpPr/>
          <p:nvPr/>
        </p:nvSpPr>
        <p:spPr>
          <a:xfrm>
            <a:off x="3305160" y="3077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083" name="Google Shape;1083;p152"/>
          <p:cNvSpPr/>
          <p:nvPr/>
        </p:nvSpPr>
        <p:spPr>
          <a:xfrm>
            <a:off x="4119120" y="3077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084" name="Google Shape;1084;p152"/>
          <p:cNvSpPr/>
          <p:nvPr/>
        </p:nvSpPr>
        <p:spPr>
          <a:xfrm>
            <a:off x="3305160" y="325224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085" name="Google Shape;1085;p152"/>
          <p:cNvSpPr/>
          <p:nvPr/>
        </p:nvSpPr>
        <p:spPr>
          <a:xfrm>
            <a:off x="5206680" y="253692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086" name="Google Shape;1086;p152"/>
          <p:cNvSpPr/>
          <p:nvPr/>
        </p:nvSpPr>
        <p:spPr>
          <a:xfrm>
            <a:off x="5309280" y="3068640"/>
            <a:ext cx="813960" cy="1742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Vocabularies</a:t>
            </a:r>
            <a:endParaRPr b="0" i="0" sz="700" u="none" cap="none" strike="noStrike">
              <a:latin typeface="Arial"/>
              <a:ea typeface="Arial"/>
              <a:cs typeface="Arial"/>
              <a:sym typeface="Arial"/>
            </a:endParaRPr>
          </a:p>
        </p:txBody>
      </p:sp>
      <p:sp>
        <p:nvSpPr>
          <p:cNvPr id="1087" name="Google Shape;1087;p152"/>
          <p:cNvSpPr/>
          <p:nvPr/>
        </p:nvSpPr>
        <p:spPr>
          <a:xfrm>
            <a:off x="6123240" y="3068640"/>
            <a:ext cx="780120" cy="5061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Ontologies</a:t>
            </a:r>
            <a:endParaRPr b="0" i="0" sz="700" u="none" cap="none" strike="noStrike">
              <a:latin typeface="Arial"/>
              <a:ea typeface="Arial"/>
              <a:cs typeface="Arial"/>
              <a:sym typeface="Arial"/>
            </a:endParaRPr>
          </a:p>
        </p:txBody>
      </p:sp>
      <p:sp>
        <p:nvSpPr>
          <p:cNvPr id="1088" name="Google Shape;1088;p152"/>
          <p:cNvSpPr/>
          <p:nvPr/>
        </p:nvSpPr>
        <p:spPr>
          <a:xfrm>
            <a:off x="5309280" y="3243600"/>
            <a:ext cx="813960" cy="3315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Taxonomies</a:t>
            </a:r>
            <a:endParaRPr b="0" i="0" sz="700" u="none" cap="none" strike="noStrike">
              <a:latin typeface="Arial"/>
              <a:ea typeface="Arial"/>
              <a:cs typeface="Arial"/>
              <a:sym typeface="Arial"/>
            </a:endParaRPr>
          </a:p>
        </p:txBody>
      </p:sp>
      <p:sp>
        <p:nvSpPr>
          <p:cNvPr id="1089" name="Google Shape;1089;p152"/>
          <p:cNvSpPr/>
          <p:nvPr/>
        </p:nvSpPr>
        <p:spPr>
          <a:xfrm>
            <a:off x="5572440" y="357552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Network Operations</a:t>
            </a:r>
            <a:endParaRPr b="0" i="0" sz="700" u="none" cap="none" strike="noStrike">
              <a:latin typeface="Arial"/>
              <a:ea typeface="Arial"/>
              <a:cs typeface="Arial"/>
              <a:sym typeface="Arial"/>
            </a:endParaRPr>
          </a:p>
        </p:txBody>
      </p:sp>
      <p:sp>
        <p:nvSpPr>
          <p:cNvPr id="1090" name="Google Shape;1090;p152"/>
          <p:cNvSpPr/>
          <p:nvPr/>
        </p:nvSpPr>
        <p:spPr>
          <a:xfrm>
            <a:off x="3568320" y="222048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Finance</a:t>
            </a:r>
            <a:endParaRPr b="0" i="0" sz="700" u="none" cap="none" strike="noStrike">
              <a:latin typeface="Arial"/>
              <a:ea typeface="Arial"/>
              <a:cs typeface="Arial"/>
              <a:sym typeface="Arial"/>
            </a:endParaRPr>
          </a:p>
        </p:txBody>
      </p:sp>
      <p:sp>
        <p:nvSpPr>
          <p:cNvPr id="1091" name="Google Shape;1091;p152"/>
          <p:cNvSpPr/>
          <p:nvPr/>
        </p:nvSpPr>
        <p:spPr>
          <a:xfrm>
            <a:off x="5572440" y="222660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Marketing</a:t>
            </a:r>
            <a:endParaRPr b="0" i="0" sz="700" u="none" cap="none" strike="noStrike">
              <a:latin typeface="Arial"/>
              <a:ea typeface="Arial"/>
              <a:cs typeface="Arial"/>
              <a:sym typeface="Arial"/>
            </a:endParaRPr>
          </a:p>
        </p:txBody>
      </p:sp>
      <p:sp>
        <p:nvSpPr>
          <p:cNvPr id="1092" name="Google Shape;1092;p152"/>
          <p:cNvSpPr/>
          <p:nvPr/>
        </p:nvSpPr>
        <p:spPr>
          <a:xfrm>
            <a:off x="3568320" y="3584160"/>
            <a:ext cx="1074600" cy="1742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Sales Operations</a:t>
            </a:r>
            <a:endParaRPr b="0" i="0" sz="700" u="none" cap="none" strike="noStrike">
              <a:latin typeface="Arial"/>
              <a:ea typeface="Arial"/>
              <a:cs typeface="Arial"/>
              <a:sym typeface="Arial"/>
            </a:endParaRPr>
          </a:p>
        </p:txBody>
      </p:sp>
      <p:sp>
        <p:nvSpPr>
          <p:cNvPr id="1093" name="Google Shape;1093;p152"/>
          <p:cNvSpPr/>
          <p:nvPr/>
        </p:nvSpPr>
        <p:spPr>
          <a:xfrm>
            <a:off x="7544520" y="1828800"/>
            <a:ext cx="1176840" cy="799920"/>
          </a:xfrm>
          <a:prstGeom prst="roundRect">
            <a:avLst>
              <a:gd fmla="val 0" name="adj"/>
            </a:avLst>
          </a:prstGeom>
          <a:solidFill>
            <a:srgbClr val="FFFFFF"/>
          </a:solidFill>
          <a:ln cap="flat" cmpd="sng" w="28425">
            <a:solidFill>
              <a:srgbClr val="0089EC"/>
            </a:solidFill>
            <a:prstDash val="solid"/>
            <a:miter lim="8000"/>
            <a:headEnd len="sm" w="sm" type="none"/>
            <a:tailEnd len="sm" w="sm" type="none"/>
          </a:ln>
        </p:spPr>
        <p:txBody>
          <a:bodyPr anchorCtr="0" anchor="ctr" bIns="31675" lIns="63350" spcFirstLastPara="1" rIns="63350" wrap="square" tIns="31675">
            <a:noAutofit/>
          </a:bodyPr>
          <a:lstStyle/>
          <a:p>
            <a:pPr indent="0" lvl="0" marL="0" marR="0" rtl="0" algn="ctr">
              <a:lnSpc>
                <a:spcPct val="100000"/>
              </a:lnSpc>
              <a:spcBef>
                <a:spcPts val="0"/>
              </a:spcBef>
              <a:spcAft>
                <a:spcPts val="0"/>
              </a:spcAft>
              <a:buNone/>
            </a:pPr>
            <a:r>
              <a:rPr b="0" i="0" lang="en-US" sz="900" u="none" cap="none" strike="noStrike">
                <a:solidFill>
                  <a:srgbClr val="0089EC"/>
                </a:solidFill>
                <a:latin typeface="Calibri"/>
                <a:ea typeface="Calibri"/>
                <a:cs typeface="Calibri"/>
                <a:sym typeface="Calibri"/>
              </a:rPr>
              <a:t>Component Design for Building out Verizon’s Knowledge</a:t>
            </a:r>
            <a:endParaRPr b="0" i="0" sz="900" u="none" cap="none" strike="noStrike">
              <a:latin typeface="Arial"/>
              <a:ea typeface="Arial"/>
              <a:cs typeface="Arial"/>
              <a:sym typeface="Arial"/>
            </a:endParaRPr>
          </a:p>
        </p:txBody>
      </p:sp>
      <p:grpSp>
        <p:nvGrpSpPr>
          <p:cNvPr id="1094" name="Google Shape;1094;p152"/>
          <p:cNvGrpSpPr/>
          <p:nvPr/>
        </p:nvGrpSpPr>
        <p:grpSpPr>
          <a:xfrm>
            <a:off x="8549640" y="0"/>
            <a:ext cx="594000" cy="679680"/>
            <a:chOff x="8549640" y="0"/>
            <a:chExt cx="594000" cy="679680"/>
          </a:xfrm>
        </p:grpSpPr>
        <p:sp>
          <p:nvSpPr>
            <p:cNvPr id="1095" name="Google Shape;1095;p152"/>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6" name="Google Shape;1096;p152"/>
            <p:cNvGrpSpPr/>
            <p:nvPr/>
          </p:nvGrpSpPr>
          <p:grpSpPr>
            <a:xfrm>
              <a:off x="8588160" y="0"/>
              <a:ext cx="555480" cy="679680"/>
              <a:chOff x="8588160" y="0"/>
              <a:chExt cx="555480" cy="679680"/>
            </a:xfrm>
          </p:grpSpPr>
          <p:pic>
            <p:nvPicPr>
              <p:cNvPr id="1097" name="Google Shape;1097;p152"/>
              <p:cNvPicPr preferRelativeResize="0"/>
              <p:nvPr/>
            </p:nvPicPr>
            <p:blipFill rotWithShape="1">
              <a:blip r:embed="rId3">
                <a:alphaModFix/>
              </a:blip>
              <a:srcRect b="0" l="20669" r="9844" t="0"/>
              <a:stretch/>
            </p:blipFill>
            <p:spPr>
              <a:xfrm>
                <a:off x="8588160" y="0"/>
                <a:ext cx="530640" cy="530640"/>
              </a:xfrm>
              <a:prstGeom prst="rect">
                <a:avLst/>
              </a:prstGeom>
              <a:noFill/>
              <a:ln>
                <a:noFill/>
              </a:ln>
            </p:spPr>
          </p:pic>
          <p:sp>
            <p:nvSpPr>
              <p:cNvPr id="1098" name="Google Shape;1098;p152"/>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53"/>
          <p:cNvSpPr/>
          <p:nvPr/>
        </p:nvSpPr>
        <p:spPr>
          <a:xfrm>
            <a:off x="6855840" y="1756440"/>
            <a:ext cx="649440" cy="279720"/>
          </a:xfrm>
          <a:prstGeom prst="roundRect">
            <a:avLst>
              <a:gd fmla="val 16667" name="adj"/>
            </a:avLst>
          </a:prstGeom>
          <a:solidFill>
            <a:srgbClr val="7F7F7F"/>
          </a:solidFill>
          <a:ln cap="flat" cmpd="sng" w="19075">
            <a:solidFill>
              <a:srgbClr val="FF802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 Models</a:t>
            </a:r>
            <a:endParaRPr b="0" i="0" sz="700" u="none" cap="none" strike="noStrike">
              <a:latin typeface="Arial"/>
              <a:ea typeface="Arial"/>
              <a:cs typeface="Arial"/>
              <a:sym typeface="Arial"/>
            </a:endParaRPr>
          </a:p>
        </p:txBody>
      </p:sp>
      <p:sp>
        <p:nvSpPr>
          <p:cNvPr id="1104" name="Google Shape;1104;p153"/>
          <p:cNvSpPr/>
          <p:nvPr/>
        </p:nvSpPr>
        <p:spPr>
          <a:xfrm>
            <a:off x="4012560" y="2888640"/>
            <a:ext cx="12279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(Ingestion Pipelines)</a:t>
            </a:r>
            <a:endParaRPr b="0" i="0" sz="600" u="none" cap="none" strike="noStrike">
              <a:latin typeface="Arial"/>
              <a:ea typeface="Arial"/>
              <a:cs typeface="Arial"/>
              <a:sym typeface="Arial"/>
            </a:endParaRPr>
          </a:p>
        </p:txBody>
      </p:sp>
      <p:sp>
        <p:nvSpPr>
          <p:cNvPr id="1105" name="Google Shape;1105;p153"/>
          <p:cNvSpPr/>
          <p:nvPr/>
        </p:nvSpPr>
        <p:spPr>
          <a:xfrm>
            <a:off x="3425400" y="4602960"/>
            <a:ext cx="649440" cy="29052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106" name="Google Shape;1106;p153"/>
          <p:cNvSpPr/>
          <p:nvPr/>
        </p:nvSpPr>
        <p:spPr>
          <a:xfrm flipH="1" rot="10800000">
            <a:off x="5239800" y="3249720"/>
            <a:ext cx="1614600" cy="2880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07" name="Google Shape;1107;p153"/>
          <p:cNvSpPr/>
          <p:nvPr/>
        </p:nvSpPr>
        <p:spPr>
          <a:xfrm>
            <a:off x="6871320" y="2386080"/>
            <a:ext cx="618120" cy="294840"/>
          </a:xfrm>
          <a:prstGeom prst="can">
            <a:avLst>
              <a:gd fmla="val 25000" name="adj"/>
            </a:avLst>
          </a:prstGeom>
          <a:solidFill>
            <a:srgbClr val="D8DADA"/>
          </a:solid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47676"/>
                </a:solidFill>
                <a:latin typeface="Arial"/>
                <a:ea typeface="Arial"/>
                <a:cs typeface="Arial"/>
                <a:sym typeface="Arial"/>
              </a:rPr>
              <a:t>Views</a:t>
            </a:r>
            <a:endParaRPr b="0" i="0" sz="700" u="none" cap="none" strike="noStrike">
              <a:latin typeface="Arial"/>
              <a:ea typeface="Arial"/>
              <a:cs typeface="Arial"/>
              <a:sym typeface="Arial"/>
            </a:endParaRPr>
          </a:p>
        </p:txBody>
      </p:sp>
      <p:sp>
        <p:nvSpPr>
          <p:cNvPr id="1108" name="Google Shape;1108;p153"/>
          <p:cNvSpPr/>
          <p:nvPr/>
        </p:nvSpPr>
        <p:spPr>
          <a:xfrm>
            <a:off x="6871320" y="2130480"/>
            <a:ext cx="618120" cy="326160"/>
          </a:xfrm>
          <a:prstGeom prst="can">
            <a:avLst>
              <a:gd fmla="val 25000" name="adj"/>
            </a:avLst>
          </a:prstGeom>
          <a:solidFill>
            <a:srgbClr val="747676"/>
          </a:solid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109" name="Google Shape;1109;p153"/>
          <p:cNvSpPr/>
          <p:nvPr/>
        </p:nvSpPr>
        <p:spPr>
          <a:xfrm>
            <a:off x="2723040" y="4424040"/>
            <a:ext cx="64944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110" name="Google Shape;1110;p153"/>
          <p:cNvSpPr/>
          <p:nvPr/>
        </p:nvSpPr>
        <p:spPr>
          <a:xfrm>
            <a:off x="6855840" y="2798280"/>
            <a:ext cx="649440" cy="326160"/>
          </a:xfrm>
          <a:prstGeom prst="can">
            <a:avLst>
              <a:gd fmla="val 25000" name="adj"/>
            </a:avLst>
          </a:prstGeom>
          <a:solidFill>
            <a:srgbClr val="747676"/>
          </a:solid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111" name="Google Shape;1111;p153"/>
          <p:cNvSpPr/>
          <p:nvPr/>
        </p:nvSpPr>
        <p:spPr>
          <a:xfrm>
            <a:off x="6855840" y="3322800"/>
            <a:ext cx="649440" cy="290520"/>
          </a:xfrm>
          <a:prstGeom prst="can">
            <a:avLst>
              <a:gd fmla="val 25000" name="adj"/>
            </a:avLst>
          </a:prstGeom>
          <a:solidFill>
            <a:srgbClr val="777777"/>
          </a:solidFill>
          <a:ln cap="flat" cmpd="sng" w="9525">
            <a:solidFill>
              <a:srgbClr val="F50A23"/>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112" name="Google Shape;1112;p153"/>
          <p:cNvSpPr/>
          <p:nvPr/>
        </p:nvSpPr>
        <p:spPr>
          <a:xfrm>
            <a:off x="6871320" y="3754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113" name="Google Shape;1113;p153"/>
          <p:cNvGrpSpPr/>
          <p:nvPr/>
        </p:nvGrpSpPr>
        <p:grpSpPr>
          <a:xfrm>
            <a:off x="7759440" y="2889720"/>
            <a:ext cx="830520" cy="720000"/>
            <a:chOff x="7759440" y="2889720"/>
            <a:chExt cx="830520" cy="720000"/>
          </a:xfrm>
        </p:grpSpPr>
        <p:sp>
          <p:nvSpPr>
            <p:cNvPr id="1114" name="Google Shape;1114;p153"/>
            <p:cNvSpPr/>
            <p:nvPr/>
          </p:nvSpPr>
          <p:spPr>
            <a:xfrm>
              <a:off x="7759440" y="28897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115" name="Google Shape;1115;p153"/>
            <p:cNvGrpSpPr/>
            <p:nvPr/>
          </p:nvGrpSpPr>
          <p:grpSpPr>
            <a:xfrm>
              <a:off x="7934400" y="3142080"/>
              <a:ext cx="480600" cy="353520"/>
              <a:chOff x="7934400" y="3142080"/>
              <a:chExt cx="480600" cy="353520"/>
            </a:xfrm>
          </p:grpSpPr>
          <p:sp>
            <p:nvSpPr>
              <p:cNvPr id="1116" name="Google Shape;1116;p153"/>
              <p:cNvSpPr/>
              <p:nvPr/>
            </p:nvSpPr>
            <p:spPr>
              <a:xfrm>
                <a:off x="8080560" y="31420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3"/>
              <p:cNvSpPr/>
              <p:nvPr/>
            </p:nvSpPr>
            <p:spPr>
              <a:xfrm>
                <a:off x="8236440" y="32626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8" name="Google Shape;1118;p153"/>
              <p:cNvCxnSpPr/>
              <p:nvPr/>
            </p:nvCxnSpPr>
            <p:spPr>
              <a:xfrm flipH="1" rot="-5400000">
                <a:off x="8161920" y="3229920"/>
                <a:ext cx="79920" cy="65880"/>
              </a:xfrm>
              <a:prstGeom prst="bentConnector2">
                <a:avLst/>
              </a:prstGeom>
              <a:noFill/>
              <a:ln cap="flat" cmpd="sng" w="9525">
                <a:solidFill>
                  <a:srgbClr val="FFFFFF"/>
                </a:solidFill>
                <a:prstDash val="solid"/>
                <a:round/>
                <a:headEnd len="sm" w="sm" type="none"/>
                <a:tailEnd len="sm" w="sm" type="none"/>
              </a:ln>
            </p:spPr>
          </p:cxnSp>
          <p:sp>
            <p:nvSpPr>
              <p:cNvPr id="1119" name="Google Shape;1119;p153"/>
              <p:cNvSpPr/>
              <p:nvPr/>
            </p:nvSpPr>
            <p:spPr>
              <a:xfrm>
                <a:off x="7934400" y="33188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0" name="Google Shape;1120;p153"/>
              <p:cNvCxnSpPr/>
              <p:nvPr/>
            </p:nvCxnSpPr>
            <p:spPr>
              <a:xfrm rot="5400000">
                <a:off x="8074080" y="3262680"/>
                <a:ext cx="135720" cy="56520"/>
              </a:xfrm>
              <a:prstGeom prst="bentConnector2">
                <a:avLst/>
              </a:prstGeom>
              <a:noFill/>
              <a:ln cap="flat" cmpd="sng" w="9525">
                <a:solidFill>
                  <a:srgbClr val="FFFFFF"/>
                </a:solidFill>
                <a:prstDash val="solid"/>
                <a:round/>
                <a:headEnd len="sm" w="sm" type="none"/>
                <a:tailEnd len="sm" w="sm" type="none"/>
              </a:ln>
            </p:spPr>
          </p:cxnSp>
          <p:sp>
            <p:nvSpPr>
              <p:cNvPr id="1121" name="Google Shape;1121;p153"/>
              <p:cNvSpPr/>
              <p:nvPr/>
            </p:nvSpPr>
            <p:spPr>
              <a:xfrm>
                <a:off x="8236440" y="3414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2" name="Google Shape;1122;p153"/>
              <p:cNvCxnSpPr/>
              <p:nvPr/>
            </p:nvCxnSpPr>
            <p:spPr>
              <a:xfrm flipH="1" rot="-5400000">
                <a:off x="8085960" y="3306240"/>
                <a:ext cx="232200" cy="65880"/>
              </a:xfrm>
              <a:prstGeom prst="bentConnector2">
                <a:avLst/>
              </a:prstGeom>
              <a:noFill/>
              <a:ln cap="flat" cmpd="sng" w="9525">
                <a:solidFill>
                  <a:srgbClr val="FFFFFF"/>
                </a:solidFill>
                <a:prstDash val="solid"/>
                <a:round/>
                <a:headEnd len="sm" w="sm" type="none"/>
                <a:tailEnd len="sm" w="sm" type="none"/>
              </a:ln>
            </p:spPr>
          </p:cxnSp>
        </p:grpSp>
      </p:grpSp>
      <p:sp>
        <p:nvSpPr>
          <p:cNvPr id="1123" name="Google Shape;1123;p153"/>
          <p:cNvSpPr/>
          <p:nvPr/>
        </p:nvSpPr>
        <p:spPr>
          <a:xfrm>
            <a:off x="1407240" y="28774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124" name="Google Shape;1124;p153"/>
          <p:cNvSpPr/>
          <p:nvPr/>
        </p:nvSpPr>
        <p:spPr>
          <a:xfrm>
            <a:off x="2057040" y="3040560"/>
            <a:ext cx="1955520" cy="209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5" name="Google Shape;1125;p153"/>
          <p:cNvSpPr/>
          <p:nvPr/>
        </p:nvSpPr>
        <p:spPr>
          <a:xfrm flipH="1" rot="10800000">
            <a:off x="2667960" y="3379320"/>
            <a:ext cx="1343160" cy="1292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6" name="Google Shape;1126;p153"/>
          <p:cNvSpPr/>
          <p:nvPr/>
        </p:nvSpPr>
        <p:spPr>
          <a:xfrm flipH="1" rot="10800000">
            <a:off x="5241240" y="3249720"/>
            <a:ext cx="1630080" cy="955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7" name="Google Shape;1127;p153"/>
          <p:cNvSpPr/>
          <p:nvPr/>
        </p:nvSpPr>
        <p:spPr>
          <a:xfrm>
            <a:off x="5240880" y="3249720"/>
            <a:ext cx="1614600" cy="217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8" name="Google Shape;1128;p153"/>
          <p:cNvSpPr/>
          <p:nvPr/>
        </p:nvSpPr>
        <p:spPr>
          <a:xfrm>
            <a:off x="5240880" y="3249720"/>
            <a:ext cx="2518200" cy="3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29" name="Google Shape;1129;p153"/>
          <p:cNvSpPr/>
          <p:nvPr/>
        </p:nvSpPr>
        <p:spPr>
          <a:xfrm rot="10800000">
            <a:off x="5241240" y="3250080"/>
            <a:ext cx="1630080" cy="667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0" name="Google Shape;1130;p153"/>
          <p:cNvSpPr/>
          <p:nvPr/>
        </p:nvSpPr>
        <p:spPr>
          <a:xfrm flipH="1" rot="10800000">
            <a:off x="3749400" y="4602960"/>
            <a:ext cx="875880" cy="99180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1" name="Google Shape;1131;p153"/>
          <p:cNvSpPr/>
          <p:nvPr/>
        </p:nvSpPr>
        <p:spPr>
          <a:xfrm flipH="1" rot="10800000">
            <a:off x="3048480" y="4424040"/>
            <a:ext cx="1578240" cy="8125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2" name="Google Shape;1132;p153"/>
          <p:cNvSpPr/>
          <p:nvPr/>
        </p:nvSpPr>
        <p:spPr>
          <a:xfrm>
            <a:off x="2420280" y="4094280"/>
            <a:ext cx="85212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Requirements</a:t>
            </a:r>
            <a:endParaRPr b="0" i="0" sz="700" u="none" cap="none" strike="noStrike">
              <a:latin typeface="Arial"/>
              <a:ea typeface="Arial"/>
              <a:cs typeface="Arial"/>
              <a:sym typeface="Arial"/>
            </a:endParaRPr>
          </a:p>
        </p:txBody>
      </p:sp>
      <p:sp>
        <p:nvSpPr>
          <p:cNvPr id="1133" name="Google Shape;1133;p153"/>
          <p:cNvSpPr/>
          <p:nvPr/>
        </p:nvSpPr>
        <p:spPr>
          <a:xfrm flipH="1" rot="10800000">
            <a:off x="2846880" y="4094280"/>
            <a:ext cx="1779840" cy="4827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4" name="Google Shape;1134;p153"/>
          <p:cNvSpPr/>
          <p:nvPr/>
        </p:nvSpPr>
        <p:spPr>
          <a:xfrm flipH="1" rot="10800000">
            <a:off x="3817440" y="3864600"/>
            <a:ext cx="809280" cy="2534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5" name="Google Shape;1135;p153"/>
          <p:cNvSpPr/>
          <p:nvPr/>
        </p:nvSpPr>
        <p:spPr>
          <a:xfrm rot="10800000">
            <a:off x="4627080" y="3611520"/>
            <a:ext cx="929520" cy="5439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36" name="Google Shape;1136;p153"/>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Ingest Metadata about Digital Assets</a:t>
            </a:r>
            <a:endParaRPr b="0" i="0" sz="2000" u="none" cap="none" strike="noStrike">
              <a:latin typeface="Arial"/>
              <a:ea typeface="Arial"/>
              <a:cs typeface="Arial"/>
              <a:sym typeface="Arial"/>
            </a:endParaRPr>
          </a:p>
        </p:txBody>
      </p:sp>
      <p:grpSp>
        <p:nvGrpSpPr>
          <p:cNvPr id="1137" name="Google Shape;1137;p153"/>
          <p:cNvGrpSpPr/>
          <p:nvPr/>
        </p:nvGrpSpPr>
        <p:grpSpPr>
          <a:xfrm>
            <a:off x="890640" y="756000"/>
            <a:ext cx="4748040" cy="1815120"/>
            <a:chOff x="890640" y="756000"/>
            <a:chExt cx="4748040" cy="1815120"/>
          </a:xfrm>
        </p:grpSpPr>
        <p:sp>
          <p:nvSpPr>
            <p:cNvPr id="1138" name="Google Shape;1138;p153"/>
            <p:cNvSpPr/>
            <p:nvPr/>
          </p:nvSpPr>
          <p:spPr>
            <a:xfrm>
              <a:off x="890640" y="756000"/>
              <a:ext cx="47480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Semantic Knowledge Layer</a:t>
              </a:r>
              <a:endParaRPr b="0" i="0" sz="1100" u="none" cap="none" strike="noStrike">
                <a:latin typeface="Arial"/>
                <a:ea typeface="Arial"/>
                <a:cs typeface="Arial"/>
                <a:sym typeface="Arial"/>
              </a:endParaRPr>
            </a:p>
          </p:txBody>
        </p:sp>
        <p:sp>
          <p:nvSpPr>
            <p:cNvPr id="1139" name="Google Shape;1139;p153"/>
            <p:cNvSpPr/>
            <p:nvPr/>
          </p:nvSpPr>
          <p:spPr>
            <a:xfrm>
              <a:off x="3655080" y="1181880"/>
              <a:ext cx="18104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Bottom-Up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(Digital Asset Metadata)</a:t>
              </a:r>
              <a:endParaRPr b="0" i="0" sz="700" u="none" cap="none" strike="noStrike">
                <a:latin typeface="Arial"/>
                <a:ea typeface="Arial"/>
                <a:cs typeface="Arial"/>
                <a:sym typeface="Arial"/>
              </a:endParaRPr>
            </a:p>
          </p:txBody>
        </p:sp>
        <p:sp>
          <p:nvSpPr>
            <p:cNvPr id="1140" name="Google Shape;1140;p153"/>
            <p:cNvSpPr/>
            <p:nvPr/>
          </p:nvSpPr>
          <p:spPr>
            <a:xfrm>
              <a:off x="3817440" y="16336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41" name="Google Shape;1141;p153"/>
            <p:cNvSpPr/>
            <p:nvPr/>
          </p:nvSpPr>
          <p:spPr>
            <a:xfrm>
              <a:off x="3817440" y="18622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42" name="Google Shape;1142;p153"/>
            <p:cNvSpPr/>
            <p:nvPr/>
          </p:nvSpPr>
          <p:spPr>
            <a:xfrm>
              <a:off x="3817440" y="20908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43" name="Google Shape;1143;p153"/>
            <p:cNvSpPr/>
            <p:nvPr/>
          </p:nvSpPr>
          <p:spPr>
            <a:xfrm>
              <a:off x="4657680" y="16336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44" name="Google Shape;1144;p153"/>
            <p:cNvSpPr/>
            <p:nvPr/>
          </p:nvSpPr>
          <p:spPr>
            <a:xfrm>
              <a:off x="4657680" y="18622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45" name="Google Shape;1145;p153"/>
            <p:cNvSpPr/>
            <p:nvPr/>
          </p:nvSpPr>
          <p:spPr>
            <a:xfrm>
              <a:off x="4657680" y="2090880"/>
              <a:ext cx="57348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146" name="Google Shape;1146;p153"/>
          <p:cNvSpPr/>
          <p:nvPr/>
        </p:nvSpPr>
        <p:spPr>
          <a:xfrm>
            <a:off x="6728400" y="449316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147" name="Google Shape;1147;p153"/>
          <p:cNvSpPr/>
          <p:nvPr/>
        </p:nvSpPr>
        <p:spPr>
          <a:xfrm>
            <a:off x="5181480" y="453420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Semantics</a:t>
            </a:r>
            <a:endParaRPr b="0" i="0" sz="700" u="none" cap="none" strike="noStrike">
              <a:latin typeface="Arial"/>
              <a:ea typeface="Arial"/>
              <a:cs typeface="Arial"/>
              <a:sym typeface="Arial"/>
            </a:endParaRPr>
          </a:p>
        </p:txBody>
      </p:sp>
      <p:sp>
        <p:nvSpPr>
          <p:cNvPr id="1148" name="Google Shape;1148;p153"/>
          <p:cNvSpPr/>
          <p:nvPr/>
        </p:nvSpPr>
        <p:spPr>
          <a:xfrm rot="10800000">
            <a:off x="4627080" y="3611520"/>
            <a:ext cx="1006920" cy="9226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49" name="Google Shape;1149;p153"/>
          <p:cNvSpPr/>
          <p:nvPr/>
        </p:nvSpPr>
        <p:spPr>
          <a:xfrm flipH="1" rot="10800000">
            <a:off x="5239800" y="3249720"/>
            <a:ext cx="1614600" cy="135288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50" name="Google Shape;1150;p153"/>
          <p:cNvSpPr/>
          <p:nvPr/>
        </p:nvSpPr>
        <p:spPr>
          <a:xfrm>
            <a:off x="6855840" y="414180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RDF Stores</a:t>
            </a:r>
            <a:endParaRPr b="0" i="0" sz="700" u="none" cap="none" strike="noStrike">
              <a:latin typeface="Arial"/>
              <a:ea typeface="Arial"/>
              <a:cs typeface="Arial"/>
              <a:sym typeface="Arial"/>
            </a:endParaRPr>
          </a:p>
        </p:txBody>
      </p:sp>
      <p:sp>
        <p:nvSpPr>
          <p:cNvPr id="1151" name="Google Shape;1151;p153"/>
          <p:cNvSpPr/>
          <p:nvPr/>
        </p:nvSpPr>
        <p:spPr>
          <a:xfrm rot="10800000">
            <a:off x="5241240" y="3250080"/>
            <a:ext cx="1614600" cy="1037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52" name="Google Shape;1152;p153"/>
          <p:cNvSpPr/>
          <p:nvPr/>
        </p:nvSpPr>
        <p:spPr>
          <a:xfrm rot="10800000">
            <a:off x="5240880" y="3250440"/>
            <a:ext cx="1487520" cy="13723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53" name="Google Shape;1153;p153"/>
          <p:cNvSpPr/>
          <p:nvPr/>
        </p:nvSpPr>
        <p:spPr>
          <a:xfrm>
            <a:off x="5104440" y="4155480"/>
            <a:ext cx="9043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154" name="Google Shape;1154;p153"/>
          <p:cNvSpPr/>
          <p:nvPr/>
        </p:nvSpPr>
        <p:spPr>
          <a:xfrm>
            <a:off x="3401640" y="3864600"/>
            <a:ext cx="830520" cy="258480"/>
          </a:xfrm>
          <a:prstGeom prst="can">
            <a:avLst>
              <a:gd fmla="val 25000"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Solutions</a:t>
            </a:r>
            <a:endParaRPr b="0" i="0" sz="700" u="none" cap="none" strike="noStrike">
              <a:latin typeface="Arial"/>
              <a:ea typeface="Arial"/>
              <a:cs typeface="Arial"/>
              <a:sym typeface="Arial"/>
            </a:endParaRPr>
          </a:p>
        </p:txBody>
      </p:sp>
      <p:sp>
        <p:nvSpPr>
          <p:cNvPr id="1155" name="Google Shape;1155;p153"/>
          <p:cNvSpPr/>
          <p:nvPr/>
        </p:nvSpPr>
        <p:spPr>
          <a:xfrm>
            <a:off x="4037040" y="4200120"/>
            <a:ext cx="904320" cy="326160"/>
          </a:xfrm>
          <a:prstGeom prst="can">
            <a:avLst>
              <a:gd fmla="val 20258" name="adj"/>
            </a:avLst>
          </a:prstGeom>
          <a:solidFill>
            <a:srgbClr val="A5A5A5"/>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Design Artifacts</a:t>
            </a:r>
            <a:endParaRPr b="0" i="0" sz="700" u="none" cap="none" strike="noStrike">
              <a:latin typeface="Arial"/>
              <a:ea typeface="Arial"/>
              <a:cs typeface="Arial"/>
              <a:sym typeface="Arial"/>
            </a:endParaRPr>
          </a:p>
        </p:txBody>
      </p:sp>
      <p:sp>
        <p:nvSpPr>
          <p:cNvPr id="1156" name="Google Shape;1156;p153"/>
          <p:cNvSpPr/>
          <p:nvPr/>
        </p:nvSpPr>
        <p:spPr>
          <a:xfrm>
            <a:off x="1483920" y="360576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Assets</a:t>
            </a:r>
            <a:endParaRPr b="0" i="0" sz="700" u="none" cap="none" strike="noStrike">
              <a:latin typeface="Arial"/>
              <a:ea typeface="Arial"/>
              <a:cs typeface="Arial"/>
              <a:sym typeface="Arial"/>
            </a:endParaRPr>
          </a:p>
        </p:txBody>
      </p:sp>
      <p:sp>
        <p:nvSpPr>
          <p:cNvPr id="1157" name="Google Shape;1157;p153"/>
          <p:cNvSpPr/>
          <p:nvPr/>
        </p:nvSpPr>
        <p:spPr>
          <a:xfrm flipH="1" rot="10800000">
            <a:off x="2142720" y="3735360"/>
            <a:ext cx="1868760" cy="48492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58" name="Google Shape;1158;p153"/>
          <p:cNvSpPr/>
          <p:nvPr/>
        </p:nvSpPr>
        <p:spPr>
          <a:xfrm>
            <a:off x="834480" y="32752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Events</a:t>
            </a:r>
            <a:endParaRPr b="0" i="0" sz="700" u="none" cap="none" strike="noStrike">
              <a:latin typeface="Arial"/>
              <a:ea typeface="Arial"/>
              <a:cs typeface="Arial"/>
              <a:sym typeface="Arial"/>
            </a:endParaRPr>
          </a:p>
        </p:txBody>
      </p:sp>
      <p:sp>
        <p:nvSpPr>
          <p:cNvPr id="1159" name="Google Shape;1159;p153"/>
          <p:cNvSpPr/>
          <p:nvPr/>
        </p:nvSpPr>
        <p:spPr>
          <a:xfrm flipH="1" rot="10800000">
            <a:off x="1492920" y="3404880"/>
            <a:ext cx="2518200" cy="15444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60" name="Google Shape;1160;p153"/>
          <p:cNvSpPr/>
          <p:nvPr/>
        </p:nvSpPr>
        <p:spPr>
          <a:xfrm>
            <a:off x="2009520" y="32500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161" name="Google Shape;1161;p153"/>
          <p:cNvSpPr/>
          <p:nvPr/>
        </p:nvSpPr>
        <p:spPr>
          <a:xfrm>
            <a:off x="4563000" y="2625480"/>
            <a:ext cx="127080" cy="209160"/>
          </a:xfrm>
          <a:prstGeom prst="upArrow">
            <a:avLst>
              <a:gd fmla="val 50000" name="adj1"/>
              <a:gd fmla="val 50000" name="adj2"/>
            </a:avLst>
          </a:prstGeom>
          <a:solidFill>
            <a:srgbClr val="3CB7D2"/>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53"/>
          <p:cNvSpPr/>
          <p:nvPr/>
        </p:nvSpPr>
        <p:spPr>
          <a:xfrm>
            <a:off x="6855840" y="1266120"/>
            <a:ext cx="649440" cy="326160"/>
          </a:xfrm>
          <a:prstGeom prst="can">
            <a:avLst>
              <a:gd fmla="val 25000" name="adj"/>
            </a:avLst>
          </a:prstGeom>
          <a:solidFill>
            <a:srgbClr val="747676"/>
          </a:solid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sp>
        <p:nvSpPr>
          <p:cNvPr id="1163" name="Google Shape;1163;p153"/>
          <p:cNvSpPr/>
          <p:nvPr/>
        </p:nvSpPr>
        <p:spPr>
          <a:xfrm>
            <a:off x="6855840" y="784080"/>
            <a:ext cx="649440" cy="326160"/>
          </a:xfrm>
          <a:prstGeom prst="can">
            <a:avLst>
              <a:gd fmla="val 25000" name="adj"/>
            </a:avLst>
          </a:prstGeom>
          <a:solidFill>
            <a:srgbClr val="747676"/>
          </a:solid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Catalog</a:t>
            </a:r>
            <a:endParaRPr b="0" i="0" sz="700" u="none" cap="none" strike="noStrike">
              <a:latin typeface="Arial"/>
              <a:ea typeface="Arial"/>
              <a:cs typeface="Arial"/>
              <a:sym typeface="Arial"/>
            </a:endParaRPr>
          </a:p>
        </p:txBody>
      </p:sp>
      <p:sp>
        <p:nvSpPr>
          <p:cNvPr id="1164" name="Google Shape;1164;p153"/>
          <p:cNvSpPr/>
          <p:nvPr/>
        </p:nvSpPr>
        <p:spPr>
          <a:xfrm flipH="1" rot="10800000">
            <a:off x="5239800" y="3249720"/>
            <a:ext cx="1614600" cy="1820160"/>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65" name="Google Shape;1165;p153"/>
          <p:cNvSpPr/>
          <p:nvPr/>
        </p:nvSpPr>
        <p:spPr>
          <a:xfrm flipH="1" rot="10800000">
            <a:off x="5239800" y="1684630"/>
            <a:ext cx="1287144" cy="3867642"/>
          </a:xfrm>
          <a:custGeom>
            <a:rect b="b" l="l" r="r" t="t"/>
            <a:pathLst>
              <a:path extrusionOk="0" h="21600" w="21600">
                <a:moveTo>
                  <a:pt x="0" y="0"/>
                </a:moveTo>
                <a:lnTo>
                  <a:pt x="21600" y="21600"/>
                </a:lnTo>
              </a:path>
            </a:pathLst>
          </a:custGeom>
          <a:noFill/>
          <a:ln cap="flat" cmpd="sng" w="9525">
            <a:solidFill>
              <a:srgbClr val="D8D8D8"/>
            </a:solidFill>
            <a:prstDash val="solid"/>
            <a:round/>
            <a:headEnd len="sm" w="sm" type="none"/>
            <a:tailEnd len="sm" w="sm" type="none"/>
          </a:ln>
        </p:spPr>
      </p:sp>
      <p:sp>
        <p:nvSpPr>
          <p:cNvPr id="1166" name="Google Shape;1166;p153"/>
          <p:cNvSpPr/>
          <p:nvPr/>
        </p:nvSpPr>
        <p:spPr>
          <a:xfrm>
            <a:off x="1045440" y="1166400"/>
            <a:ext cx="2355840" cy="126864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Top-Down Knowledge</a:t>
            </a:r>
            <a:endParaRPr b="0" i="0" sz="900" u="none" cap="none" strike="noStrike">
              <a:latin typeface="Arial"/>
              <a:ea typeface="Arial"/>
              <a:cs typeface="Arial"/>
              <a:sym typeface="Arial"/>
            </a:endParaRPr>
          </a:p>
        </p:txBody>
      </p:sp>
      <p:pic>
        <p:nvPicPr>
          <p:cNvPr id="1167" name="Google Shape;1167;p153"/>
          <p:cNvPicPr preferRelativeResize="0"/>
          <p:nvPr/>
        </p:nvPicPr>
        <p:blipFill rotWithShape="1">
          <a:blip r:embed="rId3">
            <a:alphaModFix/>
          </a:blip>
          <a:srcRect b="0" l="0" r="0" t="0"/>
          <a:stretch/>
        </p:blipFill>
        <p:spPr>
          <a:xfrm>
            <a:off x="1165680" y="1528920"/>
            <a:ext cx="2075040" cy="840600"/>
          </a:xfrm>
          <a:prstGeom prst="rect">
            <a:avLst/>
          </a:prstGeom>
          <a:noFill/>
          <a:ln>
            <a:noFill/>
          </a:ln>
        </p:spPr>
      </p:pic>
      <p:grpSp>
        <p:nvGrpSpPr>
          <p:cNvPr id="1168" name="Google Shape;1168;p153"/>
          <p:cNvGrpSpPr/>
          <p:nvPr/>
        </p:nvGrpSpPr>
        <p:grpSpPr>
          <a:xfrm>
            <a:off x="8549640" y="0"/>
            <a:ext cx="594000" cy="679680"/>
            <a:chOff x="8549640" y="0"/>
            <a:chExt cx="594000" cy="679680"/>
          </a:xfrm>
        </p:grpSpPr>
        <p:sp>
          <p:nvSpPr>
            <p:cNvPr id="1169" name="Google Shape;1169;p153"/>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0" name="Google Shape;1170;p153"/>
            <p:cNvGrpSpPr/>
            <p:nvPr/>
          </p:nvGrpSpPr>
          <p:grpSpPr>
            <a:xfrm>
              <a:off x="8588160" y="0"/>
              <a:ext cx="555480" cy="679680"/>
              <a:chOff x="8588160" y="0"/>
              <a:chExt cx="555480" cy="679680"/>
            </a:xfrm>
          </p:grpSpPr>
          <p:pic>
            <p:nvPicPr>
              <p:cNvPr id="1171" name="Google Shape;1171;p153"/>
              <p:cNvPicPr preferRelativeResize="0"/>
              <p:nvPr/>
            </p:nvPicPr>
            <p:blipFill rotWithShape="1">
              <a:blip r:embed="rId4">
                <a:alphaModFix/>
              </a:blip>
              <a:srcRect b="0" l="20669" r="9844" t="0"/>
              <a:stretch/>
            </p:blipFill>
            <p:spPr>
              <a:xfrm>
                <a:off x="8588160" y="0"/>
                <a:ext cx="530640" cy="530640"/>
              </a:xfrm>
              <a:prstGeom prst="rect">
                <a:avLst/>
              </a:prstGeom>
              <a:noFill/>
              <a:ln>
                <a:noFill/>
              </a:ln>
            </p:spPr>
          </p:pic>
          <p:sp>
            <p:nvSpPr>
              <p:cNvPr id="1172" name="Google Shape;1172;p153"/>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154"/>
          <p:cNvSpPr/>
          <p:nvPr/>
        </p:nvSpPr>
        <p:spPr>
          <a:xfrm>
            <a:off x="3366360" y="3207960"/>
            <a:ext cx="13431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 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(Mapping Context to Content)</a:t>
            </a:r>
            <a:endParaRPr b="0" i="0" sz="600" u="none" cap="none" strike="noStrike">
              <a:latin typeface="Arial"/>
              <a:ea typeface="Arial"/>
              <a:cs typeface="Arial"/>
              <a:sym typeface="Arial"/>
            </a:endParaRPr>
          </a:p>
        </p:txBody>
      </p:sp>
      <p:sp>
        <p:nvSpPr>
          <p:cNvPr id="1178" name="Google Shape;1178;p154"/>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Map Context to Content (Meaning at Scale)</a:t>
            </a:r>
            <a:endParaRPr b="0" i="0" sz="2000" u="none" cap="none" strike="noStrike">
              <a:latin typeface="Arial"/>
              <a:ea typeface="Arial"/>
              <a:cs typeface="Arial"/>
              <a:sym typeface="Arial"/>
            </a:endParaRPr>
          </a:p>
        </p:txBody>
      </p:sp>
      <p:grpSp>
        <p:nvGrpSpPr>
          <p:cNvPr id="1179" name="Google Shape;1179;p154"/>
          <p:cNvGrpSpPr/>
          <p:nvPr/>
        </p:nvGrpSpPr>
        <p:grpSpPr>
          <a:xfrm>
            <a:off x="445320" y="664920"/>
            <a:ext cx="6578640" cy="1906560"/>
            <a:chOff x="445320" y="664920"/>
            <a:chExt cx="6578640" cy="1906560"/>
          </a:xfrm>
        </p:grpSpPr>
        <p:sp>
          <p:nvSpPr>
            <p:cNvPr id="1180" name="Google Shape;1180;p154"/>
            <p:cNvSpPr/>
            <p:nvPr/>
          </p:nvSpPr>
          <p:spPr>
            <a:xfrm>
              <a:off x="445320" y="664920"/>
              <a:ext cx="6578640" cy="190656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p:txBody>
        </p:sp>
        <p:sp>
          <p:nvSpPr>
            <p:cNvPr id="1181" name="Google Shape;1181;p154"/>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Schema Ontologies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1182" name="Google Shape;1182;p154"/>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83" name="Google Shape;1183;p154"/>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84" name="Google Shape;1184;p154"/>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85" name="Google Shape;1185;p154"/>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86" name="Google Shape;1186;p154"/>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187" name="Google Shape;1187;p154"/>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188" name="Google Shape;1188;p154"/>
          <p:cNvSpPr/>
          <p:nvPr/>
        </p:nvSpPr>
        <p:spPr>
          <a:xfrm rot="10800000">
            <a:off x="4710240" y="3569400"/>
            <a:ext cx="893520" cy="8280"/>
          </a:xfrm>
          <a:custGeom>
            <a:rect b="b" l="l" r="r" t="t"/>
            <a:pathLst>
              <a:path extrusionOk="0" h="21600" w="21600">
                <a:moveTo>
                  <a:pt x="0" y="0"/>
                </a:moveTo>
                <a:lnTo>
                  <a:pt x="21600" y="21600"/>
                </a:lnTo>
              </a:path>
            </a:pathLst>
          </a:custGeom>
          <a:noFill/>
          <a:ln cap="flat" cmpd="sng" w="9525">
            <a:solidFill>
              <a:srgbClr val="CCCCCC"/>
            </a:solidFill>
            <a:prstDash val="dashDot"/>
            <a:round/>
            <a:headEnd len="sm" w="sm" type="none"/>
            <a:tailEnd len="med" w="med" type="triangle"/>
          </a:ln>
        </p:spPr>
      </p:sp>
      <p:grpSp>
        <p:nvGrpSpPr>
          <p:cNvPr id="1189" name="Google Shape;1189;p154"/>
          <p:cNvGrpSpPr/>
          <p:nvPr/>
        </p:nvGrpSpPr>
        <p:grpSpPr>
          <a:xfrm>
            <a:off x="7455240" y="3259440"/>
            <a:ext cx="1355760" cy="619200"/>
            <a:chOff x="7455240" y="3259440"/>
            <a:chExt cx="1355760" cy="619200"/>
          </a:xfrm>
        </p:grpSpPr>
        <p:sp>
          <p:nvSpPr>
            <p:cNvPr id="1190" name="Google Shape;1190;p154"/>
            <p:cNvSpPr/>
            <p:nvPr/>
          </p:nvSpPr>
          <p:spPr>
            <a:xfrm>
              <a:off x="7455240" y="3259440"/>
              <a:ext cx="1355760" cy="619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VZ Gemini</a:t>
              </a:r>
              <a:endParaRPr b="0" i="0" sz="1100" u="none" cap="none" strike="noStrike">
                <a:latin typeface="Arial"/>
                <a:ea typeface="Arial"/>
                <a:cs typeface="Arial"/>
                <a:sym typeface="Arial"/>
              </a:endParaRPr>
            </a:p>
          </p:txBody>
        </p:sp>
        <p:sp>
          <p:nvSpPr>
            <p:cNvPr id="1191" name="Google Shape;1191;p154"/>
            <p:cNvSpPr/>
            <p:nvPr/>
          </p:nvSpPr>
          <p:spPr>
            <a:xfrm>
              <a:off x="7759440" y="353916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1192" name="Google Shape;1192;p154"/>
            <p:cNvSpPr/>
            <p:nvPr/>
          </p:nvSpPr>
          <p:spPr>
            <a:xfrm>
              <a:off x="7759440" y="370260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1193" name="Google Shape;1193;p154"/>
          <p:cNvSpPr/>
          <p:nvPr/>
        </p:nvSpPr>
        <p:spPr>
          <a:xfrm rot="10800000">
            <a:off x="1804320" y="2377080"/>
            <a:ext cx="2233800" cy="8308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sp>
        <p:nvSpPr>
          <p:cNvPr id="1194" name="Google Shape;1194;p154"/>
          <p:cNvSpPr/>
          <p:nvPr/>
        </p:nvSpPr>
        <p:spPr>
          <a:xfrm flipH="1">
            <a:off x="7223040" y="3569040"/>
            <a:ext cx="231840" cy="828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grpSp>
        <p:nvGrpSpPr>
          <p:cNvPr id="1195" name="Google Shape;1195;p154"/>
          <p:cNvGrpSpPr/>
          <p:nvPr/>
        </p:nvGrpSpPr>
        <p:grpSpPr>
          <a:xfrm>
            <a:off x="5603760" y="2754720"/>
            <a:ext cx="1618920" cy="1645920"/>
            <a:chOff x="5603760" y="2754720"/>
            <a:chExt cx="1618920" cy="1645920"/>
          </a:xfrm>
        </p:grpSpPr>
        <p:sp>
          <p:nvSpPr>
            <p:cNvPr id="1196" name="Google Shape;1196;p154"/>
            <p:cNvSpPr/>
            <p:nvPr/>
          </p:nvSpPr>
          <p:spPr>
            <a:xfrm>
              <a:off x="5603760" y="2754720"/>
              <a:ext cx="1618920" cy="1645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Mapping Services</a:t>
              </a:r>
              <a:endParaRPr b="0" i="0" sz="1100" u="none" cap="none" strike="noStrike">
                <a:latin typeface="Arial"/>
                <a:ea typeface="Arial"/>
                <a:cs typeface="Arial"/>
                <a:sym typeface="Arial"/>
              </a:endParaRPr>
            </a:p>
          </p:txBody>
        </p:sp>
        <p:sp>
          <p:nvSpPr>
            <p:cNvPr id="1197" name="Google Shape;1197;p154"/>
            <p:cNvSpPr/>
            <p:nvPr/>
          </p:nvSpPr>
          <p:spPr>
            <a:xfrm>
              <a:off x="5931720" y="34153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Properties</a:t>
              </a:r>
              <a:endParaRPr b="0" i="0" sz="800" u="none" cap="none" strike="noStrike">
                <a:latin typeface="Arial"/>
                <a:ea typeface="Arial"/>
                <a:cs typeface="Arial"/>
                <a:sym typeface="Arial"/>
              </a:endParaRPr>
            </a:p>
          </p:txBody>
        </p:sp>
        <p:sp>
          <p:nvSpPr>
            <p:cNvPr id="1198" name="Google Shape;1198;p154"/>
            <p:cNvSpPr/>
            <p:nvPr/>
          </p:nvSpPr>
          <p:spPr>
            <a:xfrm>
              <a:off x="5931720" y="31957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p:txBody>
        </p:sp>
        <p:sp>
          <p:nvSpPr>
            <p:cNvPr id="1199" name="Google Shape;1199;p154"/>
            <p:cNvSpPr/>
            <p:nvPr/>
          </p:nvSpPr>
          <p:spPr>
            <a:xfrm>
              <a:off x="5931720" y="3643920"/>
              <a:ext cx="977760" cy="241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Terms &amp; Alternate Labels</a:t>
              </a:r>
              <a:endParaRPr b="0" i="0" sz="800" u="none" cap="none" strike="noStrike">
                <a:latin typeface="Arial"/>
                <a:ea typeface="Arial"/>
                <a:cs typeface="Arial"/>
                <a:sym typeface="Arial"/>
              </a:endParaRPr>
            </a:p>
          </p:txBody>
        </p:sp>
        <p:sp>
          <p:nvSpPr>
            <p:cNvPr id="1200" name="Google Shape;1200;p154"/>
            <p:cNvSpPr/>
            <p:nvPr/>
          </p:nvSpPr>
          <p:spPr>
            <a:xfrm>
              <a:off x="5939640" y="39297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Relations</a:t>
              </a:r>
              <a:endParaRPr b="0" i="0" sz="800" u="none" cap="none" strike="noStrike">
                <a:latin typeface="Arial"/>
                <a:ea typeface="Arial"/>
                <a:cs typeface="Arial"/>
                <a:sym typeface="Arial"/>
              </a:endParaRPr>
            </a:p>
          </p:txBody>
        </p:sp>
        <p:sp>
          <p:nvSpPr>
            <p:cNvPr id="1201" name="Google Shape;1201;p154"/>
            <p:cNvSpPr/>
            <p:nvPr/>
          </p:nvSpPr>
          <p:spPr>
            <a:xfrm>
              <a:off x="5939640" y="41583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1202" name="Google Shape;1202;p154"/>
          <p:cNvSpPr/>
          <p:nvPr/>
        </p:nvSpPr>
        <p:spPr>
          <a:xfrm flipH="1" rot="10800000">
            <a:off x="4090125" y="2429044"/>
            <a:ext cx="1849176" cy="775656"/>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sp>
        <p:nvSpPr>
          <p:cNvPr id="1203" name="Google Shape;1203;p154"/>
          <p:cNvSpPr/>
          <p:nvPr/>
        </p:nvSpPr>
        <p:spPr>
          <a:xfrm>
            <a:off x="3126600" y="1181880"/>
            <a:ext cx="1806120" cy="1255320"/>
          </a:xfrm>
          <a:prstGeom prst="roundRect">
            <a:avLst>
              <a:gd fmla="val 16667" name="adj"/>
            </a:avLst>
          </a:prstGeom>
          <a:solidFill>
            <a:srgbClr val="D8D8D8"/>
          </a:solidFill>
          <a:ln cap="flat" cmpd="sng" w="28425">
            <a:solidFill>
              <a:srgbClr val="F50A2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Schema Mapping Ontologies</a:t>
            </a:r>
            <a:endParaRPr b="0" i="0" sz="900" u="none" cap="none" strike="noStrike">
              <a:latin typeface="Arial"/>
              <a:ea typeface="Arial"/>
              <a:cs typeface="Arial"/>
              <a:sym typeface="Arial"/>
            </a:endParaRPr>
          </a:p>
        </p:txBody>
      </p:sp>
      <p:grpSp>
        <p:nvGrpSpPr>
          <p:cNvPr id="1204" name="Google Shape;1204;p154"/>
          <p:cNvGrpSpPr/>
          <p:nvPr/>
        </p:nvGrpSpPr>
        <p:grpSpPr>
          <a:xfrm>
            <a:off x="3404520" y="1608840"/>
            <a:ext cx="1249560" cy="767520"/>
            <a:chOff x="3404520" y="1608840"/>
            <a:chExt cx="1249560" cy="767520"/>
          </a:xfrm>
        </p:grpSpPr>
        <p:pic>
          <p:nvPicPr>
            <p:cNvPr id="1205" name="Google Shape;1205;p154"/>
            <p:cNvPicPr preferRelativeResize="0"/>
            <p:nvPr/>
          </p:nvPicPr>
          <p:blipFill rotWithShape="1">
            <a:blip r:embed="rId3">
              <a:alphaModFix/>
            </a:blip>
            <a:srcRect b="0" l="0" r="0" t="0"/>
            <a:stretch/>
          </p:blipFill>
          <p:spPr>
            <a:xfrm>
              <a:off x="3404520" y="1608840"/>
              <a:ext cx="411480" cy="380520"/>
            </a:xfrm>
            <a:prstGeom prst="rect">
              <a:avLst/>
            </a:prstGeom>
            <a:noFill/>
            <a:ln>
              <a:noFill/>
            </a:ln>
          </p:spPr>
        </p:pic>
        <p:pic>
          <p:nvPicPr>
            <p:cNvPr id="1206" name="Google Shape;1206;p154"/>
            <p:cNvPicPr preferRelativeResize="0"/>
            <p:nvPr/>
          </p:nvPicPr>
          <p:blipFill rotWithShape="1">
            <a:blip r:embed="rId3">
              <a:alphaModFix/>
            </a:blip>
            <a:srcRect b="0" l="0" r="0" t="0"/>
            <a:stretch/>
          </p:blipFill>
          <p:spPr>
            <a:xfrm>
              <a:off x="3823560" y="1608840"/>
              <a:ext cx="411480" cy="380520"/>
            </a:xfrm>
            <a:prstGeom prst="rect">
              <a:avLst/>
            </a:prstGeom>
            <a:noFill/>
            <a:ln>
              <a:noFill/>
            </a:ln>
          </p:spPr>
        </p:pic>
        <p:pic>
          <p:nvPicPr>
            <p:cNvPr id="1207" name="Google Shape;1207;p154"/>
            <p:cNvPicPr preferRelativeResize="0"/>
            <p:nvPr/>
          </p:nvPicPr>
          <p:blipFill rotWithShape="1">
            <a:blip r:embed="rId3">
              <a:alphaModFix/>
            </a:blip>
            <a:srcRect b="0" l="0" r="0" t="0"/>
            <a:stretch/>
          </p:blipFill>
          <p:spPr>
            <a:xfrm>
              <a:off x="4242600" y="1608840"/>
              <a:ext cx="411480" cy="380520"/>
            </a:xfrm>
            <a:prstGeom prst="rect">
              <a:avLst/>
            </a:prstGeom>
            <a:noFill/>
            <a:ln>
              <a:noFill/>
            </a:ln>
          </p:spPr>
        </p:pic>
        <p:pic>
          <p:nvPicPr>
            <p:cNvPr id="1208" name="Google Shape;1208;p154"/>
            <p:cNvPicPr preferRelativeResize="0"/>
            <p:nvPr/>
          </p:nvPicPr>
          <p:blipFill rotWithShape="1">
            <a:blip r:embed="rId3">
              <a:alphaModFix/>
            </a:blip>
            <a:srcRect b="0" l="0" r="0" t="0"/>
            <a:stretch/>
          </p:blipFill>
          <p:spPr>
            <a:xfrm>
              <a:off x="3404520" y="1995840"/>
              <a:ext cx="411480" cy="380520"/>
            </a:xfrm>
            <a:prstGeom prst="rect">
              <a:avLst/>
            </a:prstGeom>
            <a:noFill/>
            <a:ln>
              <a:noFill/>
            </a:ln>
          </p:spPr>
        </p:pic>
        <p:pic>
          <p:nvPicPr>
            <p:cNvPr id="1209" name="Google Shape;1209;p154"/>
            <p:cNvPicPr preferRelativeResize="0"/>
            <p:nvPr/>
          </p:nvPicPr>
          <p:blipFill rotWithShape="1">
            <a:blip r:embed="rId3">
              <a:alphaModFix/>
            </a:blip>
            <a:srcRect b="0" l="0" r="0" t="0"/>
            <a:stretch/>
          </p:blipFill>
          <p:spPr>
            <a:xfrm>
              <a:off x="3823560" y="1995840"/>
              <a:ext cx="411480" cy="380520"/>
            </a:xfrm>
            <a:prstGeom prst="rect">
              <a:avLst/>
            </a:prstGeom>
            <a:noFill/>
            <a:ln>
              <a:noFill/>
            </a:ln>
          </p:spPr>
        </p:pic>
        <p:pic>
          <p:nvPicPr>
            <p:cNvPr id="1210" name="Google Shape;1210;p154"/>
            <p:cNvPicPr preferRelativeResize="0"/>
            <p:nvPr/>
          </p:nvPicPr>
          <p:blipFill rotWithShape="1">
            <a:blip r:embed="rId3">
              <a:alphaModFix/>
            </a:blip>
            <a:srcRect b="0" l="0" r="0" t="0"/>
            <a:stretch/>
          </p:blipFill>
          <p:spPr>
            <a:xfrm>
              <a:off x="4242600" y="1995840"/>
              <a:ext cx="411480" cy="380520"/>
            </a:xfrm>
            <a:prstGeom prst="rect">
              <a:avLst/>
            </a:prstGeom>
            <a:noFill/>
            <a:ln>
              <a:noFill/>
            </a:ln>
          </p:spPr>
        </p:pic>
      </p:grpSp>
      <p:sp>
        <p:nvSpPr>
          <p:cNvPr id="1211" name="Google Shape;1211;p154"/>
          <p:cNvSpPr/>
          <p:nvPr/>
        </p:nvSpPr>
        <p:spPr>
          <a:xfrm rot="10800000">
            <a:off x="4030200" y="2438280"/>
            <a:ext cx="7920" cy="76968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pic>
        <p:nvPicPr>
          <p:cNvPr id="1212" name="Google Shape;1212;p154"/>
          <p:cNvPicPr preferRelativeResize="0"/>
          <p:nvPr/>
        </p:nvPicPr>
        <p:blipFill rotWithShape="1">
          <a:blip r:embed="rId4">
            <a:alphaModFix/>
          </a:blip>
          <a:srcRect b="0" l="0" r="0" t="0"/>
          <a:stretch/>
        </p:blipFill>
        <p:spPr>
          <a:xfrm>
            <a:off x="544680" y="1193040"/>
            <a:ext cx="2518200" cy="1202040"/>
          </a:xfrm>
          <a:prstGeom prst="rect">
            <a:avLst/>
          </a:prstGeom>
          <a:noFill/>
          <a:ln>
            <a:noFill/>
          </a:ln>
        </p:spPr>
      </p:pic>
      <p:grpSp>
        <p:nvGrpSpPr>
          <p:cNvPr id="1213" name="Google Shape;1213;p154"/>
          <p:cNvGrpSpPr/>
          <p:nvPr/>
        </p:nvGrpSpPr>
        <p:grpSpPr>
          <a:xfrm>
            <a:off x="8549640" y="0"/>
            <a:ext cx="594000" cy="679680"/>
            <a:chOff x="8549640" y="0"/>
            <a:chExt cx="594000" cy="679680"/>
          </a:xfrm>
        </p:grpSpPr>
        <p:sp>
          <p:nvSpPr>
            <p:cNvPr id="1214" name="Google Shape;1214;p154"/>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5" name="Google Shape;1215;p154"/>
            <p:cNvGrpSpPr/>
            <p:nvPr/>
          </p:nvGrpSpPr>
          <p:grpSpPr>
            <a:xfrm>
              <a:off x="8588160" y="0"/>
              <a:ext cx="555480" cy="679680"/>
              <a:chOff x="8588160" y="0"/>
              <a:chExt cx="555480" cy="679680"/>
            </a:xfrm>
          </p:grpSpPr>
          <p:pic>
            <p:nvPicPr>
              <p:cNvPr id="1216" name="Google Shape;1216;p154"/>
              <p:cNvPicPr preferRelativeResize="0"/>
              <p:nvPr/>
            </p:nvPicPr>
            <p:blipFill rotWithShape="1">
              <a:blip r:embed="rId5">
                <a:alphaModFix/>
              </a:blip>
              <a:srcRect b="0" l="20669" r="9844" t="0"/>
              <a:stretch/>
            </p:blipFill>
            <p:spPr>
              <a:xfrm>
                <a:off x="8588160" y="0"/>
                <a:ext cx="530640" cy="530640"/>
              </a:xfrm>
              <a:prstGeom prst="rect">
                <a:avLst/>
              </a:prstGeom>
              <a:noFill/>
              <a:ln>
                <a:noFill/>
              </a:ln>
            </p:spPr>
          </p:pic>
          <p:sp>
            <p:nvSpPr>
              <p:cNvPr id="1217" name="Google Shape;1217;p154"/>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155"/>
          <p:cNvSpPr/>
          <p:nvPr/>
        </p:nvSpPr>
        <p:spPr>
          <a:xfrm>
            <a:off x="2999520" y="3111480"/>
            <a:ext cx="146952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(Progress Search, Dynamic Context, Augmented Intelligence)</a:t>
            </a:r>
            <a:endParaRPr b="0" i="0" sz="600" u="none" cap="none" strike="noStrike">
              <a:latin typeface="Arial"/>
              <a:ea typeface="Arial"/>
              <a:cs typeface="Arial"/>
              <a:sym typeface="Arial"/>
            </a:endParaRPr>
          </a:p>
        </p:txBody>
      </p:sp>
      <p:sp>
        <p:nvSpPr>
          <p:cNvPr id="1223" name="Google Shape;1223;p155"/>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Services: </a:t>
            </a:r>
            <a:r>
              <a:rPr b="1" i="0" lang="en-US" sz="2000" u="none" cap="none" strike="noStrike">
                <a:solidFill>
                  <a:srgbClr val="0089EC"/>
                </a:solidFill>
                <a:latin typeface="Arial"/>
                <a:ea typeface="Arial"/>
                <a:cs typeface="Arial"/>
                <a:sym typeface="Arial"/>
              </a:rPr>
              <a:t>Push Knowledge and/or Pull Relevant Search  </a:t>
            </a:r>
            <a:endParaRPr b="0" i="0" sz="2000" u="none" cap="none" strike="noStrike">
              <a:latin typeface="Arial"/>
              <a:ea typeface="Arial"/>
              <a:cs typeface="Arial"/>
              <a:sym typeface="Arial"/>
            </a:endParaRPr>
          </a:p>
        </p:txBody>
      </p:sp>
      <p:grpSp>
        <p:nvGrpSpPr>
          <p:cNvPr id="1224" name="Google Shape;1224;p155"/>
          <p:cNvGrpSpPr/>
          <p:nvPr/>
        </p:nvGrpSpPr>
        <p:grpSpPr>
          <a:xfrm>
            <a:off x="445320" y="756000"/>
            <a:ext cx="6578640" cy="1815120"/>
            <a:chOff x="445320" y="756000"/>
            <a:chExt cx="6578640" cy="1815120"/>
          </a:xfrm>
        </p:grpSpPr>
        <p:sp>
          <p:nvSpPr>
            <p:cNvPr id="1225" name="Google Shape;1225;p155"/>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p:txBody>
        </p:sp>
        <p:sp>
          <p:nvSpPr>
            <p:cNvPr id="1226" name="Google Shape;1226;p155"/>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1227" name="Google Shape;1227;p155"/>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28" name="Google Shape;1228;p155"/>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29" name="Google Shape;1229;p155"/>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30" name="Google Shape;1230;p155"/>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31" name="Google Shape;1231;p155"/>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232" name="Google Shape;1232;p155"/>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233" name="Google Shape;1233;p155"/>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1234" name="Google Shape;1234;p155"/>
          <p:cNvGrpSpPr/>
          <p:nvPr/>
        </p:nvGrpSpPr>
        <p:grpSpPr>
          <a:xfrm>
            <a:off x="3404520" y="1608840"/>
            <a:ext cx="1249560" cy="767520"/>
            <a:chOff x="3404520" y="1608840"/>
            <a:chExt cx="1249560" cy="767520"/>
          </a:xfrm>
        </p:grpSpPr>
        <p:pic>
          <p:nvPicPr>
            <p:cNvPr id="1235" name="Google Shape;1235;p155"/>
            <p:cNvPicPr preferRelativeResize="0"/>
            <p:nvPr/>
          </p:nvPicPr>
          <p:blipFill rotWithShape="1">
            <a:blip r:embed="rId3">
              <a:alphaModFix/>
            </a:blip>
            <a:srcRect b="0" l="0" r="0" t="0"/>
            <a:stretch/>
          </p:blipFill>
          <p:spPr>
            <a:xfrm>
              <a:off x="3404520" y="1608840"/>
              <a:ext cx="411480" cy="380520"/>
            </a:xfrm>
            <a:prstGeom prst="rect">
              <a:avLst/>
            </a:prstGeom>
            <a:noFill/>
            <a:ln>
              <a:noFill/>
            </a:ln>
          </p:spPr>
        </p:pic>
        <p:pic>
          <p:nvPicPr>
            <p:cNvPr id="1236" name="Google Shape;1236;p155"/>
            <p:cNvPicPr preferRelativeResize="0"/>
            <p:nvPr/>
          </p:nvPicPr>
          <p:blipFill rotWithShape="1">
            <a:blip r:embed="rId3">
              <a:alphaModFix/>
            </a:blip>
            <a:srcRect b="0" l="0" r="0" t="0"/>
            <a:stretch/>
          </p:blipFill>
          <p:spPr>
            <a:xfrm>
              <a:off x="3823560" y="1608840"/>
              <a:ext cx="411480" cy="380520"/>
            </a:xfrm>
            <a:prstGeom prst="rect">
              <a:avLst/>
            </a:prstGeom>
            <a:noFill/>
            <a:ln>
              <a:noFill/>
            </a:ln>
          </p:spPr>
        </p:pic>
        <p:pic>
          <p:nvPicPr>
            <p:cNvPr id="1237" name="Google Shape;1237;p155"/>
            <p:cNvPicPr preferRelativeResize="0"/>
            <p:nvPr/>
          </p:nvPicPr>
          <p:blipFill rotWithShape="1">
            <a:blip r:embed="rId3">
              <a:alphaModFix/>
            </a:blip>
            <a:srcRect b="0" l="0" r="0" t="0"/>
            <a:stretch/>
          </p:blipFill>
          <p:spPr>
            <a:xfrm>
              <a:off x="4242600" y="1608840"/>
              <a:ext cx="411480" cy="380520"/>
            </a:xfrm>
            <a:prstGeom prst="rect">
              <a:avLst/>
            </a:prstGeom>
            <a:noFill/>
            <a:ln>
              <a:noFill/>
            </a:ln>
          </p:spPr>
        </p:pic>
        <p:pic>
          <p:nvPicPr>
            <p:cNvPr id="1238" name="Google Shape;1238;p155"/>
            <p:cNvPicPr preferRelativeResize="0"/>
            <p:nvPr/>
          </p:nvPicPr>
          <p:blipFill rotWithShape="1">
            <a:blip r:embed="rId3">
              <a:alphaModFix/>
            </a:blip>
            <a:srcRect b="0" l="0" r="0" t="0"/>
            <a:stretch/>
          </p:blipFill>
          <p:spPr>
            <a:xfrm>
              <a:off x="3404520" y="1995840"/>
              <a:ext cx="411480" cy="380520"/>
            </a:xfrm>
            <a:prstGeom prst="rect">
              <a:avLst/>
            </a:prstGeom>
            <a:noFill/>
            <a:ln>
              <a:noFill/>
            </a:ln>
          </p:spPr>
        </p:pic>
        <p:pic>
          <p:nvPicPr>
            <p:cNvPr id="1239" name="Google Shape;1239;p155"/>
            <p:cNvPicPr preferRelativeResize="0"/>
            <p:nvPr/>
          </p:nvPicPr>
          <p:blipFill rotWithShape="1">
            <a:blip r:embed="rId3">
              <a:alphaModFix/>
            </a:blip>
            <a:srcRect b="0" l="0" r="0" t="0"/>
            <a:stretch/>
          </p:blipFill>
          <p:spPr>
            <a:xfrm>
              <a:off x="3823560" y="1995840"/>
              <a:ext cx="411480" cy="380520"/>
            </a:xfrm>
            <a:prstGeom prst="rect">
              <a:avLst/>
            </a:prstGeom>
            <a:noFill/>
            <a:ln>
              <a:noFill/>
            </a:ln>
          </p:spPr>
        </p:pic>
        <p:pic>
          <p:nvPicPr>
            <p:cNvPr id="1240" name="Google Shape;1240;p155"/>
            <p:cNvPicPr preferRelativeResize="0"/>
            <p:nvPr/>
          </p:nvPicPr>
          <p:blipFill rotWithShape="1">
            <a:blip r:embed="rId3">
              <a:alphaModFix/>
            </a:blip>
            <a:srcRect b="0" l="0" r="0" t="0"/>
            <a:stretch/>
          </p:blipFill>
          <p:spPr>
            <a:xfrm>
              <a:off x="4242600" y="1995840"/>
              <a:ext cx="411480" cy="380520"/>
            </a:xfrm>
            <a:prstGeom prst="rect">
              <a:avLst/>
            </a:prstGeom>
            <a:noFill/>
            <a:ln>
              <a:noFill/>
            </a:ln>
          </p:spPr>
        </p:pic>
      </p:grpSp>
      <p:sp>
        <p:nvSpPr>
          <p:cNvPr id="1241" name="Google Shape;1241;p155"/>
          <p:cNvSpPr/>
          <p:nvPr/>
        </p:nvSpPr>
        <p:spPr>
          <a:xfrm rot="10800000">
            <a:off x="3734280" y="2572200"/>
            <a:ext cx="360" cy="5392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med" w="med" type="triangle"/>
          </a:ln>
        </p:spPr>
      </p:sp>
      <p:pic>
        <p:nvPicPr>
          <p:cNvPr id="1242" name="Google Shape;1242;p155"/>
          <p:cNvPicPr preferRelativeResize="0"/>
          <p:nvPr/>
        </p:nvPicPr>
        <p:blipFill rotWithShape="1">
          <a:blip r:embed="rId4">
            <a:alphaModFix/>
          </a:blip>
          <a:srcRect b="0" l="0" r="0" t="0"/>
          <a:stretch/>
        </p:blipFill>
        <p:spPr>
          <a:xfrm>
            <a:off x="5014440" y="2799720"/>
            <a:ext cx="3771360" cy="1345320"/>
          </a:xfrm>
          <a:prstGeom prst="rect">
            <a:avLst/>
          </a:prstGeom>
          <a:noFill/>
          <a:ln>
            <a:noFill/>
          </a:ln>
        </p:spPr>
      </p:pic>
      <p:sp>
        <p:nvSpPr>
          <p:cNvPr id="1243" name="Google Shape;1243;p155"/>
          <p:cNvSpPr/>
          <p:nvPr/>
        </p:nvSpPr>
        <p:spPr>
          <a:xfrm>
            <a:off x="4469760" y="3472560"/>
            <a:ext cx="544320" cy="36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med" w="med" type="triangle"/>
          </a:ln>
        </p:spPr>
      </p:sp>
      <p:pic>
        <p:nvPicPr>
          <p:cNvPr id="1244" name="Google Shape;1244;p155"/>
          <p:cNvPicPr preferRelativeResize="0"/>
          <p:nvPr/>
        </p:nvPicPr>
        <p:blipFill rotWithShape="1">
          <a:blip r:embed="rId5">
            <a:alphaModFix/>
          </a:blip>
          <a:srcRect b="0" l="0" r="0" t="0"/>
          <a:stretch/>
        </p:blipFill>
        <p:spPr>
          <a:xfrm>
            <a:off x="544680" y="1193040"/>
            <a:ext cx="2518200" cy="1202040"/>
          </a:xfrm>
          <a:prstGeom prst="rect">
            <a:avLst/>
          </a:prstGeom>
          <a:noFill/>
          <a:ln>
            <a:noFill/>
          </a:ln>
        </p:spPr>
      </p:pic>
      <p:sp>
        <p:nvSpPr>
          <p:cNvPr id="1245" name="Google Shape;1245;p155"/>
          <p:cNvSpPr/>
          <p:nvPr/>
        </p:nvSpPr>
        <p:spPr>
          <a:xfrm>
            <a:off x="5206680" y="2865960"/>
            <a:ext cx="2378520" cy="20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ctr" bIns="69100" lIns="69100" spcFirstLastPara="1" rIns="6910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Relevancy at Scale</a:t>
            </a:r>
            <a:endParaRPr b="0" i="0" sz="1000" u="none" cap="none" strike="noStrike">
              <a:latin typeface="Arial"/>
              <a:ea typeface="Arial"/>
              <a:cs typeface="Arial"/>
              <a:sym typeface="Arial"/>
            </a:endParaRPr>
          </a:p>
        </p:txBody>
      </p:sp>
      <p:grpSp>
        <p:nvGrpSpPr>
          <p:cNvPr id="1246" name="Google Shape;1246;p155"/>
          <p:cNvGrpSpPr/>
          <p:nvPr/>
        </p:nvGrpSpPr>
        <p:grpSpPr>
          <a:xfrm>
            <a:off x="8549640" y="0"/>
            <a:ext cx="594000" cy="679680"/>
            <a:chOff x="8549640" y="0"/>
            <a:chExt cx="594000" cy="679680"/>
          </a:xfrm>
        </p:grpSpPr>
        <p:sp>
          <p:nvSpPr>
            <p:cNvPr id="1247" name="Google Shape;1247;p155"/>
            <p:cNvSpPr/>
            <p:nvPr/>
          </p:nvSpPr>
          <p:spPr>
            <a:xfrm>
              <a:off x="854964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48" name="Google Shape;1248;p155"/>
            <p:cNvGrpSpPr/>
            <p:nvPr/>
          </p:nvGrpSpPr>
          <p:grpSpPr>
            <a:xfrm>
              <a:off x="8588160" y="0"/>
              <a:ext cx="555480" cy="679680"/>
              <a:chOff x="8588160" y="0"/>
              <a:chExt cx="555480" cy="679680"/>
            </a:xfrm>
          </p:grpSpPr>
          <p:pic>
            <p:nvPicPr>
              <p:cNvPr id="1249" name="Google Shape;1249;p155"/>
              <p:cNvPicPr preferRelativeResize="0"/>
              <p:nvPr/>
            </p:nvPicPr>
            <p:blipFill rotWithShape="1">
              <a:blip r:embed="rId6">
                <a:alphaModFix/>
              </a:blip>
              <a:srcRect b="0" l="20669" r="9844" t="0"/>
              <a:stretch/>
            </p:blipFill>
            <p:spPr>
              <a:xfrm>
                <a:off x="8588160" y="0"/>
                <a:ext cx="530640" cy="530640"/>
              </a:xfrm>
              <a:prstGeom prst="rect">
                <a:avLst/>
              </a:prstGeom>
              <a:noFill/>
              <a:ln>
                <a:noFill/>
              </a:ln>
            </p:spPr>
          </p:pic>
          <p:sp>
            <p:nvSpPr>
              <p:cNvPr id="1250" name="Google Shape;1250;p155"/>
              <p:cNvSpPr/>
              <p:nvPr/>
            </p:nvSpPr>
            <p:spPr>
              <a:xfrm>
                <a:off x="858816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0089EC"/>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56"/>
          <p:cNvSpPr txBox="1"/>
          <p:nvPr/>
        </p:nvSpPr>
        <p:spPr>
          <a:xfrm>
            <a:off x="473760" y="469080"/>
            <a:ext cx="6800760" cy="1324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None/>
            </a:pPr>
            <a:r>
              <a:rPr b="1" i="0" lang="en-US" sz="5000" u="none" cap="none" strike="noStrike">
                <a:solidFill>
                  <a:srgbClr val="F50A23"/>
                </a:solidFill>
                <a:latin typeface="Arial"/>
                <a:ea typeface="Arial"/>
                <a:cs typeface="Arial"/>
                <a:sym typeface="Arial"/>
              </a:rPr>
              <a:t>Appendix</a:t>
            </a:r>
            <a:endParaRPr b="0" i="0" sz="5000" u="none" cap="none" strike="noStrike">
              <a:solidFill>
                <a:srgbClr val="000000"/>
              </a:solidFill>
              <a:latin typeface="Arial"/>
              <a:ea typeface="Arial"/>
              <a:cs typeface="Arial"/>
              <a:sym typeface="Arial"/>
            </a:endParaRPr>
          </a:p>
        </p:txBody>
      </p:sp>
      <p:sp>
        <p:nvSpPr>
          <p:cNvPr id="1256" name="Google Shape;1256;p156"/>
          <p:cNvSpPr txBox="1"/>
          <p:nvPr/>
        </p:nvSpPr>
        <p:spPr>
          <a:xfrm>
            <a:off x="473760" y="2629080"/>
            <a:ext cx="4046760" cy="1314360"/>
          </a:xfrm>
          <a:prstGeom prst="rect">
            <a:avLst/>
          </a:prstGeom>
          <a:noFill/>
          <a:ln>
            <a:noFill/>
          </a:ln>
        </p:spPr>
        <p:txBody>
          <a:bodyPr anchorCtr="0" anchor="t" bIns="0" lIns="0" spcFirstLastPara="1" rIns="0" wrap="square" tIns="0">
            <a:normAutofit/>
          </a:bodyPr>
          <a:lstStyle/>
          <a:p>
            <a:pPr indent="0" lvl="0" marL="0" marR="0" rtl="0" algn="l">
              <a:lnSpc>
                <a:spcPct val="98000"/>
              </a:lnSpc>
              <a:spcBef>
                <a:spcPts val="0"/>
              </a:spcBef>
              <a:spcAft>
                <a:spcPts val="0"/>
              </a:spcAft>
              <a:buNone/>
            </a:pPr>
            <a:r>
              <a:rPr b="1" i="0" lang="en-US" sz="2400" u="none" cap="none" strike="noStrike">
                <a:solidFill>
                  <a:srgbClr val="FFFFFF"/>
                </a:solidFill>
                <a:latin typeface="Arial"/>
                <a:ea typeface="Arial"/>
                <a:cs typeface="Arial"/>
                <a:sym typeface="Arial"/>
              </a:rPr>
              <a:t>Supporting Materials</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157"/>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262" name="Google Shape;1262;p157"/>
          <p:cNvSpPr/>
          <p:nvPr/>
        </p:nvSpPr>
        <p:spPr>
          <a:xfrm>
            <a:off x="1483200" y="920160"/>
            <a:ext cx="2566800" cy="731160"/>
          </a:xfrm>
          <a:prstGeom prst="rect">
            <a:avLst/>
          </a:prstGeom>
          <a:solidFill>
            <a:srgbClr val="F3EDE0"/>
          </a:solidFill>
          <a:ln cap="flat" cmpd="sng" w="1907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Delivery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(Inbound + Processing)</a:t>
            </a:r>
            <a:endParaRPr b="0" i="0" sz="1100" u="none" cap="none" strike="noStrike">
              <a:latin typeface="Arial"/>
              <a:ea typeface="Arial"/>
              <a:cs typeface="Arial"/>
              <a:sym typeface="Arial"/>
            </a:endParaRPr>
          </a:p>
        </p:txBody>
      </p:sp>
      <p:sp>
        <p:nvSpPr>
          <p:cNvPr id="1263" name="Google Shape;1263;p157"/>
          <p:cNvSpPr/>
          <p:nvPr/>
        </p:nvSpPr>
        <p:spPr>
          <a:xfrm>
            <a:off x="4427280" y="920160"/>
            <a:ext cx="2353320" cy="731160"/>
          </a:xfrm>
          <a:prstGeom prst="rect">
            <a:avLst/>
          </a:prstGeom>
          <a:solidFill>
            <a:srgbClr val="F3EDE0"/>
          </a:solidFill>
          <a:ln cap="flat" cmpd="sng" w="1907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Delivery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(Outbound)</a:t>
            </a:r>
            <a:endParaRPr b="0" i="0" sz="1100" u="none" cap="none" strike="noStrike">
              <a:latin typeface="Arial"/>
              <a:ea typeface="Arial"/>
              <a:cs typeface="Arial"/>
              <a:sym typeface="Arial"/>
            </a:endParaRPr>
          </a:p>
        </p:txBody>
      </p:sp>
      <p:sp>
        <p:nvSpPr>
          <p:cNvPr id="1264" name="Google Shape;1264;p157"/>
          <p:cNvSpPr/>
          <p:nvPr/>
        </p:nvSpPr>
        <p:spPr>
          <a:xfrm>
            <a:off x="1483200" y="2051280"/>
            <a:ext cx="2566800" cy="731160"/>
          </a:xfrm>
          <a:prstGeom prst="rect">
            <a:avLst/>
          </a:prstGeom>
          <a:solidFill>
            <a:srgbClr val="F3EDE0"/>
          </a:solidFill>
          <a:ln cap="flat" cmpd="sng" w="1907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Improvement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(Demand = Intake)</a:t>
            </a:r>
            <a:endParaRPr b="0" i="0" sz="1100" u="none" cap="none" strike="noStrike">
              <a:latin typeface="Arial"/>
              <a:ea typeface="Arial"/>
              <a:cs typeface="Arial"/>
              <a:sym typeface="Arial"/>
            </a:endParaRPr>
          </a:p>
        </p:txBody>
      </p:sp>
      <p:sp>
        <p:nvSpPr>
          <p:cNvPr id="1265" name="Google Shape;1265;p157"/>
          <p:cNvSpPr/>
          <p:nvPr/>
        </p:nvSpPr>
        <p:spPr>
          <a:xfrm>
            <a:off x="4427280" y="2051280"/>
            <a:ext cx="2566800" cy="731160"/>
          </a:xfrm>
          <a:prstGeom prst="rect">
            <a:avLst/>
          </a:prstGeom>
          <a:solidFill>
            <a:srgbClr val="F3EDE0"/>
          </a:solidFill>
          <a:ln cap="flat" cmpd="sng" w="1907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Improvement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(Lifecycle Management)</a:t>
            </a:r>
            <a:endParaRPr b="0" i="0" sz="1100" u="none" cap="none" strike="noStrike">
              <a:latin typeface="Arial"/>
              <a:ea typeface="Arial"/>
              <a:cs typeface="Arial"/>
              <a:sym typeface="Arial"/>
            </a:endParaRPr>
          </a:p>
        </p:txBody>
      </p:sp>
      <p:sp>
        <p:nvSpPr>
          <p:cNvPr id="1266" name="Google Shape;1266;p157"/>
          <p:cNvSpPr/>
          <p:nvPr/>
        </p:nvSpPr>
        <p:spPr>
          <a:xfrm>
            <a:off x="2702160" y="3212280"/>
            <a:ext cx="3089160" cy="731160"/>
          </a:xfrm>
          <a:prstGeom prst="rect">
            <a:avLst/>
          </a:prstGeom>
          <a:solidFill>
            <a:srgbClr val="F3EDE0"/>
          </a:solidFill>
          <a:ln cap="flat" cmpd="sng" w="1907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Service Operating Model</a:t>
            </a:r>
            <a:endParaRPr b="0" i="0" sz="14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(Monitor, Measure, Improve)</a:t>
            </a:r>
            <a:endParaRPr b="0" i="0" sz="1100" u="none" cap="none" strike="noStrike">
              <a:latin typeface="Arial"/>
              <a:ea typeface="Arial"/>
              <a:cs typeface="Arial"/>
              <a:sym typeface="Arial"/>
            </a:endParaRPr>
          </a:p>
        </p:txBody>
      </p:sp>
      <p:sp>
        <p:nvSpPr>
          <p:cNvPr id="1267" name="Google Shape;1267;p157"/>
          <p:cNvSpPr/>
          <p:nvPr/>
        </p:nvSpPr>
        <p:spPr>
          <a:xfrm flipH="1" rot="10800000">
            <a:off x="1154520" y="3011400"/>
            <a:ext cx="6138360" cy="7560"/>
          </a:xfrm>
          <a:custGeom>
            <a:rect b="b" l="l" r="r" t="t"/>
            <a:pathLst>
              <a:path extrusionOk="0" h="21600" w="21600">
                <a:moveTo>
                  <a:pt x="0" y="0"/>
                </a:moveTo>
                <a:lnTo>
                  <a:pt x="21600" y="21600"/>
                </a:lnTo>
              </a:path>
            </a:pathLst>
          </a:custGeom>
          <a:noFill/>
          <a:ln cap="flat" cmpd="sng" w="38150">
            <a:solidFill>
              <a:srgbClr val="F3EDE0"/>
            </a:solidFill>
            <a:prstDash val="dashDot"/>
            <a:round/>
            <a:headEnd len="sm" w="sm" type="none"/>
            <a:tailEnd len="sm" w="sm" type="none"/>
          </a:ln>
        </p:spPr>
      </p:sp>
      <p:sp>
        <p:nvSpPr>
          <p:cNvPr id="1268" name="Google Shape;1268;p157"/>
          <p:cNvSpPr/>
          <p:nvPr/>
        </p:nvSpPr>
        <p:spPr>
          <a:xfrm>
            <a:off x="939600" y="1285920"/>
            <a:ext cx="543240" cy="360"/>
          </a:xfrm>
          <a:custGeom>
            <a:rect b="b" l="l" r="r" t="t"/>
            <a:pathLst>
              <a:path extrusionOk="0" h="21600" w="21600">
                <a:moveTo>
                  <a:pt x="0" y="0"/>
                </a:moveTo>
                <a:lnTo>
                  <a:pt x="21600" y="21600"/>
                </a:lnTo>
              </a:path>
            </a:pathLst>
          </a:custGeom>
          <a:noFill/>
          <a:ln cap="flat" cmpd="sng" w="9525">
            <a:solidFill>
              <a:srgbClr val="7F7F7F"/>
            </a:solidFill>
            <a:prstDash val="solid"/>
            <a:round/>
            <a:headEnd len="sm" w="sm" type="none"/>
            <a:tailEnd len="med" w="med" type="triangle"/>
          </a:ln>
        </p:spPr>
      </p:sp>
      <p:grpSp>
        <p:nvGrpSpPr>
          <p:cNvPr id="1269" name="Google Shape;1269;p157"/>
          <p:cNvGrpSpPr/>
          <p:nvPr/>
        </p:nvGrpSpPr>
        <p:grpSpPr>
          <a:xfrm>
            <a:off x="378000" y="1038240"/>
            <a:ext cx="657360" cy="756000"/>
            <a:chOff x="378000" y="1038240"/>
            <a:chExt cx="657360" cy="756000"/>
          </a:xfrm>
        </p:grpSpPr>
        <p:pic>
          <p:nvPicPr>
            <p:cNvPr id="1270" name="Google Shape;1270;p157"/>
            <p:cNvPicPr preferRelativeResize="0"/>
            <p:nvPr/>
          </p:nvPicPr>
          <p:blipFill rotWithShape="1">
            <a:blip r:embed="rId3">
              <a:alphaModFix/>
            </a:blip>
            <a:srcRect b="0" l="0" r="0" t="0"/>
            <a:stretch/>
          </p:blipFill>
          <p:spPr>
            <a:xfrm>
              <a:off x="473760" y="1038240"/>
              <a:ext cx="465120" cy="495360"/>
            </a:xfrm>
            <a:prstGeom prst="rect">
              <a:avLst/>
            </a:prstGeom>
            <a:noFill/>
            <a:ln>
              <a:noFill/>
            </a:ln>
          </p:spPr>
        </p:pic>
        <p:sp>
          <p:nvSpPr>
            <p:cNvPr id="1271" name="Google Shape;1271;p157"/>
            <p:cNvSpPr/>
            <p:nvPr/>
          </p:nvSpPr>
          <p:spPr>
            <a:xfrm>
              <a:off x="378000" y="1572120"/>
              <a:ext cx="657360" cy="222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Supplier</a:t>
              </a:r>
              <a:endParaRPr b="0" i="0" sz="900" u="none" cap="none" strike="noStrike">
                <a:latin typeface="Arial"/>
                <a:ea typeface="Arial"/>
                <a:cs typeface="Arial"/>
                <a:sym typeface="Arial"/>
              </a:endParaRPr>
            </a:p>
          </p:txBody>
        </p:sp>
      </p:grpSp>
      <p:grpSp>
        <p:nvGrpSpPr>
          <p:cNvPr id="1272" name="Google Shape;1272;p157"/>
          <p:cNvGrpSpPr/>
          <p:nvPr/>
        </p:nvGrpSpPr>
        <p:grpSpPr>
          <a:xfrm>
            <a:off x="7584840" y="1038240"/>
            <a:ext cx="786960" cy="756000"/>
            <a:chOff x="7584840" y="1038240"/>
            <a:chExt cx="786960" cy="756000"/>
          </a:xfrm>
        </p:grpSpPr>
        <p:pic>
          <p:nvPicPr>
            <p:cNvPr id="1273" name="Google Shape;1273;p157"/>
            <p:cNvPicPr preferRelativeResize="0"/>
            <p:nvPr/>
          </p:nvPicPr>
          <p:blipFill rotWithShape="1">
            <a:blip r:embed="rId3">
              <a:alphaModFix/>
            </a:blip>
            <a:srcRect b="0" l="0" r="0" t="0"/>
            <a:stretch/>
          </p:blipFill>
          <p:spPr>
            <a:xfrm>
              <a:off x="7725960" y="1038240"/>
              <a:ext cx="465120" cy="495360"/>
            </a:xfrm>
            <a:prstGeom prst="rect">
              <a:avLst/>
            </a:prstGeom>
            <a:noFill/>
            <a:ln>
              <a:noFill/>
            </a:ln>
          </p:spPr>
        </p:pic>
        <p:sp>
          <p:nvSpPr>
            <p:cNvPr id="1274" name="Google Shape;1274;p157"/>
            <p:cNvSpPr/>
            <p:nvPr/>
          </p:nvSpPr>
          <p:spPr>
            <a:xfrm>
              <a:off x="7584840" y="1572120"/>
              <a:ext cx="786960" cy="2221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Consumer</a:t>
              </a:r>
              <a:endParaRPr b="0" i="0" sz="900" u="none" cap="none" strike="noStrike">
                <a:latin typeface="Arial"/>
                <a:ea typeface="Arial"/>
                <a:cs typeface="Arial"/>
                <a:sym typeface="Arial"/>
              </a:endParaRPr>
            </a:p>
          </p:txBody>
        </p:sp>
      </p:grpSp>
      <p:sp>
        <p:nvSpPr>
          <p:cNvPr id="1275" name="Google Shape;1275;p157"/>
          <p:cNvSpPr/>
          <p:nvPr/>
        </p:nvSpPr>
        <p:spPr>
          <a:xfrm>
            <a:off x="6781320" y="1285920"/>
            <a:ext cx="944280" cy="360"/>
          </a:xfrm>
          <a:custGeom>
            <a:rect b="b" l="l" r="r" t="t"/>
            <a:pathLst>
              <a:path extrusionOk="0" h="21600" w="21600">
                <a:moveTo>
                  <a:pt x="0" y="0"/>
                </a:moveTo>
                <a:lnTo>
                  <a:pt x="21600" y="21600"/>
                </a:lnTo>
              </a:path>
            </a:pathLst>
          </a:custGeom>
          <a:noFill/>
          <a:ln cap="flat" cmpd="sng" w="9525">
            <a:solidFill>
              <a:srgbClr val="7F7F7F"/>
            </a:solidFill>
            <a:prstDash val="solid"/>
            <a:round/>
            <a:headEnd len="sm" w="sm" type="none"/>
            <a:tailEnd len="med" w="med" type="triangle"/>
          </a:ln>
        </p:spPr>
      </p:sp>
      <p:sp>
        <p:nvSpPr>
          <p:cNvPr id="1276" name="Google Shape;1276;p157"/>
          <p:cNvSpPr/>
          <p:nvPr/>
        </p:nvSpPr>
        <p:spPr>
          <a:xfrm>
            <a:off x="6838200" y="1285920"/>
            <a:ext cx="83016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Pub/Sub</a:t>
            </a:r>
            <a:endParaRPr b="0" i="0" sz="900" u="none" cap="none" strike="noStrike">
              <a:latin typeface="Arial"/>
              <a:ea typeface="Arial"/>
              <a:cs typeface="Arial"/>
              <a:sym typeface="Arial"/>
            </a:endParaRPr>
          </a:p>
        </p:txBody>
      </p:sp>
      <p:sp>
        <p:nvSpPr>
          <p:cNvPr id="1277" name="Google Shape;1277;p157"/>
          <p:cNvSpPr/>
          <p:nvPr/>
        </p:nvSpPr>
        <p:spPr>
          <a:xfrm flipH="1" rot="10800000">
            <a:off x="1154520" y="1855440"/>
            <a:ext cx="6138360" cy="7560"/>
          </a:xfrm>
          <a:custGeom>
            <a:rect b="b" l="l" r="r" t="t"/>
            <a:pathLst>
              <a:path extrusionOk="0" h="21600" w="21600">
                <a:moveTo>
                  <a:pt x="0" y="0"/>
                </a:moveTo>
                <a:lnTo>
                  <a:pt x="21600" y="21600"/>
                </a:lnTo>
              </a:path>
            </a:pathLst>
          </a:custGeom>
          <a:noFill/>
          <a:ln cap="flat" cmpd="sng" w="38150">
            <a:solidFill>
              <a:srgbClr val="F3EDE0"/>
            </a:solidFill>
            <a:prstDash val="dashDot"/>
            <a:round/>
            <a:headEnd len="sm" w="sm" type="none"/>
            <a:tailEnd len="sm" w="sm" type="none"/>
          </a:ln>
        </p:spPr>
      </p:sp>
      <p:sp>
        <p:nvSpPr>
          <p:cNvPr id="1278" name="Google Shape;1278;p157"/>
          <p:cNvSpPr/>
          <p:nvPr/>
        </p:nvSpPr>
        <p:spPr>
          <a:xfrm>
            <a:off x="7357680" y="4047120"/>
            <a:ext cx="1355400" cy="289800"/>
          </a:xfrm>
          <a:prstGeom prst="rect">
            <a:avLst/>
          </a:prstGeom>
          <a:noFill/>
          <a:ln cap="flat" cmpd="sng" w="19075">
            <a:solidFill>
              <a:srgbClr val="F50A23"/>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Improve &amp; Extend Value</a:t>
            </a:r>
            <a:endParaRPr b="0" i="0" sz="700" u="none" cap="none" strike="noStrike">
              <a:latin typeface="Arial"/>
              <a:ea typeface="Arial"/>
              <a:cs typeface="Arial"/>
              <a:sym typeface="Arial"/>
            </a:endParaRPr>
          </a:p>
        </p:txBody>
      </p:sp>
      <p:sp>
        <p:nvSpPr>
          <p:cNvPr id="1279" name="Google Shape;1279;p157"/>
          <p:cNvSpPr/>
          <p:nvPr/>
        </p:nvSpPr>
        <p:spPr>
          <a:xfrm>
            <a:off x="7357680" y="3719160"/>
            <a:ext cx="1355400" cy="289800"/>
          </a:xfrm>
          <a:prstGeom prst="rect">
            <a:avLst/>
          </a:prstGeom>
          <a:noFill/>
          <a:ln cap="flat" cmpd="sng" w="1907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Deliver Value</a:t>
            </a:r>
            <a:endParaRPr b="0" i="0" sz="700" u="none" cap="none" strike="noStrike">
              <a:latin typeface="Arial"/>
              <a:ea typeface="Arial"/>
              <a:cs typeface="Arial"/>
              <a:sym typeface="Arial"/>
            </a:endParaRPr>
          </a:p>
        </p:txBody>
      </p:sp>
      <p:sp>
        <p:nvSpPr>
          <p:cNvPr id="1280" name="Google Shape;1280;p157"/>
          <p:cNvSpPr/>
          <p:nvPr/>
        </p:nvSpPr>
        <p:spPr>
          <a:xfrm>
            <a:off x="7357680" y="4375440"/>
            <a:ext cx="1355400" cy="396360"/>
          </a:xfrm>
          <a:prstGeom prst="rect">
            <a:avLst/>
          </a:prstGeom>
          <a:noFill/>
          <a:ln cap="flat" cmpd="sng" w="19075">
            <a:solidFill>
              <a:srgbClr val="0089E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Measure Value Gaps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777777"/>
                </a:solidFill>
                <a:latin typeface="Arial"/>
                <a:ea typeface="Arial"/>
                <a:cs typeface="Arial"/>
                <a:sym typeface="Arial"/>
              </a:rPr>
              <a:t>Continuously Improve</a:t>
            </a:r>
            <a:endParaRPr b="0" i="0" sz="700" u="none" cap="none"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58"/>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286" name="Google Shape;1286;p158"/>
          <p:cNvSpPr/>
          <p:nvPr/>
        </p:nvSpPr>
        <p:spPr>
          <a:xfrm>
            <a:off x="481320" y="587520"/>
            <a:ext cx="8290800" cy="145836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Delivery Model</a:t>
            </a:r>
            <a:endParaRPr b="0" i="0" sz="1100" u="none" cap="none" strike="noStrike">
              <a:latin typeface="Arial"/>
              <a:ea typeface="Arial"/>
              <a:cs typeface="Arial"/>
              <a:sym typeface="Arial"/>
            </a:endParaRPr>
          </a:p>
        </p:txBody>
      </p:sp>
      <p:sp>
        <p:nvSpPr>
          <p:cNvPr id="1287" name="Google Shape;1287;p158"/>
          <p:cNvSpPr/>
          <p:nvPr/>
        </p:nvSpPr>
        <p:spPr>
          <a:xfrm>
            <a:off x="473760" y="2117520"/>
            <a:ext cx="8290800" cy="13824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Improvement Model</a:t>
            </a:r>
            <a:endParaRPr b="0" i="0" sz="1100" u="none" cap="none" strike="noStrike">
              <a:latin typeface="Arial"/>
              <a:ea typeface="Arial"/>
              <a:cs typeface="Arial"/>
              <a:sym typeface="Arial"/>
            </a:endParaRPr>
          </a:p>
        </p:txBody>
      </p:sp>
      <p:sp>
        <p:nvSpPr>
          <p:cNvPr id="1288" name="Google Shape;1288;p158"/>
          <p:cNvSpPr/>
          <p:nvPr/>
        </p:nvSpPr>
        <p:spPr>
          <a:xfrm>
            <a:off x="105300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a:t>
            </a:r>
            <a:endParaRPr b="0" i="0" sz="900" u="none" cap="none" strike="noStrike">
              <a:latin typeface="Arial"/>
              <a:ea typeface="Arial"/>
              <a:cs typeface="Arial"/>
              <a:sym typeface="Arial"/>
            </a:endParaRPr>
          </a:p>
        </p:txBody>
      </p:sp>
      <p:sp>
        <p:nvSpPr>
          <p:cNvPr id="1289" name="Google Shape;1289;p158"/>
          <p:cNvSpPr/>
          <p:nvPr/>
        </p:nvSpPr>
        <p:spPr>
          <a:xfrm>
            <a:off x="675252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a:t>
            </a:r>
            <a:endParaRPr b="0" i="0" sz="900" u="none" cap="none" strike="noStrike">
              <a:latin typeface="Arial"/>
              <a:ea typeface="Arial"/>
              <a:cs typeface="Arial"/>
              <a:sym typeface="Arial"/>
            </a:endParaRPr>
          </a:p>
        </p:txBody>
      </p:sp>
      <p:sp>
        <p:nvSpPr>
          <p:cNvPr id="1290" name="Google Shape;1290;p158"/>
          <p:cNvSpPr/>
          <p:nvPr/>
        </p:nvSpPr>
        <p:spPr>
          <a:xfrm>
            <a:off x="3506400" y="1037880"/>
            <a:ext cx="23115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a:t>
            </a:r>
            <a:endParaRPr b="0" i="0" sz="900" u="none" cap="none" strike="noStrike">
              <a:latin typeface="Arial"/>
              <a:ea typeface="Arial"/>
              <a:cs typeface="Arial"/>
              <a:sym typeface="Arial"/>
            </a:endParaRPr>
          </a:p>
        </p:txBody>
      </p:sp>
      <p:sp>
        <p:nvSpPr>
          <p:cNvPr id="1291" name="Google Shape;1291;p158"/>
          <p:cNvSpPr/>
          <p:nvPr/>
        </p:nvSpPr>
        <p:spPr>
          <a:xfrm>
            <a:off x="1095120" y="133308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Sourcing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Ingestion</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Scheduling</a:t>
            </a:r>
            <a:endParaRPr b="0" i="0" sz="900" u="none" cap="none" strike="noStrike">
              <a:latin typeface="Arial"/>
              <a:ea typeface="Arial"/>
              <a:cs typeface="Arial"/>
              <a:sym typeface="Arial"/>
            </a:endParaRPr>
          </a:p>
        </p:txBody>
      </p:sp>
      <p:sp>
        <p:nvSpPr>
          <p:cNvPr id="1292" name="Google Shape;1292;p158"/>
          <p:cNvSpPr/>
          <p:nvPr/>
        </p:nvSpPr>
        <p:spPr>
          <a:xfrm>
            <a:off x="2419200" y="1333080"/>
            <a:ext cx="231156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Mapping at Scale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VZK to Digital Assets (Vertically)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VZK to 3rd Party (Horizontally)</a:t>
            </a:r>
            <a:endParaRPr b="0" i="0" sz="900" u="none" cap="none" strike="noStrike">
              <a:latin typeface="Arial"/>
              <a:ea typeface="Arial"/>
              <a:cs typeface="Arial"/>
              <a:sym typeface="Arial"/>
            </a:endParaRPr>
          </a:p>
        </p:txBody>
      </p:sp>
      <p:sp>
        <p:nvSpPr>
          <p:cNvPr id="1293" name="Google Shape;1293;p158"/>
          <p:cNvSpPr/>
          <p:nvPr/>
        </p:nvSpPr>
        <p:spPr>
          <a:xfrm>
            <a:off x="6811560" y="133236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Publishing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Subscription</a:t>
            </a:r>
            <a:endParaRPr b="0" i="0" sz="900" u="none" cap="none" strike="noStrike">
              <a:latin typeface="Arial"/>
              <a:ea typeface="Arial"/>
              <a:cs typeface="Arial"/>
              <a:sym typeface="Arial"/>
            </a:endParaRPr>
          </a:p>
        </p:txBody>
      </p:sp>
      <p:sp>
        <p:nvSpPr>
          <p:cNvPr id="1294" name="Google Shape;1294;p158"/>
          <p:cNvSpPr/>
          <p:nvPr/>
        </p:nvSpPr>
        <p:spPr>
          <a:xfrm>
            <a:off x="1030680" y="2525400"/>
            <a:ext cx="1227960" cy="3200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DEMAND</a:t>
            </a:r>
            <a:endParaRPr b="0" i="0" sz="900" u="none" cap="none" strike="noStrike">
              <a:latin typeface="Arial"/>
              <a:ea typeface="Arial"/>
              <a:cs typeface="Arial"/>
              <a:sym typeface="Arial"/>
            </a:endParaRPr>
          </a:p>
        </p:txBody>
      </p:sp>
      <p:sp>
        <p:nvSpPr>
          <p:cNvPr id="1295" name="Google Shape;1295;p158"/>
          <p:cNvSpPr/>
          <p:nvPr/>
        </p:nvSpPr>
        <p:spPr>
          <a:xfrm>
            <a:off x="876960" y="2845800"/>
            <a:ext cx="15163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Requests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Gaps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Capability Roadmap</a:t>
            </a:r>
            <a:endParaRPr b="0" i="0" sz="900" u="none" cap="none" strike="noStrike">
              <a:latin typeface="Arial"/>
              <a:ea typeface="Arial"/>
              <a:cs typeface="Arial"/>
              <a:sym typeface="Arial"/>
            </a:endParaRPr>
          </a:p>
        </p:txBody>
      </p:sp>
      <p:grpSp>
        <p:nvGrpSpPr>
          <p:cNvPr id="1296" name="Google Shape;1296;p158"/>
          <p:cNvGrpSpPr/>
          <p:nvPr/>
        </p:nvGrpSpPr>
        <p:grpSpPr>
          <a:xfrm>
            <a:off x="2466720" y="2525400"/>
            <a:ext cx="5707800" cy="320040"/>
            <a:chOff x="2466720" y="2525400"/>
            <a:chExt cx="5707800" cy="320040"/>
          </a:xfrm>
        </p:grpSpPr>
        <p:sp>
          <p:nvSpPr>
            <p:cNvPr id="1297" name="Google Shape;1297;p158"/>
            <p:cNvSpPr/>
            <p:nvPr/>
          </p:nvSpPr>
          <p:spPr>
            <a:xfrm>
              <a:off x="656748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DELIVER</a:t>
              </a:r>
              <a:endParaRPr b="0" i="0" sz="900" u="none" cap="none" strike="noStrike">
                <a:latin typeface="Arial"/>
                <a:ea typeface="Arial"/>
                <a:cs typeface="Arial"/>
                <a:sym typeface="Arial"/>
              </a:endParaRPr>
            </a:p>
          </p:txBody>
        </p:sp>
        <p:sp>
          <p:nvSpPr>
            <p:cNvPr id="1298" name="Google Shape;1298;p158"/>
            <p:cNvSpPr/>
            <p:nvPr/>
          </p:nvSpPr>
          <p:spPr>
            <a:xfrm>
              <a:off x="51678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DEVELOP</a:t>
              </a:r>
              <a:endParaRPr b="0" i="0" sz="900" u="none" cap="none" strike="noStrike">
                <a:latin typeface="Arial"/>
                <a:ea typeface="Arial"/>
                <a:cs typeface="Arial"/>
                <a:sym typeface="Arial"/>
              </a:endParaRPr>
            </a:p>
          </p:txBody>
        </p:sp>
        <p:sp>
          <p:nvSpPr>
            <p:cNvPr id="1299" name="Google Shape;1299;p158"/>
            <p:cNvSpPr/>
            <p:nvPr/>
          </p:nvSpPr>
          <p:spPr>
            <a:xfrm>
              <a:off x="37620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DESIGN</a:t>
              </a:r>
              <a:endParaRPr b="0" i="0" sz="900" u="none" cap="none" strike="noStrike">
                <a:latin typeface="Arial"/>
                <a:ea typeface="Arial"/>
                <a:cs typeface="Arial"/>
                <a:sym typeface="Arial"/>
              </a:endParaRPr>
            </a:p>
          </p:txBody>
        </p:sp>
        <p:sp>
          <p:nvSpPr>
            <p:cNvPr id="1300" name="Google Shape;1300;p158"/>
            <p:cNvSpPr/>
            <p:nvPr/>
          </p:nvSpPr>
          <p:spPr>
            <a:xfrm>
              <a:off x="246672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DEFINE</a:t>
              </a:r>
              <a:endParaRPr b="0" i="0" sz="900" u="none" cap="none" strike="noStrike">
                <a:latin typeface="Arial"/>
                <a:ea typeface="Arial"/>
                <a:cs typeface="Arial"/>
                <a:sym typeface="Arial"/>
              </a:endParaRPr>
            </a:p>
          </p:txBody>
        </p:sp>
      </p:grpSp>
      <p:sp>
        <p:nvSpPr>
          <p:cNvPr id="1301" name="Google Shape;1301;p158"/>
          <p:cNvSpPr/>
          <p:nvPr/>
        </p:nvSpPr>
        <p:spPr>
          <a:xfrm>
            <a:off x="3179160" y="2882520"/>
            <a:ext cx="19429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Systems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Information Architecture</a:t>
            </a:r>
            <a:endParaRPr b="0" i="0" sz="900" u="none" cap="none" strike="noStrike">
              <a:latin typeface="Arial"/>
              <a:ea typeface="Arial"/>
              <a:cs typeface="Arial"/>
              <a:sym typeface="Arial"/>
            </a:endParaRPr>
          </a:p>
        </p:txBody>
      </p:sp>
      <p:sp>
        <p:nvSpPr>
          <p:cNvPr id="1302" name="Google Shape;1302;p158"/>
          <p:cNvSpPr/>
          <p:nvPr/>
        </p:nvSpPr>
        <p:spPr>
          <a:xfrm>
            <a:off x="5206680" y="2882520"/>
            <a:ext cx="231156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W3C, OMG Semantic Governance</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ISO 11179, OMG Meta-Object Facility</a:t>
            </a:r>
            <a:endParaRPr b="0" i="0" sz="900" u="none" cap="none" strike="noStrike">
              <a:latin typeface="Arial"/>
              <a:ea typeface="Arial"/>
              <a:cs typeface="Arial"/>
              <a:sym typeface="Arial"/>
            </a:endParaRPr>
          </a:p>
        </p:txBody>
      </p:sp>
      <p:sp>
        <p:nvSpPr>
          <p:cNvPr id="1303" name="Google Shape;1303;p158"/>
          <p:cNvSpPr/>
          <p:nvPr/>
        </p:nvSpPr>
        <p:spPr>
          <a:xfrm>
            <a:off x="4731120" y="1332720"/>
            <a:ext cx="161568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Training &amp;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Extending Knowledge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a:t>
            </a:r>
            <a:endParaRPr b="0" i="0" sz="900" u="none" cap="none" strike="noStrike">
              <a:latin typeface="Arial"/>
              <a:ea typeface="Arial"/>
              <a:cs typeface="Arial"/>
              <a:sym typeface="Arial"/>
            </a:endParaRPr>
          </a:p>
        </p:txBody>
      </p:sp>
      <p:sp>
        <p:nvSpPr>
          <p:cNvPr id="1304" name="Google Shape;1304;p158"/>
          <p:cNvSpPr/>
          <p:nvPr/>
        </p:nvSpPr>
        <p:spPr>
          <a:xfrm>
            <a:off x="449280" y="3562560"/>
            <a:ext cx="8322480" cy="140292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Operating Model</a:t>
            </a:r>
            <a:endParaRPr b="0" i="0" sz="1100" u="none" cap="none" strike="noStrike">
              <a:latin typeface="Arial"/>
              <a:ea typeface="Arial"/>
              <a:cs typeface="Arial"/>
              <a:sym typeface="Arial"/>
            </a:endParaRPr>
          </a:p>
        </p:txBody>
      </p:sp>
      <p:sp>
        <p:nvSpPr>
          <p:cNvPr id="1305" name="Google Shape;1305;p158"/>
          <p:cNvSpPr/>
          <p:nvPr/>
        </p:nvSpPr>
        <p:spPr>
          <a:xfrm>
            <a:off x="87696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Level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Monitoring &amp; Measurement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Improvement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Learning</a:t>
            </a:r>
            <a:endParaRPr b="0" i="0" sz="900" u="none" cap="none" strike="noStrike">
              <a:latin typeface="Arial"/>
              <a:ea typeface="Arial"/>
              <a:cs typeface="Arial"/>
              <a:sym typeface="Arial"/>
            </a:endParaRPr>
          </a:p>
        </p:txBody>
      </p:sp>
      <p:sp>
        <p:nvSpPr>
          <p:cNvPr id="1306" name="Google Shape;1306;p158"/>
          <p:cNvSpPr/>
          <p:nvPr/>
        </p:nvSpPr>
        <p:spPr>
          <a:xfrm>
            <a:off x="3147480" y="4019400"/>
            <a:ext cx="28922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Business Continuity</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Issue / Investigation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Escalation/ Communications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Problem / Resolution Management</a:t>
            </a:r>
            <a:endParaRPr b="0" i="0" sz="900" u="none" cap="none" strike="noStrike">
              <a:latin typeface="Arial"/>
              <a:ea typeface="Arial"/>
              <a:cs typeface="Arial"/>
              <a:sym typeface="Arial"/>
            </a:endParaRPr>
          </a:p>
        </p:txBody>
      </p:sp>
      <p:sp>
        <p:nvSpPr>
          <p:cNvPr id="1307" name="Google Shape;1307;p158"/>
          <p:cNvSpPr/>
          <p:nvPr/>
        </p:nvSpPr>
        <p:spPr>
          <a:xfrm>
            <a:off x="636624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Portfolio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Relationship Mgmt.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 Outcome Reporting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Gap Assessment</a:t>
            </a:r>
            <a:endParaRPr b="0" i="0" sz="900" u="none" cap="none" strike="noStrike">
              <a:latin typeface="Arial"/>
              <a:ea typeface="Arial"/>
              <a:cs typeface="Arial"/>
              <a:sym typeface="Arial"/>
            </a:endParaRPr>
          </a:p>
        </p:txBody>
      </p:sp>
      <p:sp>
        <p:nvSpPr>
          <p:cNvPr id="1308" name="Google Shape;1308;p158"/>
          <p:cNvSpPr/>
          <p:nvPr/>
        </p:nvSpPr>
        <p:spPr>
          <a:xfrm>
            <a:off x="510840" y="959760"/>
            <a:ext cx="5819760" cy="1005840"/>
          </a:xfrm>
          <a:prstGeom prst="rect">
            <a:avLst/>
          </a:prstGeom>
          <a:no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58"/>
          <p:cNvSpPr/>
          <p:nvPr/>
        </p:nvSpPr>
        <p:spPr>
          <a:xfrm>
            <a:off x="6418440" y="959760"/>
            <a:ext cx="2311560" cy="1005840"/>
          </a:xfrm>
          <a:prstGeom prst="rect">
            <a:avLst/>
          </a:prstGeom>
          <a:noFill/>
          <a:ln cap="flat" cmpd="sng" w="9525">
            <a:solidFill>
              <a:srgbClr val="00B8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58"/>
          <p:cNvSpPr/>
          <p:nvPr/>
        </p:nvSpPr>
        <p:spPr>
          <a:xfrm>
            <a:off x="2368080" y="2448000"/>
            <a:ext cx="6361920" cy="1005840"/>
          </a:xfrm>
          <a:prstGeom prst="rect">
            <a:avLst/>
          </a:prstGeom>
          <a:noFill/>
          <a:ln cap="flat" cmpd="sng" w="9525">
            <a:solidFill>
              <a:srgbClr val="F50A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58"/>
          <p:cNvSpPr/>
          <p:nvPr/>
        </p:nvSpPr>
        <p:spPr>
          <a:xfrm>
            <a:off x="510840" y="2448000"/>
            <a:ext cx="1785600" cy="1005840"/>
          </a:xfrm>
          <a:prstGeom prst="rect">
            <a:avLst/>
          </a:prstGeom>
          <a:no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58"/>
          <p:cNvSpPr/>
          <p:nvPr/>
        </p:nvSpPr>
        <p:spPr>
          <a:xfrm>
            <a:off x="510840" y="3627720"/>
            <a:ext cx="8219520" cy="1251720"/>
          </a:xfrm>
          <a:prstGeom prst="rect">
            <a:avLst/>
          </a:prstGeom>
          <a:noFill/>
          <a:ln cap="flat" cmpd="sng" w="9525">
            <a:solidFill>
              <a:srgbClr val="0089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159"/>
          <p:cNvSpPr txBox="1"/>
          <p:nvPr/>
        </p:nvSpPr>
        <p:spPr>
          <a:xfrm>
            <a:off x="473760" y="189000"/>
            <a:ext cx="6617160" cy="2797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Semantic Governance (Service Management)</a:t>
            </a:r>
            <a:endParaRPr b="0" i="0" sz="1800" u="none" cap="none" strike="noStrike">
              <a:solidFill>
                <a:srgbClr val="000000"/>
              </a:solidFill>
              <a:latin typeface="Arial"/>
              <a:ea typeface="Arial"/>
              <a:cs typeface="Arial"/>
              <a:sym typeface="Arial"/>
            </a:endParaRPr>
          </a:p>
        </p:txBody>
      </p:sp>
      <p:sp>
        <p:nvSpPr>
          <p:cNvPr id="1318" name="Google Shape;1318;p159"/>
          <p:cNvSpPr/>
          <p:nvPr/>
        </p:nvSpPr>
        <p:spPr>
          <a:xfrm>
            <a:off x="481320" y="587520"/>
            <a:ext cx="8290800" cy="145836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Delivery Model</a:t>
            </a:r>
            <a:endParaRPr b="0" i="0" sz="1100" u="none" cap="none" strike="noStrike">
              <a:latin typeface="Arial"/>
              <a:ea typeface="Arial"/>
              <a:cs typeface="Arial"/>
              <a:sym typeface="Arial"/>
            </a:endParaRPr>
          </a:p>
        </p:txBody>
      </p:sp>
      <p:sp>
        <p:nvSpPr>
          <p:cNvPr id="1319" name="Google Shape;1319;p159"/>
          <p:cNvSpPr/>
          <p:nvPr/>
        </p:nvSpPr>
        <p:spPr>
          <a:xfrm>
            <a:off x="473760" y="2117520"/>
            <a:ext cx="8290800" cy="138240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Improvement Model</a:t>
            </a:r>
            <a:endParaRPr b="0" i="0" sz="1100" u="none" cap="none" strike="noStrike">
              <a:latin typeface="Arial"/>
              <a:ea typeface="Arial"/>
              <a:cs typeface="Arial"/>
              <a:sym typeface="Arial"/>
            </a:endParaRPr>
          </a:p>
        </p:txBody>
      </p:sp>
      <p:sp>
        <p:nvSpPr>
          <p:cNvPr id="1320" name="Google Shape;1320;p159"/>
          <p:cNvSpPr/>
          <p:nvPr/>
        </p:nvSpPr>
        <p:spPr>
          <a:xfrm>
            <a:off x="105300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INBOUND</a:t>
            </a:r>
            <a:endParaRPr b="0" i="0" sz="900" u="none" cap="none" strike="noStrike">
              <a:latin typeface="Arial"/>
              <a:ea typeface="Arial"/>
              <a:cs typeface="Arial"/>
              <a:sym typeface="Arial"/>
            </a:endParaRPr>
          </a:p>
        </p:txBody>
      </p:sp>
      <p:sp>
        <p:nvSpPr>
          <p:cNvPr id="1321" name="Google Shape;1321;p159"/>
          <p:cNvSpPr/>
          <p:nvPr/>
        </p:nvSpPr>
        <p:spPr>
          <a:xfrm>
            <a:off x="6752520" y="1013040"/>
            <a:ext cx="12279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OUTBOUND</a:t>
            </a:r>
            <a:endParaRPr b="0" i="0" sz="900" u="none" cap="none" strike="noStrike">
              <a:latin typeface="Arial"/>
              <a:ea typeface="Arial"/>
              <a:cs typeface="Arial"/>
              <a:sym typeface="Arial"/>
            </a:endParaRPr>
          </a:p>
        </p:txBody>
      </p:sp>
      <p:sp>
        <p:nvSpPr>
          <p:cNvPr id="1322" name="Google Shape;1322;p159"/>
          <p:cNvSpPr/>
          <p:nvPr/>
        </p:nvSpPr>
        <p:spPr>
          <a:xfrm>
            <a:off x="3506400" y="1037880"/>
            <a:ext cx="2311560" cy="2502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a:t>
            </a:r>
            <a:endParaRPr b="0" i="0" sz="900" u="none" cap="none" strike="noStrike">
              <a:latin typeface="Arial"/>
              <a:ea typeface="Arial"/>
              <a:cs typeface="Arial"/>
              <a:sym typeface="Arial"/>
            </a:endParaRPr>
          </a:p>
        </p:txBody>
      </p:sp>
      <p:sp>
        <p:nvSpPr>
          <p:cNvPr id="1323" name="Google Shape;1323;p159"/>
          <p:cNvSpPr/>
          <p:nvPr/>
        </p:nvSpPr>
        <p:spPr>
          <a:xfrm>
            <a:off x="1095120" y="133308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Sourcing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Ingestion</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Scheduling</a:t>
            </a:r>
            <a:endParaRPr b="0" i="0" sz="900" u="none" cap="none" strike="noStrike">
              <a:latin typeface="Arial"/>
              <a:ea typeface="Arial"/>
              <a:cs typeface="Arial"/>
              <a:sym typeface="Arial"/>
            </a:endParaRPr>
          </a:p>
        </p:txBody>
      </p:sp>
      <p:sp>
        <p:nvSpPr>
          <p:cNvPr id="1324" name="Google Shape;1324;p159"/>
          <p:cNvSpPr/>
          <p:nvPr/>
        </p:nvSpPr>
        <p:spPr>
          <a:xfrm>
            <a:off x="2419200" y="1333080"/>
            <a:ext cx="231156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Mapping at Scale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VZK to Digital Assets (Vertically)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VZK to 3rd Party (Horizontally)</a:t>
            </a:r>
            <a:endParaRPr b="0" i="0" sz="900" u="none" cap="none" strike="noStrike">
              <a:latin typeface="Arial"/>
              <a:ea typeface="Arial"/>
              <a:cs typeface="Arial"/>
              <a:sym typeface="Arial"/>
            </a:endParaRPr>
          </a:p>
        </p:txBody>
      </p:sp>
      <p:sp>
        <p:nvSpPr>
          <p:cNvPr id="1325" name="Google Shape;1325;p159"/>
          <p:cNvSpPr/>
          <p:nvPr/>
        </p:nvSpPr>
        <p:spPr>
          <a:xfrm>
            <a:off x="6811560" y="1332360"/>
            <a:ext cx="11858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Publishing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Subscription</a:t>
            </a:r>
            <a:endParaRPr b="0" i="0" sz="900" u="none" cap="none" strike="noStrike">
              <a:latin typeface="Arial"/>
              <a:ea typeface="Arial"/>
              <a:cs typeface="Arial"/>
              <a:sym typeface="Arial"/>
            </a:endParaRPr>
          </a:p>
        </p:txBody>
      </p:sp>
      <p:sp>
        <p:nvSpPr>
          <p:cNvPr id="1326" name="Google Shape;1326;p159"/>
          <p:cNvSpPr/>
          <p:nvPr/>
        </p:nvSpPr>
        <p:spPr>
          <a:xfrm>
            <a:off x="1030680" y="2525400"/>
            <a:ext cx="1227960" cy="32004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DEMAND</a:t>
            </a:r>
            <a:endParaRPr b="0" i="0" sz="900" u="none" cap="none" strike="noStrike">
              <a:latin typeface="Arial"/>
              <a:ea typeface="Arial"/>
              <a:cs typeface="Arial"/>
              <a:sym typeface="Arial"/>
            </a:endParaRPr>
          </a:p>
        </p:txBody>
      </p:sp>
      <p:sp>
        <p:nvSpPr>
          <p:cNvPr id="1327" name="Google Shape;1327;p159"/>
          <p:cNvSpPr/>
          <p:nvPr/>
        </p:nvSpPr>
        <p:spPr>
          <a:xfrm>
            <a:off x="876960" y="2845800"/>
            <a:ext cx="15163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Requests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Gaps</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Capability Roadmap</a:t>
            </a:r>
            <a:endParaRPr b="0" i="0" sz="900" u="none" cap="none" strike="noStrike">
              <a:latin typeface="Arial"/>
              <a:ea typeface="Arial"/>
              <a:cs typeface="Arial"/>
              <a:sym typeface="Arial"/>
            </a:endParaRPr>
          </a:p>
        </p:txBody>
      </p:sp>
      <p:grpSp>
        <p:nvGrpSpPr>
          <p:cNvPr id="1328" name="Google Shape;1328;p159"/>
          <p:cNvGrpSpPr/>
          <p:nvPr/>
        </p:nvGrpSpPr>
        <p:grpSpPr>
          <a:xfrm>
            <a:off x="2466720" y="2525400"/>
            <a:ext cx="5707800" cy="320040"/>
            <a:chOff x="2466720" y="2525400"/>
            <a:chExt cx="5707800" cy="320040"/>
          </a:xfrm>
        </p:grpSpPr>
        <p:sp>
          <p:nvSpPr>
            <p:cNvPr id="1329" name="Google Shape;1329;p159"/>
            <p:cNvSpPr/>
            <p:nvPr/>
          </p:nvSpPr>
          <p:spPr>
            <a:xfrm>
              <a:off x="656748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DELIVER</a:t>
              </a:r>
              <a:endParaRPr b="0" i="0" sz="900" u="none" cap="none" strike="noStrike">
                <a:latin typeface="Arial"/>
                <a:ea typeface="Arial"/>
                <a:cs typeface="Arial"/>
                <a:sym typeface="Arial"/>
              </a:endParaRPr>
            </a:p>
          </p:txBody>
        </p:sp>
        <p:sp>
          <p:nvSpPr>
            <p:cNvPr id="1330" name="Google Shape;1330;p159"/>
            <p:cNvSpPr/>
            <p:nvPr/>
          </p:nvSpPr>
          <p:spPr>
            <a:xfrm>
              <a:off x="51678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DEVELOP</a:t>
              </a:r>
              <a:endParaRPr b="0" i="0" sz="900" u="none" cap="none" strike="noStrike">
                <a:latin typeface="Arial"/>
                <a:ea typeface="Arial"/>
                <a:cs typeface="Arial"/>
                <a:sym typeface="Arial"/>
              </a:endParaRPr>
            </a:p>
          </p:txBody>
        </p:sp>
        <p:sp>
          <p:nvSpPr>
            <p:cNvPr id="1331" name="Google Shape;1331;p159"/>
            <p:cNvSpPr/>
            <p:nvPr/>
          </p:nvSpPr>
          <p:spPr>
            <a:xfrm>
              <a:off x="376200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DESIGN</a:t>
              </a:r>
              <a:endParaRPr b="0" i="0" sz="900" u="none" cap="none" strike="noStrike">
                <a:latin typeface="Arial"/>
                <a:ea typeface="Arial"/>
                <a:cs typeface="Arial"/>
                <a:sym typeface="Arial"/>
              </a:endParaRPr>
            </a:p>
          </p:txBody>
        </p:sp>
        <p:sp>
          <p:nvSpPr>
            <p:cNvPr id="1332" name="Google Shape;1332;p159"/>
            <p:cNvSpPr/>
            <p:nvPr/>
          </p:nvSpPr>
          <p:spPr>
            <a:xfrm>
              <a:off x="2466720" y="2525400"/>
              <a:ext cx="1607040" cy="320040"/>
            </a:xfrm>
            <a:prstGeom prst="homePlate">
              <a:avLst>
                <a:gd fmla="val 50000" name="adj"/>
              </a:avLst>
            </a:prstGeom>
            <a:solidFill>
              <a:srgbClr val="F3EDE0"/>
            </a:solidFill>
            <a:ln cap="flat" cmpd="sng" w="9525">
              <a:solidFill>
                <a:srgbClr val="AEAEA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DEFINE</a:t>
              </a:r>
              <a:endParaRPr b="0" i="0" sz="900" u="none" cap="none" strike="noStrike">
                <a:latin typeface="Arial"/>
                <a:ea typeface="Arial"/>
                <a:cs typeface="Arial"/>
                <a:sym typeface="Arial"/>
              </a:endParaRPr>
            </a:p>
          </p:txBody>
        </p:sp>
      </p:grpSp>
      <p:sp>
        <p:nvSpPr>
          <p:cNvPr id="1333" name="Google Shape;1333;p159"/>
          <p:cNvSpPr/>
          <p:nvPr/>
        </p:nvSpPr>
        <p:spPr>
          <a:xfrm>
            <a:off x="3179160" y="2882520"/>
            <a:ext cx="194292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Knowledge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Systems Engineering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Information Architecture</a:t>
            </a:r>
            <a:endParaRPr b="0" i="0" sz="900" u="none" cap="none" strike="noStrike">
              <a:latin typeface="Arial"/>
              <a:ea typeface="Arial"/>
              <a:cs typeface="Arial"/>
              <a:sym typeface="Arial"/>
            </a:endParaRPr>
          </a:p>
        </p:txBody>
      </p:sp>
      <p:sp>
        <p:nvSpPr>
          <p:cNvPr id="1334" name="Google Shape;1334;p159"/>
          <p:cNvSpPr/>
          <p:nvPr/>
        </p:nvSpPr>
        <p:spPr>
          <a:xfrm>
            <a:off x="5206680" y="2882520"/>
            <a:ext cx="2311560" cy="53676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W3C, OMG Semantic Governance</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ISO 11179, OMG Meta-Object Facility</a:t>
            </a:r>
            <a:endParaRPr b="0" i="0" sz="900" u="none" cap="none" strike="noStrike">
              <a:latin typeface="Arial"/>
              <a:ea typeface="Arial"/>
              <a:cs typeface="Arial"/>
              <a:sym typeface="Arial"/>
            </a:endParaRPr>
          </a:p>
        </p:txBody>
      </p:sp>
      <p:sp>
        <p:nvSpPr>
          <p:cNvPr id="1335" name="Google Shape;1335;p159"/>
          <p:cNvSpPr/>
          <p:nvPr/>
        </p:nvSpPr>
        <p:spPr>
          <a:xfrm>
            <a:off x="4731120" y="1332720"/>
            <a:ext cx="161568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Training &amp; Learning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Extending Knowledge</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Manually</a:t>
            </a:r>
            <a:endParaRPr b="0" i="0" sz="900" u="none" cap="none" strike="noStrike">
              <a:latin typeface="Arial"/>
              <a:ea typeface="Arial"/>
              <a:cs typeface="Arial"/>
              <a:sym typeface="Arial"/>
            </a:endParaRPr>
          </a:p>
          <a:p>
            <a:pPr indent="-114120" lvl="1" marL="28584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Automated</a:t>
            </a:r>
            <a:endParaRPr b="0" i="0" sz="900" u="none" cap="none" strike="noStrike">
              <a:latin typeface="Arial"/>
              <a:ea typeface="Arial"/>
              <a:cs typeface="Arial"/>
              <a:sym typeface="Arial"/>
            </a:endParaRPr>
          </a:p>
        </p:txBody>
      </p:sp>
      <p:sp>
        <p:nvSpPr>
          <p:cNvPr id="1336" name="Google Shape;1336;p159"/>
          <p:cNvSpPr/>
          <p:nvPr/>
        </p:nvSpPr>
        <p:spPr>
          <a:xfrm>
            <a:off x="449280" y="3562560"/>
            <a:ext cx="8322480" cy="1402920"/>
          </a:xfrm>
          <a:prstGeom prst="roundRect">
            <a:avLst>
              <a:gd fmla="val 16667" name="adj"/>
            </a:avLst>
          </a:prstGeom>
          <a:solidFill>
            <a:srgbClr val="CFCFCF"/>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Service Operating Model</a:t>
            </a:r>
            <a:endParaRPr b="0" i="0" sz="1100" u="none" cap="none" strike="noStrike">
              <a:latin typeface="Arial"/>
              <a:ea typeface="Arial"/>
              <a:cs typeface="Arial"/>
              <a:sym typeface="Arial"/>
            </a:endParaRPr>
          </a:p>
        </p:txBody>
      </p:sp>
      <p:sp>
        <p:nvSpPr>
          <p:cNvPr id="1337" name="Google Shape;1337;p159"/>
          <p:cNvSpPr/>
          <p:nvPr/>
        </p:nvSpPr>
        <p:spPr>
          <a:xfrm>
            <a:off x="87696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Service Level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Monitoring &amp; Measurement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Improvement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Continuous Learning</a:t>
            </a:r>
            <a:endParaRPr b="0" i="0" sz="900" u="none" cap="none" strike="noStrike">
              <a:latin typeface="Arial"/>
              <a:ea typeface="Arial"/>
              <a:cs typeface="Arial"/>
              <a:sym typeface="Arial"/>
            </a:endParaRPr>
          </a:p>
        </p:txBody>
      </p:sp>
      <p:sp>
        <p:nvSpPr>
          <p:cNvPr id="1338" name="Google Shape;1338;p159"/>
          <p:cNvSpPr/>
          <p:nvPr/>
        </p:nvSpPr>
        <p:spPr>
          <a:xfrm>
            <a:off x="3147480" y="4019400"/>
            <a:ext cx="28922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Business Continuity</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Issue / Investigation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Escalation/ Communications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Problem / Resolution Management</a:t>
            </a:r>
            <a:endParaRPr b="0" i="0" sz="900" u="none" cap="none" strike="noStrike">
              <a:latin typeface="Arial"/>
              <a:ea typeface="Arial"/>
              <a:cs typeface="Arial"/>
              <a:sym typeface="Arial"/>
            </a:endParaRPr>
          </a:p>
        </p:txBody>
      </p:sp>
      <p:sp>
        <p:nvSpPr>
          <p:cNvPr id="1339" name="Google Shape;1339;p159"/>
          <p:cNvSpPr/>
          <p:nvPr/>
        </p:nvSpPr>
        <p:spPr>
          <a:xfrm>
            <a:off x="6366240" y="4019400"/>
            <a:ext cx="2057040" cy="657720"/>
          </a:xfrm>
          <a:prstGeom prst="rect">
            <a:avLst/>
          </a:prstGeom>
          <a:noFill/>
          <a:ln>
            <a:noFill/>
          </a:ln>
        </p:spPr>
        <p:txBody>
          <a:bodyPr anchorCtr="0" anchor="t" bIns="91425" lIns="91425" spcFirstLastPara="1" rIns="91425" wrap="square" tIns="91425">
            <a:noAutofit/>
          </a:bodyPr>
          <a:lstStyle/>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Portfolio Management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Customer Relationship Mgmt.</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 Outcome Reporting</a:t>
            </a:r>
            <a:endParaRPr b="0" i="0" sz="900" u="none" cap="none" strike="noStrike">
              <a:latin typeface="Arial"/>
              <a:ea typeface="Arial"/>
              <a:cs typeface="Arial"/>
              <a:sym typeface="Arial"/>
            </a:endParaRPr>
          </a:p>
          <a:p>
            <a:pPr indent="-114120" lvl="0" marL="11448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Arial"/>
                <a:ea typeface="Arial"/>
                <a:cs typeface="Arial"/>
                <a:sym typeface="Arial"/>
              </a:rPr>
              <a:t>Value Gap Assessment</a:t>
            </a:r>
            <a:endParaRPr b="0" i="0" sz="900" u="none" cap="none"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160"/>
          <p:cNvSpPr/>
          <p:nvPr/>
        </p:nvSpPr>
        <p:spPr>
          <a:xfrm>
            <a:off x="4486680" y="2453760"/>
            <a:ext cx="4284000" cy="191736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60"/>
          <p:cNvSpPr txBox="1"/>
          <p:nvPr/>
        </p:nvSpPr>
        <p:spPr>
          <a:xfrm>
            <a:off x="4463280" y="729000"/>
            <a:ext cx="4250520" cy="13453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810" u="none" cap="none" strike="noStrike">
                <a:solidFill>
                  <a:srgbClr val="000000"/>
                </a:solidFill>
                <a:latin typeface="Arial"/>
                <a:ea typeface="Arial"/>
                <a:cs typeface="Arial"/>
                <a:sym typeface="Arial"/>
              </a:rPr>
              <a:t>High-level  Ask: </a:t>
            </a:r>
            <a:endParaRPr b="0" i="0" sz="181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0" i="0" lang="en-US" u="none" cap="none" strike="noStrike">
                <a:solidFill>
                  <a:srgbClr val="000000"/>
                </a:solidFill>
                <a:latin typeface="Arial"/>
                <a:ea typeface="Arial"/>
                <a:cs typeface="Arial"/>
                <a:sym typeface="Arial"/>
              </a:rPr>
              <a:t>EA is partnering with DG&amp;A and AI&amp;D Teams to standardize an </a:t>
            </a:r>
            <a:r>
              <a:rPr b="1" i="0" lang="en-US" u="none" cap="none" strike="noStrike">
                <a:solidFill>
                  <a:srgbClr val="000000"/>
                </a:solidFill>
                <a:latin typeface="Arial"/>
                <a:ea typeface="Arial"/>
                <a:cs typeface="Arial"/>
                <a:sym typeface="Arial"/>
              </a:rPr>
              <a:t>ontology modeling tool</a:t>
            </a:r>
            <a:r>
              <a:rPr b="0" i="0" lang="en-US" u="none" cap="none" strike="noStrike">
                <a:solidFill>
                  <a:srgbClr val="000000"/>
                </a:solidFill>
                <a:latin typeface="Arial"/>
                <a:ea typeface="Arial"/>
                <a:cs typeface="Arial"/>
                <a:sym typeface="Arial"/>
              </a:rPr>
              <a:t> in order to achieve the following goals</a:t>
            </a:r>
            <a:r>
              <a:rPr b="1" i="0" lang="en-US" u="none" cap="none" strike="noStrike">
                <a:solidFill>
                  <a:srgbClr val="000000"/>
                </a:solidFill>
                <a:latin typeface="Arial"/>
                <a:ea typeface="Arial"/>
                <a:cs typeface="Arial"/>
                <a:sym typeface="Arial"/>
              </a:rPr>
              <a:t>:</a:t>
            </a:r>
            <a:endParaRPr b="0" i="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rPr b="0" i="0" lang="en-US" sz="1710" u="none" cap="none" strike="noStrike">
                <a:solidFill>
                  <a:srgbClr val="000000"/>
                </a:solidFill>
                <a:latin typeface="Arial"/>
                <a:ea typeface="Arial"/>
                <a:cs typeface="Arial"/>
                <a:sym typeface="Arial"/>
              </a:rPr>
              <a:t> </a:t>
            </a:r>
            <a:endParaRPr b="0" i="0" sz="171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710" u="none" cap="none" strike="noStrike">
              <a:solidFill>
                <a:srgbClr val="000000"/>
              </a:solidFill>
              <a:latin typeface="Arial"/>
              <a:ea typeface="Arial"/>
              <a:cs typeface="Arial"/>
              <a:sym typeface="Arial"/>
            </a:endParaRPr>
          </a:p>
          <a:p>
            <a:pPr indent="0" lvl="0" marL="0" marR="0" rtl="0" algn="l">
              <a:lnSpc>
                <a:spcPct val="100000"/>
              </a:lnSpc>
              <a:spcBef>
                <a:spcPts val="901"/>
              </a:spcBef>
              <a:spcAft>
                <a:spcPts val="0"/>
              </a:spcAft>
              <a:buNone/>
            </a:pPr>
            <a:r>
              <a:t/>
            </a:r>
            <a:endParaRPr b="0" i="0" sz="1710" u="none" cap="none" strike="noStrike">
              <a:solidFill>
                <a:srgbClr val="000000"/>
              </a:solidFill>
              <a:latin typeface="Arial"/>
              <a:ea typeface="Arial"/>
              <a:cs typeface="Arial"/>
              <a:sym typeface="Arial"/>
            </a:endParaRPr>
          </a:p>
          <a:p>
            <a:pPr indent="0" lvl="0" marL="0" marR="0" rtl="0" algn="l">
              <a:lnSpc>
                <a:spcPct val="100000"/>
              </a:lnSpc>
              <a:spcBef>
                <a:spcPts val="1199"/>
              </a:spcBef>
              <a:spcAft>
                <a:spcPts val="0"/>
              </a:spcAft>
              <a:buNone/>
            </a:pPr>
            <a:r>
              <a:t/>
            </a:r>
            <a:endParaRPr b="0" i="0" sz="1710" u="none" cap="none" strike="noStrike">
              <a:solidFill>
                <a:srgbClr val="000000"/>
              </a:solidFill>
              <a:latin typeface="Arial"/>
              <a:ea typeface="Arial"/>
              <a:cs typeface="Arial"/>
              <a:sym typeface="Arial"/>
            </a:endParaRPr>
          </a:p>
        </p:txBody>
      </p:sp>
      <p:sp>
        <p:nvSpPr>
          <p:cNvPr id="1346" name="Google Shape;1346;p160"/>
          <p:cNvSpPr txBox="1"/>
          <p:nvPr/>
        </p:nvSpPr>
        <p:spPr>
          <a:xfrm>
            <a:off x="457200" y="1080"/>
            <a:ext cx="8696880" cy="33444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Problem Statement &amp; Business Ask</a:t>
            </a:r>
            <a:endParaRPr b="0" i="0" sz="2000" u="none" cap="none" strike="noStrike">
              <a:solidFill>
                <a:srgbClr val="000000"/>
              </a:solidFill>
              <a:latin typeface="Arial"/>
              <a:ea typeface="Arial"/>
              <a:cs typeface="Arial"/>
              <a:sym typeface="Arial"/>
            </a:endParaRPr>
          </a:p>
        </p:txBody>
      </p:sp>
      <p:sp>
        <p:nvSpPr>
          <p:cNvPr id="1347" name="Google Shape;1347;p160"/>
          <p:cNvSpPr/>
          <p:nvPr/>
        </p:nvSpPr>
        <p:spPr>
          <a:xfrm>
            <a:off x="457200" y="712440"/>
            <a:ext cx="3330000" cy="3658320"/>
          </a:xfrm>
          <a:prstGeom prst="rect">
            <a:avLst/>
          </a:prstGeom>
          <a:solidFill>
            <a:srgbClr val="000000"/>
          </a:solidFill>
          <a:ln cap="flat" cmpd="sng" w="9525">
            <a:solidFill>
              <a:srgbClr val="00B84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0" i="0" lang="en-US" sz="1200" u="none" cap="none" strike="noStrike">
                <a:solidFill>
                  <a:srgbClr val="FFFFFF"/>
                </a:solidFill>
                <a:latin typeface="Arial"/>
                <a:ea typeface="Arial"/>
                <a:cs typeface="Arial"/>
                <a:sym typeface="Arial"/>
              </a:rPr>
              <a:t>There is an urgent need to harmonize the growing list of semantic islands across VZ while containing technical sprawl with tools. </a:t>
            </a:r>
            <a:endParaRPr b="0" i="0" sz="1200" u="none" cap="none" strike="noStrike">
              <a:latin typeface="Arial"/>
              <a:ea typeface="Arial"/>
              <a:cs typeface="Arial"/>
              <a:sym typeface="Arial"/>
            </a:endParaRPr>
          </a:p>
          <a:p>
            <a:pPr indent="0" lvl="0" marL="0" marR="0" rtl="0" algn="l">
              <a:lnSpc>
                <a:spcPct val="115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15000"/>
              </a:lnSpc>
              <a:spcBef>
                <a:spcPts val="0"/>
              </a:spcBef>
              <a:spcAft>
                <a:spcPts val="0"/>
              </a:spcAft>
              <a:buNone/>
            </a:pPr>
            <a:r>
              <a:rPr b="0" i="0" lang="en-US" sz="1200" u="none" cap="none" strike="noStrike">
                <a:solidFill>
                  <a:srgbClr val="FFFFFF"/>
                </a:solidFill>
                <a:latin typeface="Arial"/>
                <a:ea typeface="Arial"/>
                <a:cs typeface="Arial"/>
                <a:sym typeface="Arial"/>
              </a:rPr>
              <a:t>The goal is to build a lightweight  </a:t>
            </a:r>
            <a:r>
              <a:rPr b="1" i="0" lang="en-US" sz="1200" u="none" cap="none" strike="noStrike">
                <a:solidFill>
                  <a:srgbClr val="00B845"/>
                </a:solidFill>
                <a:latin typeface="Arial"/>
                <a:ea typeface="Arial"/>
                <a:cs typeface="Arial"/>
                <a:sym typeface="Arial"/>
              </a:rPr>
              <a:t>Semantic Knowledge hub</a:t>
            </a:r>
            <a:r>
              <a:rPr b="0" i="0" lang="en-US" sz="1200" u="none" cap="none" strike="noStrike">
                <a:solidFill>
                  <a:srgbClr val="FFFFFF"/>
                </a:solidFill>
                <a:latin typeface="Arial"/>
                <a:ea typeface="Arial"/>
                <a:cs typeface="Arial"/>
                <a:sym typeface="Arial"/>
              </a:rPr>
              <a:t> that can “glue” the metadata about digital assets in VZ to:</a:t>
            </a:r>
            <a:endParaRPr b="0" i="0" sz="1200" u="none" cap="none" strike="noStrike">
              <a:latin typeface="Arial"/>
              <a:ea typeface="Arial"/>
              <a:cs typeface="Arial"/>
              <a:sym typeface="Arial"/>
            </a:endParaRPr>
          </a:p>
          <a:p>
            <a:pPr indent="-304560" lvl="0" marL="457200" marR="0" rtl="0" algn="l">
              <a:lnSpc>
                <a:spcPct val="115000"/>
              </a:lnSpc>
              <a:spcBef>
                <a:spcPts val="901"/>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Reduce </a:t>
            </a:r>
            <a:r>
              <a:rPr b="0" i="0" lang="en-US" sz="1200" u="none" cap="none" strike="noStrike">
                <a:solidFill>
                  <a:srgbClr val="F50A23"/>
                </a:solidFill>
                <a:latin typeface="Arial"/>
                <a:ea typeface="Arial"/>
                <a:cs typeface="Arial"/>
                <a:sym typeface="Arial"/>
              </a:rPr>
              <a:t>Ambiguity</a:t>
            </a:r>
            <a:r>
              <a:rPr b="0" i="0" lang="en-US" sz="1200" u="none" cap="none" strike="noStrike">
                <a:solidFill>
                  <a:srgbClr val="FFFFFF"/>
                </a:solidFill>
                <a:latin typeface="Arial"/>
                <a:ea typeface="Arial"/>
                <a:cs typeface="Arial"/>
                <a:sym typeface="Arial"/>
              </a:rPr>
              <a:t> with Search</a:t>
            </a:r>
            <a:endParaRPr b="0" i="0" sz="1200" u="none" cap="none" strike="noStrike">
              <a:latin typeface="Arial"/>
              <a:ea typeface="Arial"/>
              <a:cs typeface="Arial"/>
              <a:sym typeface="Arial"/>
            </a:endParaRPr>
          </a:p>
          <a:p>
            <a:pPr indent="-304560" lvl="0" marL="457200" marR="0" rtl="0" algn="l">
              <a:lnSpc>
                <a:spcPct val="115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Lack of </a:t>
            </a:r>
            <a:r>
              <a:rPr b="0" i="0" lang="en-US" sz="1200" u="none" cap="none" strike="noStrike">
                <a:solidFill>
                  <a:srgbClr val="F50A23"/>
                </a:solidFill>
                <a:latin typeface="Arial"/>
                <a:ea typeface="Arial"/>
                <a:cs typeface="Arial"/>
                <a:sym typeface="Arial"/>
              </a:rPr>
              <a:t>Personalization </a:t>
            </a:r>
            <a:r>
              <a:rPr b="0" i="0" lang="en-US" sz="1200" u="none" cap="none" strike="noStrike">
                <a:solidFill>
                  <a:srgbClr val="FFFFFF"/>
                </a:solidFill>
                <a:latin typeface="Arial"/>
                <a:ea typeface="Arial"/>
                <a:cs typeface="Arial"/>
                <a:sym typeface="Arial"/>
              </a:rPr>
              <a:t>for Results</a:t>
            </a:r>
            <a:endParaRPr b="0" i="0" sz="1200" u="none" cap="none" strike="noStrike">
              <a:latin typeface="Arial"/>
              <a:ea typeface="Arial"/>
              <a:cs typeface="Arial"/>
              <a:sym typeface="Arial"/>
            </a:endParaRPr>
          </a:p>
          <a:p>
            <a:pPr indent="-304560" lvl="0" marL="457200" marR="0" rtl="0" algn="l">
              <a:lnSpc>
                <a:spcPct val="115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Degrading </a:t>
            </a:r>
            <a:r>
              <a:rPr b="0" i="0" lang="en-US" sz="1200" u="none" cap="none" strike="noStrike">
                <a:solidFill>
                  <a:srgbClr val="F50A23"/>
                </a:solidFill>
                <a:latin typeface="Arial"/>
                <a:ea typeface="Arial"/>
                <a:cs typeface="Arial"/>
                <a:sym typeface="Arial"/>
              </a:rPr>
              <a:t>Accuracy</a:t>
            </a:r>
            <a:r>
              <a:rPr b="0" i="0" lang="en-US" sz="1200" u="none" cap="none" strike="noStrike">
                <a:solidFill>
                  <a:srgbClr val="FFFFFF"/>
                </a:solidFill>
                <a:latin typeface="Arial"/>
                <a:ea typeface="Arial"/>
                <a:cs typeface="Arial"/>
                <a:sym typeface="Arial"/>
              </a:rPr>
              <a:t> with AI &amp; BI</a:t>
            </a:r>
            <a:endParaRPr b="0" i="0" sz="1200" u="none" cap="none" strike="noStrike">
              <a:latin typeface="Arial"/>
              <a:ea typeface="Arial"/>
              <a:cs typeface="Arial"/>
              <a:sym typeface="Arial"/>
            </a:endParaRPr>
          </a:p>
        </p:txBody>
      </p:sp>
      <p:sp>
        <p:nvSpPr>
          <p:cNvPr id="1348" name="Google Shape;1348;p160"/>
          <p:cNvSpPr/>
          <p:nvPr/>
        </p:nvSpPr>
        <p:spPr>
          <a:xfrm>
            <a:off x="4648320" y="3420720"/>
            <a:ext cx="1343160" cy="942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Extend Search and Discovery of Digital Assets for individual consumption and collective assembly </a:t>
            </a:r>
            <a:endParaRPr b="0" i="0" sz="900" u="none" cap="none" strike="noStrike">
              <a:latin typeface="Arial"/>
              <a:ea typeface="Arial"/>
              <a:cs typeface="Arial"/>
              <a:sym typeface="Arial"/>
            </a:endParaRPr>
          </a:p>
        </p:txBody>
      </p:sp>
      <p:sp>
        <p:nvSpPr>
          <p:cNvPr id="1349" name="Google Shape;1349;p160"/>
          <p:cNvSpPr/>
          <p:nvPr/>
        </p:nvSpPr>
        <p:spPr>
          <a:xfrm>
            <a:off x="5991480" y="3420720"/>
            <a:ext cx="1460160" cy="942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Enable personalized  queries, reasoning, and understanding within and across business domains</a:t>
            </a:r>
            <a:endParaRPr b="0" i="0" sz="900" u="none" cap="none" strike="noStrike">
              <a:latin typeface="Arial"/>
              <a:ea typeface="Arial"/>
              <a:cs typeface="Arial"/>
              <a:sym typeface="Arial"/>
            </a:endParaRPr>
          </a:p>
        </p:txBody>
      </p:sp>
      <p:sp>
        <p:nvSpPr>
          <p:cNvPr id="1350" name="Google Shape;1350;p160"/>
          <p:cNvSpPr/>
          <p:nvPr/>
        </p:nvSpPr>
        <p:spPr>
          <a:xfrm>
            <a:off x="7364880" y="3420720"/>
            <a:ext cx="1375200" cy="942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Improve relevancy, accuracy, &amp; precision for AI and enhance decision making</a:t>
            </a:r>
            <a:endParaRPr b="0" i="0" sz="900" u="none" cap="none" strike="noStrike">
              <a:latin typeface="Arial"/>
              <a:ea typeface="Arial"/>
              <a:cs typeface="Arial"/>
              <a:sym typeface="Arial"/>
            </a:endParaRPr>
          </a:p>
        </p:txBody>
      </p:sp>
      <p:grpSp>
        <p:nvGrpSpPr>
          <p:cNvPr id="1351" name="Google Shape;1351;p160"/>
          <p:cNvGrpSpPr/>
          <p:nvPr/>
        </p:nvGrpSpPr>
        <p:grpSpPr>
          <a:xfrm>
            <a:off x="757800" y="3567960"/>
            <a:ext cx="686520" cy="415800"/>
            <a:chOff x="757800" y="3567960"/>
            <a:chExt cx="686520" cy="415800"/>
          </a:xfrm>
        </p:grpSpPr>
        <p:sp>
          <p:nvSpPr>
            <p:cNvPr id="1352" name="Google Shape;1352;p160"/>
            <p:cNvSpPr/>
            <p:nvPr/>
          </p:nvSpPr>
          <p:spPr>
            <a:xfrm rot="10800000">
              <a:off x="995040" y="3567960"/>
              <a:ext cx="449280" cy="415800"/>
            </a:xfrm>
            <a:prstGeom prst="ellipse">
              <a:avLst/>
            </a:prstGeom>
            <a:solidFill>
              <a:srgbClr val="000000"/>
            </a:solidFill>
            <a:ln cap="flat" cmpd="sng" w="2842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60"/>
            <p:cNvSpPr/>
            <p:nvPr/>
          </p:nvSpPr>
          <p:spPr>
            <a:xfrm rot="10800000">
              <a:off x="757800" y="3567960"/>
              <a:ext cx="449280" cy="415800"/>
            </a:xfrm>
            <a:prstGeom prst="ellipse">
              <a:avLst/>
            </a:prstGeom>
            <a:noFill/>
            <a:ln cap="flat" cmpd="sng" w="28425">
              <a:solidFill>
                <a:srgbClr val="0088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4" name="Google Shape;1354;p160"/>
          <p:cNvCxnSpPr/>
          <p:nvPr/>
        </p:nvCxnSpPr>
        <p:spPr>
          <a:xfrm>
            <a:off x="1598400" y="3796200"/>
            <a:ext cx="2892300" cy="6000"/>
          </a:xfrm>
          <a:prstGeom prst="bentConnector3">
            <a:avLst>
              <a:gd fmla="val 82305" name="adj1"/>
            </a:avLst>
          </a:prstGeom>
          <a:noFill/>
          <a:ln cap="flat" cmpd="sng" w="19075">
            <a:solidFill>
              <a:srgbClr val="CCCCCC"/>
            </a:solidFill>
            <a:prstDash val="dashDot"/>
            <a:round/>
            <a:headEnd len="sm" w="sm" type="none"/>
            <a:tailEnd len="med" w="med" type="triangle"/>
          </a:ln>
        </p:spPr>
      </p:cxnSp>
      <p:pic>
        <p:nvPicPr>
          <p:cNvPr id="1355" name="Google Shape;1355;p160"/>
          <p:cNvPicPr preferRelativeResize="0"/>
          <p:nvPr/>
        </p:nvPicPr>
        <p:blipFill rotWithShape="1">
          <a:blip r:embed="rId3">
            <a:alphaModFix/>
          </a:blip>
          <a:srcRect b="0" l="0" r="0" t="0"/>
          <a:stretch/>
        </p:blipFill>
        <p:spPr>
          <a:xfrm>
            <a:off x="6332400" y="2748240"/>
            <a:ext cx="512280" cy="512280"/>
          </a:xfrm>
          <a:prstGeom prst="rect">
            <a:avLst/>
          </a:prstGeom>
          <a:noFill/>
          <a:ln>
            <a:noFill/>
          </a:ln>
        </p:spPr>
      </p:pic>
      <p:pic>
        <p:nvPicPr>
          <p:cNvPr id="1356" name="Google Shape;1356;p160"/>
          <p:cNvPicPr preferRelativeResize="0"/>
          <p:nvPr/>
        </p:nvPicPr>
        <p:blipFill rotWithShape="1">
          <a:blip r:embed="rId4">
            <a:alphaModFix/>
          </a:blip>
          <a:srcRect b="0" l="0" r="0" t="0"/>
          <a:stretch/>
        </p:blipFill>
        <p:spPr>
          <a:xfrm>
            <a:off x="4950360" y="2781360"/>
            <a:ext cx="512280" cy="512280"/>
          </a:xfrm>
          <a:prstGeom prst="rect">
            <a:avLst/>
          </a:prstGeom>
          <a:noFill/>
          <a:ln>
            <a:noFill/>
          </a:ln>
        </p:spPr>
      </p:pic>
      <p:pic>
        <p:nvPicPr>
          <p:cNvPr id="1357" name="Google Shape;1357;p160"/>
          <p:cNvPicPr preferRelativeResize="0"/>
          <p:nvPr/>
        </p:nvPicPr>
        <p:blipFill rotWithShape="1">
          <a:blip r:embed="rId5">
            <a:alphaModFix/>
          </a:blip>
          <a:srcRect b="14766" l="10835" r="10784" t="11003"/>
          <a:stretch/>
        </p:blipFill>
        <p:spPr>
          <a:xfrm>
            <a:off x="7584840" y="2647080"/>
            <a:ext cx="786960" cy="714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161"/>
          <p:cNvSpPr txBox="1"/>
          <p:nvPr/>
        </p:nvSpPr>
        <p:spPr>
          <a:xfrm>
            <a:off x="457200" y="18324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Knowledge Layer (SKL) ?</a:t>
            </a:r>
            <a:endParaRPr b="0" i="0" sz="1800" u="none" cap="none" strike="noStrike">
              <a:solidFill>
                <a:srgbClr val="000000"/>
              </a:solidFill>
              <a:latin typeface="Arial"/>
              <a:ea typeface="Arial"/>
              <a:cs typeface="Arial"/>
              <a:sym typeface="Arial"/>
            </a:endParaRPr>
          </a:p>
        </p:txBody>
      </p:sp>
      <p:sp>
        <p:nvSpPr>
          <p:cNvPr id="1363" name="Google Shape;1363;p161"/>
          <p:cNvSpPr txBox="1"/>
          <p:nvPr/>
        </p:nvSpPr>
        <p:spPr>
          <a:xfrm>
            <a:off x="473760" y="729720"/>
            <a:ext cx="3769920" cy="36838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Semantic Knowledge Layer provides a business oriented cartography for navigating the expanding universe of digital assets and knowledge to:</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9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Make data easily findable and accessible for decision-makers by providing relevant insights and context at the right time.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Enhance learning, curate context, and connect structured and unstructured data to help AI understand and interpret data and information to deliver meaningful insights.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Support continuous learning for AI so it can adapt as new data, context, and information become available and improves insight delivery by enhancing transparency and explainability.</a:t>
            </a:r>
            <a:endParaRPr b="0" i="0" sz="1200" u="none" cap="none" strike="noStrike">
              <a:solidFill>
                <a:srgbClr val="000000"/>
              </a:solidFill>
              <a:latin typeface="Arial"/>
              <a:ea typeface="Arial"/>
              <a:cs typeface="Arial"/>
              <a:sym typeface="Arial"/>
            </a:endParaRPr>
          </a:p>
        </p:txBody>
      </p:sp>
      <p:sp>
        <p:nvSpPr>
          <p:cNvPr id="1364" name="Google Shape;1364;p161"/>
          <p:cNvSpPr/>
          <p:nvPr/>
        </p:nvSpPr>
        <p:spPr>
          <a:xfrm rot="-2311800">
            <a:off x="-69120" y="120960"/>
            <a:ext cx="752760" cy="259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FFFFFF"/>
                </a:solidFill>
                <a:latin typeface="Arial"/>
                <a:ea typeface="Arial"/>
                <a:cs typeface="Arial"/>
                <a:sym typeface="Arial"/>
              </a:rPr>
              <a:t>WORK IN PROGRESS</a:t>
            </a:r>
            <a:endParaRPr b="0" i="0" sz="700" u="none" cap="none" strike="noStrike">
              <a:latin typeface="Arial"/>
              <a:ea typeface="Arial"/>
              <a:cs typeface="Arial"/>
              <a:sym typeface="Arial"/>
            </a:endParaRPr>
          </a:p>
        </p:txBody>
      </p:sp>
      <p:sp>
        <p:nvSpPr>
          <p:cNvPr id="1365" name="Google Shape;1365;p161"/>
          <p:cNvSpPr/>
          <p:nvPr/>
        </p:nvSpPr>
        <p:spPr>
          <a:xfrm>
            <a:off x="4748040" y="2832120"/>
            <a:ext cx="3813840" cy="1503360"/>
          </a:xfrm>
          <a:prstGeom prst="rect">
            <a:avLst/>
          </a:prstGeom>
          <a:noFill/>
          <a:ln>
            <a:noFill/>
          </a:ln>
        </p:spPr>
        <p:txBody>
          <a:bodyPr anchorCtr="0" anchor="t" bIns="91425" lIns="91425" spcFirstLastPara="1" rIns="91425" wrap="square" tIns="91425">
            <a:noAutofit/>
          </a:bodyPr>
          <a:lstStyle/>
          <a:p>
            <a:pPr indent="-149040" lvl="0" marL="200160" marR="0" rtl="0" algn="l">
              <a:lnSpc>
                <a:spcPct val="100000"/>
              </a:lnSpc>
              <a:spcBef>
                <a:spcPts val="0"/>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Vocabularies - SKOS compliant controlled vocabulary that is reusable by taxonomies &amp; ontologies</a:t>
            </a:r>
            <a:endParaRPr b="0" i="0" sz="1000" u="none" cap="none" strike="noStrike">
              <a:latin typeface="Arial"/>
              <a:ea typeface="Arial"/>
              <a:cs typeface="Arial"/>
              <a:sym typeface="Arial"/>
            </a:endParaRPr>
          </a:p>
          <a:p>
            <a:pPr indent="-149040" lvl="0" marL="200160" marR="0" rtl="0" algn="l">
              <a:lnSpc>
                <a:spcPct val="100000"/>
              </a:lnSpc>
              <a:spcBef>
                <a:spcPts val="1001"/>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Taxonomies - W3C standard structure with complex attribute management</a:t>
            </a:r>
            <a:endParaRPr b="0" i="0" sz="1000" u="none" cap="none" strike="noStrike">
              <a:latin typeface="Arial"/>
              <a:ea typeface="Arial"/>
              <a:cs typeface="Arial"/>
              <a:sym typeface="Arial"/>
            </a:endParaRPr>
          </a:p>
          <a:p>
            <a:pPr indent="-149040" lvl="0" marL="200160" marR="0" rtl="0" algn="l">
              <a:lnSpc>
                <a:spcPct val="100000"/>
              </a:lnSpc>
              <a:spcBef>
                <a:spcPts val="1001"/>
              </a:spcBef>
              <a:spcAft>
                <a:spcPts val="0"/>
              </a:spcAft>
              <a:buClr>
                <a:srgbClr val="151D29"/>
              </a:buClr>
              <a:buSzPts val="1000"/>
              <a:buFont typeface="Arial"/>
              <a:buChar char="●"/>
            </a:pPr>
            <a:r>
              <a:rPr b="0" i="0" lang="en-US" sz="1000" u="none" cap="none" strike="noStrike">
                <a:solidFill>
                  <a:srgbClr val="151D29"/>
                </a:solidFill>
                <a:latin typeface="Arial"/>
                <a:ea typeface="Arial"/>
                <a:cs typeface="Arial"/>
                <a:sym typeface="Arial"/>
              </a:rPr>
              <a:t>Ontologies - Specific POV approaches to data (VZ business, SID, Core) connected using flexible but standardized relationship management</a:t>
            </a:r>
            <a:endParaRPr b="0" i="0" sz="1000" u="none" cap="none" strike="noStrike">
              <a:latin typeface="Arial"/>
              <a:ea typeface="Arial"/>
              <a:cs typeface="Arial"/>
              <a:sym typeface="Arial"/>
            </a:endParaRPr>
          </a:p>
        </p:txBody>
      </p:sp>
      <p:sp>
        <p:nvSpPr>
          <p:cNvPr id="1366" name="Google Shape;1366;p161"/>
          <p:cNvSpPr/>
          <p:nvPr/>
        </p:nvSpPr>
        <p:spPr>
          <a:xfrm>
            <a:off x="4545000" y="75492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367" name="Google Shape;1367;p161"/>
          <p:cNvSpPr/>
          <p:nvPr/>
        </p:nvSpPr>
        <p:spPr>
          <a:xfrm>
            <a:off x="4653360" y="128268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368" name="Google Shape;1368;p161"/>
          <p:cNvSpPr/>
          <p:nvPr/>
        </p:nvSpPr>
        <p:spPr>
          <a:xfrm>
            <a:off x="4773960" y="16300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369" name="Google Shape;1369;p161"/>
          <p:cNvSpPr/>
          <p:nvPr/>
        </p:nvSpPr>
        <p:spPr>
          <a:xfrm>
            <a:off x="6001920" y="163008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370" name="Google Shape;1370;p161"/>
          <p:cNvSpPr/>
          <p:nvPr/>
        </p:nvSpPr>
        <p:spPr>
          <a:xfrm>
            <a:off x="4773960" y="191016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371" name="Google Shape;1371;p161"/>
          <p:cNvSpPr/>
          <p:nvPr/>
        </p:nvSpPr>
        <p:spPr>
          <a:xfrm>
            <a:off x="7447320" y="1428840"/>
            <a:ext cx="1200600" cy="9331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about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Content</a:t>
            </a:r>
            <a:endParaRPr b="0" i="0" sz="900" u="none" cap="none" strike="noStrike">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162"/>
          <p:cNvSpPr txBox="1"/>
          <p:nvPr/>
        </p:nvSpPr>
        <p:spPr>
          <a:xfrm>
            <a:off x="457200" y="183240"/>
            <a:ext cx="7086240" cy="5713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Semantic Knowledge Layer (SKL) ?</a:t>
            </a:r>
            <a:endParaRPr b="0" i="0" sz="1800" u="none" cap="none" strike="noStrike">
              <a:solidFill>
                <a:srgbClr val="000000"/>
              </a:solidFill>
              <a:latin typeface="Arial"/>
              <a:ea typeface="Arial"/>
              <a:cs typeface="Arial"/>
              <a:sym typeface="Arial"/>
            </a:endParaRPr>
          </a:p>
        </p:txBody>
      </p:sp>
      <p:sp>
        <p:nvSpPr>
          <p:cNvPr id="1377" name="Google Shape;1377;p162"/>
          <p:cNvSpPr txBox="1"/>
          <p:nvPr/>
        </p:nvSpPr>
        <p:spPr>
          <a:xfrm>
            <a:off x="473760" y="729720"/>
            <a:ext cx="3769920" cy="368388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 Semantic Knowledge Layer provides a business oriented cartography for navigating the expanding universe of digital assets and knowledge to:</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9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Easily Search &amp; Discover digital assets for decision-makers and automated agents </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Improve precision and accuracy for AI learning</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Provide relevancy using Personalization</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Support causal insights (WHY things happened, WHO is impacted, WHAT options are available)</a:t>
            </a:r>
            <a:endParaRPr b="0" i="0" sz="1200" u="none" cap="none" strike="noStrike">
              <a:solidFill>
                <a:srgbClr val="000000"/>
              </a:solidFill>
              <a:latin typeface="Arial"/>
              <a:ea typeface="Arial"/>
              <a:cs typeface="Arial"/>
              <a:sym typeface="Arial"/>
            </a:endParaRPr>
          </a:p>
          <a:p>
            <a:pPr indent="-218880" lvl="0" marL="371520" marR="0" rtl="0" algn="l">
              <a:lnSpc>
                <a:spcPct val="100000"/>
              </a:lnSpc>
              <a:spcBef>
                <a:spcPts val="1001"/>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Improve transparency, explainability, and literacy</a:t>
            </a:r>
            <a:endParaRPr b="0" i="0" sz="1200" u="none" cap="none" strike="noStrike">
              <a:solidFill>
                <a:srgbClr val="000000"/>
              </a:solidFill>
              <a:latin typeface="Arial"/>
              <a:ea typeface="Arial"/>
              <a:cs typeface="Arial"/>
              <a:sym typeface="Arial"/>
            </a:endParaRPr>
          </a:p>
        </p:txBody>
      </p:sp>
      <p:sp>
        <p:nvSpPr>
          <p:cNvPr id="1378" name="Google Shape;1378;p162"/>
          <p:cNvSpPr/>
          <p:nvPr/>
        </p:nvSpPr>
        <p:spPr>
          <a:xfrm>
            <a:off x="4545000" y="75492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379" name="Google Shape;1379;p162"/>
          <p:cNvSpPr/>
          <p:nvPr/>
        </p:nvSpPr>
        <p:spPr>
          <a:xfrm>
            <a:off x="4653360" y="1282680"/>
            <a:ext cx="4016520" cy="134568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380" name="Google Shape;1380;p162"/>
          <p:cNvSpPr/>
          <p:nvPr/>
        </p:nvSpPr>
        <p:spPr>
          <a:xfrm>
            <a:off x="4773960" y="16300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381" name="Google Shape;1381;p162"/>
          <p:cNvSpPr/>
          <p:nvPr/>
        </p:nvSpPr>
        <p:spPr>
          <a:xfrm>
            <a:off x="6001920" y="163008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382" name="Google Shape;1382;p162"/>
          <p:cNvSpPr/>
          <p:nvPr/>
        </p:nvSpPr>
        <p:spPr>
          <a:xfrm>
            <a:off x="4773960" y="191016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383" name="Google Shape;1383;p162"/>
          <p:cNvSpPr/>
          <p:nvPr/>
        </p:nvSpPr>
        <p:spPr>
          <a:xfrm>
            <a:off x="7371360" y="1581120"/>
            <a:ext cx="1200600" cy="9331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Connected Metadata</a:t>
            </a:r>
            <a:endParaRPr b="0" i="0" sz="9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63"/>
          <p:cNvSpPr txBox="1"/>
          <p:nvPr/>
        </p:nvSpPr>
        <p:spPr>
          <a:xfrm>
            <a:off x="544680" y="134640"/>
            <a:ext cx="7086240" cy="39204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Arial"/>
                <a:ea typeface="Arial"/>
                <a:cs typeface="Arial"/>
                <a:sym typeface="Arial"/>
              </a:rPr>
              <a:t>Components - Connected Metadata</a:t>
            </a:r>
            <a:endParaRPr b="0" i="0" sz="1800" u="none" cap="none" strike="noStrike">
              <a:solidFill>
                <a:srgbClr val="000000"/>
              </a:solidFill>
              <a:latin typeface="Arial"/>
              <a:ea typeface="Arial"/>
              <a:cs typeface="Arial"/>
              <a:sym typeface="Arial"/>
            </a:endParaRPr>
          </a:p>
        </p:txBody>
      </p:sp>
      <p:sp>
        <p:nvSpPr>
          <p:cNvPr id="1389" name="Google Shape;1389;p163"/>
          <p:cNvSpPr txBox="1"/>
          <p:nvPr/>
        </p:nvSpPr>
        <p:spPr>
          <a:xfrm>
            <a:off x="473760" y="643320"/>
            <a:ext cx="3286080" cy="310140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None/>
            </a:pPr>
            <a:r>
              <a:rPr b="1" i="0" lang="en-US" sz="1200" u="none" cap="none" strike="noStrike">
                <a:solidFill>
                  <a:srgbClr val="1D1C1D"/>
                </a:solidFill>
                <a:latin typeface="Arial"/>
                <a:ea typeface="Arial"/>
                <a:cs typeface="Arial"/>
                <a:sym typeface="Arial"/>
              </a:rPr>
              <a:t>Connected Metadata</a:t>
            </a:r>
            <a:r>
              <a:rPr b="0" i="0" lang="en-US" sz="1200" u="none" cap="none" strike="noStrike">
                <a:solidFill>
                  <a:srgbClr val="1D1C1D"/>
                </a:solidFill>
                <a:latin typeface="Arial"/>
                <a:ea typeface="Arial"/>
                <a:cs typeface="Arial"/>
                <a:sym typeface="Arial"/>
              </a:rPr>
              <a:t> defines the structure, relationships, attributes, and definitions where possible about digital content and the manner in which it is stored. This is used for supporting technical services applied throughout the lifecycle of digital assets.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199"/>
              </a:spcBef>
              <a:spcAft>
                <a:spcPts val="0"/>
              </a:spcAft>
              <a:buNone/>
            </a:pPr>
            <a:r>
              <a:t/>
            </a:r>
            <a:endParaRPr b="0" i="0" sz="1200" u="none" cap="none" strike="noStrike">
              <a:solidFill>
                <a:srgbClr val="000000"/>
              </a:solidFill>
              <a:latin typeface="Arial"/>
              <a:ea typeface="Arial"/>
              <a:cs typeface="Arial"/>
              <a:sym typeface="Arial"/>
            </a:endParaRPr>
          </a:p>
        </p:txBody>
      </p:sp>
      <p:grpSp>
        <p:nvGrpSpPr>
          <p:cNvPr id="1390" name="Google Shape;1390;p163"/>
          <p:cNvGrpSpPr/>
          <p:nvPr/>
        </p:nvGrpSpPr>
        <p:grpSpPr>
          <a:xfrm>
            <a:off x="4491000" y="734400"/>
            <a:ext cx="4195440" cy="2647800"/>
            <a:chOff x="4491000" y="734400"/>
            <a:chExt cx="4195440" cy="2647800"/>
          </a:xfrm>
        </p:grpSpPr>
        <p:pic>
          <p:nvPicPr>
            <p:cNvPr id="1391" name="Google Shape;1391;p163"/>
            <p:cNvPicPr preferRelativeResize="0"/>
            <p:nvPr/>
          </p:nvPicPr>
          <p:blipFill rotWithShape="1">
            <a:blip r:embed="rId3">
              <a:alphaModFix/>
            </a:blip>
            <a:srcRect b="21284" l="34121" r="27423" t="58295"/>
            <a:stretch/>
          </p:blipFill>
          <p:spPr>
            <a:xfrm>
              <a:off x="4491000" y="2466000"/>
              <a:ext cx="4195440" cy="916200"/>
            </a:xfrm>
            <a:prstGeom prst="rect">
              <a:avLst/>
            </a:prstGeom>
            <a:noFill/>
            <a:ln cap="flat" cmpd="sng" w="9525">
              <a:solidFill>
                <a:srgbClr val="000000"/>
              </a:solidFill>
              <a:prstDash val="solid"/>
              <a:round/>
              <a:headEnd len="sm" w="sm" type="none"/>
              <a:tailEnd len="sm" w="sm" type="none"/>
            </a:ln>
          </p:spPr>
        </p:pic>
        <p:pic>
          <p:nvPicPr>
            <p:cNvPr id="1392" name="Google Shape;1392;p163"/>
            <p:cNvPicPr preferRelativeResize="0"/>
            <p:nvPr/>
          </p:nvPicPr>
          <p:blipFill rotWithShape="1">
            <a:blip r:embed="rId3">
              <a:alphaModFix/>
            </a:blip>
            <a:srcRect b="79570" l="34121" r="27423" t="10647"/>
            <a:stretch/>
          </p:blipFill>
          <p:spPr>
            <a:xfrm>
              <a:off x="4491000" y="2090520"/>
              <a:ext cx="4195440" cy="438480"/>
            </a:xfrm>
            <a:prstGeom prst="rect">
              <a:avLst/>
            </a:prstGeom>
            <a:noFill/>
            <a:ln cap="flat" cmpd="sng" w="9525">
              <a:solidFill>
                <a:srgbClr val="000000"/>
              </a:solidFill>
              <a:prstDash val="solid"/>
              <a:round/>
              <a:headEnd len="sm" w="sm" type="none"/>
              <a:tailEnd len="sm" w="sm" type="none"/>
            </a:ln>
          </p:spPr>
        </p:pic>
        <p:pic>
          <p:nvPicPr>
            <p:cNvPr id="1393" name="Google Shape;1393;p163"/>
            <p:cNvPicPr preferRelativeResize="0"/>
            <p:nvPr/>
          </p:nvPicPr>
          <p:blipFill rotWithShape="1">
            <a:blip r:embed="rId3">
              <a:alphaModFix/>
            </a:blip>
            <a:srcRect b="78669" l="0" r="67467" t="0"/>
            <a:stretch/>
          </p:blipFill>
          <p:spPr>
            <a:xfrm>
              <a:off x="4491000" y="734400"/>
              <a:ext cx="4195440" cy="957240"/>
            </a:xfrm>
            <a:prstGeom prst="rect">
              <a:avLst/>
            </a:prstGeom>
            <a:noFill/>
            <a:ln cap="flat" cmpd="sng" w="9525">
              <a:solidFill>
                <a:srgbClr val="000000"/>
              </a:solidFill>
              <a:prstDash val="solid"/>
              <a:round/>
              <a:headEnd len="sm" w="sm" type="none"/>
              <a:tailEnd len="sm" w="sm" type="none"/>
            </a:ln>
          </p:spPr>
        </p:pic>
        <p:pic>
          <p:nvPicPr>
            <p:cNvPr id="1394" name="Google Shape;1394;p163"/>
            <p:cNvPicPr preferRelativeResize="0"/>
            <p:nvPr/>
          </p:nvPicPr>
          <p:blipFill rotWithShape="1">
            <a:blip r:embed="rId3">
              <a:alphaModFix/>
            </a:blip>
            <a:srcRect b="32063" l="0" r="67467" t="59717"/>
            <a:stretch/>
          </p:blipFill>
          <p:spPr>
            <a:xfrm>
              <a:off x="4491000" y="1712880"/>
              <a:ext cx="4195440" cy="368280"/>
            </a:xfrm>
            <a:prstGeom prst="rect">
              <a:avLst/>
            </a:prstGeom>
            <a:noFill/>
            <a:ln cap="flat" cmpd="sng" w="9525">
              <a:solidFill>
                <a:srgbClr val="000000"/>
              </a:solidFill>
              <a:prstDash val="solid"/>
              <a:round/>
              <a:headEnd len="sm" w="sm" type="none"/>
              <a:tailEnd len="sm" w="sm" type="none"/>
            </a:ln>
          </p:spPr>
        </p:pic>
      </p:grpSp>
      <p:sp>
        <p:nvSpPr>
          <p:cNvPr id="1395" name="Google Shape;1395;p163"/>
          <p:cNvSpPr/>
          <p:nvPr/>
        </p:nvSpPr>
        <p:spPr>
          <a:xfrm>
            <a:off x="5898240" y="3497400"/>
            <a:ext cx="1442880" cy="320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 Example</a:t>
            </a:r>
            <a:endParaRPr b="0" i="0" sz="900" u="none" cap="none" strike="noStrike">
              <a:latin typeface="Arial"/>
              <a:ea typeface="Arial"/>
              <a:cs typeface="Arial"/>
              <a:sym typeface="Arial"/>
            </a:endParaRPr>
          </a:p>
        </p:txBody>
      </p:sp>
      <p:sp>
        <p:nvSpPr>
          <p:cNvPr id="1396" name="Google Shape;1396;p163"/>
          <p:cNvSpPr/>
          <p:nvPr/>
        </p:nvSpPr>
        <p:spPr>
          <a:xfrm>
            <a:off x="435240" y="2279160"/>
            <a:ext cx="3713760" cy="23839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Connected Metadata </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(structured &amp; unstructured)</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Metadata (Structures, Attributes, Relations)</a:t>
            </a:r>
            <a:endParaRPr b="0" i="0" sz="700" u="none" cap="none" strike="noStrike">
              <a:latin typeface="Arial"/>
              <a:ea typeface="Arial"/>
              <a:cs typeface="Arial"/>
              <a:sym typeface="Arial"/>
            </a:endParaRPr>
          </a:p>
        </p:txBody>
      </p:sp>
      <p:sp>
        <p:nvSpPr>
          <p:cNvPr id="1397" name="Google Shape;1397;p163"/>
          <p:cNvSpPr/>
          <p:nvPr/>
        </p:nvSpPr>
        <p:spPr>
          <a:xfrm>
            <a:off x="2534760" y="4115160"/>
            <a:ext cx="736560" cy="362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398" name="Google Shape;1398;p163"/>
          <p:cNvSpPr/>
          <p:nvPr/>
        </p:nvSpPr>
        <p:spPr>
          <a:xfrm>
            <a:off x="1417320" y="30888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399" name="Google Shape;1399;p163"/>
          <p:cNvSpPr/>
          <p:nvPr/>
        </p:nvSpPr>
        <p:spPr>
          <a:xfrm>
            <a:off x="2534760" y="3828600"/>
            <a:ext cx="736560" cy="3229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400" name="Google Shape;1400;p163"/>
          <p:cNvSpPr/>
          <p:nvPr/>
        </p:nvSpPr>
        <p:spPr>
          <a:xfrm>
            <a:off x="2277000" y="3069360"/>
            <a:ext cx="73656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401" name="Google Shape;1401;p163"/>
          <p:cNvSpPr/>
          <p:nvPr/>
        </p:nvSpPr>
        <p:spPr>
          <a:xfrm>
            <a:off x="1638000" y="4146840"/>
            <a:ext cx="736560" cy="362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402" name="Google Shape;1402;p163"/>
          <p:cNvSpPr/>
          <p:nvPr/>
        </p:nvSpPr>
        <p:spPr>
          <a:xfrm>
            <a:off x="3391200" y="36792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403" name="Google Shape;1403;p163"/>
          <p:cNvGrpSpPr/>
          <p:nvPr/>
        </p:nvGrpSpPr>
        <p:grpSpPr>
          <a:xfrm>
            <a:off x="535680" y="3679200"/>
            <a:ext cx="942120" cy="898200"/>
            <a:chOff x="535680" y="3679200"/>
            <a:chExt cx="942120" cy="898200"/>
          </a:xfrm>
        </p:grpSpPr>
        <p:sp>
          <p:nvSpPr>
            <p:cNvPr id="1404" name="Google Shape;1404;p163"/>
            <p:cNvSpPr/>
            <p:nvPr/>
          </p:nvSpPr>
          <p:spPr>
            <a:xfrm>
              <a:off x="535680" y="3679200"/>
              <a:ext cx="942120" cy="8982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405" name="Google Shape;1405;p163"/>
            <p:cNvGrpSpPr/>
            <p:nvPr/>
          </p:nvGrpSpPr>
          <p:grpSpPr>
            <a:xfrm>
              <a:off x="734040" y="3993840"/>
              <a:ext cx="545400" cy="441360"/>
              <a:chOff x="734040" y="3993840"/>
              <a:chExt cx="545400" cy="441360"/>
            </a:xfrm>
          </p:grpSpPr>
          <p:sp>
            <p:nvSpPr>
              <p:cNvPr id="1406" name="Google Shape;1406;p163"/>
              <p:cNvSpPr/>
              <p:nvPr/>
            </p:nvSpPr>
            <p:spPr>
              <a:xfrm>
                <a:off x="900360" y="399384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63"/>
              <p:cNvSpPr/>
              <p:nvPr/>
            </p:nvSpPr>
            <p:spPr>
              <a:xfrm>
                <a:off x="1076760" y="414432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08" name="Google Shape;1408;p163"/>
              <p:cNvCxnSpPr/>
              <p:nvPr/>
            </p:nvCxnSpPr>
            <p:spPr>
              <a:xfrm flipH="1" rot="-5400000">
                <a:off x="988200" y="4107600"/>
                <a:ext cx="99720" cy="74520"/>
              </a:xfrm>
              <a:prstGeom prst="bentConnector2">
                <a:avLst/>
              </a:prstGeom>
              <a:noFill/>
              <a:ln cap="flat" cmpd="sng" w="9525">
                <a:solidFill>
                  <a:srgbClr val="FFFFFF"/>
                </a:solidFill>
                <a:prstDash val="solid"/>
                <a:round/>
                <a:headEnd len="sm" w="sm" type="none"/>
                <a:tailEnd len="sm" w="sm" type="none"/>
              </a:ln>
            </p:spPr>
          </p:cxnSp>
          <p:sp>
            <p:nvSpPr>
              <p:cNvPr id="1409" name="Google Shape;1409;p163"/>
              <p:cNvSpPr/>
              <p:nvPr/>
            </p:nvSpPr>
            <p:spPr>
              <a:xfrm>
                <a:off x="734040" y="421452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0" name="Google Shape;1410;p163"/>
              <p:cNvCxnSpPr/>
              <p:nvPr/>
            </p:nvCxnSpPr>
            <p:spPr>
              <a:xfrm rot="5400000">
                <a:off x="884880" y="4147560"/>
                <a:ext cx="169560" cy="64080"/>
              </a:xfrm>
              <a:prstGeom prst="bentConnector2">
                <a:avLst/>
              </a:prstGeom>
              <a:noFill/>
              <a:ln cap="flat" cmpd="sng" w="9525">
                <a:solidFill>
                  <a:srgbClr val="FFFFFF"/>
                </a:solidFill>
                <a:prstDash val="solid"/>
                <a:round/>
                <a:headEnd len="sm" w="sm" type="none"/>
                <a:tailEnd len="sm" w="sm" type="none"/>
              </a:ln>
            </p:spPr>
          </p:cxnSp>
          <p:sp>
            <p:nvSpPr>
              <p:cNvPr id="1411" name="Google Shape;1411;p163"/>
              <p:cNvSpPr/>
              <p:nvPr/>
            </p:nvSpPr>
            <p:spPr>
              <a:xfrm>
                <a:off x="1076760" y="4334400"/>
                <a:ext cx="202680" cy="1008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2" name="Google Shape;1412;p163"/>
              <p:cNvCxnSpPr/>
              <p:nvPr/>
            </p:nvCxnSpPr>
            <p:spPr>
              <a:xfrm flipH="1" rot="-5400000">
                <a:off x="893160" y="4202280"/>
                <a:ext cx="289440" cy="74520"/>
              </a:xfrm>
              <a:prstGeom prst="bentConnector2">
                <a:avLst/>
              </a:prstGeom>
              <a:noFill/>
              <a:ln cap="flat" cmpd="sng" w="9525">
                <a:solidFill>
                  <a:srgbClr val="FFFFFF"/>
                </a:solidFill>
                <a:prstDash val="solid"/>
                <a:round/>
                <a:headEnd len="sm" w="sm" type="none"/>
                <a:tailEnd len="sm" w="sm" type="none"/>
              </a:ln>
            </p:spPr>
          </p:cxnSp>
        </p:grpSp>
      </p:grpSp>
      <p:sp>
        <p:nvSpPr>
          <p:cNvPr id="1413" name="Google Shape;1413;p163"/>
          <p:cNvSpPr/>
          <p:nvPr/>
        </p:nvSpPr>
        <p:spPr>
          <a:xfrm>
            <a:off x="1666440" y="3659040"/>
            <a:ext cx="73656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414" name="Google Shape;1414;p163"/>
          <p:cNvSpPr/>
          <p:nvPr/>
        </p:nvSpPr>
        <p:spPr>
          <a:xfrm>
            <a:off x="2529360" y="3542400"/>
            <a:ext cx="747720" cy="3229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415" name="Google Shape;1415;p163"/>
          <p:cNvSpPr/>
          <p:nvPr/>
        </p:nvSpPr>
        <p:spPr>
          <a:xfrm>
            <a:off x="3141360" y="3069360"/>
            <a:ext cx="9421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416" name="Google Shape;1416;p163"/>
          <p:cNvSpPr/>
          <p:nvPr/>
        </p:nvSpPr>
        <p:spPr>
          <a:xfrm>
            <a:off x="557640" y="3108600"/>
            <a:ext cx="700920" cy="40680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Media</a:t>
            </a:r>
            <a:endParaRPr b="0" i="0" sz="700" u="none" cap="none" strike="noStrike">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64"/>
          <p:cNvSpPr txBox="1"/>
          <p:nvPr/>
        </p:nvSpPr>
        <p:spPr>
          <a:xfrm>
            <a:off x="457200" y="183240"/>
            <a:ext cx="7086240" cy="285120"/>
          </a:xfrm>
          <a:prstGeom prst="rect">
            <a:avLst/>
          </a:prstGeom>
          <a:noFill/>
          <a:ln>
            <a:noFill/>
          </a:ln>
        </p:spPr>
        <p:txBody>
          <a:bodyPr anchorCtr="0" anchor="t" bIns="0" lIns="0" spcFirstLastPara="1" rIns="0" wrap="square" tIns="0">
            <a:normAutofit/>
          </a:bodyPr>
          <a:lstStyle/>
          <a:p>
            <a:pPr indent="0" lvl="0" marL="0" marR="0" rtl="0" algn="l">
              <a:lnSpc>
                <a:spcPct val="80000"/>
              </a:lnSpc>
              <a:spcBef>
                <a:spcPts val="0"/>
              </a:spcBef>
              <a:spcAft>
                <a:spcPts val="0"/>
              </a:spcAft>
              <a:buNone/>
            </a:pPr>
            <a:r>
              <a:rPr b="1" i="0" lang="en-US" sz="1800" u="none" cap="none" strike="noStrike">
                <a:solidFill>
                  <a:srgbClr val="000000"/>
                </a:solidFill>
                <a:latin typeface="Arial"/>
                <a:ea typeface="Arial"/>
                <a:cs typeface="Arial"/>
                <a:sym typeface="Arial"/>
              </a:rPr>
              <a:t>What is a Knowledge Fabric?</a:t>
            </a:r>
            <a:endParaRPr b="0" i="0" sz="1800" u="none" cap="none" strike="noStrike">
              <a:solidFill>
                <a:srgbClr val="000000"/>
              </a:solidFill>
              <a:latin typeface="Arial"/>
              <a:ea typeface="Arial"/>
              <a:cs typeface="Arial"/>
              <a:sym typeface="Arial"/>
            </a:endParaRPr>
          </a:p>
        </p:txBody>
      </p:sp>
      <p:sp>
        <p:nvSpPr>
          <p:cNvPr id="1422" name="Google Shape;1422;p164"/>
          <p:cNvSpPr txBox="1"/>
          <p:nvPr/>
        </p:nvSpPr>
        <p:spPr>
          <a:xfrm>
            <a:off x="152280" y="587520"/>
            <a:ext cx="4169520" cy="1275840"/>
          </a:xfrm>
          <a:prstGeom prst="rect">
            <a:avLst/>
          </a:prstGeom>
          <a:noFill/>
          <a:ln>
            <a:noFill/>
          </a:ln>
        </p:spPr>
        <p:txBody>
          <a:bodyPr anchorCtr="0" anchor="t" bIns="0" lIns="0" spcFirstLastPara="1" rIns="0" wrap="square" tIns="0">
            <a:normAutofit/>
          </a:bodyPr>
          <a:lstStyle/>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Content (Structured: Relational Data)</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Content (Unstructured: Documents, Non-Relational)</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Context (taxonomies &amp; ontologies: RDF, Graphs)*</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Cognition (Analytics = BI, Algorithms = AI)</a:t>
            </a:r>
            <a:endParaRPr b="0" i="0" sz="1100" u="none" cap="none" strike="noStrike">
              <a:solidFill>
                <a:srgbClr val="000000"/>
              </a:solidFill>
              <a:latin typeface="Arial"/>
              <a:ea typeface="Arial"/>
              <a:cs typeface="Arial"/>
              <a:sym typeface="Arial"/>
            </a:endParaRPr>
          </a:p>
          <a:p>
            <a:pPr indent="-183960" lvl="0" marL="457200" marR="0" rtl="0" algn="l">
              <a:lnSpc>
                <a:spcPct val="150000"/>
              </a:lnSpc>
              <a:spcBef>
                <a:spcPts val="0"/>
              </a:spcBef>
              <a:spcAft>
                <a:spcPts val="0"/>
              </a:spcAft>
              <a:buClr>
                <a:srgbClr val="595959"/>
              </a:buClr>
              <a:buSzPts val="1100"/>
              <a:buFont typeface="Arial"/>
              <a:buChar char="●"/>
            </a:pPr>
            <a:r>
              <a:rPr b="1" i="0" lang="en-US" sz="1100" u="none" cap="none" strike="noStrike">
                <a:solidFill>
                  <a:srgbClr val="595959"/>
                </a:solidFill>
                <a:latin typeface="Arial"/>
                <a:ea typeface="Arial"/>
                <a:cs typeface="Arial"/>
                <a:sym typeface="Arial"/>
              </a:rPr>
              <a:t>Constraints (Rules &amp; Conditional Logic)</a:t>
            </a:r>
            <a:endParaRPr b="0" i="0" sz="1100" u="none" cap="none" strike="noStrike">
              <a:solidFill>
                <a:srgbClr val="000000"/>
              </a:solidFill>
              <a:latin typeface="Arial"/>
              <a:ea typeface="Arial"/>
              <a:cs typeface="Arial"/>
              <a:sym typeface="Arial"/>
            </a:endParaRPr>
          </a:p>
        </p:txBody>
      </p:sp>
      <p:sp>
        <p:nvSpPr>
          <p:cNvPr id="1423" name="Google Shape;1423;p164"/>
          <p:cNvSpPr/>
          <p:nvPr/>
        </p:nvSpPr>
        <p:spPr>
          <a:xfrm>
            <a:off x="4572000" y="713160"/>
            <a:ext cx="4116240" cy="395820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Knowledge Fabric</a:t>
            </a:r>
            <a:endParaRPr b="0" i="0" sz="1200" u="none" cap="none" strike="noStrike">
              <a:latin typeface="Arial"/>
              <a:ea typeface="Arial"/>
              <a:cs typeface="Arial"/>
              <a:sym typeface="Arial"/>
            </a:endParaRPr>
          </a:p>
        </p:txBody>
      </p:sp>
      <p:sp>
        <p:nvSpPr>
          <p:cNvPr id="1424" name="Google Shape;1424;p164"/>
          <p:cNvSpPr/>
          <p:nvPr/>
        </p:nvSpPr>
        <p:spPr>
          <a:xfrm>
            <a:off x="6220440" y="1282320"/>
            <a:ext cx="2306520" cy="127584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Semantic Knowledge</a:t>
            </a:r>
            <a:endParaRPr b="0" i="0" sz="1000" u="none" cap="none" strike="noStrike">
              <a:latin typeface="Arial"/>
              <a:ea typeface="Arial"/>
              <a:cs typeface="Arial"/>
              <a:sym typeface="Arial"/>
            </a:endParaRPr>
          </a:p>
        </p:txBody>
      </p:sp>
      <p:sp>
        <p:nvSpPr>
          <p:cNvPr id="1425" name="Google Shape;1425;p164"/>
          <p:cNvSpPr/>
          <p:nvPr/>
        </p:nvSpPr>
        <p:spPr>
          <a:xfrm>
            <a:off x="4697640" y="1304280"/>
            <a:ext cx="1227960" cy="5979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Cognition</a:t>
            </a:r>
            <a:endParaRPr b="0" i="0" sz="1000" u="none" cap="none" strike="noStrike">
              <a:latin typeface="Arial"/>
              <a:ea typeface="Arial"/>
              <a:cs typeface="Arial"/>
              <a:sym typeface="Arial"/>
            </a:endParaRPr>
          </a:p>
        </p:txBody>
      </p:sp>
      <p:sp>
        <p:nvSpPr>
          <p:cNvPr id="1426" name="Google Shape;1426;p164"/>
          <p:cNvSpPr/>
          <p:nvPr/>
        </p:nvSpPr>
        <p:spPr>
          <a:xfrm>
            <a:off x="4697640" y="1944360"/>
            <a:ext cx="1227960" cy="6073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Constraints</a:t>
            </a:r>
            <a:endParaRPr b="0" i="0" sz="1000" u="none" cap="none" strike="noStrike">
              <a:latin typeface="Arial"/>
              <a:ea typeface="Arial"/>
              <a:cs typeface="Arial"/>
              <a:sym typeface="Arial"/>
            </a:endParaRPr>
          </a:p>
        </p:txBody>
      </p:sp>
      <p:sp>
        <p:nvSpPr>
          <p:cNvPr id="1427" name="Google Shape;1427;p164"/>
          <p:cNvSpPr/>
          <p:nvPr/>
        </p:nvSpPr>
        <p:spPr>
          <a:xfrm>
            <a:off x="5033160" y="2224080"/>
            <a:ext cx="556920" cy="237600"/>
          </a:xfrm>
          <a:prstGeom prst="can">
            <a:avLst>
              <a:gd fmla="val 25000" name="adj"/>
            </a:avLst>
          </a:prstGeom>
          <a:solidFill>
            <a:srgbClr val="D9D9D9"/>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Rules</a:t>
            </a:r>
            <a:endParaRPr b="0" i="0" sz="900" u="none" cap="none" strike="noStrike">
              <a:latin typeface="Arial"/>
              <a:ea typeface="Arial"/>
              <a:cs typeface="Arial"/>
              <a:sym typeface="Arial"/>
            </a:endParaRPr>
          </a:p>
        </p:txBody>
      </p:sp>
      <p:sp>
        <p:nvSpPr>
          <p:cNvPr id="1428" name="Google Shape;1428;p164"/>
          <p:cNvSpPr/>
          <p:nvPr/>
        </p:nvSpPr>
        <p:spPr>
          <a:xfrm>
            <a:off x="6997680" y="2075400"/>
            <a:ext cx="7171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Taxonomy</a:t>
            </a:r>
            <a:endParaRPr b="0" i="0" sz="700" u="none" cap="none" strike="noStrike">
              <a:latin typeface="Arial"/>
              <a:ea typeface="Arial"/>
              <a:cs typeface="Arial"/>
              <a:sym typeface="Arial"/>
            </a:endParaRPr>
          </a:p>
        </p:txBody>
      </p:sp>
      <p:sp>
        <p:nvSpPr>
          <p:cNvPr id="1429" name="Google Shape;1429;p164"/>
          <p:cNvSpPr/>
          <p:nvPr/>
        </p:nvSpPr>
        <p:spPr>
          <a:xfrm>
            <a:off x="7543440" y="2054880"/>
            <a:ext cx="98352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Ontology</a:t>
            </a:r>
            <a:endParaRPr b="0" i="0" sz="700" u="none" cap="none" strike="noStrike">
              <a:latin typeface="Arial"/>
              <a:ea typeface="Arial"/>
              <a:cs typeface="Arial"/>
              <a:sym typeface="Arial"/>
            </a:endParaRPr>
          </a:p>
        </p:txBody>
      </p:sp>
      <p:sp>
        <p:nvSpPr>
          <p:cNvPr id="1430" name="Google Shape;1430;p164"/>
          <p:cNvSpPr/>
          <p:nvPr/>
        </p:nvSpPr>
        <p:spPr>
          <a:xfrm>
            <a:off x="6328080" y="2067120"/>
            <a:ext cx="717120" cy="28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414141"/>
                </a:solidFill>
                <a:latin typeface="Arial"/>
                <a:ea typeface="Arial"/>
                <a:cs typeface="Arial"/>
                <a:sym typeface="Arial"/>
              </a:rPr>
              <a:t>Vocabulary</a:t>
            </a:r>
            <a:endParaRPr b="0" i="0" sz="700" u="none" cap="none" strike="noStrike">
              <a:latin typeface="Arial"/>
              <a:ea typeface="Arial"/>
              <a:cs typeface="Arial"/>
              <a:sym typeface="Arial"/>
            </a:endParaRPr>
          </a:p>
        </p:txBody>
      </p:sp>
      <p:sp>
        <p:nvSpPr>
          <p:cNvPr id="1431" name="Google Shape;1431;p164"/>
          <p:cNvSpPr/>
          <p:nvPr/>
        </p:nvSpPr>
        <p:spPr>
          <a:xfrm>
            <a:off x="4835160" y="1625760"/>
            <a:ext cx="416520" cy="209880"/>
          </a:xfrm>
          <a:prstGeom prst="rect">
            <a:avLst/>
          </a:prstGeom>
          <a:noFill/>
          <a:ln cap="flat" cmpd="sng" w="19075">
            <a:solidFill>
              <a:srgbClr val="7F7F7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BI</a:t>
            </a:r>
            <a:endParaRPr b="0" i="0" sz="900" u="none" cap="none" strike="noStrike">
              <a:latin typeface="Arial"/>
              <a:ea typeface="Arial"/>
              <a:cs typeface="Arial"/>
              <a:sym typeface="Arial"/>
            </a:endParaRPr>
          </a:p>
        </p:txBody>
      </p:sp>
      <p:sp>
        <p:nvSpPr>
          <p:cNvPr id="1432" name="Google Shape;1432;p164"/>
          <p:cNvSpPr/>
          <p:nvPr/>
        </p:nvSpPr>
        <p:spPr>
          <a:xfrm>
            <a:off x="5402520" y="1625760"/>
            <a:ext cx="416520" cy="209880"/>
          </a:xfrm>
          <a:prstGeom prst="rect">
            <a:avLst/>
          </a:prstGeom>
          <a:noFill/>
          <a:ln cap="flat" cmpd="sng" w="19075">
            <a:solidFill>
              <a:srgbClr val="7F7F7F"/>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4A86E8"/>
                </a:solidFill>
                <a:latin typeface="Arial"/>
                <a:ea typeface="Arial"/>
                <a:cs typeface="Arial"/>
                <a:sym typeface="Arial"/>
              </a:rPr>
              <a:t>AI</a:t>
            </a:r>
            <a:endParaRPr b="0" i="0" sz="900" u="none" cap="none" strike="noStrike">
              <a:latin typeface="Arial"/>
              <a:ea typeface="Arial"/>
              <a:cs typeface="Arial"/>
              <a:sym typeface="Arial"/>
            </a:endParaRPr>
          </a:p>
        </p:txBody>
      </p:sp>
      <p:pic>
        <p:nvPicPr>
          <p:cNvPr id="1433" name="Google Shape;1433;p164"/>
          <p:cNvPicPr preferRelativeResize="0"/>
          <p:nvPr/>
        </p:nvPicPr>
        <p:blipFill rotWithShape="1">
          <a:blip r:embed="rId3">
            <a:alphaModFix/>
          </a:blip>
          <a:srcRect b="0" l="0" r="0" t="0"/>
          <a:stretch/>
        </p:blipFill>
        <p:spPr>
          <a:xfrm>
            <a:off x="2322360" y="2152440"/>
            <a:ext cx="465120" cy="495360"/>
          </a:xfrm>
          <a:prstGeom prst="rect">
            <a:avLst/>
          </a:prstGeom>
          <a:noFill/>
          <a:ln cap="flat" cmpd="sng" w="9525">
            <a:solidFill>
              <a:srgbClr val="7F7F7F"/>
            </a:solidFill>
            <a:prstDash val="solid"/>
            <a:round/>
            <a:headEnd len="sm" w="sm" type="none"/>
            <a:tailEnd len="sm" w="sm" type="none"/>
          </a:ln>
        </p:spPr>
      </p:pic>
      <p:pic>
        <p:nvPicPr>
          <p:cNvPr id="1434" name="Google Shape;1434;p164"/>
          <p:cNvPicPr preferRelativeResize="0"/>
          <p:nvPr/>
        </p:nvPicPr>
        <p:blipFill rotWithShape="1">
          <a:blip r:embed="rId4">
            <a:alphaModFix/>
          </a:blip>
          <a:srcRect b="0" l="0" r="0" t="0"/>
          <a:stretch/>
        </p:blipFill>
        <p:spPr>
          <a:xfrm>
            <a:off x="2292120" y="2833200"/>
            <a:ext cx="495360" cy="515520"/>
          </a:xfrm>
          <a:prstGeom prst="rect">
            <a:avLst/>
          </a:prstGeom>
          <a:noFill/>
          <a:ln>
            <a:noFill/>
          </a:ln>
        </p:spPr>
      </p:pic>
      <p:cxnSp>
        <p:nvCxnSpPr>
          <p:cNvPr id="1435" name="Google Shape;1435;p164"/>
          <p:cNvCxnSpPr/>
          <p:nvPr/>
        </p:nvCxnSpPr>
        <p:spPr>
          <a:xfrm rot="10800000">
            <a:off x="2788200" y="2400180"/>
            <a:ext cx="1783800" cy="291900"/>
          </a:xfrm>
          <a:prstGeom prst="curvedConnector3">
            <a:avLst>
              <a:gd fmla="val 50000" name="adj1"/>
            </a:avLst>
          </a:prstGeom>
          <a:noFill/>
          <a:ln cap="flat" cmpd="sng" w="28425">
            <a:solidFill>
              <a:srgbClr val="F3EDE0"/>
            </a:solidFill>
            <a:prstDash val="solid"/>
            <a:round/>
            <a:headEnd len="med" w="med" type="triangle"/>
            <a:tailEnd len="med" w="med" type="triangle"/>
          </a:ln>
        </p:spPr>
      </p:cxnSp>
      <p:cxnSp>
        <p:nvCxnSpPr>
          <p:cNvPr id="1436" name="Google Shape;1436;p164"/>
          <p:cNvCxnSpPr/>
          <p:nvPr/>
        </p:nvCxnSpPr>
        <p:spPr>
          <a:xfrm flipH="1">
            <a:off x="2786400" y="2692080"/>
            <a:ext cx="1783800" cy="398400"/>
          </a:xfrm>
          <a:prstGeom prst="curvedConnector3">
            <a:avLst>
              <a:gd fmla="val 50000" name="adj1"/>
            </a:avLst>
          </a:prstGeom>
          <a:noFill/>
          <a:ln cap="flat" cmpd="sng" w="28425">
            <a:solidFill>
              <a:srgbClr val="F3EDE0"/>
            </a:solidFill>
            <a:prstDash val="solid"/>
            <a:round/>
            <a:headEnd len="med" w="med" type="triangle"/>
            <a:tailEnd len="med" w="med" type="triangle"/>
          </a:ln>
        </p:spPr>
      </p:cxnSp>
      <p:sp>
        <p:nvSpPr>
          <p:cNvPr id="1437" name="Google Shape;1437;p164"/>
          <p:cNvSpPr/>
          <p:nvPr/>
        </p:nvSpPr>
        <p:spPr>
          <a:xfrm>
            <a:off x="2854080" y="3172320"/>
            <a:ext cx="1717920" cy="43344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None/>
            </a:pPr>
            <a:r>
              <a:rPr b="1" i="0" lang="en-US" sz="1100" u="none" cap="none" strike="noStrike">
                <a:solidFill>
                  <a:srgbClr val="595959"/>
                </a:solidFill>
                <a:latin typeface="Arial"/>
                <a:ea typeface="Arial"/>
                <a:cs typeface="Arial"/>
                <a:sym typeface="Arial"/>
              </a:rPr>
              <a:t>“Intelligent Assistant”</a:t>
            </a:r>
            <a:endParaRPr b="0" i="0" sz="1100" u="none" cap="none" strike="noStrike">
              <a:latin typeface="Arial"/>
              <a:ea typeface="Arial"/>
              <a:cs typeface="Arial"/>
              <a:sym typeface="Arial"/>
            </a:endParaRPr>
          </a:p>
        </p:txBody>
      </p:sp>
      <p:sp>
        <p:nvSpPr>
          <p:cNvPr id="1438" name="Google Shape;1438;p164"/>
          <p:cNvSpPr/>
          <p:nvPr/>
        </p:nvSpPr>
        <p:spPr>
          <a:xfrm>
            <a:off x="5065920" y="2647800"/>
            <a:ext cx="3274560" cy="191088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Metadata about Digital</a:t>
            </a:r>
            <a:r>
              <a:rPr b="1" i="0" lang="en-US" sz="1000" u="none" cap="none" strike="noStrike">
                <a:solidFill>
                  <a:srgbClr val="000000"/>
                </a:solidFill>
                <a:latin typeface="Arial"/>
                <a:ea typeface="Arial"/>
                <a:cs typeface="Arial"/>
                <a:sym typeface="Arial"/>
              </a:rPr>
              <a:t> Content</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Metadata (Structures, Attributes, Relations)</a:t>
            </a:r>
            <a:endParaRPr b="0" i="0" sz="700" u="none" cap="none" strike="noStrike">
              <a:latin typeface="Arial"/>
              <a:ea typeface="Arial"/>
              <a:cs typeface="Arial"/>
              <a:sym typeface="Arial"/>
            </a:endParaRPr>
          </a:p>
        </p:txBody>
      </p:sp>
      <p:sp>
        <p:nvSpPr>
          <p:cNvPr id="1439" name="Google Shape;1439;p164"/>
          <p:cNvSpPr/>
          <p:nvPr/>
        </p:nvSpPr>
        <p:spPr>
          <a:xfrm>
            <a:off x="6917400" y="4119480"/>
            <a:ext cx="649440" cy="29052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Logic</a:t>
            </a:r>
            <a:endParaRPr b="0" i="0" sz="700" u="none" cap="none" strike="noStrike">
              <a:latin typeface="Arial"/>
              <a:ea typeface="Arial"/>
              <a:cs typeface="Arial"/>
              <a:sym typeface="Arial"/>
            </a:endParaRPr>
          </a:p>
        </p:txBody>
      </p:sp>
      <p:sp>
        <p:nvSpPr>
          <p:cNvPr id="1440" name="Google Shape;1440;p164"/>
          <p:cNvSpPr/>
          <p:nvPr/>
        </p:nvSpPr>
        <p:spPr>
          <a:xfrm>
            <a:off x="5932080" y="329688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441" name="Google Shape;1441;p164"/>
          <p:cNvSpPr/>
          <p:nvPr/>
        </p:nvSpPr>
        <p:spPr>
          <a:xfrm>
            <a:off x="6917400" y="3889800"/>
            <a:ext cx="64944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Use Cases</a:t>
            </a:r>
            <a:endParaRPr b="0" i="0" sz="700" u="none" cap="none" strike="noStrike">
              <a:latin typeface="Arial"/>
              <a:ea typeface="Arial"/>
              <a:cs typeface="Arial"/>
              <a:sym typeface="Arial"/>
            </a:endParaRPr>
          </a:p>
        </p:txBody>
      </p:sp>
      <p:sp>
        <p:nvSpPr>
          <p:cNvPr id="1442" name="Google Shape;1442;p164"/>
          <p:cNvSpPr/>
          <p:nvPr/>
        </p:nvSpPr>
        <p:spPr>
          <a:xfrm>
            <a:off x="6689880" y="328140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443" name="Google Shape;1443;p164"/>
          <p:cNvSpPr/>
          <p:nvPr/>
        </p:nvSpPr>
        <p:spPr>
          <a:xfrm>
            <a:off x="6126480" y="414504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444" name="Google Shape;1444;p164"/>
          <p:cNvSpPr/>
          <p:nvPr/>
        </p:nvSpPr>
        <p:spPr>
          <a:xfrm>
            <a:off x="7672320" y="37699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445" name="Google Shape;1445;p164"/>
          <p:cNvGrpSpPr/>
          <p:nvPr/>
        </p:nvGrpSpPr>
        <p:grpSpPr>
          <a:xfrm>
            <a:off x="5154480" y="3769920"/>
            <a:ext cx="830520" cy="720000"/>
            <a:chOff x="5154480" y="3769920"/>
            <a:chExt cx="830520" cy="720000"/>
          </a:xfrm>
        </p:grpSpPr>
        <p:sp>
          <p:nvSpPr>
            <p:cNvPr id="1446" name="Google Shape;1446;p164"/>
            <p:cNvSpPr/>
            <p:nvPr/>
          </p:nvSpPr>
          <p:spPr>
            <a:xfrm>
              <a:off x="5154480" y="376992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447" name="Google Shape;1447;p164"/>
            <p:cNvGrpSpPr/>
            <p:nvPr/>
          </p:nvGrpSpPr>
          <p:grpSpPr>
            <a:xfrm>
              <a:off x="5329440" y="4022280"/>
              <a:ext cx="480600" cy="353880"/>
              <a:chOff x="5329440" y="4022280"/>
              <a:chExt cx="480600" cy="353880"/>
            </a:xfrm>
          </p:grpSpPr>
          <p:sp>
            <p:nvSpPr>
              <p:cNvPr id="1448" name="Google Shape;1448;p164"/>
              <p:cNvSpPr/>
              <p:nvPr/>
            </p:nvSpPr>
            <p:spPr>
              <a:xfrm>
                <a:off x="5475960" y="402228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64"/>
              <p:cNvSpPr/>
              <p:nvPr/>
            </p:nvSpPr>
            <p:spPr>
              <a:xfrm>
                <a:off x="5631480" y="41432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0" name="Google Shape;1450;p164"/>
              <p:cNvCxnSpPr/>
              <p:nvPr/>
            </p:nvCxnSpPr>
            <p:spPr>
              <a:xfrm flipH="1" rot="-5400000">
                <a:off x="5558760" y="4110480"/>
                <a:ext cx="79920" cy="65520"/>
              </a:xfrm>
              <a:prstGeom prst="bentConnector2">
                <a:avLst/>
              </a:prstGeom>
              <a:noFill/>
              <a:ln cap="flat" cmpd="sng" w="9525">
                <a:solidFill>
                  <a:srgbClr val="FFFFFF"/>
                </a:solidFill>
                <a:prstDash val="solid"/>
                <a:round/>
                <a:headEnd len="sm" w="sm" type="none"/>
                <a:tailEnd len="sm" w="sm" type="none"/>
              </a:ln>
            </p:spPr>
          </p:cxnSp>
          <p:sp>
            <p:nvSpPr>
              <p:cNvPr id="1451" name="Google Shape;1451;p164"/>
              <p:cNvSpPr/>
              <p:nvPr/>
            </p:nvSpPr>
            <p:spPr>
              <a:xfrm>
                <a:off x="5329440" y="41990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2" name="Google Shape;1452;p164"/>
              <p:cNvCxnSpPr/>
              <p:nvPr/>
            </p:nvCxnSpPr>
            <p:spPr>
              <a:xfrm rot="5400000">
                <a:off x="5469120" y="4142880"/>
                <a:ext cx="135720" cy="56520"/>
              </a:xfrm>
              <a:prstGeom prst="bentConnector2">
                <a:avLst/>
              </a:prstGeom>
              <a:noFill/>
              <a:ln cap="flat" cmpd="sng" w="9525">
                <a:solidFill>
                  <a:srgbClr val="FFFFFF"/>
                </a:solidFill>
                <a:prstDash val="solid"/>
                <a:round/>
                <a:headEnd len="sm" w="sm" type="none"/>
                <a:tailEnd len="sm" w="sm" type="none"/>
              </a:ln>
            </p:spPr>
          </p:cxnSp>
          <p:sp>
            <p:nvSpPr>
              <p:cNvPr id="1453" name="Google Shape;1453;p164"/>
              <p:cNvSpPr/>
              <p:nvPr/>
            </p:nvSpPr>
            <p:spPr>
              <a:xfrm>
                <a:off x="5631480" y="429552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4" name="Google Shape;1454;p164"/>
              <p:cNvCxnSpPr/>
              <p:nvPr/>
            </p:nvCxnSpPr>
            <p:spPr>
              <a:xfrm flipH="1" rot="-5400000">
                <a:off x="5482440" y="4186440"/>
                <a:ext cx="232200" cy="65520"/>
              </a:xfrm>
              <a:prstGeom prst="bentConnector2">
                <a:avLst/>
              </a:prstGeom>
              <a:noFill/>
              <a:ln cap="flat" cmpd="sng" w="9525">
                <a:solidFill>
                  <a:srgbClr val="FFFFFF"/>
                </a:solidFill>
                <a:prstDash val="solid"/>
                <a:round/>
                <a:headEnd len="sm" w="sm" type="none"/>
                <a:tailEnd len="sm" w="sm" type="none"/>
              </a:ln>
            </p:spPr>
          </p:cxnSp>
        </p:grpSp>
      </p:grpSp>
      <p:sp>
        <p:nvSpPr>
          <p:cNvPr id="1455" name="Google Shape;1455;p164"/>
          <p:cNvSpPr/>
          <p:nvPr/>
        </p:nvSpPr>
        <p:spPr>
          <a:xfrm>
            <a:off x="6151680" y="37540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456" name="Google Shape;1456;p164"/>
          <p:cNvSpPr/>
          <p:nvPr/>
        </p:nvSpPr>
        <p:spPr>
          <a:xfrm>
            <a:off x="6912360" y="3660480"/>
            <a:ext cx="659520" cy="25848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Processes</a:t>
            </a:r>
            <a:endParaRPr b="0" i="0" sz="700" u="none" cap="none" strike="noStrike">
              <a:latin typeface="Arial"/>
              <a:ea typeface="Arial"/>
              <a:cs typeface="Arial"/>
              <a:sym typeface="Arial"/>
            </a:endParaRPr>
          </a:p>
        </p:txBody>
      </p:sp>
      <p:sp>
        <p:nvSpPr>
          <p:cNvPr id="1457" name="Google Shape;1457;p164"/>
          <p:cNvSpPr/>
          <p:nvPr/>
        </p:nvSpPr>
        <p:spPr>
          <a:xfrm>
            <a:off x="7452000" y="3281400"/>
            <a:ext cx="8305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Documents</a:t>
            </a:r>
            <a:endParaRPr b="0" i="0" sz="700" u="none" cap="none" strike="noStrike">
              <a:latin typeface="Arial"/>
              <a:ea typeface="Arial"/>
              <a:cs typeface="Arial"/>
              <a:sym typeface="Arial"/>
            </a:endParaRPr>
          </a:p>
        </p:txBody>
      </p:sp>
      <p:sp>
        <p:nvSpPr>
          <p:cNvPr id="1458" name="Google Shape;1458;p164"/>
          <p:cNvSpPr/>
          <p:nvPr/>
        </p:nvSpPr>
        <p:spPr>
          <a:xfrm>
            <a:off x="5173920" y="33127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Media</a:t>
            </a:r>
            <a:endParaRPr b="0" i="0" sz="700" u="none" cap="none" strike="noStrike">
              <a:latin typeface="Arial"/>
              <a:ea typeface="Arial"/>
              <a:cs typeface="Arial"/>
              <a:sym typeface="Arial"/>
            </a:endParaRPr>
          </a:p>
        </p:txBody>
      </p:sp>
      <p:pic>
        <p:nvPicPr>
          <p:cNvPr id="1459" name="Google Shape;1459;p164"/>
          <p:cNvPicPr preferRelativeResize="0"/>
          <p:nvPr/>
        </p:nvPicPr>
        <p:blipFill rotWithShape="1">
          <a:blip r:embed="rId5">
            <a:alphaModFix/>
          </a:blip>
          <a:srcRect b="0" l="0" r="0" t="0"/>
          <a:stretch/>
        </p:blipFill>
        <p:spPr>
          <a:xfrm>
            <a:off x="6334920" y="1713240"/>
            <a:ext cx="649440" cy="451080"/>
          </a:xfrm>
          <a:prstGeom prst="rect">
            <a:avLst/>
          </a:prstGeom>
          <a:noFill/>
          <a:ln>
            <a:noFill/>
          </a:ln>
        </p:spPr>
      </p:pic>
      <p:pic>
        <p:nvPicPr>
          <p:cNvPr id="1460" name="Google Shape;1460;p164"/>
          <p:cNvPicPr preferRelativeResize="0"/>
          <p:nvPr/>
        </p:nvPicPr>
        <p:blipFill rotWithShape="1">
          <a:blip r:embed="rId6">
            <a:alphaModFix/>
          </a:blip>
          <a:srcRect b="0" l="0" r="0" t="0"/>
          <a:stretch/>
        </p:blipFill>
        <p:spPr>
          <a:xfrm>
            <a:off x="7041960" y="1671120"/>
            <a:ext cx="717120" cy="497880"/>
          </a:xfrm>
          <a:prstGeom prst="rect">
            <a:avLst/>
          </a:prstGeom>
          <a:noFill/>
          <a:ln>
            <a:noFill/>
          </a:ln>
        </p:spPr>
      </p:pic>
      <p:pic>
        <p:nvPicPr>
          <p:cNvPr id="1461" name="Google Shape;1461;p164"/>
          <p:cNvPicPr preferRelativeResize="0"/>
          <p:nvPr/>
        </p:nvPicPr>
        <p:blipFill rotWithShape="1">
          <a:blip r:embed="rId7">
            <a:alphaModFix/>
          </a:blip>
          <a:srcRect b="0" l="0" r="0" t="0"/>
          <a:stretch/>
        </p:blipFill>
        <p:spPr>
          <a:xfrm>
            <a:off x="7727760" y="1715040"/>
            <a:ext cx="556920" cy="387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65"/>
          <p:cNvSpPr/>
          <p:nvPr/>
        </p:nvSpPr>
        <p:spPr>
          <a:xfrm>
            <a:off x="4987080" y="830520"/>
            <a:ext cx="3619800" cy="3548880"/>
          </a:xfrm>
          <a:prstGeom prst="rect">
            <a:avLst/>
          </a:prstGeom>
          <a:noFill/>
          <a:ln cap="flat" cmpd="sng" w="28425">
            <a:solidFill>
              <a:srgbClr val="FF3C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65"/>
          <p:cNvSpPr/>
          <p:nvPr/>
        </p:nvSpPr>
        <p:spPr>
          <a:xfrm>
            <a:off x="553680" y="2779560"/>
            <a:ext cx="4105800" cy="1796400"/>
          </a:xfrm>
          <a:prstGeom prst="roundRect">
            <a:avLst>
              <a:gd fmla="val 16667" name="adj"/>
            </a:avLst>
          </a:prstGeom>
          <a:solidFill>
            <a:srgbClr val="F3EDE0"/>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65"/>
          <p:cNvSpPr/>
          <p:nvPr/>
        </p:nvSpPr>
        <p:spPr>
          <a:xfrm>
            <a:off x="445320" y="73656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Reference Model for Semantic Knowledge</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3EDE0"/>
                </a:solidFill>
                <a:latin typeface="Arial"/>
                <a:ea typeface="Arial"/>
                <a:cs typeface="Arial"/>
                <a:sym typeface="Arial"/>
              </a:rPr>
              <a:t>Graphs (Published in RDF Stores)</a:t>
            </a:r>
            <a:endParaRPr b="0" i="0" sz="900" u="none" cap="none" strike="noStrike">
              <a:latin typeface="Arial"/>
              <a:ea typeface="Arial"/>
              <a:cs typeface="Arial"/>
              <a:sym typeface="Arial"/>
            </a:endParaRPr>
          </a:p>
        </p:txBody>
      </p:sp>
      <p:sp>
        <p:nvSpPr>
          <p:cNvPr id="1469" name="Google Shape;1469;p165"/>
          <p:cNvSpPr/>
          <p:nvPr/>
        </p:nvSpPr>
        <p:spPr>
          <a:xfrm>
            <a:off x="553680" y="126432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470" name="Google Shape;1470;p165"/>
          <p:cNvSpPr/>
          <p:nvPr/>
        </p:nvSpPr>
        <p:spPr>
          <a:xfrm>
            <a:off x="673920" y="16117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471" name="Google Shape;1471;p165"/>
          <p:cNvSpPr/>
          <p:nvPr/>
        </p:nvSpPr>
        <p:spPr>
          <a:xfrm>
            <a:off x="1901880" y="161172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472" name="Google Shape;1472;p165"/>
          <p:cNvSpPr/>
          <p:nvPr/>
        </p:nvSpPr>
        <p:spPr>
          <a:xfrm>
            <a:off x="673920" y="189180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473" name="Google Shape;1473;p165"/>
          <p:cNvSpPr/>
          <p:nvPr/>
        </p:nvSpPr>
        <p:spPr>
          <a:xfrm>
            <a:off x="3320280" y="141048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474" name="Google Shape;1474;p165"/>
          <p:cNvSpPr/>
          <p:nvPr/>
        </p:nvSpPr>
        <p:spPr>
          <a:xfrm>
            <a:off x="3320280" y="170172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475" name="Google Shape;1475;p165"/>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1900" u="none" cap="none" strike="noStrike">
                <a:solidFill>
                  <a:srgbClr val="000000"/>
                </a:solidFill>
                <a:latin typeface="Arial"/>
                <a:ea typeface="Arial"/>
                <a:cs typeface="Arial"/>
                <a:sym typeface="Arial"/>
              </a:rPr>
              <a:t>Conceptual View of  Semantic Layer:  </a:t>
            </a:r>
            <a:r>
              <a:rPr b="1" i="0" lang="en-US" sz="1800" u="none" cap="none" strike="noStrike">
                <a:solidFill>
                  <a:srgbClr val="0089EC"/>
                </a:solidFill>
                <a:latin typeface="Arial"/>
                <a:ea typeface="Arial"/>
                <a:cs typeface="Arial"/>
                <a:sym typeface="Arial"/>
              </a:rPr>
              <a:t>Mapping Meaning to Digital Assets</a:t>
            </a:r>
            <a:endParaRPr b="0" i="0" sz="1800" u="none" cap="none" strike="noStrike">
              <a:latin typeface="Arial"/>
              <a:ea typeface="Arial"/>
              <a:cs typeface="Arial"/>
              <a:sym typeface="Arial"/>
            </a:endParaRPr>
          </a:p>
        </p:txBody>
      </p:sp>
      <p:sp>
        <p:nvSpPr>
          <p:cNvPr id="1476" name="Google Shape;1476;p165"/>
          <p:cNvSpPr/>
          <p:nvPr/>
        </p:nvSpPr>
        <p:spPr>
          <a:xfrm>
            <a:off x="597600" y="2761560"/>
            <a:ext cx="4219560" cy="164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Future</a:t>
            </a:r>
            <a:r>
              <a:rPr b="1" i="0" lang="en-US" sz="900" u="none" cap="none" strike="noStrike">
                <a:solidFill>
                  <a:srgbClr val="222222"/>
                </a:solidFill>
                <a:latin typeface="Arial"/>
                <a:ea typeface="Arial"/>
                <a:cs typeface="Arial"/>
                <a:sym typeface="Arial"/>
              </a:rPr>
              <a:t> </a:t>
            </a:r>
            <a:br>
              <a:rPr b="0" i="0" lang="en-US" sz="1800" u="none" cap="none" strike="noStrike">
                <a:latin typeface="Arial"/>
                <a:ea typeface="Arial"/>
                <a:cs typeface="Arial"/>
                <a:sym typeface="Arial"/>
              </a:rPr>
            </a:br>
            <a:r>
              <a:rPr b="1" i="0" lang="en-US" sz="900" u="none" cap="none" strike="noStrike">
                <a:solidFill>
                  <a:srgbClr val="222222"/>
                </a:solidFill>
                <a:latin typeface="Arial"/>
                <a:ea typeface="Arial"/>
                <a:cs typeface="Arial"/>
                <a:sym typeface="Arial"/>
              </a:rPr>
              <a:t>Building a Learning System</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Introduce lifecycle standards and design patterns for SI, AI &amp; DI.</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Implement both virtual &amp; physical knowledge graphs for better scale and efficiency.</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Develop an evolving learning capability by capturing clear facts (both relational and interconnected) &amp; capturing probable knowledge (using vector-based methods and algorithmic improvements)</a:t>
            </a:r>
            <a:endParaRPr b="0" i="0" sz="900" u="none" cap="none" strike="noStrike">
              <a:latin typeface="Arial"/>
              <a:ea typeface="Arial"/>
              <a:cs typeface="Arial"/>
              <a:sym typeface="Arial"/>
            </a:endParaRPr>
          </a:p>
        </p:txBody>
      </p:sp>
      <p:sp>
        <p:nvSpPr>
          <p:cNvPr id="1477" name="Google Shape;1477;p165"/>
          <p:cNvSpPr/>
          <p:nvPr/>
        </p:nvSpPr>
        <p:spPr>
          <a:xfrm>
            <a:off x="5049360" y="830880"/>
            <a:ext cx="3453480" cy="321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US" sz="1300" u="none" cap="none" strike="noStrike">
                <a:solidFill>
                  <a:srgbClr val="222222"/>
                </a:solidFill>
                <a:latin typeface="Arial"/>
                <a:ea typeface="Arial"/>
                <a:cs typeface="Arial"/>
                <a:sym typeface="Arial"/>
              </a:rPr>
              <a:t>2025</a:t>
            </a:r>
            <a:br>
              <a:rPr b="0" i="0" lang="en-US" sz="1800" u="none" cap="none" strike="noStrike">
                <a:latin typeface="Arial"/>
                <a:ea typeface="Arial"/>
                <a:cs typeface="Arial"/>
                <a:sym typeface="Arial"/>
              </a:rPr>
            </a:br>
            <a:r>
              <a:rPr b="1" i="0" lang="en-US" sz="900" u="none" cap="none" strike="noStrike">
                <a:solidFill>
                  <a:srgbClr val="222222"/>
                </a:solidFill>
                <a:latin typeface="Arial"/>
                <a:ea typeface="Arial"/>
                <a:cs typeface="Arial"/>
                <a:sym typeface="Arial"/>
              </a:rPr>
              <a:t>The 3-Tier Approach to Smarter Content &amp; Knowledge</a:t>
            </a:r>
            <a:br>
              <a:rPr b="0" i="0" lang="en-US" sz="1800" u="none" cap="none" strike="noStrike">
                <a:latin typeface="Arial"/>
                <a:ea typeface="Arial"/>
                <a:cs typeface="Arial"/>
                <a:sym typeface="Arial"/>
              </a:rPr>
            </a:br>
            <a:r>
              <a:rPr b="0" i="0" lang="en-US" sz="900" u="none" cap="none" strike="noStrike">
                <a:solidFill>
                  <a:srgbClr val="222222"/>
                </a:solidFill>
                <a:latin typeface="Arial"/>
                <a:ea typeface="Arial"/>
                <a:cs typeface="Arial"/>
                <a:sym typeface="Arial"/>
              </a:rPr>
              <a:t>Using our current infrastructure to make content more relevant to users based on their context and persona.</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Smarter organization by breaking down complex topics into manageable component knowledge, using processes as the core organizing principle. This involves building connections within and between different knowledge areas.</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Unified intelligence by establishing clear rules for semantic intelligence (SI) and align it with our artificial intelligence (AI), decision intelligence (DI) and business intelligence (BI) efforts leading to a more evolved model of our interconnected knowledge system as a design standard.</a:t>
            </a:r>
            <a:endParaRPr b="0" i="0" sz="900" u="none" cap="none" strike="noStrike">
              <a:latin typeface="Arial"/>
              <a:ea typeface="Arial"/>
              <a:cs typeface="Arial"/>
              <a:sym typeface="Arial"/>
            </a:endParaRPr>
          </a:p>
          <a:p>
            <a:pPr indent="-285480" lvl="0" marL="457200" marR="0" rtl="0" algn="l">
              <a:lnSpc>
                <a:spcPct val="115000"/>
              </a:lnSpc>
              <a:spcBef>
                <a:spcPts val="0"/>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Enhance search capabilities by finding data &amp; objects, discovering relevant insights, finding direct answers to questions, offering suggestions during guided searches &amp; developing an intelligent assistant to help users search better.</a:t>
            </a:r>
            <a:endParaRPr b="0" i="0" sz="900" u="none" cap="none" strike="noStrike">
              <a:latin typeface="Arial"/>
              <a:ea typeface="Arial"/>
              <a:cs typeface="Arial"/>
              <a:sym typeface="Arial"/>
            </a:endParaRPr>
          </a:p>
        </p:txBody>
      </p:sp>
      <p:grpSp>
        <p:nvGrpSpPr>
          <p:cNvPr id="1478" name="Google Shape;1478;p165"/>
          <p:cNvGrpSpPr/>
          <p:nvPr/>
        </p:nvGrpSpPr>
        <p:grpSpPr>
          <a:xfrm>
            <a:off x="8546760" y="9000"/>
            <a:ext cx="594000" cy="679680"/>
            <a:chOff x="8546760" y="9000"/>
            <a:chExt cx="594000" cy="679680"/>
          </a:xfrm>
        </p:grpSpPr>
        <p:sp>
          <p:nvSpPr>
            <p:cNvPr id="1479" name="Google Shape;1479;p165"/>
            <p:cNvSpPr/>
            <p:nvPr/>
          </p:nvSpPr>
          <p:spPr>
            <a:xfrm>
              <a:off x="8546760" y="900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0" name="Google Shape;1480;p165"/>
            <p:cNvGrpSpPr/>
            <p:nvPr/>
          </p:nvGrpSpPr>
          <p:grpSpPr>
            <a:xfrm>
              <a:off x="8585280" y="9360"/>
              <a:ext cx="555480" cy="679320"/>
              <a:chOff x="8585280" y="9360"/>
              <a:chExt cx="555480" cy="679320"/>
            </a:xfrm>
          </p:grpSpPr>
          <p:pic>
            <p:nvPicPr>
              <p:cNvPr id="1481" name="Google Shape;1481;p165"/>
              <p:cNvPicPr preferRelativeResize="0"/>
              <p:nvPr/>
            </p:nvPicPr>
            <p:blipFill rotWithShape="1">
              <a:blip r:embed="rId3">
                <a:alphaModFix/>
              </a:blip>
              <a:srcRect b="0" l="20669" r="9844" t="0"/>
              <a:stretch/>
            </p:blipFill>
            <p:spPr>
              <a:xfrm>
                <a:off x="8585280" y="9360"/>
                <a:ext cx="530640" cy="530640"/>
              </a:xfrm>
              <a:prstGeom prst="rect">
                <a:avLst/>
              </a:prstGeom>
              <a:noFill/>
              <a:ln>
                <a:noFill/>
              </a:ln>
            </p:spPr>
          </p:pic>
          <p:sp>
            <p:nvSpPr>
              <p:cNvPr id="1482" name="Google Shape;1482;p165"/>
              <p:cNvSpPr/>
              <p:nvPr/>
            </p:nvSpPr>
            <p:spPr>
              <a:xfrm>
                <a:off x="8585280" y="502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F50A23"/>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66"/>
          <p:cNvSpPr/>
          <p:nvPr/>
        </p:nvSpPr>
        <p:spPr>
          <a:xfrm>
            <a:off x="179640" y="71748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Source of Truth (SOT)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FFFFFF"/>
                </a:solidFill>
                <a:latin typeface="Arial"/>
                <a:ea typeface="Arial"/>
                <a:cs typeface="Arial"/>
                <a:sym typeface="Arial"/>
              </a:rPr>
              <a:t>(Enterprise, Domain-Specific, Persona POV)</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900" u="none" cap="none" strike="noStrike">
              <a:latin typeface="Arial"/>
              <a:ea typeface="Arial"/>
              <a:cs typeface="Arial"/>
              <a:sym typeface="Arial"/>
            </a:endParaRPr>
          </a:p>
        </p:txBody>
      </p:sp>
      <p:sp>
        <p:nvSpPr>
          <p:cNvPr id="1488" name="Google Shape;1488;p166"/>
          <p:cNvSpPr/>
          <p:nvPr/>
        </p:nvSpPr>
        <p:spPr>
          <a:xfrm>
            <a:off x="288000" y="1245600"/>
            <a:ext cx="257004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p:txBody>
      </p:sp>
      <p:sp>
        <p:nvSpPr>
          <p:cNvPr id="1489" name="Google Shape;1489;p166"/>
          <p:cNvSpPr/>
          <p:nvPr/>
        </p:nvSpPr>
        <p:spPr>
          <a:xfrm>
            <a:off x="408240" y="159264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Vocabularies</a:t>
            </a:r>
            <a:endParaRPr b="0" i="0" sz="900" u="none" cap="none" strike="noStrike">
              <a:latin typeface="Arial"/>
              <a:ea typeface="Arial"/>
              <a:cs typeface="Arial"/>
              <a:sym typeface="Arial"/>
            </a:endParaRPr>
          </a:p>
        </p:txBody>
      </p:sp>
      <p:sp>
        <p:nvSpPr>
          <p:cNvPr id="1490" name="Google Shape;1490;p166"/>
          <p:cNvSpPr/>
          <p:nvPr/>
        </p:nvSpPr>
        <p:spPr>
          <a:xfrm>
            <a:off x="1636200" y="1592640"/>
            <a:ext cx="1176840" cy="81180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Ontologies</a:t>
            </a:r>
            <a:endParaRPr b="0" i="0" sz="900" u="none" cap="none" strike="noStrike">
              <a:latin typeface="Arial"/>
              <a:ea typeface="Arial"/>
              <a:cs typeface="Arial"/>
              <a:sym typeface="Arial"/>
            </a:endParaRPr>
          </a:p>
        </p:txBody>
      </p:sp>
      <p:sp>
        <p:nvSpPr>
          <p:cNvPr id="1491" name="Google Shape;1491;p166"/>
          <p:cNvSpPr/>
          <p:nvPr/>
        </p:nvSpPr>
        <p:spPr>
          <a:xfrm>
            <a:off x="408240" y="1872720"/>
            <a:ext cx="1227960" cy="531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Taxonomies</a:t>
            </a:r>
            <a:endParaRPr b="0" i="0" sz="900" u="none" cap="none" strike="noStrike">
              <a:latin typeface="Arial"/>
              <a:ea typeface="Arial"/>
              <a:cs typeface="Arial"/>
              <a:sym typeface="Arial"/>
            </a:endParaRPr>
          </a:p>
        </p:txBody>
      </p:sp>
      <p:sp>
        <p:nvSpPr>
          <p:cNvPr id="1492" name="Google Shape;1492;p166"/>
          <p:cNvSpPr/>
          <p:nvPr/>
        </p:nvSpPr>
        <p:spPr>
          <a:xfrm>
            <a:off x="3054600" y="1391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p:txBody>
      </p:sp>
      <p:sp>
        <p:nvSpPr>
          <p:cNvPr id="1493" name="Google Shape;1493;p166"/>
          <p:cNvSpPr/>
          <p:nvPr/>
        </p:nvSpPr>
        <p:spPr>
          <a:xfrm>
            <a:off x="3054600" y="1682640"/>
            <a:ext cx="1227960" cy="722160"/>
          </a:xfrm>
          <a:prstGeom prst="roundRect">
            <a:avLst>
              <a:gd fmla="val 12012"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Digital </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p:txBody>
      </p:sp>
      <p:sp>
        <p:nvSpPr>
          <p:cNvPr id="1494" name="Google Shape;1494;p166"/>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of Semantic Objects to Catalog Structures</a:t>
            </a:r>
            <a:endParaRPr b="0" i="0" sz="2000" u="none" cap="none" strike="noStrike">
              <a:latin typeface="Arial"/>
              <a:ea typeface="Arial"/>
              <a:cs typeface="Arial"/>
              <a:sym typeface="Arial"/>
            </a:endParaRPr>
          </a:p>
        </p:txBody>
      </p:sp>
      <p:grpSp>
        <p:nvGrpSpPr>
          <p:cNvPr id="1495" name="Google Shape;1495;p166"/>
          <p:cNvGrpSpPr/>
          <p:nvPr/>
        </p:nvGrpSpPr>
        <p:grpSpPr>
          <a:xfrm>
            <a:off x="5123880" y="787680"/>
            <a:ext cx="4219560" cy="1910880"/>
            <a:chOff x="5123880" y="787680"/>
            <a:chExt cx="4219560" cy="1910880"/>
          </a:xfrm>
        </p:grpSpPr>
        <p:sp>
          <p:nvSpPr>
            <p:cNvPr id="1496" name="Google Shape;1496;p166"/>
            <p:cNvSpPr/>
            <p:nvPr/>
          </p:nvSpPr>
          <p:spPr>
            <a:xfrm>
              <a:off x="5123880" y="787680"/>
              <a:ext cx="4219560" cy="191088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Verizon Data Catalog</a:t>
              </a:r>
              <a:endParaRPr b="0" i="0" sz="1200" u="none" cap="none" strike="noStrike">
                <a:latin typeface="Arial"/>
                <a:ea typeface="Arial"/>
                <a:cs typeface="Arial"/>
                <a:sym typeface="Arial"/>
              </a:endParaRPr>
            </a:p>
          </p:txBody>
        </p:sp>
        <p:sp>
          <p:nvSpPr>
            <p:cNvPr id="1497" name="Google Shape;1497;p166"/>
            <p:cNvSpPr/>
            <p:nvPr/>
          </p:nvSpPr>
          <p:spPr>
            <a:xfrm>
              <a:off x="5717520" y="132156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MetaModel</a:t>
              </a:r>
              <a:endParaRPr b="0" i="0" sz="900" u="none" cap="none" strike="noStrike">
                <a:latin typeface="Arial"/>
                <a:ea typeface="Arial"/>
                <a:cs typeface="Arial"/>
                <a:sym typeface="Arial"/>
              </a:endParaRPr>
            </a:p>
          </p:txBody>
        </p:sp>
        <p:sp>
          <p:nvSpPr>
            <p:cNvPr id="1498" name="Google Shape;1498;p166"/>
            <p:cNvSpPr/>
            <p:nvPr/>
          </p:nvSpPr>
          <p:spPr>
            <a:xfrm>
              <a:off x="5717520" y="175752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Attributes</a:t>
              </a:r>
              <a:endParaRPr b="0" i="0" sz="900" u="none" cap="none" strike="noStrike">
                <a:latin typeface="Arial"/>
                <a:ea typeface="Arial"/>
                <a:cs typeface="Arial"/>
                <a:sym typeface="Arial"/>
              </a:endParaRPr>
            </a:p>
          </p:txBody>
        </p:sp>
        <p:sp>
          <p:nvSpPr>
            <p:cNvPr id="1499" name="Google Shape;1499;p166"/>
            <p:cNvSpPr/>
            <p:nvPr/>
          </p:nvSpPr>
          <p:spPr>
            <a:xfrm>
              <a:off x="5717520" y="213840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Custom Attributes</a:t>
              </a:r>
              <a:endParaRPr b="0" i="0" sz="900" u="none" cap="none" strike="noStrike">
                <a:latin typeface="Arial"/>
                <a:ea typeface="Arial"/>
                <a:cs typeface="Arial"/>
                <a:sym typeface="Arial"/>
              </a:endParaRPr>
            </a:p>
          </p:txBody>
        </p:sp>
        <p:sp>
          <p:nvSpPr>
            <p:cNvPr id="1500" name="Google Shape;1500;p166"/>
            <p:cNvSpPr/>
            <p:nvPr/>
          </p:nvSpPr>
          <p:spPr>
            <a:xfrm>
              <a:off x="7657920" y="1508040"/>
              <a:ext cx="1227960" cy="27972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Glossary of Terms</a:t>
              </a:r>
              <a:endParaRPr b="0" i="0" sz="900" u="none" cap="none" strike="noStrike">
                <a:latin typeface="Arial"/>
                <a:ea typeface="Arial"/>
                <a:cs typeface="Arial"/>
                <a:sym typeface="Arial"/>
              </a:endParaRPr>
            </a:p>
          </p:txBody>
        </p:sp>
      </p:grpSp>
      <p:cxnSp>
        <p:nvCxnSpPr>
          <p:cNvPr id="1501" name="Google Shape;1501;p166"/>
          <p:cNvCxnSpPr/>
          <p:nvPr/>
        </p:nvCxnSpPr>
        <p:spPr>
          <a:xfrm flipH="1" rot="10800000">
            <a:off x="4398120" y="1673400"/>
            <a:ext cx="1317900" cy="211200"/>
          </a:xfrm>
          <a:prstGeom prst="curvedConnector3">
            <a:avLst>
              <a:gd fmla="val 50004" name="adj1"/>
            </a:avLst>
          </a:prstGeom>
          <a:noFill/>
          <a:ln cap="flat" cmpd="sng" w="9525">
            <a:solidFill>
              <a:srgbClr val="5C73E6"/>
            </a:solidFill>
            <a:prstDash val="solid"/>
            <a:round/>
            <a:headEnd len="sm" w="sm" type="none"/>
            <a:tailEnd len="med" w="med" type="triangle"/>
          </a:ln>
        </p:spPr>
      </p:cxnSp>
      <p:cxnSp>
        <p:nvCxnSpPr>
          <p:cNvPr id="1502" name="Google Shape;1502;p166"/>
          <p:cNvCxnSpPr/>
          <p:nvPr/>
        </p:nvCxnSpPr>
        <p:spPr>
          <a:xfrm>
            <a:off x="4399200" y="1673280"/>
            <a:ext cx="1317900" cy="223800"/>
          </a:xfrm>
          <a:prstGeom prst="curvedConnector3">
            <a:avLst>
              <a:gd fmla="val 50004" name="adj1"/>
            </a:avLst>
          </a:prstGeom>
          <a:noFill/>
          <a:ln cap="flat" cmpd="sng" w="9525">
            <a:solidFill>
              <a:srgbClr val="5C73E6"/>
            </a:solidFill>
            <a:prstDash val="solid"/>
            <a:round/>
            <a:headEnd len="sm" w="sm" type="none"/>
            <a:tailEnd len="med" w="med" type="triangle"/>
          </a:ln>
        </p:spPr>
      </p:cxnSp>
      <p:cxnSp>
        <p:nvCxnSpPr>
          <p:cNvPr id="1503" name="Google Shape;1503;p166"/>
          <p:cNvCxnSpPr/>
          <p:nvPr/>
        </p:nvCxnSpPr>
        <p:spPr>
          <a:xfrm>
            <a:off x="4399200" y="1673280"/>
            <a:ext cx="1317900" cy="604800"/>
          </a:xfrm>
          <a:prstGeom prst="curvedConnector3">
            <a:avLst>
              <a:gd fmla="val 50004" name="adj1"/>
            </a:avLst>
          </a:prstGeom>
          <a:noFill/>
          <a:ln cap="flat" cmpd="sng" w="9525">
            <a:solidFill>
              <a:srgbClr val="5C73E6"/>
            </a:solidFill>
            <a:prstDash val="solid"/>
            <a:round/>
            <a:headEnd len="sm" w="sm" type="none"/>
            <a:tailEnd len="med" w="med" type="triangle"/>
          </a:ln>
        </p:spPr>
      </p:cxnSp>
      <p:cxnSp>
        <p:nvCxnSpPr>
          <p:cNvPr id="1504" name="Google Shape;1504;p166"/>
          <p:cNvCxnSpPr/>
          <p:nvPr/>
        </p:nvCxnSpPr>
        <p:spPr>
          <a:xfrm flipH="1" rot="10800000">
            <a:off x="4398120" y="1673220"/>
            <a:ext cx="3258300" cy="24900"/>
          </a:xfrm>
          <a:prstGeom prst="curvedConnector3">
            <a:avLst>
              <a:gd fmla="val 49999" name="adj1"/>
            </a:avLst>
          </a:prstGeom>
          <a:noFill/>
          <a:ln cap="flat" cmpd="sng" w="9525">
            <a:solidFill>
              <a:srgbClr val="5C73E6"/>
            </a:solidFill>
            <a:prstDash val="solid"/>
            <a:round/>
            <a:headEnd len="sm" w="sm" type="none"/>
            <a:tailEnd len="med" w="med" type="triangle"/>
          </a:ln>
        </p:spPr>
      </p:cxnSp>
      <p:sp>
        <p:nvSpPr>
          <p:cNvPr id="1505" name="Google Shape;1505;p166"/>
          <p:cNvSpPr/>
          <p:nvPr/>
        </p:nvSpPr>
        <p:spPr>
          <a:xfrm>
            <a:off x="7669080" y="299412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506" name="Google Shape;1506;p166"/>
          <p:cNvSpPr/>
          <p:nvPr/>
        </p:nvSpPr>
        <p:spPr>
          <a:xfrm>
            <a:off x="6487200" y="334944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507" name="Google Shape;1507;p166"/>
          <p:cNvSpPr/>
          <p:nvPr/>
        </p:nvSpPr>
        <p:spPr>
          <a:xfrm>
            <a:off x="5598000" y="294984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508" name="Google Shape;1508;p166"/>
          <p:cNvSpPr/>
          <p:nvPr/>
        </p:nvSpPr>
        <p:spPr>
          <a:xfrm>
            <a:off x="7442640" y="3475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AI </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Models</a:t>
            </a:r>
            <a:endParaRPr b="0" i="0" sz="700" u="none" cap="none" strike="noStrike">
              <a:latin typeface="Arial"/>
              <a:ea typeface="Arial"/>
              <a:cs typeface="Arial"/>
              <a:sym typeface="Arial"/>
            </a:endParaRPr>
          </a:p>
        </p:txBody>
      </p:sp>
      <p:grpSp>
        <p:nvGrpSpPr>
          <p:cNvPr id="1509" name="Google Shape;1509;p166"/>
          <p:cNvGrpSpPr/>
          <p:nvPr/>
        </p:nvGrpSpPr>
        <p:grpSpPr>
          <a:xfrm>
            <a:off x="6859080" y="3921840"/>
            <a:ext cx="830520" cy="720000"/>
            <a:chOff x="6859080" y="3921840"/>
            <a:chExt cx="830520" cy="720000"/>
          </a:xfrm>
        </p:grpSpPr>
        <p:sp>
          <p:nvSpPr>
            <p:cNvPr id="1510" name="Google Shape;1510;p166"/>
            <p:cNvSpPr/>
            <p:nvPr/>
          </p:nvSpPr>
          <p:spPr>
            <a:xfrm>
              <a:off x="6859080" y="3921840"/>
              <a:ext cx="830520" cy="720000"/>
            </a:xfrm>
            <a:prstGeom prst="roundRect">
              <a:avLst>
                <a:gd fmla="val 16667" name="adj"/>
              </a:avLst>
            </a:prstGeom>
            <a:solidFill>
              <a:srgbClr val="777777"/>
            </a:solidFill>
            <a:ln cap="flat" cmpd="sng" w="9525">
              <a:solidFill>
                <a:srgbClr val="747676"/>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Dimensions</a:t>
              </a:r>
              <a:endParaRPr b="0" i="0" sz="700" u="none" cap="none" strike="noStrike">
                <a:latin typeface="Arial"/>
                <a:ea typeface="Arial"/>
                <a:cs typeface="Arial"/>
                <a:sym typeface="Arial"/>
              </a:endParaRPr>
            </a:p>
          </p:txBody>
        </p:sp>
        <p:grpSp>
          <p:nvGrpSpPr>
            <p:cNvPr id="1511" name="Google Shape;1511;p166"/>
            <p:cNvGrpSpPr/>
            <p:nvPr/>
          </p:nvGrpSpPr>
          <p:grpSpPr>
            <a:xfrm>
              <a:off x="7034040" y="4174200"/>
              <a:ext cx="480600" cy="353880"/>
              <a:chOff x="7034040" y="4174200"/>
              <a:chExt cx="480600" cy="353880"/>
            </a:xfrm>
          </p:grpSpPr>
          <p:sp>
            <p:nvSpPr>
              <p:cNvPr id="1512" name="Google Shape;1512;p166"/>
              <p:cNvSpPr/>
              <p:nvPr/>
            </p:nvSpPr>
            <p:spPr>
              <a:xfrm>
                <a:off x="7180560" y="417420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66"/>
              <p:cNvSpPr/>
              <p:nvPr/>
            </p:nvSpPr>
            <p:spPr>
              <a:xfrm>
                <a:off x="7336080" y="42951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4" name="Google Shape;1514;p166"/>
              <p:cNvCxnSpPr/>
              <p:nvPr/>
            </p:nvCxnSpPr>
            <p:spPr>
              <a:xfrm flipH="1" rot="-5400000">
                <a:off x="7261920" y="4262040"/>
                <a:ext cx="79920" cy="65880"/>
              </a:xfrm>
              <a:prstGeom prst="bentConnector2">
                <a:avLst/>
              </a:prstGeom>
              <a:noFill/>
              <a:ln cap="flat" cmpd="sng" w="9525">
                <a:solidFill>
                  <a:srgbClr val="FFFFFF"/>
                </a:solidFill>
                <a:prstDash val="solid"/>
                <a:round/>
                <a:headEnd len="sm" w="sm" type="none"/>
                <a:tailEnd len="sm" w="sm" type="none"/>
              </a:ln>
            </p:spPr>
          </p:cxnSp>
          <p:sp>
            <p:nvSpPr>
              <p:cNvPr id="1515" name="Google Shape;1515;p166"/>
              <p:cNvSpPr/>
              <p:nvPr/>
            </p:nvSpPr>
            <p:spPr>
              <a:xfrm>
                <a:off x="7034040" y="435096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6" name="Google Shape;1516;p166"/>
              <p:cNvCxnSpPr/>
              <p:nvPr/>
            </p:nvCxnSpPr>
            <p:spPr>
              <a:xfrm rot="5400000">
                <a:off x="7174080" y="4294800"/>
                <a:ext cx="135720" cy="56520"/>
              </a:xfrm>
              <a:prstGeom prst="bentConnector2">
                <a:avLst/>
              </a:prstGeom>
              <a:noFill/>
              <a:ln cap="flat" cmpd="sng" w="9525">
                <a:solidFill>
                  <a:srgbClr val="FFFFFF"/>
                </a:solidFill>
                <a:prstDash val="solid"/>
                <a:round/>
                <a:headEnd len="sm" w="sm" type="none"/>
                <a:tailEnd len="sm" w="sm" type="none"/>
              </a:ln>
            </p:spPr>
          </p:cxnSp>
          <p:sp>
            <p:nvSpPr>
              <p:cNvPr id="1517" name="Google Shape;1517;p166"/>
              <p:cNvSpPr/>
              <p:nvPr/>
            </p:nvSpPr>
            <p:spPr>
              <a:xfrm>
                <a:off x="7336080" y="4447440"/>
                <a:ext cx="178560" cy="8064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18" name="Google Shape;1518;p166"/>
              <p:cNvCxnSpPr/>
              <p:nvPr/>
            </p:nvCxnSpPr>
            <p:spPr>
              <a:xfrm flipH="1" rot="-5400000">
                <a:off x="7185960" y="4338360"/>
                <a:ext cx="232200" cy="65880"/>
              </a:xfrm>
              <a:prstGeom prst="bentConnector2">
                <a:avLst/>
              </a:prstGeom>
              <a:noFill/>
              <a:ln cap="flat" cmpd="sng" w="9525">
                <a:solidFill>
                  <a:srgbClr val="FFFFFF"/>
                </a:solidFill>
                <a:prstDash val="solid"/>
                <a:round/>
                <a:headEnd len="sm" w="sm" type="none"/>
                <a:tailEnd len="sm" w="sm" type="none"/>
              </a:ln>
            </p:spPr>
          </p:cxnSp>
        </p:grpSp>
      </p:grpSp>
      <p:sp>
        <p:nvSpPr>
          <p:cNvPr id="1519" name="Google Shape;1519;p166"/>
          <p:cNvSpPr/>
          <p:nvPr/>
        </p:nvSpPr>
        <p:spPr>
          <a:xfrm>
            <a:off x="5687640" y="353412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Personas</a:t>
            </a:r>
            <a:endParaRPr b="0" i="0" sz="700" u="none" cap="none" strike="noStrike">
              <a:latin typeface="Arial"/>
              <a:ea typeface="Arial"/>
              <a:cs typeface="Arial"/>
              <a:sym typeface="Arial"/>
            </a:endParaRPr>
          </a:p>
        </p:txBody>
      </p:sp>
      <p:sp>
        <p:nvSpPr>
          <p:cNvPr id="1520" name="Google Shape;1520;p166"/>
          <p:cNvSpPr/>
          <p:nvPr/>
        </p:nvSpPr>
        <p:spPr>
          <a:xfrm>
            <a:off x="8453520" y="293220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cxnSp>
        <p:nvCxnSpPr>
          <p:cNvPr id="1521" name="Google Shape;1521;p166"/>
          <p:cNvCxnSpPr/>
          <p:nvPr/>
        </p:nvCxnSpPr>
        <p:spPr>
          <a:xfrm flipH="1">
            <a:off x="5923140" y="2698920"/>
            <a:ext cx="1310700" cy="250800"/>
          </a:xfrm>
          <a:prstGeom prst="curvedConnector3">
            <a:avLst>
              <a:gd fmla="val 0" name="adj1"/>
            </a:avLst>
          </a:prstGeom>
          <a:noFill/>
          <a:ln cap="flat" cmpd="sng" w="9525">
            <a:solidFill>
              <a:srgbClr val="00B845"/>
            </a:solidFill>
            <a:prstDash val="solid"/>
            <a:round/>
            <a:headEnd len="sm" w="sm" type="none"/>
            <a:tailEnd len="med" w="med" type="triangle"/>
          </a:ln>
        </p:spPr>
      </p:cxnSp>
      <p:cxnSp>
        <p:nvCxnSpPr>
          <p:cNvPr id="1522" name="Google Shape;1522;p166"/>
          <p:cNvCxnSpPr/>
          <p:nvPr/>
        </p:nvCxnSpPr>
        <p:spPr>
          <a:xfrm rot="5400000">
            <a:off x="6697860" y="2813040"/>
            <a:ext cx="650100" cy="421500"/>
          </a:xfrm>
          <a:prstGeom prst="curvedConnector3">
            <a:avLst>
              <a:gd fmla="val 49998" name="adj1"/>
            </a:avLst>
          </a:prstGeom>
          <a:noFill/>
          <a:ln cap="flat" cmpd="sng" w="9525">
            <a:solidFill>
              <a:srgbClr val="00B845"/>
            </a:solidFill>
            <a:prstDash val="solid"/>
            <a:round/>
            <a:headEnd len="sm" w="sm" type="none"/>
            <a:tailEnd len="med" w="med" type="triangle"/>
          </a:ln>
        </p:spPr>
      </p:cxnSp>
      <p:cxnSp>
        <p:nvCxnSpPr>
          <p:cNvPr id="1523" name="Google Shape;1523;p166"/>
          <p:cNvCxnSpPr/>
          <p:nvPr/>
        </p:nvCxnSpPr>
        <p:spPr>
          <a:xfrm>
            <a:off x="7232760" y="2698920"/>
            <a:ext cx="744000" cy="294900"/>
          </a:xfrm>
          <a:prstGeom prst="curvedConnector3">
            <a:avLst>
              <a:gd fmla="val 0" name="adj1"/>
            </a:avLst>
          </a:prstGeom>
          <a:noFill/>
          <a:ln cap="flat" cmpd="sng" w="9525">
            <a:solidFill>
              <a:srgbClr val="00B845"/>
            </a:solidFill>
            <a:prstDash val="solid"/>
            <a:round/>
            <a:headEnd len="sm" w="sm" type="none"/>
            <a:tailEnd len="med" w="med" type="triangle"/>
          </a:ln>
        </p:spPr>
      </p:cxnSp>
      <p:cxnSp>
        <p:nvCxnSpPr>
          <p:cNvPr id="1524" name="Google Shape;1524;p166"/>
          <p:cNvCxnSpPr/>
          <p:nvPr/>
        </p:nvCxnSpPr>
        <p:spPr>
          <a:xfrm>
            <a:off x="7234020" y="2698740"/>
            <a:ext cx="1544400" cy="232800"/>
          </a:xfrm>
          <a:prstGeom prst="curvedConnector3">
            <a:avLst>
              <a:gd fmla="val 0" name="adj1"/>
            </a:avLst>
          </a:prstGeom>
          <a:noFill/>
          <a:ln cap="flat" cmpd="sng" w="9525">
            <a:solidFill>
              <a:srgbClr val="00B845"/>
            </a:solidFill>
            <a:prstDash val="solid"/>
            <a:round/>
            <a:headEnd len="sm" w="sm" type="none"/>
            <a:tailEnd len="med" w="med" type="triangle"/>
          </a:ln>
        </p:spPr>
      </p:cxnSp>
      <p:cxnSp>
        <p:nvCxnSpPr>
          <p:cNvPr id="1525" name="Google Shape;1525;p166"/>
          <p:cNvCxnSpPr/>
          <p:nvPr/>
        </p:nvCxnSpPr>
        <p:spPr>
          <a:xfrm flipH="1" rot="-5400000">
            <a:off x="7063950" y="2869170"/>
            <a:ext cx="858300" cy="517800"/>
          </a:xfrm>
          <a:prstGeom prst="curvedConnector3">
            <a:avLst>
              <a:gd fmla="val 45245" name="adj1"/>
            </a:avLst>
          </a:prstGeom>
          <a:noFill/>
          <a:ln cap="flat" cmpd="sng" w="9525">
            <a:solidFill>
              <a:srgbClr val="00B845"/>
            </a:solidFill>
            <a:prstDash val="solid"/>
            <a:round/>
            <a:headEnd len="sm" w="sm" type="none"/>
            <a:tailEnd len="med" w="med" type="triangle"/>
          </a:ln>
        </p:spPr>
      </p:cxnSp>
      <p:cxnSp>
        <p:nvCxnSpPr>
          <p:cNvPr id="1526" name="Google Shape;1526;p166"/>
          <p:cNvCxnSpPr/>
          <p:nvPr/>
        </p:nvCxnSpPr>
        <p:spPr>
          <a:xfrm flipH="1" rot="-5400000">
            <a:off x="6642720" y="3290040"/>
            <a:ext cx="1222800" cy="40200"/>
          </a:xfrm>
          <a:prstGeom prst="curvedConnector3">
            <a:avLst>
              <a:gd fmla="val 50003" name="adj1"/>
            </a:avLst>
          </a:prstGeom>
          <a:noFill/>
          <a:ln cap="flat" cmpd="sng" w="9525">
            <a:solidFill>
              <a:srgbClr val="00B845"/>
            </a:solidFill>
            <a:prstDash val="solid"/>
            <a:round/>
            <a:headEnd len="sm" w="sm" type="none"/>
            <a:tailEnd len="med" w="med" type="triangle"/>
          </a:ln>
        </p:spPr>
      </p:cxnSp>
      <p:cxnSp>
        <p:nvCxnSpPr>
          <p:cNvPr id="1527" name="Google Shape;1527;p166"/>
          <p:cNvCxnSpPr/>
          <p:nvPr/>
        </p:nvCxnSpPr>
        <p:spPr>
          <a:xfrm flipH="1">
            <a:off x="6012840" y="2698920"/>
            <a:ext cx="1221000" cy="916500"/>
          </a:xfrm>
          <a:prstGeom prst="curvedConnector3">
            <a:avLst>
              <a:gd fmla="val 0" name="adj1"/>
            </a:avLst>
          </a:prstGeom>
          <a:noFill/>
          <a:ln cap="flat" cmpd="sng" w="9525">
            <a:solidFill>
              <a:srgbClr val="00B845"/>
            </a:solidFill>
            <a:prstDash val="solid"/>
            <a:round/>
            <a:headEnd len="sm" w="sm" type="none"/>
            <a:tailEnd len="med" w="med" type="triangle"/>
          </a:ln>
        </p:spPr>
      </p:cxnSp>
      <p:sp>
        <p:nvSpPr>
          <p:cNvPr id="1528" name="Google Shape;1528;p166"/>
          <p:cNvSpPr/>
          <p:nvPr/>
        </p:nvSpPr>
        <p:spPr>
          <a:xfrm>
            <a:off x="1548000" y="3655800"/>
            <a:ext cx="61812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Assets</a:t>
            </a:r>
            <a:endParaRPr b="0" i="0" sz="700" u="none" cap="none" strike="noStrike">
              <a:latin typeface="Arial"/>
              <a:ea typeface="Arial"/>
              <a:cs typeface="Arial"/>
              <a:sym typeface="Arial"/>
            </a:endParaRPr>
          </a:p>
        </p:txBody>
      </p:sp>
      <p:sp>
        <p:nvSpPr>
          <p:cNvPr id="1529" name="Google Shape;1529;p166"/>
          <p:cNvSpPr/>
          <p:nvPr/>
        </p:nvSpPr>
        <p:spPr>
          <a:xfrm>
            <a:off x="720360" y="3431880"/>
            <a:ext cx="649440" cy="290520"/>
          </a:xfrm>
          <a:prstGeom prst="can">
            <a:avLst>
              <a:gd fmla="val 25000" name="adj"/>
            </a:avLst>
          </a:prstGeom>
          <a:solidFill>
            <a:srgbClr val="777777"/>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Metrics</a:t>
            </a:r>
            <a:endParaRPr b="0" i="0" sz="700" u="none" cap="none" strike="noStrike">
              <a:latin typeface="Arial"/>
              <a:ea typeface="Arial"/>
              <a:cs typeface="Arial"/>
              <a:sym typeface="Arial"/>
            </a:endParaRPr>
          </a:p>
        </p:txBody>
      </p:sp>
      <p:sp>
        <p:nvSpPr>
          <p:cNvPr id="1530" name="Google Shape;1530;p166"/>
          <p:cNvSpPr/>
          <p:nvPr/>
        </p:nvSpPr>
        <p:spPr>
          <a:xfrm>
            <a:off x="3477960" y="34138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LookML Projects</a:t>
            </a:r>
            <a:endParaRPr b="0" i="0" sz="700" u="none" cap="none" strike="noStrike">
              <a:latin typeface="Arial"/>
              <a:ea typeface="Arial"/>
              <a:cs typeface="Arial"/>
              <a:sym typeface="Arial"/>
            </a:endParaRPr>
          </a:p>
        </p:txBody>
      </p:sp>
      <p:cxnSp>
        <p:nvCxnSpPr>
          <p:cNvPr id="1531" name="Google Shape;1531;p166"/>
          <p:cNvCxnSpPr/>
          <p:nvPr/>
        </p:nvCxnSpPr>
        <p:spPr>
          <a:xfrm flipH="1">
            <a:off x="1045800" y="2629080"/>
            <a:ext cx="1243800" cy="802500"/>
          </a:xfrm>
          <a:prstGeom prst="curvedConnector3">
            <a:avLst>
              <a:gd fmla="val 0" name="adj1"/>
            </a:avLst>
          </a:prstGeom>
          <a:noFill/>
          <a:ln cap="flat" cmpd="sng" w="9525">
            <a:solidFill>
              <a:srgbClr val="5C73E6"/>
            </a:solidFill>
            <a:prstDash val="solid"/>
            <a:round/>
            <a:headEnd len="sm" w="sm" type="none"/>
            <a:tailEnd len="med" w="med" type="triangle"/>
          </a:ln>
        </p:spPr>
      </p:cxnSp>
      <p:cxnSp>
        <p:nvCxnSpPr>
          <p:cNvPr id="1532" name="Google Shape;1532;p166"/>
          <p:cNvCxnSpPr/>
          <p:nvPr/>
        </p:nvCxnSpPr>
        <p:spPr>
          <a:xfrm rot="5400000">
            <a:off x="1560270" y="2926350"/>
            <a:ext cx="1026600" cy="431700"/>
          </a:xfrm>
          <a:prstGeom prst="curvedConnector3">
            <a:avLst>
              <a:gd fmla="val 50008" name="adj1"/>
            </a:avLst>
          </a:prstGeom>
          <a:noFill/>
          <a:ln cap="flat" cmpd="sng" w="9525">
            <a:solidFill>
              <a:srgbClr val="5C73E6"/>
            </a:solidFill>
            <a:prstDash val="solid"/>
            <a:round/>
            <a:headEnd len="sm" w="sm" type="none"/>
            <a:tailEnd len="med" w="med" type="triangle"/>
          </a:ln>
        </p:spPr>
      </p:cxnSp>
      <p:cxnSp>
        <p:nvCxnSpPr>
          <p:cNvPr id="1533" name="Google Shape;1533;p166"/>
          <p:cNvCxnSpPr/>
          <p:nvPr/>
        </p:nvCxnSpPr>
        <p:spPr>
          <a:xfrm>
            <a:off x="2289960" y="2629080"/>
            <a:ext cx="1512600" cy="784800"/>
          </a:xfrm>
          <a:prstGeom prst="curvedConnector3">
            <a:avLst>
              <a:gd fmla="val 0" name="adj1"/>
            </a:avLst>
          </a:prstGeom>
          <a:noFill/>
          <a:ln cap="flat" cmpd="sng" w="9525">
            <a:solidFill>
              <a:srgbClr val="5C73E6"/>
            </a:solidFill>
            <a:prstDash val="solid"/>
            <a:round/>
            <a:headEnd len="sm" w="sm" type="none"/>
            <a:tailEnd len="med" w="med" type="triangle"/>
          </a:ln>
        </p:spPr>
      </p:cxnSp>
      <p:cxnSp>
        <p:nvCxnSpPr>
          <p:cNvPr id="1534" name="Google Shape;1534;p166"/>
          <p:cNvCxnSpPr/>
          <p:nvPr/>
        </p:nvCxnSpPr>
        <p:spPr>
          <a:xfrm flipH="1" rot="-5400000">
            <a:off x="2194200" y="2724480"/>
            <a:ext cx="784800" cy="594000"/>
          </a:xfrm>
          <a:prstGeom prst="curvedConnector3">
            <a:avLst>
              <a:gd fmla="val 49998" name="adj1"/>
            </a:avLst>
          </a:prstGeom>
          <a:noFill/>
          <a:ln cap="flat" cmpd="sng" w="9525">
            <a:solidFill>
              <a:srgbClr val="5C73E6"/>
            </a:solidFill>
            <a:prstDash val="solid"/>
            <a:round/>
            <a:headEnd len="sm" w="sm" type="none"/>
            <a:tailEnd len="med" w="med" type="triangle"/>
          </a:ln>
        </p:spPr>
      </p:cxnSp>
      <p:sp>
        <p:nvSpPr>
          <p:cNvPr id="1535" name="Google Shape;1535;p166"/>
          <p:cNvSpPr/>
          <p:nvPr/>
        </p:nvSpPr>
        <p:spPr>
          <a:xfrm>
            <a:off x="2558880" y="3413880"/>
            <a:ext cx="649440" cy="326160"/>
          </a:xfrm>
          <a:prstGeom prst="can">
            <a:avLst>
              <a:gd fmla="val 25000" name="adj"/>
            </a:avLst>
          </a:prstGeom>
          <a:solidFill>
            <a:srgbClr val="747676"/>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FFFFFF"/>
                </a:solidFill>
                <a:latin typeface="Arial"/>
                <a:ea typeface="Arial"/>
                <a:cs typeface="Arial"/>
                <a:sym typeface="Arial"/>
              </a:rPr>
              <a:t>Data Products</a:t>
            </a:r>
            <a:endParaRPr b="0" i="0" sz="700" u="none" cap="none" strike="noStrike">
              <a:latin typeface="Arial"/>
              <a:ea typeface="Arial"/>
              <a:cs typeface="Arial"/>
              <a:sym typeface="Arial"/>
            </a:endParaRPr>
          </a:p>
        </p:txBody>
      </p:sp>
      <p:sp>
        <p:nvSpPr>
          <p:cNvPr id="1536" name="Google Shape;1536;p166"/>
          <p:cNvSpPr/>
          <p:nvPr/>
        </p:nvSpPr>
        <p:spPr>
          <a:xfrm>
            <a:off x="536760" y="3244320"/>
            <a:ext cx="2756880" cy="8024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66"/>
          <p:cNvSpPr/>
          <p:nvPr/>
        </p:nvSpPr>
        <p:spPr>
          <a:xfrm>
            <a:off x="776880" y="4178160"/>
            <a:ext cx="649440" cy="326160"/>
          </a:xfrm>
          <a:prstGeom prst="wedgeRoundRectCallout">
            <a:avLst>
              <a:gd fmla="val 114266" name="adj1"/>
              <a:gd fmla="val -85424" name="adj2"/>
              <a:gd fmla="val 0" name="adj3"/>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MVP1 Scope</a:t>
            </a:r>
            <a:endParaRPr b="0" i="0" sz="1000" u="none" cap="none" strike="noStrike">
              <a:latin typeface="Arial"/>
              <a:ea typeface="Arial"/>
              <a:cs typeface="Arial"/>
              <a:sym typeface="Arial"/>
            </a:endParaRPr>
          </a:p>
        </p:txBody>
      </p:sp>
      <p:sp>
        <p:nvSpPr>
          <p:cNvPr id="1538" name="Google Shape;1538;p166"/>
          <p:cNvSpPr/>
          <p:nvPr/>
        </p:nvSpPr>
        <p:spPr>
          <a:xfrm>
            <a:off x="3359880" y="3244320"/>
            <a:ext cx="974520" cy="8024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66"/>
          <p:cNvSpPr/>
          <p:nvPr/>
        </p:nvSpPr>
        <p:spPr>
          <a:xfrm>
            <a:off x="3120480" y="4316040"/>
            <a:ext cx="649440" cy="326160"/>
          </a:xfrm>
          <a:prstGeom prst="wedgeRoundRectCallout">
            <a:avLst>
              <a:gd fmla="val 58860" name="adj1"/>
              <a:gd fmla="val -130362" name="adj2"/>
              <a:gd fmla="val 0" name="adj3"/>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MVP2 Scope</a:t>
            </a:r>
            <a:endParaRPr b="0" i="0" sz="1000" u="none" cap="none" strike="noStrike">
              <a:latin typeface="Arial"/>
              <a:ea typeface="Arial"/>
              <a:cs typeface="Arial"/>
              <a:sym typeface="Arial"/>
            </a:endParaRPr>
          </a:p>
        </p:txBody>
      </p:sp>
      <p:sp>
        <p:nvSpPr>
          <p:cNvPr id="1540" name="Google Shape;1540;p166"/>
          <p:cNvSpPr/>
          <p:nvPr/>
        </p:nvSpPr>
        <p:spPr>
          <a:xfrm>
            <a:off x="5598000" y="1245600"/>
            <a:ext cx="1449720" cy="43668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66"/>
          <p:cNvSpPr/>
          <p:nvPr/>
        </p:nvSpPr>
        <p:spPr>
          <a:xfrm>
            <a:off x="4572000" y="616680"/>
            <a:ext cx="649440" cy="326160"/>
          </a:xfrm>
          <a:prstGeom prst="wedgeRoundRectCallout">
            <a:avLst>
              <a:gd fmla="val 121264" name="adj1"/>
              <a:gd fmla="val 133617" name="adj2"/>
              <a:gd fmla="val 0" name="adj3"/>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MVP3 Scope</a:t>
            </a:r>
            <a:endParaRPr b="0" i="0" sz="1000" u="none" cap="none" strike="noStrike">
              <a:latin typeface="Arial"/>
              <a:ea typeface="Arial"/>
              <a:cs typeface="Arial"/>
              <a:sym typeface="Arial"/>
            </a:endParaRPr>
          </a:p>
        </p:txBody>
      </p:sp>
      <p:sp>
        <p:nvSpPr>
          <p:cNvPr id="1542" name="Google Shape;1542;p166"/>
          <p:cNvSpPr/>
          <p:nvPr/>
        </p:nvSpPr>
        <p:spPr>
          <a:xfrm>
            <a:off x="7502760" y="1442160"/>
            <a:ext cx="1449720" cy="43668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66"/>
          <p:cNvSpPr/>
          <p:nvPr/>
        </p:nvSpPr>
        <p:spPr>
          <a:xfrm>
            <a:off x="8334000" y="831960"/>
            <a:ext cx="618120" cy="316440"/>
          </a:xfrm>
          <a:prstGeom prst="wedgeRoundRectCallout">
            <a:avLst>
              <a:gd fmla="val -60140" name="adj1"/>
              <a:gd fmla="val 139378" name="adj2"/>
              <a:gd fmla="val 0" name="adj3"/>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MVP4 Scope</a:t>
            </a:r>
            <a:endParaRPr b="0" i="0" sz="1000" u="none" cap="none" strike="noStrike">
              <a:latin typeface="Arial"/>
              <a:ea typeface="Arial"/>
              <a:cs typeface="Arial"/>
              <a:sym typeface="Arial"/>
            </a:endParaRPr>
          </a:p>
        </p:txBody>
      </p:sp>
      <p:sp>
        <p:nvSpPr>
          <p:cNvPr id="1544" name="Google Shape;1544;p166"/>
          <p:cNvSpPr/>
          <p:nvPr/>
        </p:nvSpPr>
        <p:spPr>
          <a:xfrm>
            <a:off x="6766920" y="3880800"/>
            <a:ext cx="1045800" cy="858240"/>
          </a:xfrm>
          <a:prstGeom prst="flowChartAlternateProcess">
            <a:avLst/>
          </a:prstGeom>
          <a:noFill/>
          <a:ln cap="flat" cmpd="sng" w="190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66"/>
          <p:cNvSpPr/>
          <p:nvPr/>
        </p:nvSpPr>
        <p:spPr>
          <a:xfrm>
            <a:off x="3120480" y="4316040"/>
            <a:ext cx="649440" cy="326160"/>
          </a:xfrm>
          <a:prstGeom prst="wedgeRoundRectCallout">
            <a:avLst>
              <a:gd fmla="val 509222" name="adj1"/>
              <a:gd fmla="val -59505" name="adj2"/>
              <a:gd fmla="val 0" name="adj3"/>
            </a:avLst>
          </a:prstGeom>
          <a:solidFill>
            <a:srgbClr val="FFFFFF"/>
          </a:solidFill>
          <a:ln cap="flat" cmpd="sng" w="1907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000" u="none" cap="none" strike="noStrike">
                <a:solidFill>
                  <a:srgbClr val="000000"/>
                </a:solidFill>
                <a:latin typeface="Arial"/>
                <a:ea typeface="Arial"/>
                <a:cs typeface="Arial"/>
                <a:sym typeface="Arial"/>
              </a:rPr>
              <a:t>MVP2 Scope</a:t>
            </a:r>
            <a:endParaRPr b="0" i="0" sz="1000" u="none" cap="none" strike="noStrike">
              <a:latin typeface="Arial"/>
              <a:ea typeface="Arial"/>
              <a:cs typeface="Arial"/>
              <a:sym typeface="Arial"/>
            </a:endParaRPr>
          </a:p>
        </p:txBody>
      </p:sp>
      <p:grpSp>
        <p:nvGrpSpPr>
          <p:cNvPr id="1546" name="Google Shape;1546;p166"/>
          <p:cNvGrpSpPr/>
          <p:nvPr/>
        </p:nvGrpSpPr>
        <p:grpSpPr>
          <a:xfrm>
            <a:off x="8546760" y="9000"/>
            <a:ext cx="594000" cy="679680"/>
            <a:chOff x="8546760" y="9000"/>
            <a:chExt cx="594000" cy="679680"/>
          </a:xfrm>
        </p:grpSpPr>
        <p:sp>
          <p:nvSpPr>
            <p:cNvPr id="1547" name="Google Shape;1547;p166"/>
            <p:cNvSpPr/>
            <p:nvPr/>
          </p:nvSpPr>
          <p:spPr>
            <a:xfrm>
              <a:off x="8546760" y="900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8" name="Google Shape;1548;p166"/>
            <p:cNvGrpSpPr/>
            <p:nvPr/>
          </p:nvGrpSpPr>
          <p:grpSpPr>
            <a:xfrm>
              <a:off x="8585280" y="9360"/>
              <a:ext cx="555480" cy="679320"/>
              <a:chOff x="8585280" y="9360"/>
              <a:chExt cx="555480" cy="679320"/>
            </a:xfrm>
          </p:grpSpPr>
          <p:pic>
            <p:nvPicPr>
              <p:cNvPr id="1549" name="Google Shape;1549;p166"/>
              <p:cNvPicPr preferRelativeResize="0"/>
              <p:nvPr/>
            </p:nvPicPr>
            <p:blipFill rotWithShape="1">
              <a:blip r:embed="rId3">
                <a:alphaModFix/>
              </a:blip>
              <a:srcRect b="0" l="20669" r="9844" t="0"/>
              <a:stretch/>
            </p:blipFill>
            <p:spPr>
              <a:xfrm>
                <a:off x="8585280" y="9360"/>
                <a:ext cx="530640" cy="530640"/>
              </a:xfrm>
              <a:prstGeom prst="rect">
                <a:avLst/>
              </a:prstGeom>
              <a:noFill/>
              <a:ln>
                <a:noFill/>
              </a:ln>
            </p:spPr>
          </p:pic>
          <p:sp>
            <p:nvSpPr>
              <p:cNvPr id="1550" name="Google Shape;1550;p166"/>
              <p:cNvSpPr/>
              <p:nvPr/>
            </p:nvSpPr>
            <p:spPr>
              <a:xfrm>
                <a:off x="8585280" y="502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F50A23"/>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167"/>
          <p:cNvSpPr/>
          <p:nvPr/>
        </p:nvSpPr>
        <p:spPr>
          <a:xfrm>
            <a:off x="2832840" y="3207960"/>
            <a:ext cx="1343160" cy="722160"/>
          </a:xfrm>
          <a:prstGeom prst="roundRect">
            <a:avLst>
              <a:gd fmla="val 12012" name="adj"/>
            </a:avLst>
          </a:prstGeom>
          <a:solidFill>
            <a:srgbClr val="DD7E6B"/>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Processing Services</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(Mapping Context to Content)</a:t>
            </a:r>
            <a:endParaRPr b="0" i="0" sz="600" u="none" cap="none" strike="noStrike">
              <a:latin typeface="Arial"/>
              <a:ea typeface="Arial"/>
              <a:cs typeface="Arial"/>
              <a:sym typeface="Arial"/>
            </a:endParaRPr>
          </a:p>
        </p:txBody>
      </p:sp>
      <p:sp>
        <p:nvSpPr>
          <p:cNvPr id="1556" name="Google Shape;1556;p167"/>
          <p:cNvSpPr/>
          <p:nvPr/>
        </p:nvSpPr>
        <p:spPr>
          <a:xfrm>
            <a:off x="438120" y="153720"/>
            <a:ext cx="8233560" cy="316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a:t>
            </a:r>
            <a:r>
              <a:rPr b="1" i="0" lang="en-US" sz="2000" u="none" cap="none" strike="noStrike">
                <a:solidFill>
                  <a:srgbClr val="0089EC"/>
                </a:solidFill>
                <a:latin typeface="Arial"/>
                <a:ea typeface="Arial"/>
                <a:cs typeface="Arial"/>
                <a:sym typeface="Arial"/>
              </a:rPr>
              <a:t>Semantic Services (Processing)</a:t>
            </a:r>
            <a:endParaRPr b="0" i="0" sz="2000" u="none" cap="none" strike="noStrike">
              <a:latin typeface="Arial"/>
              <a:ea typeface="Arial"/>
              <a:cs typeface="Arial"/>
              <a:sym typeface="Arial"/>
            </a:endParaRPr>
          </a:p>
        </p:txBody>
      </p:sp>
      <p:grpSp>
        <p:nvGrpSpPr>
          <p:cNvPr id="1557" name="Google Shape;1557;p167"/>
          <p:cNvGrpSpPr/>
          <p:nvPr/>
        </p:nvGrpSpPr>
        <p:grpSpPr>
          <a:xfrm>
            <a:off x="445320" y="756000"/>
            <a:ext cx="6578640" cy="1815120"/>
            <a:chOff x="445320" y="756000"/>
            <a:chExt cx="6578640" cy="1815120"/>
          </a:xfrm>
        </p:grpSpPr>
        <p:sp>
          <p:nvSpPr>
            <p:cNvPr id="1558" name="Google Shape;1558;p167"/>
            <p:cNvSpPr/>
            <p:nvPr/>
          </p:nvSpPr>
          <p:spPr>
            <a:xfrm>
              <a:off x="445320" y="756000"/>
              <a:ext cx="6578640" cy="1815120"/>
            </a:xfrm>
            <a:prstGeom prst="roundRect">
              <a:avLst>
                <a:gd fmla="val 16667" name="adj"/>
              </a:avLst>
            </a:prstGeom>
            <a:solidFill>
              <a:srgbClr val="AEAEAE"/>
            </a:solidFill>
            <a:ln cap="flat" cmpd="sng" w="9525">
              <a:solidFill>
                <a:srgbClr val="A5A5A5"/>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Semantic Knowledge Layer</a:t>
              </a:r>
              <a:endParaRPr b="0" i="0" sz="1200" u="none" cap="none" strike="noStrike">
                <a:latin typeface="Arial"/>
                <a:ea typeface="Arial"/>
                <a:cs typeface="Arial"/>
                <a:sym typeface="Arial"/>
              </a:endParaRPr>
            </a:p>
          </p:txBody>
        </p:sp>
        <p:sp>
          <p:nvSpPr>
            <p:cNvPr id="1559" name="Google Shape;1559;p167"/>
            <p:cNvSpPr/>
            <p:nvPr/>
          </p:nvSpPr>
          <p:spPr>
            <a:xfrm>
              <a:off x="503136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(Ingested Digital Asset Structures)</a:t>
              </a:r>
              <a:endParaRPr b="0" i="0" sz="700" u="none" cap="none" strike="noStrike">
                <a:latin typeface="Arial"/>
                <a:ea typeface="Arial"/>
                <a:cs typeface="Arial"/>
                <a:sym typeface="Arial"/>
              </a:endParaRPr>
            </a:p>
          </p:txBody>
        </p:sp>
        <p:sp>
          <p:nvSpPr>
            <p:cNvPr id="1560" name="Google Shape;1560;p167"/>
            <p:cNvSpPr/>
            <p:nvPr/>
          </p:nvSpPr>
          <p:spPr>
            <a:xfrm>
              <a:off x="519372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561" name="Google Shape;1561;p167"/>
            <p:cNvPicPr preferRelativeResize="0"/>
            <p:nvPr/>
          </p:nvPicPr>
          <p:blipFill rotWithShape="1">
            <a:blip r:embed="rId3">
              <a:alphaModFix/>
            </a:blip>
            <a:srcRect b="0" l="0" r="0" t="0"/>
            <a:stretch/>
          </p:blipFill>
          <p:spPr>
            <a:xfrm>
              <a:off x="617760" y="1212120"/>
              <a:ext cx="2372400" cy="1163880"/>
            </a:xfrm>
            <a:prstGeom prst="rect">
              <a:avLst/>
            </a:prstGeom>
            <a:noFill/>
            <a:ln>
              <a:noFill/>
            </a:ln>
          </p:spPr>
        </p:pic>
        <p:sp>
          <p:nvSpPr>
            <p:cNvPr id="1562" name="Google Shape;1562;p167"/>
            <p:cNvSpPr/>
            <p:nvPr/>
          </p:nvSpPr>
          <p:spPr>
            <a:xfrm>
              <a:off x="519372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563" name="Google Shape;1563;p167"/>
            <p:cNvSpPr/>
            <p:nvPr/>
          </p:nvSpPr>
          <p:spPr>
            <a:xfrm>
              <a:off x="519372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564" name="Google Shape;1564;p167"/>
            <p:cNvSpPr/>
            <p:nvPr/>
          </p:nvSpPr>
          <p:spPr>
            <a:xfrm>
              <a:off x="6031800" y="16336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565" name="Google Shape;1565;p167"/>
            <p:cNvSpPr/>
            <p:nvPr/>
          </p:nvSpPr>
          <p:spPr>
            <a:xfrm>
              <a:off x="6031800" y="18622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sp>
          <p:nvSpPr>
            <p:cNvPr id="1566" name="Google Shape;1566;p167"/>
            <p:cNvSpPr/>
            <p:nvPr/>
          </p:nvSpPr>
          <p:spPr>
            <a:xfrm>
              <a:off x="6031800" y="2090880"/>
              <a:ext cx="572040" cy="189360"/>
            </a:xfrm>
            <a:prstGeom prst="roundRect">
              <a:avLst>
                <a:gd fmla="val 16667" name="adj"/>
              </a:avLst>
            </a:prstGeom>
            <a:solidFill>
              <a:srgbClr val="F3EDE0"/>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grpSp>
      <p:sp>
        <p:nvSpPr>
          <p:cNvPr id="1567" name="Google Shape;1567;p167"/>
          <p:cNvSpPr/>
          <p:nvPr/>
        </p:nvSpPr>
        <p:spPr>
          <a:xfrm rot="10800000">
            <a:off x="4176720" y="3569400"/>
            <a:ext cx="893520" cy="8280"/>
          </a:xfrm>
          <a:custGeom>
            <a:rect b="b" l="l" r="r" t="t"/>
            <a:pathLst>
              <a:path extrusionOk="0" h="21600" w="21600">
                <a:moveTo>
                  <a:pt x="0" y="0"/>
                </a:moveTo>
                <a:lnTo>
                  <a:pt x="21600" y="21600"/>
                </a:lnTo>
              </a:path>
            </a:pathLst>
          </a:custGeom>
          <a:noFill/>
          <a:ln cap="flat" cmpd="sng" w="9525">
            <a:solidFill>
              <a:srgbClr val="CCCCCC"/>
            </a:solidFill>
            <a:prstDash val="dashDot"/>
            <a:round/>
            <a:headEnd len="sm" w="sm" type="none"/>
            <a:tailEnd len="med" w="med" type="triangle"/>
          </a:ln>
        </p:spPr>
      </p:sp>
      <p:grpSp>
        <p:nvGrpSpPr>
          <p:cNvPr id="1568" name="Google Shape;1568;p167"/>
          <p:cNvGrpSpPr/>
          <p:nvPr/>
        </p:nvGrpSpPr>
        <p:grpSpPr>
          <a:xfrm>
            <a:off x="7528320" y="3961080"/>
            <a:ext cx="1355760" cy="619200"/>
            <a:chOff x="7528320" y="3961080"/>
            <a:chExt cx="1355760" cy="619200"/>
          </a:xfrm>
        </p:grpSpPr>
        <p:sp>
          <p:nvSpPr>
            <p:cNvPr id="1569" name="Google Shape;1569;p167"/>
            <p:cNvSpPr/>
            <p:nvPr/>
          </p:nvSpPr>
          <p:spPr>
            <a:xfrm>
              <a:off x="7528320" y="3961080"/>
              <a:ext cx="1355760" cy="619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AI</a:t>
              </a:r>
              <a:endParaRPr b="0" i="0" sz="1100" u="none" cap="none" strike="noStrike">
                <a:latin typeface="Arial"/>
                <a:ea typeface="Arial"/>
                <a:cs typeface="Arial"/>
                <a:sym typeface="Arial"/>
              </a:endParaRPr>
            </a:p>
          </p:txBody>
        </p:sp>
        <p:sp>
          <p:nvSpPr>
            <p:cNvPr id="1570" name="Google Shape;1570;p167"/>
            <p:cNvSpPr/>
            <p:nvPr/>
          </p:nvSpPr>
          <p:spPr>
            <a:xfrm>
              <a:off x="7832160" y="424080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Correlation</a:t>
              </a:r>
              <a:endParaRPr b="0" i="0" sz="800" u="none" cap="none" strike="noStrike">
                <a:latin typeface="Arial"/>
                <a:ea typeface="Arial"/>
                <a:cs typeface="Arial"/>
                <a:sym typeface="Arial"/>
              </a:endParaRPr>
            </a:p>
          </p:txBody>
        </p:sp>
        <p:sp>
          <p:nvSpPr>
            <p:cNvPr id="1571" name="Google Shape;1571;p167"/>
            <p:cNvSpPr/>
            <p:nvPr/>
          </p:nvSpPr>
          <p:spPr>
            <a:xfrm>
              <a:off x="7832160" y="4404240"/>
              <a:ext cx="784080" cy="11916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Explanation</a:t>
              </a:r>
              <a:endParaRPr b="0" i="0" sz="800" u="none" cap="none" strike="noStrike">
                <a:latin typeface="Arial"/>
                <a:ea typeface="Arial"/>
                <a:cs typeface="Arial"/>
                <a:sym typeface="Arial"/>
              </a:endParaRPr>
            </a:p>
          </p:txBody>
        </p:sp>
      </p:grpSp>
      <p:sp>
        <p:nvSpPr>
          <p:cNvPr id="1572" name="Google Shape;1572;p167"/>
          <p:cNvSpPr/>
          <p:nvPr/>
        </p:nvSpPr>
        <p:spPr>
          <a:xfrm rot="10800000">
            <a:off x="1804320" y="2377080"/>
            <a:ext cx="1700280" cy="8308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grpSp>
        <p:nvGrpSpPr>
          <p:cNvPr id="1573" name="Google Shape;1573;p167"/>
          <p:cNvGrpSpPr/>
          <p:nvPr/>
        </p:nvGrpSpPr>
        <p:grpSpPr>
          <a:xfrm>
            <a:off x="7527960" y="2684520"/>
            <a:ext cx="1355760" cy="492120"/>
            <a:chOff x="7527960" y="2684520"/>
            <a:chExt cx="1355760" cy="492120"/>
          </a:xfrm>
        </p:grpSpPr>
        <p:sp>
          <p:nvSpPr>
            <p:cNvPr id="1574" name="Google Shape;1574;p167"/>
            <p:cNvSpPr/>
            <p:nvPr/>
          </p:nvSpPr>
          <p:spPr>
            <a:xfrm>
              <a:off x="7527960" y="2684520"/>
              <a:ext cx="1355760" cy="4921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Analytics</a:t>
              </a:r>
              <a:endParaRPr b="0" i="0" sz="1100" u="none" cap="none" strike="noStrike">
                <a:latin typeface="Arial"/>
                <a:ea typeface="Arial"/>
                <a:cs typeface="Arial"/>
                <a:sym typeface="Arial"/>
              </a:endParaRPr>
            </a:p>
          </p:txBody>
        </p:sp>
        <p:sp>
          <p:nvSpPr>
            <p:cNvPr id="1575" name="Google Shape;1575;p167"/>
            <p:cNvSpPr/>
            <p:nvPr/>
          </p:nvSpPr>
          <p:spPr>
            <a:xfrm>
              <a:off x="7895160" y="2968560"/>
              <a:ext cx="582120" cy="11808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Metrics</a:t>
              </a:r>
              <a:endParaRPr b="0" i="0" sz="800" u="none" cap="none" strike="noStrike">
                <a:latin typeface="Arial"/>
                <a:ea typeface="Arial"/>
                <a:cs typeface="Arial"/>
                <a:sym typeface="Arial"/>
              </a:endParaRPr>
            </a:p>
          </p:txBody>
        </p:sp>
      </p:grpSp>
      <p:sp>
        <p:nvSpPr>
          <p:cNvPr id="1576" name="Google Shape;1576;p167"/>
          <p:cNvSpPr/>
          <p:nvPr/>
        </p:nvSpPr>
        <p:spPr>
          <a:xfrm flipH="1" rot="10800000">
            <a:off x="6688800" y="3577680"/>
            <a:ext cx="837720" cy="64692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577" name="Google Shape;1577;p167"/>
          <p:cNvSpPr/>
          <p:nvPr/>
        </p:nvSpPr>
        <p:spPr>
          <a:xfrm>
            <a:off x="6689520" y="3577680"/>
            <a:ext cx="838080" cy="69264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578" name="Google Shape;1578;p167"/>
          <p:cNvSpPr/>
          <p:nvPr/>
        </p:nvSpPr>
        <p:spPr>
          <a:xfrm rot="10800000">
            <a:off x="8205840" y="3177360"/>
            <a:ext cx="360" cy="783720"/>
          </a:xfrm>
          <a:custGeom>
            <a:rect b="b" l="l" r="r" t="t"/>
            <a:pathLst>
              <a:path extrusionOk="0" h="21600" w="21600">
                <a:moveTo>
                  <a:pt x="0" y="0"/>
                </a:moveTo>
                <a:lnTo>
                  <a:pt x="21600" y="21600"/>
                </a:lnTo>
              </a:path>
            </a:pathLst>
          </a:custGeom>
          <a:noFill/>
          <a:ln cap="flat" cmpd="sng" w="9525">
            <a:solidFill>
              <a:srgbClr val="CFCFCF"/>
            </a:solidFill>
            <a:prstDash val="solid"/>
            <a:round/>
            <a:headEnd len="sm" w="sm" type="none"/>
            <a:tailEnd len="med" w="med" type="triangle"/>
          </a:ln>
        </p:spPr>
      </p:sp>
      <p:sp>
        <p:nvSpPr>
          <p:cNvPr id="1579" name="Google Shape;1579;p167"/>
          <p:cNvSpPr/>
          <p:nvPr/>
        </p:nvSpPr>
        <p:spPr>
          <a:xfrm>
            <a:off x="7271280" y="3375360"/>
            <a:ext cx="622080" cy="175680"/>
          </a:xfrm>
          <a:prstGeom prst="rect">
            <a:avLst/>
          </a:prstGeom>
          <a:solidFill>
            <a:srgbClr val="FFFFFF"/>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700" u="none" cap="none" strike="noStrike">
                <a:solidFill>
                  <a:srgbClr val="0089EC"/>
                </a:solidFill>
                <a:latin typeface="Arial"/>
                <a:ea typeface="Arial"/>
                <a:cs typeface="Arial"/>
                <a:sym typeface="Arial"/>
              </a:rPr>
              <a:t>Reasoning</a:t>
            </a:r>
            <a:endParaRPr b="0" i="0" sz="700" u="none" cap="none" strike="noStrike">
              <a:latin typeface="Arial"/>
              <a:ea typeface="Arial"/>
              <a:cs typeface="Arial"/>
              <a:sym typeface="Arial"/>
            </a:endParaRPr>
          </a:p>
        </p:txBody>
      </p:sp>
      <p:grpSp>
        <p:nvGrpSpPr>
          <p:cNvPr id="1580" name="Google Shape;1580;p167"/>
          <p:cNvGrpSpPr/>
          <p:nvPr/>
        </p:nvGrpSpPr>
        <p:grpSpPr>
          <a:xfrm>
            <a:off x="5070240" y="2754720"/>
            <a:ext cx="1618920" cy="1645920"/>
            <a:chOff x="5070240" y="2754720"/>
            <a:chExt cx="1618920" cy="1645920"/>
          </a:xfrm>
        </p:grpSpPr>
        <p:sp>
          <p:nvSpPr>
            <p:cNvPr id="1581" name="Google Shape;1581;p167"/>
            <p:cNvSpPr/>
            <p:nvPr/>
          </p:nvSpPr>
          <p:spPr>
            <a:xfrm>
              <a:off x="5070240" y="2754720"/>
              <a:ext cx="1618920" cy="1645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Arial"/>
                  <a:ea typeface="Arial"/>
                  <a:cs typeface="Arial"/>
                  <a:sym typeface="Arial"/>
                </a:rPr>
                <a:t>Mapping Services</a:t>
              </a:r>
              <a:endParaRPr b="0" i="0" sz="1100" u="none" cap="none" strike="noStrike">
                <a:latin typeface="Arial"/>
                <a:ea typeface="Arial"/>
                <a:cs typeface="Arial"/>
                <a:sym typeface="Arial"/>
              </a:endParaRPr>
            </a:p>
          </p:txBody>
        </p:sp>
        <p:sp>
          <p:nvSpPr>
            <p:cNvPr id="1582" name="Google Shape;1582;p167"/>
            <p:cNvSpPr/>
            <p:nvPr/>
          </p:nvSpPr>
          <p:spPr>
            <a:xfrm>
              <a:off x="5398560" y="34153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Properties</a:t>
              </a:r>
              <a:endParaRPr b="0" i="0" sz="800" u="none" cap="none" strike="noStrike">
                <a:latin typeface="Arial"/>
                <a:ea typeface="Arial"/>
                <a:cs typeface="Arial"/>
                <a:sym typeface="Arial"/>
              </a:endParaRPr>
            </a:p>
          </p:txBody>
        </p:sp>
        <p:sp>
          <p:nvSpPr>
            <p:cNvPr id="1583" name="Google Shape;1583;p167"/>
            <p:cNvSpPr/>
            <p:nvPr/>
          </p:nvSpPr>
          <p:spPr>
            <a:xfrm>
              <a:off x="5398560" y="3195720"/>
              <a:ext cx="1061280" cy="1627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p:txBody>
        </p:sp>
        <p:sp>
          <p:nvSpPr>
            <p:cNvPr id="1584" name="Google Shape;1584;p167"/>
            <p:cNvSpPr/>
            <p:nvPr/>
          </p:nvSpPr>
          <p:spPr>
            <a:xfrm>
              <a:off x="5398560" y="3643920"/>
              <a:ext cx="977760" cy="24120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Terms &amp; Alternate Labels</a:t>
              </a:r>
              <a:endParaRPr b="0" i="0" sz="800" u="none" cap="none" strike="noStrike">
                <a:latin typeface="Arial"/>
                <a:ea typeface="Arial"/>
                <a:cs typeface="Arial"/>
                <a:sym typeface="Arial"/>
              </a:endParaRPr>
            </a:p>
          </p:txBody>
        </p:sp>
        <p:sp>
          <p:nvSpPr>
            <p:cNvPr id="1585" name="Google Shape;1585;p167"/>
            <p:cNvSpPr/>
            <p:nvPr/>
          </p:nvSpPr>
          <p:spPr>
            <a:xfrm>
              <a:off x="5406120" y="39297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Relations</a:t>
              </a:r>
              <a:endParaRPr b="0" i="0" sz="800" u="none" cap="none" strike="noStrike">
                <a:latin typeface="Arial"/>
                <a:ea typeface="Arial"/>
                <a:cs typeface="Arial"/>
                <a:sym typeface="Arial"/>
              </a:endParaRPr>
            </a:p>
          </p:txBody>
        </p:sp>
        <p:sp>
          <p:nvSpPr>
            <p:cNvPr id="1586" name="Google Shape;1586;p167"/>
            <p:cNvSpPr/>
            <p:nvPr/>
          </p:nvSpPr>
          <p:spPr>
            <a:xfrm>
              <a:off x="5406120" y="4158360"/>
              <a:ext cx="961920" cy="160920"/>
            </a:xfrm>
            <a:prstGeom prst="roundRect">
              <a:avLst>
                <a:gd fmla="val 16667" name="adj"/>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Protection</a:t>
              </a:r>
              <a:endParaRPr b="0" i="0" sz="800" u="none" cap="none" strike="noStrike">
                <a:latin typeface="Arial"/>
                <a:ea typeface="Arial"/>
                <a:cs typeface="Arial"/>
                <a:sym typeface="Arial"/>
              </a:endParaRPr>
            </a:p>
          </p:txBody>
        </p:sp>
      </p:grpSp>
      <p:sp>
        <p:nvSpPr>
          <p:cNvPr id="1587" name="Google Shape;1587;p167"/>
          <p:cNvSpPr/>
          <p:nvPr/>
        </p:nvSpPr>
        <p:spPr>
          <a:xfrm>
            <a:off x="7358040" y="3572280"/>
            <a:ext cx="448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88" name="Google Shape;1588;p167"/>
          <p:cNvSpPr/>
          <p:nvPr/>
        </p:nvSpPr>
        <p:spPr>
          <a:xfrm>
            <a:off x="8429400" y="4041720"/>
            <a:ext cx="415800" cy="154080"/>
          </a:xfrm>
          <a:prstGeom prst="flowChartAlternateProcess">
            <a:avLst/>
          </a:prstGeom>
          <a:noFill/>
          <a:ln cap="flat" cmpd="sng" w="9525">
            <a:solidFill>
              <a:srgbClr val="F3EDE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89" name="Google Shape;1589;p167"/>
          <p:cNvSpPr/>
          <p:nvPr/>
        </p:nvSpPr>
        <p:spPr>
          <a:xfrm>
            <a:off x="8458200" y="2455920"/>
            <a:ext cx="415800" cy="154080"/>
          </a:xfrm>
          <a:prstGeom prst="flowChartAlternateProcess">
            <a:avLst/>
          </a:prstGeom>
          <a:noFill/>
          <a:ln cap="flat" cmpd="sng" w="9525">
            <a:solidFill>
              <a:srgbClr val="DD7E6B"/>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a:t>
            </a:r>
            <a:endParaRPr b="0" i="0" sz="400" u="none" cap="none" strike="noStrike">
              <a:latin typeface="Arial"/>
              <a:ea typeface="Arial"/>
              <a:cs typeface="Arial"/>
              <a:sym typeface="Arial"/>
            </a:endParaRPr>
          </a:p>
        </p:txBody>
      </p:sp>
      <p:sp>
        <p:nvSpPr>
          <p:cNvPr id="1590" name="Google Shape;1590;p167"/>
          <p:cNvSpPr/>
          <p:nvPr/>
        </p:nvSpPr>
        <p:spPr>
          <a:xfrm>
            <a:off x="4403520" y="3375360"/>
            <a:ext cx="493920" cy="154080"/>
          </a:xfrm>
          <a:prstGeom prst="flowChartAlternateProcess">
            <a:avLst/>
          </a:prstGeom>
          <a:solidFill>
            <a:srgbClr val="F3EDE0"/>
          </a:solidFill>
          <a:ln cap="flat" cmpd="sng" w="9525">
            <a:solidFill>
              <a:srgbClr val="E97132"/>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400" u="none" cap="none" strike="noStrike">
                <a:solidFill>
                  <a:srgbClr val="666666"/>
                </a:solidFill>
                <a:latin typeface="Arial"/>
                <a:ea typeface="Arial"/>
                <a:cs typeface="Arial"/>
                <a:sym typeface="Arial"/>
              </a:rPr>
              <a:t>Intelligent Agents</a:t>
            </a:r>
            <a:endParaRPr b="0" i="0" sz="400" u="none" cap="none" strike="noStrike">
              <a:latin typeface="Arial"/>
              <a:ea typeface="Arial"/>
              <a:cs typeface="Arial"/>
              <a:sym typeface="Arial"/>
            </a:endParaRPr>
          </a:p>
        </p:txBody>
      </p:sp>
      <p:sp>
        <p:nvSpPr>
          <p:cNvPr id="1591" name="Google Shape;1591;p167"/>
          <p:cNvSpPr/>
          <p:nvPr/>
        </p:nvSpPr>
        <p:spPr>
          <a:xfrm flipH="1" rot="10800000">
            <a:off x="3503520" y="3207960"/>
            <a:ext cx="2429640" cy="769680"/>
          </a:xfrm>
          <a:custGeom>
            <a:rect b="b" l="l" r="r" t="t"/>
            <a:pathLst>
              <a:path extrusionOk="0" h="21600" w="21600">
                <a:moveTo>
                  <a:pt x="0" y="0"/>
                </a:moveTo>
                <a:lnTo>
                  <a:pt x="21600" y="21600"/>
                </a:lnTo>
              </a:path>
            </a:pathLst>
          </a:custGeom>
          <a:noFill/>
          <a:ln cap="flat" cmpd="sng" w="9525">
            <a:solidFill>
              <a:srgbClr val="CC4125"/>
            </a:solidFill>
            <a:prstDash val="dashDot"/>
            <a:round/>
            <a:headEnd len="med" w="med" type="triangle"/>
            <a:tailEnd len="sm" w="sm" type="none"/>
          </a:ln>
        </p:spPr>
      </p:sp>
      <p:sp>
        <p:nvSpPr>
          <p:cNvPr id="1592" name="Google Shape;1592;p167"/>
          <p:cNvSpPr/>
          <p:nvPr/>
        </p:nvSpPr>
        <p:spPr>
          <a:xfrm>
            <a:off x="3126600" y="1181880"/>
            <a:ext cx="1806120" cy="1255320"/>
          </a:xfrm>
          <a:prstGeom prst="roundRect">
            <a:avLst>
              <a:gd fmla="val 16667" name="adj"/>
            </a:avLst>
          </a:prstGeom>
          <a:solidFill>
            <a:srgbClr val="D8D8D8"/>
          </a:solidFill>
          <a:ln cap="flat" cmpd="sng" w="9525">
            <a:solidFill>
              <a:srgbClr val="A5A5A5"/>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Semantic Knowledge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 Context to Content)</a:t>
            </a:r>
            <a:endParaRPr b="0" i="0" sz="700" u="none" cap="none" strike="noStrike">
              <a:latin typeface="Arial"/>
              <a:ea typeface="Arial"/>
              <a:cs typeface="Arial"/>
              <a:sym typeface="Arial"/>
            </a:endParaRPr>
          </a:p>
        </p:txBody>
      </p:sp>
      <p:grpSp>
        <p:nvGrpSpPr>
          <p:cNvPr id="1593" name="Google Shape;1593;p167"/>
          <p:cNvGrpSpPr/>
          <p:nvPr/>
        </p:nvGrpSpPr>
        <p:grpSpPr>
          <a:xfrm>
            <a:off x="3404520" y="1608840"/>
            <a:ext cx="1249560" cy="767520"/>
            <a:chOff x="3404520" y="1608840"/>
            <a:chExt cx="1249560" cy="767520"/>
          </a:xfrm>
        </p:grpSpPr>
        <p:pic>
          <p:nvPicPr>
            <p:cNvPr id="1594" name="Google Shape;1594;p167"/>
            <p:cNvPicPr preferRelativeResize="0"/>
            <p:nvPr/>
          </p:nvPicPr>
          <p:blipFill rotWithShape="1">
            <a:blip r:embed="rId4">
              <a:alphaModFix/>
            </a:blip>
            <a:srcRect b="0" l="0" r="0" t="0"/>
            <a:stretch/>
          </p:blipFill>
          <p:spPr>
            <a:xfrm>
              <a:off x="3404520" y="1608840"/>
              <a:ext cx="411480" cy="380520"/>
            </a:xfrm>
            <a:prstGeom prst="rect">
              <a:avLst/>
            </a:prstGeom>
            <a:noFill/>
            <a:ln>
              <a:noFill/>
            </a:ln>
          </p:spPr>
        </p:pic>
        <p:pic>
          <p:nvPicPr>
            <p:cNvPr id="1595" name="Google Shape;1595;p167"/>
            <p:cNvPicPr preferRelativeResize="0"/>
            <p:nvPr/>
          </p:nvPicPr>
          <p:blipFill rotWithShape="1">
            <a:blip r:embed="rId4">
              <a:alphaModFix/>
            </a:blip>
            <a:srcRect b="0" l="0" r="0" t="0"/>
            <a:stretch/>
          </p:blipFill>
          <p:spPr>
            <a:xfrm>
              <a:off x="3823560" y="1608840"/>
              <a:ext cx="411480" cy="380520"/>
            </a:xfrm>
            <a:prstGeom prst="rect">
              <a:avLst/>
            </a:prstGeom>
            <a:noFill/>
            <a:ln>
              <a:noFill/>
            </a:ln>
          </p:spPr>
        </p:pic>
        <p:pic>
          <p:nvPicPr>
            <p:cNvPr id="1596" name="Google Shape;1596;p167"/>
            <p:cNvPicPr preferRelativeResize="0"/>
            <p:nvPr/>
          </p:nvPicPr>
          <p:blipFill rotWithShape="1">
            <a:blip r:embed="rId4">
              <a:alphaModFix/>
            </a:blip>
            <a:srcRect b="0" l="0" r="0" t="0"/>
            <a:stretch/>
          </p:blipFill>
          <p:spPr>
            <a:xfrm>
              <a:off x="4242600" y="1608840"/>
              <a:ext cx="411480" cy="380520"/>
            </a:xfrm>
            <a:prstGeom prst="rect">
              <a:avLst/>
            </a:prstGeom>
            <a:noFill/>
            <a:ln>
              <a:noFill/>
            </a:ln>
          </p:spPr>
        </p:pic>
        <p:pic>
          <p:nvPicPr>
            <p:cNvPr id="1597" name="Google Shape;1597;p167"/>
            <p:cNvPicPr preferRelativeResize="0"/>
            <p:nvPr/>
          </p:nvPicPr>
          <p:blipFill rotWithShape="1">
            <a:blip r:embed="rId4">
              <a:alphaModFix/>
            </a:blip>
            <a:srcRect b="0" l="0" r="0" t="0"/>
            <a:stretch/>
          </p:blipFill>
          <p:spPr>
            <a:xfrm>
              <a:off x="3404520" y="1995840"/>
              <a:ext cx="411480" cy="380520"/>
            </a:xfrm>
            <a:prstGeom prst="rect">
              <a:avLst/>
            </a:prstGeom>
            <a:noFill/>
            <a:ln>
              <a:noFill/>
            </a:ln>
          </p:spPr>
        </p:pic>
        <p:pic>
          <p:nvPicPr>
            <p:cNvPr id="1598" name="Google Shape;1598;p167"/>
            <p:cNvPicPr preferRelativeResize="0"/>
            <p:nvPr/>
          </p:nvPicPr>
          <p:blipFill rotWithShape="1">
            <a:blip r:embed="rId4">
              <a:alphaModFix/>
            </a:blip>
            <a:srcRect b="0" l="0" r="0" t="0"/>
            <a:stretch/>
          </p:blipFill>
          <p:spPr>
            <a:xfrm>
              <a:off x="3823560" y="1995840"/>
              <a:ext cx="411480" cy="380520"/>
            </a:xfrm>
            <a:prstGeom prst="rect">
              <a:avLst/>
            </a:prstGeom>
            <a:noFill/>
            <a:ln>
              <a:noFill/>
            </a:ln>
          </p:spPr>
        </p:pic>
        <p:pic>
          <p:nvPicPr>
            <p:cNvPr id="1599" name="Google Shape;1599;p167"/>
            <p:cNvPicPr preferRelativeResize="0"/>
            <p:nvPr/>
          </p:nvPicPr>
          <p:blipFill rotWithShape="1">
            <a:blip r:embed="rId4">
              <a:alphaModFix/>
            </a:blip>
            <a:srcRect b="0" l="0" r="0" t="0"/>
            <a:stretch/>
          </p:blipFill>
          <p:spPr>
            <a:xfrm>
              <a:off x="4242600" y="1995840"/>
              <a:ext cx="411480" cy="380520"/>
            </a:xfrm>
            <a:prstGeom prst="rect">
              <a:avLst/>
            </a:prstGeom>
            <a:noFill/>
            <a:ln>
              <a:noFill/>
            </a:ln>
          </p:spPr>
        </p:pic>
      </p:grpSp>
      <p:sp>
        <p:nvSpPr>
          <p:cNvPr id="1600" name="Google Shape;1600;p167"/>
          <p:cNvSpPr/>
          <p:nvPr/>
        </p:nvSpPr>
        <p:spPr>
          <a:xfrm flipH="1" rot="10800000">
            <a:off x="3503520" y="3207960"/>
            <a:ext cx="524520" cy="769680"/>
          </a:xfrm>
          <a:custGeom>
            <a:rect b="b" l="l" r="r" t="t"/>
            <a:pathLst>
              <a:path extrusionOk="0" h="21600" w="21600">
                <a:moveTo>
                  <a:pt x="0" y="0"/>
                </a:moveTo>
                <a:lnTo>
                  <a:pt x="21600" y="21600"/>
                </a:lnTo>
              </a:path>
            </a:pathLst>
          </a:custGeom>
          <a:noFill/>
          <a:ln cap="flat" cmpd="sng" w="9525">
            <a:solidFill>
              <a:srgbClr val="CC4125"/>
            </a:solidFill>
            <a:prstDash val="dashDot"/>
            <a:round/>
            <a:headEnd len="sm" w="sm" type="none"/>
            <a:tailEnd len="med" w="med" type="triangle"/>
          </a:ln>
        </p:spPr>
      </p:sp>
      <p:grpSp>
        <p:nvGrpSpPr>
          <p:cNvPr id="1601" name="Google Shape;1601;p167"/>
          <p:cNvGrpSpPr/>
          <p:nvPr/>
        </p:nvGrpSpPr>
        <p:grpSpPr>
          <a:xfrm>
            <a:off x="8546760" y="9000"/>
            <a:ext cx="594000" cy="679680"/>
            <a:chOff x="8546760" y="9000"/>
            <a:chExt cx="594000" cy="679680"/>
          </a:xfrm>
        </p:grpSpPr>
        <p:sp>
          <p:nvSpPr>
            <p:cNvPr id="1602" name="Google Shape;1602;p167"/>
            <p:cNvSpPr/>
            <p:nvPr/>
          </p:nvSpPr>
          <p:spPr>
            <a:xfrm>
              <a:off x="8546760" y="900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3" name="Google Shape;1603;p167"/>
            <p:cNvGrpSpPr/>
            <p:nvPr/>
          </p:nvGrpSpPr>
          <p:grpSpPr>
            <a:xfrm>
              <a:off x="8585280" y="9360"/>
              <a:ext cx="555480" cy="679320"/>
              <a:chOff x="8585280" y="9360"/>
              <a:chExt cx="555480" cy="679320"/>
            </a:xfrm>
          </p:grpSpPr>
          <p:pic>
            <p:nvPicPr>
              <p:cNvPr id="1604" name="Google Shape;1604;p167"/>
              <p:cNvPicPr preferRelativeResize="0"/>
              <p:nvPr/>
            </p:nvPicPr>
            <p:blipFill rotWithShape="1">
              <a:blip r:embed="rId5">
                <a:alphaModFix/>
              </a:blip>
              <a:srcRect b="0" l="20669" r="9844" t="0"/>
              <a:stretch/>
            </p:blipFill>
            <p:spPr>
              <a:xfrm>
                <a:off x="8585280" y="9360"/>
                <a:ext cx="530640" cy="530640"/>
              </a:xfrm>
              <a:prstGeom prst="rect">
                <a:avLst/>
              </a:prstGeom>
              <a:noFill/>
              <a:ln>
                <a:noFill/>
              </a:ln>
            </p:spPr>
          </p:pic>
          <p:sp>
            <p:nvSpPr>
              <p:cNvPr id="1605" name="Google Shape;1605;p167"/>
              <p:cNvSpPr/>
              <p:nvPr/>
            </p:nvSpPr>
            <p:spPr>
              <a:xfrm>
                <a:off x="8585280" y="502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F50A23"/>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168"/>
          <p:cNvSpPr/>
          <p:nvPr/>
        </p:nvSpPr>
        <p:spPr>
          <a:xfrm>
            <a:off x="1303200" y="141120"/>
            <a:ext cx="6765120" cy="2588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a:t>
            </a:r>
            <a:endParaRPr b="0" i="0" sz="2000" u="none" cap="none" strike="noStrike">
              <a:latin typeface="Arial"/>
              <a:ea typeface="Arial"/>
              <a:cs typeface="Arial"/>
              <a:sym typeface="Arial"/>
            </a:endParaRPr>
          </a:p>
        </p:txBody>
      </p:sp>
      <p:sp>
        <p:nvSpPr>
          <p:cNvPr id="1611" name="Google Shape;1611;p168"/>
          <p:cNvSpPr/>
          <p:nvPr/>
        </p:nvSpPr>
        <p:spPr>
          <a:xfrm>
            <a:off x="3417840" y="705600"/>
            <a:ext cx="360" cy="424440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612" name="Google Shape;1612;p168"/>
          <p:cNvSpPr/>
          <p:nvPr/>
        </p:nvSpPr>
        <p:spPr>
          <a:xfrm>
            <a:off x="327960" y="1061640"/>
            <a:ext cx="8516160" cy="36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613" name="Google Shape;1613;p168"/>
          <p:cNvSpPr/>
          <p:nvPr/>
        </p:nvSpPr>
        <p:spPr>
          <a:xfrm>
            <a:off x="325800" y="550440"/>
            <a:ext cx="3020760" cy="34884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What is it?</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C00000"/>
                </a:solidFill>
                <a:latin typeface="Arial"/>
                <a:ea typeface="Arial"/>
                <a:cs typeface="Arial"/>
                <a:sym typeface="Arial"/>
              </a:rPr>
              <a:t>(Brief Description)</a:t>
            </a:r>
            <a:endParaRPr b="0" i="0" sz="1000" u="none" cap="none" strike="noStrike">
              <a:latin typeface="Arial"/>
              <a:ea typeface="Arial"/>
              <a:cs typeface="Arial"/>
              <a:sym typeface="Arial"/>
            </a:endParaRPr>
          </a:p>
        </p:txBody>
      </p:sp>
      <p:sp>
        <p:nvSpPr>
          <p:cNvPr id="1614" name="Google Shape;1614;p168"/>
          <p:cNvSpPr/>
          <p:nvPr/>
        </p:nvSpPr>
        <p:spPr>
          <a:xfrm>
            <a:off x="301680" y="1101960"/>
            <a:ext cx="2968200" cy="227232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110" u="none" cap="none" strike="noStrike">
                <a:solidFill>
                  <a:srgbClr val="000000"/>
                </a:solidFill>
                <a:latin typeface="Arial"/>
                <a:ea typeface="Arial"/>
                <a:cs typeface="Arial"/>
                <a:sym typeface="Arial"/>
              </a:rPr>
              <a:t>Structured representation of our knowledge</a:t>
            </a:r>
            <a:r>
              <a:rPr b="0" i="0" lang="en-US" sz="1110" u="none" cap="none" strike="noStrike">
                <a:solidFill>
                  <a:srgbClr val="000000"/>
                </a:solidFill>
                <a:latin typeface="Arial"/>
                <a:ea typeface="Arial"/>
                <a:cs typeface="Arial"/>
                <a:sym typeface="Arial"/>
              </a:rPr>
              <a:t>, mapped across the Data &amp; Analytics Ecosystem and integrated into a single, coherent whole.</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1110" u="none" cap="none" strike="noStrike">
                <a:solidFill>
                  <a:srgbClr val="000000"/>
                </a:solidFill>
                <a:latin typeface="Arial"/>
                <a:ea typeface="Arial"/>
                <a:cs typeface="Arial"/>
                <a:sym typeface="Arial"/>
              </a:rPr>
              <a:t>It encapsulates the relationships, hierarchies, and semantic understanding of data.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110" u="none" cap="none" strike="noStrike">
                <a:solidFill>
                  <a:srgbClr val="000000"/>
                </a:solidFill>
                <a:latin typeface="Arial"/>
                <a:ea typeface="Arial"/>
                <a:cs typeface="Arial"/>
                <a:sym typeface="Arial"/>
              </a:rPr>
              <a:t>This is crucial for effective diagnostics, accelerated decision-making, unified understanding vertically &amp; horizontally, etc.</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110" u="none" cap="none" strike="noStrike">
              <a:latin typeface="Arial"/>
              <a:ea typeface="Arial"/>
              <a:cs typeface="Arial"/>
              <a:sym typeface="Arial"/>
            </a:endParaRPr>
          </a:p>
        </p:txBody>
      </p:sp>
      <p:sp>
        <p:nvSpPr>
          <p:cNvPr id="1615" name="Google Shape;1615;p168"/>
          <p:cNvSpPr/>
          <p:nvPr/>
        </p:nvSpPr>
        <p:spPr>
          <a:xfrm>
            <a:off x="3499920" y="1101960"/>
            <a:ext cx="5237640" cy="4041360"/>
          </a:xfrm>
          <a:prstGeom prst="rect">
            <a:avLst/>
          </a:prstGeom>
          <a:solidFill>
            <a:srgbClr val="FFFFFF"/>
          </a:solidFill>
          <a:ln>
            <a:noFill/>
          </a:ln>
        </p:spPr>
        <p:txBody>
          <a:bodyPr anchorCtr="0" anchor="t" bIns="91425" lIns="91425" spcFirstLastPara="1" rIns="91425" wrap="square" tIns="91425">
            <a:noAutofit/>
          </a:bodyPr>
          <a:lstStyle/>
          <a:p>
            <a:pPr indent="-285480" lvl="0" marL="457200" marR="0" rtl="0" algn="l">
              <a:lnSpc>
                <a:spcPct val="115000"/>
              </a:lnSpc>
              <a:spcBef>
                <a:spcPts val="0"/>
              </a:spcBef>
              <a:spcAft>
                <a:spcPts val="0"/>
              </a:spcAft>
              <a:buClr>
                <a:srgbClr val="000000"/>
              </a:buClr>
              <a:buSzPts val="900"/>
              <a:buFont typeface="Arial"/>
              <a:buChar char="❏"/>
            </a:pPr>
            <a:r>
              <a:rPr b="0" i="0" lang="en-US" sz="900" u="none" cap="none" strike="noStrike">
                <a:solidFill>
                  <a:srgbClr val="222222"/>
                </a:solidFill>
                <a:latin typeface="Arial"/>
                <a:ea typeface="Arial"/>
                <a:cs typeface="Arial"/>
                <a:sym typeface="Arial"/>
              </a:rPr>
              <a:t>The knowledge layer </a:t>
            </a:r>
            <a:r>
              <a:rPr b="1" i="0" lang="en-US" sz="900" u="none" cap="none" strike="noStrike">
                <a:solidFill>
                  <a:srgbClr val="4A86E8"/>
                </a:solidFill>
                <a:latin typeface="Arial"/>
                <a:ea typeface="Arial"/>
                <a:cs typeface="Arial"/>
                <a:sym typeface="Arial"/>
              </a:rPr>
              <a:t>provides the context in which metrics or KPIs operate.</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000000"/>
              </a:buClr>
              <a:buSzPts val="900"/>
              <a:buFont typeface="Arial"/>
              <a:buChar char="❏"/>
            </a:pPr>
            <a:r>
              <a:rPr b="0" i="0" lang="en-US" sz="900" u="none" cap="none" strike="noStrike">
                <a:solidFill>
                  <a:srgbClr val="222222"/>
                </a:solidFill>
                <a:latin typeface="Arial"/>
                <a:ea typeface="Arial"/>
                <a:cs typeface="Arial"/>
                <a:sym typeface="Arial"/>
              </a:rPr>
              <a:t>By understanding the relationships between different data points, a knowledge layer can </a:t>
            </a:r>
            <a:r>
              <a:rPr b="1" i="0" lang="en-US" sz="900" u="none" cap="none" strike="noStrike">
                <a:solidFill>
                  <a:srgbClr val="4A86E8"/>
                </a:solidFill>
                <a:latin typeface="Arial"/>
                <a:ea typeface="Arial"/>
                <a:cs typeface="Arial"/>
                <a:sym typeface="Arial"/>
              </a:rPr>
              <a:t>help in determining the cause-and-effect relationships between metrics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The knowledge layer can </a:t>
            </a:r>
            <a:r>
              <a:rPr b="1" i="0" lang="en-US" sz="900" u="none" cap="none" strike="noStrike">
                <a:solidFill>
                  <a:srgbClr val="4A86E8"/>
                </a:solidFill>
                <a:latin typeface="Arial"/>
                <a:ea typeface="Arial"/>
                <a:cs typeface="Arial"/>
                <a:sym typeface="Arial"/>
              </a:rPr>
              <a:t>suggest new KPIs or metrics based on emerging data patterns or business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By understanding user roles and preferences, the knowledge layer can </a:t>
            </a:r>
            <a:r>
              <a:rPr b="1" i="0" lang="en-US" sz="900" u="none" cap="none" strike="noStrike">
                <a:solidFill>
                  <a:srgbClr val="4A86E8"/>
                </a:solidFill>
                <a:latin typeface="Arial"/>
                <a:ea typeface="Arial"/>
                <a:cs typeface="Arial"/>
                <a:sym typeface="Arial"/>
              </a:rPr>
              <a:t>customize metrics and reports based on the user's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1" i="0" lang="en-US" sz="900" u="none" cap="none" strike="noStrike">
                <a:solidFill>
                  <a:srgbClr val="4A86E8"/>
                </a:solidFill>
                <a:latin typeface="Arial"/>
                <a:ea typeface="Arial"/>
                <a:cs typeface="Arial"/>
                <a:sym typeface="Arial"/>
              </a:rPr>
              <a:t>Stakeholders can ask complex, natural-language questions</a:t>
            </a:r>
            <a:r>
              <a:rPr b="0" i="0" lang="en-US" sz="900" u="none" cap="none" strike="noStrike">
                <a:solidFill>
                  <a:srgbClr val="222222"/>
                </a:solidFill>
                <a:latin typeface="Arial"/>
                <a:ea typeface="Arial"/>
                <a:cs typeface="Arial"/>
                <a:sym typeface="Arial"/>
              </a:rPr>
              <a:t> like "Why did our FWA  sales drop last quarter?"</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When a change is detected (like a drop in a particular metric), the knowledge layer can </a:t>
            </a:r>
            <a:r>
              <a:rPr b="1" i="0" lang="en-US" sz="900" u="none" cap="none" strike="noStrike">
                <a:solidFill>
                  <a:srgbClr val="4A86E8"/>
                </a:solidFill>
                <a:latin typeface="Arial"/>
                <a:ea typeface="Arial"/>
                <a:cs typeface="Arial"/>
                <a:sym typeface="Arial"/>
              </a:rPr>
              <a:t>provide an impact analysis, highlighting other related metrics or business areas that might be affected</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The knowledge layer </a:t>
            </a:r>
            <a:r>
              <a:rPr b="1" i="0" lang="en-US" sz="900" u="none" cap="none" strike="noStrike">
                <a:solidFill>
                  <a:srgbClr val="4A86E8"/>
                </a:solidFill>
                <a:latin typeface="Arial"/>
                <a:ea typeface="Arial"/>
                <a:cs typeface="Arial"/>
                <a:sym typeface="Arial"/>
              </a:rPr>
              <a:t>allows users to dive deep into specific metrics for a granular view or aggregate data to get a higher-level perspective, catering to both micro and macro analytic needs</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a:p>
            <a:pPr indent="-285480" lvl="0" marL="457200" marR="0" rtl="0" algn="l">
              <a:lnSpc>
                <a:spcPct val="115000"/>
              </a:lnSpc>
              <a:spcBef>
                <a:spcPts val="1001"/>
              </a:spcBef>
              <a:spcAft>
                <a:spcPts val="0"/>
              </a:spcAft>
              <a:buClr>
                <a:srgbClr val="222222"/>
              </a:buClr>
              <a:buSzPts val="900"/>
              <a:buFont typeface="Arial"/>
              <a:buChar char="❏"/>
            </a:pPr>
            <a:r>
              <a:rPr b="0" i="0" lang="en-US" sz="900" u="none" cap="none" strike="noStrike">
                <a:solidFill>
                  <a:srgbClr val="222222"/>
                </a:solidFill>
                <a:latin typeface="Arial"/>
                <a:ea typeface="Arial"/>
                <a:cs typeface="Arial"/>
                <a:sym typeface="Arial"/>
              </a:rPr>
              <a:t>If a metric deviates significantly from expected values, the system </a:t>
            </a:r>
            <a:r>
              <a:rPr b="1" i="0" lang="en-US" sz="900" u="none" cap="none" strike="noStrike">
                <a:solidFill>
                  <a:srgbClr val="4A86E8"/>
                </a:solidFill>
                <a:latin typeface="Arial"/>
                <a:ea typeface="Arial"/>
                <a:cs typeface="Arial"/>
                <a:sym typeface="Arial"/>
              </a:rPr>
              <a:t>can automatically search for potential reasons within the data, offering possible explanations (causal factors with weighting) for the anomaly</a:t>
            </a:r>
            <a:r>
              <a:rPr b="0" i="0" lang="en-US" sz="900" u="none" cap="none" strike="noStrike">
                <a:solidFill>
                  <a:srgbClr val="222222"/>
                </a:solidFill>
                <a:latin typeface="Arial"/>
                <a:ea typeface="Arial"/>
                <a:cs typeface="Arial"/>
                <a:sym typeface="Arial"/>
              </a:rPr>
              <a:t>.</a:t>
            </a:r>
            <a:endParaRPr b="0" i="0" sz="900" u="none" cap="none" strike="noStrike">
              <a:latin typeface="Arial"/>
              <a:ea typeface="Arial"/>
              <a:cs typeface="Arial"/>
              <a:sym typeface="Arial"/>
            </a:endParaRPr>
          </a:p>
        </p:txBody>
      </p:sp>
      <p:sp>
        <p:nvSpPr>
          <p:cNvPr id="1616" name="Google Shape;1616;p168"/>
          <p:cNvSpPr/>
          <p:nvPr/>
        </p:nvSpPr>
        <p:spPr>
          <a:xfrm>
            <a:off x="0" y="0"/>
            <a:ext cx="1180080" cy="396360"/>
          </a:xfrm>
          <a:prstGeom prst="rect">
            <a:avLst/>
          </a:prstGeom>
          <a:solidFill>
            <a:srgbClr val="0089E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FFFFFF"/>
                </a:solidFill>
                <a:latin typeface="Arial"/>
                <a:ea typeface="Arial"/>
                <a:cs typeface="Arial"/>
                <a:sym typeface="Arial"/>
              </a:rPr>
              <a:t>Future State</a:t>
            </a:r>
            <a:endParaRPr b="0" i="0" sz="1200" u="none" cap="none" strike="noStrike">
              <a:latin typeface="Arial"/>
              <a:ea typeface="Arial"/>
              <a:cs typeface="Arial"/>
              <a:sym typeface="Arial"/>
            </a:endParaRPr>
          </a:p>
        </p:txBody>
      </p:sp>
      <p:sp>
        <p:nvSpPr>
          <p:cNvPr id="1617" name="Google Shape;1617;p168"/>
          <p:cNvSpPr/>
          <p:nvPr/>
        </p:nvSpPr>
        <p:spPr>
          <a:xfrm>
            <a:off x="3865320" y="629640"/>
            <a:ext cx="4339080" cy="34884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What is the value?</a:t>
            </a:r>
            <a:endParaRPr b="0" i="0" sz="12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1000" u="none" cap="none" strike="noStrike">
                <a:solidFill>
                  <a:srgbClr val="C00000"/>
                </a:solidFill>
                <a:latin typeface="Arial"/>
                <a:ea typeface="Arial"/>
                <a:cs typeface="Arial"/>
                <a:sym typeface="Arial"/>
              </a:rPr>
              <a:t>(Functional Features)</a:t>
            </a:r>
            <a:endParaRPr b="0" i="0" sz="1000" u="none" cap="none" strike="noStrike">
              <a:latin typeface="Arial"/>
              <a:ea typeface="Arial"/>
              <a:cs typeface="Arial"/>
              <a:sym typeface="Arial"/>
            </a:endParaRPr>
          </a:p>
        </p:txBody>
      </p:sp>
      <p:grpSp>
        <p:nvGrpSpPr>
          <p:cNvPr id="1618" name="Google Shape;1618;p168"/>
          <p:cNvGrpSpPr/>
          <p:nvPr/>
        </p:nvGrpSpPr>
        <p:grpSpPr>
          <a:xfrm>
            <a:off x="8546760" y="9000"/>
            <a:ext cx="594000" cy="679680"/>
            <a:chOff x="8546760" y="9000"/>
            <a:chExt cx="594000" cy="679680"/>
          </a:xfrm>
        </p:grpSpPr>
        <p:sp>
          <p:nvSpPr>
            <p:cNvPr id="1619" name="Google Shape;1619;p168"/>
            <p:cNvSpPr/>
            <p:nvPr/>
          </p:nvSpPr>
          <p:spPr>
            <a:xfrm>
              <a:off x="8546760" y="900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0" name="Google Shape;1620;p168"/>
            <p:cNvGrpSpPr/>
            <p:nvPr/>
          </p:nvGrpSpPr>
          <p:grpSpPr>
            <a:xfrm>
              <a:off x="8585280" y="9360"/>
              <a:ext cx="555480" cy="679320"/>
              <a:chOff x="8585280" y="9360"/>
              <a:chExt cx="555480" cy="679320"/>
            </a:xfrm>
          </p:grpSpPr>
          <p:pic>
            <p:nvPicPr>
              <p:cNvPr id="1621" name="Google Shape;1621;p168"/>
              <p:cNvPicPr preferRelativeResize="0"/>
              <p:nvPr/>
            </p:nvPicPr>
            <p:blipFill rotWithShape="1">
              <a:blip r:embed="rId3">
                <a:alphaModFix/>
              </a:blip>
              <a:srcRect b="0" l="20669" r="9844" t="0"/>
              <a:stretch/>
            </p:blipFill>
            <p:spPr>
              <a:xfrm>
                <a:off x="8585280" y="9360"/>
                <a:ext cx="530640" cy="530640"/>
              </a:xfrm>
              <a:prstGeom prst="rect">
                <a:avLst/>
              </a:prstGeom>
              <a:noFill/>
              <a:ln>
                <a:noFill/>
              </a:ln>
            </p:spPr>
          </p:pic>
          <p:sp>
            <p:nvSpPr>
              <p:cNvPr id="1622" name="Google Shape;1622;p168"/>
              <p:cNvSpPr/>
              <p:nvPr/>
            </p:nvSpPr>
            <p:spPr>
              <a:xfrm>
                <a:off x="8585280" y="502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F50A23"/>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169"/>
          <p:cNvSpPr/>
          <p:nvPr/>
        </p:nvSpPr>
        <p:spPr>
          <a:xfrm>
            <a:off x="3933360" y="1666440"/>
            <a:ext cx="360" cy="299520"/>
          </a:xfrm>
          <a:custGeom>
            <a:rect b="b" l="l" r="r" t="t"/>
            <a:pathLst>
              <a:path extrusionOk="0" h="21600" w="21600">
                <a:moveTo>
                  <a:pt x="0" y="0"/>
                </a:moveTo>
                <a:lnTo>
                  <a:pt x="21600" y="21600"/>
                </a:lnTo>
              </a:path>
            </a:pathLst>
          </a:custGeom>
          <a:noFill/>
          <a:ln cap="flat" cmpd="sng" w="28425">
            <a:solidFill>
              <a:srgbClr val="A5A5A5"/>
            </a:solidFill>
            <a:prstDash val="solid"/>
            <a:round/>
            <a:headEnd len="sm" w="sm" type="none"/>
            <a:tailEnd len="sm" w="sm" type="none"/>
          </a:ln>
        </p:spPr>
      </p:sp>
      <p:sp>
        <p:nvSpPr>
          <p:cNvPr id="1629" name="Google Shape;1629;p169"/>
          <p:cNvSpPr/>
          <p:nvPr/>
        </p:nvSpPr>
        <p:spPr>
          <a:xfrm>
            <a:off x="3150720" y="1723680"/>
            <a:ext cx="720720" cy="14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434343"/>
                </a:solidFill>
                <a:latin typeface="Arial"/>
                <a:ea typeface="Arial"/>
                <a:cs typeface="Arial"/>
                <a:sym typeface="Arial"/>
              </a:rPr>
              <a:t>Synchronous</a:t>
            </a:r>
            <a:endParaRPr b="0" i="0" sz="600" u="none" cap="none" strike="noStrike">
              <a:latin typeface="Arial"/>
              <a:ea typeface="Arial"/>
              <a:cs typeface="Arial"/>
              <a:sym typeface="Arial"/>
            </a:endParaRPr>
          </a:p>
        </p:txBody>
      </p:sp>
      <p:cxnSp>
        <p:nvCxnSpPr>
          <p:cNvPr id="1630" name="Google Shape;1630;p169"/>
          <p:cNvCxnSpPr/>
          <p:nvPr/>
        </p:nvCxnSpPr>
        <p:spPr>
          <a:xfrm flipH="1">
            <a:off x="6508500" y="2161080"/>
            <a:ext cx="740100" cy="138300"/>
          </a:xfrm>
          <a:prstGeom prst="bentConnector3">
            <a:avLst>
              <a:gd fmla="val 67712" name="adj1"/>
            </a:avLst>
          </a:prstGeom>
          <a:noFill/>
          <a:ln cap="flat" cmpd="sng" w="28425">
            <a:solidFill>
              <a:srgbClr val="A5A5A5"/>
            </a:solidFill>
            <a:prstDash val="solid"/>
            <a:round/>
            <a:headEnd len="sm" w="sm" type="none"/>
            <a:tailEnd len="sm" w="sm" type="none"/>
          </a:ln>
        </p:spPr>
      </p:cxnSp>
      <p:grpSp>
        <p:nvGrpSpPr>
          <p:cNvPr id="1631" name="Google Shape;1631;p169"/>
          <p:cNvGrpSpPr/>
          <p:nvPr/>
        </p:nvGrpSpPr>
        <p:grpSpPr>
          <a:xfrm>
            <a:off x="6995160" y="3951360"/>
            <a:ext cx="2022840" cy="1000440"/>
            <a:chOff x="6995160" y="3951360"/>
            <a:chExt cx="2022840" cy="1000440"/>
          </a:xfrm>
        </p:grpSpPr>
        <p:sp>
          <p:nvSpPr>
            <p:cNvPr id="1632" name="Google Shape;1632;p169"/>
            <p:cNvSpPr/>
            <p:nvPr/>
          </p:nvSpPr>
          <p:spPr>
            <a:xfrm>
              <a:off x="6995160" y="3951360"/>
              <a:ext cx="2022840" cy="1000440"/>
            </a:xfrm>
            <a:prstGeom prst="flowChartAlternateProcess">
              <a:avLst/>
            </a:prstGeom>
            <a:solidFill>
              <a:srgbClr val="C9DAF8"/>
            </a:solidFill>
            <a:ln cap="flat" cmpd="sng" w="9525">
              <a:solidFill>
                <a:srgbClr val="000000"/>
              </a:solidFill>
              <a:prstDash val="solid"/>
              <a:round/>
              <a:headEnd len="sm" w="sm" type="none"/>
              <a:tailEnd len="sm" w="sm" type="none"/>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434343"/>
                  </a:solidFill>
                  <a:latin typeface="Arial"/>
                  <a:ea typeface="Arial"/>
                  <a:cs typeface="Arial"/>
                  <a:sym typeface="Arial"/>
                </a:rPr>
                <a:t>Semantic Metrics Layer</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Arial"/>
                  <a:ea typeface="Arial"/>
                  <a:cs typeface="Arial"/>
                  <a:sym typeface="Arial"/>
                </a:rPr>
                <a:t>Unified Content (LookML) for Analytics &amp; AI</a:t>
              </a:r>
              <a:endParaRPr b="0" i="0" sz="600" u="none" cap="none" strike="noStrike">
                <a:latin typeface="Arial"/>
                <a:ea typeface="Arial"/>
                <a:cs typeface="Arial"/>
                <a:sym typeface="Arial"/>
              </a:endParaRPr>
            </a:p>
          </p:txBody>
        </p:sp>
        <p:sp>
          <p:nvSpPr>
            <p:cNvPr id="1633" name="Google Shape;1633;p169"/>
            <p:cNvSpPr/>
            <p:nvPr/>
          </p:nvSpPr>
          <p:spPr>
            <a:xfrm>
              <a:off x="7320600" y="4403880"/>
              <a:ext cx="1587600" cy="464040"/>
            </a:xfrm>
            <a:prstGeom prst="can">
              <a:avLst>
                <a:gd fmla="val 25000" name="adj"/>
              </a:avLst>
            </a:prstGeom>
            <a:solidFill>
              <a:srgbClr val="FFFFFF"/>
            </a:solidFill>
            <a:ln cap="flat" cmpd="sng" w="9525">
              <a:solidFill>
                <a:srgbClr val="000000"/>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Semantic Data Models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(Harmonized Structures)</a:t>
              </a:r>
              <a:endParaRPr b="0" i="0" sz="600" u="none" cap="none" strike="noStrike">
                <a:latin typeface="Arial"/>
                <a:ea typeface="Arial"/>
                <a:cs typeface="Arial"/>
                <a:sym typeface="Arial"/>
              </a:endParaRPr>
            </a:p>
          </p:txBody>
        </p:sp>
      </p:grpSp>
      <p:sp>
        <p:nvSpPr>
          <p:cNvPr id="1634" name="Google Shape;1634;p169"/>
          <p:cNvSpPr/>
          <p:nvPr/>
        </p:nvSpPr>
        <p:spPr>
          <a:xfrm>
            <a:off x="147600" y="2051280"/>
            <a:ext cx="854640" cy="509760"/>
          </a:xfrm>
          <a:prstGeom prst="rect">
            <a:avLst/>
          </a:prstGeom>
          <a:solidFill>
            <a:srgbClr val="C9DAF8"/>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Agents &amp; Agentic AI</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595959"/>
                </a:solidFill>
                <a:latin typeface="Arial"/>
                <a:ea typeface="Arial"/>
                <a:cs typeface="Arial"/>
                <a:sym typeface="Arial"/>
              </a:rPr>
              <a:t>Correlation, Summary, Decision, Profiling, &amp; Projection Services</a:t>
            </a:r>
            <a:endParaRPr b="0" i="0" sz="500" u="none" cap="none" strike="noStrike">
              <a:latin typeface="Arial"/>
              <a:ea typeface="Arial"/>
              <a:cs typeface="Arial"/>
              <a:sym typeface="Arial"/>
            </a:endParaRPr>
          </a:p>
        </p:txBody>
      </p:sp>
      <p:grpSp>
        <p:nvGrpSpPr>
          <p:cNvPr id="1635" name="Google Shape;1635;p169"/>
          <p:cNvGrpSpPr/>
          <p:nvPr/>
        </p:nvGrpSpPr>
        <p:grpSpPr>
          <a:xfrm>
            <a:off x="1358280" y="1966320"/>
            <a:ext cx="5149440" cy="666000"/>
            <a:chOff x="1358280" y="1966320"/>
            <a:chExt cx="5149440" cy="666000"/>
          </a:xfrm>
        </p:grpSpPr>
        <p:sp>
          <p:nvSpPr>
            <p:cNvPr id="1636" name="Google Shape;1636;p169"/>
            <p:cNvSpPr/>
            <p:nvPr/>
          </p:nvSpPr>
          <p:spPr>
            <a:xfrm>
              <a:off x="1358280" y="1966320"/>
              <a:ext cx="5149440" cy="666000"/>
            </a:xfrm>
            <a:prstGeom prst="roundRect">
              <a:avLst>
                <a:gd fmla="val 16667" name="adj"/>
              </a:avLst>
            </a:prstGeom>
            <a:solidFill>
              <a:srgbClr val="FFF2CC"/>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Integration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800" u="none" cap="none" strike="noStrike">
                  <a:solidFill>
                    <a:srgbClr val="434343"/>
                  </a:solidFill>
                  <a:latin typeface="Arial"/>
                  <a:ea typeface="Arial"/>
                  <a:cs typeface="Arial"/>
                  <a:sym typeface="Arial"/>
                </a:rPr>
                <a:t>   </a:t>
              </a:r>
              <a:endParaRPr b="0" i="0" sz="800" u="none" cap="none" strike="noStrike">
                <a:latin typeface="Arial"/>
                <a:ea typeface="Arial"/>
                <a:cs typeface="Arial"/>
                <a:sym typeface="Arial"/>
              </a:endParaRPr>
            </a:p>
          </p:txBody>
        </p:sp>
        <p:sp>
          <p:nvSpPr>
            <p:cNvPr id="1637" name="Google Shape;1637;p169"/>
            <p:cNvSpPr/>
            <p:nvPr/>
          </p:nvSpPr>
          <p:spPr>
            <a:xfrm>
              <a:off x="4634280" y="2141640"/>
              <a:ext cx="462240" cy="3643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Service Library</a:t>
              </a:r>
              <a:endParaRPr b="0" i="0" sz="500" u="none" cap="none" strike="noStrike">
                <a:latin typeface="Arial"/>
                <a:ea typeface="Arial"/>
                <a:cs typeface="Arial"/>
                <a:sym typeface="Arial"/>
              </a:endParaRPr>
            </a:p>
          </p:txBody>
        </p:sp>
        <p:grpSp>
          <p:nvGrpSpPr>
            <p:cNvPr id="1638" name="Google Shape;1638;p169"/>
            <p:cNvGrpSpPr/>
            <p:nvPr/>
          </p:nvGrpSpPr>
          <p:grpSpPr>
            <a:xfrm>
              <a:off x="1462320" y="2081520"/>
              <a:ext cx="1258920" cy="443160"/>
              <a:chOff x="1462320" y="2081520"/>
              <a:chExt cx="1258920" cy="443160"/>
            </a:xfrm>
          </p:grpSpPr>
          <p:sp>
            <p:nvSpPr>
              <p:cNvPr id="1639" name="Google Shape;1639;p169"/>
              <p:cNvSpPr/>
              <p:nvPr/>
            </p:nvSpPr>
            <p:spPr>
              <a:xfrm>
                <a:off x="1462320" y="2339280"/>
                <a:ext cx="1258920" cy="185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Core Services</a:t>
                </a:r>
                <a:endParaRPr b="0" i="0" sz="600" u="none" cap="none" strike="noStrike">
                  <a:latin typeface="Arial"/>
                  <a:ea typeface="Arial"/>
                  <a:cs typeface="Arial"/>
                  <a:sym typeface="Arial"/>
                </a:endParaRPr>
              </a:p>
            </p:txBody>
          </p:sp>
          <p:sp>
            <p:nvSpPr>
              <p:cNvPr id="1640" name="Google Shape;1640;p169"/>
              <p:cNvSpPr/>
              <p:nvPr/>
            </p:nvSpPr>
            <p:spPr>
              <a:xfrm>
                <a:off x="1462320" y="2081520"/>
                <a:ext cx="667800" cy="2430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Domain Specific Services</a:t>
                </a:r>
                <a:endParaRPr b="0" i="0" sz="600" u="none" cap="none" strike="noStrike">
                  <a:latin typeface="Arial"/>
                  <a:ea typeface="Arial"/>
                  <a:cs typeface="Arial"/>
                  <a:sym typeface="Arial"/>
                </a:endParaRPr>
              </a:p>
            </p:txBody>
          </p:sp>
          <p:sp>
            <p:nvSpPr>
              <p:cNvPr id="1641" name="Google Shape;1641;p169"/>
              <p:cNvSpPr/>
              <p:nvPr/>
            </p:nvSpPr>
            <p:spPr>
              <a:xfrm>
                <a:off x="2130480" y="2085480"/>
                <a:ext cx="590760" cy="2430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Shared Services</a:t>
                </a:r>
                <a:endParaRPr b="0" i="0" sz="600" u="none" cap="none" strike="noStrike">
                  <a:latin typeface="Arial"/>
                  <a:ea typeface="Arial"/>
                  <a:cs typeface="Arial"/>
                  <a:sym typeface="Arial"/>
                </a:endParaRPr>
              </a:p>
            </p:txBody>
          </p:sp>
        </p:grpSp>
        <p:sp>
          <p:nvSpPr>
            <p:cNvPr id="1642" name="Google Shape;1642;p169"/>
            <p:cNvSpPr/>
            <p:nvPr/>
          </p:nvSpPr>
          <p:spPr>
            <a:xfrm>
              <a:off x="5216760" y="2057760"/>
              <a:ext cx="1207440" cy="495360"/>
            </a:xfrm>
            <a:prstGeom prst="rect">
              <a:avLst/>
            </a:prstGeom>
            <a:noFill/>
            <a:ln>
              <a:noFill/>
            </a:ln>
          </p:spPr>
          <p:txBody>
            <a:bodyPr anchorCtr="0" anchor="ctr" bIns="68400" lIns="68400" spcFirstLastPara="1" rIns="68400" wrap="square" tIns="68400">
              <a:noAutofit/>
            </a:bodyPr>
            <a:lstStyle/>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Search &amp; Discovery</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Shared Services</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Provisioning &amp; Protection</a:t>
              </a:r>
              <a:endParaRPr b="0" i="0" sz="600" u="none" cap="none" strike="noStrike">
                <a:latin typeface="Arial"/>
                <a:ea typeface="Arial"/>
                <a:cs typeface="Arial"/>
                <a:sym typeface="Arial"/>
              </a:endParaRPr>
            </a:p>
            <a:p>
              <a:pPr indent="-126720" lvl="0" marL="127080" marR="0" rtl="0" algn="l">
                <a:lnSpc>
                  <a:spcPct val="115000"/>
                </a:lnSpc>
                <a:spcBef>
                  <a:spcPts val="0"/>
                </a:spcBef>
                <a:spcAft>
                  <a:spcPts val="0"/>
                </a:spcAft>
                <a:buClr>
                  <a:srgbClr val="172B4D"/>
                </a:buClr>
                <a:buSzPts val="600"/>
                <a:buFont typeface="Roboto"/>
                <a:buChar char="●"/>
              </a:pPr>
              <a:r>
                <a:rPr b="0" i="0" lang="en-US" sz="600" u="none" cap="none" strike="noStrike">
                  <a:solidFill>
                    <a:srgbClr val="172B4D"/>
                  </a:solidFill>
                  <a:latin typeface="Roboto"/>
                  <a:ea typeface="Roboto"/>
                  <a:cs typeface="Roboto"/>
                  <a:sym typeface="Roboto"/>
                </a:rPr>
                <a:t>Quality Profiling Services</a:t>
              </a:r>
              <a:endParaRPr b="0" i="0" sz="600" u="none" cap="none" strike="noStrike">
                <a:latin typeface="Arial"/>
                <a:ea typeface="Arial"/>
                <a:cs typeface="Arial"/>
                <a:sym typeface="Arial"/>
              </a:endParaRPr>
            </a:p>
          </p:txBody>
        </p:sp>
      </p:grpSp>
      <p:pic>
        <p:nvPicPr>
          <p:cNvPr id="1643" name="Google Shape;1643;p169"/>
          <p:cNvPicPr preferRelativeResize="0"/>
          <p:nvPr/>
        </p:nvPicPr>
        <p:blipFill rotWithShape="1">
          <a:blip r:embed="rId3">
            <a:alphaModFix/>
          </a:blip>
          <a:srcRect b="0" l="0" r="0" t="0"/>
          <a:stretch/>
        </p:blipFill>
        <p:spPr>
          <a:xfrm>
            <a:off x="2883960" y="2223720"/>
            <a:ext cx="628560" cy="241920"/>
          </a:xfrm>
          <a:prstGeom prst="rect">
            <a:avLst/>
          </a:prstGeom>
          <a:noFill/>
          <a:ln>
            <a:noFill/>
          </a:ln>
        </p:spPr>
      </p:pic>
      <p:grpSp>
        <p:nvGrpSpPr>
          <p:cNvPr id="1644" name="Google Shape;1644;p169"/>
          <p:cNvGrpSpPr/>
          <p:nvPr/>
        </p:nvGrpSpPr>
        <p:grpSpPr>
          <a:xfrm>
            <a:off x="1358280" y="581760"/>
            <a:ext cx="5149800" cy="1084320"/>
            <a:chOff x="1358280" y="581760"/>
            <a:chExt cx="5149800" cy="1084320"/>
          </a:xfrm>
        </p:grpSpPr>
        <p:sp>
          <p:nvSpPr>
            <p:cNvPr id="1645" name="Google Shape;1645;p169"/>
            <p:cNvSpPr/>
            <p:nvPr/>
          </p:nvSpPr>
          <p:spPr>
            <a:xfrm>
              <a:off x="1358280" y="581760"/>
              <a:ext cx="5149800" cy="1084320"/>
            </a:xfrm>
            <a:prstGeom prst="roundRect">
              <a:avLst>
                <a:gd fmla="val 16667" name="adj"/>
              </a:avLst>
            </a:prstGeom>
            <a:solidFill>
              <a:srgbClr val="C9DAF8"/>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Consumption Services</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Roboto"/>
                  <a:ea typeface="Roboto"/>
                  <a:cs typeface="Roboto"/>
                  <a:sym typeface="Roboto"/>
                </a:rPr>
                <a:t>Adaptive UX + Unified Intelligence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t/>
              </a:r>
              <a:endParaRPr b="0" i="0" sz="6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   </a:t>
              </a:r>
              <a:endParaRPr b="0" i="0" sz="800" u="none" cap="none" strike="noStrike">
                <a:latin typeface="Arial"/>
                <a:ea typeface="Arial"/>
                <a:cs typeface="Arial"/>
                <a:sym typeface="Arial"/>
              </a:endParaRPr>
            </a:p>
          </p:txBody>
        </p:sp>
        <p:sp>
          <p:nvSpPr>
            <p:cNvPr id="1646" name="Google Shape;1646;p169"/>
            <p:cNvSpPr/>
            <p:nvPr/>
          </p:nvSpPr>
          <p:spPr>
            <a:xfrm>
              <a:off x="3250440" y="910440"/>
              <a:ext cx="138420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15000"/>
                </a:lnSpc>
                <a:spcBef>
                  <a:spcPts val="0"/>
                </a:spcBef>
                <a:spcAft>
                  <a:spcPts val="0"/>
                </a:spcAft>
                <a:buNone/>
              </a:pPr>
              <a:r>
                <a:rPr b="0" i="0" lang="en-US" sz="600" u="none" cap="none" strike="noStrike">
                  <a:solidFill>
                    <a:srgbClr val="1D1C1D"/>
                  </a:solidFill>
                  <a:latin typeface="Roboto"/>
                  <a:ea typeface="Roboto"/>
                  <a:cs typeface="Roboto"/>
                  <a:sym typeface="Roboto"/>
                </a:rPr>
                <a:t>Device Agnostic Facade </a:t>
              </a:r>
              <a:endParaRPr b="0" i="0" sz="600" u="none" cap="none" strike="noStrike">
                <a:latin typeface="Arial"/>
                <a:ea typeface="Arial"/>
                <a:cs typeface="Arial"/>
                <a:sym typeface="Arial"/>
              </a:endParaRPr>
            </a:p>
            <a:p>
              <a:pPr indent="0" lvl="0" marL="0" marR="0" rtl="0" algn="ctr">
                <a:lnSpc>
                  <a:spcPct val="115000"/>
                </a:lnSpc>
                <a:spcBef>
                  <a:spcPts val="0"/>
                </a:spcBef>
                <a:spcAft>
                  <a:spcPts val="0"/>
                </a:spcAft>
                <a:buNone/>
              </a:pPr>
              <a:r>
                <a:rPr b="0" i="0" lang="en-US" sz="600" u="none" cap="none" strike="noStrike">
                  <a:solidFill>
                    <a:srgbClr val="1D1C1D"/>
                  </a:solidFill>
                  <a:latin typeface="Roboto"/>
                  <a:ea typeface="Roboto"/>
                  <a:cs typeface="Roboto"/>
                  <a:sym typeface="Roboto"/>
                </a:rPr>
                <a:t>(Screens &amp; Forms)</a:t>
              </a:r>
              <a:endParaRPr b="0" i="0" sz="600" u="none" cap="none" strike="noStrike">
                <a:latin typeface="Arial"/>
                <a:ea typeface="Arial"/>
                <a:cs typeface="Arial"/>
                <a:sym typeface="Arial"/>
              </a:endParaRPr>
            </a:p>
          </p:txBody>
        </p:sp>
        <p:sp>
          <p:nvSpPr>
            <p:cNvPr id="1647" name="Google Shape;1647;p169"/>
            <p:cNvSpPr/>
            <p:nvPr/>
          </p:nvSpPr>
          <p:spPr>
            <a:xfrm>
              <a:off x="1464840" y="903600"/>
              <a:ext cx="90648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Dynamic Assembly of UI components</a:t>
              </a:r>
              <a:endParaRPr b="0" i="0" sz="600" u="none" cap="none" strike="noStrike">
                <a:latin typeface="Arial"/>
                <a:ea typeface="Arial"/>
                <a:cs typeface="Arial"/>
                <a:sym typeface="Arial"/>
              </a:endParaRPr>
            </a:p>
          </p:txBody>
        </p:sp>
        <p:sp>
          <p:nvSpPr>
            <p:cNvPr id="1648" name="Google Shape;1648;p169"/>
            <p:cNvSpPr/>
            <p:nvPr/>
          </p:nvSpPr>
          <p:spPr>
            <a:xfrm>
              <a:off x="5430960" y="1033560"/>
              <a:ext cx="925200" cy="2592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Synchronous Comm. Layer</a:t>
              </a:r>
              <a:endParaRPr b="0" i="0" sz="600" u="none" cap="none" strike="noStrike">
                <a:latin typeface="Arial"/>
                <a:ea typeface="Arial"/>
                <a:cs typeface="Arial"/>
                <a:sym typeface="Arial"/>
              </a:endParaRPr>
            </a:p>
          </p:txBody>
        </p:sp>
        <p:sp>
          <p:nvSpPr>
            <p:cNvPr id="1649" name="Google Shape;1649;p169"/>
            <p:cNvSpPr/>
            <p:nvPr/>
          </p:nvSpPr>
          <p:spPr>
            <a:xfrm>
              <a:off x="5430960" y="789120"/>
              <a:ext cx="925200" cy="18828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REST API Layer</a:t>
              </a:r>
              <a:endParaRPr b="0" i="0" sz="600" u="none" cap="none" strike="noStrike">
                <a:latin typeface="Arial"/>
                <a:ea typeface="Arial"/>
                <a:cs typeface="Arial"/>
                <a:sym typeface="Arial"/>
              </a:endParaRPr>
            </a:p>
          </p:txBody>
        </p:sp>
        <p:sp>
          <p:nvSpPr>
            <p:cNvPr id="1650" name="Google Shape;1650;p169"/>
            <p:cNvSpPr/>
            <p:nvPr/>
          </p:nvSpPr>
          <p:spPr>
            <a:xfrm>
              <a:off x="2469240" y="854640"/>
              <a:ext cx="683280" cy="357480"/>
            </a:xfrm>
            <a:prstGeom prst="can">
              <a:avLst>
                <a:gd fmla="val 25000" name="adj"/>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UI Component Library</a:t>
              </a:r>
              <a:endParaRPr b="0" i="0" sz="600" u="none" cap="none" strike="noStrike">
                <a:latin typeface="Arial"/>
                <a:ea typeface="Arial"/>
                <a:cs typeface="Arial"/>
                <a:sym typeface="Arial"/>
              </a:endParaRPr>
            </a:p>
          </p:txBody>
        </p:sp>
        <p:sp>
          <p:nvSpPr>
            <p:cNvPr id="1651" name="Google Shape;1651;p169"/>
            <p:cNvSpPr/>
            <p:nvPr/>
          </p:nvSpPr>
          <p:spPr>
            <a:xfrm>
              <a:off x="4783680" y="828360"/>
              <a:ext cx="498240" cy="4237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Service Library</a:t>
              </a:r>
              <a:endParaRPr b="0" i="0" sz="500" u="none" cap="none" strike="noStrike">
                <a:latin typeface="Arial"/>
                <a:ea typeface="Arial"/>
                <a:cs typeface="Arial"/>
                <a:sym typeface="Arial"/>
              </a:endParaRPr>
            </a:p>
          </p:txBody>
        </p:sp>
      </p:grpSp>
      <p:sp>
        <p:nvSpPr>
          <p:cNvPr id="1652" name="Google Shape;1652;p169"/>
          <p:cNvSpPr/>
          <p:nvPr/>
        </p:nvSpPr>
        <p:spPr>
          <a:xfrm>
            <a:off x="3995280" y="1723680"/>
            <a:ext cx="720720" cy="14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434343"/>
                </a:solidFill>
                <a:latin typeface="Arial"/>
                <a:ea typeface="Arial"/>
                <a:cs typeface="Arial"/>
                <a:sym typeface="Arial"/>
              </a:rPr>
              <a:t>Asynchronous</a:t>
            </a:r>
            <a:endParaRPr b="0" i="0" sz="600" u="none" cap="none" strike="noStrike">
              <a:latin typeface="Arial"/>
              <a:ea typeface="Arial"/>
              <a:cs typeface="Arial"/>
              <a:sym typeface="Arial"/>
            </a:endParaRPr>
          </a:p>
        </p:txBody>
      </p:sp>
      <p:sp>
        <p:nvSpPr>
          <p:cNvPr id="1653" name="Google Shape;1653;p169"/>
          <p:cNvSpPr/>
          <p:nvPr/>
        </p:nvSpPr>
        <p:spPr>
          <a:xfrm>
            <a:off x="147600" y="1594080"/>
            <a:ext cx="854640" cy="292320"/>
          </a:xfrm>
          <a:prstGeom prst="rect">
            <a:avLst/>
          </a:prstGeom>
          <a:solidFill>
            <a:srgbClr val="FFF2CC"/>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Prompts &amp; NLP</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595959"/>
                </a:solidFill>
                <a:latin typeface="Arial"/>
                <a:ea typeface="Arial"/>
                <a:cs typeface="Arial"/>
                <a:sym typeface="Arial"/>
              </a:rPr>
              <a:t>Intuitive Search &amp; Inquiry Services</a:t>
            </a:r>
            <a:endParaRPr b="0" i="0" sz="500" u="none" cap="none" strike="noStrike">
              <a:latin typeface="Arial"/>
              <a:ea typeface="Arial"/>
              <a:cs typeface="Arial"/>
              <a:sym typeface="Arial"/>
            </a:endParaRPr>
          </a:p>
        </p:txBody>
      </p:sp>
      <p:sp>
        <p:nvSpPr>
          <p:cNvPr id="1654" name="Google Shape;1654;p169"/>
          <p:cNvSpPr/>
          <p:nvPr/>
        </p:nvSpPr>
        <p:spPr>
          <a:xfrm>
            <a:off x="6874560" y="284040"/>
            <a:ext cx="720000" cy="127080"/>
          </a:xfrm>
          <a:prstGeom prst="rect">
            <a:avLst/>
          </a:prstGeom>
          <a:solidFill>
            <a:srgbClr val="FFF2CC"/>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Extend</a:t>
            </a:r>
            <a:endParaRPr b="0" i="0" sz="600" u="none" cap="none" strike="noStrike">
              <a:latin typeface="Arial"/>
              <a:ea typeface="Arial"/>
              <a:cs typeface="Arial"/>
              <a:sym typeface="Arial"/>
            </a:endParaRPr>
          </a:p>
        </p:txBody>
      </p:sp>
      <p:sp>
        <p:nvSpPr>
          <p:cNvPr id="1655" name="Google Shape;1655;p169"/>
          <p:cNvSpPr/>
          <p:nvPr/>
        </p:nvSpPr>
        <p:spPr>
          <a:xfrm>
            <a:off x="6122880" y="284040"/>
            <a:ext cx="720000" cy="127080"/>
          </a:xfrm>
          <a:prstGeom prst="rect">
            <a:avLst/>
          </a:prstGeom>
          <a:solidFill>
            <a:srgbClr val="C6EFCE"/>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In Place</a:t>
            </a:r>
            <a:endParaRPr b="0" i="0" sz="600" u="none" cap="none" strike="noStrike">
              <a:latin typeface="Arial"/>
              <a:ea typeface="Arial"/>
              <a:cs typeface="Arial"/>
              <a:sym typeface="Arial"/>
            </a:endParaRPr>
          </a:p>
        </p:txBody>
      </p:sp>
      <p:sp>
        <p:nvSpPr>
          <p:cNvPr id="1656" name="Google Shape;1656;p169"/>
          <p:cNvSpPr/>
          <p:nvPr/>
        </p:nvSpPr>
        <p:spPr>
          <a:xfrm>
            <a:off x="7635600" y="284040"/>
            <a:ext cx="720000" cy="127080"/>
          </a:xfrm>
          <a:prstGeom prst="rect">
            <a:avLst/>
          </a:prstGeom>
          <a:solidFill>
            <a:srgbClr val="C9DAF8"/>
          </a:solidFill>
          <a:ln cap="flat" cmpd="sng" w="19075">
            <a:solidFill>
              <a:srgbClr val="666666"/>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Build</a:t>
            </a:r>
            <a:endParaRPr b="0" i="0" sz="600" u="none" cap="none" strike="noStrike">
              <a:latin typeface="Arial"/>
              <a:ea typeface="Arial"/>
              <a:cs typeface="Arial"/>
              <a:sym typeface="Arial"/>
            </a:endParaRPr>
          </a:p>
        </p:txBody>
      </p:sp>
      <p:cxnSp>
        <p:nvCxnSpPr>
          <p:cNvPr id="1657" name="Google Shape;1657;p169"/>
          <p:cNvCxnSpPr/>
          <p:nvPr/>
        </p:nvCxnSpPr>
        <p:spPr>
          <a:xfrm flipH="1" rot="5400000">
            <a:off x="5676060" y="3132660"/>
            <a:ext cx="2151600" cy="486600"/>
          </a:xfrm>
          <a:prstGeom prst="bentConnector3">
            <a:avLst>
              <a:gd fmla="val 0" name="adj1"/>
            </a:avLst>
          </a:prstGeom>
          <a:noFill/>
          <a:ln cap="flat" cmpd="sng" w="28425">
            <a:solidFill>
              <a:srgbClr val="A5A5A5"/>
            </a:solidFill>
            <a:prstDash val="solid"/>
            <a:round/>
            <a:headEnd len="sm" w="sm" type="none"/>
            <a:tailEnd len="sm" w="sm" type="none"/>
          </a:ln>
        </p:spPr>
      </p:cxnSp>
      <p:grpSp>
        <p:nvGrpSpPr>
          <p:cNvPr id="1658" name="Google Shape;1658;p169"/>
          <p:cNvGrpSpPr/>
          <p:nvPr/>
        </p:nvGrpSpPr>
        <p:grpSpPr>
          <a:xfrm>
            <a:off x="1358280" y="4438800"/>
            <a:ext cx="5149800" cy="618480"/>
            <a:chOff x="1358280" y="4438800"/>
            <a:chExt cx="5149800" cy="618480"/>
          </a:xfrm>
        </p:grpSpPr>
        <p:sp>
          <p:nvSpPr>
            <p:cNvPr id="1659" name="Google Shape;1659;p169"/>
            <p:cNvSpPr/>
            <p:nvPr/>
          </p:nvSpPr>
          <p:spPr>
            <a:xfrm>
              <a:off x="1358280" y="4438800"/>
              <a:ext cx="5149800" cy="61848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Data Management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latin typeface="Arial"/>
                <a:ea typeface="Arial"/>
                <a:cs typeface="Arial"/>
                <a:sym typeface="Arial"/>
              </a:endParaRPr>
            </a:p>
          </p:txBody>
        </p:sp>
        <p:sp>
          <p:nvSpPr>
            <p:cNvPr id="1660" name="Google Shape;1660;p169"/>
            <p:cNvSpPr/>
            <p:nvPr/>
          </p:nvSpPr>
          <p:spPr>
            <a:xfrm>
              <a:off x="5400360" y="4690800"/>
              <a:ext cx="987840" cy="32040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Operational Data Stores</a:t>
              </a:r>
              <a:endParaRPr b="0" i="0" sz="600" u="none" cap="none" strike="noStrike">
                <a:latin typeface="Arial"/>
                <a:ea typeface="Arial"/>
                <a:cs typeface="Arial"/>
                <a:sym typeface="Arial"/>
              </a:endParaRPr>
            </a:p>
          </p:txBody>
        </p:sp>
        <p:sp>
          <p:nvSpPr>
            <p:cNvPr id="1661" name="Google Shape;1661;p169"/>
            <p:cNvSpPr/>
            <p:nvPr/>
          </p:nvSpPr>
          <p:spPr>
            <a:xfrm>
              <a:off x="1551960" y="4753080"/>
              <a:ext cx="43488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69"/>
            <p:cNvSpPr/>
            <p:nvPr/>
          </p:nvSpPr>
          <p:spPr>
            <a:xfrm>
              <a:off x="1922400" y="4791240"/>
              <a:ext cx="53352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69"/>
            <p:cNvSpPr/>
            <p:nvPr/>
          </p:nvSpPr>
          <p:spPr>
            <a:xfrm>
              <a:off x="1715400" y="4856760"/>
              <a:ext cx="610200" cy="1616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Arial"/>
                  <a:ea typeface="Arial"/>
                  <a:cs typeface="Arial"/>
                  <a:sym typeface="Arial"/>
                </a:rPr>
                <a:t>App DBs</a:t>
              </a:r>
              <a:endParaRPr b="0" i="0" sz="600" u="none" cap="none" strike="noStrike">
                <a:latin typeface="Arial"/>
                <a:ea typeface="Arial"/>
                <a:cs typeface="Arial"/>
                <a:sym typeface="Arial"/>
              </a:endParaRPr>
            </a:p>
          </p:txBody>
        </p:sp>
        <p:sp>
          <p:nvSpPr>
            <p:cNvPr id="1664" name="Google Shape;1664;p169"/>
            <p:cNvSpPr/>
            <p:nvPr/>
          </p:nvSpPr>
          <p:spPr>
            <a:xfrm>
              <a:off x="3930840" y="4782240"/>
              <a:ext cx="640800" cy="1771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69"/>
            <p:cNvSpPr/>
            <p:nvPr/>
          </p:nvSpPr>
          <p:spPr>
            <a:xfrm>
              <a:off x="3277080" y="4739760"/>
              <a:ext cx="640800" cy="1771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69"/>
            <p:cNvSpPr/>
            <p:nvPr/>
          </p:nvSpPr>
          <p:spPr>
            <a:xfrm>
              <a:off x="3362760" y="4807080"/>
              <a:ext cx="811800" cy="2037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Arial"/>
                  <a:ea typeface="Arial"/>
                  <a:cs typeface="Arial"/>
                  <a:sym typeface="Arial"/>
                </a:rPr>
                <a:t>GCP</a:t>
              </a:r>
              <a:endParaRPr b="0" i="0" sz="600" u="none" cap="none" strike="noStrike">
                <a:latin typeface="Arial"/>
                <a:ea typeface="Arial"/>
                <a:cs typeface="Arial"/>
                <a:sym typeface="Arial"/>
              </a:endParaRPr>
            </a:p>
          </p:txBody>
        </p:sp>
      </p:grpSp>
      <p:cxnSp>
        <p:nvCxnSpPr>
          <p:cNvPr id="1667" name="Google Shape;1667;p169"/>
          <p:cNvCxnSpPr/>
          <p:nvPr/>
        </p:nvCxnSpPr>
        <p:spPr>
          <a:xfrm rot="-5400000">
            <a:off x="6029610" y="3733650"/>
            <a:ext cx="956100" cy="600"/>
          </a:xfrm>
          <a:prstGeom prst="bentConnector3">
            <a:avLst>
              <a:gd fmla="val 0" name="adj1"/>
            </a:avLst>
          </a:prstGeom>
          <a:noFill/>
          <a:ln cap="flat" cmpd="sng" w="28425">
            <a:solidFill>
              <a:srgbClr val="A5A5A5"/>
            </a:solidFill>
            <a:prstDash val="solid"/>
            <a:round/>
            <a:headEnd len="sm" w="sm" type="none"/>
            <a:tailEnd len="sm" w="sm" type="none"/>
          </a:ln>
        </p:spPr>
      </p:cxnSp>
      <p:cxnSp>
        <p:nvCxnSpPr>
          <p:cNvPr id="1668" name="Google Shape;1668;p169"/>
          <p:cNvCxnSpPr/>
          <p:nvPr/>
        </p:nvCxnSpPr>
        <p:spPr>
          <a:xfrm flipH="1" rot="-5400000">
            <a:off x="900900" y="1841940"/>
            <a:ext cx="558600" cy="355200"/>
          </a:xfrm>
          <a:prstGeom prst="bentConnector3">
            <a:avLst>
              <a:gd fmla="val 0" name="adj1"/>
            </a:avLst>
          </a:prstGeom>
          <a:noFill/>
          <a:ln cap="flat" cmpd="sng" w="28425">
            <a:solidFill>
              <a:srgbClr val="A5A5A5"/>
            </a:solidFill>
            <a:prstDash val="solid"/>
            <a:round/>
            <a:headEnd len="sm" w="sm" type="none"/>
            <a:tailEnd len="sm" w="sm" type="none"/>
          </a:ln>
        </p:spPr>
      </p:cxnSp>
      <p:cxnSp>
        <p:nvCxnSpPr>
          <p:cNvPr id="1669" name="Google Shape;1669;p169"/>
          <p:cNvCxnSpPr/>
          <p:nvPr/>
        </p:nvCxnSpPr>
        <p:spPr>
          <a:xfrm flipH="1" rot="10800000">
            <a:off x="1001880" y="2306040"/>
            <a:ext cx="355200" cy="6600"/>
          </a:xfrm>
          <a:prstGeom prst="bentConnector3">
            <a:avLst>
              <a:gd fmla="val 49997" name="adj1"/>
            </a:avLst>
          </a:prstGeom>
          <a:noFill/>
          <a:ln cap="flat" cmpd="sng" w="28425">
            <a:solidFill>
              <a:srgbClr val="A5A5A5"/>
            </a:solidFill>
            <a:prstDash val="solid"/>
            <a:round/>
            <a:headEnd len="sm" w="sm" type="none"/>
            <a:tailEnd len="sm" w="sm" type="none"/>
          </a:ln>
        </p:spPr>
      </p:cxnSp>
      <p:cxnSp>
        <p:nvCxnSpPr>
          <p:cNvPr id="1670" name="Google Shape;1670;p169"/>
          <p:cNvCxnSpPr/>
          <p:nvPr/>
        </p:nvCxnSpPr>
        <p:spPr>
          <a:xfrm rot="-5400000">
            <a:off x="5284950" y="3523590"/>
            <a:ext cx="2448300" cy="600"/>
          </a:xfrm>
          <a:prstGeom prst="bentConnector3">
            <a:avLst>
              <a:gd fmla="val 0" name="adj1"/>
            </a:avLst>
          </a:prstGeom>
          <a:noFill/>
          <a:ln cap="flat" cmpd="sng" w="28425">
            <a:solidFill>
              <a:srgbClr val="A5A5A5"/>
            </a:solidFill>
            <a:prstDash val="solid"/>
            <a:round/>
            <a:headEnd len="sm" w="sm" type="none"/>
            <a:tailEnd len="sm" w="sm" type="none"/>
          </a:ln>
        </p:spPr>
      </p:cxnSp>
      <p:sp>
        <p:nvSpPr>
          <p:cNvPr id="1671" name="Google Shape;1671;p169"/>
          <p:cNvSpPr/>
          <p:nvPr/>
        </p:nvSpPr>
        <p:spPr>
          <a:xfrm>
            <a:off x="5715000" y="3109320"/>
            <a:ext cx="360" cy="360"/>
          </a:xfrm>
          <a:custGeom>
            <a:rect b="b" l="l" r="r" t="t"/>
            <a:pathLst>
              <a:path extrusionOk="0" h="21600" w="21600">
                <a:moveTo>
                  <a:pt x="0" y="0"/>
                </a:moveTo>
                <a:lnTo>
                  <a:pt x="21600" y="21600"/>
                </a:lnTo>
              </a:path>
            </a:pathLst>
          </a:custGeom>
          <a:noFill/>
          <a:ln cap="flat" cmpd="sng" w="9525">
            <a:solidFill>
              <a:srgbClr val="F3EDE0"/>
            </a:solidFill>
            <a:prstDash val="solid"/>
            <a:round/>
            <a:headEnd len="sm" w="sm" type="none"/>
            <a:tailEnd len="sm" w="sm" type="none"/>
          </a:ln>
        </p:spPr>
      </p:sp>
      <p:sp>
        <p:nvSpPr>
          <p:cNvPr id="1672" name="Google Shape;1672;p169"/>
          <p:cNvSpPr/>
          <p:nvPr/>
        </p:nvSpPr>
        <p:spPr>
          <a:xfrm>
            <a:off x="1358280" y="2745000"/>
            <a:ext cx="5149800" cy="102168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Governance Services</a:t>
            </a:r>
            <a:endParaRPr b="0" i="0" sz="1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000" u="none" cap="none" strike="noStrike">
              <a:latin typeface="Arial"/>
              <a:ea typeface="Arial"/>
              <a:cs typeface="Arial"/>
              <a:sym typeface="Arial"/>
            </a:endParaRPr>
          </a:p>
        </p:txBody>
      </p:sp>
      <p:sp>
        <p:nvSpPr>
          <p:cNvPr id="1673" name="Google Shape;1673;p169"/>
          <p:cNvSpPr/>
          <p:nvPr/>
        </p:nvSpPr>
        <p:spPr>
          <a:xfrm>
            <a:off x="1438200" y="3086640"/>
            <a:ext cx="591120" cy="2145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Dimensions</a:t>
            </a:r>
            <a:endParaRPr b="0" i="0" sz="500" u="none" cap="none" strike="noStrike">
              <a:latin typeface="Arial"/>
              <a:ea typeface="Arial"/>
              <a:cs typeface="Arial"/>
              <a:sym typeface="Arial"/>
            </a:endParaRPr>
          </a:p>
        </p:txBody>
      </p:sp>
      <p:sp>
        <p:nvSpPr>
          <p:cNvPr id="1674" name="Google Shape;1674;p169"/>
          <p:cNvSpPr/>
          <p:nvPr/>
        </p:nvSpPr>
        <p:spPr>
          <a:xfrm>
            <a:off x="2060640" y="2877120"/>
            <a:ext cx="544320" cy="434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Catalog</a:t>
            </a:r>
            <a:endParaRPr b="0" i="0" sz="500" u="none" cap="none" strike="noStrike">
              <a:latin typeface="Arial"/>
              <a:ea typeface="Arial"/>
              <a:cs typeface="Arial"/>
              <a:sym typeface="Arial"/>
            </a:endParaRPr>
          </a:p>
        </p:txBody>
      </p:sp>
      <p:sp>
        <p:nvSpPr>
          <p:cNvPr id="1675" name="Google Shape;1675;p169"/>
          <p:cNvSpPr/>
          <p:nvPr/>
        </p:nvSpPr>
        <p:spPr>
          <a:xfrm>
            <a:off x="1438200" y="2877120"/>
            <a:ext cx="591120" cy="26748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Metrics</a:t>
            </a:r>
            <a:endParaRPr b="0" i="0" sz="5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Library</a:t>
            </a:r>
            <a:endParaRPr b="0" i="0" sz="500" u="none" cap="none" strike="noStrike">
              <a:latin typeface="Arial"/>
              <a:ea typeface="Arial"/>
              <a:cs typeface="Arial"/>
              <a:sym typeface="Arial"/>
            </a:endParaRPr>
          </a:p>
        </p:txBody>
      </p:sp>
      <p:sp>
        <p:nvSpPr>
          <p:cNvPr id="1676" name="Google Shape;1676;p169"/>
          <p:cNvSpPr/>
          <p:nvPr/>
        </p:nvSpPr>
        <p:spPr>
          <a:xfrm>
            <a:off x="1767600" y="3349440"/>
            <a:ext cx="544320" cy="338400"/>
          </a:xfrm>
          <a:prstGeom prst="flowChartMagneticDisk">
            <a:avLst/>
          </a:prstGeom>
          <a:solidFill>
            <a:srgbClr val="F4CCCC"/>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AI Registry</a:t>
            </a:r>
            <a:endParaRPr b="0" i="0" sz="5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(Engram)</a:t>
            </a:r>
            <a:endParaRPr b="0" i="0" sz="500" u="none" cap="none" strike="noStrike">
              <a:latin typeface="Arial"/>
              <a:ea typeface="Arial"/>
              <a:cs typeface="Arial"/>
              <a:sym typeface="Arial"/>
            </a:endParaRPr>
          </a:p>
        </p:txBody>
      </p:sp>
      <p:sp>
        <p:nvSpPr>
          <p:cNvPr id="1677" name="Google Shape;1677;p169"/>
          <p:cNvSpPr/>
          <p:nvPr/>
        </p:nvSpPr>
        <p:spPr>
          <a:xfrm>
            <a:off x="5166000" y="3019320"/>
            <a:ext cx="1214280" cy="29232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Order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Search &amp; Discover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Test Data | Subscribe Prod Data</a:t>
            </a:r>
            <a:endParaRPr b="0" i="0" sz="600" u="none" cap="none" strike="noStrike">
              <a:latin typeface="Arial"/>
              <a:ea typeface="Arial"/>
              <a:cs typeface="Arial"/>
              <a:sym typeface="Arial"/>
            </a:endParaRPr>
          </a:p>
        </p:txBody>
      </p:sp>
      <p:sp>
        <p:nvSpPr>
          <p:cNvPr id="1678" name="Google Shape;1678;p169"/>
          <p:cNvSpPr/>
          <p:nvPr/>
        </p:nvSpPr>
        <p:spPr>
          <a:xfrm>
            <a:off x="3974760" y="3019320"/>
            <a:ext cx="1103040" cy="29232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Inventory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Onboarding | Enriching | Classification | Publishing</a:t>
            </a:r>
            <a:endParaRPr b="0" i="0" sz="600" u="none" cap="none" strike="noStrike">
              <a:latin typeface="Arial"/>
              <a:ea typeface="Arial"/>
              <a:cs typeface="Arial"/>
              <a:sym typeface="Arial"/>
            </a:endParaRPr>
          </a:p>
        </p:txBody>
      </p:sp>
      <p:sp>
        <p:nvSpPr>
          <p:cNvPr id="1679" name="Google Shape;1679;p169"/>
          <p:cNvSpPr/>
          <p:nvPr/>
        </p:nvSpPr>
        <p:spPr>
          <a:xfrm>
            <a:off x="3974760" y="3373920"/>
            <a:ext cx="2405520" cy="311400"/>
          </a:xfrm>
          <a:prstGeom prst="rect">
            <a:avLst/>
          </a:prstGeom>
          <a:solidFill>
            <a:srgbClr val="FFFFFF"/>
          </a:solidFill>
          <a:ln cap="flat" cmpd="sng" w="952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Operations (Data, Analytics, Systems, Platform)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Monitoring &amp; Measurement | Triage &amp; Issue Management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434343"/>
                </a:solidFill>
                <a:latin typeface="Roboto"/>
                <a:ea typeface="Roboto"/>
                <a:cs typeface="Roboto"/>
                <a:sym typeface="Roboto"/>
              </a:rPr>
              <a:t>Monitoring &amp; Auditing of Controls</a:t>
            </a:r>
            <a:endParaRPr b="0" i="0" sz="600" u="none" cap="none" strike="noStrike">
              <a:latin typeface="Arial"/>
              <a:ea typeface="Arial"/>
              <a:cs typeface="Arial"/>
              <a:sym typeface="Arial"/>
            </a:endParaRPr>
          </a:p>
        </p:txBody>
      </p:sp>
      <p:sp>
        <p:nvSpPr>
          <p:cNvPr id="1680" name="Google Shape;1680;p169"/>
          <p:cNvSpPr/>
          <p:nvPr/>
        </p:nvSpPr>
        <p:spPr>
          <a:xfrm>
            <a:off x="2717640" y="3019320"/>
            <a:ext cx="1103040" cy="666000"/>
          </a:xfrm>
          <a:prstGeom prst="rect">
            <a:avLst/>
          </a:prstGeom>
          <a:solidFill>
            <a:srgbClr val="FFFFFF"/>
          </a:solidFill>
          <a:ln cap="flat" cmpd="sng" w="9525">
            <a:solidFill>
              <a:srgbClr val="999999"/>
            </a:solidFill>
            <a:prstDash val="solid"/>
            <a:round/>
            <a:headEnd len="sm" w="sm" type="none"/>
            <a:tailEnd len="sm" w="sm" type="none"/>
          </a:ln>
        </p:spPr>
        <p:txBody>
          <a:bodyPr anchorCtr="0" anchor="t" bIns="68400" lIns="68400" spcFirstLastPara="1" rIns="68400" wrap="square" tIns="0">
            <a:noAutofit/>
          </a:bodyPr>
          <a:lstStyle/>
          <a:p>
            <a:pPr indent="0" lvl="0" marL="0" marR="0" rtl="0" algn="ctr">
              <a:lnSpc>
                <a:spcPct val="100000"/>
              </a:lnSpc>
              <a:spcBef>
                <a:spcPts val="0"/>
              </a:spcBef>
              <a:spcAft>
                <a:spcPts val="0"/>
              </a:spcAft>
              <a:buNone/>
            </a:pPr>
            <a:r>
              <a:rPr b="1" i="0" lang="en-US" sz="600" u="none" cap="none" strike="noStrike">
                <a:solidFill>
                  <a:srgbClr val="434343"/>
                </a:solidFill>
                <a:latin typeface="Roboto"/>
                <a:ea typeface="Roboto"/>
                <a:cs typeface="Roboto"/>
                <a:sym typeface="Roboto"/>
              </a:rPr>
              <a:t>Governance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500" u="none" cap="none" strike="noStrike">
                <a:solidFill>
                  <a:srgbClr val="434343"/>
                </a:solidFill>
                <a:latin typeface="Roboto"/>
                <a:ea typeface="Roboto"/>
                <a:cs typeface="Roboto"/>
                <a:sym typeface="Roboto"/>
              </a:rPr>
              <a:t>(Controls)</a:t>
            </a:r>
            <a:endParaRPr b="0" i="0" sz="500" u="none" cap="none" strike="noStrike">
              <a:latin typeface="Arial"/>
              <a:ea typeface="Arial"/>
              <a:cs typeface="Arial"/>
              <a:sym typeface="Arial"/>
            </a:endParaRPr>
          </a:p>
        </p:txBody>
      </p:sp>
      <p:sp>
        <p:nvSpPr>
          <p:cNvPr id="1681" name="Google Shape;1681;p169"/>
          <p:cNvSpPr/>
          <p:nvPr/>
        </p:nvSpPr>
        <p:spPr>
          <a:xfrm>
            <a:off x="2788560" y="3252960"/>
            <a:ext cx="59112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Privacy</a:t>
            </a:r>
            <a:endParaRPr b="0" i="0" sz="600" u="none" cap="none" strike="noStrike">
              <a:latin typeface="Arial"/>
              <a:ea typeface="Arial"/>
              <a:cs typeface="Arial"/>
              <a:sym typeface="Arial"/>
            </a:endParaRPr>
          </a:p>
        </p:txBody>
      </p:sp>
      <p:sp>
        <p:nvSpPr>
          <p:cNvPr id="1682" name="Google Shape;1682;p169"/>
          <p:cNvSpPr/>
          <p:nvPr/>
        </p:nvSpPr>
        <p:spPr>
          <a:xfrm>
            <a:off x="2788560" y="3424320"/>
            <a:ext cx="52092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Provision</a:t>
            </a:r>
            <a:endParaRPr b="0" i="0" sz="600" u="none" cap="none" strike="noStrike">
              <a:latin typeface="Arial"/>
              <a:ea typeface="Arial"/>
              <a:cs typeface="Arial"/>
              <a:sym typeface="Arial"/>
            </a:endParaRPr>
          </a:p>
        </p:txBody>
      </p:sp>
      <p:sp>
        <p:nvSpPr>
          <p:cNvPr id="1683" name="Google Shape;1683;p169"/>
          <p:cNvSpPr/>
          <p:nvPr/>
        </p:nvSpPr>
        <p:spPr>
          <a:xfrm>
            <a:off x="3309480" y="3252960"/>
            <a:ext cx="47016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Protection</a:t>
            </a:r>
            <a:endParaRPr b="0" i="0" sz="600" u="none" cap="none" strike="noStrike">
              <a:latin typeface="Arial"/>
              <a:ea typeface="Arial"/>
              <a:cs typeface="Arial"/>
              <a:sym typeface="Arial"/>
            </a:endParaRPr>
          </a:p>
        </p:txBody>
      </p:sp>
      <p:sp>
        <p:nvSpPr>
          <p:cNvPr id="1684" name="Google Shape;1684;p169"/>
          <p:cNvSpPr/>
          <p:nvPr/>
        </p:nvSpPr>
        <p:spPr>
          <a:xfrm>
            <a:off x="3309480" y="3424320"/>
            <a:ext cx="470160" cy="149400"/>
          </a:xfrm>
          <a:prstGeom prst="roundRect">
            <a:avLst>
              <a:gd fmla="val 0" name="adj"/>
            </a:avLst>
          </a:prstGeom>
          <a:solidFill>
            <a:srgbClr val="D8D8D8"/>
          </a:solidFill>
          <a:ln cap="flat" cmpd="sng" w="19075">
            <a:solidFill>
              <a:srgbClr val="FFFFFF"/>
            </a:solidFill>
            <a:prstDash val="solid"/>
            <a:miter lim="8000"/>
            <a:headEnd len="sm" w="sm" type="none"/>
            <a:tailEnd len="sm" w="sm" type="none"/>
          </a:ln>
        </p:spPr>
        <p:txBody>
          <a:bodyPr anchorCtr="0" anchor="ctr"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Roboto"/>
                <a:ea typeface="Roboto"/>
                <a:cs typeface="Roboto"/>
                <a:sym typeface="Roboto"/>
              </a:rPr>
              <a:t>Sharing</a:t>
            </a:r>
            <a:endParaRPr b="0" i="0" sz="600" u="none" cap="none" strike="noStrike">
              <a:latin typeface="Arial"/>
              <a:ea typeface="Arial"/>
              <a:cs typeface="Arial"/>
              <a:sym typeface="Arial"/>
            </a:endParaRPr>
          </a:p>
        </p:txBody>
      </p:sp>
      <p:sp>
        <p:nvSpPr>
          <p:cNvPr id="1685" name="Google Shape;1685;p169"/>
          <p:cNvSpPr/>
          <p:nvPr/>
        </p:nvSpPr>
        <p:spPr>
          <a:xfrm>
            <a:off x="1486800" y="1283760"/>
            <a:ext cx="1068840" cy="250560"/>
          </a:xfrm>
          <a:prstGeom prst="flowChartAlternateProcess">
            <a:avLst/>
          </a:prstGeom>
          <a:solidFill>
            <a:srgbClr val="FFFFFF"/>
          </a:solidFill>
          <a:ln cap="flat" cmpd="sng" w="9525">
            <a:solidFill>
              <a:srgbClr val="A5A5A5"/>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Analytic Framing</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(Contextual Relevancy)</a:t>
            </a:r>
            <a:endParaRPr b="0" i="0" sz="600" u="none" cap="none" strike="noStrike">
              <a:latin typeface="Arial"/>
              <a:ea typeface="Arial"/>
              <a:cs typeface="Arial"/>
              <a:sym typeface="Arial"/>
            </a:endParaRPr>
          </a:p>
        </p:txBody>
      </p:sp>
      <p:sp>
        <p:nvSpPr>
          <p:cNvPr id="1686" name="Google Shape;1686;p169"/>
          <p:cNvSpPr/>
          <p:nvPr/>
        </p:nvSpPr>
        <p:spPr>
          <a:xfrm>
            <a:off x="2649600" y="1283760"/>
            <a:ext cx="1068840" cy="250560"/>
          </a:xfrm>
          <a:prstGeom prst="flowChartAlternateProcess">
            <a:avLst/>
          </a:prstGeom>
          <a:solidFill>
            <a:srgbClr val="FFFFFF"/>
          </a:solidFill>
          <a:ln cap="flat" cmpd="sng" w="9525">
            <a:solidFill>
              <a:srgbClr val="A5A5A5"/>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Visualization</a:t>
            </a:r>
            <a:endParaRPr b="0" i="0" sz="600" u="none" cap="none" strike="noStrike">
              <a:latin typeface="Arial"/>
              <a:ea typeface="Arial"/>
              <a:cs typeface="Arial"/>
              <a:sym typeface="Arial"/>
            </a:endParaRPr>
          </a:p>
        </p:txBody>
      </p:sp>
      <p:sp>
        <p:nvSpPr>
          <p:cNvPr id="1687" name="Google Shape;1687;p169"/>
          <p:cNvSpPr/>
          <p:nvPr/>
        </p:nvSpPr>
        <p:spPr>
          <a:xfrm>
            <a:off x="3699000" y="2202840"/>
            <a:ext cx="663480" cy="29988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Process Models</a:t>
            </a:r>
            <a:endParaRPr b="0" i="0" sz="500" u="none" cap="none" strike="noStrike">
              <a:latin typeface="Arial"/>
              <a:ea typeface="Arial"/>
              <a:cs typeface="Arial"/>
              <a:sym typeface="Arial"/>
            </a:endParaRPr>
          </a:p>
        </p:txBody>
      </p:sp>
      <p:sp>
        <p:nvSpPr>
          <p:cNvPr id="1688" name="Google Shape;1688;p169"/>
          <p:cNvSpPr/>
          <p:nvPr/>
        </p:nvSpPr>
        <p:spPr>
          <a:xfrm>
            <a:off x="3812040" y="1262880"/>
            <a:ext cx="663480" cy="292320"/>
          </a:xfrm>
          <a:prstGeom prst="flowChartMagneticDisk">
            <a:avLst/>
          </a:prstGeom>
          <a:solidFill>
            <a:srgbClr val="FFFFFF"/>
          </a:solidFill>
          <a:ln cap="flat" cmpd="sng" w="9525">
            <a:solidFill>
              <a:srgbClr val="A5A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Std + Custom</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Roboto"/>
                <a:ea typeface="Roboto"/>
                <a:cs typeface="Roboto"/>
                <a:sym typeface="Roboto"/>
              </a:rPr>
              <a:t>Dimensions</a:t>
            </a:r>
            <a:endParaRPr b="0" i="0" sz="600" u="none" cap="none" strike="noStrike">
              <a:latin typeface="Arial"/>
              <a:ea typeface="Arial"/>
              <a:cs typeface="Arial"/>
              <a:sym typeface="Arial"/>
            </a:endParaRPr>
          </a:p>
        </p:txBody>
      </p:sp>
      <p:grpSp>
        <p:nvGrpSpPr>
          <p:cNvPr id="1689" name="Google Shape;1689;p169"/>
          <p:cNvGrpSpPr/>
          <p:nvPr/>
        </p:nvGrpSpPr>
        <p:grpSpPr>
          <a:xfrm>
            <a:off x="7248600" y="611640"/>
            <a:ext cx="1515960" cy="3338820"/>
            <a:chOff x="7248600" y="611640"/>
            <a:chExt cx="1515960" cy="3338820"/>
          </a:xfrm>
        </p:grpSpPr>
        <p:sp>
          <p:nvSpPr>
            <p:cNvPr id="1690" name="Google Shape;1690;p169"/>
            <p:cNvSpPr/>
            <p:nvPr/>
          </p:nvSpPr>
          <p:spPr>
            <a:xfrm>
              <a:off x="7248600" y="611640"/>
              <a:ext cx="1515960" cy="3098520"/>
            </a:xfrm>
            <a:prstGeom prst="roundRect">
              <a:avLst>
                <a:gd fmla="val 16667" name="adj"/>
              </a:avLst>
            </a:prstGeom>
            <a:solidFill>
              <a:srgbClr val="C9DAF8"/>
            </a:solidFill>
            <a:ln cap="flat" cmpd="sng" w="952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800" u="none" cap="none" strike="noStrike">
                  <a:solidFill>
                    <a:srgbClr val="434343"/>
                  </a:solidFill>
                  <a:latin typeface="Arial"/>
                  <a:ea typeface="Arial"/>
                  <a:cs typeface="Arial"/>
                  <a:sym typeface="Arial"/>
                </a:rPr>
                <a:t>Semantic Services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6F7878"/>
                  </a:solidFill>
                  <a:latin typeface="Arial"/>
                  <a:ea typeface="Arial"/>
                  <a:cs typeface="Arial"/>
                  <a:sym typeface="Arial"/>
                </a:rPr>
                <a:t>Harmonized Semantics &amp; Unified Relevancy</a:t>
              </a:r>
              <a:endParaRPr b="0" i="0" sz="600" u="none" cap="none" strike="noStrike">
                <a:latin typeface="Arial"/>
                <a:ea typeface="Arial"/>
                <a:cs typeface="Arial"/>
                <a:sym typeface="Arial"/>
              </a:endParaRPr>
            </a:p>
          </p:txBody>
        </p:sp>
        <p:grpSp>
          <p:nvGrpSpPr>
            <p:cNvPr id="1691" name="Google Shape;1691;p169"/>
            <p:cNvGrpSpPr/>
            <p:nvPr/>
          </p:nvGrpSpPr>
          <p:grpSpPr>
            <a:xfrm>
              <a:off x="7496280" y="1563120"/>
              <a:ext cx="953640" cy="199440"/>
              <a:chOff x="7496280" y="1563120"/>
              <a:chExt cx="953640" cy="199440"/>
            </a:xfrm>
          </p:grpSpPr>
          <p:sp>
            <p:nvSpPr>
              <p:cNvPr id="1692" name="Google Shape;1692;p169"/>
              <p:cNvSpPr/>
              <p:nvPr/>
            </p:nvSpPr>
            <p:spPr>
              <a:xfrm>
                <a:off x="7496280" y="15631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Taxonomies</a:t>
                </a:r>
                <a:endParaRPr b="0" i="0" sz="500" u="none" cap="none" strike="noStrike">
                  <a:latin typeface="Arial"/>
                  <a:ea typeface="Arial"/>
                  <a:cs typeface="Arial"/>
                  <a:sym typeface="Arial"/>
                </a:endParaRPr>
              </a:p>
            </p:txBody>
          </p:sp>
          <p:pic>
            <p:nvPicPr>
              <p:cNvPr id="1693" name="Google Shape;1693;p169"/>
              <p:cNvPicPr preferRelativeResize="0"/>
              <p:nvPr/>
            </p:nvPicPr>
            <p:blipFill rotWithShape="1">
              <a:blip r:embed="rId4">
                <a:alphaModFix/>
              </a:blip>
              <a:srcRect b="0" l="0" r="0" t="0"/>
              <a:stretch/>
            </p:blipFill>
            <p:spPr>
              <a:xfrm>
                <a:off x="8091360" y="1594800"/>
                <a:ext cx="244440" cy="136080"/>
              </a:xfrm>
              <a:prstGeom prst="rect">
                <a:avLst/>
              </a:prstGeom>
              <a:noFill/>
              <a:ln>
                <a:noFill/>
              </a:ln>
            </p:spPr>
          </p:pic>
        </p:grpSp>
        <p:grpSp>
          <p:nvGrpSpPr>
            <p:cNvPr id="1694" name="Google Shape;1694;p169"/>
            <p:cNvGrpSpPr/>
            <p:nvPr/>
          </p:nvGrpSpPr>
          <p:grpSpPr>
            <a:xfrm>
              <a:off x="7496640" y="2448720"/>
              <a:ext cx="953640" cy="199440"/>
              <a:chOff x="7496640" y="2448720"/>
              <a:chExt cx="953640" cy="199440"/>
            </a:xfrm>
          </p:grpSpPr>
          <p:sp>
            <p:nvSpPr>
              <p:cNvPr id="1695" name="Google Shape;1695;p169"/>
              <p:cNvSpPr/>
              <p:nvPr/>
            </p:nvSpPr>
            <p:spPr>
              <a:xfrm>
                <a:off x="7496640" y="24487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696" name="Google Shape;1696;p169"/>
              <p:cNvPicPr preferRelativeResize="0"/>
              <p:nvPr/>
            </p:nvPicPr>
            <p:blipFill rotWithShape="1">
              <a:blip r:embed="rId5">
                <a:alphaModFix/>
              </a:blip>
              <a:srcRect b="0" l="0" r="0" t="0"/>
              <a:stretch/>
            </p:blipFill>
            <p:spPr>
              <a:xfrm>
                <a:off x="8069400" y="2466720"/>
                <a:ext cx="325800" cy="164160"/>
              </a:xfrm>
              <a:prstGeom prst="rect">
                <a:avLst/>
              </a:prstGeom>
              <a:noFill/>
              <a:ln>
                <a:noFill/>
              </a:ln>
            </p:spPr>
          </p:pic>
        </p:grpSp>
        <p:pic>
          <p:nvPicPr>
            <p:cNvPr id="1697" name="Google Shape;1697;p169"/>
            <p:cNvPicPr preferRelativeResize="0"/>
            <p:nvPr/>
          </p:nvPicPr>
          <p:blipFill rotWithShape="1">
            <a:blip r:embed="rId6">
              <a:alphaModFix/>
            </a:blip>
            <a:srcRect b="0" l="0" r="0" t="0"/>
            <a:stretch/>
          </p:blipFill>
          <p:spPr>
            <a:xfrm>
              <a:off x="7979760" y="1151640"/>
              <a:ext cx="469800" cy="262800"/>
            </a:xfrm>
            <a:prstGeom prst="rect">
              <a:avLst/>
            </a:prstGeom>
            <a:noFill/>
            <a:ln cap="flat" cmpd="sng" w="19075">
              <a:solidFill>
                <a:srgbClr val="999999"/>
              </a:solidFill>
              <a:prstDash val="solid"/>
              <a:round/>
              <a:headEnd len="sm" w="sm" type="none"/>
              <a:tailEnd len="sm" w="sm" type="none"/>
            </a:ln>
          </p:spPr>
        </p:pic>
        <p:sp>
          <p:nvSpPr>
            <p:cNvPr id="1698" name="Google Shape;1698;p169"/>
            <p:cNvSpPr/>
            <p:nvPr/>
          </p:nvSpPr>
          <p:spPr>
            <a:xfrm>
              <a:off x="7471440" y="1151640"/>
              <a:ext cx="431280" cy="271800"/>
            </a:xfrm>
            <a:prstGeom prst="rect">
              <a:avLst/>
            </a:prstGeom>
            <a:solidFill>
              <a:srgbClr val="FFFFFF"/>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Upper Ontology</a:t>
              </a:r>
              <a:endParaRPr b="0" i="0" sz="500" u="none" cap="none" strike="noStrike">
                <a:latin typeface="Arial"/>
                <a:ea typeface="Arial"/>
                <a:cs typeface="Arial"/>
                <a:sym typeface="Arial"/>
              </a:endParaRPr>
            </a:p>
          </p:txBody>
        </p:sp>
        <p:grpSp>
          <p:nvGrpSpPr>
            <p:cNvPr id="1699" name="Google Shape;1699;p169"/>
            <p:cNvGrpSpPr/>
            <p:nvPr/>
          </p:nvGrpSpPr>
          <p:grpSpPr>
            <a:xfrm>
              <a:off x="7496640" y="2744280"/>
              <a:ext cx="953640" cy="199440"/>
              <a:chOff x="7496640" y="2744280"/>
              <a:chExt cx="953640" cy="199440"/>
            </a:xfrm>
          </p:grpSpPr>
          <p:sp>
            <p:nvSpPr>
              <p:cNvPr id="1700" name="Google Shape;1700;p169"/>
              <p:cNvSpPr/>
              <p:nvPr/>
            </p:nvSpPr>
            <p:spPr>
              <a:xfrm>
                <a:off x="7496640" y="27442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701" name="Google Shape;1701;p169"/>
              <p:cNvPicPr preferRelativeResize="0"/>
              <p:nvPr/>
            </p:nvPicPr>
            <p:blipFill rotWithShape="1">
              <a:blip r:embed="rId5">
                <a:alphaModFix/>
              </a:blip>
              <a:srcRect b="0" l="0" r="0" t="0"/>
              <a:stretch/>
            </p:blipFill>
            <p:spPr>
              <a:xfrm>
                <a:off x="8069400" y="2761920"/>
                <a:ext cx="325800" cy="164160"/>
              </a:xfrm>
              <a:prstGeom prst="rect">
                <a:avLst/>
              </a:prstGeom>
              <a:noFill/>
              <a:ln>
                <a:noFill/>
              </a:ln>
            </p:spPr>
          </p:pic>
        </p:grpSp>
        <p:grpSp>
          <p:nvGrpSpPr>
            <p:cNvPr id="1702" name="Google Shape;1702;p169"/>
            <p:cNvGrpSpPr/>
            <p:nvPr/>
          </p:nvGrpSpPr>
          <p:grpSpPr>
            <a:xfrm>
              <a:off x="7496640" y="3039480"/>
              <a:ext cx="953640" cy="199440"/>
              <a:chOff x="7496640" y="3039480"/>
              <a:chExt cx="953640" cy="199440"/>
            </a:xfrm>
          </p:grpSpPr>
          <p:sp>
            <p:nvSpPr>
              <p:cNvPr id="1703" name="Google Shape;1703;p169"/>
              <p:cNvSpPr/>
              <p:nvPr/>
            </p:nvSpPr>
            <p:spPr>
              <a:xfrm>
                <a:off x="7496640" y="30394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704" name="Google Shape;1704;p169"/>
              <p:cNvPicPr preferRelativeResize="0"/>
              <p:nvPr/>
            </p:nvPicPr>
            <p:blipFill rotWithShape="1">
              <a:blip r:embed="rId5">
                <a:alphaModFix/>
              </a:blip>
              <a:srcRect b="0" l="0" r="0" t="0"/>
              <a:stretch/>
            </p:blipFill>
            <p:spPr>
              <a:xfrm>
                <a:off x="8069400" y="3057120"/>
                <a:ext cx="325800" cy="164160"/>
              </a:xfrm>
              <a:prstGeom prst="rect">
                <a:avLst/>
              </a:prstGeom>
              <a:noFill/>
              <a:ln>
                <a:noFill/>
              </a:ln>
            </p:spPr>
          </p:pic>
        </p:grpSp>
        <p:grpSp>
          <p:nvGrpSpPr>
            <p:cNvPr id="1705" name="Google Shape;1705;p169"/>
            <p:cNvGrpSpPr/>
            <p:nvPr/>
          </p:nvGrpSpPr>
          <p:grpSpPr>
            <a:xfrm>
              <a:off x="7496640" y="3334680"/>
              <a:ext cx="953640" cy="199440"/>
              <a:chOff x="7496640" y="3334680"/>
              <a:chExt cx="953640" cy="199440"/>
            </a:xfrm>
          </p:grpSpPr>
          <p:sp>
            <p:nvSpPr>
              <p:cNvPr id="1706" name="Google Shape;1706;p169"/>
              <p:cNvSpPr/>
              <p:nvPr/>
            </p:nvSpPr>
            <p:spPr>
              <a:xfrm>
                <a:off x="7496640" y="333468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Domain</a:t>
                </a:r>
                <a:endParaRPr b="0" i="0" sz="5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Ontologies</a:t>
                </a:r>
                <a:endParaRPr b="0" i="0" sz="500" u="none" cap="none" strike="noStrike">
                  <a:latin typeface="Arial"/>
                  <a:ea typeface="Arial"/>
                  <a:cs typeface="Arial"/>
                  <a:sym typeface="Arial"/>
                </a:endParaRPr>
              </a:p>
            </p:txBody>
          </p:sp>
          <p:pic>
            <p:nvPicPr>
              <p:cNvPr id="1707" name="Google Shape;1707;p169"/>
              <p:cNvPicPr preferRelativeResize="0"/>
              <p:nvPr/>
            </p:nvPicPr>
            <p:blipFill rotWithShape="1">
              <a:blip r:embed="rId5">
                <a:alphaModFix/>
              </a:blip>
              <a:srcRect b="0" l="0" r="0" t="0"/>
              <a:stretch/>
            </p:blipFill>
            <p:spPr>
              <a:xfrm>
                <a:off x="8069400" y="3352320"/>
                <a:ext cx="325800" cy="164160"/>
              </a:xfrm>
              <a:prstGeom prst="rect">
                <a:avLst/>
              </a:prstGeom>
              <a:noFill/>
              <a:ln>
                <a:noFill/>
              </a:ln>
            </p:spPr>
          </p:pic>
        </p:grpSp>
        <p:cxnSp>
          <p:nvCxnSpPr>
            <p:cNvPr id="1708" name="Google Shape;1708;p169"/>
            <p:cNvCxnSpPr/>
            <p:nvPr/>
          </p:nvCxnSpPr>
          <p:spPr>
            <a:xfrm flipH="1" rot="-5400000">
              <a:off x="7885440" y="3830040"/>
              <a:ext cx="240480" cy="360"/>
            </a:xfrm>
            <a:prstGeom prst="bentConnector3">
              <a:avLst>
                <a:gd fmla="val 50010" name="adj1"/>
              </a:avLst>
            </a:prstGeom>
            <a:noFill/>
            <a:ln cap="flat" cmpd="sng" w="28425">
              <a:solidFill>
                <a:srgbClr val="A5A5A5"/>
              </a:solidFill>
              <a:prstDash val="solid"/>
              <a:round/>
              <a:headEnd len="sm" w="sm" type="none"/>
              <a:tailEnd len="sm" w="sm" type="none"/>
            </a:ln>
          </p:spPr>
        </p:cxnSp>
        <p:grpSp>
          <p:nvGrpSpPr>
            <p:cNvPr id="1709" name="Google Shape;1709;p169"/>
            <p:cNvGrpSpPr/>
            <p:nvPr/>
          </p:nvGrpSpPr>
          <p:grpSpPr>
            <a:xfrm>
              <a:off x="7496280" y="1858320"/>
              <a:ext cx="953640" cy="199440"/>
              <a:chOff x="7496280" y="1858320"/>
              <a:chExt cx="953640" cy="199440"/>
            </a:xfrm>
          </p:grpSpPr>
          <p:sp>
            <p:nvSpPr>
              <p:cNvPr id="1710" name="Google Shape;1710;p169"/>
              <p:cNvSpPr/>
              <p:nvPr/>
            </p:nvSpPr>
            <p:spPr>
              <a:xfrm>
                <a:off x="7496280" y="18583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Personalization</a:t>
                </a:r>
                <a:endParaRPr b="0" i="0" sz="500" u="none" cap="none" strike="noStrike">
                  <a:latin typeface="Arial"/>
                  <a:ea typeface="Arial"/>
                  <a:cs typeface="Arial"/>
                  <a:sym typeface="Arial"/>
                </a:endParaRPr>
              </a:p>
            </p:txBody>
          </p:sp>
          <p:pic>
            <p:nvPicPr>
              <p:cNvPr id="1711" name="Google Shape;1711;p169"/>
              <p:cNvPicPr preferRelativeResize="0"/>
              <p:nvPr/>
            </p:nvPicPr>
            <p:blipFill rotWithShape="1">
              <a:blip r:embed="rId4">
                <a:alphaModFix/>
              </a:blip>
              <a:srcRect b="0" l="0" r="0" t="0"/>
              <a:stretch/>
            </p:blipFill>
            <p:spPr>
              <a:xfrm>
                <a:off x="8091360" y="1890000"/>
                <a:ext cx="244440" cy="136080"/>
              </a:xfrm>
              <a:prstGeom prst="rect">
                <a:avLst/>
              </a:prstGeom>
              <a:noFill/>
              <a:ln>
                <a:noFill/>
              </a:ln>
            </p:spPr>
          </p:pic>
        </p:grpSp>
        <p:grpSp>
          <p:nvGrpSpPr>
            <p:cNvPr id="1712" name="Google Shape;1712;p169"/>
            <p:cNvGrpSpPr/>
            <p:nvPr/>
          </p:nvGrpSpPr>
          <p:grpSpPr>
            <a:xfrm>
              <a:off x="7496280" y="2153520"/>
              <a:ext cx="953640" cy="199440"/>
              <a:chOff x="7496280" y="2153520"/>
              <a:chExt cx="953640" cy="199440"/>
            </a:xfrm>
          </p:grpSpPr>
          <p:sp>
            <p:nvSpPr>
              <p:cNvPr id="1713" name="Google Shape;1713;p169"/>
              <p:cNvSpPr/>
              <p:nvPr/>
            </p:nvSpPr>
            <p:spPr>
              <a:xfrm>
                <a:off x="7496280" y="2153520"/>
                <a:ext cx="953640" cy="199440"/>
              </a:xfrm>
              <a:prstGeom prst="rect">
                <a:avLst/>
              </a:prstGeom>
              <a:solidFill>
                <a:srgbClr val="FFFFFF"/>
              </a:solidFill>
              <a:ln cap="flat" cmpd="sng" w="9525">
                <a:solidFill>
                  <a:srgbClr val="6F7878"/>
                </a:solidFill>
                <a:prstDash val="solid"/>
                <a:round/>
                <a:headEnd len="sm" w="sm" type="none"/>
                <a:tailEnd len="sm" w="sm" type="none"/>
              </a:ln>
            </p:spPr>
            <p:txBody>
              <a:bodyPr anchorCtr="0" anchor="ctr" bIns="34200" lIns="68400" spcFirstLastPara="1" rIns="68400" wrap="square" tIns="34200">
                <a:noAutofit/>
              </a:bodyPr>
              <a:lstStyle/>
              <a:p>
                <a:pPr indent="0" lvl="0" marL="0" marR="0" rtl="0" algn="l">
                  <a:lnSpc>
                    <a:spcPct val="100000"/>
                  </a:lnSpc>
                  <a:spcBef>
                    <a:spcPts val="0"/>
                  </a:spcBef>
                  <a:spcAft>
                    <a:spcPts val="0"/>
                  </a:spcAft>
                  <a:buNone/>
                </a:pPr>
                <a:r>
                  <a:rPr b="0" i="0" lang="en-US" sz="500" u="none" cap="none" strike="noStrike">
                    <a:solidFill>
                      <a:srgbClr val="000000"/>
                    </a:solidFill>
                    <a:latin typeface="Arial"/>
                    <a:ea typeface="Arial"/>
                    <a:cs typeface="Arial"/>
                    <a:sym typeface="Arial"/>
                  </a:rPr>
                  <a:t>Causal Patterns</a:t>
                </a:r>
                <a:endParaRPr b="0" i="0" sz="500" u="none" cap="none" strike="noStrike">
                  <a:latin typeface="Arial"/>
                  <a:ea typeface="Arial"/>
                  <a:cs typeface="Arial"/>
                  <a:sym typeface="Arial"/>
                </a:endParaRPr>
              </a:p>
            </p:txBody>
          </p:sp>
          <p:pic>
            <p:nvPicPr>
              <p:cNvPr id="1714" name="Google Shape;1714;p169"/>
              <p:cNvPicPr preferRelativeResize="0"/>
              <p:nvPr/>
            </p:nvPicPr>
            <p:blipFill rotWithShape="1">
              <a:blip r:embed="rId4">
                <a:alphaModFix/>
              </a:blip>
              <a:srcRect b="0" l="0" r="0" t="0"/>
              <a:stretch/>
            </p:blipFill>
            <p:spPr>
              <a:xfrm>
                <a:off x="8091360" y="2185200"/>
                <a:ext cx="244440" cy="136080"/>
              </a:xfrm>
              <a:prstGeom prst="rect">
                <a:avLst/>
              </a:prstGeom>
              <a:noFill/>
              <a:ln>
                <a:noFill/>
              </a:ln>
            </p:spPr>
          </p:pic>
        </p:grpSp>
      </p:grpSp>
      <p:sp>
        <p:nvSpPr>
          <p:cNvPr id="1715" name="Google Shape;1715;p169"/>
          <p:cNvSpPr/>
          <p:nvPr/>
        </p:nvSpPr>
        <p:spPr>
          <a:xfrm>
            <a:off x="147600" y="2705760"/>
            <a:ext cx="854640" cy="311400"/>
          </a:xfrm>
          <a:prstGeom prst="rect">
            <a:avLst/>
          </a:prstGeom>
          <a:solidFill>
            <a:srgbClr val="C9DAF8"/>
          </a:solidFill>
          <a:ln cap="flat" cmpd="sng" w="19075">
            <a:solidFill>
              <a:srgbClr val="999999"/>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Analytic Engines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(Vendor Tools)</a:t>
            </a:r>
            <a:endParaRPr b="0" i="0" sz="600" u="none" cap="none" strike="noStrike">
              <a:latin typeface="Arial"/>
              <a:ea typeface="Arial"/>
              <a:cs typeface="Arial"/>
              <a:sym typeface="Arial"/>
            </a:endParaRPr>
          </a:p>
        </p:txBody>
      </p:sp>
      <p:cxnSp>
        <p:nvCxnSpPr>
          <p:cNvPr id="1716" name="Google Shape;1716;p169"/>
          <p:cNvCxnSpPr/>
          <p:nvPr/>
        </p:nvCxnSpPr>
        <p:spPr>
          <a:xfrm rot="-5400000">
            <a:off x="898530" y="2965050"/>
            <a:ext cx="561900" cy="355200"/>
          </a:xfrm>
          <a:prstGeom prst="bentConnector3">
            <a:avLst>
              <a:gd fmla="val 0" name="adj1"/>
            </a:avLst>
          </a:prstGeom>
          <a:noFill/>
          <a:ln cap="flat" cmpd="sng" w="28425">
            <a:solidFill>
              <a:srgbClr val="A5A5A5"/>
            </a:solidFill>
            <a:prstDash val="solid"/>
            <a:round/>
            <a:headEnd len="sm" w="sm" type="none"/>
            <a:tailEnd len="sm" w="sm" type="none"/>
          </a:ln>
        </p:spPr>
      </p:cxnSp>
      <p:sp>
        <p:nvSpPr>
          <p:cNvPr id="1717" name="Google Shape;1717;p169"/>
          <p:cNvSpPr/>
          <p:nvPr/>
        </p:nvSpPr>
        <p:spPr>
          <a:xfrm>
            <a:off x="1333440" y="141120"/>
            <a:ext cx="4874400" cy="2588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Positioning Semantic Knowledge</a:t>
            </a:r>
            <a:endParaRPr b="0" i="0" sz="2000" u="none" cap="none" strike="noStrike">
              <a:latin typeface="Arial"/>
              <a:ea typeface="Arial"/>
              <a:cs typeface="Arial"/>
              <a:sym typeface="Arial"/>
            </a:endParaRPr>
          </a:p>
        </p:txBody>
      </p:sp>
      <p:sp>
        <p:nvSpPr>
          <p:cNvPr id="1718" name="Google Shape;1718;p169"/>
          <p:cNvSpPr/>
          <p:nvPr/>
        </p:nvSpPr>
        <p:spPr>
          <a:xfrm>
            <a:off x="0" y="0"/>
            <a:ext cx="1180080" cy="396360"/>
          </a:xfrm>
          <a:prstGeom prst="rect">
            <a:avLst/>
          </a:prstGeom>
          <a:solidFill>
            <a:srgbClr val="0089E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Future State</a:t>
            </a:r>
            <a:endParaRPr b="0" i="0" sz="1400" u="none" cap="none" strike="noStrike">
              <a:latin typeface="Arial"/>
              <a:ea typeface="Arial"/>
              <a:cs typeface="Arial"/>
              <a:sym typeface="Arial"/>
            </a:endParaRPr>
          </a:p>
        </p:txBody>
      </p:sp>
      <p:sp>
        <p:nvSpPr>
          <p:cNvPr id="1719" name="Google Shape;1719;p169"/>
          <p:cNvSpPr/>
          <p:nvPr/>
        </p:nvSpPr>
        <p:spPr>
          <a:xfrm>
            <a:off x="2142360" y="2877120"/>
            <a:ext cx="381240" cy="12708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i="0" lang="en-US" sz="700" u="none" cap="none" strike="noStrike">
                <a:solidFill>
                  <a:srgbClr val="CECECE"/>
                </a:solidFill>
                <a:latin typeface="Arial"/>
                <a:ea typeface="Arial"/>
                <a:cs typeface="Arial"/>
                <a:sym typeface="Arial"/>
              </a:rPr>
              <a:t>SOT</a:t>
            </a:r>
            <a:endParaRPr b="0" i="0" sz="700" u="none" cap="none" strike="noStrike">
              <a:latin typeface="Arial"/>
              <a:ea typeface="Arial"/>
              <a:cs typeface="Arial"/>
              <a:sym typeface="Arial"/>
            </a:endParaRPr>
          </a:p>
        </p:txBody>
      </p:sp>
      <p:grpSp>
        <p:nvGrpSpPr>
          <p:cNvPr id="1720" name="Google Shape;1720;p169"/>
          <p:cNvGrpSpPr/>
          <p:nvPr/>
        </p:nvGrpSpPr>
        <p:grpSpPr>
          <a:xfrm>
            <a:off x="1358280" y="3827160"/>
            <a:ext cx="5149800" cy="576360"/>
            <a:chOff x="1358280" y="3827160"/>
            <a:chExt cx="5149800" cy="576360"/>
          </a:xfrm>
        </p:grpSpPr>
        <p:sp>
          <p:nvSpPr>
            <p:cNvPr id="1721" name="Google Shape;1721;p169"/>
            <p:cNvSpPr/>
            <p:nvPr/>
          </p:nvSpPr>
          <p:spPr>
            <a:xfrm>
              <a:off x="1358280" y="3827160"/>
              <a:ext cx="5149800" cy="576360"/>
            </a:xfrm>
            <a:prstGeom prst="roundRect">
              <a:avLst>
                <a:gd fmla="val 16667" name="adj"/>
              </a:avLst>
            </a:prstGeom>
            <a:solidFill>
              <a:srgbClr val="C6EFCE"/>
            </a:solidFill>
            <a:ln cap="flat" cmpd="sng" w="19075">
              <a:solidFill>
                <a:srgbClr val="999999"/>
              </a:solidFill>
              <a:prstDash val="solid"/>
              <a:round/>
              <a:headEnd len="sm" w="sm" type="none"/>
              <a:tailEnd len="sm" w="sm" type="none"/>
            </a:ln>
          </p:spPr>
          <p:txBody>
            <a:bodyPr anchorCtr="0" anchor="t" bIns="91425" lIns="91425" spcFirstLastPara="1" rIns="91425" wrap="square" tIns="0">
              <a:noAutofit/>
            </a:bodyPr>
            <a:lstStyle/>
            <a:p>
              <a:pPr indent="0" lvl="0" marL="0" marR="0" rtl="0" algn="ctr">
                <a:lnSpc>
                  <a:spcPct val="100000"/>
                </a:lnSpc>
                <a:spcBef>
                  <a:spcPts val="0"/>
                </a:spcBef>
                <a:spcAft>
                  <a:spcPts val="0"/>
                </a:spcAft>
                <a:buNone/>
              </a:pPr>
              <a:r>
                <a:rPr b="1" i="0" lang="en-US" sz="1000" u="none" cap="none" strike="noStrike">
                  <a:solidFill>
                    <a:srgbClr val="434343"/>
                  </a:solidFill>
                  <a:latin typeface="Arial"/>
                  <a:ea typeface="Arial"/>
                  <a:cs typeface="Arial"/>
                  <a:sym typeface="Arial"/>
                </a:rPr>
                <a:t>Data Aggregation &amp; Curation Services</a:t>
              </a:r>
              <a:endParaRPr b="0" i="0" sz="1000" u="none" cap="none" strike="noStrike">
                <a:latin typeface="Arial"/>
                <a:ea typeface="Arial"/>
                <a:cs typeface="Arial"/>
                <a:sym typeface="Arial"/>
              </a:endParaRPr>
            </a:p>
          </p:txBody>
        </p:sp>
        <p:sp>
          <p:nvSpPr>
            <p:cNvPr id="1722" name="Google Shape;1722;p169"/>
            <p:cNvSpPr/>
            <p:nvPr/>
          </p:nvSpPr>
          <p:spPr>
            <a:xfrm>
              <a:off x="5400360" y="3960720"/>
              <a:ext cx="987840" cy="362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Enterprise</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Pre-Aggregates</a:t>
              </a:r>
              <a:endParaRPr b="0" i="0" sz="600" u="none" cap="none" strike="noStrike">
                <a:latin typeface="Arial"/>
                <a:ea typeface="Arial"/>
                <a:cs typeface="Arial"/>
                <a:sym typeface="Arial"/>
              </a:endParaRPr>
            </a:p>
          </p:txBody>
        </p:sp>
        <p:sp>
          <p:nvSpPr>
            <p:cNvPr id="1723" name="Google Shape;1723;p169"/>
            <p:cNvSpPr/>
            <p:nvPr/>
          </p:nvSpPr>
          <p:spPr>
            <a:xfrm>
              <a:off x="3933000" y="4064040"/>
              <a:ext cx="1271520" cy="25884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Enterprise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Shared Data Products</a:t>
              </a:r>
              <a:endParaRPr b="0" i="0" sz="600" u="none" cap="none" strike="noStrike">
                <a:latin typeface="Arial"/>
                <a:ea typeface="Arial"/>
                <a:cs typeface="Arial"/>
                <a:sym typeface="Arial"/>
              </a:endParaRPr>
            </a:p>
          </p:txBody>
        </p:sp>
        <p:sp>
          <p:nvSpPr>
            <p:cNvPr id="1724" name="Google Shape;1724;p169"/>
            <p:cNvSpPr/>
            <p:nvPr/>
          </p:nvSpPr>
          <p:spPr>
            <a:xfrm>
              <a:off x="2555640" y="4072320"/>
              <a:ext cx="1180080" cy="24192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Specific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Shared Data Products</a:t>
              </a:r>
              <a:endParaRPr b="0" i="0" sz="600" u="none" cap="none" strike="noStrike">
                <a:latin typeface="Arial"/>
                <a:ea typeface="Arial"/>
                <a:cs typeface="Arial"/>
                <a:sym typeface="Arial"/>
              </a:endParaRPr>
            </a:p>
          </p:txBody>
        </p:sp>
        <p:sp>
          <p:nvSpPr>
            <p:cNvPr id="1725" name="Google Shape;1725;p169"/>
            <p:cNvSpPr/>
            <p:nvPr/>
          </p:nvSpPr>
          <p:spPr>
            <a:xfrm>
              <a:off x="1533240" y="3960720"/>
              <a:ext cx="811800" cy="362160"/>
            </a:xfrm>
            <a:prstGeom prst="flowChartMagneticDisk">
              <a:avLst/>
            </a:prstGeom>
            <a:solidFill>
              <a:srgbClr val="FFFFFF"/>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600" u="none" cap="none" strike="noStrike">
                  <a:solidFill>
                    <a:srgbClr val="000000"/>
                  </a:solidFill>
                  <a:latin typeface="Arial"/>
                  <a:ea typeface="Arial"/>
                  <a:cs typeface="Arial"/>
                  <a:sym typeface="Arial"/>
                </a:rPr>
                <a:t>Domain Specific Pre-Aggregates</a:t>
              </a:r>
              <a:endParaRPr b="0" i="0" sz="600" u="none" cap="none" strike="noStrike">
                <a:latin typeface="Arial"/>
                <a:ea typeface="Arial"/>
                <a:cs typeface="Arial"/>
                <a:sym typeface="Arial"/>
              </a:endParaRPr>
            </a:p>
          </p:txBody>
        </p:sp>
      </p:grpSp>
      <p:cxnSp>
        <p:nvCxnSpPr>
          <p:cNvPr id="1726" name="Google Shape;1726;p169"/>
          <p:cNvCxnSpPr/>
          <p:nvPr/>
        </p:nvCxnSpPr>
        <p:spPr>
          <a:xfrm rot="-5400000">
            <a:off x="5900160" y="4722600"/>
            <a:ext cx="1954200" cy="739800"/>
          </a:xfrm>
          <a:prstGeom prst="bentConnector3">
            <a:avLst>
              <a:gd fmla="val 0" name="adj1"/>
            </a:avLst>
          </a:prstGeom>
          <a:noFill/>
          <a:ln cap="flat" cmpd="sng" w="28425">
            <a:solidFill>
              <a:srgbClr val="A5A5A5"/>
            </a:solidFill>
            <a:prstDash val="solid"/>
            <a:round/>
            <a:headEnd len="sm" w="sm" type="none"/>
            <a:tailEnd len="sm" w="sm" type="none"/>
          </a:ln>
        </p:spPr>
      </p:cxnSp>
      <p:cxnSp>
        <p:nvCxnSpPr>
          <p:cNvPr id="1727" name="Google Shape;1727;p169"/>
          <p:cNvCxnSpPr/>
          <p:nvPr/>
        </p:nvCxnSpPr>
        <p:spPr>
          <a:xfrm flipH="1" rot="-5400000">
            <a:off x="6360090" y="1272270"/>
            <a:ext cx="1036500" cy="739800"/>
          </a:xfrm>
          <a:prstGeom prst="bentConnector3">
            <a:avLst>
              <a:gd fmla="val 0" name="adj1"/>
            </a:avLst>
          </a:prstGeom>
          <a:noFill/>
          <a:ln cap="flat" cmpd="sng" w="28425">
            <a:solidFill>
              <a:srgbClr val="A5A5A5"/>
            </a:solidFill>
            <a:prstDash val="solid"/>
            <a:round/>
            <a:headEnd len="sm" w="sm" type="none"/>
            <a:tailEnd len="sm" w="sm" type="none"/>
          </a:ln>
        </p:spPr>
      </p:cxnSp>
      <p:grpSp>
        <p:nvGrpSpPr>
          <p:cNvPr id="1728" name="Google Shape;1728;p169"/>
          <p:cNvGrpSpPr/>
          <p:nvPr/>
        </p:nvGrpSpPr>
        <p:grpSpPr>
          <a:xfrm>
            <a:off x="8546760" y="9000"/>
            <a:ext cx="594000" cy="679680"/>
            <a:chOff x="8546760" y="9000"/>
            <a:chExt cx="594000" cy="679680"/>
          </a:xfrm>
        </p:grpSpPr>
        <p:sp>
          <p:nvSpPr>
            <p:cNvPr id="1729" name="Google Shape;1729;p169"/>
            <p:cNvSpPr/>
            <p:nvPr/>
          </p:nvSpPr>
          <p:spPr>
            <a:xfrm>
              <a:off x="8546760" y="900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0" name="Google Shape;1730;p169"/>
            <p:cNvGrpSpPr/>
            <p:nvPr/>
          </p:nvGrpSpPr>
          <p:grpSpPr>
            <a:xfrm>
              <a:off x="8585280" y="9360"/>
              <a:ext cx="555480" cy="679320"/>
              <a:chOff x="8585280" y="9360"/>
              <a:chExt cx="555480" cy="679320"/>
            </a:xfrm>
          </p:grpSpPr>
          <p:pic>
            <p:nvPicPr>
              <p:cNvPr id="1731" name="Google Shape;1731;p169"/>
              <p:cNvPicPr preferRelativeResize="0"/>
              <p:nvPr/>
            </p:nvPicPr>
            <p:blipFill rotWithShape="1">
              <a:blip r:embed="rId7">
                <a:alphaModFix/>
              </a:blip>
              <a:srcRect b="0" l="20669" r="9844" t="0"/>
              <a:stretch/>
            </p:blipFill>
            <p:spPr>
              <a:xfrm>
                <a:off x="8585280" y="9360"/>
                <a:ext cx="530640" cy="530640"/>
              </a:xfrm>
              <a:prstGeom prst="rect">
                <a:avLst/>
              </a:prstGeom>
              <a:noFill/>
              <a:ln>
                <a:noFill/>
              </a:ln>
            </p:spPr>
          </p:pic>
          <p:sp>
            <p:nvSpPr>
              <p:cNvPr id="1732" name="Google Shape;1732;p169"/>
              <p:cNvSpPr/>
              <p:nvPr/>
            </p:nvSpPr>
            <p:spPr>
              <a:xfrm>
                <a:off x="8585280" y="502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F50A23"/>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170"/>
          <p:cNvSpPr/>
          <p:nvPr/>
        </p:nvSpPr>
        <p:spPr>
          <a:xfrm rot="-5401200">
            <a:off x="3044880" y="3006720"/>
            <a:ext cx="1384920" cy="371880"/>
          </a:xfrm>
          <a:prstGeom prst="leftRightArrow">
            <a:avLst>
              <a:gd fmla="val 50000" name="adj1"/>
              <a:gd fmla="val 50000" name="adj2"/>
            </a:avLst>
          </a:prstGeom>
          <a:solidFill>
            <a:srgbClr val="D8DADA"/>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Mapping</a:t>
            </a:r>
            <a:endParaRPr b="0" i="0" sz="700" u="none" cap="none" strike="noStrike">
              <a:latin typeface="Arial"/>
              <a:ea typeface="Arial"/>
              <a:cs typeface="Arial"/>
              <a:sym typeface="Arial"/>
            </a:endParaRPr>
          </a:p>
        </p:txBody>
      </p:sp>
      <p:sp>
        <p:nvSpPr>
          <p:cNvPr id="1738" name="Google Shape;1738;p170"/>
          <p:cNvSpPr txBox="1"/>
          <p:nvPr/>
        </p:nvSpPr>
        <p:spPr>
          <a:xfrm>
            <a:off x="762126" y="110875"/>
            <a:ext cx="69078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Knowledge Layer (SKL) 3-Tier Architecture</a:t>
            </a:r>
            <a:endParaRPr b="0" i="0" sz="2000" u="none" cap="none" strike="noStrike">
              <a:solidFill>
                <a:srgbClr val="000000"/>
              </a:solidFill>
              <a:latin typeface="Arial"/>
              <a:ea typeface="Arial"/>
              <a:cs typeface="Arial"/>
              <a:sym typeface="Arial"/>
            </a:endParaRPr>
          </a:p>
        </p:txBody>
      </p:sp>
      <p:sp>
        <p:nvSpPr>
          <p:cNvPr id="1739" name="Google Shape;1739;p170"/>
          <p:cNvSpPr/>
          <p:nvPr/>
        </p:nvSpPr>
        <p:spPr>
          <a:xfrm>
            <a:off x="6651720" y="3208320"/>
            <a:ext cx="1618920" cy="859680"/>
          </a:xfrm>
          <a:prstGeom prst="can">
            <a:avLst>
              <a:gd fmla="val 25000" name="adj"/>
            </a:avLst>
          </a:prstGeom>
          <a:solidFill>
            <a:srgbClr val="D8DADA"/>
          </a:solidFill>
          <a:ln cap="flat" cmpd="sng" w="9525">
            <a:solidFill>
              <a:srgbClr val="747676"/>
            </a:solidFill>
            <a:prstDash val="solid"/>
            <a:round/>
            <a:headEnd len="sm" w="sm" type="none"/>
            <a:tailEnd len="sm" w="sm" type="none"/>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1VZ Data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a:t>
            </a:r>
            <a:r>
              <a:rPr b="0" i="0" lang="en-US" sz="1000" u="none" cap="none" strike="noStrike">
                <a:solidFill>
                  <a:srgbClr val="0088CE"/>
                </a:solidFill>
                <a:latin typeface="Arial"/>
                <a:ea typeface="Arial"/>
                <a:cs typeface="Arial"/>
                <a:sym typeface="Arial"/>
              </a:rPr>
              <a:t>Metadata</a:t>
            </a:r>
            <a:r>
              <a:rPr b="0" i="0" lang="en-US" sz="1000" u="none" cap="none" strike="noStrike">
                <a:solidFill>
                  <a:srgbClr val="000000"/>
                </a:solidFill>
                <a:latin typeface="Arial"/>
                <a:ea typeface="Arial"/>
                <a:cs typeface="Arial"/>
                <a:sym typeface="Arial"/>
              </a:rPr>
              <a:t> + </a:t>
            </a:r>
            <a:r>
              <a:rPr b="0" i="0" lang="en-US" sz="1000" u="none" cap="none" strike="noStrike">
                <a:solidFill>
                  <a:srgbClr val="0088CE"/>
                </a:solidFill>
                <a:latin typeface="Arial"/>
                <a:ea typeface="Arial"/>
                <a:cs typeface="Arial"/>
                <a:sym typeface="Arial"/>
              </a:rPr>
              <a:t>Instances</a:t>
            </a:r>
            <a:r>
              <a:rPr b="0" i="0" lang="en-US" sz="1000" u="none" cap="none" strike="noStrike">
                <a:solidFill>
                  <a:srgbClr val="000000"/>
                </a:solidFill>
                <a:latin typeface="Arial"/>
                <a:ea typeface="Arial"/>
                <a:cs typeface="Arial"/>
                <a:sym typeface="Arial"/>
              </a:rPr>
              <a:t>)</a:t>
            </a:r>
            <a:endParaRPr b="0" i="0" sz="1000" u="none" cap="none" strike="noStrike">
              <a:latin typeface="Arial"/>
              <a:ea typeface="Arial"/>
              <a:cs typeface="Arial"/>
              <a:sym typeface="Arial"/>
            </a:endParaRPr>
          </a:p>
        </p:txBody>
      </p:sp>
      <p:sp>
        <p:nvSpPr>
          <p:cNvPr id="1740" name="Google Shape;1740;p170"/>
          <p:cNvSpPr/>
          <p:nvPr/>
        </p:nvSpPr>
        <p:spPr>
          <a:xfrm>
            <a:off x="434880" y="12661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Business Knowledge</a:t>
            </a:r>
            <a:endParaRPr b="0" i="0" sz="900" u="none" cap="none" strike="noStrike">
              <a:latin typeface="Arial"/>
              <a:ea typeface="Arial"/>
              <a:cs typeface="Arial"/>
              <a:sym typeface="Arial"/>
            </a:endParaRPr>
          </a:p>
        </p:txBody>
      </p:sp>
      <p:grpSp>
        <p:nvGrpSpPr>
          <p:cNvPr id="1741" name="Google Shape;1741;p170"/>
          <p:cNvGrpSpPr/>
          <p:nvPr/>
        </p:nvGrpSpPr>
        <p:grpSpPr>
          <a:xfrm>
            <a:off x="1757880" y="665280"/>
            <a:ext cx="3958920" cy="1805400"/>
            <a:chOff x="1757880" y="665280"/>
            <a:chExt cx="3958920" cy="1805400"/>
          </a:xfrm>
        </p:grpSpPr>
        <p:sp>
          <p:nvSpPr>
            <p:cNvPr id="1742" name="Google Shape;1742;p170"/>
            <p:cNvSpPr/>
            <p:nvPr/>
          </p:nvSpPr>
          <p:spPr>
            <a:xfrm>
              <a:off x="1757880" y="665280"/>
              <a:ext cx="3958920" cy="1803960"/>
            </a:xfrm>
            <a:prstGeom prst="flowChartAlternateProcess">
              <a:avLst/>
            </a:prstGeom>
            <a:no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43" name="Google Shape;1743;p170"/>
            <p:cNvPicPr preferRelativeResize="0"/>
            <p:nvPr/>
          </p:nvPicPr>
          <p:blipFill rotWithShape="1">
            <a:blip r:embed="rId3">
              <a:alphaModFix/>
            </a:blip>
            <a:srcRect b="0" l="0" r="0" t="0"/>
            <a:stretch/>
          </p:blipFill>
          <p:spPr>
            <a:xfrm>
              <a:off x="3283920" y="743040"/>
              <a:ext cx="795960" cy="396000"/>
            </a:xfrm>
            <a:prstGeom prst="rect">
              <a:avLst/>
            </a:prstGeom>
            <a:noFill/>
            <a:ln>
              <a:noFill/>
            </a:ln>
          </p:spPr>
        </p:pic>
        <p:cxnSp>
          <p:nvCxnSpPr>
            <p:cNvPr id="1744" name="Google Shape;1744;p170"/>
            <p:cNvCxnSpPr/>
            <p:nvPr/>
          </p:nvCxnSpPr>
          <p:spPr>
            <a:xfrm flipH="1">
              <a:off x="2685960" y="941040"/>
              <a:ext cx="597600" cy="297000"/>
            </a:xfrm>
            <a:prstGeom prst="curvedConnector2">
              <a:avLst/>
            </a:prstGeom>
            <a:noFill/>
            <a:ln cap="flat" cmpd="sng" w="9525">
              <a:solidFill>
                <a:srgbClr val="000000"/>
              </a:solidFill>
              <a:prstDash val="solid"/>
              <a:round/>
              <a:headEnd len="sm" w="sm" type="none"/>
              <a:tailEnd len="sm" w="sm" type="none"/>
            </a:ln>
          </p:spPr>
        </p:cxnSp>
        <p:cxnSp>
          <p:nvCxnSpPr>
            <p:cNvPr id="1745" name="Google Shape;1745;p170"/>
            <p:cNvCxnSpPr/>
            <p:nvPr/>
          </p:nvCxnSpPr>
          <p:spPr>
            <a:xfrm>
              <a:off x="4080240" y="941040"/>
              <a:ext cx="262800" cy="434880"/>
            </a:xfrm>
            <a:prstGeom prst="curvedConnector2">
              <a:avLst/>
            </a:prstGeom>
            <a:noFill/>
            <a:ln cap="flat" cmpd="sng" w="9525">
              <a:solidFill>
                <a:srgbClr val="000000"/>
              </a:solidFill>
              <a:prstDash val="solid"/>
              <a:round/>
              <a:headEnd len="sm" w="sm" type="none"/>
              <a:tailEnd len="sm" w="sm" type="none"/>
            </a:ln>
          </p:spPr>
        </p:cxnSp>
        <p:sp>
          <p:nvSpPr>
            <p:cNvPr id="1746" name="Google Shape;1746;p170"/>
            <p:cNvSpPr/>
            <p:nvPr/>
          </p:nvSpPr>
          <p:spPr>
            <a:xfrm>
              <a:off x="4204080" y="743040"/>
              <a:ext cx="1005120" cy="276120"/>
            </a:xfrm>
            <a:prstGeom prst="rect">
              <a:avLst/>
            </a:prstGeom>
            <a:noFill/>
            <a:ln>
              <a:noFill/>
            </a:ln>
          </p:spPr>
          <p:txBody>
            <a:bodyPr anchorCtr="0" anchor="t" bIns="68400" lIns="68400" spcFirstLastPara="1" rIns="68400" wrap="square" tIns="68400">
              <a:noAutofit/>
            </a:bodyPr>
            <a:lstStyle/>
            <a:p>
              <a:pPr indent="0" lvl="0" marL="0" marR="0" rtl="0" algn="ctr">
                <a:lnSpc>
                  <a:spcPct val="115000"/>
                </a:lnSpc>
                <a:spcBef>
                  <a:spcPts val="0"/>
                </a:spcBef>
                <a:spcAft>
                  <a:spcPts val="0"/>
                </a:spcAft>
                <a:buNone/>
              </a:pPr>
              <a:r>
                <a:rPr b="1" i="0" lang="en-US" sz="800" u="none" cap="none" strike="noStrike">
                  <a:solidFill>
                    <a:srgbClr val="000000"/>
                  </a:solidFill>
                  <a:latin typeface="Roboto"/>
                  <a:ea typeface="Roboto"/>
                  <a:cs typeface="Roboto"/>
                  <a:sym typeface="Roboto"/>
                </a:rPr>
                <a:t>Upper Ontology</a:t>
              </a:r>
              <a:endParaRPr b="0" i="0" sz="800" u="none" cap="none" strike="noStrike">
                <a:latin typeface="Arial"/>
                <a:ea typeface="Arial"/>
                <a:cs typeface="Arial"/>
                <a:sym typeface="Arial"/>
              </a:endParaRPr>
            </a:p>
          </p:txBody>
        </p:sp>
        <p:grpSp>
          <p:nvGrpSpPr>
            <p:cNvPr id="1747" name="Google Shape;1747;p170"/>
            <p:cNvGrpSpPr/>
            <p:nvPr/>
          </p:nvGrpSpPr>
          <p:grpSpPr>
            <a:xfrm>
              <a:off x="4038120" y="1376640"/>
              <a:ext cx="610560" cy="655200"/>
              <a:chOff x="4038120" y="1376640"/>
              <a:chExt cx="610560" cy="655200"/>
            </a:xfrm>
          </p:grpSpPr>
          <p:pic>
            <p:nvPicPr>
              <p:cNvPr id="1748" name="Google Shape;1748;p170"/>
              <p:cNvPicPr preferRelativeResize="0"/>
              <p:nvPr/>
            </p:nvPicPr>
            <p:blipFill rotWithShape="1">
              <a:blip r:embed="rId4">
                <a:alphaModFix/>
              </a:blip>
              <a:srcRect b="0" l="0" r="0" t="0"/>
              <a:stretch/>
            </p:blipFill>
            <p:spPr>
              <a:xfrm>
                <a:off x="4089960" y="1376640"/>
                <a:ext cx="506880" cy="407520"/>
              </a:xfrm>
              <a:prstGeom prst="rect">
                <a:avLst/>
              </a:prstGeom>
              <a:noFill/>
              <a:ln>
                <a:noFill/>
              </a:ln>
            </p:spPr>
          </p:pic>
          <p:sp>
            <p:nvSpPr>
              <p:cNvPr id="1749" name="Google Shape;1749;p170"/>
              <p:cNvSpPr/>
              <p:nvPr/>
            </p:nvSpPr>
            <p:spPr>
              <a:xfrm>
                <a:off x="4038120" y="179748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Network Operations</a:t>
                </a:r>
                <a:endParaRPr b="0" i="0" sz="600" u="none" cap="none" strike="noStrike">
                  <a:latin typeface="Arial"/>
                  <a:ea typeface="Arial"/>
                  <a:cs typeface="Arial"/>
                  <a:sym typeface="Arial"/>
                </a:endParaRPr>
              </a:p>
            </p:txBody>
          </p:sp>
        </p:grpSp>
        <p:grpSp>
          <p:nvGrpSpPr>
            <p:cNvPr id="1750" name="Google Shape;1750;p170"/>
            <p:cNvGrpSpPr/>
            <p:nvPr/>
          </p:nvGrpSpPr>
          <p:grpSpPr>
            <a:xfrm>
              <a:off x="4837680" y="1626840"/>
              <a:ext cx="610560" cy="613440"/>
              <a:chOff x="4837680" y="1626840"/>
              <a:chExt cx="610560" cy="613440"/>
            </a:xfrm>
          </p:grpSpPr>
          <p:pic>
            <p:nvPicPr>
              <p:cNvPr id="1751" name="Google Shape;1751;p170"/>
              <p:cNvPicPr preferRelativeResize="0"/>
              <p:nvPr/>
            </p:nvPicPr>
            <p:blipFill rotWithShape="1">
              <a:blip r:embed="rId5">
                <a:alphaModFix/>
              </a:blip>
              <a:srcRect b="0" l="0" r="0" t="0"/>
              <a:stretch/>
            </p:blipFill>
            <p:spPr>
              <a:xfrm>
                <a:off x="4889520" y="1626840"/>
                <a:ext cx="506880" cy="369000"/>
              </a:xfrm>
              <a:prstGeom prst="rect">
                <a:avLst/>
              </a:prstGeom>
              <a:noFill/>
              <a:ln>
                <a:noFill/>
              </a:ln>
            </p:spPr>
          </p:pic>
          <p:sp>
            <p:nvSpPr>
              <p:cNvPr id="1752" name="Google Shape;1752;p170"/>
              <p:cNvSpPr/>
              <p:nvPr/>
            </p:nvSpPr>
            <p:spPr>
              <a:xfrm>
                <a:off x="4837680" y="2005920"/>
                <a:ext cx="610560" cy="23436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Customer Support</a:t>
                </a:r>
                <a:endParaRPr b="0" i="0" sz="600" u="none" cap="none" strike="noStrike">
                  <a:latin typeface="Arial"/>
                  <a:ea typeface="Arial"/>
                  <a:cs typeface="Arial"/>
                  <a:sym typeface="Arial"/>
                </a:endParaRPr>
              </a:p>
            </p:txBody>
          </p:sp>
        </p:grpSp>
        <p:pic>
          <p:nvPicPr>
            <p:cNvPr id="1753" name="Google Shape;1753;p170"/>
            <p:cNvPicPr preferRelativeResize="0"/>
            <p:nvPr/>
          </p:nvPicPr>
          <p:blipFill rotWithShape="1">
            <a:blip r:embed="rId6">
              <a:alphaModFix/>
            </a:blip>
            <a:srcRect b="0" l="0" r="0" t="0"/>
            <a:stretch/>
          </p:blipFill>
          <p:spPr>
            <a:xfrm>
              <a:off x="2302200" y="1238400"/>
              <a:ext cx="767160" cy="657360"/>
            </a:xfrm>
            <a:prstGeom prst="rect">
              <a:avLst/>
            </a:prstGeom>
            <a:noFill/>
            <a:ln>
              <a:noFill/>
            </a:ln>
          </p:spPr>
        </p:pic>
        <p:grpSp>
          <p:nvGrpSpPr>
            <p:cNvPr id="1754" name="Google Shape;1754;p170"/>
            <p:cNvGrpSpPr/>
            <p:nvPr/>
          </p:nvGrpSpPr>
          <p:grpSpPr>
            <a:xfrm>
              <a:off x="3376800" y="1684800"/>
              <a:ext cx="610560" cy="564120"/>
              <a:chOff x="3376800" y="1684800"/>
              <a:chExt cx="610560" cy="564120"/>
            </a:xfrm>
          </p:grpSpPr>
          <p:pic>
            <p:nvPicPr>
              <p:cNvPr id="1755" name="Google Shape;1755;p170"/>
              <p:cNvPicPr preferRelativeResize="0"/>
              <p:nvPr/>
            </p:nvPicPr>
            <p:blipFill rotWithShape="1">
              <a:blip r:embed="rId7">
                <a:alphaModFix/>
              </a:blip>
              <a:srcRect b="0" l="0" r="0" t="0"/>
              <a:stretch/>
            </p:blipFill>
            <p:spPr>
              <a:xfrm>
                <a:off x="3428640" y="1684800"/>
                <a:ext cx="506880" cy="407520"/>
              </a:xfrm>
              <a:prstGeom prst="rect">
                <a:avLst/>
              </a:prstGeom>
              <a:noFill/>
              <a:ln>
                <a:noFill/>
              </a:ln>
            </p:spPr>
          </p:pic>
          <p:sp>
            <p:nvSpPr>
              <p:cNvPr id="1756" name="Google Shape;1756;p170"/>
              <p:cNvSpPr/>
              <p:nvPr/>
            </p:nvSpPr>
            <p:spPr>
              <a:xfrm>
                <a:off x="3376800" y="2106000"/>
                <a:ext cx="610560" cy="142920"/>
              </a:xfrm>
              <a:prstGeom prst="rect">
                <a:avLst/>
              </a:prstGeom>
              <a:noFill/>
              <a:ln>
                <a:noFill/>
              </a:ln>
            </p:spPr>
            <p:txBody>
              <a:bodyPr anchorCtr="0" anchor="t" bIns="25550" lIns="51475" spcFirstLastPara="1" rIns="51475" wrap="square" tIns="25550">
                <a:noAutofit/>
              </a:bodyPr>
              <a:lstStyle/>
              <a:p>
                <a:pPr indent="0" lvl="0" marL="0" marR="0" rtl="0" algn="ctr">
                  <a:lnSpc>
                    <a:spcPct val="100000"/>
                  </a:lnSpc>
                  <a:spcBef>
                    <a:spcPts val="0"/>
                  </a:spcBef>
                  <a:spcAft>
                    <a:spcPts val="0"/>
                  </a:spcAft>
                  <a:buNone/>
                </a:pPr>
                <a:r>
                  <a:rPr b="1" i="0" lang="en-US" sz="600" u="none" cap="none" strike="noStrike">
                    <a:solidFill>
                      <a:srgbClr val="000000"/>
                    </a:solidFill>
                    <a:latin typeface="Calibri"/>
                    <a:ea typeface="Calibri"/>
                    <a:cs typeface="Calibri"/>
                    <a:sym typeface="Calibri"/>
                  </a:rPr>
                  <a:t>Finance</a:t>
                </a:r>
                <a:endParaRPr b="0" i="0" sz="600" u="none" cap="none" strike="noStrike">
                  <a:latin typeface="Arial"/>
                  <a:ea typeface="Arial"/>
                  <a:cs typeface="Arial"/>
                  <a:sym typeface="Arial"/>
                </a:endParaRPr>
              </a:p>
            </p:txBody>
          </p:sp>
        </p:grpSp>
        <p:cxnSp>
          <p:nvCxnSpPr>
            <p:cNvPr id="1757" name="Google Shape;1757;p170"/>
            <p:cNvCxnSpPr/>
            <p:nvPr/>
          </p:nvCxnSpPr>
          <p:spPr>
            <a:xfrm flipH="1">
              <a:off x="3680640" y="941040"/>
              <a:ext cx="397800" cy="743400"/>
            </a:xfrm>
            <a:prstGeom prst="curvedConnector4">
              <a:avLst>
                <a:gd fmla="val -59815" name="adj1"/>
                <a:gd fmla="val 63325" name="adj2"/>
              </a:avLst>
            </a:prstGeom>
            <a:noFill/>
            <a:ln cap="flat" cmpd="sng" w="9525">
              <a:solidFill>
                <a:srgbClr val="000000"/>
              </a:solidFill>
              <a:prstDash val="solid"/>
              <a:round/>
              <a:headEnd len="sm" w="sm" type="none"/>
              <a:tailEnd len="sm" w="sm" type="none"/>
            </a:ln>
          </p:spPr>
        </p:cxnSp>
        <p:cxnSp>
          <p:nvCxnSpPr>
            <p:cNvPr id="1758" name="Google Shape;1758;p170"/>
            <p:cNvCxnSpPr/>
            <p:nvPr/>
          </p:nvCxnSpPr>
          <p:spPr>
            <a:xfrm>
              <a:off x="4080240" y="941040"/>
              <a:ext cx="1062720" cy="685080"/>
            </a:xfrm>
            <a:prstGeom prst="curvedConnector2">
              <a:avLst/>
            </a:prstGeom>
            <a:noFill/>
            <a:ln cap="flat" cmpd="sng" w="9525">
              <a:solidFill>
                <a:srgbClr val="000000"/>
              </a:solidFill>
              <a:prstDash val="solid"/>
              <a:round/>
              <a:headEnd len="sm" w="sm" type="none"/>
              <a:tailEnd len="sm" w="sm" type="none"/>
            </a:ln>
          </p:spPr>
        </p:cxnSp>
        <p:sp>
          <p:nvSpPr>
            <p:cNvPr id="1759" name="Google Shape;1759;p170"/>
            <p:cNvSpPr/>
            <p:nvPr/>
          </p:nvSpPr>
          <p:spPr>
            <a:xfrm>
              <a:off x="2147400" y="1896120"/>
              <a:ext cx="961560" cy="25884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Roboto"/>
                  <a:ea typeface="Roboto"/>
                  <a:cs typeface="Roboto"/>
                  <a:sym typeface="Roboto"/>
                </a:rPr>
                <a:t>Taxonomies</a:t>
              </a:r>
              <a:endParaRPr b="0" i="0" sz="800" u="none" cap="none" strike="noStrike">
                <a:latin typeface="Arial"/>
                <a:ea typeface="Arial"/>
                <a:cs typeface="Arial"/>
                <a:sym typeface="Arial"/>
              </a:endParaRPr>
            </a:p>
          </p:txBody>
        </p:sp>
        <p:sp>
          <p:nvSpPr>
            <p:cNvPr id="1760" name="Google Shape;1760;p170"/>
            <p:cNvSpPr/>
            <p:nvPr/>
          </p:nvSpPr>
          <p:spPr>
            <a:xfrm>
              <a:off x="3849120" y="2105280"/>
              <a:ext cx="1213920" cy="365400"/>
            </a:xfrm>
            <a:prstGeom prst="rect">
              <a:avLst/>
            </a:prstGeom>
            <a:no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800" u="none" cap="none" strike="noStrike">
                  <a:solidFill>
                    <a:srgbClr val="000000"/>
                  </a:solidFill>
                  <a:latin typeface="Arial"/>
                  <a:ea typeface="Arial"/>
                  <a:cs typeface="Arial"/>
                  <a:sym typeface="Arial"/>
                </a:rPr>
                <a:t>Ontologies</a:t>
              </a:r>
              <a:endParaRPr b="0" i="0" sz="8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(Domain Specific)</a:t>
              </a:r>
              <a:endParaRPr b="0" i="0" sz="700" u="none" cap="none" strike="noStrike">
                <a:latin typeface="Arial"/>
                <a:ea typeface="Arial"/>
                <a:cs typeface="Arial"/>
                <a:sym typeface="Arial"/>
              </a:endParaRPr>
            </a:p>
          </p:txBody>
        </p:sp>
        <p:sp>
          <p:nvSpPr>
            <p:cNvPr id="1761" name="Google Shape;1761;p170"/>
            <p:cNvSpPr/>
            <p:nvPr/>
          </p:nvSpPr>
          <p:spPr>
            <a:xfrm>
              <a:off x="1757880" y="743040"/>
              <a:ext cx="1161720" cy="42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Semantic</a:t>
              </a:r>
              <a:endParaRPr b="0" i="0" sz="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800" u="none" cap="none" strike="noStrike">
                  <a:solidFill>
                    <a:srgbClr val="747676"/>
                  </a:solidFill>
                  <a:latin typeface="Arial"/>
                  <a:ea typeface="Arial"/>
                  <a:cs typeface="Arial"/>
                  <a:sym typeface="Arial"/>
                </a:rPr>
                <a:t>Knowledge</a:t>
              </a:r>
              <a:endParaRPr b="0" i="0" sz="800" u="none" cap="none" strike="noStrike">
                <a:latin typeface="Arial"/>
                <a:ea typeface="Arial"/>
                <a:cs typeface="Arial"/>
                <a:sym typeface="Arial"/>
              </a:endParaRPr>
            </a:p>
          </p:txBody>
        </p:sp>
      </p:grpSp>
      <p:sp>
        <p:nvSpPr>
          <p:cNvPr id="1762" name="Google Shape;1762;p170"/>
          <p:cNvSpPr/>
          <p:nvPr/>
        </p:nvSpPr>
        <p:spPr>
          <a:xfrm>
            <a:off x="390960" y="298332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Metadata</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Structures</a:t>
            </a:r>
            <a:endParaRPr b="0" i="0" sz="900" u="none" cap="none" strike="noStrike">
              <a:latin typeface="Arial"/>
              <a:ea typeface="Arial"/>
              <a:cs typeface="Arial"/>
              <a:sym typeface="Arial"/>
            </a:endParaRPr>
          </a:p>
        </p:txBody>
      </p:sp>
      <p:sp>
        <p:nvSpPr>
          <p:cNvPr id="1763" name="Google Shape;1763;p170"/>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764" name="Google Shape;1764;p170"/>
          <p:cNvSpPr/>
          <p:nvPr/>
        </p:nvSpPr>
        <p:spPr>
          <a:xfrm>
            <a:off x="2726640" y="2856240"/>
            <a:ext cx="2021040" cy="67932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88CE"/>
                </a:solidFill>
                <a:latin typeface="Arial"/>
                <a:ea typeface="Arial"/>
                <a:cs typeface="Arial"/>
                <a:sym typeface="Arial"/>
              </a:rPr>
              <a:t>Persistent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(Triples for DDL)</a:t>
            </a:r>
            <a:endParaRPr b="0" i="0" sz="900" u="none" cap="none" strike="noStrike">
              <a:latin typeface="Arial"/>
              <a:ea typeface="Arial"/>
              <a:cs typeface="Arial"/>
              <a:sym typeface="Arial"/>
            </a:endParaRPr>
          </a:p>
        </p:txBody>
      </p:sp>
      <p:sp>
        <p:nvSpPr>
          <p:cNvPr id="1765" name="Google Shape;1765;p170"/>
          <p:cNvSpPr/>
          <p:nvPr/>
        </p:nvSpPr>
        <p:spPr>
          <a:xfrm>
            <a:off x="2991600" y="3917520"/>
            <a:ext cx="1491480" cy="583560"/>
          </a:xfrm>
          <a:prstGeom prst="can">
            <a:avLst>
              <a:gd fmla="val 25000" name="adj"/>
            </a:avLst>
          </a:prstGeom>
          <a:solidFill>
            <a:srgbClr val="FFFFFF"/>
          </a:solidFill>
          <a:ln cap="flat" cmpd="sng" w="19075">
            <a:solidFill>
              <a:srgbClr val="747676"/>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RDF Store</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E97132"/>
                </a:solidFill>
                <a:latin typeface="Arial"/>
                <a:ea typeface="Arial"/>
                <a:cs typeface="Arial"/>
                <a:sym typeface="Arial"/>
              </a:rPr>
              <a:t>Transient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(Triple for DDL + Data)</a:t>
            </a:r>
            <a:endParaRPr b="0" i="0" sz="900" u="none" cap="none" strike="noStrike">
              <a:latin typeface="Arial"/>
              <a:ea typeface="Arial"/>
              <a:cs typeface="Arial"/>
              <a:sym typeface="Arial"/>
            </a:endParaRPr>
          </a:p>
        </p:txBody>
      </p:sp>
      <p:sp>
        <p:nvSpPr>
          <p:cNvPr id="1766" name="Google Shape;1766;p170"/>
          <p:cNvSpPr/>
          <p:nvPr/>
        </p:nvSpPr>
        <p:spPr>
          <a:xfrm>
            <a:off x="390960" y="4068360"/>
            <a:ext cx="942120" cy="470520"/>
          </a:xfrm>
          <a:prstGeom prst="rect">
            <a:avLst/>
          </a:prstGeom>
          <a:solidFill>
            <a:srgbClr val="FFF2CC"/>
          </a:solidFill>
          <a:ln>
            <a:noFill/>
          </a:ln>
        </p:spPr>
        <p:txBody>
          <a:bodyPr anchorCtr="0" anchor="ctr"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Content</a:t>
            </a:r>
            <a:endParaRPr b="0" i="0" sz="9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(Instances)</a:t>
            </a:r>
            <a:endParaRPr b="0" i="0" sz="900" u="none" cap="none" strike="noStrike">
              <a:latin typeface="Arial"/>
              <a:ea typeface="Arial"/>
              <a:cs typeface="Arial"/>
              <a:sym typeface="Arial"/>
            </a:endParaRPr>
          </a:p>
        </p:txBody>
      </p:sp>
      <p:cxnSp>
        <p:nvCxnSpPr>
          <p:cNvPr id="1767" name="Google Shape;1767;p170"/>
          <p:cNvCxnSpPr/>
          <p:nvPr/>
        </p:nvCxnSpPr>
        <p:spPr>
          <a:xfrm rot="10800000">
            <a:off x="4748520" y="3196560"/>
            <a:ext cx="1903200" cy="441600"/>
          </a:xfrm>
          <a:prstGeom prst="bentConnector3">
            <a:avLst>
              <a:gd fmla="val 50003" name="adj1"/>
            </a:avLst>
          </a:prstGeom>
          <a:noFill/>
          <a:ln cap="flat" cmpd="sng" w="9525">
            <a:solidFill>
              <a:srgbClr val="747676"/>
            </a:solidFill>
            <a:prstDash val="solid"/>
            <a:round/>
            <a:headEnd len="sm" w="sm" type="none"/>
            <a:tailEnd len="sm" w="sm" type="none"/>
          </a:ln>
        </p:spPr>
      </p:cxnSp>
      <p:cxnSp>
        <p:nvCxnSpPr>
          <p:cNvPr id="1768" name="Google Shape;1768;p170"/>
          <p:cNvCxnSpPr/>
          <p:nvPr/>
        </p:nvCxnSpPr>
        <p:spPr>
          <a:xfrm flipH="1">
            <a:off x="4483560" y="3638160"/>
            <a:ext cx="2167800" cy="570600"/>
          </a:xfrm>
          <a:prstGeom prst="bentConnector3">
            <a:avLst>
              <a:gd fmla="val 43976" name="adj1"/>
            </a:avLst>
          </a:prstGeom>
          <a:noFill/>
          <a:ln cap="flat" cmpd="sng" w="9525">
            <a:solidFill>
              <a:srgbClr val="747676"/>
            </a:solidFill>
            <a:prstDash val="solid"/>
            <a:round/>
            <a:headEnd len="sm" w="sm" type="none"/>
            <a:tailEnd len="sm" w="sm" type="none"/>
          </a:ln>
        </p:spPr>
      </p:cxnSp>
      <p:sp>
        <p:nvSpPr>
          <p:cNvPr id="1769" name="Google Shape;1769;p170"/>
          <p:cNvSpPr/>
          <p:nvPr/>
        </p:nvSpPr>
        <p:spPr>
          <a:xfrm>
            <a:off x="4973040" y="29538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Metadata</a:t>
            </a:r>
            <a:endParaRPr b="0" i="0" sz="700" u="none" cap="none" strike="noStrike">
              <a:latin typeface="Arial"/>
              <a:ea typeface="Arial"/>
              <a:cs typeface="Arial"/>
              <a:sym typeface="Arial"/>
            </a:endParaRPr>
          </a:p>
        </p:txBody>
      </p:sp>
      <p:sp>
        <p:nvSpPr>
          <p:cNvPr id="1770" name="Google Shape;1770;p170"/>
          <p:cNvSpPr/>
          <p:nvPr/>
        </p:nvSpPr>
        <p:spPr>
          <a:xfrm>
            <a:off x="4973040" y="4233600"/>
            <a:ext cx="691920" cy="204840"/>
          </a:xfrm>
          <a:prstGeom prst="rect">
            <a:avLst/>
          </a:prstGeom>
          <a:noFill/>
          <a:ln>
            <a:noFill/>
          </a:ln>
        </p:spPr>
        <p:txBody>
          <a:bodyPr anchorCtr="0" anchor="ctr" bIns="0" lIns="91425" spcFirstLastPara="1" rIns="0" wrap="square" tIns="0">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Instances</a:t>
            </a:r>
            <a:endParaRPr b="0" i="0" sz="700" u="none" cap="none" strike="noStrike">
              <a:latin typeface="Arial"/>
              <a:ea typeface="Arial"/>
              <a:cs typeface="Arial"/>
              <a:sym typeface="Arial"/>
            </a:endParaRPr>
          </a:p>
        </p:txBody>
      </p:sp>
      <p:sp>
        <p:nvSpPr>
          <p:cNvPr id="1771" name="Google Shape;1771;p170"/>
          <p:cNvSpPr/>
          <p:nvPr/>
        </p:nvSpPr>
        <p:spPr>
          <a:xfrm>
            <a:off x="1958760" y="3565080"/>
            <a:ext cx="15541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DDL 2 Data Mapping 1:1</a:t>
            </a:r>
            <a:endParaRPr b="0" i="0" sz="900" u="none" cap="none" strike="noStrike">
              <a:latin typeface="Arial"/>
              <a:ea typeface="Arial"/>
              <a:cs typeface="Arial"/>
              <a:sym typeface="Arial"/>
            </a:endParaRPr>
          </a:p>
        </p:txBody>
      </p:sp>
      <p:sp>
        <p:nvSpPr>
          <p:cNvPr id="1772" name="Google Shape;1772;p170"/>
          <p:cNvSpPr/>
          <p:nvPr/>
        </p:nvSpPr>
        <p:spPr>
          <a:xfrm>
            <a:off x="2194200" y="2503800"/>
            <a:ext cx="1318320" cy="32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R2R Mapping M:M</a:t>
            </a:r>
            <a:endParaRPr b="0" i="0" sz="900" u="none" cap="none" strike="noStrike">
              <a:latin typeface="Arial"/>
              <a:ea typeface="Arial"/>
              <a:cs typeface="Arial"/>
              <a:sym typeface="Arial"/>
            </a:endParaRPr>
          </a:p>
        </p:txBody>
      </p:sp>
      <p:pic>
        <p:nvPicPr>
          <p:cNvPr id="1773" name="Google Shape;1773;p170"/>
          <p:cNvPicPr preferRelativeResize="0"/>
          <p:nvPr/>
        </p:nvPicPr>
        <p:blipFill rotWithShape="1">
          <a:blip r:embed="rId8">
            <a:alphaModFix/>
          </a:blip>
          <a:srcRect b="0" l="0" r="0" t="0"/>
          <a:stretch/>
        </p:blipFill>
        <p:spPr>
          <a:xfrm>
            <a:off x="8303760" y="4274280"/>
            <a:ext cx="870840" cy="870840"/>
          </a:xfrm>
          <a:prstGeom prst="rect">
            <a:avLst/>
          </a:prstGeom>
          <a:noFill/>
          <a:ln>
            <a:noFill/>
          </a:ln>
        </p:spPr>
      </p:pic>
      <p:grpSp>
        <p:nvGrpSpPr>
          <p:cNvPr id="1774" name="Google Shape;1774;p170"/>
          <p:cNvGrpSpPr/>
          <p:nvPr/>
        </p:nvGrpSpPr>
        <p:grpSpPr>
          <a:xfrm>
            <a:off x="8546760" y="0"/>
            <a:ext cx="594000" cy="679680"/>
            <a:chOff x="8546760" y="0"/>
            <a:chExt cx="594000" cy="679680"/>
          </a:xfrm>
        </p:grpSpPr>
        <p:sp>
          <p:nvSpPr>
            <p:cNvPr id="1775" name="Google Shape;1775;p170"/>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6" name="Google Shape;1776;p170"/>
            <p:cNvGrpSpPr/>
            <p:nvPr/>
          </p:nvGrpSpPr>
          <p:grpSpPr>
            <a:xfrm>
              <a:off x="8585280" y="0"/>
              <a:ext cx="555480" cy="679680"/>
              <a:chOff x="8585280" y="0"/>
              <a:chExt cx="555480" cy="679680"/>
            </a:xfrm>
          </p:grpSpPr>
          <p:pic>
            <p:nvPicPr>
              <p:cNvPr id="1777" name="Google Shape;1777;p170"/>
              <p:cNvPicPr preferRelativeResize="0"/>
              <p:nvPr/>
            </p:nvPicPr>
            <p:blipFill rotWithShape="1">
              <a:blip r:embed="rId9">
                <a:alphaModFix/>
              </a:blip>
              <a:srcRect b="0" l="20669" r="9844" t="0"/>
              <a:stretch/>
            </p:blipFill>
            <p:spPr>
              <a:xfrm>
                <a:off x="8585280" y="0"/>
                <a:ext cx="530640" cy="530640"/>
              </a:xfrm>
              <a:prstGeom prst="rect">
                <a:avLst/>
              </a:prstGeom>
              <a:noFill/>
              <a:ln>
                <a:noFill/>
              </a:ln>
            </p:spPr>
          </p:pic>
          <p:sp>
            <p:nvSpPr>
              <p:cNvPr id="1778" name="Google Shape;1778;p170"/>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2" name="Shape 1782"/>
        <p:cNvGrpSpPr/>
        <p:nvPr/>
      </p:nvGrpSpPr>
      <p:grpSpPr>
        <a:xfrm>
          <a:off x="0" y="0"/>
          <a:ext cx="0" cy="0"/>
          <a:chOff x="0" y="0"/>
          <a:chExt cx="0" cy="0"/>
        </a:xfrm>
      </p:grpSpPr>
      <p:pic>
        <p:nvPicPr>
          <p:cNvPr id="1783" name="Google Shape;1783;p171"/>
          <p:cNvPicPr preferRelativeResize="0"/>
          <p:nvPr/>
        </p:nvPicPr>
        <p:blipFill rotWithShape="1">
          <a:blip r:embed="rId3">
            <a:alphaModFix/>
          </a:blip>
          <a:srcRect b="0" l="0" r="0" t="0"/>
          <a:stretch/>
        </p:blipFill>
        <p:spPr>
          <a:xfrm>
            <a:off x="8303760" y="4274280"/>
            <a:ext cx="870840" cy="870840"/>
          </a:xfrm>
          <a:prstGeom prst="rect">
            <a:avLst/>
          </a:prstGeom>
          <a:noFill/>
          <a:ln>
            <a:noFill/>
          </a:ln>
        </p:spPr>
      </p:pic>
      <p:sp>
        <p:nvSpPr>
          <p:cNvPr id="1784" name="Google Shape;1784;p171"/>
          <p:cNvSpPr/>
          <p:nvPr/>
        </p:nvSpPr>
        <p:spPr>
          <a:xfrm>
            <a:off x="5441400" y="521640"/>
            <a:ext cx="3458160" cy="1554840"/>
          </a:xfrm>
          <a:prstGeom prst="roundRect">
            <a:avLst>
              <a:gd fmla="val 16667" name="adj"/>
            </a:avLst>
          </a:prstGeom>
          <a:solidFill>
            <a:srgbClr val="F3ED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71"/>
          <p:cNvSpPr txBox="1"/>
          <p:nvPr/>
        </p:nvSpPr>
        <p:spPr>
          <a:xfrm>
            <a:off x="762126" y="110875"/>
            <a:ext cx="49650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Pilot (Solution Architecture)</a:t>
            </a:r>
            <a:endParaRPr b="0" i="0" sz="2000" u="none" cap="none" strike="noStrike">
              <a:solidFill>
                <a:srgbClr val="000000"/>
              </a:solidFill>
              <a:latin typeface="Arial"/>
              <a:ea typeface="Arial"/>
              <a:cs typeface="Arial"/>
              <a:sym typeface="Arial"/>
            </a:endParaRPr>
          </a:p>
        </p:txBody>
      </p:sp>
      <p:sp>
        <p:nvSpPr>
          <p:cNvPr id="1786" name="Google Shape;1786;p171"/>
          <p:cNvSpPr/>
          <p:nvPr/>
        </p:nvSpPr>
        <p:spPr>
          <a:xfrm>
            <a:off x="424080" y="9932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1. Designing</a:t>
            </a:r>
            <a:endParaRPr b="0" i="0" sz="900" u="none" cap="none" strike="noStrike">
              <a:latin typeface="Arial"/>
              <a:ea typeface="Arial"/>
              <a:cs typeface="Arial"/>
              <a:sym typeface="Arial"/>
            </a:endParaRPr>
          </a:p>
        </p:txBody>
      </p:sp>
      <p:sp>
        <p:nvSpPr>
          <p:cNvPr id="1787" name="Google Shape;1787;p171"/>
          <p:cNvSpPr/>
          <p:nvPr/>
        </p:nvSpPr>
        <p:spPr>
          <a:xfrm>
            <a:off x="424080" y="166716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2. Learning</a:t>
            </a:r>
            <a:endParaRPr b="0" i="0" sz="900" u="none" cap="none" strike="noStrike">
              <a:latin typeface="Arial"/>
              <a:ea typeface="Arial"/>
              <a:cs typeface="Arial"/>
              <a:sym typeface="Arial"/>
            </a:endParaRPr>
          </a:p>
        </p:txBody>
      </p:sp>
      <p:sp>
        <p:nvSpPr>
          <p:cNvPr id="1788" name="Google Shape;1788;p171"/>
          <p:cNvSpPr/>
          <p:nvPr/>
        </p:nvSpPr>
        <p:spPr>
          <a:xfrm>
            <a:off x="424080" y="229968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3. Loading</a:t>
            </a:r>
            <a:endParaRPr b="0" i="0" sz="900" u="none" cap="none" strike="noStrike">
              <a:latin typeface="Arial"/>
              <a:ea typeface="Arial"/>
              <a:cs typeface="Arial"/>
              <a:sym typeface="Arial"/>
            </a:endParaRPr>
          </a:p>
        </p:txBody>
      </p:sp>
      <p:sp>
        <p:nvSpPr>
          <p:cNvPr id="1789" name="Google Shape;1789;p171"/>
          <p:cNvSpPr/>
          <p:nvPr/>
        </p:nvSpPr>
        <p:spPr>
          <a:xfrm>
            <a:off x="5645520" y="106596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NLQ</a:t>
            </a:r>
            <a:endParaRPr b="0" i="0" sz="800" u="none" cap="none" strike="noStrike">
              <a:latin typeface="Arial"/>
              <a:ea typeface="Arial"/>
              <a:cs typeface="Arial"/>
              <a:sym typeface="Arial"/>
            </a:endParaRPr>
          </a:p>
        </p:txBody>
      </p:sp>
      <p:sp>
        <p:nvSpPr>
          <p:cNvPr id="1790" name="Google Shape;1790;p171"/>
          <p:cNvSpPr/>
          <p:nvPr/>
        </p:nvSpPr>
        <p:spPr>
          <a:xfrm>
            <a:off x="5650200" y="1627200"/>
            <a:ext cx="106956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SPARQL &amp; SHAQL</a:t>
            </a:r>
            <a:endParaRPr b="0" i="0" sz="700" u="none" cap="none" strike="noStrike">
              <a:latin typeface="Arial"/>
              <a:ea typeface="Arial"/>
              <a:cs typeface="Arial"/>
              <a:sym typeface="Arial"/>
            </a:endParaRPr>
          </a:p>
        </p:txBody>
      </p:sp>
      <p:sp>
        <p:nvSpPr>
          <p:cNvPr id="1791" name="Google Shape;1791;p171"/>
          <p:cNvSpPr/>
          <p:nvPr/>
        </p:nvSpPr>
        <p:spPr>
          <a:xfrm>
            <a:off x="497700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92" name="Google Shape;1792;p171"/>
          <p:cNvSpPr/>
          <p:nvPr/>
        </p:nvSpPr>
        <p:spPr>
          <a:xfrm>
            <a:off x="58197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93" name="Google Shape;1793;p171"/>
          <p:cNvSpPr/>
          <p:nvPr/>
        </p:nvSpPr>
        <p:spPr>
          <a:xfrm>
            <a:off x="6662160" y="2196000"/>
            <a:ext cx="750240" cy="173880"/>
          </a:xfrm>
          <a:prstGeom prst="roundRect">
            <a:avLst>
              <a:gd fmla="val 16667"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SQL</a:t>
            </a:r>
            <a:endParaRPr b="0" i="0" sz="800" u="none" cap="none" strike="noStrike">
              <a:latin typeface="Arial"/>
              <a:ea typeface="Arial"/>
              <a:cs typeface="Arial"/>
              <a:sym typeface="Arial"/>
            </a:endParaRPr>
          </a:p>
        </p:txBody>
      </p:sp>
      <p:sp>
        <p:nvSpPr>
          <p:cNvPr id="1794" name="Google Shape;1794;p171"/>
          <p:cNvSpPr/>
          <p:nvPr/>
        </p:nvSpPr>
        <p:spPr>
          <a:xfrm>
            <a:off x="5095080" y="34149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71"/>
          <p:cNvSpPr/>
          <p:nvPr/>
        </p:nvSpPr>
        <p:spPr>
          <a:xfrm>
            <a:off x="5918400" y="3393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71"/>
          <p:cNvSpPr/>
          <p:nvPr/>
        </p:nvSpPr>
        <p:spPr>
          <a:xfrm>
            <a:off x="6780240" y="3384360"/>
            <a:ext cx="514080" cy="234360"/>
          </a:xfrm>
          <a:prstGeom prst="can">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71"/>
          <p:cNvSpPr/>
          <p:nvPr/>
        </p:nvSpPr>
        <p:spPr>
          <a:xfrm>
            <a:off x="2154960" y="1963800"/>
            <a:ext cx="2021040" cy="67932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Persistent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a:t>
            </a:r>
            <a:endParaRPr b="0" i="0" sz="700" u="none" cap="none" strike="noStrike">
              <a:latin typeface="Arial"/>
              <a:ea typeface="Arial"/>
              <a:cs typeface="Arial"/>
              <a:sym typeface="Arial"/>
            </a:endParaRPr>
          </a:p>
        </p:txBody>
      </p:sp>
      <p:sp>
        <p:nvSpPr>
          <p:cNvPr id="1798" name="Google Shape;1798;p171"/>
          <p:cNvSpPr/>
          <p:nvPr/>
        </p:nvSpPr>
        <p:spPr>
          <a:xfrm>
            <a:off x="5739840" y="2681280"/>
            <a:ext cx="890280" cy="150120"/>
          </a:xfrm>
          <a:prstGeom prst="cube">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DVCF</a:t>
            </a:r>
            <a:endParaRPr b="0" i="0" sz="800" u="none" cap="none" strike="noStrike">
              <a:latin typeface="Arial"/>
              <a:ea typeface="Arial"/>
              <a:cs typeface="Arial"/>
              <a:sym typeface="Arial"/>
            </a:endParaRPr>
          </a:p>
        </p:txBody>
      </p:sp>
      <p:sp>
        <p:nvSpPr>
          <p:cNvPr id="1799" name="Google Shape;1799;p171"/>
          <p:cNvSpPr/>
          <p:nvPr/>
        </p:nvSpPr>
        <p:spPr>
          <a:xfrm>
            <a:off x="5090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71"/>
          <p:cNvSpPr/>
          <p:nvPr/>
        </p:nvSpPr>
        <p:spPr>
          <a:xfrm>
            <a:off x="590940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71"/>
          <p:cNvSpPr/>
          <p:nvPr/>
        </p:nvSpPr>
        <p:spPr>
          <a:xfrm>
            <a:off x="6819480" y="3844080"/>
            <a:ext cx="532440" cy="285840"/>
          </a:xfrm>
          <a:prstGeom prst="flowChartMagneticDrum">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71"/>
          <p:cNvSpPr/>
          <p:nvPr/>
        </p:nvSpPr>
        <p:spPr>
          <a:xfrm>
            <a:off x="7584480" y="3915720"/>
            <a:ext cx="75024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Result Sets</a:t>
            </a:r>
            <a:endParaRPr b="0" i="0" sz="700" u="none" cap="none" strike="noStrike">
              <a:latin typeface="Arial"/>
              <a:ea typeface="Arial"/>
              <a:cs typeface="Arial"/>
              <a:sym typeface="Arial"/>
            </a:endParaRPr>
          </a:p>
        </p:txBody>
      </p:sp>
      <p:sp>
        <p:nvSpPr>
          <p:cNvPr id="1803" name="Google Shape;1803;p171"/>
          <p:cNvSpPr/>
          <p:nvPr/>
        </p:nvSpPr>
        <p:spPr>
          <a:xfrm>
            <a:off x="2076120" y="3560760"/>
            <a:ext cx="2197080" cy="917280"/>
          </a:xfrm>
          <a:prstGeom prst="can">
            <a:avLst>
              <a:gd fmla="val 25000" name="adj"/>
            </a:avLst>
          </a:prstGeom>
          <a:solidFill>
            <a:srgbClr val="E8E8E8"/>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RDF Store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E97132"/>
                </a:solidFill>
                <a:latin typeface="Arial"/>
                <a:ea typeface="Arial"/>
                <a:cs typeface="Arial"/>
                <a:sym typeface="Arial"/>
              </a:rPr>
              <a:t>Transient</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(Triple for DDL + Data)</a:t>
            </a:r>
            <a:endParaRPr b="0" i="0" sz="700" u="none" cap="none" strike="noStrike">
              <a:latin typeface="Arial"/>
              <a:ea typeface="Arial"/>
              <a:cs typeface="Arial"/>
              <a:sym typeface="Arial"/>
            </a:endParaRPr>
          </a:p>
        </p:txBody>
      </p:sp>
      <p:sp>
        <p:nvSpPr>
          <p:cNvPr id="1804" name="Google Shape;1804;p171"/>
          <p:cNvSpPr/>
          <p:nvPr/>
        </p:nvSpPr>
        <p:spPr>
          <a:xfrm>
            <a:off x="7552800" y="2685240"/>
            <a:ext cx="813600" cy="1425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Protection</a:t>
            </a:r>
            <a:endParaRPr b="0" i="0" sz="700" u="none" cap="none" strike="noStrike">
              <a:latin typeface="Arial"/>
              <a:ea typeface="Arial"/>
              <a:cs typeface="Arial"/>
              <a:sym typeface="Arial"/>
            </a:endParaRPr>
          </a:p>
        </p:txBody>
      </p:sp>
      <p:sp>
        <p:nvSpPr>
          <p:cNvPr id="1805" name="Google Shape;1805;p171"/>
          <p:cNvSpPr/>
          <p:nvPr/>
        </p:nvSpPr>
        <p:spPr>
          <a:xfrm>
            <a:off x="3165480" y="1466640"/>
            <a:ext cx="360" cy="496800"/>
          </a:xfrm>
          <a:custGeom>
            <a:rect b="b" l="l" r="r" t="t"/>
            <a:pathLst>
              <a:path extrusionOk="0" h="21600" w="21600">
                <a:moveTo>
                  <a:pt x="0" y="0"/>
                </a:moveTo>
                <a:lnTo>
                  <a:pt x="21600" y="21600"/>
                </a:lnTo>
              </a:path>
            </a:pathLst>
          </a:custGeom>
          <a:noFill/>
          <a:ln cap="flat" cmpd="sng" w="28425">
            <a:solidFill>
              <a:srgbClr val="0088CE"/>
            </a:solidFill>
            <a:prstDash val="solid"/>
            <a:round/>
            <a:headEnd len="sm" w="sm" type="none"/>
            <a:tailEnd len="med" w="med" type="triangle"/>
          </a:ln>
        </p:spPr>
      </p:sp>
      <p:sp>
        <p:nvSpPr>
          <p:cNvPr id="1806" name="Google Shape;1806;p171"/>
          <p:cNvSpPr/>
          <p:nvPr/>
        </p:nvSpPr>
        <p:spPr>
          <a:xfrm>
            <a:off x="1668600" y="1543320"/>
            <a:ext cx="1272240" cy="394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Ontology Level Mapping </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Onto Classes 2 RDB Classes</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0F9ED5"/>
                </a:solidFill>
                <a:latin typeface="Arial"/>
                <a:ea typeface="Arial"/>
                <a:cs typeface="Arial"/>
                <a:sym typeface="Arial"/>
              </a:rPr>
              <a:t>Top Down 2 Bottom Up</a:t>
            </a:r>
            <a:endParaRPr b="0" i="0" sz="600" u="none" cap="none" strike="noStrike">
              <a:latin typeface="Arial"/>
              <a:ea typeface="Arial"/>
              <a:cs typeface="Arial"/>
              <a:sym typeface="Arial"/>
            </a:endParaRPr>
          </a:p>
        </p:txBody>
      </p:sp>
      <p:sp>
        <p:nvSpPr>
          <p:cNvPr id="1807" name="Google Shape;1807;p171"/>
          <p:cNvSpPr/>
          <p:nvPr/>
        </p:nvSpPr>
        <p:spPr>
          <a:xfrm>
            <a:off x="626400" y="2963160"/>
            <a:ext cx="2338560" cy="3621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Auto Generate R2RML Script</a:t>
            </a:r>
            <a:endParaRPr b="0" i="0" sz="6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600" u="none" cap="none" strike="noStrike">
                <a:solidFill>
                  <a:srgbClr val="E97132"/>
                </a:solidFill>
                <a:latin typeface="Arial"/>
                <a:ea typeface="Arial"/>
                <a:cs typeface="Arial"/>
                <a:sym typeface="Arial"/>
              </a:rPr>
              <a:t>Mapping RDB Class IRIs to RDB SchemaX + Data IRIs</a:t>
            </a:r>
            <a:endParaRPr b="0" i="0" sz="600" u="none" cap="none" strike="noStrike">
              <a:latin typeface="Arial"/>
              <a:ea typeface="Arial"/>
              <a:cs typeface="Arial"/>
              <a:sym typeface="Arial"/>
            </a:endParaRPr>
          </a:p>
        </p:txBody>
      </p:sp>
      <p:sp>
        <p:nvSpPr>
          <p:cNvPr id="1808" name="Google Shape;1808;p171"/>
          <p:cNvSpPr/>
          <p:nvPr/>
        </p:nvSpPr>
        <p:spPr>
          <a:xfrm rot="10800000">
            <a:off x="3165840" y="2643840"/>
            <a:ext cx="9000" cy="916920"/>
          </a:xfrm>
          <a:custGeom>
            <a:rect b="b" l="l" r="r" t="t"/>
            <a:pathLst>
              <a:path extrusionOk="0" h="21600" w="21600">
                <a:moveTo>
                  <a:pt x="0" y="0"/>
                </a:moveTo>
                <a:lnTo>
                  <a:pt x="21600" y="21600"/>
                </a:lnTo>
              </a:path>
            </a:pathLst>
          </a:custGeom>
          <a:noFill/>
          <a:ln cap="flat" cmpd="sng" w="28425">
            <a:solidFill>
              <a:srgbClr val="E97132"/>
            </a:solidFill>
            <a:prstDash val="solid"/>
            <a:round/>
            <a:headEnd len="sm" w="sm" type="none"/>
            <a:tailEnd len="med" w="med" type="triangle"/>
          </a:ln>
        </p:spPr>
      </p:sp>
      <p:sp>
        <p:nvSpPr>
          <p:cNvPr id="1809" name="Google Shape;1809;p171"/>
          <p:cNvSpPr/>
          <p:nvPr/>
        </p:nvSpPr>
        <p:spPr>
          <a:xfrm>
            <a:off x="6180480" y="1240200"/>
            <a:ext cx="4320" cy="3870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0" name="Google Shape;1810;p171"/>
          <p:cNvSpPr/>
          <p:nvPr/>
        </p:nvSpPr>
        <p:spPr>
          <a:xfrm>
            <a:off x="6185160" y="1801440"/>
            <a:ext cx="8521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1" name="Google Shape;1811;p171"/>
          <p:cNvSpPr/>
          <p:nvPr/>
        </p:nvSpPr>
        <p:spPr>
          <a:xfrm>
            <a:off x="6185160" y="1801440"/>
            <a:ext cx="97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2" name="Google Shape;1812;p171"/>
          <p:cNvSpPr/>
          <p:nvPr/>
        </p:nvSpPr>
        <p:spPr>
          <a:xfrm flipH="1">
            <a:off x="5352120" y="1801440"/>
            <a:ext cx="832320" cy="39420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3" name="Google Shape;1813;p171"/>
          <p:cNvSpPr/>
          <p:nvPr/>
        </p:nvSpPr>
        <p:spPr>
          <a:xfrm>
            <a:off x="5352480" y="2370600"/>
            <a:ext cx="8510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4" name="Google Shape;1814;p171"/>
          <p:cNvSpPr/>
          <p:nvPr/>
        </p:nvSpPr>
        <p:spPr>
          <a:xfrm>
            <a:off x="6194880" y="2370600"/>
            <a:ext cx="864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5" name="Google Shape;1815;p171"/>
          <p:cNvSpPr/>
          <p:nvPr/>
        </p:nvSpPr>
        <p:spPr>
          <a:xfrm flipH="1">
            <a:off x="6202440" y="2370600"/>
            <a:ext cx="833400" cy="3103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6" name="Google Shape;1816;p171"/>
          <p:cNvSpPr/>
          <p:nvPr/>
        </p:nvSpPr>
        <p:spPr>
          <a:xfrm>
            <a:off x="535212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7" name="Google Shape;1817;p171"/>
          <p:cNvSpPr/>
          <p:nvPr/>
        </p:nvSpPr>
        <p:spPr>
          <a:xfrm>
            <a:off x="6183000" y="364968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8" name="Google Shape;1818;p171"/>
          <p:cNvSpPr/>
          <p:nvPr/>
        </p:nvSpPr>
        <p:spPr>
          <a:xfrm>
            <a:off x="7083720" y="3634200"/>
            <a:ext cx="4320" cy="1940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19" name="Google Shape;1819;p171"/>
          <p:cNvSpPr/>
          <p:nvPr/>
        </p:nvSpPr>
        <p:spPr>
          <a:xfrm flipH="1">
            <a:off x="5352480" y="2831760"/>
            <a:ext cx="813600" cy="5828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20" name="Google Shape;1820;p171"/>
          <p:cNvSpPr/>
          <p:nvPr/>
        </p:nvSpPr>
        <p:spPr>
          <a:xfrm>
            <a:off x="6166440" y="2831760"/>
            <a:ext cx="9000" cy="561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21" name="Google Shape;1821;p171"/>
          <p:cNvSpPr/>
          <p:nvPr/>
        </p:nvSpPr>
        <p:spPr>
          <a:xfrm>
            <a:off x="6166440" y="2831760"/>
            <a:ext cx="870840" cy="5522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1822" name="Google Shape;1822;p171"/>
          <p:cNvSpPr/>
          <p:nvPr/>
        </p:nvSpPr>
        <p:spPr>
          <a:xfrm>
            <a:off x="5426640" y="3010320"/>
            <a:ext cx="1497600" cy="204120"/>
          </a:xfrm>
          <a:prstGeom prst="cube">
            <a:avLst>
              <a:gd fmla="val 25000" name="adj"/>
            </a:avLst>
          </a:prstGeom>
          <a:solidFill>
            <a:srgbClr val="93C47D"/>
          </a:solidFill>
          <a:ln cap="flat" cmpd="sng" w="9525">
            <a:solidFill>
              <a:srgbClr val="0E284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0000"/>
                </a:solidFill>
                <a:latin typeface="Arial"/>
                <a:ea typeface="Arial"/>
                <a:cs typeface="Arial"/>
                <a:sym typeface="Arial"/>
              </a:rPr>
              <a:t>GCP BQ</a:t>
            </a:r>
            <a:endParaRPr b="0" i="0" sz="800" u="none" cap="none" strike="noStrike">
              <a:latin typeface="Arial"/>
              <a:ea typeface="Arial"/>
              <a:cs typeface="Arial"/>
              <a:sym typeface="Arial"/>
            </a:endParaRPr>
          </a:p>
        </p:txBody>
      </p:sp>
      <p:sp>
        <p:nvSpPr>
          <p:cNvPr id="1823" name="Google Shape;1823;p171"/>
          <p:cNvSpPr/>
          <p:nvPr/>
        </p:nvSpPr>
        <p:spPr>
          <a:xfrm>
            <a:off x="424080" y="3920040"/>
            <a:ext cx="853920" cy="245520"/>
          </a:xfrm>
          <a:prstGeom prst="rect">
            <a:avLst/>
          </a:prstGeom>
          <a:solidFill>
            <a:srgbClr val="FFF2CC"/>
          </a:solidFill>
          <a:ln>
            <a:noFill/>
          </a:ln>
        </p:spPr>
        <p:txBody>
          <a:bodyPr anchorCtr="0" anchor="t" bIns="68400" lIns="68400" spcFirstLastPara="1" rIns="68400" wrap="square" tIns="68400">
            <a:noAutofit/>
          </a:bodyPr>
          <a:lstStyle/>
          <a:p>
            <a:pPr indent="0" lvl="0" marL="0" marR="0" rtl="0" algn="ctr">
              <a:lnSpc>
                <a:spcPct val="100000"/>
              </a:lnSpc>
              <a:spcBef>
                <a:spcPts val="0"/>
              </a:spcBef>
              <a:spcAft>
                <a:spcPts val="0"/>
              </a:spcAft>
              <a:buNone/>
            </a:pPr>
            <a:r>
              <a:rPr b="1" i="0" lang="en-US" sz="900" u="none" cap="none" strike="noStrike">
                <a:solidFill>
                  <a:srgbClr val="000000"/>
                </a:solidFill>
                <a:latin typeface="Arial"/>
                <a:ea typeface="Arial"/>
                <a:cs typeface="Arial"/>
                <a:sym typeface="Arial"/>
              </a:rPr>
              <a:t>4. Staging</a:t>
            </a:r>
            <a:endParaRPr b="0" i="0" sz="900" u="none" cap="none" strike="noStrike">
              <a:latin typeface="Arial"/>
              <a:ea typeface="Arial"/>
              <a:cs typeface="Arial"/>
              <a:sym typeface="Arial"/>
            </a:endParaRPr>
          </a:p>
        </p:txBody>
      </p:sp>
      <p:sp>
        <p:nvSpPr>
          <p:cNvPr id="1824" name="Google Shape;1824;p171"/>
          <p:cNvSpPr/>
          <p:nvPr/>
        </p:nvSpPr>
        <p:spPr>
          <a:xfrm>
            <a:off x="4446000" y="3904920"/>
            <a:ext cx="306720" cy="150120"/>
          </a:xfrm>
          <a:prstGeom prst="leftArrow">
            <a:avLst>
              <a:gd fmla="val 50000" name="adj1"/>
              <a:gd fmla="val 50000" name="adj2"/>
            </a:avLst>
          </a:prstGeom>
          <a:solidFill>
            <a:srgbClr val="ED700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25" name="Google Shape;1825;p171"/>
          <p:cNvPicPr preferRelativeResize="0"/>
          <p:nvPr/>
        </p:nvPicPr>
        <p:blipFill rotWithShape="1">
          <a:blip r:embed="rId4">
            <a:alphaModFix/>
          </a:blip>
          <a:srcRect b="0" l="0" r="0" t="0"/>
          <a:stretch/>
        </p:blipFill>
        <p:spPr>
          <a:xfrm>
            <a:off x="1861920" y="521640"/>
            <a:ext cx="2606760" cy="995040"/>
          </a:xfrm>
          <a:prstGeom prst="rect">
            <a:avLst/>
          </a:prstGeom>
          <a:noFill/>
          <a:ln>
            <a:noFill/>
          </a:ln>
        </p:spPr>
      </p:pic>
      <p:cxnSp>
        <p:nvCxnSpPr>
          <p:cNvPr id="1826" name="Google Shape;1826;p171"/>
          <p:cNvCxnSpPr/>
          <p:nvPr/>
        </p:nvCxnSpPr>
        <p:spPr>
          <a:xfrm rot="10800000">
            <a:off x="4176840" y="2304120"/>
            <a:ext cx="1249800" cy="834000"/>
          </a:xfrm>
          <a:prstGeom prst="bentConnector3">
            <a:avLst>
              <a:gd fmla="val 50011" name="adj1"/>
            </a:avLst>
          </a:prstGeom>
          <a:noFill/>
          <a:ln cap="flat" cmpd="sng" w="28425">
            <a:solidFill>
              <a:srgbClr val="0088CE"/>
            </a:solidFill>
            <a:prstDash val="solid"/>
            <a:round/>
            <a:headEnd len="sm" w="sm" type="none"/>
            <a:tailEnd len="med" w="med" type="triangle"/>
          </a:ln>
        </p:spPr>
      </p:cxnSp>
      <p:sp>
        <p:nvSpPr>
          <p:cNvPr id="1827" name="Google Shape;1827;p171"/>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sp>
        <p:nvSpPr>
          <p:cNvPr id="1828" name="Google Shape;1828;p171"/>
          <p:cNvSpPr/>
          <p:nvPr/>
        </p:nvSpPr>
        <p:spPr>
          <a:xfrm>
            <a:off x="4397400" y="2718000"/>
            <a:ext cx="419760" cy="289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88CE"/>
                </a:solidFill>
                <a:latin typeface="Arial"/>
                <a:ea typeface="Arial"/>
                <a:cs typeface="Arial"/>
                <a:sym typeface="Arial"/>
              </a:rPr>
              <a:t>DDLs</a:t>
            </a:r>
            <a:endParaRPr b="0" i="0" sz="700" u="none" cap="none" strike="noStrike">
              <a:latin typeface="Arial"/>
              <a:ea typeface="Arial"/>
              <a:cs typeface="Arial"/>
              <a:sym typeface="Arial"/>
            </a:endParaRPr>
          </a:p>
        </p:txBody>
      </p:sp>
      <p:sp>
        <p:nvSpPr>
          <p:cNvPr id="1829" name="Google Shape;1829;p171"/>
          <p:cNvSpPr/>
          <p:nvPr/>
        </p:nvSpPr>
        <p:spPr>
          <a:xfrm>
            <a:off x="7552800" y="15206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Focus</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Filtering</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Relevancy</a:t>
            </a:r>
            <a:endParaRPr b="0" i="0" sz="700" u="none" cap="none" strike="noStrike">
              <a:latin typeface="Arial"/>
              <a:ea typeface="Arial"/>
              <a:cs typeface="Arial"/>
              <a:sym typeface="Arial"/>
            </a:endParaRPr>
          </a:p>
        </p:txBody>
      </p:sp>
      <p:pic>
        <p:nvPicPr>
          <p:cNvPr id="1830" name="Google Shape;1830;p171"/>
          <p:cNvPicPr preferRelativeResize="0"/>
          <p:nvPr/>
        </p:nvPicPr>
        <p:blipFill rotWithShape="1">
          <a:blip r:embed="rId5">
            <a:alphaModFix/>
          </a:blip>
          <a:srcRect b="0" l="0" r="0" t="0"/>
          <a:stretch/>
        </p:blipFill>
        <p:spPr>
          <a:xfrm>
            <a:off x="5918400" y="567360"/>
            <a:ext cx="419760" cy="419760"/>
          </a:xfrm>
          <a:prstGeom prst="rect">
            <a:avLst/>
          </a:prstGeom>
          <a:noFill/>
          <a:ln>
            <a:noFill/>
          </a:ln>
        </p:spPr>
      </p:pic>
      <p:sp>
        <p:nvSpPr>
          <p:cNvPr id="1831" name="Google Shape;1831;p171"/>
          <p:cNvSpPr/>
          <p:nvPr/>
        </p:nvSpPr>
        <p:spPr>
          <a:xfrm>
            <a:off x="7552800" y="852840"/>
            <a:ext cx="813600" cy="387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Intuitive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Consumable</a:t>
            </a:r>
            <a:endParaRPr b="0" i="0" sz="7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1" i="0" lang="en-US" sz="700" u="none" cap="none" strike="noStrike">
                <a:solidFill>
                  <a:srgbClr val="000000"/>
                </a:solidFill>
                <a:latin typeface="Arial"/>
                <a:ea typeface="Arial"/>
                <a:cs typeface="Arial"/>
                <a:sym typeface="Arial"/>
              </a:rPr>
              <a:t>Relevant</a:t>
            </a:r>
            <a:endParaRPr b="0" i="0" sz="700" u="none" cap="none" strike="noStrike">
              <a:latin typeface="Arial"/>
              <a:ea typeface="Arial"/>
              <a:cs typeface="Arial"/>
              <a:sym typeface="Arial"/>
            </a:endParaRPr>
          </a:p>
        </p:txBody>
      </p:sp>
      <p:sp>
        <p:nvSpPr>
          <p:cNvPr id="1832" name="Google Shape;1832;p171"/>
          <p:cNvSpPr/>
          <p:nvPr/>
        </p:nvSpPr>
        <p:spPr>
          <a:xfrm>
            <a:off x="4665240" y="1173600"/>
            <a:ext cx="775080" cy="6840"/>
          </a:xfrm>
          <a:custGeom>
            <a:rect b="b" l="l" r="r" t="t"/>
            <a:pathLst>
              <a:path extrusionOk="0" h="21600" w="21600">
                <a:moveTo>
                  <a:pt x="0" y="0"/>
                </a:moveTo>
                <a:lnTo>
                  <a:pt x="21600" y="21600"/>
                </a:lnTo>
              </a:path>
            </a:pathLst>
          </a:custGeom>
          <a:noFill/>
          <a:ln cap="flat" cmpd="sng" w="28425">
            <a:solidFill>
              <a:srgbClr val="0088CE"/>
            </a:solidFill>
            <a:prstDash val="solid"/>
            <a:round/>
            <a:headEnd len="med" w="med" type="triangle"/>
            <a:tailEnd len="med" w="med" type="triangle"/>
          </a:ln>
        </p:spPr>
      </p:sp>
      <p:sp>
        <p:nvSpPr>
          <p:cNvPr id="1833" name="Google Shape;1833;p171"/>
          <p:cNvSpPr/>
          <p:nvPr/>
        </p:nvSpPr>
        <p:spPr>
          <a:xfrm>
            <a:off x="8335080" y="864000"/>
            <a:ext cx="532440" cy="31032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800" u="sng" cap="none" strike="noStrike">
                <a:solidFill>
                  <a:schemeClr val="hlink"/>
                </a:solidFill>
                <a:latin typeface="Arial"/>
                <a:ea typeface="Arial"/>
                <a:cs typeface="Arial"/>
                <a:sym typeface="Arial"/>
                <a:hlinkClick r:id="rId6"/>
              </a:rPr>
              <a:t>UPM</a:t>
            </a:r>
            <a:endParaRPr b="0" i="0" sz="1800" u="none" cap="none" strike="noStrike">
              <a:latin typeface="Arial"/>
              <a:ea typeface="Arial"/>
              <a:cs typeface="Arial"/>
              <a:sym typeface="Arial"/>
            </a:endParaRPr>
          </a:p>
        </p:txBody>
      </p:sp>
      <p:grpSp>
        <p:nvGrpSpPr>
          <p:cNvPr id="1834" name="Google Shape;1834;p171"/>
          <p:cNvGrpSpPr/>
          <p:nvPr/>
        </p:nvGrpSpPr>
        <p:grpSpPr>
          <a:xfrm>
            <a:off x="8546760" y="0"/>
            <a:ext cx="594000" cy="679680"/>
            <a:chOff x="8546760" y="0"/>
            <a:chExt cx="594000" cy="679680"/>
          </a:xfrm>
        </p:grpSpPr>
        <p:sp>
          <p:nvSpPr>
            <p:cNvPr id="1835" name="Google Shape;1835;p171"/>
            <p:cNvSpPr/>
            <p:nvPr/>
          </p:nvSpPr>
          <p:spPr>
            <a:xfrm>
              <a:off x="8546760" y="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6" name="Google Shape;1836;p171"/>
            <p:cNvGrpSpPr/>
            <p:nvPr/>
          </p:nvGrpSpPr>
          <p:grpSpPr>
            <a:xfrm>
              <a:off x="8585280" y="0"/>
              <a:ext cx="555480" cy="679680"/>
              <a:chOff x="8585280" y="0"/>
              <a:chExt cx="555480" cy="679680"/>
            </a:xfrm>
          </p:grpSpPr>
          <p:pic>
            <p:nvPicPr>
              <p:cNvPr id="1837" name="Google Shape;1837;p171"/>
              <p:cNvPicPr preferRelativeResize="0"/>
              <p:nvPr/>
            </p:nvPicPr>
            <p:blipFill rotWithShape="1">
              <a:blip r:embed="rId7">
                <a:alphaModFix/>
              </a:blip>
              <a:srcRect b="0" l="20669" r="9844" t="0"/>
              <a:stretch/>
            </p:blipFill>
            <p:spPr>
              <a:xfrm>
                <a:off x="8585280" y="0"/>
                <a:ext cx="530640" cy="530640"/>
              </a:xfrm>
              <a:prstGeom prst="rect">
                <a:avLst/>
              </a:prstGeom>
              <a:noFill/>
              <a:ln>
                <a:noFill/>
              </a:ln>
            </p:spPr>
          </p:pic>
          <p:sp>
            <p:nvSpPr>
              <p:cNvPr id="1838" name="Google Shape;1838;p171"/>
              <p:cNvSpPr/>
              <p:nvPr/>
            </p:nvSpPr>
            <p:spPr>
              <a:xfrm>
                <a:off x="8585280" y="49356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2" name="Shape 1842"/>
        <p:cNvGrpSpPr/>
        <p:nvPr/>
      </p:nvGrpSpPr>
      <p:grpSpPr>
        <a:xfrm>
          <a:off x="0" y="0"/>
          <a:ext cx="0" cy="0"/>
          <a:chOff x="0" y="0"/>
          <a:chExt cx="0" cy="0"/>
        </a:xfrm>
      </p:grpSpPr>
      <p:sp>
        <p:nvSpPr>
          <p:cNvPr id="1843" name="Google Shape;1843;p172"/>
          <p:cNvSpPr txBox="1"/>
          <p:nvPr/>
        </p:nvSpPr>
        <p:spPr>
          <a:xfrm>
            <a:off x="762126" y="110875"/>
            <a:ext cx="69171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(Business Taxonomy Framework)</a:t>
            </a:r>
            <a:endParaRPr b="0" i="0" sz="2000" u="none" cap="none" strike="noStrike">
              <a:solidFill>
                <a:srgbClr val="000000"/>
              </a:solidFill>
              <a:latin typeface="Arial"/>
              <a:ea typeface="Arial"/>
              <a:cs typeface="Arial"/>
              <a:sym typeface="Arial"/>
            </a:endParaRPr>
          </a:p>
        </p:txBody>
      </p:sp>
      <p:sp>
        <p:nvSpPr>
          <p:cNvPr id="1844" name="Google Shape;1844;p172"/>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1845" name="Google Shape;1845;p172"/>
          <p:cNvGrpSpPr/>
          <p:nvPr/>
        </p:nvGrpSpPr>
        <p:grpSpPr>
          <a:xfrm>
            <a:off x="8546760" y="-9360"/>
            <a:ext cx="594000" cy="679680"/>
            <a:chOff x="8546760" y="-9360"/>
            <a:chExt cx="594000" cy="679680"/>
          </a:xfrm>
        </p:grpSpPr>
        <p:sp>
          <p:nvSpPr>
            <p:cNvPr id="1846" name="Google Shape;1846;p172"/>
            <p:cNvSpPr/>
            <p:nvPr/>
          </p:nvSpPr>
          <p:spPr>
            <a:xfrm>
              <a:off x="8546760" y="-936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7" name="Google Shape;1847;p172"/>
            <p:cNvGrpSpPr/>
            <p:nvPr/>
          </p:nvGrpSpPr>
          <p:grpSpPr>
            <a:xfrm>
              <a:off x="8585280" y="-9000"/>
              <a:ext cx="555480" cy="679320"/>
              <a:chOff x="8585280" y="-9000"/>
              <a:chExt cx="555480" cy="679320"/>
            </a:xfrm>
          </p:grpSpPr>
          <p:pic>
            <p:nvPicPr>
              <p:cNvPr id="1848" name="Google Shape;1848;p172"/>
              <p:cNvPicPr preferRelativeResize="0"/>
              <p:nvPr/>
            </p:nvPicPr>
            <p:blipFill rotWithShape="1">
              <a:blip r:embed="rId3">
                <a:alphaModFix/>
              </a:blip>
              <a:srcRect b="0" l="20669" r="9844" t="0"/>
              <a:stretch/>
            </p:blipFill>
            <p:spPr>
              <a:xfrm>
                <a:off x="8585280" y="-9000"/>
                <a:ext cx="530640" cy="530640"/>
              </a:xfrm>
              <a:prstGeom prst="rect">
                <a:avLst/>
              </a:prstGeom>
              <a:noFill/>
              <a:ln>
                <a:noFill/>
              </a:ln>
            </p:spPr>
          </p:pic>
          <p:sp>
            <p:nvSpPr>
              <p:cNvPr id="1849" name="Google Shape;1849;p172"/>
              <p:cNvSpPr/>
              <p:nvPr/>
            </p:nvSpPr>
            <p:spPr>
              <a:xfrm>
                <a:off x="8585280" y="48420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
        <p:nvSpPr>
          <p:cNvPr id="1850" name="Google Shape;1850;p172"/>
          <p:cNvSpPr/>
          <p:nvPr/>
        </p:nvSpPr>
        <p:spPr>
          <a:xfrm>
            <a:off x="342720" y="646560"/>
            <a:ext cx="1336320" cy="501120"/>
          </a:xfrm>
          <a:prstGeom prst="rect">
            <a:avLst/>
          </a:prstGeom>
          <a:solidFill>
            <a:srgbClr val="EEEEE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200" u="none" cap="none" strike="noStrike">
                <a:solidFill>
                  <a:srgbClr val="595959"/>
                </a:solidFill>
                <a:latin typeface="Arial"/>
                <a:ea typeface="Arial"/>
                <a:cs typeface="Arial"/>
                <a:sym typeface="Arial"/>
              </a:rPr>
              <a:t>Data Domain Taxonomy</a:t>
            </a:r>
            <a:endParaRPr b="0" i="0" sz="1200" u="none" cap="none" strike="noStrike">
              <a:latin typeface="Arial"/>
              <a:ea typeface="Arial"/>
              <a:cs typeface="Arial"/>
              <a:sym typeface="Arial"/>
            </a:endParaRPr>
          </a:p>
        </p:txBody>
      </p:sp>
      <p:sp>
        <p:nvSpPr>
          <p:cNvPr id="1851" name="Google Shape;1851;p172"/>
          <p:cNvSpPr/>
          <p:nvPr/>
        </p:nvSpPr>
        <p:spPr>
          <a:xfrm>
            <a:off x="5217480" y="697680"/>
            <a:ext cx="1200240" cy="399240"/>
          </a:xfrm>
          <a:prstGeom prst="rect">
            <a:avLst/>
          </a:prstGeom>
          <a:solidFill>
            <a:srgbClr val="747676"/>
          </a:solidFill>
          <a:ln cap="flat" cmpd="sng" w="1907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Business Taxonomy</a:t>
            </a:r>
            <a:endParaRPr b="0" i="0" sz="1200" u="none" cap="none" strike="noStrike">
              <a:latin typeface="Arial"/>
              <a:ea typeface="Arial"/>
              <a:cs typeface="Arial"/>
              <a:sym typeface="Arial"/>
            </a:endParaRPr>
          </a:p>
        </p:txBody>
      </p:sp>
      <p:sp>
        <p:nvSpPr>
          <p:cNvPr id="1852" name="Google Shape;1852;p172"/>
          <p:cNvSpPr/>
          <p:nvPr/>
        </p:nvSpPr>
        <p:spPr>
          <a:xfrm>
            <a:off x="1679040" y="897480"/>
            <a:ext cx="3538080" cy="360"/>
          </a:xfrm>
          <a:custGeom>
            <a:rect b="b" l="l" r="r" t="t"/>
            <a:pathLst>
              <a:path extrusionOk="0" h="21600" w="21600">
                <a:moveTo>
                  <a:pt x="0" y="0"/>
                </a:moveTo>
                <a:lnTo>
                  <a:pt x="21600" y="21600"/>
                </a:lnTo>
              </a:path>
            </a:pathLst>
          </a:custGeom>
          <a:noFill/>
          <a:ln cap="flat" cmpd="sng" w="9525">
            <a:solidFill>
              <a:srgbClr val="595959"/>
            </a:solidFill>
            <a:prstDash val="solid"/>
            <a:round/>
            <a:headEnd len="med" w="med" type="triangle"/>
            <a:tailEnd len="sm" w="sm" type="none"/>
          </a:ln>
        </p:spPr>
      </p:sp>
      <p:sp>
        <p:nvSpPr>
          <p:cNvPr id="1853" name="Google Shape;1853;p172"/>
          <p:cNvSpPr/>
          <p:nvPr/>
        </p:nvSpPr>
        <p:spPr>
          <a:xfrm>
            <a:off x="4147920" y="1775880"/>
            <a:ext cx="1000080" cy="401400"/>
          </a:xfrm>
          <a:prstGeom prst="rect">
            <a:avLst/>
          </a:prstGeom>
          <a:solidFill>
            <a:srgbClr val="FFBC3D"/>
          </a:solidFill>
          <a:ln cap="flat" cmpd="sng" w="19075">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Process</a:t>
            </a:r>
            <a:endParaRPr b="0" i="0" sz="1300" u="none" cap="none" strike="noStrike">
              <a:latin typeface="Arial"/>
              <a:ea typeface="Arial"/>
              <a:cs typeface="Arial"/>
              <a:sym typeface="Arial"/>
            </a:endParaRPr>
          </a:p>
        </p:txBody>
      </p:sp>
      <p:sp>
        <p:nvSpPr>
          <p:cNvPr id="1854" name="Google Shape;1854;p172"/>
          <p:cNvSpPr/>
          <p:nvPr/>
        </p:nvSpPr>
        <p:spPr>
          <a:xfrm>
            <a:off x="1300320" y="24310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Metrics</a:t>
            </a:r>
            <a:endParaRPr b="0" i="0" sz="1300" u="none" cap="none" strike="noStrike">
              <a:latin typeface="Arial"/>
              <a:ea typeface="Arial"/>
              <a:cs typeface="Arial"/>
              <a:sym typeface="Arial"/>
            </a:endParaRPr>
          </a:p>
        </p:txBody>
      </p:sp>
      <p:sp>
        <p:nvSpPr>
          <p:cNvPr id="1855" name="Google Shape;1855;p172"/>
          <p:cNvSpPr/>
          <p:nvPr/>
        </p:nvSpPr>
        <p:spPr>
          <a:xfrm>
            <a:off x="2908440" y="24271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Assets</a:t>
            </a:r>
            <a:endParaRPr b="0" i="0" sz="1300" u="none" cap="none" strike="noStrike">
              <a:latin typeface="Arial"/>
              <a:ea typeface="Arial"/>
              <a:cs typeface="Arial"/>
              <a:sym typeface="Arial"/>
            </a:endParaRPr>
          </a:p>
        </p:txBody>
      </p:sp>
      <p:sp>
        <p:nvSpPr>
          <p:cNvPr id="1856" name="Google Shape;1856;p172"/>
          <p:cNvSpPr/>
          <p:nvPr/>
        </p:nvSpPr>
        <p:spPr>
          <a:xfrm>
            <a:off x="3775680" y="39808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Domains</a:t>
            </a:r>
            <a:endParaRPr b="0" i="0" sz="1300" u="none" cap="none" strike="noStrike">
              <a:latin typeface="Arial"/>
              <a:ea typeface="Arial"/>
              <a:cs typeface="Arial"/>
              <a:sym typeface="Arial"/>
            </a:endParaRPr>
          </a:p>
        </p:txBody>
      </p:sp>
      <p:sp>
        <p:nvSpPr>
          <p:cNvPr id="1857" name="Google Shape;1857;p172"/>
          <p:cNvSpPr/>
          <p:nvPr/>
        </p:nvSpPr>
        <p:spPr>
          <a:xfrm>
            <a:off x="3480840" y="33343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Assets</a:t>
            </a:r>
            <a:endParaRPr b="0" i="0" sz="1300" u="none" cap="none" strike="noStrike">
              <a:latin typeface="Arial"/>
              <a:ea typeface="Arial"/>
              <a:cs typeface="Arial"/>
              <a:sym typeface="Arial"/>
            </a:endParaRPr>
          </a:p>
        </p:txBody>
      </p:sp>
      <p:cxnSp>
        <p:nvCxnSpPr>
          <p:cNvPr id="1858" name="Google Shape;1858;p172"/>
          <p:cNvCxnSpPr>
            <a:endCxn id="1855" idx="0"/>
          </p:cNvCxnSpPr>
          <p:nvPr/>
        </p:nvCxnSpPr>
        <p:spPr>
          <a:xfrm flipH="1">
            <a:off x="3408480" y="1976820"/>
            <a:ext cx="739200" cy="450300"/>
          </a:xfrm>
          <a:prstGeom prst="curvedConnector2">
            <a:avLst/>
          </a:prstGeom>
          <a:noFill/>
          <a:ln cap="flat" cmpd="sng" w="19075">
            <a:solidFill>
              <a:srgbClr val="EE0000"/>
            </a:solidFill>
            <a:prstDash val="solid"/>
            <a:round/>
            <a:headEnd len="sm" w="sm" type="none"/>
            <a:tailEnd len="sm" w="sm" type="none"/>
          </a:ln>
        </p:spPr>
      </p:cxnSp>
      <p:cxnSp>
        <p:nvCxnSpPr>
          <p:cNvPr id="1859" name="Google Shape;1859;p172"/>
          <p:cNvCxnSpPr>
            <a:stCxn id="1857" idx="2"/>
            <a:endCxn id="1856" idx="0"/>
          </p:cNvCxnSpPr>
          <p:nvPr/>
        </p:nvCxnSpPr>
        <p:spPr>
          <a:xfrm flipH="1" rot="-5400000">
            <a:off x="4005780" y="3710820"/>
            <a:ext cx="245100" cy="294900"/>
          </a:xfrm>
          <a:prstGeom prst="curvedConnector3">
            <a:avLst>
              <a:gd fmla="val 50012" name="adj1"/>
            </a:avLst>
          </a:prstGeom>
          <a:noFill/>
          <a:ln cap="flat" cmpd="sng" w="19075">
            <a:solidFill>
              <a:srgbClr val="0088CE"/>
            </a:solidFill>
            <a:prstDash val="solid"/>
            <a:round/>
            <a:headEnd len="sm" w="sm" type="none"/>
            <a:tailEnd len="med" w="med" type="triangle"/>
          </a:ln>
        </p:spPr>
      </p:cxnSp>
      <p:cxnSp>
        <p:nvCxnSpPr>
          <p:cNvPr id="1860" name="Google Shape;1860;p172"/>
          <p:cNvCxnSpPr>
            <a:stCxn id="1855" idx="2"/>
            <a:endCxn id="1857" idx="0"/>
          </p:cNvCxnSpPr>
          <p:nvPr/>
        </p:nvCxnSpPr>
        <p:spPr>
          <a:xfrm flipH="1" rot="-5400000">
            <a:off x="3441780" y="2795220"/>
            <a:ext cx="505800" cy="572400"/>
          </a:xfrm>
          <a:prstGeom prst="curvedConnector3">
            <a:avLst>
              <a:gd fmla="val 50000" name="adj1"/>
            </a:avLst>
          </a:prstGeom>
          <a:noFill/>
          <a:ln cap="flat" cmpd="sng" w="19075">
            <a:solidFill>
              <a:srgbClr val="0088CE"/>
            </a:solidFill>
            <a:prstDash val="solid"/>
            <a:round/>
            <a:headEnd len="sm" w="sm" type="none"/>
            <a:tailEnd len="sm" w="sm" type="none"/>
          </a:ln>
        </p:spPr>
      </p:cxnSp>
      <p:sp>
        <p:nvSpPr>
          <p:cNvPr id="1861" name="Google Shape;1861;p172"/>
          <p:cNvSpPr/>
          <p:nvPr/>
        </p:nvSpPr>
        <p:spPr>
          <a:xfrm>
            <a:off x="1679040" y="312120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AI Models</a:t>
            </a:r>
            <a:endParaRPr b="0" i="0" sz="1300" u="none" cap="none" strike="noStrike">
              <a:latin typeface="Arial"/>
              <a:ea typeface="Arial"/>
              <a:cs typeface="Arial"/>
              <a:sym typeface="Arial"/>
            </a:endParaRPr>
          </a:p>
        </p:txBody>
      </p:sp>
      <p:cxnSp>
        <p:nvCxnSpPr>
          <p:cNvPr id="1862" name="Google Shape;1862;p172"/>
          <p:cNvCxnSpPr>
            <a:stCxn id="1855" idx="2"/>
            <a:endCxn id="1861" idx="3"/>
          </p:cNvCxnSpPr>
          <p:nvPr/>
        </p:nvCxnSpPr>
        <p:spPr>
          <a:xfrm rot="5400000">
            <a:off x="2797080" y="2710620"/>
            <a:ext cx="493500" cy="729300"/>
          </a:xfrm>
          <a:prstGeom prst="curvedConnector2">
            <a:avLst/>
          </a:prstGeom>
          <a:noFill/>
          <a:ln cap="flat" cmpd="sng" w="19075">
            <a:solidFill>
              <a:srgbClr val="0088CE"/>
            </a:solidFill>
            <a:prstDash val="solid"/>
            <a:round/>
            <a:headEnd len="sm" w="sm" type="none"/>
            <a:tailEnd len="sm" w="sm" type="none"/>
          </a:ln>
        </p:spPr>
      </p:cxnSp>
      <p:sp>
        <p:nvSpPr>
          <p:cNvPr id="1863" name="Google Shape;1863;p172"/>
          <p:cNvSpPr/>
          <p:nvPr/>
        </p:nvSpPr>
        <p:spPr>
          <a:xfrm>
            <a:off x="5672160" y="180216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Party</a:t>
            </a:r>
            <a:endParaRPr b="0" i="0" sz="1300" u="none" cap="none" strike="noStrike">
              <a:latin typeface="Arial"/>
              <a:ea typeface="Arial"/>
              <a:cs typeface="Arial"/>
              <a:sym typeface="Arial"/>
            </a:endParaRPr>
          </a:p>
        </p:txBody>
      </p:sp>
      <p:cxnSp>
        <p:nvCxnSpPr>
          <p:cNvPr id="1864" name="Google Shape;1864;p172"/>
          <p:cNvCxnSpPr/>
          <p:nvPr/>
        </p:nvCxnSpPr>
        <p:spPr>
          <a:xfrm>
            <a:off x="5148360" y="1976760"/>
            <a:ext cx="523500" cy="25800"/>
          </a:xfrm>
          <a:prstGeom prst="curvedConnector3">
            <a:avLst>
              <a:gd fmla="val 49981" name="adj1"/>
            </a:avLst>
          </a:prstGeom>
          <a:noFill/>
          <a:ln cap="flat" cmpd="sng" w="19075">
            <a:solidFill>
              <a:srgbClr val="EE0000"/>
            </a:solidFill>
            <a:prstDash val="solid"/>
            <a:round/>
            <a:headEnd len="sm" w="sm" type="none"/>
            <a:tailEnd len="sm" w="sm" type="none"/>
          </a:ln>
        </p:spPr>
      </p:cxnSp>
      <p:sp>
        <p:nvSpPr>
          <p:cNvPr id="1865" name="Google Shape;1865;p172"/>
          <p:cNvSpPr/>
          <p:nvPr/>
        </p:nvSpPr>
        <p:spPr>
          <a:xfrm>
            <a:off x="5672160" y="282276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Employee</a:t>
            </a:r>
            <a:endParaRPr b="0" i="0" sz="1300" u="none" cap="none" strike="noStrike">
              <a:latin typeface="Arial"/>
              <a:ea typeface="Arial"/>
              <a:cs typeface="Arial"/>
              <a:sym typeface="Arial"/>
            </a:endParaRPr>
          </a:p>
        </p:txBody>
      </p:sp>
      <p:sp>
        <p:nvSpPr>
          <p:cNvPr id="1866" name="Google Shape;1866;p172"/>
          <p:cNvSpPr/>
          <p:nvPr/>
        </p:nvSpPr>
        <p:spPr>
          <a:xfrm>
            <a:off x="7192720" y="216047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Role</a:t>
            </a:r>
            <a:endParaRPr b="0" i="0" sz="1300" u="none" cap="none" strike="noStrike">
              <a:latin typeface="Arial"/>
              <a:ea typeface="Arial"/>
              <a:cs typeface="Arial"/>
              <a:sym typeface="Arial"/>
            </a:endParaRPr>
          </a:p>
        </p:txBody>
      </p:sp>
      <p:cxnSp>
        <p:nvCxnSpPr>
          <p:cNvPr id="1867" name="Google Shape;1867;p172"/>
          <p:cNvCxnSpPr/>
          <p:nvPr/>
        </p:nvCxnSpPr>
        <p:spPr>
          <a:xfrm flipH="1" rot="-5400000">
            <a:off x="5861940" y="2512380"/>
            <a:ext cx="618600" cy="600"/>
          </a:xfrm>
          <a:prstGeom prst="curvedConnector3">
            <a:avLst>
              <a:gd fmla="val 50000" name="adj1"/>
            </a:avLst>
          </a:prstGeom>
          <a:noFill/>
          <a:ln cap="flat" cmpd="sng" w="19075">
            <a:solidFill>
              <a:srgbClr val="00AC3E"/>
            </a:solidFill>
            <a:prstDash val="solid"/>
            <a:round/>
            <a:headEnd len="sm" w="sm" type="none"/>
            <a:tailEnd len="sm" w="sm" type="none"/>
          </a:ln>
        </p:spPr>
      </p:cxnSp>
      <p:cxnSp>
        <p:nvCxnSpPr>
          <p:cNvPr id="1868" name="Google Shape;1868;p172"/>
          <p:cNvCxnSpPr>
            <a:stCxn id="1863" idx="2"/>
            <a:endCxn id="1866" idx="1"/>
          </p:cNvCxnSpPr>
          <p:nvPr/>
        </p:nvCxnSpPr>
        <p:spPr>
          <a:xfrm flipH="1" rot="-5400000">
            <a:off x="6603750" y="1772010"/>
            <a:ext cx="157500" cy="1020600"/>
          </a:xfrm>
          <a:prstGeom prst="curvedConnector2">
            <a:avLst/>
          </a:prstGeom>
          <a:noFill/>
          <a:ln cap="flat" cmpd="sng" w="19075">
            <a:solidFill>
              <a:srgbClr val="00AC3E"/>
            </a:solidFill>
            <a:prstDash val="solid"/>
            <a:round/>
            <a:headEnd len="sm" w="sm" type="none"/>
            <a:tailEnd len="sm" w="sm" type="none"/>
          </a:ln>
        </p:spPr>
      </p:cxnSp>
      <p:sp>
        <p:nvSpPr>
          <p:cNvPr id="1869" name="Google Shape;1869;p172"/>
          <p:cNvSpPr/>
          <p:nvPr/>
        </p:nvSpPr>
        <p:spPr>
          <a:xfrm>
            <a:off x="7206027" y="286893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Partner</a:t>
            </a:r>
            <a:endParaRPr b="0" i="0" sz="1300" u="none" cap="none" strike="noStrike">
              <a:latin typeface="Arial"/>
              <a:ea typeface="Arial"/>
              <a:cs typeface="Arial"/>
              <a:sym typeface="Arial"/>
            </a:endParaRPr>
          </a:p>
        </p:txBody>
      </p:sp>
      <p:sp>
        <p:nvSpPr>
          <p:cNvPr id="1870" name="Google Shape;1870;p172"/>
          <p:cNvSpPr/>
          <p:nvPr/>
        </p:nvSpPr>
        <p:spPr>
          <a:xfrm>
            <a:off x="7206083" y="3509475"/>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Persona</a:t>
            </a:r>
            <a:endParaRPr b="0" i="0" sz="1300" u="none" cap="none" strike="noStrike">
              <a:latin typeface="Arial"/>
              <a:ea typeface="Arial"/>
              <a:cs typeface="Arial"/>
              <a:sym typeface="Arial"/>
            </a:endParaRPr>
          </a:p>
        </p:txBody>
      </p:sp>
      <p:cxnSp>
        <p:nvCxnSpPr>
          <p:cNvPr id="1871" name="Google Shape;1871;p172"/>
          <p:cNvCxnSpPr>
            <a:stCxn id="1869" idx="0"/>
            <a:endCxn id="1866" idx="2"/>
          </p:cNvCxnSpPr>
          <p:nvPr/>
        </p:nvCxnSpPr>
        <p:spPr>
          <a:xfrm flipH="1" rot="5400000">
            <a:off x="7545928" y="2708730"/>
            <a:ext cx="307200" cy="13200"/>
          </a:xfrm>
          <a:prstGeom prst="curvedConnector3">
            <a:avLst>
              <a:gd fmla="val 49977" name="adj1"/>
            </a:avLst>
          </a:prstGeom>
          <a:noFill/>
          <a:ln cap="flat" cmpd="sng" w="19075">
            <a:solidFill>
              <a:srgbClr val="00AC3E"/>
            </a:solidFill>
            <a:prstDash val="solid"/>
            <a:round/>
            <a:headEnd len="sm" w="sm" type="none"/>
            <a:tailEnd len="sm" w="sm" type="none"/>
          </a:ln>
        </p:spPr>
      </p:cxnSp>
      <p:sp>
        <p:nvSpPr>
          <p:cNvPr id="1872" name="Google Shape;1872;p172"/>
          <p:cNvSpPr/>
          <p:nvPr/>
        </p:nvSpPr>
        <p:spPr>
          <a:xfrm>
            <a:off x="2179440" y="384192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Data Product</a:t>
            </a:r>
            <a:endParaRPr b="0" i="0" sz="1300" u="none" cap="none" strike="noStrike">
              <a:latin typeface="Arial"/>
              <a:ea typeface="Arial"/>
              <a:cs typeface="Arial"/>
              <a:sym typeface="Arial"/>
            </a:endParaRPr>
          </a:p>
        </p:txBody>
      </p:sp>
      <p:cxnSp>
        <p:nvCxnSpPr>
          <p:cNvPr id="1873" name="Google Shape;1873;p172"/>
          <p:cNvCxnSpPr>
            <a:stCxn id="1855" idx="2"/>
          </p:cNvCxnSpPr>
          <p:nvPr/>
        </p:nvCxnSpPr>
        <p:spPr>
          <a:xfrm rot="5400000">
            <a:off x="2537730" y="2970570"/>
            <a:ext cx="1012800" cy="728700"/>
          </a:xfrm>
          <a:prstGeom prst="curvedConnector3">
            <a:avLst>
              <a:gd fmla="val 50000" name="adj1"/>
            </a:avLst>
          </a:prstGeom>
          <a:noFill/>
          <a:ln cap="flat" cmpd="sng" w="19075">
            <a:solidFill>
              <a:srgbClr val="0088CE"/>
            </a:solidFill>
            <a:prstDash val="solid"/>
            <a:round/>
            <a:headEnd len="sm" w="sm" type="none"/>
            <a:tailEnd len="sm" w="sm" type="none"/>
          </a:ln>
        </p:spPr>
      </p:cxnSp>
      <p:cxnSp>
        <p:nvCxnSpPr>
          <p:cNvPr id="1874" name="Google Shape;1874;p172"/>
          <p:cNvCxnSpPr>
            <a:stCxn id="1870" idx="0"/>
            <a:endCxn id="1869" idx="2"/>
          </p:cNvCxnSpPr>
          <p:nvPr/>
        </p:nvCxnSpPr>
        <p:spPr>
          <a:xfrm rot="-5400000">
            <a:off x="7586933" y="3389625"/>
            <a:ext cx="239100" cy="600"/>
          </a:xfrm>
          <a:prstGeom prst="curvedConnector3">
            <a:avLst>
              <a:gd fmla="val 50009" name="adj1"/>
            </a:avLst>
          </a:prstGeom>
          <a:noFill/>
          <a:ln cap="flat" cmpd="sng" w="19075">
            <a:solidFill>
              <a:srgbClr val="00AC3E"/>
            </a:solidFill>
            <a:prstDash val="solid"/>
            <a:round/>
            <a:headEnd len="sm" w="sm" type="none"/>
            <a:tailEnd len="sm" w="sm" type="none"/>
          </a:ln>
        </p:spPr>
      </p:cxnSp>
      <p:cxnSp>
        <p:nvCxnSpPr>
          <p:cNvPr id="1875" name="Google Shape;1875;p172"/>
          <p:cNvCxnSpPr>
            <a:endCxn id="1865" idx="2"/>
          </p:cNvCxnSpPr>
          <p:nvPr/>
        </p:nvCxnSpPr>
        <p:spPr>
          <a:xfrm rot="10800000">
            <a:off x="6172200" y="3224160"/>
            <a:ext cx="1006800" cy="492000"/>
          </a:xfrm>
          <a:prstGeom prst="curvedConnector2">
            <a:avLst/>
          </a:prstGeom>
          <a:noFill/>
          <a:ln cap="flat" cmpd="sng" w="19075">
            <a:solidFill>
              <a:srgbClr val="00AC3E"/>
            </a:solidFill>
            <a:prstDash val="solid"/>
            <a:round/>
            <a:headEnd len="sm" w="sm" type="none"/>
            <a:tailEnd len="sm" w="sm" type="none"/>
          </a:ln>
        </p:spPr>
      </p:cxnSp>
      <p:sp>
        <p:nvSpPr>
          <p:cNvPr id="1876" name="Google Shape;1876;p172"/>
          <p:cNvSpPr/>
          <p:nvPr/>
        </p:nvSpPr>
        <p:spPr>
          <a:xfrm>
            <a:off x="7206438" y="4156480"/>
            <a:ext cx="100020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Steward</a:t>
            </a:r>
            <a:endParaRPr b="0" i="0" sz="1300" u="none" cap="none" strike="noStrike">
              <a:latin typeface="Arial"/>
              <a:ea typeface="Arial"/>
              <a:cs typeface="Arial"/>
              <a:sym typeface="Arial"/>
            </a:endParaRPr>
          </a:p>
        </p:txBody>
      </p:sp>
      <p:cxnSp>
        <p:nvCxnSpPr>
          <p:cNvPr id="1877" name="Google Shape;1877;p172"/>
          <p:cNvCxnSpPr>
            <a:stCxn id="1876" idx="0"/>
            <a:endCxn id="1870" idx="2"/>
          </p:cNvCxnSpPr>
          <p:nvPr/>
        </p:nvCxnSpPr>
        <p:spPr>
          <a:xfrm rot="-5400000">
            <a:off x="7583988" y="4033330"/>
            <a:ext cx="245700" cy="600"/>
          </a:xfrm>
          <a:prstGeom prst="curvedConnector3">
            <a:avLst>
              <a:gd fmla="val 49981" name="adj1"/>
            </a:avLst>
          </a:prstGeom>
          <a:noFill/>
          <a:ln cap="flat" cmpd="sng" w="19075">
            <a:solidFill>
              <a:srgbClr val="00AC3E"/>
            </a:solidFill>
            <a:prstDash val="solid"/>
            <a:round/>
            <a:headEnd len="sm" w="sm" type="none"/>
            <a:tailEnd len="sm" w="sm" type="none"/>
          </a:ln>
        </p:spPr>
      </p:cxnSp>
      <p:sp>
        <p:nvSpPr>
          <p:cNvPr id="1878" name="Google Shape;1878;p172"/>
          <p:cNvSpPr/>
          <p:nvPr/>
        </p:nvSpPr>
        <p:spPr>
          <a:xfrm>
            <a:off x="7603920" y="1011960"/>
            <a:ext cx="1000080" cy="401400"/>
          </a:xfrm>
          <a:prstGeom prst="rect">
            <a:avLst/>
          </a:prstGeom>
          <a:solidFill>
            <a:srgbClr val="00AC3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FFFFFF"/>
                </a:solidFill>
                <a:latin typeface="Arial"/>
                <a:ea typeface="Arial"/>
                <a:cs typeface="Arial"/>
                <a:sym typeface="Arial"/>
              </a:rPr>
              <a:t>Business Steward</a:t>
            </a:r>
            <a:endParaRPr b="0" i="0" sz="1300" u="none" cap="none" strike="noStrike">
              <a:latin typeface="Arial"/>
              <a:ea typeface="Arial"/>
              <a:cs typeface="Arial"/>
              <a:sym typeface="Arial"/>
            </a:endParaRPr>
          </a:p>
        </p:txBody>
      </p:sp>
      <p:cxnSp>
        <p:nvCxnSpPr>
          <p:cNvPr id="1879" name="Google Shape;1879;p172"/>
          <p:cNvCxnSpPr>
            <a:endCxn id="1876" idx="3"/>
          </p:cNvCxnSpPr>
          <p:nvPr/>
        </p:nvCxnSpPr>
        <p:spPr>
          <a:xfrm rot="5400000">
            <a:off x="6866838" y="2558980"/>
            <a:ext cx="3138000" cy="458400"/>
          </a:xfrm>
          <a:prstGeom prst="curvedConnector2">
            <a:avLst/>
          </a:prstGeom>
          <a:noFill/>
          <a:ln cap="flat" cmpd="sng" w="19075">
            <a:solidFill>
              <a:srgbClr val="00AC3E"/>
            </a:solidFill>
            <a:prstDash val="solid"/>
            <a:round/>
            <a:headEnd len="sm" w="sm" type="none"/>
            <a:tailEnd len="sm" w="sm" type="none"/>
          </a:ln>
        </p:spPr>
      </p:cxnSp>
      <p:sp>
        <p:nvSpPr>
          <p:cNvPr id="1880" name="Google Shape;1880;p172"/>
          <p:cNvSpPr/>
          <p:nvPr/>
        </p:nvSpPr>
        <p:spPr>
          <a:xfrm>
            <a:off x="5574240" y="4097520"/>
            <a:ext cx="1000080" cy="401400"/>
          </a:xfrm>
          <a:prstGeom prst="rect">
            <a:avLst/>
          </a:prstGeom>
          <a:solidFill>
            <a:srgbClr val="5C73E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FFFFFF"/>
                </a:solidFill>
                <a:latin typeface="Arial"/>
                <a:ea typeface="Arial"/>
                <a:cs typeface="Arial"/>
                <a:sym typeface="Arial"/>
              </a:rPr>
              <a:t>Technical Steward</a:t>
            </a:r>
            <a:endParaRPr b="0" i="0" sz="1300" u="none" cap="none" strike="noStrike">
              <a:latin typeface="Arial"/>
              <a:ea typeface="Arial"/>
              <a:cs typeface="Arial"/>
              <a:sym typeface="Arial"/>
            </a:endParaRPr>
          </a:p>
        </p:txBody>
      </p:sp>
      <p:cxnSp>
        <p:nvCxnSpPr>
          <p:cNvPr id="1881" name="Google Shape;1881;p172"/>
          <p:cNvCxnSpPr/>
          <p:nvPr/>
        </p:nvCxnSpPr>
        <p:spPr>
          <a:xfrm>
            <a:off x="6574680" y="4298400"/>
            <a:ext cx="570900" cy="52500"/>
          </a:xfrm>
          <a:prstGeom prst="curvedConnector3">
            <a:avLst>
              <a:gd fmla="val 50007" name="adj1"/>
            </a:avLst>
          </a:prstGeom>
          <a:noFill/>
          <a:ln cap="flat" cmpd="sng" w="19075">
            <a:solidFill>
              <a:srgbClr val="0088CE"/>
            </a:solidFill>
            <a:prstDash val="solid"/>
            <a:round/>
            <a:headEnd len="sm" w="sm" type="none"/>
            <a:tailEnd len="sm" w="sm" type="none"/>
          </a:ln>
        </p:spPr>
      </p:cxnSp>
      <p:cxnSp>
        <p:nvCxnSpPr>
          <p:cNvPr id="1882" name="Google Shape;1882;p172"/>
          <p:cNvCxnSpPr/>
          <p:nvPr/>
        </p:nvCxnSpPr>
        <p:spPr>
          <a:xfrm rot="10800000">
            <a:off x="6418320" y="897840"/>
            <a:ext cx="1185600" cy="315000"/>
          </a:xfrm>
          <a:prstGeom prst="curvedConnector3">
            <a:avLst>
              <a:gd fmla="val 49992" name="adj1"/>
            </a:avLst>
          </a:prstGeom>
          <a:noFill/>
          <a:ln cap="flat" cmpd="sng" w="19075">
            <a:solidFill>
              <a:srgbClr val="00AC3E"/>
            </a:solidFill>
            <a:prstDash val="solid"/>
            <a:round/>
            <a:headEnd len="sm" w="sm" type="none"/>
            <a:tailEnd len="sm" w="sm" type="none"/>
          </a:ln>
        </p:spPr>
      </p:cxnSp>
      <p:cxnSp>
        <p:nvCxnSpPr>
          <p:cNvPr id="1883" name="Google Shape;1883;p172"/>
          <p:cNvCxnSpPr/>
          <p:nvPr/>
        </p:nvCxnSpPr>
        <p:spPr>
          <a:xfrm rot="10800000">
            <a:off x="4776540" y="4181700"/>
            <a:ext cx="797700" cy="116700"/>
          </a:xfrm>
          <a:prstGeom prst="curvedConnector3">
            <a:avLst>
              <a:gd fmla="val 50002" name="adj1"/>
            </a:avLst>
          </a:prstGeom>
          <a:noFill/>
          <a:ln cap="flat" cmpd="sng" w="19075">
            <a:solidFill>
              <a:srgbClr val="0088CE"/>
            </a:solidFill>
            <a:prstDash val="solid"/>
            <a:round/>
            <a:headEnd len="sm" w="sm" type="none"/>
            <a:tailEnd len="sm" w="sm" type="none"/>
          </a:ln>
        </p:spPr>
      </p:cxnSp>
      <p:sp>
        <p:nvSpPr>
          <p:cNvPr id="1884" name="Google Shape;1884;p172"/>
          <p:cNvSpPr/>
          <p:nvPr/>
        </p:nvSpPr>
        <p:spPr>
          <a:xfrm>
            <a:off x="1890360" y="1601280"/>
            <a:ext cx="1000080" cy="401400"/>
          </a:xfrm>
          <a:prstGeom prst="rect">
            <a:avLst/>
          </a:prstGeom>
          <a:solidFill>
            <a:srgbClr val="FFBC3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BI Models</a:t>
            </a:r>
            <a:endParaRPr b="0" i="0" sz="1300" u="none" cap="none" strike="noStrike">
              <a:latin typeface="Arial"/>
              <a:ea typeface="Arial"/>
              <a:cs typeface="Arial"/>
              <a:sym typeface="Arial"/>
            </a:endParaRPr>
          </a:p>
        </p:txBody>
      </p:sp>
      <p:cxnSp>
        <p:nvCxnSpPr>
          <p:cNvPr id="1885" name="Google Shape;1885;p172"/>
          <p:cNvCxnSpPr>
            <a:stCxn id="1855" idx="0"/>
            <a:endCxn id="1884" idx="2"/>
          </p:cNvCxnSpPr>
          <p:nvPr/>
        </p:nvCxnSpPr>
        <p:spPr>
          <a:xfrm flipH="1" rot="5400000">
            <a:off x="2687130" y="1705770"/>
            <a:ext cx="424500" cy="1018200"/>
          </a:xfrm>
          <a:prstGeom prst="curvedConnector3">
            <a:avLst>
              <a:gd fmla="val 49993" name="adj1"/>
            </a:avLst>
          </a:prstGeom>
          <a:noFill/>
          <a:ln cap="flat" cmpd="sng" w="19075">
            <a:solidFill>
              <a:srgbClr val="0088CE"/>
            </a:solidFill>
            <a:prstDash val="solid"/>
            <a:round/>
            <a:headEnd len="sm" w="sm" type="none"/>
            <a:tailEnd len="sm" w="sm" type="none"/>
          </a:ln>
        </p:spPr>
      </p:cxnSp>
      <p:cxnSp>
        <p:nvCxnSpPr>
          <p:cNvPr id="1886" name="Google Shape;1886;p172"/>
          <p:cNvCxnSpPr/>
          <p:nvPr/>
        </p:nvCxnSpPr>
        <p:spPr>
          <a:xfrm flipH="1">
            <a:off x="2299440" y="2627640"/>
            <a:ext cx="607200" cy="3600"/>
          </a:xfrm>
          <a:prstGeom prst="curvedConnector3">
            <a:avLst>
              <a:gd fmla="val 50006" name="adj1"/>
            </a:avLst>
          </a:prstGeom>
          <a:noFill/>
          <a:ln cap="flat" cmpd="sng" w="19075">
            <a:solidFill>
              <a:srgbClr val="0088CE"/>
            </a:solidFill>
            <a:prstDash val="solid"/>
            <a:round/>
            <a:headEnd len="sm" w="sm" type="none"/>
            <a:tailEnd len="sm" w="sm" type="none"/>
          </a:ln>
        </p:spPr>
      </p:cxnSp>
      <p:cxnSp>
        <p:nvCxnSpPr>
          <p:cNvPr id="1887" name="Google Shape;1887;p172"/>
          <p:cNvCxnSpPr>
            <a:stCxn id="1880" idx="0"/>
            <a:endCxn id="1855" idx="3"/>
          </p:cNvCxnSpPr>
          <p:nvPr/>
        </p:nvCxnSpPr>
        <p:spPr>
          <a:xfrm flipH="1" rot="5400000">
            <a:off x="4256580" y="2279820"/>
            <a:ext cx="1469700" cy="2165700"/>
          </a:xfrm>
          <a:prstGeom prst="curvedConnector2">
            <a:avLst/>
          </a:prstGeom>
          <a:noFill/>
          <a:ln cap="flat" cmpd="sng" w="19075">
            <a:solidFill>
              <a:srgbClr val="0088CE"/>
            </a:solidFill>
            <a:prstDash val="solid"/>
            <a:round/>
            <a:headEnd len="sm" w="sm" type="none"/>
            <a:tailEnd len="sm" w="sm" type="none"/>
          </a:ln>
        </p:spPr>
      </p:cxnSp>
      <p:sp>
        <p:nvSpPr>
          <p:cNvPr id="1888" name="Google Shape;1888;p172"/>
          <p:cNvSpPr/>
          <p:nvPr/>
        </p:nvSpPr>
        <p:spPr>
          <a:xfrm>
            <a:off x="3427560" y="1011960"/>
            <a:ext cx="1000080" cy="401400"/>
          </a:xfrm>
          <a:prstGeom prst="rect">
            <a:avLst/>
          </a:prstGeom>
          <a:solidFill>
            <a:srgbClr val="FFBC3D"/>
          </a:solidFill>
          <a:ln cap="flat" cmpd="sng" w="19075">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300" u="none" cap="none" strike="noStrike">
                <a:solidFill>
                  <a:srgbClr val="595959"/>
                </a:solidFill>
                <a:latin typeface="Arial"/>
                <a:ea typeface="Arial"/>
                <a:cs typeface="Arial"/>
                <a:sym typeface="Arial"/>
              </a:rPr>
              <a:t>Business Domains</a:t>
            </a:r>
            <a:endParaRPr b="0" i="0" sz="1300" u="none" cap="none" strike="noStrike">
              <a:latin typeface="Arial"/>
              <a:ea typeface="Arial"/>
              <a:cs typeface="Arial"/>
              <a:sym typeface="Arial"/>
            </a:endParaRPr>
          </a:p>
        </p:txBody>
      </p:sp>
      <p:cxnSp>
        <p:nvCxnSpPr>
          <p:cNvPr id="1889" name="Google Shape;1889;p172"/>
          <p:cNvCxnSpPr>
            <a:stCxn id="1888" idx="3"/>
            <a:endCxn id="1851" idx="2"/>
          </p:cNvCxnSpPr>
          <p:nvPr/>
        </p:nvCxnSpPr>
        <p:spPr>
          <a:xfrm flipH="1" rot="10800000">
            <a:off x="4427640" y="1096860"/>
            <a:ext cx="1389900" cy="115800"/>
          </a:xfrm>
          <a:prstGeom prst="curvedConnector2">
            <a:avLst/>
          </a:prstGeom>
          <a:noFill/>
          <a:ln cap="flat" cmpd="sng" w="19075">
            <a:solidFill>
              <a:srgbClr val="00AC3E"/>
            </a:solidFill>
            <a:prstDash val="solid"/>
            <a:round/>
            <a:headEnd len="sm" w="sm" type="none"/>
            <a:tailEnd len="sm" w="sm" type="none"/>
          </a:ln>
        </p:spPr>
      </p:cxnSp>
      <p:cxnSp>
        <p:nvCxnSpPr>
          <p:cNvPr id="1890" name="Google Shape;1890;p172"/>
          <p:cNvCxnSpPr>
            <a:stCxn id="1853" idx="0"/>
            <a:endCxn id="1851" idx="2"/>
          </p:cNvCxnSpPr>
          <p:nvPr/>
        </p:nvCxnSpPr>
        <p:spPr>
          <a:xfrm rot="-5400000">
            <a:off x="4893360" y="851580"/>
            <a:ext cx="678900" cy="1169700"/>
          </a:xfrm>
          <a:prstGeom prst="curvedConnector3">
            <a:avLst>
              <a:gd fmla="val 50004" name="adj1"/>
            </a:avLst>
          </a:prstGeom>
          <a:noFill/>
          <a:ln cap="flat" cmpd="sng" w="19075">
            <a:solidFill>
              <a:srgbClr val="00AC3E"/>
            </a:solidFill>
            <a:prstDash val="solid"/>
            <a:round/>
            <a:headEnd len="sm" w="sm" type="none"/>
            <a:tailEnd len="sm" w="sm" type="none"/>
          </a:ln>
        </p:spPr>
      </p:cxnSp>
      <p:cxnSp>
        <p:nvCxnSpPr>
          <p:cNvPr id="1891" name="Google Shape;1891;p172"/>
          <p:cNvCxnSpPr/>
          <p:nvPr/>
        </p:nvCxnSpPr>
        <p:spPr>
          <a:xfrm flipH="1" rot="5400000">
            <a:off x="5641200" y="1272960"/>
            <a:ext cx="704400" cy="354000"/>
          </a:xfrm>
          <a:prstGeom prst="curvedConnector3">
            <a:avLst>
              <a:gd fmla="val 50011" name="adj1"/>
            </a:avLst>
          </a:prstGeom>
          <a:noFill/>
          <a:ln cap="flat" cmpd="sng" w="19075">
            <a:solidFill>
              <a:srgbClr val="00AC3E"/>
            </a:solidFill>
            <a:prstDash val="solid"/>
            <a:round/>
            <a:headEnd len="sm" w="sm" type="none"/>
            <a:tailEnd len="sm" w="sm" type="none"/>
          </a:ln>
        </p:spPr>
      </p:cxnSp>
      <p:cxnSp>
        <p:nvCxnSpPr>
          <p:cNvPr id="1892" name="Google Shape;1892;p172"/>
          <p:cNvCxnSpPr>
            <a:stCxn id="1866" idx="0"/>
            <a:endCxn id="1851" idx="2"/>
          </p:cNvCxnSpPr>
          <p:nvPr/>
        </p:nvCxnSpPr>
        <p:spPr>
          <a:xfrm flipH="1" rot="5400000">
            <a:off x="6223420" y="691070"/>
            <a:ext cx="1063500" cy="1875300"/>
          </a:xfrm>
          <a:prstGeom prst="curvedConnector3">
            <a:avLst>
              <a:gd fmla="val 50002" name="adj1"/>
            </a:avLst>
          </a:prstGeom>
          <a:noFill/>
          <a:ln cap="flat" cmpd="sng" w="19075">
            <a:solidFill>
              <a:srgbClr val="00AC3E"/>
            </a:solidFill>
            <a:prstDash val="solid"/>
            <a:round/>
            <a:headEnd len="sm" w="sm" type="none"/>
            <a:tailEnd len="sm" w="sm" type="none"/>
          </a:ln>
        </p:spPr>
      </p:cxnSp>
      <p:cxnSp>
        <p:nvCxnSpPr>
          <p:cNvPr id="1893" name="Google Shape;1893;p172"/>
          <p:cNvCxnSpPr>
            <a:stCxn id="1888" idx="2"/>
            <a:endCxn id="1853" idx="0"/>
          </p:cNvCxnSpPr>
          <p:nvPr/>
        </p:nvCxnSpPr>
        <p:spPr>
          <a:xfrm flipH="1" rot="-5400000">
            <a:off x="4106550" y="1234410"/>
            <a:ext cx="362400" cy="720300"/>
          </a:xfrm>
          <a:prstGeom prst="curvedConnector3">
            <a:avLst>
              <a:gd fmla="val 50017" name="adj1"/>
            </a:avLst>
          </a:prstGeom>
          <a:noFill/>
          <a:ln cap="flat" cmpd="sng" w="19075">
            <a:solidFill>
              <a:srgbClr val="EE0000"/>
            </a:solidFill>
            <a:prstDash val="solid"/>
            <a:round/>
            <a:headEnd len="sm" w="sm" type="none"/>
            <a:tailEnd len="sm" w="sm" type="none"/>
          </a:ln>
        </p:spPr>
      </p:cxnSp>
      <p:sp>
        <p:nvSpPr>
          <p:cNvPr id="1894" name="Google Shape;1894;p172"/>
          <p:cNvSpPr/>
          <p:nvPr/>
        </p:nvSpPr>
        <p:spPr>
          <a:xfrm>
            <a:off x="3123360" y="737640"/>
            <a:ext cx="570960" cy="17136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1:M</a:t>
            </a:r>
            <a:endParaRPr b="0" i="0" sz="1000" u="none" cap="none" strike="noStrike">
              <a:latin typeface="Arial"/>
              <a:ea typeface="Arial"/>
              <a:cs typeface="Arial"/>
              <a:sym typeface="Arial"/>
            </a:endParaRPr>
          </a:p>
        </p:txBody>
      </p:sp>
      <p:cxnSp>
        <p:nvCxnSpPr>
          <p:cNvPr id="1895" name="Google Shape;1895;p172"/>
          <p:cNvCxnSpPr/>
          <p:nvPr/>
        </p:nvCxnSpPr>
        <p:spPr>
          <a:xfrm rot="10800000">
            <a:off x="3179880" y="4043160"/>
            <a:ext cx="595800" cy="138600"/>
          </a:xfrm>
          <a:prstGeom prst="curvedConnector3">
            <a:avLst>
              <a:gd fmla="val 49990" name="adj1"/>
            </a:avLst>
          </a:prstGeom>
          <a:noFill/>
          <a:ln cap="flat" cmpd="sng" w="19075">
            <a:solidFill>
              <a:srgbClr val="0088CE"/>
            </a:solidFill>
            <a:prstDash val="solid"/>
            <a:round/>
            <a:headEnd len="sm" w="sm" type="none"/>
            <a:tailEnd len="med" w="med" type="triangle"/>
          </a:ln>
        </p:spPr>
      </p:cxnSp>
      <p:sp>
        <p:nvSpPr>
          <p:cNvPr id="1896" name="Google Shape;1896;p172"/>
          <p:cNvSpPr/>
          <p:nvPr/>
        </p:nvSpPr>
        <p:spPr>
          <a:xfrm>
            <a:off x="3162607" y="4243920"/>
            <a:ext cx="570900" cy="1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88CE"/>
                </a:solidFill>
                <a:latin typeface="Arial"/>
                <a:ea typeface="Arial"/>
                <a:cs typeface="Arial"/>
                <a:sym typeface="Arial"/>
              </a:rPr>
              <a:t>1:M</a:t>
            </a:r>
            <a:endParaRPr b="0" i="0" sz="800" u="none" cap="none" strike="noStrike">
              <a:latin typeface="Arial"/>
              <a:ea typeface="Arial"/>
              <a:cs typeface="Arial"/>
              <a:sym typeface="Arial"/>
            </a:endParaRPr>
          </a:p>
        </p:txBody>
      </p:sp>
      <p:cxnSp>
        <p:nvCxnSpPr>
          <p:cNvPr id="1897" name="Google Shape;1897;p172"/>
          <p:cNvCxnSpPr>
            <a:stCxn id="1856" idx="2"/>
          </p:cNvCxnSpPr>
          <p:nvPr/>
        </p:nvCxnSpPr>
        <p:spPr>
          <a:xfrm flipH="1" rot="5400000">
            <a:off x="1025370" y="1131930"/>
            <a:ext cx="3234000" cy="3266700"/>
          </a:xfrm>
          <a:prstGeom prst="bentConnector4">
            <a:avLst>
              <a:gd fmla="val -7363" name="adj1"/>
              <a:gd fmla="val 104737" name="adj2"/>
            </a:avLst>
          </a:prstGeom>
          <a:noFill/>
          <a:ln cap="flat" cmpd="sng" w="9525">
            <a:solidFill>
              <a:srgbClr val="747676"/>
            </a:solidFill>
            <a:prstDash val="solid"/>
            <a:round/>
            <a:headEnd len="med" w="med" type="stealth"/>
            <a:tailEnd len="sm" w="sm" type="none"/>
          </a:ln>
        </p:spPr>
      </p:cxnSp>
      <p:sp>
        <p:nvSpPr>
          <p:cNvPr id="1898" name="Google Shape;1898;p172"/>
          <p:cNvSpPr/>
          <p:nvPr/>
        </p:nvSpPr>
        <p:spPr>
          <a:xfrm>
            <a:off x="4427650" y="3772640"/>
            <a:ext cx="570900" cy="17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800" u="none" cap="none" strike="noStrike">
                <a:solidFill>
                  <a:srgbClr val="0088CE"/>
                </a:solidFill>
                <a:latin typeface="Arial"/>
                <a:ea typeface="Arial"/>
                <a:cs typeface="Arial"/>
                <a:sym typeface="Arial"/>
              </a:rPr>
              <a:t>1:M</a:t>
            </a:r>
            <a:endParaRPr b="0" i="0" sz="800" u="none" cap="none" strike="noStrik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2" name="Shape 1902"/>
        <p:cNvGrpSpPr/>
        <p:nvPr/>
      </p:nvGrpSpPr>
      <p:grpSpPr>
        <a:xfrm>
          <a:off x="0" y="0"/>
          <a:ext cx="0" cy="0"/>
          <a:chOff x="0" y="0"/>
          <a:chExt cx="0" cy="0"/>
        </a:xfrm>
      </p:grpSpPr>
      <p:sp>
        <p:nvSpPr>
          <p:cNvPr id="1903" name="Google Shape;1903;p173"/>
          <p:cNvSpPr txBox="1"/>
          <p:nvPr/>
        </p:nvSpPr>
        <p:spPr>
          <a:xfrm>
            <a:off x="762126" y="110875"/>
            <a:ext cx="702990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Semantic Governance Alignment in Governance</a:t>
            </a:r>
            <a:endParaRPr b="0" i="0" sz="2000" u="none" cap="none" strike="noStrike">
              <a:solidFill>
                <a:srgbClr val="000000"/>
              </a:solidFill>
              <a:latin typeface="Arial"/>
              <a:ea typeface="Arial"/>
              <a:cs typeface="Arial"/>
              <a:sym typeface="Arial"/>
            </a:endParaRPr>
          </a:p>
        </p:txBody>
      </p:sp>
      <p:sp>
        <p:nvSpPr>
          <p:cNvPr id="1904" name="Google Shape;1904;p173"/>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1905" name="Google Shape;1905;p173"/>
          <p:cNvGrpSpPr/>
          <p:nvPr/>
        </p:nvGrpSpPr>
        <p:grpSpPr>
          <a:xfrm>
            <a:off x="8546760" y="-9360"/>
            <a:ext cx="594000" cy="679680"/>
            <a:chOff x="8546760" y="-9360"/>
            <a:chExt cx="594000" cy="679680"/>
          </a:xfrm>
        </p:grpSpPr>
        <p:sp>
          <p:nvSpPr>
            <p:cNvPr id="1906" name="Google Shape;1906;p173"/>
            <p:cNvSpPr/>
            <p:nvPr/>
          </p:nvSpPr>
          <p:spPr>
            <a:xfrm>
              <a:off x="8546760" y="-936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7" name="Google Shape;1907;p173"/>
            <p:cNvGrpSpPr/>
            <p:nvPr/>
          </p:nvGrpSpPr>
          <p:grpSpPr>
            <a:xfrm>
              <a:off x="8585280" y="-9000"/>
              <a:ext cx="555480" cy="679320"/>
              <a:chOff x="8585280" y="-9000"/>
              <a:chExt cx="555480" cy="679320"/>
            </a:xfrm>
          </p:grpSpPr>
          <p:pic>
            <p:nvPicPr>
              <p:cNvPr id="1908" name="Google Shape;1908;p173"/>
              <p:cNvPicPr preferRelativeResize="0"/>
              <p:nvPr/>
            </p:nvPicPr>
            <p:blipFill rotWithShape="1">
              <a:blip r:embed="rId3">
                <a:alphaModFix/>
              </a:blip>
              <a:srcRect b="0" l="20669" r="9844" t="0"/>
              <a:stretch/>
            </p:blipFill>
            <p:spPr>
              <a:xfrm>
                <a:off x="8585280" y="-9000"/>
                <a:ext cx="530640" cy="530640"/>
              </a:xfrm>
              <a:prstGeom prst="rect">
                <a:avLst/>
              </a:prstGeom>
              <a:noFill/>
              <a:ln>
                <a:noFill/>
              </a:ln>
            </p:spPr>
          </p:pic>
          <p:sp>
            <p:nvSpPr>
              <p:cNvPr id="1909" name="Google Shape;1909;p173"/>
              <p:cNvSpPr/>
              <p:nvPr/>
            </p:nvSpPr>
            <p:spPr>
              <a:xfrm>
                <a:off x="8585280" y="48420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
        <p:nvSpPr>
          <p:cNvPr id="1910" name="Google Shape;1910;p173"/>
          <p:cNvSpPr/>
          <p:nvPr/>
        </p:nvSpPr>
        <p:spPr>
          <a:xfrm>
            <a:off x="3399480" y="2101680"/>
            <a:ext cx="2344680" cy="6001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Data Governance</a:t>
            </a:r>
            <a:endParaRPr b="0" i="0" sz="1400" u="none" cap="none" strike="noStrike">
              <a:latin typeface="Arial"/>
              <a:ea typeface="Arial"/>
              <a:cs typeface="Arial"/>
              <a:sym typeface="Arial"/>
            </a:endParaRPr>
          </a:p>
        </p:txBody>
      </p:sp>
      <p:sp>
        <p:nvSpPr>
          <p:cNvPr id="1911" name="Google Shape;1911;p173"/>
          <p:cNvSpPr/>
          <p:nvPr/>
        </p:nvSpPr>
        <p:spPr>
          <a:xfrm>
            <a:off x="1140840" y="16804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Artificial Intelligence Governance</a:t>
            </a:r>
            <a:endParaRPr b="0" i="0" sz="1100" u="none" cap="none" strike="noStrike">
              <a:latin typeface="Arial"/>
              <a:ea typeface="Arial"/>
              <a:cs typeface="Arial"/>
              <a:sym typeface="Arial"/>
            </a:endParaRPr>
          </a:p>
        </p:txBody>
      </p:sp>
      <p:sp>
        <p:nvSpPr>
          <p:cNvPr id="1912" name="Google Shape;1912;p173"/>
          <p:cNvSpPr/>
          <p:nvPr/>
        </p:nvSpPr>
        <p:spPr>
          <a:xfrm>
            <a:off x="6290280" y="16578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Decision Intelligence Governance</a:t>
            </a:r>
            <a:endParaRPr b="0" i="0" sz="1100" u="none" cap="none" strike="noStrike">
              <a:latin typeface="Arial"/>
              <a:ea typeface="Arial"/>
              <a:cs typeface="Arial"/>
              <a:sym typeface="Arial"/>
            </a:endParaRPr>
          </a:p>
        </p:txBody>
      </p:sp>
      <p:sp>
        <p:nvSpPr>
          <p:cNvPr id="1913" name="Google Shape;1913;p173"/>
          <p:cNvSpPr/>
          <p:nvPr/>
        </p:nvSpPr>
        <p:spPr>
          <a:xfrm>
            <a:off x="3767400" y="11127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Business Intelligence Governance</a:t>
            </a:r>
            <a:endParaRPr b="0" i="0" sz="1100" u="none" cap="none" strike="noStrike">
              <a:latin typeface="Arial"/>
              <a:ea typeface="Arial"/>
              <a:cs typeface="Arial"/>
              <a:sym typeface="Arial"/>
            </a:endParaRPr>
          </a:p>
        </p:txBody>
      </p:sp>
      <p:sp>
        <p:nvSpPr>
          <p:cNvPr id="1914" name="Google Shape;1914;p173"/>
          <p:cNvSpPr/>
          <p:nvPr/>
        </p:nvSpPr>
        <p:spPr>
          <a:xfrm>
            <a:off x="2111040" y="3327120"/>
            <a:ext cx="1834920" cy="479520"/>
          </a:xfrm>
          <a:prstGeom prst="roundRect">
            <a:avLst>
              <a:gd fmla="val 16667" name="adj"/>
            </a:avLst>
          </a:prstGeom>
          <a:solidFill>
            <a:srgbClr val="1155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Master Data Management</a:t>
            </a:r>
            <a:endParaRPr b="0" i="0" sz="1100" u="none" cap="none" strike="noStrike">
              <a:latin typeface="Arial"/>
              <a:ea typeface="Arial"/>
              <a:cs typeface="Arial"/>
              <a:sym typeface="Arial"/>
            </a:endParaRPr>
          </a:p>
        </p:txBody>
      </p:sp>
      <p:sp>
        <p:nvSpPr>
          <p:cNvPr id="1915" name="Google Shape;1915;p173"/>
          <p:cNvSpPr/>
          <p:nvPr/>
        </p:nvSpPr>
        <p:spPr>
          <a:xfrm>
            <a:off x="4846680" y="3388680"/>
            <a:ext cx="1834920" cy="479520"/>
          </a:xfrm>
          <a:prstGeom prst="roundRect">
            <a:avLst>
              <a:gd fmla="val 16667" name="adj"/>
            </a:avLst>
          </a:prstGeom>
          <a:solidFill>
            <a:srgbClr val="1155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Semantic Governance</a:t>
            </a:r>
            <a:endParaRPr b="0" i="0" sz="1100" u="none" cap="none" strike="noStrike">
              <a:latin typeface="Arial"/>
              <a:ea typeface="Arial"/>
              <a:cs typeface="Arial"/>
              <a:sym typeface="Arial"/>
            </a:endParaRPr>
          </a:p>
        </p:txBody>
      </p:sp>
      <p:sp>
        <p:nvSpPr>
          <p:cNvPr id="1916" name="Google Shape;1916;p173"/>
          <p:cNvSpPr/>
          <p:nvPr/>
        </p:nvSpPr>
        <p:spPr>
          <a:xfrm>
            <a:off x="6426360" y="4042080"/>
            <a:ext cx="1834920" cy="479520"/>
          </a:xfrm>
          <a:prstGeom prst="roundRect">
            <a:avLst>
              <a:gd fmla="val 16667" name="adj"/>
            </a:avLst>
          </a:prstGeom>
          <a:solidFill>
            <a:srgbClr val="1C4587"/>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Metadata Management</a:t>
            </a:r>
            <a:endParaRPr b="0" i="0" sz="1100" u="none" cap="none" strike="noStrike">
              <a:latin typeface="Arial"/>
              <a:ea typeface="Arial"/>
              <a:cs typeface="Arial"/>
              <a:sym typeface="Arial"/>
            </a:endParaRPr>
          </a:p>
        </p:txBody>
      </p:sp>
      <p:sp>
        <p:nvSpPr>
          <p:cNvPr id="1917" name="Google Shape;1917;p173"/>
          <p:cNvSpPr/>
          <p:nvPr/>
        </p:nvSpPr>
        <p:spPr>
          <a:xfrm>
            <a:off x="1945440" y="2160360"/>
            <a:ext cx="1453680" cy="241200"/>
          </a:xfrm>
          <a:custGeom>
            <a:rect b="b" l="l" r="r" t="t"/>
            <a:pathLst>
              <a:path extrusionOk="0" h="21600" w="21600">
                <a:moveTo>
                  <a:pt x="0" y="0"/>
                </a:moveTo>
                <a:lnTo>
                  <a:pt x="21600" y="21600"/>
                </a:lnTo>
              </a:path>
            </a:pathLst>
          </a:custGeom>
          <a:noFill/>
          <a:ln cap="flat" cmpd="sng" w="38150">
            <a:solidFill>
              <a:srgbClr val="A4C2F4"/>
            </a:solidFill>
            <a:prstDash val="solid"/>
            <a:round/>
            <a:headEnd len="sm" w="sm" type="none"/>
            <a:tailEnd len="sm" w="sm" type="none"/>
          </a:ln>
        </p:spPr>
      </p:sp>
      <p:sp>
        <p:nvSpPr>
          <p:cNvPr id="1918" name="Google Shape;1918;p173"/>
          <p:cNvSpPr/>
          <p:nvPr/>
        </p:nvSpPr>
        <p:spPr>
          <a:xfrm>
            <a:off x="4572000" y="1592280"/>
            <a:ext cx="360" cy="508680"/>
          </a:xfrm>
          <a:custGeom>
            <a:rect b="b" l="l" r="r" t="t"/>
            <a:pathLst>
              <a:path extrusionOk="0" h="21600" w="21600">
                <a:moveTo>
                  <a:pt x="0" y="0"/>
                </a:moveTo>
                <a:lnTo>
                  <a:pt x="21600" y="21600"/>
                </a:lnTo>
              </a:path>
            </a:pathLst>
          </a:custGeom>
          <a:noFill/>
          <a:ln cap="flat" cmpd="sng" w="28425">
            <a:solidFill>
              <a:srgbClr val="A4C2F4"/>
            </a:solidFill>
            <a:prstDash val="solid"/>
            <a:round/>
            <a:headEnd len="sm" w="sm" type="none"/>
            <a:tailEnd len="sm" w="sm" type="none"/>
          </a:ln>
        </p:spPr>
      </p:sp>
      <p:sp>
        <p:nvSpPr>
          <p:cNvPr id="1919" name="Google Shape;1919;p173"/>
          <p:cNvSpPr/>
          <p:nvPr/>
        </p:nvSpPr>
        <p:spPr>
          <a:xfrm flipH="1" rot="10800000">
            <a:off x="5744880" y="2401920"/>
            <a:ext cx="1350000" cy="264240"/>
          </a:xfrm>
          <a:custGeom>
            <a:rect b="b" l="l" r="r" t="t"/>
            <a:pathLst>
              <a:path extrusionOk="0" h="21600" w="21600">
                <a:moveTo>
                  <a:pt x="0" y="0"/>
                </a:moveTo>
                <a:lnTo>
                  <a:pt x="21600" y="21600"/>
                </a:lnTo>
              </a:path>
            </a:pathLst>
          </a:custGeom>
          <a:noFill/>
          <a:ln cap="flat" cmpd="sng" w="28425">
            <a:solidFill>
              <a:srgbClr val="A4C2F4"/>
            </a:solidFill>
            <a:prstDash val="solid"/>
            <a:round/>
            <a:headEnd len="sm" w="sm" type="none"/>
            <a:tailEnd len="sm" w="sm" type="none"/>
          </a:ln>
        </p:spPr>
      </p:sp>
      <p:sp>
        <p:nvSpPr>
          <p:cNvPr id="1920" name="Google Shape;1920;p173"/>
          <p:cNvSpPr/>
          <p:nvPr/>
        </p:nvSpPr>
        <p:spPr>
          <a:xfrm flipH="1">
            <a:off x="3538440" y="2702160"/>
            <a:ext cx="1033200" cy="590760"/>
          </a:xfrm>
          <a:custGeom>
            <a:rect b="b" l="l" r="r" t="t"/>
            <a:pathLst>
              <a:path extrusionOk="0" h="21600" w="21600">
                <a:moveTo>
                  <a:pt x="0" y="0"/>
                </a:moveTo>
                <a:lnTo>
                  <a:pt x="21600" y="21600"/>
                </a:lnTo>
              </a:path>
            </a:pathLst>
          </a:custGeom>
          <a:noFill/>
          <a:ln cap="flat" cmpd="sng" w="28425">
            <a:solidFill>
              <a:srgbClr val="3C78D8"/>
            </a:solidFill>
            <a:prstDash val="solid"/>
            <a:round/>
            <a:headEnd len="sm" w="sm" type="none"/>
            <a:tailEnd len="med" w="med" type="stealth"/>
          </a:ln>
        </p:spPr>
      </p:sp>
      <p:sp>
        <p:nvSpPr>
          <p:cNvPr id="1921" name="Google Shape;1921;p173"/>
          <p:cNvSpPr/>
          <p:nvPr/>
        </p:nvSpPr>
        <p:spPr>
          <a:xfrm>
            <a:off x="4572000" y="2702160"/>
            <a:ext cx="982800" cy="621720"/>
          </a:xfrm>
          <a:custGeom>
            <a:rect b="b" l="l" r="r" t="t"/>
            <a:pathLst>
              <a:path extrusionOk="0" h="21600" w="21600">
                <a:moveTo>
                  <a:pt x="0" y="0"/>
                </a:moveTo>
                <a:lnTo>
                  <a:pt x="21600" y="21600"/>
                </a:lnTo>
              </a:path>
            </a:pathLst>
          </a:custGeom>
          <a:noFill/>
          <a:ln cap="flat" cmpd="sng" w="28425">
            <a:solidFill>
              <a:srgbClr val="1155CC"/>
            </a:solidFill>
            <a:prstDash val="solid"/>
            <a:round/>
            <a:headEnd len="sm" w="sm" type="none"/>
            <a:tailEnd len="med" w="med" type="stealth"/>
          </a:ln>
        </p:spPr>
      </p:sp>
      <p:sp>
        <p:nvSpPr>
          <p:cNvPr id="1922" name="Google Shape;1922;p173"/>
          <p:cNvSpPr/>
          <p:nvPr/>
        </p:nvSpPr>
        <p:spPr>
          <a:xfrm>
            <a:off x="5764320" y="3868560"/>
            <a:ext cx="661680" cy="413280"/>
          </a:xfrm>
          <a:custGeom>
            <a:rect b="b" l="l" r="r" t="t"/>
            <a:pathLst>
              <a:path extrusionOk="0" h="21600" w="21600">
                <a:moveTo>
                  <a:pt x="0" y="0"/>
                </a:moveTo>
                <a:lnTo>
                  <a:pt x="21600" y="21600"/>
                </a:lnTo>
              </a:path>
            </a:pathLst>
          </a:custGeom>
          <a:noFill/>
          <a:ln cap="flat" cmpd="sng" w="28425">
            <a:solidFill>
              <a:srgbClr val="1C4587"/>
            </a:solidFill>
            <a:prstDash val="solid"/>
            <a:round/>
            <a:headEnd len="sm" w="sm" type="none"/>
            <a:tailEnd len="med" w="med" type="stealth"/>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6" name="Shape 1926"/>
        <p:cNvGrpSpPr/>
        <p:nvPr/>
      </p:nvGrpSpPr>
      <p:grpSpPr>
        <a:xfrm>
          <a:off x="0" y="0"/>
          <a:ext cx="0" cy="0"/>
          <a:chOff x="0" y="0"/>
          <a:chExt cx="0" cy="0"/>
        </a:xfrm>
      </p:grpSpPr>
      <p:sp>
        <p:nvSpPr>
          <p:cNvPr id="1927" name="Google Shape;1927;p174"/>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Bottom Up Standard Naming Conventions</a:t>
            </a:r>
            <a:endParaRPr b="0" i="0" sz="2000" u="none" cap="none" strike="noStrike">
              <a:solidFill>
                <a:srgbClr val="000000"/>
              </a:solidFill>
              <a:latin typeface="Arial"/>
              <a:ea typeface="Arial"/>
              <a:cs typeface="Arial"/>
              <a:sym typeface="Arial"/>
            </a:endParaRPr>
          </a:p>
        </p:txBody>
      </p:sp>
      <p:sp>
        <p:nvSpPr>
          <p:cNvPr id="1928" name="Google Shape;1928;p174"/>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1929" name="Google Shape;1929;p174"/>
          <p:cNvGrpSpPr/>
          <p:nvPr/>
        </p:nvGrpSpPr>
        <p:grpSpPr>
          <a:xfrm>
            <a:off x="8546760" y="-9360"/>
            <a:ext cx="594000" cy="679680"/>
            <a:chOff x="8546760" y="-9360"/>
            <a:chExt cx="594000" cy="679680"/>
          </a:xfrm>
        </p:grpSpPr>
        <p:sp>
          <p:nvSpPr>
            <p:cNvPr id="1930" name="Google Shape;1930;p174"/>
            <p:cNvSpPr/>
            <p:nvPr/>
          </p:nvSpPr>
          <p:spPr>
            <a:xfrm>
              <a:off x="8546760" y="-936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1" name="Google Shape;1931;p174"/>
            <p:cNvGrpSpPr/>
            <p:nvPr/>
          </p:nvGrpSpPr>
          <p:grpSpPr>
            <a:xfrm>
              <a:off x="8585280" y="-9000"/>
              <a:ext cx="555480" cy="679320"/>
              <a:chOff x="8585280" y="-9000"/>
              <a:chExt cx="555480" cy="679320"/>
            </a:xfrm>
          </p:grpSpPr>
          <p:pic>
            <p:nvPicPr>
              <p:cNvPr id="1932" name="Google Shape;1932;p174"/>
              <p:cNvPicPr preferRelativeResize="0"/>
              <p:nvPr/>
            </p:nvPicPr>
            <p:blipFill rotWithShape="1">
              <a:blip r:embed="rId3">
                <a:alphaModFix/>
              </a:blip>
              <a:srcRect b="0" l="20669" r="9844" t="0"/>
              <a:stretch/>
            </p:blipFill>
            <p:spPr>
              <a:xfrm>
                <a:off x="8585280" y="-9000"/>
                <a:ext cx="530640" cy="530640"/>
              </a:xfrm>
              <a:prstGeom prst="rect">
                <a:avLst/>
              </a:prstGeom>
              <a:noFill/>
              <a:ln>
                <a:noFill/>
              </a:ln>
            </p:spPr>
          </p:pic>
          <p:sp>
            <p:nvSpPr>
              <p:cNvPr id="1933" name="Google Shape;1933;p174"/>
              <p:cNvSpPr/>
              <p:nvPr/>
            </p:nvSpPr>
            <p:spPr>
              <a:xfrm>
                <a:off x="8585280" y="48420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
        <p:nvSpPr>
          <p:cNvPr id="1934" name="Google Shape;1934;p174"/>
          <p:cNvSpPr/>
          <p:nvPr/>
        </p:nvSpPr>
        <p:spPr>
          <a:xfrm>
            <a:off x="19663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935" name="Google Shape;1935;p174"/>
          <p:cNvSpPr/>
          <p:nvPr/>
        </p:nvSpPr>
        <p:spPr>
          <a:xfrm>
            <a:off x="19663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936" name="Google Shape;1936;p174"/>
          <p:cNvSpPr/>
          <p:nvPr/>
        </p:nvSpPr>
        <p:spPr>
          <a:xfrm>
            <a:off x="19663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LookML Schema(s)</a:t>
            </a:r>
            <a:endParaRPr b="0" i="0" sz="1100" u="none" cap="none" strike="noStrike">
              <a:latin typeface="Arial"/>
              <a:ea typeface="Arial"/>
              <a:cs typeface="Arial"/>
              <a:sym typeface="Arial"/>
            </a:endParaRPr>
          </a:p>
        </p:txBody>
      </p:sp>
      <p:sp>
        <p:nvSpPr>
          <p:cNvPr id="1937" name="Google Shape;1937;p174"/>
          <p:cNvSpPr/>
          <p:nvPr/>
        </p:nvSpPr>
        <p:spPr>
          <a:xfrm>
            <a:off x="19663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938" name="Google Shape;1938;p174"/>
          <p:cNvSpPr/>
          <p:nvPr/>
        </p:nvSpPr>
        <p:spPr>
          <a:xfrm>
            <a:off x="19663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939" name="Google Shape;1939;p174"/>
          <p:cNvSpPr/>
          <p:nvPr/>
        </p:nvSpPr>
        <p:spPr>
          <a:xfrm>
            <a:off x="19663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940" name="Google Shape;1940;p174"/>
          <p:cNvSpPr/>
          <p:nvPr/>
        </p:nvSpPr>
        <p:spPr>
          <a:xfrm>
            <a:off x="4520160" y="2105280"/>
            <a:ext cx="2714760" cy="7855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Content | Name</a:t>
            </a:r>
            <a:endParaRPr b="0" i="0" sz="1200" u="none" cap="none" strike="noStrike">
              <a:latin typeface="Arial"/>
              <a:ea typeface="Arial"/>
              <a:cs typeface="Arial"/>
              <a:sym typeface="Arial"/>
            </a:endParaRPr>
          </a:p>
        </p:txBody>
      </p:sp>
      <p:sp>
        <p:nvSpPr>
          <p:cNvPr id="1941" name="Google Shape;1941;p174"/>
          <p:cNvSpPr/>
          <p:nvPr/>
        </p:nvSpPr>
        <p:spPr>
          <a:xfrm>
            <a:off x="442080" y="21942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942" name="Google Shape;1942;p174"/>
          <p:cNvSpPr/>
          <p:nvPr/>
        </p:nvSpPr>
        <p:spPr>
          <a:xfrm>
            <a:off x="4678920" y="3420360"/>
            <a:ext cx="1392480" cy="679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Container</a:t>
            </a:r>
            <a:endParaRPr b="0" i="0" sz="10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(maintains the RI across the Schema elements)</a:t>
            </a:r>
            <a:endParaRPr b="0" i="0" sz="700" u="none" cap="none" strike="noStrike">
              <a:latin typeface="Arial"/>
              <a:ea typeface="Arial"/>
              <a:cs typeface="Arial"/>
              <a:sym typeface="Arial"/>
            </a:endParaRPr>
          </a:p>
        </p:txBody>
      </p:sp>
      <p:sp>
        <p:nvSpPr>
          <p:cNvPr id="1943" name="Google Shape;1943;p174"/>
          <p:cNvSpPr/>
          <p:nvPr/>
        </p:nvSpPr>
        <p:spPr>
          <a:xfrm>
            <a:off x="6580080" y="308988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A</a:t>
            </a:r>
            <a:endParaRPr b="0" i="0" sz="1000" u="none" cap="none" strike="noStrike">
              <a:latin typeface="Arial"/>
              <a:ea typeface="Arial"/>
              <a:cs typeface="Arial"/>
              <a:sym typeface="Arial"/>
            </a:endParaRPr>
          </a:p>
        </p:txBody>
      </p:sp>
      <p:sp>
        <p:nvSpPr>
          <p:cNvPr id="1944" name="Google Shape;1944;p174"/>
          <p:cNvSpPr/>
          <p:nvPr/>
        </p:nvSpPr>
        <p:spPr>
          <a:xfrm>
            <a:off x="6559200" y="359568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B</a:t>
            </a:r>
            <a:endParaRPr b="0" i="0" sz="1000" u="none" cap="none" strike="noStrike">
              <a:latin typeface="Arial"/>
              <a:ea typeface="Arial"/>
              <a:cs typeface="Arial"/>
              <a:sym typeface="Arial"/>
            </a:endParaRPr>
          </a:p>
        </p:txBody>
      </p:sp>
      <p:sp>
        <p:nvSpPr>
          <p:cNvPr id="1945" name="Google Shape;1945;p174"/>
          <p:cNvSpPr/>
          <p:nvPr/>
        </p:nvSpPr>
        <p:spPr>
          <a:xfrm>
            <a:off x="6559200" y="4147920"/>
            <a:ext cx="963720" cy="328680"/>
          </a:xfrm>
          <a:prstGeom prst="roundRect">
            <a:avLst>
              <a:gd fmla="val 16667"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000" u="none" cap="none" strike="noStrike">
                <a:solidFill>
                  <a:srgbClr val="000000"/>
                </a:solidFill>
                <a:latin typeface="Arial"/>
                <a:ea typeface="Arial"/>
                <a:cs typeface="Arial"/>
                <a:sym typeface="Arial"/>
              </a:rPr>
              <a:t>Schema C</a:t>
            </a:r>
            <a:endParaRPr b="0" i="0" sz="1000" u="none" cap="none" strike="noStrike">
              <a:latin typeface="Arial"/>
              <a:ea typeface="Arial"/>
              <a:cs typeface="Arial"/>
              <a:sym typeface="Arial"/>
            </a:endParaRPr>
          </a:p>
        </p:txBody>
      </p:sp>
      <p:sp>
        <p:nvSpPr>
          <p:cNvPr id="1946" name="Google Shape;1946;p174"/>
          <p:cNvSpPr/>
          <p:nvPr/>
        </p:nvSpPr>
        <p:spPr>
          <a:xfrm flipH="1" rot="10800000">
            <a:off x="6070680" y="3760200"/>
            <a:ext cx="507960" cy="50544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947" name="Google Shape;1947;p174"/>
          <p:cNvSpPr/>
          <p:nvPr/>
        </p:nvSpPr>
        <p:spPr>
          <a:xfrm>
            <a:off x="6071760" y="3760200"/>
            <a:ext cx="48672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948" name="Google Shape;1948;p174"/>
          <p:cNvSpPr/>
          <p:nvPr/>
        </p:nvSpPr>
        <p:spPr>
          <a:xfrm>
            <a:off x="6071760" y="3760200"/>
            <a:ext cx="486720" cy="5515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sm" w="sm" type="none"/>
          </a:ln>
        </p:spPr>
      </p:sp>
      <p:sp>
        <p:nvSpPr>
          <p:cNvPr id="1949" name="Google Shape;1949;p174"/>
          <p:cNvSpPr/>
          <p:nvPr/>
        </p:nvSpPr>
        <p:spPr>
          <a:xfrm>
            <a:off x="4490640" y="790200"/>
            <a:ext cx="3232080" cy="7855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Container | Name</a:t>
            </a:r>
            <a:endParaRPr b="0" i="0" sz="1200" u="none" cap="none"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3" name="Shape 1953"/>
        <p:cNvGrpSpPr/>
        <p:nvPr/>
      </p:nvGrpSpPr>
      <p:grpSpPr>
        <a:xfrm>
          <a:off x="0" y="0"/>
          <a:ext cx="0" cy="0"/>
          <a:chOff x="0" y="0"/>
          <a:chExt cx="0" cy="0"/>
        </a:xfrm>
      </p:grpSpPr>
      <p:sp>
        <p:nvSpPr>
          <p:cNvPr id="1954" name="Google Shape;1954;p175"/>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Guideline</a:t>
            </a:r>
            <a:endParaRPr b="0" i="0" sz="2000" u="none" cap="none" strike="noStrike">
              <a:solidFill>
                <a:srgbClr val="000000"/>
              </a:solidFill>
              <a:latin typeface="Arial"/>
              <a:ea typeface="Arial"/>
              <a:cs typeface="Arial"/>
              <a:sym typeface="Arial"/>
            </a:endParaRPr>
          </a:p>
        </p:txBody>
      </p:sp>
      <p:sp>
        <p:nvSpPr>
          <p:cNvPr id="1955" name="Google Shape;1955;p175"/>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1956" name="Google Shape;1956;p175"/>
          <p:cNvGrpSpPr/>
          <p:nvPr/>
        </p:nvGrpSpPr>
        <p:grpSpPr>
          <a:xfrm>
            <a:off x="8546760" y="-9360"/>
            <a:ext cx="594000" cy="679680"/>
            <a:chOff x="8546760" y="-9360"/>
            <a:chExt cx="594000" cy="679680"/>
          </a:xfrm>
        </p:grpSpPr>
        <p:sp>
          <p:nvSpPr>
            <p:cNvPr id="1957" name="Google Shape;1957;p175"/>
            <p:cNvSpPr/>
            <p:nvPr/>
          </p:nvSpPr>
          <p:spPr>
            <a:xfrm>
              <a:off x="8546760" y="-936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8" name="Google Shape;1958;p175"/>
            <p:cNvGrpSpPr/>
            <p:nvPr/>
          </p:nvGrpSpPr>
          <p:grpSpPr>
            <a:xfrm>
              <a:off x="8585280" y="-9000"/>
              <a:ext cx="555480" cy="679320"/>
              <a:chOff x="8585280" y="-9000"/>
              <a:chExt cx="555480" cy="679320"/>
            </a:xfrm>
          </p:grpSpPr>
          <p:pic>
            <p:nvPicPr>
              <p:cNvPr id="1959" name="Google Shape;1959;p175"/>
              <p:cNvPicPr preferRelativeResize="0"/>
              <p:nvPr/>
            </p:nvPicPr>
            <p:blipFill rotWithShape="1">
              <a:blip r:embed="rId3">
                <a:alphaModFix/>
              </a:blip>
              <a:srcRect b="0" l="20669" r="9844" t="0"/>
              <a:stretch/>
            </p:blipFill>
            <p:spPr>
              <a:xfrm>
                <a:off x="8585280" y="-9000"/>
                <a:ext cx="530640" cy="530640"/>
              </a:xfrm>
              <a:prstGeom prst="rect">
                <a:avLst/>
              </a:prstGeom>
              <a:noFill/>
              <a:ln>
                <a:noFill/>
              </a:ln>
            </p:spPr>
          </p:pic>
          <p:sp>
            <p:nvSpPr>
              <p:cNvPr id="1960" name="Google Shape;1960;p175"/>
              <p:cNvSpPr/>
              <p:nvPr/>
            </p:nvSpPr>
            <p:spPr>
              <a:xfrm>
                <a:off x="8585280" y="48420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
        <p:nvSpPr>
          <p:cNvPr id="1961" name="Google Shape;1961;p175"/>
          <p:cNvSpPr/>
          <p:nvPr/>
        </p:nvSpPr>
        <p:spPr>
          <a:xfrm>
            <a:off x="19663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962" name="Google Shape;1962;p175"/>
          <p:cNvSpPr/>
          <p:nvPr/>
        </p:nvSpPr>
        <p:spPr>
          <a:xfrm>
            <a:off x="19663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963" name="Google Shape;1963;p175"/>
          <p:cNvSpPr/>
          <p:nvPr/>
        </p:nvSpPr>
        <p:spPr>
          <a:xfrm>
            <a:off x="19663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LookML Schema(s)</a:t>
            </a:r>
            <a:endParaRPr b="0" i="0" sz="1100" u="none" cap="none" strike="noStrike">
              <a:latin typeface="Arial"/>
              <a:ea typeface="Arial"/>
              <a:cs typeface="Arial"/>
              <a:sym typeface="Arial"/>
            </a:endParaRPr>
          </a:p>
        </p:txBody>
      </p:sp>
      <p:sp>
        <p:nvSpPr>
          <p:cNvPr id="1964" name="Google Shape;1964;p175"/>
          <p:cNvSpPr/>
          <p:nvPr/>
        </p:nvSpPr>
        <p:spPr>
          <a:xfrm>
            <a:off x="19663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965" name="Google Shape;1965;p175"/>
          <p:cNvSpPr/>
          <p:nvPr/>
        </p:nvSpPr>
        <p:spPr>
          <a:xfrm>
            <a:off x="19663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966" name="Google Shape;1966;p175"/>
          <p:cNvSpPr/>
          <p:nvPr/>
        </p:nvSpPr>
        <p:spPr>
          <a:xfrm>
            <a:off x="19663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967" name="Google Shape;1967;p175"/>
          <p:cNvSpPr/>
          <p:nvPr/>
        </p:nvSpPr>
        <p:spPr>
          <a:xfrm>
            <a:off x="4397040" y="736920"/>
            <a:ext cx="2943720" cy="105192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Bottom Up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Container | Name</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Schema | Content | Name</a:t>
            </a:r>
            <a:endParaRPr b="0" i="0" sz="1200" u="none" cap="none" strike="noStrike">
              <a:latin typeface="Arial"/>
              <a:ea typeface="Arial"/>
              <a:cs typeface="Arial"/>
              <a:sym typeface="Arial"/>
            </a:endParaRPr>
          </a:p>
        </p:txBody>
      </p:sp>
      <p:sp>
        <p:nvSpPr>
          <p:cNvPr id="1968" name="Google Shape;1968;p175"/>
          <p:cNvSpPr/>
          <p:nvPr/>
        </p:nvSpPr>
        <p:spPr>
          <a:xfrm>
            <a:off x="442080" y="21942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969" name="Google Shape;1969;p175"/>
          <p:cNvSpPr/>
          <p:nvPr/>
        </p:nvSpPr>
        <p:spPr>
          <a:xfrm>
            <a:off x="4426200" y="2031840"/>
            <a:ext cx="2914920" cy="1186560"/>
          </a:xfrm>
          <a:prstGeom prst="rect">
            <a:avLst/>
          </a:prstGeom>
          <a:noFill/>
          <a:ln cap="flat" cmpd="sng" w="9525">
            <a:solidFill>
              <a:srgbClr val="EE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Mapping Reference: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Mapping | Container | Name</a:t>
            </a:r>
            <a:endParaRPr b="0" i="0" sz="1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Mapping | Content | Name</a:t>
            </a:r>
            <a:endParaRPr b="0" i="0" sz="1200" u="none" cap="none" strike="noStrike">
              <a:latin typeface="Arial"/>
              <a:ea typeface="Arial"/>
              <a:cs typeface="Arial"/>
              <a:sym typeface="Arial"/>
            </a:endParaRPr>
          </a:p>
        </p:txBody>
      </p:sp>
      <p:sp>
        <p:nvSpPr>
          <p:cNvPr id="1970" name="Google Shape;1970;p175"/>
          <p:cNvSpPr/>
          <p:nvPr/>
        </p:nvSpPr>
        <p:spPr>
          <a:xfrm>
            <a:off x="4473000" y="3416760"/>
            <a:ext cx="3584520" cy="785520"/>
          </a:xfrm>
          <a:prstGeom prst="rect">
            <a:avLst/>
          </a:prstGeom>
          <a:noFill/>
          <a:ln>
            <a:noFill/>
          </a:ln>
        </p:spPr>
        <p:txBody>
          <a:bodyPr anchorCtr="0" anchor="ctr" bIns="91425" lIns="91425" spcFirstLastPara="1" rIns="91425" wrap="square" tIns="91425">
            <a:noAutofit/>
          </a:bodyPr>
          <a:lstStyle/>
          <a:p>
            <a:pPr indent="-291600" lvl="0" marL="457200" marR="0" rtl="0" algn="l">
              <a:lnSpc>
                <a:spcPct val="100000"/>
              </a:lnSpc>
              <a:spcBef>
                <a:spcPts val="0"/>
              </a:spcBef>
              <a:spcAft>
                <a:spcPts val="0"/>
              </a:spcAft>
              <a:buClr>
                <a:srgbClr val="000000"/>
              </a:buClr>
              <a:buSzPts val="1000"/>
              <a:buFont typeface="Noto Sans Symbols"/>
              <a:buAutoNum type="arabicPeriod"/>
            </a:pPr>
            <a:r>
              <a:rPr b="0" i="0" lang="en-US" sz="1000" u="none" cap="none" strike="noStrike">
                <a:solidFill>
                  <a:srgbClr val="000000"/>
                </a:solidFill>
                <a:latin typeface="Arial"/>
                <a:ea typeface="Arial"/>
                <a:cs typeface="Arial"/>
                <a:sym typeface="Arial"/>
              </a:rPr>
              <a:t>Identify which Top-Down Ontologies are included</a:t>
            </a:r>
            <a:endParaRPr b="0" i="0" sz="1000" u="none" cap="none" strike="noStrike">
              <a:latin typeface="Arial"/>
              <a:ea typeface="Arial"/>
              <a:cs typeface="Arial"/>
              <a:sym typeface="Arial"/>
            </a:endParaRPr>
          </a:p>
          <a:p>
            <a:pPr indent="-291600" lvl="0" marL="457200" marR="0" rtl="0" algn="l">
              <a:lnSpc>
                <a:spcPct val="100000"/>
              </a:lnSpc>
              <a:spcBef>
                <a:spcPts val="0"/>
              </a:spcBef>
              <a:spcAft>
                <a:spcPts val="0"/>
              </a:spcAft>
              <a:buClr>
                <a:srgbClr val="000000"/>
              </a:buClr>
              <a:buSzPts val="1000"/>
              <a:buFont typeface="Noto Sans Symbols"/>
              <a:buAutoNum type="arabicPeriod"/>
            </a:pPr>
            <a:r>
              <a:rPr b="0" i="0" lang="en-US" sz="1000" u="none" cap="none" strike="noStrike">
                <a:solidFill>
                  <a:srgbClr val="000000"/>
                </a:solidFill>
                <a:latin typeface="Arial"/>
                <a:ea typeface="Arial"/>
                <a:cs typeface="Arial"/>
                <a:sym typeface="Arial"/>
              </a:rPr>
              <a:t>Partition the mapping </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By Table (lowest unit of Content)</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By Container (View, DB, Project ID)</a:t>
            </a:r>
            <a:endParaRPr b="0" i="0" sz="1000" u="none" cap="none" strike="noStrike">
              <a:latin typeface="Arial"/>
              <a:ea typeface="Arial"/>
              <a:cs typeface="Arial"/>
              <a:sym typeface="Arial"/>
            </a:endParaRPr>
          </a:p>
          <a:p>
            <a:pPr indent="-291600" lvl="1" marL="914400" marR="0" rtl="0" algn="l">
              <a:lnSpc>
                <a:spcPct val="100000"/>
              </a:lnSpc>
              <a:spcBef>
                <a:spcPts val="0"/>
              </a:spcBef>
              <a:spcAft>
                <a:spcPts val="0"/>
              </a:spcAft>
              <a:buClr>
                <a:srgbClr val="000000"/>
              </a:buClr>
              <a:buSzPts val="1000"/>
              <a:buFont typeface="Noto Sans Symbols"/>
              <a:buAutoNum type="alphaLcPeriod"/>
            </a:pPr>
            <a:r>
              <a:rPr b="0" i="0" lang="en-US" sz="1000" u="none" cap="none" strike="noStrike">
                <a:solidFill>
                  <a:srgbClr val="000000"/>
                </a:solidFill>
                <a:latin typeface="Arial"/>
                <a:ea typeface="Arial"/>
                <a:cs typeface="Arial"/>
                <a:sym typeface="Arial"/>
              </a:rPr>
              <a:t>Note: View has a (mostly) 1:1 Table</a:t>
            </a:r>
            <a:endParaRPr b="0" i="0" sz="1000" u="none" cap="none"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4" name="Shape 1974"/>
        <p:cNvGrpSpPr/>
        <p:nvPr/>
      </p:nvGrpSpPr>
      <p:grpSpPr>
        <a:xfrm>
          <a:off x="0" y="0"/>
          <a:ext cx="0" cy="0"/>
          <a:chOff x="0" y="0"/>
          <a:chExt cx="0" cy="0"/>
        </a:xfrm>
      </p:grpSpPr>
      <p:sp>
        <p:nvSpPr>
          <p:cNvPr id="1975" name="Google Shape;1975;p176"/>
          <p:cNvSpPr txBox="1"/>
          <p:nvPr/>
        </p:nvSpPr>
        <p:spPr>
          <a:xfrm>
            <a:off x="762120" y="110880"/>
            <a:ext cx="5796720" cy="295200"/>
          </a:xfrm>
          <a:prstGeom prst="rect">
            <a:avLst/>
          </a:prstGeom>
          <a:noFill/>
          <a:ln>
            <a:noFill/>
          </a:ln>
        </p:spPr>
        <p:txBody>
          <a:bodyPr anchorCtr="0" anchor="ctr" bIns="0" lIns="0" spcFirstLastPara="1" rIns="0" wrap="square" tIns="0">
            <a:normAutofit/>
          </a:bodyPr>
          <a:lstStyle/>
          <a:p>
            <a:pPr indent="0" lvl="0" marL="0" marR="0" rtl="0" algn="l">
              <a:lnSpc>
                <a:spcPct val="80000"/>
              </a:lnSpc>
              <a:spcBef>
                <a:spcPts val="0"/>
              </a:spcBef>
              <a:spcAft>
                <a:spcPts val="0"/>
              </a:spcAft>
              <a:buNone/>
            </a:pPr>
            <a:r>
              <a:rPr b="1" i="0" lang="en-US" sz="2000" u="none" cap="none" strike="noStrike">
                <a:solidFill>
                  <a:srgbClr val="000000"/>
                </a:solidFill>
                <a:latin typeface="Arial"/>
                <a:ea typeface="Arial"/>
                <a:cs typeface="Arial"/>
                <a:sym typeface="Arial"/>
              </a:rPr>
              <a:t>Mapping Guideline</a:t>
            </a:r>
            <a:endParaRPr b="0" i="0" sz="2000" u="none" cap="none" strike="noStrike">
              <a:solidFill>
                <a:srgbClr val="000000"/>
              </a:solidFill>
              <a:latin typeface="Arial"/>
              <a:ea typeface="Arial"/>
              <a:cs typeface="Arial"/>
              <a:sym typeface="Arial"/>
            </a:endParaRPr>
          </a:p>
        </p:txBody>
      </p:sp>
      <p:sp>
        <p:nvSpPr>
          <p:cNvPr id="1976" name="Google Shape;1976;p176"/>
          <p:cNvSpPr/>
          <p:nvPr/>
        </p:nvSpPr>
        <p:spPr>
          <a:xfrm>
            <a:off x="0" y="0"/>
            <a:ext cx="626040" cy="396360"/>
          </a:xfrm>
          <a:prstGeom prst="rect">
            <a:avLst/>
          </a:prstGeom>
          <a:solidFill>
            <a:srgbClr val="EE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How</a:t>
            </a:r>
            <a:endParaRPr b="0" i="0" sz="1400" u="none" cap="none" strike="noStrike">
              <a:latin typeface="Arial"/>
              <a:ea typeface="Arial"/>
              <a:cs typeface="Arial"/>
              <a:sym typeface="Arial"/>
            </a:endParaRPr>
          </a:p>
        </p:txBody>
      </p:sp>
      <p:grpSp>
        <p:nvGrpSpPr>
          <p:cNvPr id="1977" name="Google Shape;1977;p176"/>
          <p:cNvGrpSpPr/>
          <p:nvPr/>
        </p:nvGrpSpPr>
        <p:grpSpPr>
          <a:xfrm>
            <a:off x="8546760" y="-9360"/>
            <a:ext cx="594000" cy="679680"/>
            <a:chOff x="8546760" y="-9360"/>
            <a:chExt cx="594000" cy="679680"/>
          </a:xfrm>
        </p:grpSpPr>
        <p:sp>
          <p:nvSpPr>
            <p:cNvPr id="1978" name="Google Shape;1978;p176"/>
            <p:cNvSpPr/>
            <p:nvPr/>
          </p:nvSpPr>
          <p:spPr>
            <a:xfrm>
              <a:off x="8546760" y="-9360"/>
              <a:ext cx="594000" cy="67968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9" name="Google Shape;1979;p176"/>
            <p:cNvGrpSpPr/>
            <p:nvPr/>
          </p:nvGrpSpPr>
          <p:grpSpPr>
            <a:xfrm>
              <a:off x="8585280" y="-9000"/>
              <a:ext cx="555480" cy="679320"/>
              <a:chOff x="8585280" y="-9000"/>
              <a:chExt cx="555480" cy="679320"/>
            </a:xfrm>
          </p:grpSpPr>
          <p:pic>
            <p:nvPicPr>
              <p:cNvPr id="1980" name="Google Shape;1980;p176"/>
              <p:cNvPicPr preferRelativeResize="0"/>
              <p:nvPr/>
            </p:nvPicPr>
            <p:blipFill rotWithShape="1">
              <a:blip r:embed="rId3">
                <a:alphaModFix/>
              </a:blip>
              <a:srcRect b="0" l="20669" r="9844" t="0"/>
              <a:stretch/>
            </p:blipFill>
            <p:spPr>
              <a:xfrm>
                <a:off x="8585280" y="-9000"/>
                <a:ext cx="530640" cy="530640"/>
              </a:xfrm>
              <a:prstGeom prst="rect">
                <a:avLst/>
              </a:prstGeom>
              <a:noFill/>
              <a:ln>
                <a:noFill/>
              </a:ln>
            </p:spPr>
          </p:pic>
          <p:sp>
            <p:nvSpPr>
              <p:cNvPr id="1981" name="Google Shape;1981;p176"/>
              <p:cNvSpPr/>
              <p:nvPr/>
            </p:nvSpPr>
            <p:spPr>
              <a:xfrm>
                <a:off x="8585280" y="484200"/>
                <a:ext cx="555480" cy="186120"/>
              </a:xfrm>
              <a:prstGeom prst="rect">
                <a:avLst/>
              </a:prstGeom>
              <a:noFill/>
              <a:ln>
                <a:noFill/>
              </a:ln>
            </p:spPr>
            <p:txBody>
              <a:bodyPr anchorCtr="0" anchor="ctr" bIns="42475" lIns="42475" spcFirstLastPara="1" rIns="42475" wrap="square" tIns="42475">
                <a:noAutofit/>
              </a:bodyPr>
              <a:lstStyle/>
              <a:p>
                <a:pPr indent="0" lvl="0" marL="0" marR="0" rtl="0" algn="ctr">
                  <a:lnSpc>
                    <a:spcPct val="100000"/>
                  </a:lnSpc>
                  <a:spcBef>
                    <a:spcPts val="0"/>
                  </a:spcBef>
                  <a:spcAft>
                    <a:spcPts val="0"/>
                  </a:spcAft>
                  <a:buNone/>
                </a:pPr>
                <a:r>
                  <a:rPr b="1" i="0" lang="en-US" sz="610" u="none" cap="none" strike="noStrike">
                    <a:solidFill>
                      <a:srgbClr val="EE0000"/>
                    </a:solidFill>
                    <a:latin typeface="Arial"/>
                    <a:ea typeface="Arial"/>
                    <a:cs typeface="Arial"/>
                    <a:sym typeface="Arial"/>
                  </a:rPr>
                  <a:t>SEMANTIC</a:t>
                </a:r>
                <a:endParaRPr b="0" i="0" sz="61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610" u="none" cap="none" strike="noStrike">
                    <a:solidFill>
                      <a:srgbClr val="000000"/>
                    </a:solidFill>
                    <a:latin typeface="Arial"/>
                    <a:ea typeface="Arial"/>
                    <a:cs typeface="Arial"/>
                    <a:sym typeface="Arial"/>
                  </a:rPr>
                  <a:t>Governance</a:t>
                </a:r>
                <a:endParaRPr b="0" i="0" sz="610" u="none" cap="none" strike="noStrike">
                  <a:latin typeface="Arial"/>
                  <a:ea typeface="Arial"/>
                  <a:cs typeface="Arial"/>
                  <a:sym typeface="Arial"/>
                </a:endParaRPr>
              </a:p>
            </p:txBody>
          </p:sp>
        </p:grpSp>
      </p:grpSp>
      <p:sp>
        <p:nvSpPr>
          <p:cNvPr id="1982" name="Google Shape;1982;p176"/>
          <p:cNvSpPr/>
          <p:nvPr/>
        </p:nvSpPr>
        <p:spPr>
          <a:xfrm>
            <a:off x="1611720" y="6706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Schemas</a:t>
            </a:r>
            <a:endParaRPr b="0" i="0" sz="1100" u="none" cap="none" strike="noStrike">
              <a:latin typeface="Arial"/>
              <a:ea typeface="Arial"/>
              <a:cs typeface="Arial"/>
              <a:sym typeface="Arial"/>
            </a:endParaRPr>
          </a:p>
        </p:txBody>
      </p:sp>
      <p:sp>
        <p:nvSpPr>
          <p:cNvPr id="1983" name="Google Shape;1983;p176"/>
          <p:cNvSpPr/>
          <p:nvPr/>
        </p:nvSpPr>
        <p:spPr>
          <a:xfrm>
            <a:off x="1611720" y="141084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Metric Schema(s)</a:t>
            </a:r>
            <a:endParaRPr b="0" i="0" sz="1100" u="none" cap="none" strike="noStrike">
              <a:latin typeface="Arial"/>
              <a:ea typeface="Arial"/>
              <a:cs typeface="Arial"/>
              <a:sym typeface="Arial"/>
            </a:endParaRPr>
          </a:p>
        </p:txBody>
      </p:sp>
      <p:sp>
        <p:nvSpPr>
          <p:cNvPr id="1984" name="Google Shape;1984;p176"/>
          <p:cNvSpPr/>
          <p:nvPr/>
        </p:nvSpPr>
        <p:spPr>
          <a:xfrm>
            <a:off x="1611720" y="215100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LookML Schema(s)</a:t>
            </a:r>
            <a:endParaRPr b="0" i="0" sz="1100" u="none" cap="none" strike="noStrike">
              <a:latin typeface="Arial"/>
              <a:ea typeface="Arial"/>
              <a:cs typeface="Arial"/>
              <a:sym typeface="Arial"/>
            </a:endParaRPr>
          </a:p>
        </p:txBody>
      </p:sp>
      <p:sp>
        <p:nvSpPr>
          <p:cNvPr id="1985" name="Google Shape;1985;p176"/>
          <p:cNvSpPr/>
          <p:nvPr/>
        </p:nvSpPr>
        <p:spPr>
          <a:xfrm>
            <a:off x="1611720" y="28911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Document Schema(s)</a:t>
            </a:r>
            <a:endParaRPr b="0" i="0" sz="1100" u="none" cap="none" strike="noStrike">
              <a:latin typeface="Arial"/>
              <a:ea typeface="Arial"/>
              <a:cs typeface="Arial"/>
              <a:sym typeface="Arial"/>
            </a:endParaRPr>
          </a:p>
        </p:txBody>
      </p:sp>
      <p:sp>
        <p:nvSpPr>
          <p:cNvPr id="1986" name="Google Shape;1986;p176"/>
          <p:cNvSpPr/>
          <p:nvPr/>
        </p:nvSpPr>
        <p:spPr>
          <a:xfrm>
            <a:off x="1611720" y="363096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Hierarchy Schema(s)</a:t>
            </a:r>
            <a:endParaRPr b="0" i="0" sz="1100" u="none" cap="none" strike="noStrike">
              <a:latin typeface="Arial"/>
              <a:ea typeface="Arial"/>
              <a:cs typeface="Arial"/>
              <a:sym typeface="Arial"/>
            </a:endParaRPr>
          </a:p>
        </p:txBody>
      </p:sp>
      <p:sp>
        <p:nvSpPr>
          <p:cNvPr id="1987" name="Google Shape;1987;p176"/>
          <p:cNvSpPr/>
          <p:nvPr/>
        </p:nvSpPr>
        <p:spPr>
          <a:xfrm>
            <a:off x="1611720" y="43711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AI Model Schema(s)</a:t>
            </a:r>
            <a:endParaRPr b="0" i="0" sz="1100" u="none" cap="none" strike="noStrike">
              <a:latin typeface="Arial"/>
              <a:ea typeface="Arial"/>
              <a:cs typeface="Arial"/>
              <a:sym typeface="Arial"/>
            </a:endParaRPr>
          </a:p>
        </p:txBody>
      </p:sp>
      <p:sp>
        <p:nvSpPr>
          <p:cNvPr id="1988" name="Google Shape;1988;p176"/>
          <p:cNvSpPr/>
          <p:nvPr/>
        </p:nvSpPr>
        <p:spPr>
          <a:xfrm>
            <a:off x="271080" y="2521800"/>
            <a:ext cx="1016280" cy="32868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200" u="none" cap="none" strike="noStrike">
                <a:solidFill>
                  <a:srgbClr val="000000"/>
                </a:solidFill>
                <a:latin typeface="Arial"/>
                <a:ea typeface="Arial"/>
                <a:cs typeface="Arial"/>
                <a:sym typeface="Arial"/>
              </a:rPr>
              <a:t>Content Types</a:t>
            </a:r>
            <a:endParaRPr b="0" i="0" sz="1200" u="none" cap="none" strike="noStrike">
              <a:latin typeface="Arial"/>
              <a:ea typeface="Arial"/>
              <a:cs typeface="Arial"/>
              <a:sym typeface="Arial"/>
            </a:endParaRPr>
          </a:p>
        </p:txBody>
      </p:sp>
      <p:sp>
        <p:nvSpPr>
          <p:cNvPr id="1989" name="Google Shape;1989;p176"/>
          <p:cNvSpPr/>
          <p:nvPr/>
        </p:nvSpPr>
        <p:spPr>
          <a:xfrm>
            <a:off x="4654440" y="117108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Project ID</a:t>
            </a:r>
            <a:endParaRPr b="0" i="0" sz="1100" u="none" cap="none" strike="noStrike">
              <a:latin typeface="Arial"/>
              <a:ea typeface="Arial"/>
              <a:cs typeface="Arial"/>
              <a:sym typeface="Arial"/>
            </a:endParaRPr>
          </a:p>
        </p:txBody>
      </p:sp>
      <p:sp>
        <p:nvSpPr>
          <p:cNvPr id="1990" name="Google Shape;1990;p176"/>
          <p:cNvSpPr/>
          <p:nvPr/>
        </p:nvSpPr>
        <p:spPr>
          <a:xfrm>
            <a:off x="5976000" y="2374920"/>
            <a:ext cx="16084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Database</a:t>
            </a:r>
            <a:endParaRPr b="0" i="0" sz="1100" u="none" cap="none" strike="noStrike">
              <a:latin typeface="Arial"/>
              <a:ea typeface="Arial"/>
              <a:cs typeface="Arial"/>
              <a:sym typeface="Arial"/>
            </a:endParaRPr>
          </a:p>
        </p:txBody>
      </p:sp>
      <p:sp>
        <p:nvSpPr>
          <p:cNvPr id="1991" name="Google Shape;1991;p176"/>
          <p:cNvSpPr/>
          <p:nvPr/>
        </p:nvSpPr>
        <p:spPr>
          <a:xfrm>
            <a:off x="7404480" y="328896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cxnSp>
        <p:nvCxnSpPr>
          <p:cNvPr id="1992" name="Google Shape;1992;p176"/>
          <p:cNvCxnSpPr/>
          <p:nvPr/>
        </p:nvCxnSpPr>
        <p:spPr>
          <a:xfrm>
            <a:off x="3220560" y="910800"/>
            <a:ext cx="2238000" cy="259800"/>
          </a:xfrm>
          <a:prstGeom prst="bentConnector2">
            <a:avLst/>
          </a:prstGeom>
          <a:noFill/>
          <a:ln cap="flat" cmpd="sng" w="9525">
            <a:solidFill>
              <a:srgbClr val="747676"/>
            </a:solidFill>
            <a:prstDash val="solid"/>
            <a:round/>
            <a:headEnd len="sm" w="sm" type="none"/>
            <a:tailEnd len="sm" w="sm" type="none"/>
          </a:ln>
        </p:spPr>
      </p:cxnSp>
      <p:cxnSp>
        <p:nvCxnSpPr>
          <p:cNvPr id="1993" name="Google Shape;1993;p176"/>
          <p:cNvCxnSpPr/>
          <p:nvPr/>
        </p:nvCxnSpPr>
        <p:spPr>
          <a:xfrm>
            <a:off x="5457600" y="1650600"/>
            <a:ext cx="1321500" cy="723900"/>
          </a:xfrm>
          <a:prstGeom prst="bentConnector3">
            <a:avLst>
              <a:gd fmla="val 0" name="adj1"/>
            </a:avLst>
          </a:prstGeom>
          <a:noFill/>
          <a:ln cap="flat" cmpd="sng" w="9525">
            <a:solidFill>
              <a:srgbClr val="747676"/>
            </a:solidFill>
            <a:prstDash val="solid"/>
            <a:round/>
            <a:headEnd len="sm" w="sm" type="none"/>
            <a:tailEnd len="sm" w="sm" type="none"/>
          </a:ln>
        </p:spPr>
      </p:cxnSp>
      <p:cxnSp>
        <p:nvCxnSpPr>
          <p:cNvPr id="1994" name="Google Shape;1994;p176"/>
          <p:cNvCxnSpPr/>
          <p:nvPr/>
        </p:nvCxnSpPr>
        <p:spPr>
          <a:xfrm>
            <a:off x="6780780" y="2854260"/>
            <a:ext cx="1249800" cy="434400"/>
          </a:xfrm>
          <a:prstGeom prst="bentConnector3">
            <a:avLst>
              <a:gd fmla="val 0" name="adj1"/>
            </a:avLst>
          </a:prstGeom>
          <a:noFill/>
          <a:ln cap="flat" cmpd="sng" w="9525">
            <a:solidFill>
              <a:srgbClr val="747676"/>
            </a:solidFill>
            <a:prstDash val="solid"/>
            <a:round/>
            <a:headEnd len="sm" w="sm" type="none"/>
            <a:tailEnd len="sm" w="sm" type="none"/>
          </a:ln>
        </p:spPr>
      </p:cxnSp>
      <p:cxnSp>
        <p:nvCxnSpPr>
          <p:cNvPr id="1995" name="Google Shape;1995;p176"/>
          <p:cNvCxnSpPr/>
          <p:nvPr/>
        </p:nvCxnSpPr>
        <p:spPr>
          <a:xfrm>
            <a:off x="3220560" y="1650600"/>
            <a:ext cx="2755200" cy="963600"/>
          </a:xfrm>
          <a:prstGeom prst="bentConnector3">
            <a:avLst>
              <a:gd fmla="val 49998" name="adj1"/>
            </a:avLst>
          </a:prstGeom>
          <a:noFill/>
          <a:ln cap="flat" cmpd="sng" w="9525">
            <a:solidFill>
              <a:srgbClr val="747676"/>
            </a:solidFill>
            <a:prstDash val="solid"/>
            <a:round/>
            <a:headEnd len="sm" w="sm" type="none"/>
            <a:tailEnd len="sm" w="sm" type="none"/>
          </a:ln>
        </p:spPr>
      </p:cxnSp>
      <p:sp>
        <p:nvSpPr>
          <p:cNvPr id="1996" name="Google Shape;1996;p176"/>
          <p:cNvSpPr/>
          <p:nvPr/>
        </p:nvSpPr>
        <p:spPr>
          <a:xfrm>
            <a:off x="5670360" y="328932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View</a:t>
            </a:r>
            <a:endParaRPr b="0" i="0" sz="1100" u="none" cap="none" strike="noStrike">
              <a:latin typeface="Arial"/>
              <a:ea typeface="Arial"/>
              <a:cs typeface="Arial"/>
              <a:sym typeface="Arial"/>
            </a:endParaRPr>
          </a:p>
        </p:txBody>
      </p:sp>
      <p:cxnSp>
        <p:nvCxnSpPr>
          <p:cNvPr id="1997" name="Google Shape;1997;p176"/>
          <p:cNvCxnSpPr/>
          <p:nvPr/>
        </p:nvCxnSpPr>
        <p:spPr>
          <a:xfrm>
            <a:off x="6922800" y="3529080"/>
            <a:ext cx="481200" cy="600"/>
          </a:xfrm>
          <a:prstGeom prst="bentConnector3">
            <a:avLst>
              <a:gd fmla="val 50015" name="adj1"/>
            </a:avLst>
          </a:prstGeom>
          <a:noFill/>
          <a:ln cap="flat" cmpd="sng" w="9525">
            <a:solidFill>
              <a:srgbClr val="747676"/>
            </a:solidFill>
            <a:prstDash val="solid"/>
            <a:round/>
            <a:headEnd len="sm" w="sm" type="none"/>
            <a:tailEnd len="sm" w="sm" type="none"/>
          </a:ln>
        </p:spPr>
      </p:cxnSp>
      <p:sp>
        <p:nvSpPr>
          <p:cNvPr id="1998" name="Google Shape;1998;p176"/>
          <p:cNvSpPr/>
          <p:nvPr/>
        </p:nvSpPr>
        <p:spPr>
          <a:xfrm>
            <a:off x="7557120" y="344160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sp>
        <p:nvSpPr>
          <p:cNvPr id="1999" name="Google Shape;1999;p176"/>
          <p:cNvSpPr/>
          <p:nvPr/>
        </p:nvSpPr>
        <p:spPr>
          <a:xfrm>
            <a:off x="7709400" y="3593880"/>
            <a:ext cx="1252080" cy="479520"/>
          </a:xfrm>
          <a:prstGeom prst="roundRect">
            <a:avLst>
              <a:gd fmla="val 16667" name="adj"/>
            </a:avLst>
          </a:prstGeom>
          <a:solidFill>
            <a:srgbClr val="A4C2F4"/>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Schema</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Table</a:t>
            </a:r>
            <a:endParaRPr b="0" i="0" sz="1100" u="none" cap="none" strike="noStrike">
              <a:latin typeface="Arial"/>
              <a:ea typeface="Arial"/>
              <a:cs typeface="Arial"/>
              <a:sym typeface="Arial"/>
            </a:endParaRPr>
          </a:p>
        </p:txBody>
      </p:sp>
      <p:cxnSp>
        <p:nvCxnSpPr>
          <p:cNvPr id="2000" name="Google Shape;2000;p176"/>
          <p:cNvCxnSpPr/>
          <p:nvPr/>
        </p:nvCxnSpPr>
        <p:spPr>
          <a:xfrm>
            <a:off x="6922800" y="3529080"/>
            <a:ext cx="633900" cy="151800"/>
          </a:xfrm>
          <a:prstGeom prst="bentConnector3">
            <a:avLst>
              <a:gd fmla="val 50007" name="adj1"/>
            </a:avLst>
          </a:prstGeom>
          <a:noFill/>
          <a:ln cap="flat" cmpd="sng" w="9525">
            <a:solidFill>
              <a:srgbClr val="747676"/>
            </a:solidFill>
            <a:prstDash val="solid"/>
            <a:round/>
            <a:headEnd len="sm" w="sm" type="none"/>
            <a:tailEnd len="sm" w="sm" type="none"/>
          </a:ln>
        </p:spPr>
      </p:cxnSp>
      <p:cxnSp>
        <p:nvCxnSpPr>
          <p:cNvPr id="2001" name="Google Shape;2001;p176"/>
          <p:cNvCxnSpPr/>
          <p:nvPr/>
        </p:nvCxnSpPr>
        <p:spPr>
          <a:xfrm flipH="1">
            <a:off x="6297000" y="2854440"/>
            <a:ext cx="483600" cy="434400"/>
          </a:xfrm>
          <a:prstGeom prst="bentConnector3">
            <a:avLst>
              <a:gd fmla="val 0" name="adj1"/>
            </a:avLst>
          </a:prstGeom>
          <a:noFill/>
          <a:ln cap="flat" cmpd="sng" w="9525">
            <a:solidFill>
              <a:srgbClr val="747676"/>
            </a:solidFill>
            <a:prstDash val="solid"/>
            <a:round/>
            <a:headEnd len="sm" w="sm" type="none"/>
            <a:tailEnd len="sm" w="sm" type="none"/>
          </a:ln>
        </p:spPr>
      </p:cxnSp>
      <p:sp>
        <p:nvSpPr>
          <p:cNvPr id="2002" name="Google Shape;2002;p176"/>
          <p:cNvSpPr/>
          <p:nvPr/>
        </p:nvSpPr>
        <p:spPr>
          <a:xfrm>
            <a:off x="7827120" y="1042920"/>
            <a:ext cx="1016280" cy="735120"/>
          </a:xfrm>
          <a:prstGeom prst="verticalScroll">
            <a:avLst>
              <a:gd fmla="val 12500" name="adj"/>
            </a:avLst>
          </a:prstGeom>
          <a:solidFill>
            <a:srgbClr val="D8DADA"/>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Policy term</a:t>
            </a:r>
            <a:endParaRPr b="0" i="0" sz="1400" u="none" cap="none" strike="noStrike">
              <a:latin typeface="Arial"/>
              <a:ea typeface="Arial"/>
              <a:cs typeface="Arial"/>
              <a:sym typeface="Arial"/>
            </a:endParaRPr>
          </a:p>
        </p:txBody>
      </p:sp>
      <p:sp>
        <p:nvSpPr>
          <p:cNvPr id="2003" name="Google Shape;2003;p176"/>
          <p:cNvSpPr/>
          <p:nvPr/>
        </p:nvSpPr>
        <p:spPr>
          <a:xfrm rot="10800000">
            <a:off x="6263640" y="1410480"/>
            <a:ext cx="1655640" cy="360"/>
          </a:xfrm>
          <a:custGeom>
            <a:rect b="b" l="l" r="r" t="t"/>
            <a:pathLst>
              <a:path extrusionOk="0" h="21600" w="21600">
                <a:moveTo>
                  <a:pt x="0" y="0"/>
                </a:moveTo>
                <a:lnTo>
                  <a:pt x="21600" y="21600"/>
                </a:lnTo>
              </a:path>
            </a:pathLst>
          </a:custGeom>
          <a:noFill/>
          <a:ln cap="flat" cmpd="sng" w="9525">
            <a:solidFill>
              <a:srgbClr val="EE0000"/>
            </a:solidFill>
            <a:prstDash val="solid"/>
            <a:round/>
            <a:headEnd len="sm" w="sm" type="none"/>
            <a:tailEnd len="sm" w="sm" type="none"/>
          </a:ln>
        </p:spPr>
      </p:sp>
      <p:sp>
        <p:nvSpPr>
          <p:cNvPr id="2004" name="Google Shape;2004;p176"/>
          <p:cNvSpPr/>
          <p:nvPr/>
        </p:nvSpPr>
        <p:spPr>
          <a:xfrm flipH="1">
            <a:off x="7584840" y="1778760"/>
            <a:ext cx="750240" cy="835920"/>
          </a:xfrm>
          <a:custGeom>
            <a:rect b="b" l="l" r="r" t="t"/>
            <a:pathLst>
              <a:path extrusionOk="0" h="21600" w="21600">
                <a:moveTo>
                  <a:pt x="0" y="0"/>
                </a:moveTo>
                <a:lnTo>
                  <a:pt x="21600" y="21600"/>
                </a:lnTo>
              </a:path>
            </a:pathLst>
          </a:custGeom>
          <a:noFill/>
          <a:ln cap="flat" cmpd="sng" w="9525">
            <a:solidFill>
              <a:srgbClr val="EE0000"/>
            </a:solidFill>
            <a:prstDash val="solid"/>
            <a:round/>
            <a:headEnd len="sm" w="sm" type="none"/>
            <a:tailEnd len="sm" w="sm" type="none"/>
          </a:ln>
        </p:spPr>
      </p:sp>
      <p:sp>
        <p:nvSpPr>
          <p:cNvPr id="2005" name="Google Shape;2005;p176"/>
          <p:cNvSpPr/>
          <p:nvPr/>
        </p:nvSpPr>
        <p:spPr>
          <a:xfrm>
            <a:off x="8335440" y="1778760"/>
            <a:ext cx="360" cy="1815120"/>
          </a:xfrm>
          <a:custGeom>
            <a:rect b="b" l="l" r="r" t="t"/>
            <a:pathLst>
              <a:path extrusionOk="0" h="21600" w="21600">
                <a:moveTo>
                  <a:pt x="0" y="0"/>
                </a:moveTo>
                <a:lnTo>
                  <a:pt x="21600" y="21600"/>
                </a:lnTo>
              </a:path>
            </a:pathLst>
          </a:custGeom>
          <a:noFill/>
          <a:ln cap="flat" cmpd="sng" w="9525">
            <a:solidFill>
              <a:srgbClr val="EE0000"/>
            </a:solidFill>
            <a:prstDash val="solid"/>
            <a:round/>
            <a:headEnd len="sm" w="sm" type="none"/>
            <a:tailEnd len="sm" w="sm" type="none"/>
          </a:ln>
        </p:spPr>
      </p:sp>
      <p:sp>
        <p:nvSpPr>
          <p:cNvPr id="2006" name="Google Shape;2006;p176"/>
          <p:cNvSpPr/>
          <p:nvPr/>
        </p:nvSpPr>
        <p:spPr>
          <a:xfrm>
            <a:off x="6068160" y="-919080"/>
            <a:ext cx="1424880" cy="479520"/>
          </a:xfrm>
          <a:prstGeom prst="frame">
            <a:avLst>
              <a:gd fmla="val 12500" name="adj1"/>
            </a:avLst>
          </a:prstGeom>
          <a:solidFill>
            <a:srgbClr val="00AC3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System</a:t>
            </a:r>
            <a:endParaRPr b="0" i="0" sz="1400" u="none" cap="none" strike="noStrike">
              <a:latin typeface="Arial"/>
              <a:ea typeface="Arial"/>
              <a:cs typeface="Arial"/>
              <a:sym typeface="Arial"/>
            </a:endParaRPr>
          </a:p>
        </p:txBody>
      </p:sp>
      <p:sp>
        <p:nvSpPr>
          <p:cNvPr id="2007" name="Google Shape;2007;p176"/>
          <p:cNvSpPr/>
          <p:nvPr/>
        </p:nvSpPr>
        <p:spPr>
          <a:xfrm>
            <a:off x="7635600" y="-996480"/>
            <a:ext cx="945720" cy="328680"/>
          </a:xfrm>
          <a:prstGeom prst="snip2SameRect">
            <a:avLst>
              <a:gd fmla="val 16667" name="adj1"/>
              <a:gd fmla="val 0" name="adj2"/>
            </a:avLst>
          </a:prstGeom>
          <a:solidFill>
            <a:srgbClr val="D8DADA"/>
          </a:solidFill>
          <a:ln cap="flat" cmpd="sng" w="952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Process A</a:t>
            </a:r>
            <a:endParaRPr b="0" i="0" sz="1100" u="none" cap="none" strike="noStrike">
              <a:latin typeface="Arial"/>
              <a:ea typeface="Arial"/>
              <a:cs typeface="Arial"/>
              <a:sym typeface="Arial"/>
            </a:endParaRPr>
          </a:p>
        </p:txBody>
      </p:sp>
      <p:sp>
        <p:nvSpPr>
          <p:cNvPr id="2008" name="Google Shape;2008;p176"/>
          <p:cNvSpPr/>
          <p:nvPr/>
        </p:nvSpPr>
        <p:spPr>
          <a:xfrm>
            <a:off x="7493400" y="-679320"/>
            <a:ext cx="294480" cy="36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2009" name="Google Shape;2009;p176"/>
          <p:cNvSpPr/>
          <p:nvPr/>
        </p:nvSpPr>
        <p:spPr>
          <a:xfrm>
            <a:off x="7788240" y="-843840"/>
            <a:ext cx="945720" cy="328680"/>
          </a:xfrm>
          <a:prstGeom prst="snip2SameRect">
            <a:avLst>
              <a:gd fmla="val 16667" name="adj1"/>
              <a:gd fmla="val 0" name="adj2"/>
            </a:avLst>
          </a:prstGeom>
          <a:solidFill>
            <a:srgbClr val="D8DADA"/>
          </a:solidFill>
          <a:ln cap="flat" cmpd="sng" w="952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Process A</a:t>
            </a:r>
            <a:endParaRPr b="0" i="0" sz="1100" u="none" cap="none" strike="noStrike">
              <a:latin typeface="Arial"/>
              <a:ea typeface="Arial"/>
              <a:cs typeface="Arial"/>
              <a:sym typeface="Arial"/>
            </a:endParaRPr>
          </a:p>
        </p:txBody>
      </p:sp>
      <p:sp>
        <p:nvSpPr>
          <p:cNvPr id="2010" name="Google Shape;2010;p176"/>
          <p:cNvSpPr/>
          <p:nvPr/>
        </p:nvSpPr>
        <p:spPr>
          <a:xfrm>
            <a:off x="7940520" y="-691560"/>
            <a:ext cx="945720" cy="328680"/>
          </a:xfrm>
          <a:prstGeom prst="snip2SameRect">
            <a:avLst>
              <a:gd fmla="val 16667" name="adj1"/>
              <a:gd fmla="val 0" name="adj2"/>
            </a:avLst>
          </a:prstGeom>
          <a:solidFill>
            <a:srgbClr val="D8DADA"/>
          </a:solidFill>
          <a:ln cap="flat" cmpd="sng" w="9525">
            <a:solidFill>
              <a:srgbClr val="00AC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i="0" lang="en-US" sz="1100" u="none" cap="none" strike="noStrike">
                <a:solidFill>
                  <a:srgbClr val="000000"/>
                </a:solidFill>
                <a:latin typeface="Arial"/>
                <a:ea typeface="Arial"/>
                <a:cs typeface="Arial"/>
                <a:sym typeface="Arial"/>
              </a:rPr>
              <a:t>Process A</a:t>
            </a:r>
            <a:endParaRPr b="0" i="0" sz="1100" u="none" cap="none" strike="noStrike">
              <a:latin typeface="Arial"/>
              <a:ea typeface="Arial"/>
              <a:cs typeface="Arial"/>
              <a:sym typeface="Arial"/>
            </a:endParaRPr>
          </a:p>
        </p:txBody>
      </p:sp>
      <p:sp>
        <p:nvSpPr>
          <p:cNvPr id="2011" name="Google Shape;2011;p176"/>
          <p:cNvSpPr/>
          <p:nvPr/>
        </p:nvSpPr>
        <p:spPr>
          <a:xfrm flipH="1">
            <a:off x="6778800" y="-439560"/>
            <a:ext cx="360" cy="2814120"/>
          </a:xfrm>
          <a:custGeom>
            <a:rect b="b" l="l" r="r" t="t"/>
            <a:pathLst>
              <a:path extrusionOk="0" h="21600" w="21600">
                <a:moveTo>
                  <a:pt x="0" y="0"/>
                </a:moveTo>
                <a:lnTo>
                  <a:pt x="21600" y="21600"/>
                </a:lnTo>
              </a:path>
            </a:pathLst>
          </a:custGeom>
          <a:noFill/>
          <a:ln cap="flat" cmpd="sng" w="9525">
            <a:solidFill>
              <a:srgbClr val="747676"/>
            </a:solidFill>
            <a:prstDash val="solid"/>
            <a:round/>
            <a:headEnd len="sm" w="sm" type="none"/>
            <a:tailEnd len="med" w="med" type="triangle"/>
          </a:ln>
        </p:spPr>
      </p:sp>
      <p:sp>
        <p:nvSpPr>
          <p:cNvPr id="2012" name="Google Shape;2012;p176"/>
          <p:cNvSpPr/>
          <p:nvPr/>
        </p:nvSpPr>
        <p:spPr>
          <a:xfrm>
            <a:off x="4293000" y="4073400"/>
            <a:ext cx="1608480" cy="479520"/>
          </a:xfrm>
          <a:prstGeom prst="roundRect">
            <a:avLst>
              <a:gd fmla="val 16667" name="adj"/>
            </a:avLst>
          </a:prstGeom>
          <a:solidFill>
            <a:srgbClr val="C6EFCE"/>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Container</a:t>
            </a:r>
            <a:endParaRPr b="0" i="0" sz="1100" u="none" cap="none" strike="noStrike">
              <a:latin typeface="Arial"/>
              <a:ea typeface="Arial"/>
              <a:cs typeface="Arial"/>
              <a:sym typeface="Arial"/>
            </a:endParaRPr>
          </a:p>
          <a:p>
            <a:pPr indent="0" lvl="0" marL="0" marR="0" rtl="0" algn="ctr">
              <a:lnSpc>
                <a:spcPct val="100000"/>
              </a:lnSpc>
              <a:spcBef>
                <a:spcPts val="0"/>
              </a:spcBef>
              <a:spcAft>
                <a:spcPts val="0"/>
              </a:spcAft>
              <a:buNone/>
            </a:pPr>
            <a:r>
              <a:rPr b="0" i="0" lang="en-US" sz="1100" u="none" cap="none" strike="noStrike">
                <a:solidFill>
                  <a:srgbClr val="222222"/>
                </a:solidFill>
                <a:latin typeface="Arial"/>
                <a:ea typeface="Arial"/>
                <a:cs typeface="Arial"/>
                <a:sym typeface="Arial"/>
              </a:rPr>
              <a:t>Data Product</a:t>
            </a:r>
            <a:endParaRPr b="0" i="0" sz="1100" u="none" cap="none" strike="noStrike">
              <a:latin typeface="Arial"/>
              <a:ea typeface="Arial"/>
              <a:cs typeface="Arial"/>
              <a:sym typeface="Arial"/>
            </a:endParaRPr>
          </a:p>
        </p:txBody>
      </p:sp>
      <p:sp>
        <p:nvSpPr>
          <p:cNvPr id="2013" name="Google Shape;2013;p176"/>
          <p:cNvSpPr/>
          <p:nvPr/>
        </p:nvSpPr>
        <p:spPr>
          <a:xfrm flipH="1" rot="10800000">
            <a:off x="5900760" y="4313520"/>
            <a:ext cx="1806840" cy="479520"/>
          </a:xfrm>
          <a:custGeom>
            <a:rect b="b" l="l" r="r" t="t"/>
            <a:pathLst>
              <a:path extrusionOk="0" h="21600" w="21600">
                <a:moveTo>
                  <a:pt x="0" y="0"/>
                </a:moveTo>
                <a:lnTo>
                  <a:pt x="21600" y="21600"/>
                </a:lnTo>
              </a:path>
            </a:pathLst>
          </a:custGeom>
          <a:noFill/>
          <a:ln cap="flat" cmpd="sng" w="9525">
            <a:solidFill>
              <a:srgbClr val="00AC3E"/>
            </a:solidFill>
            <a:prstDash val="solid"/>
            <a:round/>
            <a:headEnd len="sm" w="sm" type="none"/>
            <a:tailEnd len="sm" w="sm" type="none"/>
          </a:ln>
        </p:spPr>
      </p:sp>
      <p:sp>
        <p:nvSpPr>
          <p:cNvPr id="2014" name="Google Shape;2014;p176"/>
          <p:cNvSpPr/>
          <p:nvPr/>
        </p:nvSpPr>
        <p:spPr>
          <a:xfrm>
            <a:off x="3220560" y="3871080"/>
            <a:ext cx="1072080" cy="442080"/>
          </a:xfrm>
          <a:custGeom>
            <a:rect b="b" l="l" r="r" t="t"/>
            <a:pathLst>
              <a:path extrusionOk="0" h="21600" w="21600">
                <a:moveTo>
                  <a:pt x="0" y="0"/>
                </a:moveTo>
                <a:lnTo>
                  <a:pt x="21600" y="21600"/>
                </a:lnTo>
              </a:path>
            </a:pathLst>
          </a:custGeom>
          <a:noFill/>
          <a:ln cap="flat" cmpd="sng" w="9525">
            <a:solidFill>
              <a:srgbClr val="00AC3E"/>
            </a:solidFill>
            <a:prstDash val="solid"/>
            <a:round/>
            <a:headEnd len="sm" w="sm" type="none"/>
            <a:tailEnd len="sm" w="sm" type="none"/>
          </a:ln>
        </p:spPr>
      </p:sp>
      <p:sp>
        <p:nvSpPr>
          <p:cNvPr id="2015" name="Google Shape;2015;p176"/>
          <p:cNvSpPr/>
          <p:nvPr/>
        </p:nvSpPr>
        <p:spPr>
          <a:xfrm>
            <a:off x="3220560" y="1650600"/>
            <a:ext cx="1072080" cy="2662560"/>
          </a:xfrm>
          <a:custGeom>
            <a:rect b="b" l="l" r="r" t="t"/>
            <a:pathLst>
              <a:path extrusionOk="0" h="21600" w="21600">
                <a:moveTo>
                  <a:pt x="0" y="0"/>
                </a:moveTo>
                <a:lnTo>
                  <a:pt x="21600" y="21600"/>
                </a:lnTo>
              </a:path>
            </a:pathLst>
          </a:custGeom>
          <a:noFill/>
          <a:ln cap="flat" cmpd="sng" w="9525">
            <a:solidFill>
              <a:srgbClr val="00AC3E"/>
            </a:solidFill>
            <a:prstDash val="solid"/>
            <a:round/>
            <a:headEnd len="sm" w="sm" type="none"/>
            <a:tailEnd len="sm" w="sm" type="none"/>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