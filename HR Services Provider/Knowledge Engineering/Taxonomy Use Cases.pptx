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 u="dash">
                <a:solidFill>
                  <a:srgbClr val="FF800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A4A4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 u="dash">
                <a:solidFill>
                  <a:srgbClr val="FF800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8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856" y="6324599"/>
            <a:ext cx="1652016" cy="5333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 u="dash">
                <a:solidFill>
                  <a:srgbClr val="FF800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55091" y="4320540"/>
            <a:ext cx="8411210" cy="0"/>
          </a:xfrm>
          <a:custGeom>
            <a:avLst/>
            <a:gdLst/>
            <a:ahLst/>
            <a:cxnLst/>
            <a:rect l="l" t="t" r="r" b="b"/>
            <a:pathLst>
              <a:path w="8411210" h="0">
                <a:moveTo>
                  <a:pt x="0" y="0"/>
                </a:moveTo>
                <a:lnTo>
                  <a:pt x="8410956" y="0"/>
                </a:lnTo>
              </a:path>
            </a:pathLst>
          </a:custGeom>
          <a:ln w="24384">
            <a:solidFill>
              <a:srgbClr val="4A4A4A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1135" y="5955790"/>
            <a:ext cx="2746248" cy="89306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71856" y="6323075"/>
            <a:ext cx="1652016" cy="53492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5052" y="510667"/>
            <a:ext cx="7395209" cy="835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 u="dash">
                <a:solidFill>
                  <a:srgbClr val="FF800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5052" y="1321770"/>
            <a:ext cx="3742690" cy="2221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A4A4A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Relationship Id="rId4" Type="http://schemas.openxmlformats.org/officeDocument/2006/relationships/image" Target="../media/image17.jp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23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Relationship Id="rId14" Type="http://schemas.openxmlformats.org/officeDocument/2006/relationships/image" Target="../media/image36.png"/><Relationship Id="rId15" Type="http://schemas.openxmlformats.org/officeDocument/2006/relationships/image" Target="../media/image37.png"/><Relationship Id="rId16" Type="http://schemas.openxmlformats.org/officeDocument/2006/relationships/image" Target="../media/image38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jpg"/><Relationship Id="rId3" Type="http://schemas.openxmlformats.org/officeDocument/2006/relationships/image" Target="../media/image40.jpg"/><Relationship Id="rId4" Type="http://schemas.openxmlformats.org/officeDocument/2006/relationships/image" Target="../media/image41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jpg"/><Relationship Id="rId3" Type="http://schemas.openxmlformats.org/officeDocument/2006/relationships/image" Target="../media/image43.jpg"/><Relationship Id="rId4" Type="http://schemas.openxmlformats.org/officeDocument/2006/relationships/image" Target="../media/image44.jpg"/><Relationship Id="rId5" Type="http://schemas.openxmlformats.org/officeDocument/2006/relationships/image" Target="../media/image45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2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30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33.png"/><Relationship Id="rId12" Type="http://schemas.openxmlformats.org/officeDocument/2006/relationships/image" Target="../media/image52.png"/><Relationship Id="rId13" Type="http://schemas.openxmlformats.org/officeDocument/2006/relationships/image" Target="../media/image53.png"/><Relationship Id="rId14" Type="http://schemas.openxmlformats.org/officeDocument/2006/relationships/image" Target="../media/image36.png"/><Relationship Id="rId15" Type="http://schemas.openxmlformats.org/officeDocument/2006/relationships/image" Target="../media/image54.png"/><Relationship Id="rId16" Type="http://schemas.openxmlformats.org/officeDocument/2006/relationships/image" Target="../media/image55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2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30.png"/><Relationship Id="rId9" Type="http://schemas.openxmlformats.org/officeDocument/2006/relationships/image" Target="../media/image60.png"/><Relationship Id="rId10" Type="http://schemas.openxmlformats.org/officeDocument/2006/relationships/image" Target="../media/image61.png"/><Relationship Id="rId11" Type="http://schemas.openxmlformats.org/officeDocument/2006/relationships/image" Target="../media/image36.png"/><Relationship Id="rId12" Type="http://schemas.openxmlformats.org/officeDocument/2006/relationships/image" Target="../media/image62.png"/><Relationship Id="rId13" Type="http://schemas.openxmlformats.org/officeDocument/2006/relationships/image" Target="../media/image63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elizabeth.sweeney@thomsonreuters.com" TargetMode="External"/><Relationship Id="rId3" Type="http://schemas.openxmlformats.org/officeDocument/2006/relationships/hyperlink" Target="http://www.thomsonreuters.com/" TargetMode="External"/><Relationship Id="rId4" Type="http://schemas.openxmlformats.org/officeDocument/2006/relationships/hyperlink" Target="mailto:jim.sweeney@synaptica.com" TargetMode="External"/><Relationship Id="rId5" Type="http://schemas.openxmlformats.org/officeDocument/2006/relationships/hyperlink" Target="http://www.synaptica.com/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49402" y="3574408"/>
            <a:ext cx="6425565" cy="1938655"/>
          </a:xfrm>
          <a:prstGeom prst="rect">
            <a:avLst/>
          </a:prstGeom>
        </p:spPr>
        <p:txBody>
          <a:bodyPr wrap="square" lIns="0" tIns="194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dirty="0" sz="3200">
                <a:solidFill>
                  <a:srgbClr val="FF8000"/>
                </a:solidFill>
                <a:latin typeface="Arial"/>
                <a:cs typeface="Arial"/>
              </a:rPr>
              <a:t>THOMSON</a:t>
            </a:r>
            <a:r>
              <a:rPr dirty="0" sz="3200" spc="-35">
                <a:solidFill>
                  <a:srgbClr val="FF8000"/>
                </a:solidFill>
                <a:latin typeface="Arial"/>
                <a:cs typeface="Arial"/>
              </a:rPr>
              <a:t> </a:t>
            </a:r>
            <a:r>
              <a:rPr dirty="0" sz="3200" spc="-10">
                <a:solidFill>
                  <a:srgbClr val="FF8000"/>
                </a:solidFill>
                <a:latin typeface="Arial"/>
                <a:cs typeface="Arial"/>
              </a:rPr>
              <a:t>REUTERS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2400" b="1">
                <a:solidFill>
                  <a:srgbClr val="FF8000"/>
                </a:solidFill>
                <a:latin typeface="Arial"/>
                <a:cs typeface="Arial"/>
              </a:rPr>
              <a:t>Life</a:t>
            </a:r>
            <a:r>
              <a:rPr dirty="0" sz="2400" spc="-95" b="1">
                <a:solidFill>
                  <a:srgbClr val="FF8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8000"/>
                </a:solidFill>
                <a:latin typeface="Arial"/>
                <a:cs typeface="Arial"/>
              </a:rPr>
              <a:t>Sciences</a:t>
            </a:r>
            <a:r>
              <a:rPr dirty="0" sz="2400" spc="-75" b="1">
                <a:solidFill>
                  <a:srgbClr val="FF8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8000"/>
                </a:solidFill>
                <a:latin typeface="Arial"/>
                <a:cs typeface="Arial"/>
              </a:rPr>
              <a:t>Taxonomy</a:t>
            </a:r>
            <a:r>
              <a:rPr dirty="0" sz="2400" spc="-70" b="1">
                <a:solidFill>
                  <a:srgbClr val="FF8000"/>
                </a:solidFill>
                <a:latin typeface="Arial"/>
                <a:cs typeface="Arial"/>
              </a:rPr>
              <a:t> </a:t>
            </a:r>
            <a:r>
              <a:rPr dirty="0" sz="2400" b="1">
                <a:solidFill>
                  <a:srgbClr val="FF8000"/>
                </a:solidFill>
                <a:latin typeface="Arial"/>
                <a:cs typeface="Arial"/>
              </a:rPr>
              <a:t>Software</a:t>
            </a:r>
            <a:r>
              <a:rPr dirty="0" sz="2400" spc="-100" b="1">
                <a:solidFill>
                  <a:srgbClr val="FF8000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FF8000"/>
                </a:solidFill>
                <a:latin typeface="Arial"/>
                <a:cs typeface="Arial"/>
              </a:rPr>
              <a:t>Solutions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4A4A4A"/>
                </a:solidFill>
                <a:latin typeface="Arial"/>
                <a:cs typeface="Arial"/>
              </a:rPr>
              <a:t>November</a:t>
            </a:r>
            <a:r>
              <a:rPr dirty="0" sz="18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4A4A4A"/>
                </a:solidFill>
                <a:latin typeface="Arial"/>
                <a:cs typeface="Arial"/>
              </a:rPr>
              <a:t>2015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559" y="495300"/>
            <a:ext cx="8455152" cy="30898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611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81875" algn="l"/>
              </a:tabLst>
            </a:pPr>
            <a:r>
              <a:rPr dirty="0" spc="-10"/>
              <a:t>AGENDA</a:t>
            </a:r>
            <a:r>
              <a:rPr dirty="0"/>
              <a:t>	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05052" y="1505153"/>
            <a:ext cx="7287895" cy="1306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FF8000"/>
              </a:buClr>
              <a:buChar char="•"/>
              <a:tabLst>
                <a:tab pos="241300" algn="l"/>
              </a:tabLst>
            </a:pPr>
            <a:r>
              <a:rPr dirty="0" sz="2400">
                <a:solidFill>
                  <a:srgbClr val="4A4A4A"/>
                </a:solidFill>
                <a:latin typeface="Arial"/>
                <a:cs typeface="Arial"/>
              </a:rPr>
              <a:t>Thomson</a:t>
            </a:r>
            <a:r>
              <a:rPr dirty="0" sz="2400" spc="-2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A4A4A"/>
                </a:solidFill>
                <a:latin typeface="Arial"/>
                <a:cs typeface="Arial"/>
              </a:rPr>
              <a:t>Reuters</a:t>
            </a:r>
            <a:r>
              <a:rPr dirty="0" sz="2400" spc="-2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A4A4A"/>
                </a:solidFill>
                <a:latin typeface="Arial"/>
                <a:cs typeface="Arial"/>
              </a:rPr>
              <a:t>Life</a:t>
            </a:r>
            <a:r>
              <a:rPr dirty="0" sz="2400" spc="-2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A4A4A"/>
                </a:solidFill>
                <a:latin typeface="Arial"/>
                <a:cs typeface="Arial"/>
              </a:rPr>
              <a:t>Sciences annotation</a:t>
            </a:r>
            <a:r>
              <a:rPr dirty="0" sz="2400" spc="-2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4A4A4A"/>
                </a:solidFill>
                <a:latin typeface="Arial"/>
                <a:cs typeface="Arial"/>
              </a:rPr>
              <a:t>services</a:t>
            </a:r>
            <a:endParaRPr sz="2400">
              <a:latin typeface="Arial"/>
              <a:cs typeface="Arial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dirty="0" sz="2400">
                <a:solidFill>
                  <a:srgbClr val="4A4A4A"/>
                </a:solidFill>
                <a:latin typeface="Arial"/>
                <a:cs typeface="Arial"/>
              </a:rPr>
              <a:t>and</a:t>
            </a:r>
            <a:r>
              <a:rPr dirty="0" sz="2400" spc="-1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A4A4A"/>
                </a:solidFill>
                <a:latin typeface="Arial"/>
                <a:cs typeface="Arial"/>
              </a:rPr>
              <a:t>use</a:t>
            </a:r>
            <a:r>
              <a:rPr dirty="0" sz="2400" spc="-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4A4A4A"/>
                </a:solidFill>
                <a:latin typeface="Arial"/>
                <a:cs typeface="Arial"/>
              </a:rPr>
              <a:t>cases</a:t>
            </a:r>
            <a:endParaRPr sz="24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1440"/>
              </a:spcBef>
              <a:buClr>
                <a:srgbClr val="FF8000"/>
              </a:buClr>
              <a:buChar char="•"/>
              <a:tabLst>
                <a:tab pos="241300" algn="l"/>
              </a:tabLst>
            </a:pPr>
            <a:r>
              <a:rPr dirty="0" sz="2400">
                <a:solidFill>
                  <a:srgbClr val="4A4A4A"/>
                </a:solidFill>
                <a:latin typeface="Arial"/>
                <a:cs typeface="Arial"/>
              </a:rPr>
              <a:t>Taxonomy</a:t>
            </a:r>
            <a:r>
              <a:rPr dirty="0" sz="2400" spc="1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A4A4A"/>
                </a:solidFill>
                <a:latin typeface="Arial"/>
                <a:cs typeface="Arial"/>
              </a:rPr>
              <a:t>Management</a:t>
            </a:r>
            <a:r>
              <a:rPr dirty="0" sz="2400" spc="-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A4A4A"/>
                </a:solidFill>
                <a:latin typeface="Arial"/>
                <a:cs typeface="Arial"/>
              </a:rPr>
              <a:t>System</a:t>
            </a:r>
            <a:r>
              <a:rPr dirty="0" sz="24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A4A4A"/>
                </a:solidFill>
                <a:latin typeface="Arial"/>
                <a:cs typeface="Arial"/>
              </a:rPr>
              <a:t>–</a:t>
            </a:r>
            <a:r>
              <a:rPr dirty="0" sz="2400" spc="-1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A4A4A"/>
                </a:solidFill>
                <a:latin typeface="Arial"/>
                <a:cs typeface="Arial"/>
              </a:rPr>
              <a:t>Synaptica</a:t>
            </a:r>
            <a:r>
              <a:rPr dirty="0" sz="2400" spc="-1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4A4A4A"/>
                </a:solidFill>
                <a:latin typeface="Arial"/>
                <a:cs typeface="Arial"/>
              </a:rPr>
              <a:t>KMS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713723" y="6425590"/>
            <a:ext cx="89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4A4A4A"/>
                </a:solidFill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9232" y="3154679"/>
            <a:ext cx="3539854" cy="6568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372567"/>
            <a:ext cx="363982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/>
              <a:t>THOMSON</a:t>
            </a:r>
            <a:r>
              <a:rPr dirty="0" u="none" spc="-130"/>
              <a:t> </a:t>
            </a:r>
            <a:r>
              <a:rPr dirty="0" u="none" spc="-10"/>
              <a:t>REUTERS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01700" y="770331"/>
            <a:ext cx="7399020" cy="6057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dirty="0" sz="2000" i="1">
                <a:solidFill>
                  <a:srgbClr val="FF8000"/>
                </a:solidFill>
                <a:latin typeface="Arial"/>
                <a:cs typeface="Arial"/>
              </a:rPr>
              <a:t>The</a:t>
            </a:r>
            <a:r>
              <a:rPr dirty="0" sz="2000" spc="-35" i="1">
                <a:solidFill>
                  <a:srgbClr val="FF8000"/>
                </a:solidFill>
                <a:latin typeface="Arial"/>
                <a:cs typeface="Arial"/>
              </a:rPr>
              <a:t> </a:t>
            </a:r>
            <a:r>
              <a:rPr dirty="0" sz="2000" i="1">
                <a:solidFill>
                  <a:srgbClr val="FF8000"/>
                </a:solidFill>
                <a:latin typeface="Arial"/>
                <a:cs typeface="Arial"/>
              </a:rPr>
              <a:t>world's</a:t>
            </a:r>
            <a:r>
              <a:rPr dirty="0" sz="2000" spc="-20" i="1">
                <a:solidFill>
                  <a:srgbClr val="FF8000"/>
                </a:solidFill>
                <a:latin typeface="Arial"/>
                <a:cs typeface="Arial"/>
              </a:rPr>
              <a:t> </a:t>
            </a:r>
            <a:r>
              <a:rPr dirty="0" sz="2000" i="1">
                <a:solidFill>
                  <a:srgbClr val="FF8000"/>
                </a:solidFill>
                <a:latin typeface="Arial"/>
                <a:cs typeface="Arial"/>
              </a:rPr>
              <a:t>leading</a:t>
            </a:r>
            <a:r>
              <a:rPr dirty="0" sz="2000" spc="-25" i="1">
                <a:solidFill>
                  <a:srgbClr val="FF8000"/>
                </a:solidFill>
                <a:latin typeface="Arial"/>
                <a:cs typeface="Arial"/>
              </a:rPr>
              <a:t> </a:t>
            </a:r>
            <a:r>
              <a:rPr dirty="0" sz="2000" i="1">
                <a:solidFill>
                  <a:srgbClr val="FF8000"/>
                </a:solidFill>
                <a:latin typeface="Arial"/>
                <a:cs typeface="Arial"/>
              </a:rPr>
              <a:t>source</a:t>
            </a:r>
            <a:r>
              <a:rPr dirty="0" sz="2000" spc="-40" i="1">
                <a:solidFill>
                  <a:srgbClr val="FF8000"/>
                </a:solidFill>
                <a:latin typeface="Arial"/>
                <a:cs typeface="Arial"/>
              </a:rPr>
              <a:t> </a:t>
            </a:r>
            <a:r>
              <a:rPr dirty="0" sz="2000" i="1">
                <a:solidFill>
                  <a:srgbClr val="FF8000"/>
                </a:solidFill>
                <a:latin typeface="Arial"/>
                <a:cs typeface="Arial"/>
              </a:rPr>
              <a:t>of</a:t>
            </a:r>
            <a:r>
              <a:rPr dirty="0" sz="2000" spc="-30" i="1">
                <a:solidFill>
                  <a:srgbClr val="FF8000"/>
                </a:solidFill>
                <a:latin typeface="Arial"/>
                <a:cs typeface="Arial"/>
              </a:rPr>
              <a:t> </a:t>
            </a:r>
            <a:r>
              <a:rPr dirty="0" sz="2000" i="1">
                <a:solidFill>
                  <a:srgbClr val="FF8000"/>
                </a:solidFill>
                <a:latin typeface="Arial"/>
                <a:cs typeface="Arial"/>
              </a:rPr>
              <a:t>intelligent</a:t>
            </a:r>
            <a:r>
              <a:rPr dirty="0" sz="2000" spc="-15" i="1">
                <a:solidFill>
                  <a:srgbClr val="FF8000"/>
                </a:solidFill>
                <a:latin typeface="Arial"/>
                <a:cs typeface="Arial"/>
              </a:rPr>
              <a:t> </a:t>
            </a:r>
            <a:r>
              <a:rPr dirty="0" sz="2000" i="1">
                <a:solidFill>
                  <a:srgbClr val="FF8000"/>
                </a:solidFill>
                <a:latin typeface="Arial"/>
                <a:cs typeface="Arial"/>
              </a:rPr>
              <a:t>information</a:t>
            </a:r>
            <a:r>
              <a:rPr dirty="0" sz="2000" spc="-20" i="1">
                <a:solidFill>
                  <a:srgbClr val="FF8000"/>
                </a:solidFill>
                <a:latin typeface="Arial"/>
                <a:cs typeface="Arial"/>
              </a:rPr>
              <a:t> </a:t>
            </a:r>
            <a:r>
              <a:rPr dirty="0" sz="2000" spc="-25" i="1">
                <a:solidFill>
                  <a:srgbClr val="FF8000"/>
                </a:solidFill>
                <a:latin typeface="Arial"/>
                <a:cs typeface="Arial"/>
              </a:rPr>
              <a:t>for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280"/>
              </a:lnSpc>
              <a:tabLst>
                <a:tab pos="7385684" algn="l"/>
              </a:tabLst>
            </a:pPr>
            <a:r>
              <a:rPr dirty="0" u="heavy" sz="2000" i="1">
                <a:solidFill>
                  <a:srgbClr val="FF8000"/>
                </a:solidFill>
                <a:uFill>
                  <a:solidFill>
                    <a:srgbClr val="4A4A4A"/>
                  </a:solidFill>
                </a:uFill>
                <a:latin typeface="Arial"/>
                <a:cs typeface="Arial"/>
              </a:rPr>
              <a:t>businesses</a:t>
            </a:r>
            <a:r>
              <a:rPr dirty="0" u="heavy" sz="2000" spc="-30" i="1">
                <a:solidFill>
                  <a:srgbClr val="FF8000"/>
                </a:solidFill>
                <a:uFill>
                  <a:solidFill>
                    <a:srgbClr val="4A4A4A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2000" i="1">
                <a:solidFill>
                  <a:srgbClr val="FF8000"/>
                </a:solidFill>
                <a:uFill>
                  <a:solidFill>
                    <a:srgbClr val="4A4A4A"/>
                  </a:solidFill>
                </a:uFill>
                <a:latin typeface="Arial"/>
                <a:cs typeface="Arial"/>
              </a:rPr>
              <a:t>and</a:t>
            </a:r>
            <a:r>
              <a:rPr dirty="0" u="heavy" sz="2000" spc="10" i="1">
                <a:solidFill>
                  <a:srgbClr val="FF8000"/>
                </a:solidFill>
                <a:uFill>
                  <a:solidFill>
                    <a:srgbClr val="4A4A4A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2000" spc="-10" i="1">
                <a:solidFill>
                  <a:srgbClr val="FF8000"/>
                </a:solidFill>
                <a:uFill>
                  <a:solidFill>
                    <a:srgbClr val="4A4A4A"/>
                  </a:solidFill>
                </a:uFill>
                <a:latin typeface="Arial"/>
                <a:cs typeface="Arial"/>
              </a:rPr>
              <a:t>professionals</a:t>
            </a:r>
            <a:r>
              <a:rPr dirty="0" u="heavy" sz="2000" i="1">
                <a:solidFill>
                  <a:srgbClr val="FF8000"/>
                </a:solidFill>
                <a:uFill>
                  <a:solidFill>
                    <a:srgbClr val="4A4A4A"/>
                  </a:solidFill>
                </a:uFill>
                <a:latin typeface="Arial"/>
                <a:cs typeface="Arial"/>
              </a:rPr>
              <a:t>	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576" y="3753464"/>
            <a:ext cx="835824" cy="82584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7732" y="1676902"/>
            <a:ext cx="839489" cy="821241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4486528" y="1597025"/>
            <a:ext cx="1000125" cy="3944620"/>
            <a:chOff x="4486528" y="1597025"/>
            <a:chExt cx="1000125" cy="3944620"/>
          </a:xfrm>
        </p:grpSpPr>
        <p:sp>
          <p:nvSpPr>
            <p:cNvPr id="7" name="object 7" descr=""/>
            <p:cNvSpPr/>
            <p:nvPr/>
          </p:nvSpPr>
          <p:spPr>
            <a:xfrm>
              <a:off x="4501133" y="1611629"/>
              <a:ext cx="9525" cy="3915410"/>
            </a:xfrm>
            <a:custGeom>
              <a:avLst/>
              <a:gdLst/>
              <a:ahLst/>
              <a:cxnLst/>
              <a:rect l="l" t="t" r="r" b="b"/>
              <a:pathLst>
                <a:path w="9525" h="3915410">
                  <a:moveTo>
                    <a:pt x="0" y="0"/>
                  </a:moveTo>
                  <a:lnTo>
                    <a:pt x="9143" y="3915156"/>
                  </a:lnTo>
                </a:path>
              </a:pathLst>
            </a:custGeom>
            <a:ln w="28956">
              <a:solidFill>
                <a:srgbClr val="B9B9B9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63869" y="3736293"/>
              <a:ext cx="822230" cy="815186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1605533" y="3603106"/>
            <a:ext cx="2636520" cy="154940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225"/>
              </a:spcBef>
            </a:pPr>
            <a:r>
              <a:rPr dirty="0" sz="1400" spc="-20" b="1">
                <a:solidFill>
                  <a:srgbClr val="6134A3"/>
                </a:solidFill>
                <a:latin typeface="Arial"/>
                <a:cs typeface="Arial"/>
              </a:rPr>
              <a:t>Tax</a:t>
            </a:r>
            <a:r>
              <a:rPr dirty="0" sz="1400" spc="-40" b="1">
                <a:solidFill>
                  <a:srgbClr val="6134A3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6134A3"/>
                </a:solidFill>
                <a:latin typeface="Arial"/>
                <a:cs typeface="Arial"/>
              </a:rPr>
              <a:t>&amp;</a:t>
            </a:r>
            <a:r>
              <a:rPr dirty="0" sz="1400" spc="-85" b="1">
                <a:solidFill>
                  <a:srgbClr val="6134A3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6134A3"/>
                </a:solidFill>
                <a:latin typeface="Arial"/>
                <a:cs typeface="Arial"/>
              </a:rPr>
              <a:t>Accounting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200" b="1">
                <a:solidFill>
                  <a:srgbClr val="4A4A4A"/>
                </a:solidFill>
                <a:latin typeface="Arial"/>
                <a:cs typeface="Arial"/>
              </a:rPr>
              <a:t>Thomson</a:t>
            </a:r>
            <a:r>
              <a:rPr dirty="0" sz="1200" spc="-40" b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4A4A4A"/>
                </a:solidFill>
                <a:latin typeface="Arial"/>
                <a:cs typeface="Arial"/>
              </a:rPr>
              <a:t>Reuters</a:t>
            </a:r>
            <a:r>
              <a:rPr dirty="0" sz="1200" spc="-55" b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4A4A4A"/>
                </a:solidFill>
                <a:latin typeface="Arial"/>
                <a:cs typeface="Arial"/>
              </a:rPr>
              <a:t>Tax</a:t>
            </a:r>
            <a:r>
              <a:rPr dirty="0" sz="1200" spc="-50" b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4A4A4A"/>
                </a:solidFill>
                <a:latin typeface="Arial"/>
                <a:cs typeface="Arial"/>
              </a:rPr>
              <a:t>&amp;</a:t>
            </a:r>
            <a:r>
              <a:rPr dirty="0" sz="1200" spc="-80" b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4A4A4A"/>
                </a:solidFill>
                <a:latin typeface="Arial"/>
                <a:cs typeface="Arial"/>
              </a:rPr>
              <a:t>Accounting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is</a:t>
            </a:r>
            <a:r>
              <a:rPr dirty="0" sz="1200" spc="-2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the</a:t>
            </a:r>
            <a:r>
              <a:rPr dirty="0" sz="1200" spc="-2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leading</a:t>
            </a:r>
            <a:r>
              <a:rPr dirty="0" sz="12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global</a:t>
            </a:r>
            <a:r>
              <a:rPr dirty="0" sz="1200" spc="-5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provider</a:t>
            </a:r>
            <a:r>
              <a:rPr dirty="0" sz="1200" spc="-25">
                <a:solidFill>
                  <a:srgbClr val="4A4A4A"/>
                </a:solidFill>
                <a:latin typeface="Arial"/>
                <a:cs typeface="Arial"/>
              </a:rPr>
              <a:t> of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integrated</a:t>
            </a:r>
            <a:r>
              <a:rPr dirty="0" sz="12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tax</a:t>
            </a:r>
            <a:r>
              <a:rPr dirty="0" sz="1200" spc="-2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compliance</a:t>
            </a:r>
            <a:r>
              <a:rPr dirty="0" sz="1200" spc="-1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4A4A4A"/>
                </a:solidFill>
                <a:latin typeface="Arial"/>
                <a:cs typeface="Arial"/>
              </a:rPr>
              <a:t>and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accounting</a:t>
            </a:r>
            <a:r>
              <a:rPr dirty="0" sz="1200" spc="-6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information,</a:t>
            </a:r>
            <a:r>
              <a:rPr dirty="0" sz="12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4A4A4A"/>
                </a:solidFill>
                <a:latin typeface="Arial"/>
                <a:cs typeface="Arial"/>
              </a:rPr>
              <a:t>software</a:t>
            </a:r>
            <a:endParaRPr sz="1200">
              <a:latin typeface="Arial"/>
              <a:cs typeface="Arial"/>
            </a:endParaRPr>
          </a:p>
          <a:p>
            <a:pPr marL="12700" marR="445134">
              <a:lnSpc>
                <a:spcPct val="100000"/>
              </a:lnSpc>
            </a:pP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and</a:t>
            </a:r>
            <a:r>
              <a:rPr dirty="0" sz="1200" spc="-2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services</a:t>
            </a:r>
            <a:r>
              <a:rPr dirty="0" sz="1200" spc="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for</a:t>
            </a:r>
            <a:r>
              <a:rPr dirty="0" sz="1200" spc="-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4A4A4A"/>
                </a:solidFill>
                <a:latin typeface="Arial"/>
                <a:cs typeface="Arial"/>
              </a:rPr>
              <a:t>professionals</a:t>
            </a:r>
            <a:r>
              <a:rPr dirty="0" sz="1200" spc="-25">
                <a:solidFill>
                  <a:srgbClr val="4A4A4A"/>
                </a:solidFill>
                <a:latin typeface="Arial"/>
                <a:cs typeface="Arial"/>
              </a:rPr>
              <a:t> in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accounting</a:t>
            </a:r>
            <a:r>
              <a:rPr dirty="0" sz="1200" spc="-5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firms,</a:t>
            </a:r>
            <a:r>
              <a:rPr dirty="0" sz="1200" spc="-1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4A4A4A"/>
                </a:solidFill>
                <a:latin typeface="Arial"/>
                <a:cs typeface="Arial"/>
              </a:rPr>
              <a:t>corporations,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law</a:t>
            </a:r>
            <a:r>
              <a:rPr dirty="0" sz="1200" spc="-2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firms</a:t>
            </a:r>
            <a:r>
              <a:rPr dirty="0" sz="1200" spc="-1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and</a:t>
            </a:r>
            <a:r>
              <a:rPr dirty="0" sz="1200" spc="-2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4A4A4A"/>
                </a:solidFill>
                <a:latin typeface="Arial"/>
                <a:cs typeface="Arial"/>
              </a:rPr>
              <a:t>government.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63033" y="1666929"/>
            <a:ext cx="821334" cy="819818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5647182" y="3627501"/>
            <a:ext cx="2999740" cy="16986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 indent="10160">
              <a:lnSpc>
                <a:spcPct val="99700"/>
              </a:lnSpc>
              <a:spcBef>
                <a:spcPts val="110"/>
              </a:spcBef>
            </a:pPr>
            <a:r>
              <a:rPr dirty="0" sz="1400" b="1">
                <a:solidFill>
                  <a:srgbClr val="C00000"/>
                </a:solidFill>
                <a:latin typeface="Arial"/>
                <a:cs typeface="Arial"/>
              </a:rPr>
              <a:t>Intellectual</a:t>
            </a:r>
            <a:r>
              <a:rPr dirty="0" sz="1400" spc="-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C00000"/>
                </a:solidFill>
                <a:latin typeface="Arial"/>
                <a:cs typeface="Arial"/>
              </a:rPr>
              <a:t>Property</a:t>
            </a:r>
            <a:r>
              <a:rPr dirty="0" sz="1400" spc="-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C00000"/>
                </a:solidFill>
                <a:latin typeface="Arial"/>
                <a:cs typeface="Arial"/>
              </a:rPr>
              <a:t>&amp;</a:t>
            </a:r>
            <a:r>
              <a:rPr dirty="0" sz="1400" spc="-2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C00000"/>
                </a:solidFill>
                <a:latin typeface="Arial"/>
                <a:cs typeface="Arial"/>
              </a:rPr>
              <a:t>Science </a:t>
            </a:r>
            <a:r>
              <a:rPr dirty="0" sz="1200" b="1">
                <a:solidFill>
                  <a:srgbClr val="4A4A4A"/>
                </a:solidFill>
                <a:latin typeface="Arial"/>
                <a:cs typeface="Arial"/>
              </a:rPr>
              <a:t>Thomson</a:t>
            </a:r>
            <a:r>
              <a:rPr dirty="0" sz="1200" spc="-45" b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4A4A4A"/>
                </a:solidFill>
                <a:latin typeface="Arial"/>
                <a:cs typeface="Arial"/>
              </a:rPr>
              <a:t>Reuters</a:t>
            </a:r>
            <a:r>
              <a:rPr dirty="0" sz="1200" spc="-60" b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4A4A4A"/>
                </a:solidFill>
                <a:latin typeface="Arial"/>
                <a:cs typeface="Arial"/>
              </a:rPr>
              <a:t>Intellectual</a:t>
            </a:r>
            <a:r>
              <a:rPr dirty="0" sz="1200" spc="-50" b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4A4A4A"/>
                </a:solidFill>
                <a:latin typeface="Arial"/>
                <a:cs typeface="Arial"/>
              </a:rPr>
              <a:t>Property</a:t>
            </a:r>
            <a:r>
              <a:rPr dirty="0" sz="1200" spc="-55" b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50" b="1">
                <a:solidFill>
                  <a:srgbClr val="4A4A4A"/>
                </a:solidFill>
                <a:latin typeface="Arial"/>
                <a:cs typeface="Arial"/>
              </a:rPr>
              <a:t>&amp; </a:t>
            </a:r>
            <a:r>
              <a:rPr dirty="0" sz="1200" b="1">
                <a:solidFill>
                  <a:srgbClr val="4A4A4A"/>
                </a:solidFill>
                <a:latin typeface="Arial"/>
                <a:cs typeface="Arial"/>
              </a:rPr>
              <a:t>Science</a:t>
            </a:r>
            <a:r>
              <a:rPr dirty="0" sz="1200" spc="-40" b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is</a:t>
            </a:r>
            <a:r>
              <a:rPr dirty="0" sz="1200" spc="-2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the</a:t>
            </a:r>
            <a:r>
              <a:rPr dirty="0" sz="1200" spc="-2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leading</a:t>
            </a:r>
            <a:r>
              <a:rPr dirty="0" sz="12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provider</a:t>
            </a:r>
            <a:r>
              <a:rPr dirty="0" sz="12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4A4A4A"/>
                </a:solidFill>
                <a:latin typeface="Arial"/>
                <a:cs typeface="Arial"/>
              </a:rPr>
              <a:t>of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comprehensive</a:t>
            </a:r>
            <a:r>
              <a:rPr dirty="0" sz="12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intellectual</a:t>
            </a:r>
            <a:r>
              <a:rPr dirty="0" sz="1200" spc="-5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property</a:t>
            </a:r>
            <a:r>
              <a:rPr dirty="0" sz="12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(IP)</a:t>
            </a:r>
            <a:r>
              <a:rPr dirty="0" sz="1200" spc="-1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4A4A4A"/>
                </a:solidFill>
                <a:latin typeface="Arial"/>
                <a:cs typeface="Arial"/>
              </a:rPr>
              <a:t>and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scientific</a:t>
            </a:r>
            <a:r>
              <a:rPr dirty="0" sz="1200" spc="-5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information,</a:t>
            </a:r>
            <a:r>
              <a:rPr dirty="0" sz="1200" spc="-3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decision</a:t>
            </a:r>
            <a:r>
              <a:rPr dirty="0" sz="1200" spc="-3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support</a:t>
            </a:r>
            <a:r>
              <a:rPr dirty="0" sz="1200" spc="-2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4A4A4A"/>
                </a:solidFill>
                <a:latin typeface="Arial"/>
                <a:cs typeface="Arial"/>
              </a:rPr>
              <a:t>tools,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and</a:t>
            </a:r>
            <a:r>
              <a:rPr dirty="0" sz="12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services</a:t>
            </a:r>
            <a:r>
              <a:rPr dirty="0" sz="1200" spc="-2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that</a:t>
            </a:r>
            <a:r>
              <a:rPr dirty="0" sz="1200" spc="-2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enable</a:t>
            </a:r>
            <a:r>
              <a:rPr dirty="0" sz="1200" spc="-5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4A4A4A"/>
                </a:solidFill>
                <a:latin typeface="Arial"/>
                <a:cs typeface="Arial"/>
              </a:rPr>
              <a:t>pharmaceutical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companies,</a:t>
            </a:r>
            <a:r>
              <a:rPr dirty="0" sz="1200" spc="-5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governments,</a:t>
            </a:r>
            <a:r>
              <a:rPr dirty="0" sz="12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4A4A4A"/>
                </a:solidFill>
                <a:latin typeface="Arial"/>
                <a:cs typeface="Arial"/>
              </a:rPr>
              <a:t>academia,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publishers,</a:t>
            </a:r>
            <a:r>
              <a:rPr dirty="0" sz="12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corporations</a:t>
            </a:r>
            <a:r>
              <a:rPr dirty="0" sz="12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and</a:t>
            </a:r>
            <a:r>
              <a:rPr dirty="0" sz="12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law</a:t>
            </a:r>
            <a:r>
              <a:rPr dirty="0" sz="1200" spc="-2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firms</a:t>
            </a:r>
            <a:r>
              <a:rPr dirty="0" sz="1200" spc="-1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4A4A4A"/>
                </a:solidFill>
                <a:latin typeface="Arial"/>
                <a:cs typeface="Arial"/>
              </a:rPr>
              <a:t>to </a:t>
            </a:r>
            <a:r>
              <a:rPr dirty="0" sz="1200" spc="-10">
                <a:solidFill>
                  <a:srgbClr val="4A4A4A"/>
                </a:solidFill>
                <a:latin typeface="Arial"/>
                <a:cs typeface="Arial"/>
              </a:rPr>
              <a:t>discover,</a:t>
            </a:r>
            <a:r>
              <a:rPr dirty="0" sz="12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develop</a:t>
            </a:r>
            <a:r>
              <a:rPr dirty="0" sz="1200" spc="-2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and</a:t>
            </a:r>
            <a:r>
              <a:rPr dirty="0" sz="1200" spc="-5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deliver</a:t>
            </a:r>
            <a:r>
              <a:rPr dirty="0" sz="12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4A4A4A"/>
                </a:solidFill>
                <a:latin typeface="Arial"/>
                <a:cs typeface="Arial"/>
              </a:rPr>
              <a:t>innovations.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647182" y="1570685"/>
            <a:ext cx="2703830" cy="1891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005A84"/>
                </a:solidFill>
                <a:latin typeface="Arial"/>
                <a:cs typeface="Arial"/>
              </a:rPr>
              <a:t>Legal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35"/>
              </a:spcBef>
            </a:pPr>
            <a:r>
              <a:rPr dirty="0" sz="1200" b="1">
                <a:solidFill>
                  <a:srgbClr val="4A4A4A"/>
                </a:solidFill>
                <a:latin typeface="Arial"/>
                <a:cs typeface="Arial"/>
              </a:rPr>
              <a:t>Thomson</a:t>
            </a:r>
            <a:r>
              <a:rPr dirty="0" sz="1200" spc="-35" b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4A4A4A"/>
                </a:solidFill>
                <a:latin typeface="Arial"/>
                <a:cs typeface="Arial"/>
              </a:rPr>
              <a:t>Reuters</a:t>
            </a:r>
            <a:r>
              <a:rPr dirty="0" sz="1200" spc="-40" b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4A4A4A"/>
                </a:solidFill>
                <a:latin typeface="Arial"/>
                <a:cs typeface="Arial"/>
              </a:rPr>
              <a:t>Legal</a:t>
            </a:r>
            <a:r>
              <a:rPr dirty="0" sz="1200" spc="-20" b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is</a:t>
            </a:r>
            <a:r>
              <a:rPr dirty="0" sz="12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the</a:t>
            </a:r>
            <a:r>
              <a:rPr dirty="0" sz="12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4A4A4A"/>
                </a:solidFill>
                <a:latin typeface="Arial"/>
                <a:cs typeface="Arial"/>
              </a:rPr>
              <a:t>leading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provider</a:t>
            </a:r>
            <a:r>
              <a:rPr dirty="0" sz="12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of</a:t>
            </a:r>
            <a:r>
              <a:rPr dirty="0" sz="1200" spc="-1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critical</a:t>
            </a:r>
            <a:r>
              <a:rPr dirty="0" sz="1200" spc="-2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information,</a:t>
            </a:r>
            <a:r>
              <a:rPr dirty="0" sz="12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4A4A4A"/>
                </a:solidFill>
                <a:latin typeface="Arial"/>
                <a:cs typeface="Arial"/>
              </a:rPr>
              <a:t>decision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support</a:t>
            </a:r>
            <a:r>
              <a:rPr dirty="0" sz="12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tools,</a:t>
            </a:r>
            <a:r>
              <a:rPr dirty="0" sz="1200" spc="-2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software</a:t>
            </a:r>
            <a:r>
              <a:rPr dirty="0" sz="12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and</a:t>
            </a:r>
            <a:r>
              <a:rPr dirty="0" sz="1200" spc="-2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4A4A4A"/>
                </a:solidFill>
                <a:latin typeface="Arial"/>
                <a:cs typeface="Arial"/>
              </a:rPr>
              <a:t>services</a:t>
            </a:r>
            <a:endParaRPr sz="1200">
              <a:latin typeface="Arial"/>
              <a:cs typeface="Arial"/>
            </a:endParaRPr>
          </a:p>
          <a:p>
            <a:pPr marL="12700" marR="28448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to</a:t>
            </a:r>
            <a:r>
              <a:rPr dirty="0" sz="1200" spc="-2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legal,</a:t>
            </a:r>
            <a:r>
              <a:rPr dirty="0" sz="1200" spc="-2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investigation,</a:t>
            </a:r>
            <a:r>
              <a:rPr dirty="0" sz="12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business</a:t>
            </a:r>
            <a:r>
              <a:rPr dirty="0" sz="12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4A4A4A"/>
                </a:solidFill>
                <a:latin typeface="Arial"/>
                <a:cs typeface="Arial"/>
              </a:rPr>
              <a:t>and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government</a:t>
            </a:r>
            <a:r>
              <a:rPr dirty="0" sz="1200" spc="-5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professionals</a:t>
            </a:r>
            <a:r>
              <a:rPr dirty="0" sz="1200" spc="-5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4A4A4A"/>
                </a:solidFill>
                <a:latin typeface="Arial"/>
                <a:cs typeface="Arial"/>
              </a:rPr>
              <a:t>around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the</a:t>
            </a:r>
            <a:r>
              <a:rPr dirty="0" sz="1200" spc="-1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world.</a:t>
            </a:r>
            <a:r>
              <a:rPr dirty="0" sz="1200" spc="-1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We</a:t>
            </a:r>
            <a:r>
              <a:rPr dirty="0" sz="12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offer</a:t>
            </a:r>
            <a:r>
              <a:rPr dirty="0" sz="12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a</a:t>
            </a:r>
            <a:r>
              <a:rPr dirty="0" sz="1200" spc="-1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broad</a:t>
            </a:r>
            <a:r>
              <a:rPr dirty="0" sz="1200" spc="-20">
                <a:solidFill>
                  <a:srgbClr val="4A4A4A"/>
                </a:solidFill>
                <a:latin typeface="Arial"/>
                <a:cs typeface="Arial"/>
              </a:rPr>
              <a:t> range</a:t>
            </a:r>
            <a:r>
              <a:rPr dirty="0" sz="1200" spc="50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of</a:t>
            </a:r>
            <a:r>
              <a:rPr dirty="0" sz="1200" spc="-2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online</a:t>
            </a:r>
            <a:r>
              <a:rPr dirty="0" sz="12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services</a:t>
            </a:r>
            <a:r>
              <a:rPr dirty="0" sz="1200" spc="-1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that</a:t>
            </a:r>
            <a:r>
              <a:rPr dirty="0" sz="1200" spc="-2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utilize</a:t>
            </a:r>
            <a:r>
              <a:rPr dirty="0" sz="1200" spc="-2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4A4A4A"/>
                </a:solidFill>
                <a:latin typeface="Arial"/>
                <a:cs typeface="Arial"/>
              </a:rPr>
              <a:t>our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databases</a:t>
            </a:r>
            <a:r>
              <a:rPr dirty="0" sz="1200" spc="-5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of</a:t>
            </a:r>
            <a:r>
              <a:rPr dirty="0" sz="1200" spc="-1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legal,</a:t>
            </a:r>
            <a:r>
              <a:rPr dirty="0" sz="1200" spc="-2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4A4A4A"/>
                </a:solidFill>
                <a:latin typeface="Arial"/>
                <a:cs typeface="Arial"/>
              </a:rPr>
              <a:t>regulatory,</a:t>
            </a:r>
            <a:r>
              <a:rPr dirty="0" sz="1200" spc="50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news</a:t>
            </a:r>
            <a:r>
              <a:rPr dirty="0" sz="1200" spc="-1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and</a:t>
            </a:r>
            <a:r>
              <a:rPr dirty="0" sz="1200" spc="-2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business</a:t>
            </a:r>
            <a:r>
              <a:rPr dirty="0" sz="1200" spc="-3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4A4A4A"/>
                </a:solidFill>
                <a:latin typeface="Arial"/>
                <a:cs typeface="Arial"/>
              </a:rPr>
              <a:t>information.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615821" y="1544232"/>
            <a:ext cx="2800350" cy="193548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400" b="1">
                <a:solidFill>
                  <a:srgbClr val="3E3E3E"/>
                </a:solidFill>
                <a:latin typeface="Arial"/>
                <a:cs typeface="Arial"/>
              </a:rPr>
              <a:t>Financial</a:t>
            </a:r>
            <a:r>
              <a:rPr dirty="0" sz="1400" spc="-65" b="1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3E3E3E"/>
                </a:solidFill>
                <a:latin typeface="Arial"/>
                <a:cs typeface="Arial"/>
              </a:rPr>
              <a:t>&amp;</a:t>
            </a:r>
            <a:r>
              <a:rPr dirty="0" sz="1400" spc="-20" b="1">
                <a:solidFill>
                  <a:srgbClr val="3E3E3E"/>
                </a:solidFill>
                <a:latin typeface="Arial"/>
                <a:cs typeface="Arial"/>
              </a:rPr>
              <a:t> Risk</a:t>
            </a:r>
            <a:endParaRPr sz="1400">
              <a:latin typeface="Arial"/>
              <a:cs typeface="Arial"/>
            </a:endParaRPr>
          </a:p>
          <a:p>
            <a:pPr marL="17145" marR="107314">
              <a:lnSpc>
                <a:spcPct val="100000"/>
              </a:lnSpc>
              <a:spcBef>
                <a:spcPts val="175"/>
              </a:spcBef>
            </a:pPr>
            <a:r>
              <a:rPr dirty="0" sz="1200" b="1">
                <a:solidFill>
                  <a:srgbClr val="4A4A4A"/>
                </a:solidFill>
                <a:latin typeface="Arial"/>
                <a:cs typeface="Arial"/>
              </a:rPr>
              <a:t>Thomson</a:t>
            </a:r>
            <a:r>
              <a:rPr dirty="0" sz="1200" spc="-30" b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4A4A4A"/>
                </a:solidFill>
                <a:latin typeface="Arial"/>
                <a:cs typeface="Arial"/>
              </a:rPr>
              <a:t>Reuters</a:t>
            </a:r>
            <a:r>
              <a:rPr dirty="0" sz="1200" spc="-50" b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4A4A4A"/>
                </a:solidFill>
                <a:latin typeface="Arial"/>
                <a:cs typeface="Arial"/>
              </a:rPr>
              <a:t>Financial</a:t>
            </a:r>
            <a:r>
              <a:rPr dirty="0" sz="1200" spc="-30" b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b="1">
                <a:solidFill>
                  <a:srgbClr val="4A4A4A"/>
                </a:solidFill>
                <a:latin typeface="Arial"/>
                <a:cs typeface="Arial"/>
              </a:rPr>
              <a:t>&amp;</a:t>
            </a:r>
            <a:r>
              <a:rPr dirty="0" sz="1200" spc="-30" b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20" b="1">
                <a:solidFill>
                  <a:srgbClr val="4A4A4A"/>
                </a:solidFill>
                <a:latin typeface="Arial"/>
                <a:cs typeface="Arial"/>
              </a:rPr>
              <a:t>Risk</a:t>
            </a:r>
            <a:r>
              <a:rPr dirty="0" sz="1200" spc="500" b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is</a:t>
            </a:r>
            <a:r>
              <a:rPr dirty="0" sz="1200" spc="-2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the</a:t>
            </a:r>
            <a:r>
              <a:rPr dirty="0" sz="1200" spc="-2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leading</a:t>
            </a:r>
            <a:r>
              <a:rPr dirty="0" sz="12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provider</a:t>
            </a:r>
            <a:r>
              <a:rPr dirty="0" sz="1200" spc="-3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of</a:t>
            </a:r>
            <a:r>
              <a:rPr dirty="0" sz="1200" spc="-1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regulatory</a:t>
            </a:r>
            <a:r>
              <a:rPr dirty="0" sz="12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4A4A4A"/>
                </a:solidFill>
                <a:latin typeface="Arial"/>
                <a:cs typeface="Arial"/>
              </a:rPr>
              <a:t>and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operational</a:t>
            </a:r>
            <a:r>
              <a:rPr dirty="0" sz="1200" spc="-6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risk</a:t>
            </a:r>
            <a:r>
              <a:rPr dirty="0" sz="1200" spc="-2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management</a:t>
            </a:r>
            <a:r>
              <a:rPr dirty="0" sz="12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4A4A4A"/>
                </a:solidFill>
                <a:latin typeface="Arial"/>
                <a:cs typeface="Arial"/>
              </a:rPr>
              <a:t>solutions.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These</a:t>
            </a:r>
            <a:r>
              <a:rPr dirty="0" sz="12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solutions</a:t>
            </a:r>
            <a:r>
              <a:rPr dirty="0" sz="12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deliver</a:t>
            </a:r>
            <a:r>
              <a:rPr dirty="0" sz="1200" spc="-2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critical</a:t>
            </a:r>
            <a:r>
              <a:rPr dirty="0" sz="1200" spc="-2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4A4A4A"/>
                </a:solidFill>
                <a:latin typeface="Arial"/>
                <a:cs typeface="Arial"/>
              </a:rPr>
              <a:t>news,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information</a:t>
            </a:r>
            <a:r>
              <a:rPr dirty="0" sz="1200" spc="-5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and</a:t>
            </a:r>
            <a:r>
              <a:rPr dirty="0" sz="12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analytics,</a:t>
            </a:r>
            <a:r>
              <a:rPr dirty="0" sz="12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4A4A4A"/>
                </a:solidFill>
                <a:latin typeface="Arial"/>
                <a:cs typeface="Arial"/>
              </a:rPr>
              <a:t>enable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transactions,</a:t>
            </a:r>
            <a:r>
              <a:rPr dirty="0" sz="12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and</a:t>
            </a:r>
            <a:r>
              <a:rPr dirty="0" sz="1200" spc="-3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bring</a:t>
            </a:r>
            <a:r>
              <a:rPr dirty="0" sz="1200" spc="-2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4A4A4A"/>
                </a:solidFill>
                <a:latin typeface="Arial"/>
                <a:cs typeface="Arial"/>
              </a:rPr>
              <a:t>together</a:t>
            </a:r>
            <a:endParaRPr sz="1200">
              <a:latin typeface="Arial"/>
              <a:cs typeface="Arial"/>
            </a:endParaRPr>
          </a:p>
          <a:p>
            <a:pPr marL="17145" marR="5080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communities</a:t>
            </a:r>
            <a:r>
              <a:rPr dirty="0" sz="1200" spc="-5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that</a:t>
            </a:r>
            <a:r>
              <a:rPr dirty="0" sz="1200" spc="-2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allow</a:t>
            </a:r>
            <a:r>
              <a:rPr dirty="0" sz="1200" spc="-3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trading,</a:t>
            </a:r>
            <a:r>
              <a:rPr dirty="0" sz="1200" spc="-2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4A4A4A"/>
                </a:solidFill>
                <a:latin typeface="Arial"/>
                <a:cs typeface="Arial"/>
              </a:rPr>
              <a:t>investing,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financial</a:t>
            </a:r>
            <a:r>
              <a:rPr dirty="0" sz="1200" spc="-5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and</a:t>
            </a:r>
            <a:r>
              <a:rPr dirty="0" sz="1200" spc="-3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corporate</a:t>
            </a:r>
            <a:r>
              <a:rPr dirty="0" sz="12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professionals</a:t>
            </a:r>
            <a:r>
              <a:rPr dirty="0" sz="12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4A4A4A"/>
                </a:solidFill>
                <a:latin typeface="Arial"/>
                <a:cs typeface="Arial"/>
              </a:rPr>
              <a:t>to </a:t>
            </a:r>
            <a:r>
              <a:rPr dirty="0" sz="1200" spc="-10">
                <a:solidFill>
                  <a:srgbClr val="4A4A4A"/>
                </a:solidFill>
                <a:latin typeface="Arial"/>
                <a:cs typeface="Arial"/>
              </a:rPr>
              <a:t>connect.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386968" y="3514216"/>
            <a:ext cx="8258809" cy="2729865"/>
            <a:chOff x="386968" y="3514216"/>
            <a:chExt cx="8258809" cy="2729865"/>
          </a:xfrm>
        </p:grpSpPr>
        <p:sp>
          <p:nvSpPr>
            <p:cNvPr id="15" name="object 15" descr=""/>
            <p:cNvSpPr/>
            <p:nvPr/>
          </p:nvSpPr>
          <p:spPr>
            <a:xfrm>
              <a:off x="401573" y="3528821"/>
              <a:ext cx="8229600" cy="0"/>
            </a:xfrm>
            <a:custGeom>
              <a:avLst/>
              <a:gdLst/>
              <a:ahLst/>
              <a:cxnLst/>
              <a:rect l="l" t="t" r="r" b="b"/>
              <a:pathLst>
                <a:path w="8229600" h="0">
                  <a:moveTo>
                    <a:pt x="0" y="0"/>
                  </a:moveTo>
                  <a:lnTo>
                    <a:pt x="8229600" y="0"/>
                  </a:lnTo>
                </a:path>
              </a:pathLst>
            </a:custGeom>
            <a:ln w="28956">
              <a:solidFill>
                <a:srgbClr val="B9B9B9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88263" y="5573267"/>
              <a:ext cx="7844155" cy="670560"/>
            </a:xfrm>
            <a:custGeom>
              <a:avLst/>
              <a:gdLst/>
              <a:ahLst/>
              <a:cxnLst/>
              <a:rect l="l" t="t" r="r" b="b"/>
              <a:pathLst>
                <a:path w="7844155" h="670560">
                  <a:moveTo>
                    <a:pt x="7732267" y="0"/>
                  </a:moveTo>
                  <a:lnTo>
                    <a:pt x="111759" y="0"/>
                  </a:lnTo>
                  <a:lnTo>
                    <a:pt x="68258" y="8782"/>
                  </a:lnTo>
                  <a:lnTo>
                    <a:pt x="32734" y="32734"/>
                  </a:lnTo>
                  <a:lnTo>
                    <a:pt x="8782" y="68258"/>
                  </a:lnTo>
                  <a:lnTo>
                    <a:pt x="0" y="111759"/>
                  </a:lnTo>
                  <a:lnTo>
                    <a:pt x="0" y="558799"/>
                  </a:lnTo>
                  <a:lnTo>
                    <a:pt x="8782" y="602301"/>
                  </a:lnTo>
                  <a:lnTo>
                    <a:pt x="32734" y="637825"/>
                  </a:lnTo>
                  <a:lnTo>
                    <a:pt x="68258" y="661777"/>
                  </a:lnTo>
                  <a:lnTo>
                    <a:pt x="111759" y="670559"/>
                  </a:lnTo>
                  <a:lnTo>
                    <a:pt x="7732267" y="670559"/>
                  </a:lnTo>
                  <a:lnTo>
                    <a:pt x="7775769" y="661777"/>
                  </a:lnTo>
                  <a:lnTo>
                    <a:pt x="7811293" y="637825"/>
                  </a:lnTo>
                  <a:lnTo>
                    <a:pt x="7835245" y="602301"/>
                  </a:lnTo>
                  <a:lnTo>
                    <a:pt x="7844028" y="558799"/>
                  </a:lnTo>
                  <a:lnTo>
                    <a:pt x="7844028" y="111759"/>
                  </a:lnTo>
                  <a:lnTo>
                    <a:pt x="7835245" y="68258"/>
                  </a:lnTo>
                  <a:lnTo>
                    <a:pt x="7811293" y="32734"/>
                  </a:lnTo>
                  <a:lnTo>
                    <a:pt x="7775769" y="8782"/>
                  </a:lnTo>
                  <a:lnTo>
                    <a:pt x="7732267" y="0"/>
                  </a:lnTo>
                  <a:close/>
                </a:path>
              </a:pathLst>
            </a:custGeom>
            <a:solidFill>
              <a:srgbClr val="9F958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2011807" y="5616346"/>
            <a:ext cx="4993640" cy="588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4445">
              <a:lnSpc>
                <a:spcPts val="1670"/>
              </a:lnSpc>
              <a:spcBef>
                <a:spcPts val="100"/>
              </a:spcBef>
            </a:pPr>
            <a:r>
              <a:rPr dirty="0" sz="1400" b="1">
                <a:solidFill>
                  <a:srgbClr val="252525"/>
                </a:solidFill>
                <a:latin typeface="Arial"/>
                <a:cs typeface="Arial"/>
              </a:rPr>
              <a:t>Reuters</a:t>
            </a:r>
            <a:r>
              <a:rPr dirty="0" sz="1400" spc="-50" b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252525"/>
                </a:solidFill>
                <a:latin typeface="Arial"/>
                <a:cs typeface="Arial"/>
              </a:rPr>
              <a:t>News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ts val="1375"/>
              </a:lnSpc>
            </a:pP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2,800</a:t>
            </a:r>
            <a:r>
              <a:rPr dirty="0" sz="12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journalists</a:t>
            </a:r>
            <a:r>
              <a:rPr dirty="0" sz="12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reporting</a:t>
            </a:r>
            <a:r>
              <a:rPr dirty="0" sz="12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20</a:t>
            </a:r>
            <a:r>
              <a:rPr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languages</a:t>
            </a:r>
            <a:r>
              <a:rPr dirty="0" sz="12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12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bureaus</a:t>
            </a:r>
            <a:r>
              <a:rPr dirty="0" sz="12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around</a:t>
            </a:r>
            <a:r>
              <a:rPr dirty="0" sz="12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2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world</a:t>
            </a:r>
            <a:endParaRPr sz="1200">
              <a:latin typeface="Arial"/>
              <a:cs typeface="Arial"/>
            </a:endParaRPr>
          </a:p>
          <a:p>
            <a:pPr algn="ctr" marL="3175">
              <a:lnSpc>
                <a:spcPts val="1380"/>
              </a:lnSpc>
            </a:pPr>
            <a:r>
              <a:rPr dirty="0" sz="1200" b="1">
                <a:solidFill>
                  <a:srgbClr val="FFFFFF"/>
                </a:solidFill>
                <a:latin typeface="Arial"/>
                <a:cs typeface="Arial"/>
              </a:rPr>
              <a:t>Reuters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2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2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world’s</a:t>
            </a:r>
            <a:r>
              <a:rPr dirty="0" sz="12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largest</a:t>
            </a:r>
            <a:r>
              <a:rPr dirty="0" sz="12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international</a:t>
            </a:r>
            <a:r>
              <a:rPr dirty="0" sz="12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news</a:t>
            </a: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FFFFFF"/>
                </a:solidFill>
                <a:latin typeface="Arial"/>
                <a:cs typeface="Arial"/>
              </a:rPr>
              <a:t>organization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4552188" y="3566159"/>
            <a:ext cx="4175760" cy="1889760"/>
          </a:xfrm>
          <a:custGeom>
            <a:avLst/>
            <a:gdLst/>
            <a:ahLst/>
            <a:cxnLst/>
            <a:rect l="l" t="t" r="r" b="b"/>
            <a:pathLst>
              <a:path w="4175759" h="1889760">
                <a:moveTo>
                  <a:pt x="0" y="1889760"/>
                </a:moveTo>
                <a:lnTo>
                  <a:pt x="4175760" y="1889760"/>
                </a:lnTo>
                <a:lnTo>
                  <a:pt x="4175760" y="0"/>
                </a:lnTo>
                <a:lnTo>
                  <a:pt x="0" y="0"/>
                </a:lnTo>
                <a:lnTo>
                  <a:pt x="0" y="1889760"/>
                </a:lnTo>
                <a:close/>
              </a:path>
            </a:pathLst>
          </a:custGeom>
          <a:ln w="57912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17447" y="1365503"/>
            <a:ext cx="7370445" cy="0"/>
          </a:xfrm>
          <a:custGeom>
            <a:avLst/>
            <a:gdLst/>
            <a:ahLst/>
            <a:cxnLst/>
            <a:rect l="l" t="t" r="r" b="b"/>
            <a:pathLst>
              <a:path w="7370445" h="0">
                <a:moveTo>
                  <a:pt x="0" y="0"/>
                </a:moveTo>
                <a:lnTo>
                  <a:pt x="7370063" y="0"/>
                </a:lnTo>
              </a:path>
            </a:pathLst>
          </a:custGeom>
          <a:ln w="24384">
            <a:solidFill>
              <a:srgbClr val="4A4A4A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463295" y="1769364"/>
            <a:ext cx="8217534" cy="3895725"/>
            <a:chOff x="463295" y="1769364"/>
            <a:chExt cx="8217534" cy="38957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3295" y="1769364"/>
              <a:ext cx="8217408" cy="3895344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644652" y="3014471"/>
              <a:ext cx="5128260" cy="1931035"/>
            </a:xfrm>
            <a:custGeom>
              <a:avLst/>
              <a:gdLst/>
              <a:ahLst/>
              <a:cxnLst/>
              <a:rect l="l" t="t" r="r" b="b"/>
              <a:pathLst>
                <a:path w="5128260" h="1931035">
                  <a:moveTo>
                    <a:pt x="2519172" y="0"/>
                  </a:moveTo>
                  <a:lnTo>
                    <a:pt x="0" y="0"/>
                  </a:lnTo>
                  <a:lnTo>
                    <a:pt x="0" y="1930908"/>
                  </a:lnTo>
                  <a:lnTo>
                    <a:pt x="2519172" y="1930908"/>
                  </a:lnTo>
                  <a:lnTo>
                    <a:pt x="2519172" y="0"/>
                  </a:lnTo>
                  <a:close/>
                </a:path>
                <a:path w="5128260" h="1931035">
                  <a:moveTo>
                    <a:pt x="5128247" y="0"/>
                  </a:moveTo>
                  <a:lnTo>
                    <a:pt x="2607551" y="0"/>
                  </a:lnTo>
                  <a:lnTo>
                    <a:pt x="2607551" y="1930908"/>
                  </a:lnTo>
                  <a:lnTo>
                    <a:pt x="5128247" y="1930908"/>
                  </a:lnTo>
                  <a:lnTo>
                    <a:pt x="51282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5052" y="620394"/>
            <a:ext cx="6697980" cy="7289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250"/>
              </a:lnSpc>
              <a:spcBef>
                <a:spcPts val="95"/>
              </a:spcBef>
            </a:pPr>
            <a:r>
              <a:rPr dirty="0" u="none"/>
              <a:t>INTELLECTUAL</a:t>
            </a:r>
            <a:r>
              <a:rPr dirty="0" u="none" spc="-110"/>
              <a:t> </a:t>
            </a:r>
            <a:r>
              <a:rPr dirty="0" u="none"/>
              <a:t>PROPERTY</a:t>
            </a:r>
            <a:r>
              <a:rPr dirty="0" u="none" spc="-120"/>
              <a:t> </a:t>
            </a:r>
            <a:r>
              <a:rPr dirty="0" u="none"/>
              <a:t>&amp;</a:t>
            </a:r>
            <a:r>
              <a:rPr dirty="0" u="none" spc="-145"/>
              <a:t> </a:t>
            </a:r>
            <a:r>
              <a:rPr dirty="0" u="none" spc="-10"/>
              <a:t>SCIENCE</a:t>
            </a:r>
          </a:p>
          <a:p>
            <a:pPr marL="12700">
              <a:lnSpc>
                <a:spcPts val="2290"/>
              </a:lnSpc>
            </a:pPr>
            <a:r>
              <a:rPr dirty="0" u="none" sz="2000" i="1">
                <a:latin typeface="Arial"/>
                <a:cs typeface="Arial"/>
              </a:rPr>
              <a:t>Supporting</a:t>
            </a:r>
            <a:r>
              <a:rPr dirty="0" u="none" sz="2000" spc="-35" i="1">
                <a:latin typeface="Arial"/>
                <a:cs typeface="Arial"/>
              </a:rPr>
              <a:t> </a:t>
            </a:r>
            <a:r>
              <a:rPr dirty="0" u="none" sz="2000" i="1">
                <a:latin typeface="Arial"/>
                <a:cs typeface="Arial"/>
              </a:rPr>
              <a:t>the</a:t>
            </a:r>
            <a:r>
              <a:rPr dirty="0" u="none" sz="2000" spc="-20" i="1">
                <a:latin typeface="Arial"/>
                <a:cs typeface="Arial"/>
              </a:rPr>
              <a:t> </a:t>
            </a:r>
            <a:r>
              <a:rPr dirty="0" u="none" sz="2000" i="1">
                <a:latin typeface="Arial"/>
                <a:cs typeface="Arial"/>
              </a:rPr>
              <a:t>R&amp;D</a:t>
            </a:r>
            <a:r>
              <a:rPr dirty="0" u="none" sz="2000" spc="5" i="1">
                <a:latin typeface="Arial"/>
                <a:cs typeface="Arial"/>
              </a:rPr>
              <a:t> </a:t>
            </a:r>
            <a:r>
              <a:rPr dirty="0" u="none" sz="2000" spc="-10" i="1">
                <a:latin typeface="Arial"/>
                <a:cs typeface="Arial"/>
              </a:rPr>
              <a:t>community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849751" y="3093847"/>
            <a:ext cx="1326515" cy="598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635">
              <a:lnSpc>
                <a:spcPts val="2250"/>
              </a:lnSpc>
              <a:spcBef>
                <a:spcPts val="105"/>
              </a:spcBef>
            </a:pPr>
            <a:r>
              <a:rPr dirty="0" sz="2000" spc="-20" b="1">
                <a:solidFill>
                  <a:srgbClr val="F5AF04"/>
                </a:solidFill>
                <a:latin typeface="Arial"/>
                <a:cs typeface="Arial"/>
              </a:rPr>
              <a:t>LIFE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ts val="2250"/>
              </a:lnSpc>
            </a:pPr>
            <a:r>
              <a:rPr dirty="0" sz="2000" spc="-10" b="1">
                <a:solidFill>
                  <a:srgbClr val="F5AF04"/>
                </a:solidFill>
                <a:latin typeface="Arial"/>
                <a:cs typeface="Arial"/>
              </a:rPr>
              <a:t>SCIENCES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5891784" y="3014472"/>
            <a:ext cx="2519680" cy="1931035"/>
          </a:xfrm>
          <a:custGeom>
            <a:avLst/>
            <a:gdLst/>
            <a:ahLst/>
            <a:cxnLst/>
            <a:rect l="l" t="t" r="r" b="b"/>
            <a:pathLst>
              <a:path w="2519679" h="1931035">
                <a:moveTo>
                  <a:pt x="2519171" y="0"/>
                </a:moveTo>
                <a:lnTo>
                  <a:pt x="0" y="0"/>
                </a:lnTo>
                <a:lnTo>
                  <a:pt x="0" y="1930908"/>
                </a:lnTo>
                <a:lnTo>
                  <a:pt x="2519171" y="1930908"/>
                </a:lnTo>
                <a:lnTo>
                  <a:pt x="25191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6397244" y="3093847"/>
            <a:ext cx="1510665" cy="598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74930">
              <a:lnSpc>
                <a:spcPts val="2250"/>
              </a:lnSpc>
              <a:spcBef>
                <a:spcPts val="105"/>
              </a:spcBef>
            </a:pPr>
            <a:r>
              <a:rPr dirty="0" sz="2000" spc="-25" b="1">
                <a:solidFill>
                  <a:srgbClr val="FF8000"/>
                </a:solidFill>
                <a:latin typeface="Arial"/>
                <a:cs typeface="Arial"/>
              </a:rPr>
              <a:t>IP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ts val="2250"/>
              </a:lnSpc>
            </a:pPr>
            <a:r>
              <a:rPr dirty="0" sz="2000" spc="-10" b="1">
                <a:solidFill>
                  <a:srgbClr val="FF8000"/>
                </a:solidFill>
                <a:latin typeface="Arial"/>
                <a:cs typeface="Arial"/>
              </a:rPr>
              <a:t>SOLUTIONS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73608" y="1891283"/>
            <a:ext cx="7747000" cy="683260"/>
          </a:xfrm>
          <a:prstGeom prst="rect">
            <a:avLst/>
          </a:prstGeom>
          <a:solidFill>
            <a:srgbClr val="F7F7F7"/>
          </a:solidFill>
        </p:spPr>
        <p:txBody>
          <a:bodyPr wrap="square" lIns="0" tIns="58419" rIns="0" bIns="0" rtlCol="0" vert="horz">
            <a:spAutoFit/>
          </a:bodyPr>
          <a:lstStyle/>
          <a:p>
            <a:pPr algn="ctr" marL="1905">
              <a:lnSpc>
                <a:spcPts val="2050"/>
              </a:lnSpc>
              <a:spcBef>
                <a:spcPts val="459"/>
              </a:spcBef>
            </a:pPr>
            <a:r>
              <a:rPr dirty="0" sz="1800">
                <a:solidFill>
                  <a:srgbClr val="666666"/>
                </a:solidFill>
                <a:latin typeface="Arial"/>
                <a:cs typeface="Arial"/>
              </a:rPr>
              <a:t>Our</a:t>
            </a:r>
            <a:r>
              <a:rPr dirty="0" sz="1800" spc="-10">
                <a:solidFill>
                  <a:srgbClr val="666666"/>
                </a:solidFill>
                <a:latin typeface="Arial"/>
                <a:cs typeface="Arial"/>
              </a:rPr>
              <a:t> Mission:</a:t>
            </a:r>
            <a:endParaRPr sz="1800">
              <a:latin typeface="Arial"/>
              <a:cs typeface="Arial"/>
            </a:endParaRPr>
          </a:p>
          <a:p>
            <a:pPr algn="ctr" marL="1270">
              <a:lnSpc>
                <a:spcPts val="2050"/>
              </a:lnSpc>
            </a:pPr>
            <a:r>
              <a:rPr dirty="0" sz="1800">
                <a:solidFill>
                  <a:srgbClr val="666666"/>
                </a:solidFill>
                <a:latin typeface="Arial"/>
                <a:cs typeface="Arial"/>
              </a:rPr>
              <a:t>Helping</a:t>
            </a:r>
            <a:r>
              <a:rPr dirty="0" sz="1800" spc="-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66666"/>
                </a:solidFill>
                <a:latin typeface="Arial"/>
                <a:cs typeface="Arial"/>
              </a:rPr>
              <a:t>Our</a:t>
            </a:r>
            <a:r>
              <a:rPr dirty="0" sz="180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66666"/>
                </a:solidFill>
                <a:latin typeface="Arial"/>
                <a:cs typeface="Arial"/>
              </a:rPr>
              <a:t>Customers</a:t>
            </a:r>
            <a:r>
              <a:rPr dirty="0" sz="180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66666"/>
                </a:solidFill>
                <a:latin typeface="Arial"/>
                <a:cs typeface="Arial"/>
              </a:rPr>
              <a:t>Bring</a:t>
            </a:r>
            <a:r>
              <a:rPr dirty="0" sz="1800" spc="-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66666"/>
                </a:solidFill>
                <a:latin typeface="Arial"/>
                <a:cs typeface="Arial"/>
              </a:rPr>
              <a:t>Ideas</a:t>
            </a:r>
            <a:r>
              <a:rPr dirty="0" sz="1800" spc="-2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66666"/>
                </a:solidFill>
                <a:latin typeface="Arial"/>
                <a:cs typeface="Arial"/>
              </a:rPr>
              <a:t>and</a:t>
            </a:r>
            <a:r>
              <a:rPr dirty="0" sz="1800" spc="-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66666"/>
                </a:solidFill>
                <a:latin typeface="Arial"/>
                <a:cs typeface="Arial"/>
              </a:rPr>
              <a:t>Innovations</a:t>
            </a:r>
            <a:r>
              <a:rPr dirty="0" sz="1800" spc="-1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66666"/>
                </a:solidFill>
                <a:latin typeface="Arial"/>
                <a:cs typeface="Arial"/>
              </a:rPr>
              <a:t>to</a:t>
            </a:r>
            <a:r>
              <a:rPr dirty="0" sz="180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66666"/>
                </a:solidFill>
                <a:latin typeface="Arial"/>
                <a:cs typeface="Arial"/>
              </a:rPr>
              <a:t>the</a:t>
            </a:r>
            <a:r>
              <a:rPr dirty="0" sz="1800" spc="-3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Arial"/>
                <a:cs typeface="Arial"/>
              </a:rPr>
              <a:t>World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560190" y="4089019"/>
            <a:ext cx="1943100" cy="619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0480" marR="5080" indent="-18415">
              <a:lnSpc>
                <a:spcPct val="100000"/>
              </a:lnSpc>
              <a:spcBef>
                <a:spcPts val="95"/>
              </a:spcBef>
            </a:pPr>
            <a:r>
              <a:rPr dirty="0" sz="1300">
                <a:solidFill>
                  <a:srgbClr val="4A4A4A"/>
                </a:solidFill>
                <a:latin typeface="Arial"/>
                <a:cs typeface="Arial"/>
              </a:rPr>
              <a:t>Reliable</a:t>
            </a:r>
            <a:r>
              <a:rPr dirty="0" sz="1300" spc="-3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4A4A4A"/>
                </a:solidFill>
                <a:latin typeface="Arial"/>
                <a:cs typeface="Arial"/>
              </a:rPr>
              <a:t>content,</a:t>
            </a:r>
            <a:r>
              <a:rPr dirty="0" sz="1300" spc="-2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4A4A4A"/>
                </a:solidFill>
                <a:latin typeface="Arial"/>
                <a:cs typeface="Arial"/>
              </a:rPr>
              <a:t>analytics </a:t>
            </a:r>
            <a:r>
              <a:rPr dirty="0" sz="1300">
                <a:solidFill>
                  <a:srgbClr val="4A4A4A"/>
                </a:solidFill>
                <a:latin typeface="Arial"/>
                <a:cs typeface="Arial"/>
              </a:rPr>
              <a:t>and</a:t>
            </a:r>
            <a:r>
              <a:rPr dirty="0" sz="13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4A4A4A"/>
                </a:solidFill>
                <a:latin typeface="Arial"/>
                <a:cs typeface="Arial"/>
              </a:rPr>
              <a:t>services that</a:t>
            </a:r>
            <a:r>
              <a:rPr dirty="0" sz="13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4A4A4A"/>
                </a:solidFill>
                <a:latin typeface="Arial"/>
                <a:cs typeface="Arial"/>
              </a:rPr>
              <a:t>improve </a:t>
            </a:r>
            <a:r>
              <a:rPr dirty="0" sz="1300">
                <a:solidFill>
                  <a:srgbClr val="4A4A4A"/>
                </a:solidFill>
                <a:latin typeface="Arial"/>
                <a:cs typeface="Arial"/>
              </a:rPr>
              <a:t>Pharma</a:t>
            </a:r>
            <a:r>
              <a:rPr dirty="0" sz="1300" spc="-3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4A4A4A"/>
                </a:solidFill>
                <a:latin typeface="Arial"/>
                <a:cs typeface="Arial"/>
              </a:rPr>
              <a:t>R&amp;D</a:t>
            </a:r>
            <a:r>
              <a:rPr dirty="0" sz="13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4A4A4A"/>
                </a:solidFill>
                <a:latin typeface="Arial"/>
                <a:cs typeface="Arial"/>
              </a:rPr>
              <a:t>productivity</a:t>
            </a:r>
            <a:endParaRPr sz="13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306439" y="4086225"/>
            <a:ext cx="1767839" cy="619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95"/>
              </a:spcBef>
            </a:pPr>
            <a:r>
              <a:rPr dirty="0" sz="1300" spc="-10">
                <a:solidFill>
                  <a:srgbClr val="4A4A4A"/>
                </a:solidFill>
                <a:latin typeface="Arial"/>
                <a:cs typeface="Arial"/>
              </a:rPr>
              <a:t>World-</a:t>
            </a:r>
            <a:r>
              <a:rPr dirty="0" sz="1300">
                <a:solidFill>
                  <a:srgbClr val="4A4A4A"/>
                </a:solidFill>
                <a:latin typeface="Arial"/>
                <a:cs typeface="Arial"/>
              </a:rPr>
              <a:t>class</a:t>
            </a:r>
            <a:r>
              <a:rPr dirty="0" sz="13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4A4A4A"/>
                </a:solidFill>
                <a:latin typeface="Arial"/>
                <a:cs typeface="Arial"/>
              </a:rPr>
              <a:t>solutions</a:t>
            </a:r>
            <a:r>
              <a:rPr dirty="0" sz="1300" spc="-1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4A4A4A"/>
                </a:solidFill>
                <a:latin typeface="Arial"/>
                <a:cs typeface="Arial"/>
              </a:rPr>
              <a:t>to </a:t>
            </a:r>
            <a:r>
              <a:rPr dirty="0" sz="1300">
                <a:solidFill>
                  <a:srgbClr val="4A4A4A"/>
                </a:solidFill>
                <a:latin typeface="Arial"/>
                <a:cs typeface="Arial"/>
              </a:rPr>
              <a:t>manage,</a:t>
            </a:r>
            <a:r>
              <a:rPr dirty="0" sz="1300" spc="-3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4A4A4A"/>
                </a:solidFill>
                <a:latin typeface="Arial"/>
                <a:cs typeface="Arial"/>
              </a:rPr>
              <a:t>protect</a:t>
            </a:r>
            <a:r>
              <a:rPr dirty="0" sz="13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4A4A4A"/>
                </a:solidFill>
                <a:latin typeface="Arial"/>
                <a:cs typeface="Arial"/>
              </a:rPr>
              <a:t>and </a:t>
            </a:r>
            <a:r>
              <a:rPr dirty="0" sz="1300">
                <a:solidFill>
                  <a:srgbClr val="4A4A4A"/>
                </a:solidFill>
                <a:latin typeface="Arial"/>
                <a:cs typeface="Arial"/>
              </a:rPr>
              <a:t>capitalize</a:t>
            </a:r>
            <a:r>
              <a:rPr dirty="0" sz="1300" spc="-1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4A4A4A"/>
                </a:solidFill>
                <a:latin typeface="Arial"/>
                <a:cs typeface="Arial"/>
              </a:rPr>
              <a:t>on</a:t>
            </a:r>
            <a:r>
              <a:rPr dirty="0" sz="1300" spc="-2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4A4A4A"/>
                </a:solidFill>
                <a:latin typeface="Arial"/>
                <a:cs typeface="Arial"/>
              </a:rPr>
              <a:t>IP</a:t>
            </a:r>
            <a:r>
              <a:rPr dirty="0" sz="1300" spc="-5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4A4A4A"/>
                </a:solidFill>
                <a:latin typeface="Arial"/>
                <a:cs typeface="Arial"/>
              </a:rPr>
              <a:t>assets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1903476" y="2773807"/>
            <a:ext cx="5250180" cy="2193290"/>
            <a:chOff x="1903476" y="2773807"/>
            <a:chExt cx="5250180" cy="2193290"/>
          </a:xfrm>
        </p:grpSpPr>
        <p:sp>
          <p:nvSpPr>
            <p:cNvPr id="14" name="object 14" descr=""/>
            <p:cNvSpPr/>
            <p:nvPr/>
          </p:nvSpPr>
          <p:spPr>
            <a:xfrm>
              <a:off x="1905000" y="2775331"/>
              <a:ext cx="5247640" cy="228600"/>
            </a:xfrm>
            <a:custGeom>
              <a:avLst/>
              <a:gdLst/>
              <a:ahLst/>
              <a:cxnLst/>
              <a:rect l="l" t="t" r="r" b="b"/>
              <a:pathLst>
                <a:path w="5247640" h="228600">
                  <a:moveTo>
                    <a:pt x="0" y="228600"/>
                  </a:moveTo>
                  <a:lnTo>
                    <a:pt x="0" y="0"/>
                  </a:lnTo>
                  <a:lnTo>
                    <a:pt x="5247132" y="0"/>
                  </a:lnTo>
                  <a:lnTo>
                    <a:pt x="5247132" y="226949"/>
                  </a:lnTo>
                </a:path>
              </a:pathLst>
            </a:custGeom>
            <a:ln w="3175">
              <a:solidFill>
                <a:srgbClr val="929292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402836" y="2790444"/>
              <a:ext cx="1905" cy="226695"/>
            </a:xfrm>
            <a:custGeom>
              <a:avLst/>
              <a:gdLst/>
              <a:ahLst/>
              <a:cxnLst/>
              <a:rect l="l" t="t" r="r" b="b"/>
              <a:pathLst>
                <a:path w="1904" h="226694">
                  <a:moveTo>
                    <a:pt x="0" y="226186"/>
                  </a:moveTo>
                  <a:lnTo>
                    <a:pt x="1524" y="0"/>
                  </a:lnTo>
                </a:path>
              </a:pathLst>
            </a:custGeom>
            <a:ln w="9143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261360" y="3048000"/>
              <a:ext cx="2499360" cy="1889760"/>
            </a:xfrm>
            <a:custGeom>
              <a:avLst/>
              <a:gdLst/>
              <a:ahLst/>
              <a:cxnLst/>
              <a:rect l="l" t="t" r="r" b="b"/>
              <a:pathLst>
                <a:path w="2499360" h="1889760">
                  <a:moveTo>
                    <a:pt x="0" y="1889760"/>
                  </a:moveTo>
                  <a:lnTo>
                    <a:pt x="2499360" y="1889760"/>
                  </a:lnTo>
                  <a:lnTo>
                    <a:pt x="2499360" y="0"/>
                  </a:lnTo>
                  <a:lnTo>
                    <a:pt x="0" y="0"/>
                  </a:lnTo>
                  <a:lnTo>
                    <a:pt x="0" y="1889760"/>
                  </a:lnTo>
                  <a:close/>
                </a:path>
              </a:pathLst>
            </a:custGeom>
            <a:ln w="5791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883716" y="3093847"/>
            <a:ext cx="2002155" cy="1605915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algn="just" marL="241300" marR="140970" indent="-55244">
              <a:lnSpc>
                <a:spcPct val="87500"/>
              </a:lnSpc>
              <a:spcBef>
                <a:spcPts val="405"/>
              </a:spcBef>
            </a:pPr>
            <a:r>
              <a:rPr dirty="0" sz="2000" b="1">
                <a:solidFill>
                  <a:srgbClr val="669900"/>
                </a:solidFill>
                <a:latin typeface="Arial"/>
                <a:cs typeface="Arial"/>
              </a:rPr>
              <a:t>SCIENTIFIC</a:t>
            </a:r>
            <a:r>
              <a:rPr dirty="0" sz="2000" spc="-10" b="1">
                <a:solidFill>
                  <a:srgbClr val="669900"/>
                </a:solidFill>
                <a:latin typeface="Arial"/>
                <a:cs typeface="Arial"/>
              </a:rPr>
              <a:t> </a:t>
            </a:r>
            <a:r>
              <a:rPr dirty="0" sz="2000" spc="-50" b="1">
                <a:solidFill>
                  <a:srgbClr val="669900"/>
                </a:solidFill>
                <a:latin typeface="Arial"/>
                <a:cs typeface="Arial"/>
              </a:rPr>
              <a:t>&amp; </a:t>
            </a:r>
            <a:r>
              <a:rPr dirty="0" sz="2000" spc="-10" b="1">
                <a:solidFill>
                  <a:srgbClr val="669900"/>
                </a:solidFill>
                <a:latin typeface="Arial"/>
                <a:cs typeface="Arial"/>
              </a:rPr>
              <a:t>SCHOLARLY RESEARCH</a:t>
            </a:r>
            <a:endParaRPr sz="2000">
              <a:latin typeface="Arial"/>
              <a:cs typeface="Arial"/>
            </a:endParaRPr>
          </a:p>
          <a:p>
            <a:pPr algn="ctr" marL="12065" marR="5080">
              <a:lnSpc>
                <a:spcPct val="100000"/>
              </a:lnSpc>
              <a:spcBef>
                <a:spcPts val="1150"/>
              </a:spcBef>
            </a:pPr>
            <a:r>
              <a:rPr dirty="0" sz="1300">
                <a:solidFill>
                  <a:srgbClr val="4A4A4A"/>
                </a:solidFill>
                <a:latin typeface="Arial"/>
                <a:cs typeface="Arial"/>
              </a:rPr>
              <a:t>Research</a:t>
            </a:r>
            <a:r>
              <a:rPr dirty="0" sz="1300" spc="-2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4A4A4A"/>
                </a:solidFill>
                <a:latin typeface="Arial"/>
                <a:cs typeface="Arial"/>
              </a:rPr>
              <a:t>data</a:t>
            </a:r>
            <a:r>
              <a:rPr dirty="0" sz="13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4A4A4A"/>
                </a:solidFill>
                <a:latin typeface="Arial"/>
                <a:cs typeface="Arial"/>
              </a:rPr>
              <a:t>and</a:t>
            </a:r>
            <a:r>
              <a:rPr dirty="0" sz="1300" spc="-2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4A4A4A"/>
                </a:solidFill>
                <a:latin typeface="Arial"/>
                <a:cs typeface="Arial"/>
              </a:rPr>
              <a:t>tools</a:t>
            </a:r>
            <a:r>
              <a:rPr dirty="0" sz="1300" spc="-3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4A4A4A"/>
                </a:solidFill>
                <a:latin typeface="Arial"/>
                <a:cs typeface="Arial"/>
              </a:rPr>
              <a:t>to </a:t>
            </a:r>
            <a:r>
              <a:rPr dirty="0" sz="1300" spc="-10">
                <a:solidFill>
                  <a:srgbClr val="4A4A4A"/>
                </a:solidFill>
                <a:latin typeface="Arial"/>
                <a:cs typeface="Arial"/>
              </a:rPr>
              <a:t>identify,</a:t>
            </a:r>
            <a:r>
              <a:rPr dirty="0" sz="1300" spc="-7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4A4A4A"/>
                </a:solidFill>
                <a:latin typeface="Arial"/>
                <a:cs typeface="Arial"/>
              </a:rPr>
              <a:t>evaluate</a:t>
            </a:r>
            <a:r>
              <a:rPr dirty="0" sz="1300" spc="-6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4A4A4A"/>
                </a:solidFill>
                <a:latin typeface="Arial"/>
                <a:cs typeface="Arial"/>
              </a:rPr>
              <a:t>and </a:t>
            </a:r>
            <a:r>
              <a:rPr dirty="0" sz="1300">
                <a:solidFill>
                  <a:srgbClr val="4A4A4A"/>
                </a:solidFill>
                <a:latin typeface="Arial"/>
                <a:cs typeface="Arial"/>
              </a:rPr>
              <a:t>promote</a:t>
            </a:r>
            <a:r>
              <a:rPr dirty="0" sz="1300" spc="-2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4A4A4A"/>
                </a:solidFill>
                <a:latin typeface="Arial"/>
                <a:cs typeface="Arial"/>
              </a:rPr>
              <a:t>the</a:t>
            </a:r>
            <a:r>
              <a:rPr dirty="0" sz="13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4A4A4A"/>
                </a:solidFill>
                <a:latin typeface="Arial"/>
                <a:cs typeface="Arial"/>
              </a:rPr>
              <a:t>best</a:t>
            </a:r>
            <a:r>
              <a:rPr dirty="0" sz="13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4A4A4A"/>
                </a:solidFill>
                <a:latin typeface="Arial"/>
                <a:cs typeface="Arial"/>
              </a:rPr>
              <a:t>research</a:t>
            </a:r>
            <a:endParaRPr sz="13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75131" y="5087111"/>
            <a:ext cx="7747000" cy="434340"/>
          </a:xfrm>
          <a:prstGeom prst="rect">
            <a:avLst/>
          </a:prstGeom>
          <a:solidFill>
            <a:srgbClr val="F7F7F7"/>
          </a:solidFill>
        </p:spPr>
        <p:txBody>
          <a:bodyPr wrap="square" lIns="0" tIns="590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65"/>
              </a:spcBef>
            </a:pPr>
            <a:r>
              <a:rPr dirty="0" sz="1800">
                <a:solidFill>
                  <a:srgbClr val="666666"/>
                </a:solidFill>
                <a:latin typeface="Arial"/>
                <a:cs typeface="Arial"/>
              </a:rPr>
              <a:t>15,000</a:t>
            </a:r>
            <a:r>
              <a:rPr dirty="0" sz="1800" spc="-3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66666"/>
                </a:solidFill>
                <a:latin typeface="Arial"/>
                <a:cs typeface="Arial"/>
              </a:rPr>
              <a:t>Customers</a:t>
            </a:r>
            <a:r>
              <a:rPr dirty="0" sz="1800" spc="-3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66666"/>
                </a:solidFill>
                <a:latin typeface="Arial"/>
                <a:cs typeface="Arial"/>
              </a:rPr>
              <a:t>representing</a:t>
            </a:r>
            <a:r>
              <a:rPr dirty="0" sz="1800" spc="-1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66666"/>
                </a:solidFill>
                <a:latin typeface="Arial"/>
                <a:cs typeface="Arial"/>
              </a:rPr>
              <a:t>over</a:t>
            </a:r>
            <a:r>
              <a:rPr dirty="0" sz="1800" spc="-4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66666"/>
                </a:solidFill>
                <a:latin typeface="Arial"/>
                <a:cs typeface="Arial"/>
              </a:rPr>
              <a:t>20</a:t>
            </a:r>
            <a:r>
              <a:rPr dirty="0" sz="1800" spc="-4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66666"/>
                </a:solidFill>
                <a:latin typeface="Arial"/>
                <a:cs typeface="Arial"/>
              </a:rPr>
              <a:t>Million</a:t>
            </a:r>
            <a:r>
              <a:rPr dirty="0" sz="1800" spc="-2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Arial"/>
                <a:cs typeface="Arial"/>
              </a:rPr>
              <a:t>users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500" y="634746"/>
            <a:ext cx="7475220" cy="7289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250"/>
              </a:lnSpc>
              <a:spcBef>
                <a:spcPts val="95"/>
              </a:spcBef>
            </a:pPr>
            <a:r>
              <a:rPr dirty="0" u="none"/>
              <a:t>LIFE</a:t>
            </a:r>
            <a:r>
              <a:rPr dirty="0" u="none" spc="-55"/>
              <a:t> </a:t>
            </a:r>
            <a:r>
              <a:rPr dirty="0" u="none" spc="-10"/>
              <a:t>SCIENCES-</a:t>
            </a:r>
          </a:p>
          <a:p>
            <a:pPr marL="12700">
              <a:lnSpc>
                <a:spcPts val="2290"/>
              </a:lnSpc>
              <a:tabLst>
                <a:tab pos="7461884" algn="l"/>
              </a:tabLst>
            </a:pPr>
            <a:r>
              <a:rPr dirty="0" u="none" sz="2000" i="1">
                <a:latin typeface="Arial"/>
                <a:cs typeface="Arial"/>
              </a:rPr>
              <a:t>S</a:t>
            </a:r>
            <a:r>
              <a:rPr dirty="0" u="heavy" sz="2000" i="1">
                <a:uFill>
                  <a:solidFill>
                    <a:srgbClr val="4A4A4A"/>
                  </a:solidFill>
                </a:uFill>
                <a:latin typeface="Arial"/>
                <a:cs typeface="Arial"/>
              </a:rPr>
              <a:t>upporting</a:t>
            </a:r>
            <a:r>
              <a:rPr dirty="0" u="heavy" sz="2000" spc="-25" i="1">
                <a:uFill>
                  <a:solidFill>
                    <a:srgbClr val="4A4A4A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2000" i="1">
                <a:uFill>
                  <a:solidFill>
                    <a:srgbClr val="4A4A4A"/>
                  </a:solidFill>
                </a:uFill>
                <a:latin typeface="Arial"/>
                <a:cs typeface="Arial"/>
              </a:rPr>
              <a:t>the</a:t>
            </a:r>
            <a:r>
              <a:rPr dirty="0" u="heavy" sz="2000" spc="-5" i="1">
                <a:uFill>
                  <a:solidFill>
                    <a:srgbClr val="4A4A4A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2000" i="1">
                <a:uFill>
                  <a:solidFill>
                    <a:srgbClr val="4A4A4A"/>
                  </a:solidFill>
                </a:uFill>
                <a:latin typeface="Arial"/>
                <a:cs typeface="Arial"/>
              </a:rPr>
              <a:t>R&amp;D</a:t>
            </a:r>
            <a:r>
              <a:rPr dirty="0" u="heavy" sz="2000" spc="10" i="1">
                <a:uFill>
                  <a:solidFill>
                    <a:srgbClr val="4A4A4A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2000" spc="-10" i="1">
                <a:uFill>
                  <a:solidFill>
                    <a:srgbClr val="4A4A4A"/>
                  </a:solidFill>
                </a:uFill>
                <a:latin typeface="Arial"/>
                <a:cs typeface="Arial"/>
              </a:rPr>
              <a:t>community</a:t>
            </a:r>
            <a:r>
              <a:rPr dirty="0" u="heavy" sz="2000" i="1">
                <a:uFill>
                  <a:solidFill>
                    <a:srgbClr val="4A4A4A"/>
                  </a:solidFill>
                </a:uFill>
                <a:latin typeface="Arial"/>
                <a:cs typeface="Arial"/>
              </a:rPr>
              <a:t>	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886904" y="2639504"/>
            <a:ext cx="2432685" cy="2662555"/>
            <a:chOff x="886904" y="2639504"/>
            <a:chExt cx="2432685" cy="2662555"/>
          </a:xfrm>
        </p:grpSpPr>
        <p:sp>
          <p:nvSpPr>
            <p:cNvPr id="4" name="object 4" descr=""/>
            <p:cNvSpPr/>
            <p:nvPr/>
          </p:nvSpPr>
          <p:spPr>
            <a:xfrm>
              <a:off x="899921" y="2652522"/>
              <a:ext cx="2406650" cy="2636520"/>
            </a:xfrm>
            <a:custGeom>
              <a:avLst/>
              <a:gdLst/>
              <a:ahLst/>
              <a:cxnLst/>
              <a:rect l="l" t="t" r="r" b="b"/>
              <a:pathLst>
                <a:path w="2406650" h="2636520">
                  <a:moveTo>
                    <a:pt x="2286127" y="0"/>
                  </a:moveTo>
                  <a:lnTo>
                    <a:pt x="120319" y="0"/>
                  </a:lnTo>
                  <a:lnTo>
                    <a:pt x="73487" y="9451"/>
                  </a:lnTo>
                  <a:lnTo>
                    <a:pt x="35242" y="35226"/>
                  </a:lnTo>
                  <a:lnTo>
                    <a:pt x="9455" y="73455"/>
                  </a:lnTo>
                  <a:lnTo>
                    <a:pt x="0" y="120268"/>
                  </a:lnTo>
                  <a:lnTo>
                    <a:pt x="0" y="2516251"/>
                  </a:lnTo>
                  <a:lnTo>
                    <a:pt x="9455" y="2563064"/>
                  </a:lnTo>
                  <a:lnTo>
                    <a:pt x="35242" y="2601293"/>
                  </a:lnTo>
                  <a:lnTo>
                    <a:pt x="73487" y="2627068"/>
                  </a:lnTo>
                  <a:lnTo>
                    <a:pt x="120319" y="2636519"/>
                  </a:lnTo>
                  <a:lnTo>
                    <a:pt x="2286127" y="2636519"/>
                  </a:lnTo>
                  <a:lnTo>
                    <a:pt x="2332940" y="2627068"/>
                  </a:lnTo>
                  <a:lnTo>
                    <a:pt x="2371169" y="2601293"/>
                  </a:lnTo>
                  <a:lnTo>
                    <a:pt x="2396944" y="2563064"/>
                  </a:lnTo>
                  <a:lnTo>
                    <a:pt x="2406395" y="2516251"/>
                  </a:lnTo>
                  <a:lnTo>
                    <a:pt x="2406395" y="120268"/>
                  </a:lnTo>
                  <a:lnTo>
                    <a:pt x="2396944" y="73455"/>
                  </a:lnTo>
                  <a:lnTo>
                    <a:pt x="2371169" y="35226"/>
                  </a:lnTo>
                  <a:lnTo>
                    <a:pt x="2332940" y="9451"/>
                  </a:lnTo>
                  <a:lnTo>
                    <a:pt x="228612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99921" y="2652522"/>
              <a:ext cx="2406650" cy="2636520"/>
            </a:xfrm>
            <a:custGeom>
              <a:avLst/>
              <a:gdLst/>
              <a:ahLst/>
              <a:cxnLst/>
              <a:rect l="l" t="t" r="r" b="b"/>
              <a:pathLst>
                <a:path w="2406650" h="2636520">
                  <a:moveTo>
                    <a:pt x="0" y="120268"/>
                  </a:moveTo>
                  <a:lnTo>
                    <a:pt x="9455" y="73455"/>
                  </a:lnTo>
                  <a:lnTo>
                    <a:pt x="35242" y="35226"/>
                  </a:lnTo>
                  <a:lnTo>
                    <a:pt x="73487" y="9451"/>
                  </a:lnTo>
                  <a:lnTo>
                    <a:pt x="120319" y="0"/>
                  </a:lnTo>
                  <a:lnTo>
                    <a:pt x="2286127" y="0"/>
                  </a:lnTo>
                  <a:lnTo>
                    <a:pt x="2332940" y="9451"/>
                  </a:lnTo>
                  <a:lnTo>
                    <a:pt x="2371169" y="35226"/>
                  </a:lnTo>
                  <a:lnTo>
                    <a:pt x="2396944" y="73455"/>
                  </a:lnTo>
                  <a:lnTo>
                    <a:pt x="2406395" y="120268"/>
                  </a:lnTo>
                  <a:lnTo>
                    <a:pt x="2406395" y="2516251"/>
                  </a:lnTo>
                  <a:lnTo>
                    <a:pt x="2396944" y="2563064"/>
                  </a:lnTo>
                  <a:lnTo>
                    <a:pt x="2371169" y="2601293"/>
                  </a:lnTo>
                  <a:lnTo>
                    <a:pt x="2332940" y="2627068"/>
                  </a:lnTo>
                  <a:lnTo>
                    <a:pt x="2286127" y="2636519"/>
                  </a:lnTo>
                  <a:lnTo>
                    <a:pt x="120319" y="2636519"/>
                  </a:lnTo>
                  <a:lnTo>
                    <a:pt x="73487" y="2627068"/>
                  </a:lnTo>
                  <a:lnTo>
                    <a:pt x="35242" y="2601293"/>
                  </a:lnTo>
                  <a:lnTo>
                    <a:pt x="9455" y="2563064"/>
                  </a:lnTo>
                  <a:lnTo>
                    <a:pt x="0" y="2516251"/>
                  </a:lnTo>
                  <a:lnTo>
                    <a:pt x="0" y="120268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925472" y="2710396"/>
            <a:ext cx="252095" cy="1004569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z="1600" spc="-10" b="1">
                <a:solidFill>
                  <a:srgbClr val="4A4A4A"/>
                </a:solidFill>
                <a:latin typeface="Arial"/>
                <a:cs typeface="Arial"/>
              </a:rPr>
              <a:t>CONTENT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3377120" y="2639504"/>
            <a:ext cx="2432685" cy="2662555"/>
            <a:chOff x="3377120" y="2639504"/>
            <a:chExt cx="2432685" cy="2662555"/>
          </a:xfrm>
        </p:grpSpPr>
        <p:sp>
          <p:nvSpPr>
            <p:cNvPr id="8" name="object 8" descr=""/>
            <p:cNvSpPr/>
            <p:nvPr/>
          </p:nvSpPr>
          <p:spPr>
            <a:xfrm>
              <a:off x="3390138" y="2652522"/>
              <a:ext cx="2406650" cy="2636520"/>
            </a:xfrm>
            <a:custGeom>
              <a:avLst/>
              <a:gdLst/>
              <a:ahLst/>
              <a:cxnLst/>
              <a:rect l="l" t="t" r="r" b="b"/>
              <a:pathLst>
                <a:path w="2406650" h="2636520">
                  <a:moveTo>
                    <a:pt x="2286127" y="0"/>
                  </a:moveTo>
                  <a:lnTo>
                    <a:pt x="120269" y="0"/>
                  </a:lnTo>
                  <a:lnTo>
                    <a:pt x="73455" y="9451"/>
                  </a:lnTo>
                  <a:lnTo>
                    <a:pt x="35226" y="35226"/>
                  </a:lnTo>
                  <a:lnTo>
                    <a:pt x="9451" y="73455"/>
                  </a:lnTo>
                  <a:lnTo>
                    <a:pt x="0" y="120268"/>
                  </a:lnTo>
                  <a:lnTo>
                    <a:pt x="0" y="2516251"/>
                  </a:lnTo>
                  <a:lnTo>
                    <a:pt x="9451" y="2563064"/>
                  </a:lnTo>
                  <a:lnTo>
                    <a:pt x="35226" y="2601293"/>
                  </a:lnTo>
                  <a:lnTo>
                    <a:pt x="73455" y="2627068"/>
                  </a:lnTo>
                  <a:lnTo>
                    <a:pt x="120269" y="2636519"/>
                  </a:lnTo>
                  <a:lnTo>
                    <a:pt x="2286127" y="2636519"/>
                  </a:lnTo>
                  <a:lnTo>
                    <a:pt x="2332940" y="2627068"/>
                  </a:lnTo>
                  <a:lnTo>
                    <a:pt x="2371169" y="2601293"/>
                  </a:lnTo>
                  <a:lnTo>
                    <a:pt x="2396944" y="2563064"/>
                  </a:lnTo>
                  <a:lnTo>
                    <a:pt x="2406396" y="2516251"/>
                  </a:lnTo>
                  <a:lnTo>
                    <a:pt x="2406396" y="120268"/>
                  </a:lnTo>
                  <a:lnTo>
                    <a:pt x="2396944" y="73455"/>
                  </a:lnTo>
                  <a:lnTo>
                    <a:pt x="2371169" y="35226"/>
                  </a:lnTo>
                  <a:lnTo>
                    <a:pt x="2332940" y="9451"/>
                  </a:lnTo>
                  <a:lnTo>
                    <a:pt x="228612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390138" y="2652522"/>
              <a:ext cx="2406650" cy="2636520"/>
            </a:xfrm>
            <a:custGeom>
              <a:avLst/>
              <a:gdLst/>
              <a:ahLst/>
              <a:cxnLst/>
              <a:rect l="l" t="t" r="r" b="b"/>
              <a:pathLst>
                <a:path w="2406650" h="2636520">
                  <a:moveTo>
                    <a:pt x="0" y="120268"/>
                  </a:moveTo>
                  <a:lnTo>
                    <a:pt x="9451" y="73455"/>
                  </a:lnTo>
                  <a:lnTo>
                    <a:pt x="35226" y="35226"/>
                  </a:lnTo>
                  <a:lnTo>
                    <a:pt x="73455" y="9451"/>
                  </a:lnTo>
                  <a:lnTo>
                    <a:pt x="120269" y="0"/>
                  </a:lnTo>
                  <a:lnTo>
                    <a:pt x="2286127" y="0"/>
                  </a:lnTo>
                  <a:lnTo>
                    <a:pt x="2332940" y="9451"/>
                  </a:lnTo>
                  <a:lnTo>
                    <a:pt x="2371169" y="35226"/>
                  </a:lnTo>
                  <a:lnTo>
                    <a:pt x="2396944" y="73455"/>
                  </a:lnTo>
                  <a:lnTo>
                    <a:pt x="2406396" y="120268"/>
                  </a:lnTo>
                  <a:lnTo>
                    <a:pt x="2406396" y="2516251"/>
                  </a:lnTo>
                  <a:lnTo>
                    <a:pt x="2396944" y="2563064"/>
                  </a:lnTo>
                  <a:lnTo>
                    <a:pt x="2371169" y="2601293"/>
                  </a:lnTo>
                  <a:lnTo>
                    <a:pt x="2332940" y="2627068"/>
                  </a:lnTo>
                  <a:lnTo>
                    <a:pt x="2286127" y="2636519"/>
                  </a:lnTo>
                  <a:lnTo>
                    <a:pt x="120269" y="2636519"/>
                  </a:lnTo>
                  <a:lnTo>
                    <a:pt x="73455" y="2627068"/>
                  </a:lnTo>
                  <a:lnTo>
                    <a:pt x="35226" y="2601293"/>
                  </a:lnTo>
                  <a:lnTo>
                    <a:pt x="9451" y="2563064"/>
                  </a:lnTo>
                  <a:lnTo>
                    <a:pt x="0" y="2516251"/>
                  </a:lnTo>
                  <a:lnTo>
                    <a:pt x="0" y="120268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3416323" y="2711342"/>
            <a:ext cx="252095" cy="14528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z="1600" spc="-10" b="1">
                <a:solidFill>
                  <a:srgbClr val="4A4A4A"/>
                </a:solidFill>
                <a:latin typeface="Arial"/>
                <a:cs typeface="Arial"/>
              </a:rPr>
              <a:t>TECHNOLOGY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3209480" y="2639504"/>
            <a:ext cx="5090795" cy="2662555"/>
            <a:chOff x="3209480" y="2639504"/>
            <a:chExt cx="5090795" cy="2662555"/>
          </a:xfrm>
        </p:grpSpPr>
        <p:sp>
          <p:nvSpPr>
            <p:cNvPr id="12" name="object 12" descr=""/>
            <p:cNvSpPr/>
            <p:nvPr/>
          </p:nvSpPr>
          <p:spPr>
            <a:xfrm>
              <a:off x="3222497" y="4719066"/>
              <a:ext cx="360045" cy="387350"/>
            </a:xfrm>
            <a:custGeom>
              <a:avLst/>
              <a:gdLst/>
              <a:ahLst/>
              <a:cxnLst/>
              <a:rect l="l" t="t" r="r" b="b"/>
              <a:pathLst>
                <a:path w="360045" h="387350">
                  <a:moveTo>
                    <a:pt x="0" y="0"/>
                  </a:moveTo>
                  <a:lnTo>
                    <a:pt x="0" y="387095"/>
                  </a:lnTo>
                  <a:lnTo>
                    <a:pt x="359663" y="1935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222497" y="4719066"/>
              <a:ext cx="360045" cy="387350"/>
            </a:xfrm>
            <a:custGeom>
              <a:avLst/>
              <a:gdLst/>
              <a:ahLst/>
              <a:cxnLst/>
              <a:rect l="l" t="t" r="r" b="b"/>
              <a:pathLst>
                <a:path w="360045" h="387350">
                  <a:moveTo>
                    <a:pt x="0" y="0"/>
                  </a:moveTo>
                  <a:lnTo>
                    <a:pt x="359663" y="193547"/>
                  </a:lnTo>
                  <a:lnTo>
                    <a:pt x="0" y="387095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005A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880353" y="2652522"/>
              <a:ext cx="2406650" cy="2636520"/>
            </a:xfrm>
            <a:custGeom>
              <a:avLst/>
              <a:gdLst/>
              <a:ahLst/>
              <a:cxnLst/>
              <a:rect l="l" t="t" r="r" b="b"/>
              <a:pathLst>
                <a:path w="2406650" h="2636520">
                  <a:moveTo>
                    <a:pt x="2286127" y="0"/>
                  </a:moveTo>
                  <a:lnTo>
                    <a:pt x="120269" y="0"/>
                  </a:lnTo>
                  <a:lnTo>
                    <a:pt x="73455" y="9451"/>
                  </a:lnTo>
                  <a:lnTo>
                    <a:pt x="35226" y="35226"/>
                  </a:lnTo>
                  <a:lnTo>
                    <a:pt x="9451" y="73455"/>
                  </a:lnTo>
                  <a:lnTo>
                    <a:pt x="0" y="120268"/>
                  </a:lnTo>
                  <a:lnTo>
                    <a:pt x="0" y="2516251"/>
                  </a:lnTo>
                  <a:lnTo>
                    <a:pt x="9451" y="2563064"/>
                  </a:lnTo>
                  <a:lnTo>
                    <a:pt x="35226" y="2601293"/>
                  </a:lnTo>
                  <a:lnTo>
                    <a:pt x="73455" y="2627068"/>
                  </a:lnTo>
                  <a:lnTo>
                    <a:pt x="120269" y="2636519"/>
                  </a:lnTo>
                  <a:lnTo>
                    <a:pt x="2286127" y="2636519"/>
                  </a:lnTo>
                  <a:lnTo>
                    <a:pt x="2332940" y="2627068"/>
                  </a:lnTo>
                  <a:lnTo>
                    <a:pt x="2371169" y="2601293"/>
                  </a:lnTo>
                  <a:lnTo>
                    <a:pt x="2396944" y="2563064"/>
                  </a:lnTo>
                  <a:lnTo>
                    <a:pt x="2406396" y="2516251"/>
                  </a:lnTo>
                  <a:lnTo>
                    <a:pt x="2406396" y="120268"/>
                  </a:lnTo>
                  <a:lnTo>
                    <a:pt x="2396944" y="73455"/>
                  </a:lnTo>
                  <a:lnTo>
                    <a:pt x="2371169" y="35226"/>
                  </a:lnTo>
                  <a:lnTo>
                    <a:pt x="2332940" y="9451"/>
                  </a:lnTo>
                  <a:lnTo>
                    <a:pt x="228612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880353" y="2652522"/>
              <a:ext cx="2406650" cy="2636520"/>
            </a:xfrm>
            <a:custGeom>
              <a:avLst/>
              <a:gdLst/>
              <a:ahLst/>
              <a:cxnLst/>
              <a:rect l="l" t="t" r="r" b="b"/>
              <a:pathLst>
                <a:path w="2406650" h="2636520">
                  <a:moveTo>
                    <a:pt x="0" y="120268"/>
                  </a:moveTo>
                  <a:lnTo>
                    <a:pt x="9451" y="73455"/>
                  </a:lnTo>
                  <a:lnTo>
                    <a:pt x="35226" y="35226"/>
                  </a:lnTo>
                  <a:lnTo>
                    <a:pt x="73455" y="9451"/>
                  </a:lnTo>
                  <a:lnTo>
                    <a:pt x="120269" y="0"/>
                  </a:lnTo>
                  <a:lnTo>
                    <a:pt x="2286127" y="0"/>
                  </a:lnTo>
                  <a:lnTo>
                    <a:pt x="2332940" y="9451"/>
                  </a:lnTo>
                  <a:lnTo>
                    <a:pt x="2371169" y="35226"/>
                  </a:lnTo>
                  <a:lnTo>
                    <a:pt x="2396944" y="73455"/>
                  </a:lnTo>
                  <a:lnTo>
                    <a:pt x="2406396" y="120268"/>
                  </a:lnTo>
                  <a:lnTo>
                    <a:pt x="2406396" y="2516251"/>
                  </a:lnTo>
                  <a:lnTo>
                    <a:pt x="2396944" y="2563064"/>
                  </a:lnTo>
                  <a:lnTo>
                    <a:pt x="2371169" y="2601293"/>
                  </a:lnTo>
                  <a:lnTo>
                    <a:pt x="2332940" y="2627068"/>
                  </a:lnTo>
                  <a:lnTo>
                    <a:pt x="2286127" y="2636519"/>
                  </a:lnTo>
                  <a:lnTo>
                    <a:pt x="120269" y="2636519"/>
                  </a:lnTo>
                  <a:lnTo>
                    <a:pt x="73455" y="2627068"/>
                  </a:lnTo>
                  <a:lnTo>
                    <a:pt x="35226" y="2601293"/>
                  </a:lnTo>
                  <a:lnTo>
                    <a:pt x="9451" y="2563064"/>
                  </a:lnTo>
                  <a:lnTo>
                    <a:pt x="0" y="2516251"/>
                  </a:lnTo>
                  <a:lnTo>
                    <a:pt x="0" y="120268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5907174" y="2711786"/>
            <a:ext cx="252095" cy="116459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864"/>
              </a:lnSpc>
            </a:pPr>
            <a:r>
              <a:rPr dirty="0" sz="1600" spc="-10" b="1">
                <a:solidFill>
                  <a:srgbClr val="4A4A4A"/>
                </a:solidFill>
                <a:latin typeface="Arial"/>
                <a:cs typeface="Arial"/>
              </a:rPr>
              <a:t>EXPERTISE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1283208" y="2886455"/>
            <a:ext cx="6891655" cy="2232660"/>
            <a:chOff x="1283208" y="2886455"/>
            <a:chExt cx="6891655" cy="2232660"/>
          </a:xfrm>
        </p:grpSpPr>
        <p:sp>
          <p:nvSpPr>
            <p:cNvPr id="18" name="object 18" descr=""/>
            <p:cNvSpPr/>
            <p:nvPr/>
          </p:nvSpPr>
          <p:spPr>
            <a:xfrm>
              <a:off x="5712713" y="4719066"/>
              <a:ext cx="361315" cy="387350"/>
            </a:xfrm>
            <a:custGeom>
              <a:avLst/>
              <a:gdLst/>
              <a:ahLst/>
              <a:cxnLst/>
              <a:rect l="l" t="t" r="r" b="b"/>
              <a:pathLst>
                <a:path w="361314" h="387350">
                  <a:moveTo>
                    <a:pt x="0" y="0"/>
                  </a:moveTo>
                  <a:lnTo>
                    <a:pt x="0" y="387095"/>
                  </a:lnTo>
                  <a:lnTo>
                    <a:pt x="361188" y="1935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712713" y="4719066"/>
              <a:ext cx="361315" cy="387350"/>
            </a:xfrm>
            <a:custGeom>
              <a:avLst/>
              <a:gdLst/>
              <a:ahLst/>
              <a:cxnLst/>
              <a:rect l="l" t="t" r="r" b="b"/>
              <a:pathLst>
                <a:path w="361314" h="387350">
                  <a:moveTo>
                    <a:pt x="0" y="0"/>
                  </a:moveTo>
                  <a:lnTo>
                    <a:pt x="361188" y="193547"/>
                  </a:lnTo>
                  <a:lnTo>
                    <a:pt x="0" y="387095"/>
                  </a:lnTo>
                  <a:lnTo>
                    <a:pt x="0" y="0"/>
                  </a:lnTo>
                  <a:close/>
                </a:path>
              </a:pathLst>
            </a:custGeom>
            <a:ln w="25908">
              <a:solidFill>
                <a:srgbClr val="005A8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9896" y="2886455"/>
              <a:ext cx="1897379" cy="2188464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28587" y="2930651"/>
              <a:ext cx="1946148" cy="2157984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3208" y="2903219"/>
              <a:ext cx="1897379" cy="2199131"/>
            </a:xfrm>
            <a:prstGeom prst="rect">
              <a:avLst/>
            </a:prstGeom>
          </p:spPr>
        </p:pic>
      </p:grpSp>
      <p:sp>
        <p:nvSpPr>
          <p:cNvPr id="23" name="object 23" descr=""/>
          <p:cNvSpPr/>
          <p:nvPr/>
        </p:nvSpPr>
        <p:spPr>
          <a:xfrm>
            <a:off x="911352" y="1673351"/>
            <a:ext cx="7388859" cy="919480"/>
          </a:xfrm>
          <a:custGeom>
            <a:avLst/>
            <a:gdLst/>
            <a:ahLst/>
            <a:cxnLst/>
            <a:rect l="l" t="t" r="r" b="b"/>
            <a:pathLst>
              <a:path w="7388859" h="919480">
                <a:moveTo>
                  <a:pt x="7235190" y="0"/>
                </a:moveTo>
                <a:lnTo>
                  <a:pt x="153161" y="0"/>
                </a:lnTo>
                <a:lnTo>
                  <a:pt x="104753" y="7808"/>
                </a:lnTo>
                <a:lnTo>
                  <a:pt x="62709" y="29553"/>
                </a:lnTo>
                <a:lnTo>
                  <a:pt x="29553" y="62709"/>
                </a:lnTo>
                <a:lnTo>
                  <a:pt x="7808" y="104753"/>
                </a:lnTo>
                <a:lnTo>
                  <a:pt x="0" y="153162"/>
                </a:lnTo>
                <a:lnTo>
                  <a:pt x="0" y="765810"/>
                </a:lnTo>
                <a:lnTo>
                  <a:pt x="7808" y="814218"/>
                </a:lnTo>
                <a:lnTo>
                  <a:pt x="29553" y="856262"/>
                </a:lnTo>
                <a:lnTo>
                  <a:pt x="62709" y="889418"/>
                </a:lnTo>
                <a:lnTo>
                  <a:pt x="104753" y="911163"/>
                </a:lnTo>
                <a:lnTo>
                  <a:pt x="153161" y="918972"/>
                </a:lnTo>
                <a:lnTo>
                  <a:pt x="7235190" y="918972"/>
                </a:lnTo>
                <a:lnTo>
                  <a:pt x="7283598" y="911163"/>
                </a:lnTo>
                <a:lnTo>
                  <a:pt x="7325642" y="889418"/>
                </a:lnTo>
                <a:lnTo>
                  <a:pt x="7358798" y="856262"/>
                </a:lnTo>
                <a:lnTo>
                  <a:pt x="7380543" y="814218"/>
                </a:lnTo>
                <a:lnTo>
                  <a:pt x="7388352" y="765810"/>
                </a:lnTo>
                <a:lnTo>
                  <a:pt x="7388352" y="153162"/>
                </a:lnTo>
                <a:lnTo>
                  <a:pt x="7380543" y="104753"/>
                </a:lnTo>
                <a:lnTo>
                  <a:pt x="7358798" y="62709"/>
                </a:lnTo>
                <a:lnTo>
                  <a:pt x="7325642" y="29553"/>
                </a:lnTo>
                <a:lnTo>
                  <a:pt x="7283598" y="7808"/>
                </a:lnTo>
                <a:lnTo>
                  <a:pt x="7235190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1257096" y="1872742"/>
            <a:ext cx="651637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48385" marR="5080" indent="-1036319">
              <a:lnSpc>
                <a:spcPct val="100000"/>
              </a:lnSpc>
              <a:spcBef>
                <a:spcPts val="95"/>
              </a:spcBef>
            </a:pPr>
            <a:r>
              <a:rPr dirty="0" sz="1600" i="1">
                <a:solidFill>
                  <a:srgbClr val="4A4A4A"/>
                </a:solidFill>
                <a:latin typeface="Arial"/>
                <a:cs typeface="Arial"/>
              </a:rPr>
              <a:t>We</a:t>
            </a:r>
            <a:r>
              <a:rPr dirty="0" sz="1600" spc="-65" i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4A4A4A"/>
                </a:solidFill>
                <a:latin typeface="Arial"/>
                <a:cs typeface="Arial"/>
              </a:rPr>
              <a:t>are</a:t>
            </a:r>
            <a:r>
              <a:rPr dirty="0" sz="1600" spc="-40" i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4A4A4A"/>
                </a:solidFill>
                <a:latin typeface="Arial"/>
                <a:cs typeface="Arial"/>
              </a:rPr>
              <a:t>trusted</a:t>
            </a:r>
            <a:r>
              <a:rPr dirty="0" sz="1600" spc="-20" i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4A4A4A"/>
                </a:solidFill>
                <a:latin typeface="Arial"/>
                <a:cs typeface="Arial"/>
              </a:rPr>
              <a:t>for</a:t>
            </a:r>
            <a:r>
              <a:rPr dirty="0" sz="1600" spc="-25" i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4A4A4A"/>
                </a:solidFill>
                <a:latin typeface="Arial"/>
                <a:cs typeface="Arial"/>
              </a:rPr>
              <a:t>the</a:t>
            </a:r>
            <a:r>
              <a:rPr dirty="0" sz="1600" spc="-30" i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4A4A4A"/>
                </a:solidFill>
                <a:latin typeface="Arial"/>
                <a:cs typeface="Arial"/>
              </a:rPr>
              <a:t>decisions</a:t>
            </a:r>
            <a:r>
              <a:rPr dirty="0" sz="1600" spc="-70" i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4A4A4A"/>
                </a:solidFill>
                <a:latin typeface="Arial"/>
                <a:cs typeface="Arial"/>
              </a:rPr>
              <a:t>that</a:t>
            </a:r>
            <a:r>
              <a:rPr dirty="0" sz="1600" spc="-25" i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4A4A4A"/>
                </a:solidFill>
                <a:latin typeface="Arial"/>
                <a:cs typeface="Arial"/>
              </a:rPr>
              <a:t>matter</a:t>
            </a:r>
            <a:r>
              <a:rPr dirty="0" sz="1600" spc="-5" i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4A4A4A"/>
                </a:solidFill>
                <a:latin typeface="Arial"/>
                <a:cs typeface="Arial"/>
              </a:rPr>
              <a:t>most,</a:t>
            </a:r>
            <a:r>
              <a:rPr dirty="0" sz="1600" spc="-25" i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4A4A4A"/>
                </a:solidFill>
                <a:latin typeface="Arial"/>
                <a:cs typeface="Arial"/>
              </a:rPr>
              <a:t>empowering</a:t>
            </a:r>
            <a:r>
              <a:rPr dirty="0" sz="1600" spc="10" i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 spc="-10" i="1">
                <a:solidFill>
                  <a:srgbClr val="4A4A4A"/>
                </a:solidFill>
                <a:latin typeface="Arial"/>
                <a:cs typeface="Arial"/>
              </a:rPr>
              <a:t>decision-</a:t>
            </a:r>
            <a:r>
              <a:rPr dirty="0" sz="1600" spc="-10" i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4A4A4A"/>
                </a:solidFill>
                <a:latin typeface="Arial"/>
                <a:cs typeface="Arial"/>
              </a:rPr>
              <a:t>makers</a:t>
            </a:r>
            <a:r>
              <a:rPr dirty="0" sz="1600" spc="-20" i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4A4A4A"/>
                </a:solidFill>
                <a:latin typeface="Arial"/>
                <a:cs typeface="Arial"/>
              </a:rPr>
              <a:t>to</a:t>
            </a:r>
            <a:r>
              <a:rPr dirty="0" sz="1600" spc="-20" i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4A4A4A"/>
                </a:solidFill>
                <a:latin typeface="Arial"/>
                <a:cs typeface="Arial"/>
              </a:rPr>
              <a:t>act</a:t>
            </a:r>
            <a:r>
              <a:rPr dirty="0" sz="1600" spc="-25" i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4A4A4A"/>
                </a:solidFill>
                <a:latin typeface="Arial"/>
                <a:cs typeface="Arial"/>
              </a:rPr>
              <a:t>with</a:t>
            </a:r>
            <a:r>
              <a:rPr dirty="0" sz="1600" spc="-40" i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4A4A4A"/>
                </a:solidFill>
                <a:latin typeface="Arial"/>
                <a:cs typeface="Arial"/>
              </a:rPr>
              <a:t>confidence</a:t>
            </a:r>
            <a:r>
              <a:rPr dirty="0" sz="1600" spc="-45" i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4A4A4A"/>
                </a:solidFill>
                <a:latin typeface="Arial"/>
                <a:cs typeface="Arial"/>
              </a:rPr>
              <a:t>in</a:t>
            </a:r>
            <a:r>
              <a:rPr dirty="0" sz="1600" spc="-50" i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4A4A4A"/>
                </a:solidFill>
                <a:latin typeface="Arial"/>
                <a:cs typeface="Arial"/>
              </a:rPr>
              <a:t>a</a:t>
            </a:r>
            <a:r>
              <a:rPr dirty="0" sz="1600" spc="-25" i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 i="1">
                <a:solidFill>
                  <a:srgbClr val="4A4A4A"/>
                </a:solidFill>
                <a:latin typeface="Arial"/>
                <a:cs typeface="Arial"/>
              </a:rPr>
              <a:t>complex</a:t>
            </a:r>
            <a:r>
              <a:rPr dirty="0" sz="1600" spc="-15" i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 spc="-10" i="1">
                <a:solidFill>
                  <a:srgbClr val="4A4A4A"/>
                </a:solidFill>
                <a:latin typeface="Arial"/>
                <a:cs typeface="Arial"/>
              </a:rPr>
              <a:t>world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190"/>
              </a:lnSpc>
              <a:spcBef>
                <a:spcPts val="95"/>
              </a:spcBef>
            </a:pPr>
            <a:r>
              <a:rPr dirty="0" u="none"/>
              <a:t>THOMSON</a:t>
            </a:r>
            <a:r>
              <a:rPr dirty="0" u="none" spc="-100"/>
              <a:t> </a:t>
            </a:r>
            <a:r>
              <a:rPr dirty="0" u="none"/>
              <a:t>REUTERS</a:t>
            </a:r>
            <a:r>
              <a:rPr dirty="0" u="none" spc="-105"/>
              <a:t> </a:t>
            </a:r>
            <a:r>
              <a:rPr dirty="0" u="none"/>
              <a:t>LIFE</a:t>
            </a:r>
            <a:r>
              <a:rPr dirty="0" u="none" spc="-120"/>
              <a:t> </a:t>
            </a:r>
            <a:r>
              <a:rPr dirty="0" u="none" spc="-10"/>
              <a:t>SCIENCES</a:t>
            </a:r>
          </a:p>
          <a:p>
            <a:pPr marL="12700">
              <a:lnSpc>
                <a:spcPts val="3190"/>
              </a:lnSpc>
              <a:tabLst>
                <a:tab pos="7381875" algn="l"/>
              </a:tabLst>
            </a:pPr>
            <a:r>
              <a:rPr dirty="0"/>
              <a:t>SERVICES-</a:t>
            </a:r>
            <a:r>
              <a:rPr dirty="0" spc="-130"/>
              <a:t> </a:t>
            </a:r>
            <a:r>
              <a:rPr dirty="0"/>
              <a:t>Annotation</a:t>
            </a:r>
            <a:r>
              <a:rPr dirty="0" spc="-155"/>
              <a:t> </a:t>
            </a:r>
            <a:r>
              <a:rPr dirty="0" spc="-10"/>
              <a:t>services</a:t>
            </a:r>
            <a:r>
              <a:rPr dirty="0"/>
              <a:t>	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05052" y="1424432"/>
            <a:ext cx="7118350" cy="2343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lr>
                <a:srgbClr val="FF8000"/>
              </a:buClr>
              <a:buChar char="•"/>
              <a:tabLst>
                <a:tab pos="241300" algn="l"/>
              </a:tabLst>
            </a:pPr>
            <a:r>
              <a:rPr dirty="0" sz="2400">
                <a:solidFill>
                  <a:srgbClr val="4A4A4A"/>
                </a:solidFill>
                <a:latin typeface="Arial"/>
                <a:cs typeface="Arial"/>
              </a:rPr>
              <a:t>Thomson</a:t>
            </a:r>
            <a:r>
              <a:rPr dirty="0" sz="2400" spc="-1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A4A4A"/>
                </a:solidFill>
                <a:latin typeface="Arial"/>
                <a:cs typeface="Arial"/>
              </a:rPr>
              <a:t>Reuters</a:t>
            </a:r>
            <a:r>
              <a:rPr dirty="0" sz="2400" spc="-2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A4A4A"/>
                </a:solidFill>
                <a:latin typeface="Arial"/>
                <a:cs typeface="Arial"/>
              </a:rPr>
              <a:t>provides</a:t>
            </a:r>
            <a:r>
              <a:rPr dirty="0" sz="2400" spc="-1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A4A4A"/>
                </a:solidFill>
                <a:latin typeface="Arial"/>
                <a:cs typeface="Arial"/>
              </a:rPr>
              <a:t>manual</a:t>
            </a:r>
            <a:r>
              <a:rPr dirty="0" sz="2400" spc="-1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A4A4A"/>
                </a:solidFill>
                <a:latin typeface="Arial"/>
                <a:cs typeface="Arial"/>
              </a:rPr>
              <a:t>and</a:t>
            </a:r>
            <a:r>
              <a:rPr dirty="0" sz="2400" spc="-3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4A4A4A"/>
                </a:solidFill>
                <a:latin typeface="Arial"/>
                <a:cs typeface="Arial"/>
              </a:rPr>
              <a:t>automated </a:t>
            </a:r>
            <a:r>
              <a:rPr dirty="0" sz="2400">
                <a:solidFill>
                  <a:srgbClr val="4A4A4A"/>
                </a:solidFill>
                <a:latin typeface="Arial"/>
                <a:cs typeface="Arial"/>
              </a:rPr>
              <a:t>searches</a:t>
            </a:r>
            <a:r>
              <a:rPr dirty="0" sz="2400" spc="-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A4A4A"/>
                </a:solidFill>
                <a:latin typeface="Arial"/>
                <a:cs typeface="Arial"/>
              </a:rPr>
              <a:t>for</a:t>
            </a:r>
            <a:r>
              <a:rPr dirty="0" sz="2400" spc="-2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A4A4A"/>
                </a:solidFill>
                <a:latin typeface="Arial"/>
                <a:cs typeface="Arial"/>
              </a:rPr>
              <a:t>our</a:t>
            </a:r>
            <a:r>
              <a:rPr dirty="0" sz="2400" spc="-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4A4A4A"/>
                </a:solidFill>
                <a:latin typeface="Arial"/>
                <a:cs typeface="Arial"/>
              </a:rPr>
              <a:t>customers:</a:t>
            </a:r>
            <a:endParaRPr sz="2400">
              <a:latin typeface="Arial"/>
              <a:cs typeface="Arial"/>
            </a:endParaRPr>
          </a:p>
          <a:p>
            <a:pPr lvl="1" marL="641985" indent="-287020">
              <a:lnSpc>
                <a:spcPct val="100000"/>
              </a:lnSpc>
              <a:spcBef>
                <a:spcPts val="720"/>
              </a:spcBef>
              <a:buClr>
                <a:srgbClr val="FF8000"/>
              </a:buClr>
              <a:buChar char="–"/>
              <a:tabLst>
                <a:tab pos="641985" algn="l"/>
                <a:tab pos="642620" algn="l"/>
              </a:tabLst>
            </a:pPr>
            <a:r>
              <a:rPr dirty="0" sz="2000">
                <a:solidFill>
                  <a:srgbClr val="4A4A4A"/>
                </a:solidFill>
                <a:latin typeface="Arial"/>
                <a:cs typeface="Arial"/>
              </a:rPr>
              <a:t>Biomedical</a:t>
            </a:r>
            <a:r>
              <a:rPr dirty="0" sz="2000" spc="-1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4A4A4A"/>
                </a:solidFill>
                <a:latin typeface="Arial"/>
                <a:cs typeface="Arial"/>
              </a:rPr>
              <a:t>literature</a:t>
            </a:r>
            <a:endParaRPr sz="2000">
              <a:latin typeface="Arial"/>
              <a:cs typeface="Arial"/>
            </a:endParaRPr>
          </a:p>
          <a:p>
            <a:pPr lvl="1" marL="641985" indent="-287020">
              <a:lnSpc>
                <a:spcPct val="100000"/>
              </a:lnSpc>
              <a:spcBef>
                <a:spcPts val="725"/>
              </a:spcBef>
              <a:buClr>
                <a:srgbClr val="FF8000"/>
              </a:buClr>
              <a:buChar char="–"/>
              <a:tabLst>
                <a:tab pos="641985" algn="l"/>
                <a:tab pos="642620" algn="l"/>
              </a:tabLst>
            </a:pPr>
            <a:r>
              <a:rPr dirty="0" sz="2000">
                <a:solidFill>
                  <a:srgbClr val="4A4A4A"/>
                </a:solidFill>
                <a:latin typeface="Arial"/>
                <a:cs typeface="Arial"/>
              </a:rPr>
              <a:t>Customer</a:t>
            </a:r>
            <a:r>
              <a:rPr dirty="0" sz="2000" spc="-5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4A4A4A"/>
                </a:solidFill>
                <a:latin typeface="Arial"/>
                <a:cs typeface="Arial"/>
              </a:rPr>
              <a:t>documents</a:t>
            </a:r>
            <a:endParaRPr sz="2000">
              <a:latin typeface="Arial"/>
              <a:cs typeface="Arial"/>
            </a:endParaRPr>
          </a:p>
          <a:p>
            <a:pPr lvl="1" marL="641985" indent="-287020">
              <a:lnSpc>
                <a:spcPct val="100000"/>
              </a:lnSpc>
              <a:spcBef>
                <a:spcPts val="720"/>
              </a:spcBef>
              <a:buClr>
                <a:srgbClr val="FF8000"/>
              </a:buClr>
              <a:buChar char="–"/>
              <a:tabLst>
                <a:tab pos="641985" algn="l"/>
                <a:tab pos="642620" algn="l"/>
              </a:tabLst>
            </a:pPr>
            <a:r>
              <a:rPr dirty="0" sz="2000" spc="-10">
                <a:solidFill>
                  <a:srgbClr val="4A4A4A"/>
                </a:solidFill>
                <a:latin typeface="Arial"/>
                <a:cs typeface="Arial"/>
              </a:rPr>
              <a:t>Databases</a:t>
            </a:r>
            <a:endParaRPr sz="2000">
              <a:latin typeface="Arial"/>
              <a:cs typeface="Arial"/>
            </a:endParaRPr>
          </a:p>
          <a:p>
            <a:pPr lvl="1" marL="641985" indent="-287020">
              <a:lnSpc>
                <a:spcPct val="100000"/>
              </a:lnSpc>
              <a:spcBef>
                <a:spcPts val="720"/>
              </a:spcBef>
              <a:buClr>
                <a:srgbClr val="FF8000"/>
              </a:buClr>
              <a:buChar char="–"/>
              <a:tabLst>
                <a:tab pos="641985" algn="l"/>
                <a:tab pos="642620" algn="l"/>
              </a:tabLst>
            </a:pPr>
            <a:r>
              <a:rPr dirty="0" sz="2000" spc="-10">
                <a:solidFill>
                  <a:srgbClr val="4A4A4A"/>
                </a:solidFill>
                <a:latin typeface="Arial"/>
                <a:cs typeface="Arial"/>
              </a:rPr>
              <a:t>Websites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713723" y="6425590"/>
            <a:ext cx="89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4A4A4A"/>
                </a:solidFill>
                <a:latin typeface="Arial"/>
                <a:cs typeface="Arial"/>
              </a:rPr>
              <a:t>6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224788" y="5432247"/>
            <a:ext cx="21793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Sources</a:t>
            </a:r>
            <a:r>
              <a:rPr dirty="0" sz="1200" spc="-1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of</a:t>
            </a:r>
            <a:r>
              <a:rPr dirty="0" sz="1200" spc="-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relevant</a:t>
            </a:r>
            <a:r>
              <a:rPr dirty="0" sz="1200" spc="-10">
                <a:solidFill>
                  <a:srgbClr val="4A4A4A"/>
                </a:solidFill>
                <a:latin typeface="Arial"/>
                <a:cs typeface="Arial"/>
              </a:rPr>
              <a:t> information.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951857" y="5432247"/>
            <a:ext cx="27749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81025" marR="5080" indent="-56896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Search</a:t>
            </a:r>
            <a:r>
              <a:rPr dirty="0" sz="12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and</a:t>
            </a:r>
            <a:r>
              <a:rPr dirty="0" sz="1200" spc="-3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annotation</a:t>
            </a:r>
            <a:r>
              <a:rPr dirty="0" sz="1200" spc="28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manually</a:t>
            </a:r>
            <a:r>
              <a:rPr dirty="0" sz="12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or</a:t>
            </a:r>
            <a:r>
              <a:rPr dirty="0" sz="1200" spc="32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4A4A4A"/>
                </a:solidFill>
                <a:latin typeface="Arial"/>
                <a:cs typeface="Arial"/>
              </a:rPr>
              <a:t>with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automated</a:t>
            </a:r>
            <a:r>
              <a:rPr dirty="0" sz="12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4A4A4A"/>
                </a:solidFill>
                <a:latin typeface="Arial"/>
                <a:cs typeface="Arial"/>
              </a:rPr>
              <a:t>technologies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592" y="4539996"/>
            <a:ext cx="612468" cy="611034"/>
          </a:xfrm>
          <a:prstGeom prst="rect">
            <a:avLst/>
          </a:prstGeom>
        </p:spPr>
      </p:pic>
      <p:sp>
        <p:nvSpPr>
          <p:cNvPr id="8" name="object 8" descr=""/>
          <p:cNvSpPr/>
          <p:nvPr/>
        </p:nvSpPr>
        <p:spPr>
          <a:xfrm>
            <a:off x="3744467" y="4700015"/>
            <a:ext cx="749935" cy="329565"/>
          </a:xfrm>
          <a:custGeom>
            <a:avLst/>
            <a:gdLst/>
            <a:ahLst/>
            <a:cxnLst/>
            <a:rect l="l" t="t" r="r" b="b"/>
            <a:pathLst>
              <a:path w="749935" h="329564">
                <a:moveTo>
                  <a:pt x="585216" y="0"/>
                </a:moveTo>
                <a:lnTo>
                  <a:pt x="585216" y="82295"/>
                </a:lnTo>
                <a:lnTo>
                  <a:pt x="0" y="82295"/>
                </a:lnTo>
                <a:lnTo>
                  <a:pt x="0" y="246887"/>
                </a:lnTo>
                <a:lnTo>
                  <a:pt x="585216" y="246887"/>
                </a:lnTo>
                <a:lnTo>
                  <a:pt x="585216" y="329183"/>
                </a:lnTo>
                <a:lnTo>
                  <a:pt x="749808" y="164591"/>
                </a:lnTo>
                <a:lnTo>
                  <a:pt x="585216" y="0"/>
                </a:lnTo>
                <a:close/>
              </a:path>
            </a:pathLst>
          </a:custGeom>
          <a:solidFill>
            <a:srgbClr val="FF8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71757" y="4357115"/>
            <a:ext cx="1146628" cy="101498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52415" y="4364735"/>
            <a:ext cx="934212" cy="999744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6119876" y="4766564"/>
            <a:ext cx="22732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solidFill>
                  <a:srgbClr val="4A4A4A"/>
                </a:solidFill>
                <a:latin typeface="Arial"/>
                <a:cs typeface="Arial"/>
              </a:rPr>
              <a:t>or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9180" y="4536947"/>
            <a:ext cx="655319" cy="655319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29383" y="4520184"/>
            <a:ext cx="687324" cy="6888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190"/>
              </a:lnSpc>
              <a:spcBef>
                <a:spcPts val="95"/>
              </a:spcBef>
            </a:pPr>
            <a:r>
              <a:rPr dirty="0" u="none"/>
              <a:t>THOMSON</a:t>
            </a:r>
            <a:r>
              <a:rPr dirty="0" u="none" spc="-100"/>
              <a:t> </a:t>
            </a:r>
            <a:r>
              <a:rPr dirty="0" u="none"/>
              <a:t>REUTERS</a:t>
            </a:r>
            <a:r>
              <a:rPr dirty="0" u="none" spc="-105"/>
              <a:t> </a:t>
            </a:r>
            <a:r>
              <a:rPr dirty="0" u="none"/>
              <a:t>LIFE</a:t>
            </a:r>
            <a:r>
              <a:rPr dirty="0" u="none" spc="-120"/>
              <a:t> </a:t>
            </a:r>
            <a:r>
              <a:rPr dirty="0" u="none" spc="-10"/>
              <a:t>SCIENCES</a:t>
            </a:r>
          </a:p>
          <a:p>
            <a:pPr marL="12700">
              <a:lnSpc>
                <a:spcPts val="3190"/>
              </a:lnSpc>
              <a:tabLst>
                <a:tab pos="7381875" algn="l"/>
              </a:tabLst>
            </a:pPr>
            <a:r>
              <a:rPr dirty="0"/>
              <a:t>SERVICES-</a:t>
            </a:r>
            <a:r>
              <a:rPr dirty="0" spc="-130"/>
              <a:t> </a:t>
            </a:r>
            <a:r>
              <a:rPr dirty="0"/>
              <a:t>Automated</a:t>
            </a:r>
            <a:r>
              <a:rPr dirty="0" spc="-130"/>
              <a:t> </a:t>
            </a:r>
            <a:r>
              <a:rPr dirty="0" spc="-10"/>
              <a:t>annotation</a:t>
            </a:r>
            <a:r>
              <a:rPr dirty="0"/>
              <a:t>	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05052" y="1444193"/>
            <a:ext cx="6916420" cy="1123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Clr>
                <a:srgbClr val="FF8000"/>
              </a:buClr>
              <a:buChar char="•"/>
              <a:tabLst>
                <a:tab pos="241300" algn="l"/>
              </a:tabLst>
            </a:pPr>
            <a:r>
              <a:rPr dirty="0" sz="2400">
                <a:solidFill>
                  <a:srgbClr val="4A4A4A"/>
                </a:solidFill>
                <a:latin typeface="Arial"/>
                <a:cs typeface="Arial"/>
              </a:rPr>
              <a:t>Thomson</a:t>
            </a:r>
            <a:r>
              <a:rPr dirty="0" sz="24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A4A4A"/>
                </a:solidFill>
                <a:latin typeface="Arial"/>
                <a:cs typeface="Arial"/>
              </a:rPr>
              <a:t>Reuters</a:t>
            </a:r>
            <a:r>
              <a:rPr dirty="0" sz="24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A4A4A"/>
                </a:solidFill>
                <a:latin typeface="Arial"/>
                <a:cs typeface="Arial"/>
              </a:rPr>
              <a:t>automated</a:t>
            </a:r>
            <a:r>
              <a:rPr dirty="0" sz="24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A4A4A"/>
                </a:solidFill>
                <a:latin typeface="Arial"/>
                <a:cs typeface="Arial"/>
              </a:rPr>
              <a:t>annotation</a:t>
            </a:r>
            <a:r>
              <a:rPr dirty="0" sz="2400" spc="-10">
                <a:solidFill>
                  <a:srgbClr val="4A4A4A"/>
                </a:solidFill>
                <a:latin typeface="Arial"/>
                <a:cs typeface="Arial"/>
              </a:rPr>
              <a:t> services </a:t>
            </a:r>
            <a:r>
              <a:rPr dirty="0" sz="2400">
                <a:solidFill>
                  <a:srgbClr val="4A4A4A"/>
                </a:solidFill>
                <a:latin typeface="Arial"/>
                <a:cs typeface="Arial"/>
              </a:rPr>
              <a:t>are</a:t>
            </a:r>
            <a:r>
              <a:rPr dirty="0" sz="24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A4A4A"/>
                </a:solidFill>
                <a:latin typeface="Arial"/>
                <a:cs typeface="Arial"/>
              </a:rPr>
              <a:t>powered by</a:t>
            </a:r>
            <a:r>
              <a:rPr dirty="0" sz="2400" spc="-2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A4A4A"/>
                </a:solidFill>
                <a:latin typeface="Arial"/>
                <a:cs typeface="Arial"/>
              </a:rPr>
              <a:t>taxonomies,</a:t>
            </a:r>
            <a:r>
              <a:rPr dirty="0" sz="2400" spc="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A4A4A"/>
                </a:solidFill>
                <a:latin typeface="Arial"/>
                <a:cs typeface="Arial"/>
              </a:rPr>
              <a:t>custom</a:t>
            </a:r>
            <a:r>
              <a:rPr dirty="0" sz="2400" spc="-10">
                <a:solidFill>
                  <a:srgbClr val="4A4A4A"/>
                </a:solidFill>
                <a:latin typeface="Arial"/>
                <a:cs typeface="Arial"/>
              </a:rPr>
              <a:t> algorithms </a:t>
            </a:r>
            <a:r>
              <a:rPr dirty="0" sz="2400">
                <a:solidFill>
                  <a:srgbClr val="4A4A4A"/>
                </a:solidFill>
                <a:latin typeface="Arial"/>
                <a:cs typeface="Arial"/>
              </a:rPr>
              <a:t>and</a:t>
            </a:r>
            <a:r>
              <a:rPr dirty="0" sz="2400" spc="-1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A4A4A"/>
                </a:solidFill>
                <a:latin typeface="Arial"/>
                <a:cs typeface="Arial"/>
              </a:rPr>
              <a:t>domain</a:t>
            </a:r>
            <a:r>
              <a:rPr dirty="0" sz="2400" spc="-10">
                <a:solidFill>
                  <a:srgbClr val="4A4A4A"/>
                </a:solidFill>
                <a:latin typeface="Arial"/>
                <a:cs typeface="Arial"/>
              </a:rPr>
              <a:t> experts.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713723" y="6425590"/>
            <a:ext cx="89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4A4A4A"/>
                </a:solidFill>
                <a:latin typeface="Arial"/>
                <a:cs typeface="Arial"/>
              </a:rPr>
              <a:t>7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4142240" y="3276600"/>
            <a:ext cx="3991610" cy="3264535"/>
            <a:chOff x="4142240" y="3276600"/>
            <a:chExt cx="3991610" cy="326453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42240" y="5524500"/>
              <a:ext cx="1147596" cy="1016507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01156" y="3276600"/>
              <a:ext cx="1932431" cy="1534668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5687568" y="3913631"/>
              <a:ext cx="558165" cy="260985"/>
            </a:xfrm>
            <a:custGeom>
              <a:avLst/>
              <a:gdLst/>
              <a:ahLst/>
              <a:cxnLst/>
              <a:rect l="l" t="t" r="r" b="b"/>
              <a:pathLst>
                <a:path w="558164" h="260985">
                  <a:moveTo>
                    <a:pt x="427482" y="0"/>
                  </a:moveTo>
                  <a:lnTo>
                    <a:pt x="427482" y="65151"/>
                  </a:lnTo>
                  <a:lnTo>
                    <a:pt x="130302" y="65151"/>
                  </a:lnTo>
                  <a:lnTo>
                    <a:pt x="130302" y="0"/>
                  </a:lnTo>
                  <a:lnTo>
                    <a:pt x="0" y="130302"/>
                  </a:lnTo>
                  <a:lnTo>
                    <a:pt x="130302" y="260604"/>
                  </a:lnTo>
                  <a:lnTo>
                    <a:pt x="130302" y="195453"/>
                  </a:lnTo>
                  <a:lnTo>
                    <a:pt x="427482" y="195453"/>
                  </a:lnTo>
                  <a:lnTo>
                    <a:pt x="427482" y="260604"/>
                  </a:lnTo>
                  <a:lnTo>
                    <a:pt x="557784" y="130302"/>
                  </a:lnTo>
                  <a:lnTo>
                    <a:pt x="427482" y="0"/>
                  </a:lnTo>
                  <a:close/>
                </a:path>
              </a:pathLst>
            </a:custGeom>
            <a:solidFill>
              <a:srgbClr val="FFB36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573783" y="2794838"/>
            <a:ext cx="41097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11680" algn="l"/>
              </a:tabLst>
            </a:pPr>
            <a:r>
              <a:rPr dirty="0" sz="1600" spc="-10" b="1">
                <a:solidFill>
                  <a:srgbClr val="4A4A4A"/>
                </a:solidFill>
                <a:latin typeface="Arial"/>
                <a:cs typeface="Arial"/>
              </a:rPr>
              <a:t>Taxonomies</a:t>
            </a:r>
            <a:r>
              <a:rPr dirty="0" sz="1600" b="1">
                <a:solidFill>
                  <a:srgbClr val="4A4A4A"/>
                </a:solidFill>
                <a:latin typeface="Arial"/>
                <a:cs typeface="Arial"/>
              </a:rPr>
              <a:t>	Rules</a:t>
            </a:r>
            <a:r>
              <a:rPr dirty="0" sz="1600" spc="-45" b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4A4A4A"/>
                </a:solidFill>
                <a:latin typeface="Arial"/>
                <a:cs typeface="Arial"/>
              </a:rPr>
              <a:t>and</a:t>
            </a:r>
            <a:r>
              <a:rPr dirty="0" sz="1600" spc="-95" b="1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4A4A4A"/>
                </a:solidFill>
                <a:latin typeface="Arial"/>
                <a:cs typeface="Arial"/>
              </a:rPr>
              <a:t>Algorithms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3086100" y="3913632"/>
            <a:ext cx="558165" cy="260985"/>
          </a:xfrm>
          <a:custGeom>
            <a:avLst/>
            <a:gdLst/>
            <a:ahLst/>
            <a:cxnLst/>
            <a:rect l="l" t="t" r="r" b="b"/>
            <a:pathLst>
              <a:path w="558164" h="260985">
                <a:moveTo>
                  <a:pt x="427482" y="0"/>
                </a:moveTo>
                <a:lnTo>
                  <a:pt x="427482" y="65151"/>
                </a:lnTo>
                <a:lnTo>
                  <a:pt x="130301" y="65151"/>
                </a:lnTo>
                <a:lnTo>
                  <a:pt x="130301" y="0"/>
                </a:lnTo>
                <a:lnTo>
                  <a:pt x="0" y="130302"/>
                </a:lnTo>
                <a:lnTo>
                  <a:pt x="130301" y="260604"/>
                </a:lnTo>
                <a:lnTo>
                  <a:pt x="130301" y="195453"/>
                </a:lnTo>
                <a:lnTo>
                  <a:pt x="427482" y="195453"/>
                </a:lnTo>
                <a:lnTo>
                  <a:pt x="427482" y="260604"/>
                </a:lnTo>
                <a:lnTo>
                  <a:pt x="557784" y="130302"/>
                </a:lnTo>
                <a:lnTo>
                  <a:pt x="427482" y="0"/>
                </a:lnTo>
                <a:close/>
              </a:path>
            </a:pathLst>
          </a:custGeom>
          <a:solidFill>
            <a:srgbClr val="FFB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6339585" y="2794838"/>
            <a:ext cx="76835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4A4A4A"/>
                </a:solidFill>
                <a:latin typeface="Arial"/>
                <a:cs typeface="Arial"/>
              </a:rPr>
              <a:t>Domain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 spc="-10" b="1">
                <a:solidFill>
                  <a:srgbClr val="4A4A4A"/>
                </a:solidFill>
                <a:latin typeface="Arial"/>
                <a:cs typeface="Arial"/>
              </a:rPr>
              <a:t>experts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1231391" y="3176801"/>
            <a:ext cx="6865620" cy="2303780"/>
            <a:chOff x="1231391" y="3176801"/>
            <a:chExt cx="6865620" cy="2303780"/>
          </a:xfrm>
        </p:grpSpPr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0734" y="3176801"/>
              <a:ext cx="1697547" cy="1696149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91712" y="3462528"/>
              <a:ext cx="1744980" cy="1162812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250441" y="4668774"/>
              <a:ext cx="6827520" cy="792480"/>
            </a:xfrm>
            <a:custGeom>
              <a:avLst/>
              <a:gdLst/>
              <a:ahLst/>
              <a:cxnLst/>
              <a:rect l="l" t="t" r="r" b="b"/>
              <a:pathLst>
                <a:path w="6827520" h="792479">
                  <a:moveTo>
                    <a:pt x="6827519" y="0"/>
                  </a:moveTo>
                  <a:lnTo>
                    <a:pt x="6826455" y="71220"/>
                  </a:lnTo>
                  <a:lnTo>
                    <a:pt x="6823385" y="138254"/>
                  </a:lnTo>
                  <a:lnTo>
                    <a:pt x="6818498" y="199982"/>
                  </a:lnTo>
                  <a:lnTo>
                    <a:pt x="6811980" y="255285"/>
                  </a:lnTo>
                  <a:lnTo>
                    <a:pt x="6804018" y="303043"/>
                  </a:lnTo>
                  <a:lnTo>
                    <a:pt x="6794801" y="342138"/>
                  </a:lnTo>
                  <a:lnTo>
                    <a:pt x="6773344" y="389855"/>
                  </a:lnTo>
                  <a:lnTo>
                    <a:pt x="6761480" y="396239"/>
                  </a:lnTo>
                  <a:lnTo>
                    <a:pt x="3479800" y="396239"/>
                  </a:lnTo>
                  <a:lnTo>
                    <a:pt x="3467935" y="402624"/>
                  </a:lnTo>
                  <a:lnTo>
                    <a:pt x="3446478" y="450341"/>
                  </a:lnTo>
                  <a:lnTo>
                    <a:pt x="3437261" y="489436"/>
                  </a:lnTo>
                  <a:lnTo>
                    <a:pt x="3429299" y="537194"/>
                  </a:lnTo>
                  <a:lnTo>
                    <a:pt x="3422781" y="592497"/>
                  </a:lnTo>
                  <a:lnTo>
                    <a:pt x="3417894" y="654225"/>
                  </a:lnTo>
                  <a:lnTo>
                    <a:pt x="3414824" y="721259"/>
                  </a:lnTo>
                  <a:lnTo>
                    <a:pt x="3413760" y="792479"/>
                  </a:lnTo>
                  <a:lnTo>
                    <a:pt x="3412695" y="721259"/>
                  </a:lnTo>
                  <a:lnTo>
                    <a:pt x="3409625" y="654225"/>
                  </a:lnTo>
                  <a:lnTo>
                    <a:pt x="3404738" y="592497"/>
                  </a:lnTo>
                  <a:lnTo>
                    <a:pt x="3398220" y="537194"/>
                  </a:lnTo>
                  <a:lnTo>
                    <a:pt x="3390258" y="489436"/>
                  </a:lnTo>
                  <a:lnTo>
                    <a:pt x="3381041" y="450341"/>
                  </a:lnTo>
                  <a:lnTo>
                    <a:pt x="3359584" y="402624"/>
                  </a:lnTo>
                  <a:lnTo>
                    <a:pt x="3347720" y="396239"/>
                  </a:lnTo>
                  <a:lnTo>
                    <a:pt x="66040" y="396239"/>
                  </a:lnTo>
                  <a:lnTo>
                    <a:pt x="54175" y="389855"/>
                  </a:lnTo>
                  <a:lnTo>
                    <a:pt x="32718" y="342138"/>
                  </a:lnTo>
                  <a:lnTo>
                    <a:pt x="23501" y="303043"/>
                  </a:lnTo>
                  <a:lnTo>
                    <a:pt x="15539" y="255285"/>
                  </a:lnTo>
                  <a:lnTo>
                    <a:pt x="9021" y="199982"/>
                  </a:lnTo>
                  <a:lnTo>
                    <a:pt x="4134" y="138254"/>
                  </a:lnTo>
                  <a:lnTo>
                    <a:pt x="1064" y="7122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FF8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63268" y="3552444"/>
              <a:ext cx="792480" cy="61722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7521" y="4920702"/>
            <a:ext cx="124460" cy="1040765"/>
          </a:xfrm>
          <a:prstGeom prst="rect">
            <a:avLst/>
          </a:prstGeom>
        </p:spPr>
        <p:txBody>
          <a:bodyPr wrap="square" lIns="0" tIns="381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solidFill>
                  <a:srgbClr val="4A4A4A"/>
                </a:solidFill>
                <a:latin typeface="Arial"/>
                <a:cs typeface="Arial"/>
              </a:rPr>
              <a:t>©2012</a:t>
            </a:r>
            <a:r>
              <a:rPr dirty="0" sz="700" spc="-2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A4A4A"/>
                </a:solidFill>
                <a:latin typeface="Arial"/>
                <a:cs typeface="Arial"/>
              </a:rPr>
              <a:t>Thomson</a:t>
            </a:r>
            <a:r>
              <a:rPr dirty="0" sz="700" spc="-2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4A4A4A"/>
                </a:solidFill>
                <a:latin typeface="Arial"/>
                <a:cs typeface="Arial"/>
              </a:rPr>
              <a:t>Reuters.</a:t>
            </a:r>
            <a:endParaRPr sz="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5850" y="1474088"/>
            <a:ext cx="6146165" cy="835660"/>
          </a:xfrm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dirty="0" u="none">
                <a:solidFill>
                  <a:srgbClr val="FFFFFF"/>
                </a:solidFill>
              </a:rPr>
              <a:t>Thomson</a:t>
            </a:r>
            <a:r>
              <a:rPr dirty="0" u="none" spc="-80">
                <a:solidFill>
                  <a:srgbClr val="FFFFFF"/>
                </a:solidFill>
              </a:rPr>
              <a:t> </a:t>
            </a:r>
            <a:r>
              <a:rPr dirty="0" u="none">
                <a:solidFill>
                  <a:srgbClr val="FFFFFF"/>
                </a:solidFill>
              </a:rPr>
              <a:t>Reuters</a:t>
            </a:r>
            <a:r>
              <a:rPr dirty="0" u="none" spc="-100">
                <a:solidFill>
                  <a:srgbClr val="FFFFFF"/>
                </a:solidFill>
              </a:rPr>
              <a:t> </a:t>
            </a:r>
            <a:r>
              <a:rPr dirty="0" u="none">
                <a:solidFill>
                  <a:srgbClr val="FFFFFF"/>
                </a:solidFill>
              </a:rPr>
              <a:t>annotation</a:t>
            </a:r>
            <a:r>
              <a:rPr dirty="0" u="none" spc="-105">
                <a:solidFill>
                  <a:srgbClr val="FFFFFF"/>
                </a:solidFill>
              </a:rPr>
              <a:t> </a:t>
            </a:r>
            <a:r>
              <a:rPr dirty="0" u="none" spc="-10">
                <a:solidFill>
                  <a:srgbClr val="FFFFFF"/>
                </a:solidFill>
              </a:rPr>
              <a:t>services- </a:t>
            </a:r>
            <a:r>
              <a:rPr dirty="0" u="none">
                <a:solidFill>
                  <a:srgbClr val="FFFFFF"/>
                </a:solidFill>
              </a:rPr>
              <a:t>Use</a:t>
            </a:r>
            <a:r>
              <a:rPr dirty="0" u="none" spc="-45">
                <a:solidFill>
                  <a:srgbClr val="FFFFFF"/>
                </a:solidFill>
              </a:rPr>
              <a:t> </a:t>
            </a:r>
            <a:r>
              <a:rPr dirty="0" u="none" spc="-20">
                <a:solidFill>
                  <a:srgbClr val="FFFFFF"/>
                </a:solidFill>
              </a:rPr>
              <a:t>cases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8713723" y="6322567"/>
            <a:ext cx="89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4A4A4A"/>
                </a:solidFill>
                <a:latin typeface="Arial"/>
                <a:cs typeface="Arial"/>
              </a:rPr>
              <a:t>8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190"/>
              </a:lnSpc>
              <a:spcBef>
                <a:spcPts val="95"/>
              </a:spcBef>
            </a:pPr>
            <a:r>
              <a:rPr dirty="0" u="none"/>
              <a:t>THOMSON</a:t>
            </a:r>
            <a:r>
              <a:rPr dirty="0" u="none" spc="-135"/>
              <a:t> </a:t>
            </a:r>
            <a:r>
              <a:rPr dirty="0" u="none"/>
              <a:t>REUTERS</a:t>
            </a:r>
            <a:r>
              <a:rPr dirty="0" u="none" spc="-140"/>
              <a:t> </a:t>
            </a:r>
            <a:r>
              <a:rPr dirty="0" u="none" spc="-10"/>
              <a:t>ANNOTATION</a:t>
            </a:r>
          </a:p>
          <a:p>
            <a:pPr marL="12700">
              <a:lnSpc>
                <a:spcPts val="3190"/>
              </a:lnSpc>
              <a:tabLst>
                <a:tab pos="7381875" algn="l"/>
              </a:tabLst>
            </a:pPr>
            <a:r>
              <a:rPr dirty="0"/>
              <a:t>SERVICE-</a:t>
            </a:r>
            <a:r>
              <a:rPr dirty="0" spc="-80"/>
              <a:t> </a:t>
            </a:r>
            <a:r>
              <a:rPr dirty="0"/>
              <a:t>Use</a:t>
            </a:r>
            <a:r>
              <a:rPr dirty="0" spc="-95"/>
              <a:t> </a:t>
            </a:r>
            <a:r>
              <a:rPr dirty="0" spc="-10"/>
              <a:t>cases</a:t>
            </a:r>
            <a:r>
              <a:rPr dirty="0"/>
              <a:t>	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9621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545"/>
              </a:spcBef>
              <a:buClr>
                <a:srgbClr val="FF8000"/>
              </a:buClr>
              <a:buChar char="•"/>
              <a:tabLst>
                <a:tab pos="241300" algn="l"/>
              </a:tabLst>
            </a:pPr>
            <a:r>
              <a:rPr dirty="0"/>
              <a:t>Product</a:t>
            </a:r>
            <a:r>
              <a:rPr dirty="0" spc="-15"/>
              <a:t> </a:t>
            </a:r>
            <a:r>
              <a:rPr dirty="0"/>
              <a:t>use</a:t>
            </a:r>
            <a:r>
              <a:rPr dirty="0" spc="-15"/>
              <a:t> </a:t>
            </a:r>
            <a:r>
              <a:rPr dirty="0" spc="-10"/>
              <a:t>monitoring</a:t>
            </a:r>
          </a:p>
          <a:p>
            <a:pPr marL="241300" indent="-228600">
              <a:lnSpc>
                <a:spcPct val="100000"/>
              </a:lnSpc>
              <a:spcBef>
                <a:spcPts val="1445"/>
              </a:spcBef>
              <a:buClr>
                <a:srgbClr val="FF8000"/>
              </a:buClr>
              <a:buChar char="•"/>
              <a:tabLst>
                <a:tab pos="241300" algn="l"/>
              </a:tabLst>
            </a:pPr>
            <a:r>
              <a:rPr dirty="0"/>
              <a:t>Competitive</a:t>
            </a:r>
            <a:r>
              <a:rPr dirty="0" spc="-25"/>
              <a:t> </a:t>
            </a:r>
            <a:r>
              <a:rPr dirty="0" spc="-10"/>
              <a:t>intelligence</a:t>
            </a:r>
          </a:p>
          <a:p>
            <a:pPr marL="241300" indent="-228600">
              <a:lnSpc>
                <a:spcPct val="100000"/>
              </a:lnSpc>
              <a:spcBef>
                <a:spcPts val="1440"/>
              </a:spcBef>
              <a:buClr>
                <a:srgbClr val="FF8000"/>
              </a:buClr>
              <a:buChar char="•"/>
              <a:tabLst>
                <a:tab pos="241300" algn="l"/>
              </a:tabLst>
            </a:pPr>
            <a:r>
              <a:rPr dirty="0"/>
              <a:t>Adverse</a:t>
            </a:r>
            <a:r>
              <a:rPr dirty="0" spc="-15"/>
              <a:t> </a:t>
            </a:r>
            <a:r>
              <a:rPr dirty="0"/>
              <a:t>Event</a:t>
            </a:r>
            <a:r>
              <a:rPr dirty="0" spc="-15"/>
              <a:t> </a:t>
            </a:r>
            <a:r>
              <a:rPr dirty="0" spc="-10"/>
              <a:t>monitoring</a:t>
            </a:r>
          </a:p>
          <a:p>
            <a:pPr marL="241300" indent="-228600">
              <a:lnSpc>
                <a:spcPct val="100000"/>
              </a:lnSpc>
              <a:spcBef>
                <a:spcPts val="1440"/>
              </a:spcBef>
              <a:buClr>
                <a:srgbClr val="FF8000"/>
              </a:buClr>
              <a:buChar char="•"/>
              <a:tabLst>
                <a:tab pos="241300" algn="l"/>
              </a:tabLst>
            </a:pPr>
            <a:r>
              <a:rPr dirty="0"/>
              <a:t>Portfolio</a:t>
            </a:r>
            <a:r>
              <a:rPr dirty="0" spc="-15"/>
              <a:t> </a:t>
            </a:r>
            <a:r>
              <a:rPr dirty="0" spc="-10"/>
              <a:t>management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8713723" y="6425590"/>
            <a:ext cx="8953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">
                <a:solidFill>
                  <a:srgbClr val="4A4A4A"/>
                </a:solidFill>
                <a:latin typeface="Arial"/>
                <a:cs typeface="Arial"/>
              </a:rPr>
              <a:t>9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917447" y="4119371"/>
            <a:ext cx="1548765" cy="840105"/>
            <a:chOff x="917447" y="4119371"/>
            <a:chExt cx="1548765" cy="84010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595" y="4137659"/>
              <a:ext cx="1507236" cy="740663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7447" y="4119371"/>
              <a:ext cx="1534667" cy="83972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5839" y="4165091"/>
              <a:ext cx="1412748" cy="646176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1005839" y="4165091"/>
            <a:ext cx="1412875" cy="646430"/>
          </a:xfrm>
          <a:prstGeom prst="rect">
            <a:avLst/>
          </a:prstGeom>
          <a:ln w="9144">
            <a:solidFill>
              <a:srgbClr val="005884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91440" marR="134620">
              <a:lnSpc>
                <a:spcPct val="100000"/>
              </a:lnSpc>
              <a:spcBef>
                <a:spcPts val="320"/>
              </a:spcBef>
            </a:pPr>
            <a:r>
              <a:rPr dirty="0" sz="1800" spc="-10">
                <a:solidFill>
                  <a:srgbClr val="4A4A4A"/>
                </a:solidFill>
                <a:latin typeface="Arial"/>
                <a:cs typeface="Arial"/>
              </a:rPr>
              <a:t>Customer terminology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1059180" y="5196840"/>
            <a:ext cx="1534795" cy="840105"/>
            <a:chOff x="1059180" y="5196840"/>
            <a:chExt cx="1534795" cy="840105"/>
          </a:xfrm>
        </p:grpSpPr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00328" y="5215128"/>
              <a:ext cx="1487423" cy="74066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9180" y="5196840"/>
              <a:ext cx="1534668" cy="83972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7572" y="5242560"/>
              <a:ext cx="1392936" cy="646176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1147572" y="5242559"/>
            <a:ext cx="1393190" cy="646430"/>
          </a:xfrm>
          <a:prstGeom prst="rect">
            <a:avLst/>
          </a:prstGeom>
          <a:ln w="9144">
            <a:solidFill>
              <a:srgbClr val="005884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91440" marR="114935">
              <a:lnSpc>
                <a:spcPct val="100000"/>
              </a:lnSpc>
              <a:spcBef>
                <a:spcPts val="320"/>
              </a:spcBef>
            </a:pPr>
            <a:r>
              <a:rPr dirty="0" sz="1800" spc="-10">
                <a:solidFill>
                  <a:srgbClr val="4A4A4A"/>
                </a:solidFill>
                <a:latin typeface="Arial"/>
                <a:cs typeface="Arial"/>
              </a:rPr>
              <a:t>Public terminology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2726435" y="5512308"/>
            <a:ext cx="1537970" cy="840105"/>
            <a:chOff x="2726435" y="5512308"/>
            <a:chExt cx="1537970" cy="840105"/>
          </a:xfrm>
        </p:grpSpPr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67583" y="5530596"/>
              <a:ext cx="1496568" cy="740664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26435" y="5512308"/>
              <a:ext cx="1534667" cy="839724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4827" y="5558028"/>
              <a:ext cx="1402079" cy="646176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2814827" y="5558028"/>
              <a:ext cx="1402080" cy="646430"/>
            </a:xfrm>
            <a:custGeom>
              <a:avLst/>
              <a:gdLst/>
              <a:ahLst/>
              <a:cxnLst/>
              <a:rect l="l" t="t" r="r" b="b"/>
              <a:pathLst>
                <a:path w="1402079" h="646429">
                  <a:moveTo>
                    <a:pt x="0" y="646176"/>
                  </a:moveTo>
                  <a:lnTo>
                    <a:pt x="1402079" y="646176"/>
                  </a:lnTo>
                  <a:lnTo>
                    <a:pt x="1402079" y="0"/>
                  </a:lnTo>
                  <a:lnTo>
                    <a:pt x="0" y="0"/>
                  </a:lnTo>
                  <a:lnTo>
                    <a:pt x="0" y="646176"/>
                  </a:lnTo>
                  <a:close/>
                </a:path>
              </a:pathLst>
            </a:custGeom>
            <a:ln w="9144">
              <a:solidFill>
                <a:srgbClr val="00588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2893567" y="5585561"/>
            <a:ext cx="120396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4A4A4A"/>
                </a:solidFill>
                <a:latin typeface="Arial"/>
                <a:cs typeface="Arial"/>
              </a:rPr>
              <a:t>Custom terminology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4799076" y="4892040"/>
            <a:ext cx="1661160" cy="840105"/>
            <a:chOff x="4799076" y="4892040"/>
            <a:chExt cx="1661160" cy="840105"/>
          </a:xfrm>
        </p:grpSpPr>
        <p:pic>
          <p:nvPicPr>
            <p:cNvPr id="22" name="object 2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40224" y="4910328"/>
              <a:ext cx="1620012" cy="740664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99076" y="4892040"/>
              <a:ext cx="1534668" cy="839724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87468" y="4937760"/>
              <a:ext cx="1525524" cy="646176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4887467" y="4937759"/>
            <a:ext cx="1525905" cy="646430"/>
          </a:xfrm>
          <a:prstGeom prst="rect">
            <a:avLst/>
          </a:prstGeom>
          <a:ln w="9144">
            <a:solidFill>
              <a:srgbClr val="005884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20"/>
              </a:spcBef>
            </a:pPr>
            <a:r>
              <a:rPr dirty="0" sz="1800" spc="-10">
                <a:solidFill>
                  <a:srgbClr val="4A4A4A"/>
                </a:solidFill>
                <a:latin typeface="Arial"/>
                <a:cs typeface="Arial"/>
              </a:rPr>
              <a:t>Final</a:t>
            </a:r>
            <a:endParaRPr sz="18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dirty="0" sz="1800" spc="-10">
                <a:solidFill>
                  <a:srgbClr val="4A4A4A"/>
                </a:solidFill>
                <a:latin typeface="Arial"/>
                <a:cs typeface="Arial"/>
              </a:rPr>
              <a:t>terminology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2574035" y="3979164"/>
            <a:ext cx="2268220" cy="2589530"/>
            <a:chOff x="2574035" y="3979164"/>
            <a:chExt cx="2268220" cy="2589530"/>
          </a:xfrm>
        </p:grpSpPr>
        <p:sp>
          <p:nvSpPr>
            <p:cNvPr id="27" name="object 27" descr=""/>
            <p:cNvSpPr/>
            <p:nvPr/>
          </p:nvSpPr>
          <p:spPr>
            <a:xfrm>
              <a:off x="4156709" y="3993642"/>
              <a:ext cx="670560" cy="2560320"/>
            </a:xfrm>
            <a:custGeom>
              <a:avLst/>
              <a:gdLst/>
              <a:ahLst/>
              <a:cxnLst/>
              <a:rect l="l" t="t" r="r" b="b"/>
              <a:pathLst>
                <a:path w="670560" h="2560320">
                  <a:moveTo>
                    <a:pt x="0" y="0"/>
                  </a:moveTo>
                  <a:lnTo>
                    <a:pt x="76875" y="1475"/>
                  </a:lnTo>
                  <a:lnTo>
                    <a:pt x="147445" y="5679"/>
                  </a:lnTo>
                  <a:lnTo>
                    <a:pt x="209698" y="12276"/>
                  </a:lnTo>
                  <a:lnTo>
                    <a:pt x="261621" y="20930"/>
                  </a:lnTo>
                  <a:lnTo>
                    <a:pt x="301201" y="31305"/>
                  </a:lnTo>
                  <a:lnTo>
                    <a:pt x="335279" y="55879"/>
                  </a:lnTo>
                  <a:lnTo>
                    <a:pt x="335279" y="1224279"/>
                  </a:lnTo>
                  <a:lnTo>
                    <a:pt x="344135" y="1237092"/>
                  </a:lnTo>
                  <a:lnTo>
                    <a:pt x="408938" y="1259229"/>
                  </a:lnTo>
                  <a:lnTo>
                    <a:pt x="460861" y="1267883"/>
                  </a:lnTo>
                  <a:lnTo>
                    <a:pt x="523114" y="1274480"/>
                  </a:lnTo>
                  <a:lnTo>
                    <a:pt x="593684" y="1278684"/>
                  </a:lnTo>
                  <a:lnTo>
                    <a:pt x="670560" y="1280159"/>
                  </a:lnTo>
                  <a:lnTo>
                    <a:pt x="593684" y="1281635"/>
                  </a:lnTo>
                  <a:lnTo>
                    <a:pt x="523114" y="1285839"/>
                  </a:lnTo>
                  <a:lnTo>
                    <a:pt x="460861" y="1292436"/>
                  </a:lnTo>
                  <a:lnTo>
                    <a:pt x="408938" y="1301090"/>
                  </a:lnTo>
                  <a:lnTo>
                    <a:pt x="369358" y="1311465"/>
                  </a:lnTo>
                  <a:lnTo>
                    <a:pt x="335279" y="1336039"/>
                  </a:lnTo>
                  <a:lnTo>
                    <a:pt x="335279" y="2504439"/>
                  </a:lnTo>
                  <a:lnTo>
                    <a:pt x="326424" y="2517252"/>
                  </a:lnTo>
                  <a:lnTo>
                    <a:pt x="261621" y="2539389"/>
                  </a:lnTo>
                  <a:lnTo>
                    <a:pt x="209698" y="2548043"/>
                  </a:lnTo>
                  <a:lnTo>
                    <a:pt x="147445" y="2554640"/>
                  </a:lnTo>
                  <a:lnTo>
                    <a:pt x="76875" y="2558844"/>
                  </a:lnTo>
                  <a:lnTo>
                    <a:pt x="0" y="2560319"/>
                  </a:lnTo>
                </a:path>
              </a:pathLst>
            </a:custGeom>
            <a:ln w="28956">
              <a:solidFill>
                <a:srgbClr val="005A8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615183" y="4229100"/>
              <a:ext cx="1516380" cy="1018032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574035" y="4210812"/>
              <a:ext cx="1534667" cy="1114044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662427" y="4256532"/>
              <a:ext cx="1421891" cy="923544"/>
            </a:xfrm>
            <a:prstGeom prst="rect">
              <a:avLst/>
            </a:prstGeom>
          </p:spPr>
        </p:pic>
      </p:grpSp>
      <p:sp>
        <p:nvSpPr>
          <p:cNvPr id="31" name="object 31" descr=""/>
          <p:cNvSpPr txBox="1"/>
          <p:nvPr/>
        </p:nvSpPr>
        <p:spPr>
          <a:xfrm>
            <a:off x="5243321" y="3516629"/>
            <a:ext cx="1737360" cy="646430"/>
          </a:xfrm>
          <a:prstGeom prst="rect">
            <a:avLst/>
          </a:prstGeom>
          <a:solidFill>
            <a:srgbClr val="005A84"/>
          </a:solidFill>
          <a:ln w="25907">
            <a:solidFill>
              <a:srgbClr val="00405F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91440" marR="88265">
              <a:lnSpc>
                <a:spcPct val="100000"/>
              </a:lnSpc>
              <a:spcBef>
                <a:spcPts val="305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Secure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storage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taxonomies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6503669" y="4318253"/>
            <a:ext cx="1350645" cy="646430"/>
          </a:xfrm>
          <a:prstGeom prst="rect">
            <a:avLst/>
          </a:prstGeom>
          <a:solidFill>
            <a:srgbClr val="005A84"/>
          </a:solidFill>
          <a:ln w="25907">
            <a:solidFill>
              <a:srgbClr val="00405F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marL="90805" marR="85725">
              <a:lnSpc>
                <a:spcPct val="100000"/>
              </a:lnSpc>
              <a:spcBef>
                <a:spcPts val="315"/>
              </a:spcBef>
            </a:pP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Edit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taxonomies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6503669" y="5232653"/>
            <a:ext cx="1371600" cy="646430"/>
          </a:xfrm>
          <a:prstGeom prst="rect">
            <a:avLst/>
          </a:prstGeom>
          <a:solidFill>
            <a:srgbClr val="005A84"/>
          </a:solidFill>
          <a:ln w="25907">
            <a:solidFill>
              <a:srgbClr val="00405F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15"/>
              </a:spcBef>
            </a:pP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Map</a:t>
            </a:r>
            <a:endParaRPr sz="1800">
              <a:latin typeface="Arial"/>
              <a:cs typeface="Arial"/>
            </a:endParaRPr>
          </a:p>
          <a:p>
            <a:pPr marL="90805">
              <a:lnSpc>
                <a:spcPct val="100000"/>
              </a:lnSpc>
            </a:pP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taxonomies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5243321" y="6127241"/>
            <a:ext cx="2367280" cy="646430"/>
          </a:xfrm>
          <a:prstGeom prst="rect">
            <a:avLst/>
          </a:prstGeom>
          <a:solidFill>
            <a:srgbClr val="005A84"/>
          </a:solidFill>
          <a:ln w="25907">
            <a:solidFill>
              <a:srgbClr val="00405F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marL="91440" marR="132715">
              <a:lnSpc>
                <a:spcPct val="100000"/>
              </a:lnSpc>
              <a:spcBef>
                <a:spcPts val="315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Automated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access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taxonomies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2662427" y="4256532"/>
            <a:ext cx="1422400" cy="923925"/>
          </a:xfrm>
          <a:prstGeom prst="rect">
            <a:avLst/>
          </a:prstGeom>
          <a:ln w="9144">
            <a:solidFill>
              <a:srgbClr val="005884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91440" marR="144145">
              <a:lnSpc>
                <a:spcPct val="100000"/>
              </a:lnSpc>
              <a:spcBef>
                <a:spcPts val="320"/>
              </a:spcBef>
            </a:pPr>
            <a:r>
              <a:rPr dirty="0" sz="1800" spc="-10">
                <a:solidFill>
                  <a:srgbClr val="4A4A4A"/>
                </a:solidFill>
                <a:latin typeface="Arial"/>
                <a:cs typeface="Arial"/>
              </a:rPr>
              <a:t>Domain specific terminology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7972" y="4613147"/>
            <a:ext cx="1143359" cy="170687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  <a:tabLst>
                <a:tab pos="7381875" algn="l"/>
              </a:tabLst>
            </a:pPr>
            <a:r>
              <a:rPr dirty="0" u="none"/>
              <a:t>PRODUCT</a:t>
            </a:r>
            <a:r>
              <a:rPr dirty="0" u="none" spc="-80"/>
              <a:t> </a:t>
            </a:r>
            <a:r>
              <a:rPr dirty="0" u="none"/>
              <a:t>USE</a:t>
            </a:r>
            <a:r>
              <a:rPr dirty="0" u="none" spc="-110"/>
              <a:t> </a:t>
            </a:r>
            <a:r>
              <a:rPr dirty="0" u="none"/>
              <a:t>AND</a:t>
            </a:r>
            <a:r>
              <a:rPr dirty="0" u="none" spc="-110"/>
              <a:t> </a:t>
            </a:r>
            <a:r>
              <a:rPr dirty="0" u="none"/>
              <a:t>ADVERSE</a:t>
            </a:r>
            <a:r>
              <a:rPr dirty="0" u="none" spc="-95"/>
              <a:t> </a:t>
            </a:r>
            <a:r>
              <a:rPr dirty="0" u="none" spc="-10"/>
              <a:t>EVENT </a:t>
            </a:r>
            <a:r>
              <a:rPr dirty="0"/>
              <a:t>MONITORING</a:t>
            </a:r>
            <a:r>
              <a:rPr dirty="0" spc="-105"/>
              <a:t> </a:t>
            </a:r>
            <a:r>
              <a:rPr dirty="0"/>
              <a:t>USE</a:t>
            </a:r>
            <a:r>
              <a:rPr dirty="0" spc="-125"/>
              <a:t> </a:t>
            </a:r>
            <a:r>
              <a:rPr dirty="0" spc="-20"/>
              <a:t>CASE</a:t>
            </a:r>
            <a:r>
              <a:rPr dirty="0"/>
              <a:t>	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8039989" y="6136697"/>
            <a:ext cx="128270" cy="1282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994"/>
              </a:lnSpc>
            </a:pPr>
            <a:r>
              <a:rPr dirty="0" sz="900" spc="-25">
                <a:solidFill>
                  <a:srgbClr val="4A4A4A"/>
                </a:solidFill>
                <a:latin typeface="Arial"/>
                <a:cs typeface="Arial"/>
              </a:rPr>
              <a:t>10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2344673" y="2146554"/>
            <a:ext cx="0" cy="1701800"/>
          </a:xfrm>
          <a:custGeom>
            <a:avLst/>
            <a:gdLst/>
            <a:ahLst/>
            <a:cxnLst/>
            <a:rect l="l" t="t" r="r" b="b"/>
            <a:pathLst>
              <a:path w="0" h="1701800">
                <a:moveTo>
                  <a:pt x="0" y="0"/>
                </a:moveTo>
                <a:lnTo>
                  <a:pt x="0" y="1701800"/>
                </a:lnTo>
              </a:path>
            </a:pathLst>
          </a:custGeom>
          <a:ln w="38100">
            <a:solidFill>
              <a:srgbClr val="005884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724905" y="2091689"/>
            <a:ext cx="0" cy="1729105"/>
          </a:xfrm>
          <a:custGeom>
            <a:avLst/>
            <a:gdLst/>
            <a:ahLst/>
            <a:cxnLst/>
            <a:rect l="l" t="t" r="r" b="b"/>
            <a:pathLst>
              <a:path w="0" h="1729104">
                <a:moveTo>
                  <a:pt x="0" y="0"/>
                </a:moveTo>
                <a:lnTo>
                  <a:pt x="0" y="1728724"/>
                </a:lnTo>
              </a:path>
            </a:pathLst>
          </a:custGeom>
          <a:ln w="38100">
            <a:solidFill>
              <a:srgbClr val="005884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360679" y="2038070"/>
            <a:ext cx="1725295" cy="1224280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715645">
              <a:lnSpc>
                <a:spcPct val="100000"/>
              </a:lnSpc>
              <a:spcBef>
                <a:spcPts val="615"/>
              </a:spcBef>
            </a:pPr>
            <a:r>
              <a:rPr dirty="0" sz="1400" spc="-20" b="1">
                <a:solidFill>
                  <a:srgbClr val="252525"/>
                </a:solidFill>
                <a:latin typeface="Arial"/>
                <a:cs typeface="Arial"/>
              </a:rPr>
              <a:t>Data</a:t>
            </a:r>
            <a:endParaRPr sz="1400">
              <a:latin typeface="Arial"/>
              <a:cs typeface="Arial"/>
            </a:endParaRPr>
          </a:p>
          <a:p>
            <a:pPr marL="120650" indent="-108585">
              <a:lnSpc>
                <a:spcPct val="100000"/>
              </a:lnSpc>
              <a:spcBef>
                <a:spcPts val="520"/>
              </a:spcBef>
              <a:buChar char="•"/>
              <a:tabLst>
                <a:tab pos="121285" algn="l"/>
              </a:tabLst>
            </a:pP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Thomson</a:t>
            </a:r>
            <a:r>
              <a:rPr dirty="0" sz="1400" spc="-6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Reuters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literature</a:t>
            </a:r>
            <a:r>
              <a:rPr dirty="0" sz="1400" spc="-9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collection</a:t>
            </a:r>
            <a:endParaRPr sz="1400">
              <a:latin typeface="Arial"/>
              <a:cs typeface="Arial"/>
            </a:endParaRPr>
          </a:p>
          <a:p>
            <a:pPr marL="123825" indent="-111760">
              <a:lnSpc>
                <a:spcPct val="100000"/>
              </a:lnSpc>
              <a:buChar char="•"/>
              <a:tabLst>
                <a:tab pos="124460" algn="l"/>
              </a:tabLst>
            </a:pP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Customer</a:t>
            </a:r>
            <a:r>
              <a:rPr dirty="0" sz="1400" spc="-6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drug</a:t>
            </a:r>
            <a:r>
              <a:rPr dirty="0" sz="1400" spc="-5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4A4A4A"/>
                </a:solidFill>
                <a:latin typeface="Arial"/>
                <a:cs typeface="Arial"/>
              </a:rPr>
              <a:t>list</a:t>
            </a:r>
            <a:endParaRPr sz="1400">
              <a:latin typeface="Arial"/>
              <a:cs typeface="Arial"/>
            </a:endParaRPr>
          </a:p>
          <a:p>
            <a:pPr marL="123825" indent="-111760">
              <a:lnSpc>
                <a:spcPct val="100000"/>
              </a:lnSpc>
              <a:buChar char="•"/>
              <a:tabLst>
                <a:tab pos="124460" algn="l"/>
              </a:tabLst>
            </a:pP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Customer</a:t>
            </a:r>
            <a:r>
              <a:rPr dirty="0" sz="1400" spc="-6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taxonomy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2629280" y="2038070"/>
            <a:ext cx="2817495" cy="2291080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126490">
              <a:lnSpc>
                <a:spcPct val="100000"/>
              </a:lnSpc>
              <a:spcBef>
                <a:spcPts val="615"/>
              </a:spcBef>
            </a:pPr>
            <a:r>
              <a:rPr dirty="0" sz="1400" spc="-10" b="1">
                <a:solidFill>
                  <a:srgbClr val="252525"/>
                </a:solidFill>
                <a:latin typeface="Arial"/>
                <a:cs typeface="Arial"/>
              </a:rPr>
              <a:t>Approach</a:t>
            </a:r>
            <a:endParaRPr sz="1400">
              <a:latin typeface="Arial"/>
              <a:cs typeface="Arial"/>
            </a:endParaRPr>
          </a:p>
          <a:p>
            <a:pPr marL="114300" indent="-102235">
              <a:lnSpc>
                <a:spcPct val="100000"/>
              </a:lnSpc>
              <a:spcBef>
                <a:spcPts val="520"/>
              </a:spcBef>
              <a:buChar char="•"/>
              <a:tabLst>
                <a:tab pos="114935" algn="l"/>
              </a:tabLst>
            </a:pP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Automated</a:t>
            </a:r>
            <a:r>
              <a:rPr dirty="0" sz="1400" spc="-7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search</a:t>
            </a:r>
            <a:r>
              <a:rPr dirty="0" sz="1400" spc="-7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and</a:t>
            </a:r>
            <a:r>
              <a:rPr dirty="0" sz="14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indexing</a:t>
            </a:r>
            <a:r>
              <a:rPr dirty="0" sz="1400" spc="-3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4A4A4A"/>
                </a:solidFill>
                <a:latin typeface="Arial"/>
                <a:cs typeface="Arial"/>
              </a:rPr>
              <a:t>of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the</a:t>
            </a:r>
            <a:r>
              <a:rPr dirty="0" sz="1400" spc="-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biomedical</a:t>
            </a:r>
            <a:r>
              <a:rPr dirty="0" sz="1400" spc="-2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literature.</a:t>
            </a:r>
            <a:endParaRPr sz="1400">
              <a:latin typeface="Arial"/>
              <a:cs typeface="Arial"/>
            </a:endParaRPr>
          </a:p>
          <a:p>
            <a:pPr marL="12700" marR="24765">
              <a:lnSpc>
                <a:spcPct val="100000"/>
              </a:lnSpc>
              <a:buChar char="•"/>
              <a:tabLst>
                <a:tab pos="124460" algn="l"/>
              </a:tabLst>
            </a:pP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Map</a:t>
            </a:r>
            <a:r>
              <a:rPr dirty="0" sz="1400" spc="-3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customer</a:t>
            </a:r>
            <a:r>
              <a:rPr dirty="0" sz="1400" spc="-7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thesaurus</a:t>
            </a:r>
            <a:r>
              <a:rPr dirty="0" sz="1400" spc="-6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to</a:t>
            </a:r>
            <a:r>
              <a:rPr dirty="0" sz="14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public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and</a:t>
            </a:r>
            <a:r>
              <a:rPr dirty="0" sz="14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Thomson</a:t>
            </a:r>
            <a:r>
              <a:rPr dirty="0" sz="14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Reuters’</a:t>
            </a:r>
            <a:r>
              <a:rPr dirty="0" sz="1400" spc="-8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taxonomies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for</a:t>
            </a:r>
            <a:r>
              <a:rPr dirty="0" sz="14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a</a:t>
            </a: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more</a:t>
            </a:r>
            <a:r>
              <a:rPr dirty="0" sz="14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robust</a:t>
            </a:r>
            <a:r>
              <a:rPr dirty="0" sz="14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final</a:t>
            </a:r>
            <a:r>
              <a:rPr dirty="0" sz="1400" spc="-2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text-mining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ontology</a:t>
            </a:r>
            <a:r>
              <a:rPr dirty="0" sz="1400" spc="-7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source.</a:t>
            </a:r>
            <a:endParaRPr sz="1400">
              <a:latin typeface="Arial"/>
              <a:cs typeface="Arial"/>
            </a:endParaRPr>
          </a:p>
          <a:p>
            <a:pPr marL="12700" marR="67310">
              <a:lnSpc>
                <a:spcPct val="100000"/>
              </a:lnSpc>
              <a:buChar char="•"/>
              <a:tabLst>
                <a:tab pos="124460" algn="l"/>
              </a:tabLst>
            </a:pP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Identify</a:t>
            </a:r>
            <a:r>
              <a:rPr dirty="0" sz="1400" spc="-7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unique</a:t>
            </a:r>
            <a:r>
              <a:rPr dirty="0" sz="1400" spc="-5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terms</a:t>
            </a:r>
            <a:r>
              <a:rPr dirty="0" sz="14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not</a:t>
            </a:r>
            <a:r>
              <a:rPr dirty="0" sz="1400" spc="-3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found</a:t>
            </a:r>
            <a:r>
              <a:rPr dirty="0" sz="1400" spc="-6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4A4A4A"/>
                </a:solidFill>
                <a:latin typeface="Arial"/>
                <a:cs typeface="Arial"/>
              </a:rPr>
              <a:t>in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the</a:t>
            </a:r>
            <a:r>
              <a:rPr dirty="0" sz="1400" spc="-5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client’s</a:t>
            </a:r>
            <a:r>
              <a:rPr dirty="0" sz="1400" spc="-7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taxonomy</a:t>
            </a:r>
            <a:r>
              <a:rPr dirty="0" sz="14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4A4A4A"/>
                </a:solidFill>
                <a:latin typeface="Arial"/>
                <a:cs typeface="Arial"/>
              </a:rPr>
              <a:t>and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recommend</a:t>
            </a:r>
            <a:r>
              <a:rPr dirty="0" sz="1400" spc="-6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to</a:t>
            </a:r>
            <a:r>
              <a:rPr dirty="0" sz="14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the</a:t>
            </a:r>
            <a:r>
              <a:rPr dirty="0" sz="1400" spc="-3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client.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048502" y="2038070"/>
            <a:ext cx="2841625" cy="2077720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121410">
              <a:lnSpc>
                <a:spcPct val="100000"/>
              </a:lnSpc>
              <a:spcBef>
                <a:spcPts val="615"/>
              </a:spcBef>
            </a:pPr>
            <a:r>
              <a:rPr dirty="0" sz="1400" spc="-10" b="1">
                <a:solidFill>
                  <a:srgbClr val="252525"/>
                </a:solidFill>
                <a:latin typeface="Arial"/>
                <a:cs typeface="Arial"/>
              </a:rPr>
              <a:t>Results</a:t>
            </a:r>
            <a:endParaRPr sz="1400">
              <a:latin typeface="Arial"/>
              <a:cs typeface="Arial"/>
            </a:endParaRPr>
          </a:p>
          <a:p>
            <a:pPr marL="75565" indent="-63500">
              <a:lnSpc>
                <a:spcPct val="100000"/>
              </a:lnSpc>
              <a:spcBef>
                <a:spcPts val="520"/>
              </a:spcBef>
              <a:buSzPct val="92857"/>
              <a:buChar char="•"/>
              <a:tabLst>
                <a:tab pos="76200" algn="l"/>
              </a:tabLst>
            </a:pP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Monitoring</a:t>
            </a:r>
            <a:r>
              <a:rPr dirty="0" sz="1400" spc="-6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of</a:t>
            </a:r>
            <a:r>
              <a:rPr dirty="0" sz="1400" spc="-3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50</a:t>
            </a:r>
            <a:r>
              <a:rPr dirty="0" sz="14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products</a:t>
            </a:r>
            <a:r>
              <a:rPr dirty="0" sz="1400" spc="-6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4A4A4A"/>
                </a:solidFill>
                <a:latin typeface="Arial"/>
                <a:cs typeface="Arial"/>
              </a:rPr>
              <a:t>using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automated approaches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buSzPct val="92857"/>
              <a:buChar char="•"/>
              <a:tabLst>
                <a:tab pos="76200" algn="l"/>
              </a:tabLst>
            </a:pP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Indexing</a:t>
            </a:r>
            <a:r>
              <a:rPr dirty="0" sz="1400" spc="-7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includes:</a:t>
            </a:r>
            <a:r>
              <a:rPr dirty="0" sz="1400" spc="-8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indication,</a:t>
            </a:r>
            <a:r>
              <a:rPr dirty="0" sz="1400" spc="-7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4A4A4A"/>
                </a:solidFill>
                <a:latin typeface="Arial"/>
                <a:cs typeface="Arial"/>
              </a:rPr>
              <a:t>dose,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adverse</a:t>
            </a:r>
            <a:r>
              <a:rPr dirty="0" sz="1400" spc="-3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effects,</a:t>
            </a:r>
            <a:r>
              <a:rPr dirty="0" sz="1400" spc="-5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demographics,</a:t>
            </a:r>
            <a:r>
              <a:rPr dirty="0" sz="1400" spc="-5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4A4A4A"/>
                </a:solidFill>
                <a:latin typeface="Arial"/>
                <a:cs typeface="Arial"/>
              </a:rPr>
              <a:t>hot </a:t>
            </a: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topics</a:t>
            </a:r>
            <a:endParaRPr sz="1400">
              <a:latin typeface="Arial"/>
              <a:cs typeface="Arial"/>
            </a:endParaRPr>
          </a:p>
          <a:p>
            <a:pPr marL="12700" marR="238125">
              <a:lnSpc>
                <a:spcPct val="100000"/>
              </a:lnSpc>
              <a:buSzPct val="92857"/>
              <a:buChar char="•"/>
              <a:tabLst>
                <a:tab pos="124460" algn="l"/>
              </a:tabLst>
            </a:pP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Output</a:t>
            </a:r>
            <a:r>
              <a:rPr dirty="0" sz="1400" spc="-2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in</a:t>
            </a:r>
            <a:r>
              <a:rPr dirty="0" sz="1400" spc="-2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client’s</a:t>
            </a:r>
            <a:r>
              <a:rPr dirty="0" sz="14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terminology</a:t>
            </a:r>
            <a:r>
              <a:rPr dirty="0" sz="1400" spc="-5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4A4A4A"/>
                </a:solidFill>
                <a:latin typeface="Arial"/>
                <a:cs typeface="Arial"/>
              </a:rPr>
              <a:t>to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match</a:t>
            </a:r>
            <a:r>
              <a:rPr dirty="0" sz="14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their</a:t>
            </a:r>
            <a:r>
              <a:rPr dirty="0" sz="1400" spc="-3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in-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house</a:t>
            </a:r>
            <a:r>
              <a:rPr dirty="0" sz="14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library database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352043" y="1392936"/>
            <a:ext cx="8376284" cy="617220"/>
          </a:xfrm>
          <a:custGeom>
            <a:avLst/>
            <a:gdLst/>
            <a:ahLst/>
            <a:cxnLst/>
            <a:rect l="l" t="t" r="r" b="b"/>
            <a:pathLst>
              <a:path w="8376284" h="617219">
                <a:moveTo>
                  <a:pt x="8273033" y="0"/>
                </a:moveTo>
                <a:lnTo>
                  <a:pt x="102870" y="0"/>
                </a:lnTo>
                <a:lnTo>
                  <a:pt x="62831" y="8090"/>
                </a:lnTo>
                <a:lnTo>
                  <a:pt x="30132" y="30146"/>
                </a:lnTo>
                <a:lnTo>
                  <a:pt x="8084" y="62847"/>
                </a:lnTo>
                <a:lnTo>
                  <a:pt x="0" y="102869"/>
                </a:lnTo>
                <a:lnTo>
                  <a:pt x="0" y="514350"/>
                </a:lnTo>
                <a:lnTo>
                  <a:pt x="8084" y="554372"/>
                </a:lnTo>
                <a:lnTo>
                  <a:pt x="30132" y="587073"/>
                </a:lnTo>
                <a:lnTo>
                  <a:pt x="62831" y="609129"/>
                </a:lnTo>
                <a:lnTo>
                  <a:pt x="102870" y="617219"/>
                </a:lnTo>
                <a:lnTo>
                  <a:pt x="8273033" y="617219"/>
                </a:lnTo>
                <a:lnTo>
                  <a:pt x="8313056" y="609129"/>
                </a:lnTo>
                <a:lnTo>
                  <a:pt x="8345757" y="587073"/>
                </a:lnTo>
                <a:lnTo>
                  <a:pt x="8367813" y="554372"/>
                </a:lnTo>
                <a:lnTo>
                  <a:pt x="8375904" y="514350"/>
                </a:lnTo>
                <a:lnTo>
                  <a:pt x="8375904" y="102869"/>
                </a:lnTo>
                <a:lnTo>
                  <a:pt x="8367813" y="62847"/>
                </a:lnTo>
                <a:lnTo>
                  <a:pt x="8345757" y="30146"/>
                </a:lnTo>
                <a:lnTo>
                  <a:pt x="8313056" y="8090"/>
                </a:lnTo>
                <a:lnTo>
                  <a:pt x="8273033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369519" y="1405890"/>
            <a:ext cx="7959090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3E3E3E"/>
                </a:solidFill>
                <a:latin typeface="Arial"/>
                <a:cs typeface="Arial"/>
              </a:rPr>
              <a:t>Goal:</a:t>
            </a:r>
            <a:r>
              <a:rPr dirty="0" sz="1600" spc="-25" b="1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4A4A4A"/>
                </a:solidFill>
                <a:latin typeface="Arial"/>
                <a:cs typeface="Arial"/>
              </a:rPr>
              <a:t>Due</a:t>
            </a:r>
            <a:r>
              <a:rPr dirty="0" sz="1600" spc="-5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4A4A4A"/>
                </a:solidFill>
                <a:latin typeface="Arial"/>
                <a:cs typeface="Arial"/>
              </a:rPr>
              <a:t>to</a:t>
            </a:r>
            <a:r>
              <a:rPr dirty="0" sz="16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4A4A4A"/>
                </a:solidFill>
                <a:latin typeface="Arial"/>
                <a:cs typeface="Arial"/>
              </a:rPr>
              <a:t>growth</a:t>
            </a:r>
            <a:r>
              <a:rPr dirty="0" sz="1600" spc="-2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4A4A4A"/>
                </a:solidFill>
                <a:latin typeface="Arial"/>
                <a:cs typeface="Arial"/>
              </a:rPr>
              <a:t>in</a:t>
            </a:r>
            <a:r>
              <a:rPr dirty="0" sz="1600" spc="-5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4A4A4A"/>
                </a:solidFill>
                <a:latin typeface="Arial"/>
                <a:cs typeface="Arial"/>
              </a:rPr>
              <a:t>number</a:t>
            </a:r>
            <a:r>
              <a:rPr dirty="0" sz="1600" spc="-5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4A4A4A"/>
                </a:solidFill>
                <a:latin typeface="Arial"/>
                <a:cs typeface="Arial"/>
              </a:rPr>
              <a:t>of</a:t>
            </a:r>
            <a:r>
              <a:rPr dirty="0" sz="16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4A4A4A"/>
                </a:solidFill>
                <a:latin typeface="Arial"/>
                <a:cs typeface="Arial"/>
              </a:rPr>
              <a:t>articles</a:t>
            </a:r>
            <a:r>
              <a:rPr dirty="0" sz="1600" spc="-6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4A4A4A"/>
                </a:solidFill>
                <a:latin typeface="Arial"/>
                <a:cs typeface="Arial"/>
              </a:rPr>
              <a:t>and</a:t>
            </a:r>
            <a:r>
              <a:rPr dirty="0" sz="1600" spc="-2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4A4A4A"/>
                </a:solidFill>
                <a:latin typeface="Arial"/>
                <a:cs typeface="Arial"/>
              </a:rPr>
              <a:t>products</a:t>
            </a:r>
            <a:r>
              <a:rPr dirty="0" sz="16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4A4A4A"/>
                </a:solidFill>
                <a:latin typeface="Arial"/>
                <a:cs typeface="Arial"/>
              </a:rPr>
              <a:t>marketed,</a:t>
            </a:r>
            <a:r>
              <a:rPr dirty="0" sz="1600" spc="-3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4A4A4A"/>
                </a:solidFill>
                <a:latin typeface="Arial"/>
                <a:cs typeface="Arial"/>
              </a:rPr>
              <a:t>an</a:t>
            </a:r>
            <a:r>
              <a:rPr dirty="0" sz="1600" spc="-5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4A4A4A"/>
                </a:solidFill>
                <a:latin typeface="Arial"/>
                <a:cs typeface="Arial"/>
              </a:rPr>
              <a:t>innovative</a:t>
            </a:r>
            <a:r>
              <a:rPr dirty="0" sz="1600" spc="-6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4A4A4A"/>
                </a:solidFill>
                <a:latin typeface="Arial"/>
                <a:cs typeface="Arial"/>
              </a:rPr>
              <a:t>solution </a:t>
            </a:r>
            <a:r>
              <a:rPr dirty="0" sz="1600">
                <a:solidFill>
                  <a:srgbClr val="4A4A4A"/>
                </a:solidFill>
                <a:latin typeface="Arial"/>
                <a:cs typeface="Arial"/>
              </a:rPr>
              <a:t>to</a:t>
            </a:r>
            <a:r>
              <a:rPr dirty="0" sz="16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4A4A4A"/>
                </a:solidFill>
                <a:latin typeface="Arial"/>
                <a:cs typeface="Arial"/>
              </a:rPr>
              <a:t>literature</a:t>
            </a:r>
            <a:r>
              <a:rPr dirty="0" sz="1600" spc="-3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4A4A4A"/>
                </a:solidFill>
                <a:latin typeface="Arial"/>
                <a:cs typeface="Arial"/>
              </a:rPr>
              <a:t>monitoring</a:t>
            </a:r>
            <a:r>
              <a:rPr dirty="0" sz="1600" spc="-2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4A4A4A"/>
                </a:solidFill>
                <a:latin typeface="Arial"/>
                <a:cs typeface="Arial"/>
              </a:rPr>
              <a:t>for</a:t>
            </a:r>
            <a:r>
              <a:rPr dirty="0" sz="1600" spc="-3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4A4A4A"/>
                </a:solidFill>
                <a:latin typeface="Arial"/>
                <a:cs typeface="Arial"/>
              </a:rPr>
              <a:t>in-</a:t>
            </a:r>
            <a:r>
              <a:rPr dirty="0" sz="1600">
                <a:solidFill>
                  <a:srgbClr val="4A4A4A"/>
                </a:solidFill>
                <a:latin typeface="Arial"/>
                <a:cs typeface="Arial"/>
              </a:rPr>
              <a:t>house</a:t>
            </a:r>
            <a:r>
              <a:rPr dirty="0" sz="16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4A4A4A"/>
                </a:solidFill>
                <a:latin typeface="Arial"/>
                <a:cs typeface="Arial"/>
              </a:rPr>
              <a:t>database</a:t>
            </a:r>
            <a:r>
              <a:rPr dirty="0" sz="1600" spc="-3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4A4A4A"/>
                </a:solidFill>
                <a:latin typeface="Arial"/>
                <a:cs typeface="Arial"/>
              </a:rPr>
              <a:t>maintenance</a:t>
            </a:r>
            <a:r>
              <a:rPr dirty="0" sz="16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4A4A4A"/>
                </a:solidFill>
                <a:latin typeface="Arial"/>
                <a:cs typeface="Arial"/>
              </a:rPr>
              <a:t>is</a:t>
            </a:r>
            <a:r>
              <a:rPr dirty="0" sz="16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4A4A4A"/>
                </a:solidFill>
                <a:latin typeface="Arial"/>
                <a:cs typeface="Arial"/>
              </a:rPr>
              <a:t>needed.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5593079" y="3909059"/>
            <a:ext cx="365760" cy="483234"/>
            <a:chOff x="5593079" y="3909059"/>
            <a:chExt cx="365760" cy="483234"/>
          </a:xfrm>
        </p:grpSpPr>
        <p:sp>
          <p:nvSpPr>
            <p:cNvPr id="13" name="object 13" descr=""/>
            <p:cNvSpPr/>
            <p:nvPr/>
          </p:nvSpPr>
          <p:spPr>
            <a:xfrm>
              <a:off x="5606033" y="3922013"/>
              <a:ext cx="340360" cy="457200"/>
            </a:xfrm>
            <a:custGeom>
              <a:avLst/>
              <a:gdLst/>
              <a:ahLst/>
              <a:cxnLst/>
              <a:rect l="l" t="t" r="r" b="b"/>
              <a:pathLst>
                <a:path w="340360" h="457200">
                  <a:moveTo>
                    <a:pt x="169925" y="0"/>
                  </a:moveTo>
                  <a:lnTo>
                    <a:pt x="169925" y="114300"/>
                  </a:lnTo>
                  <a:lnTo>
                    <a:pt x="0" y="114300"/>
                  </a:lnTo>
                  <a:lnTo>
                    <a:pt x="0" y="342900"/>
                  </a:lnTo>
                  <a:lnTo>
                    <a:pt x="169925" y="342900"/>
                  </a:lnTo>
                  <a:lnTo>
                    <a:pt x="169925" y="457200"/>
                  </a:lnTo>
                  <a:lnTo>
                    <a:pt x="339851" y="228600"/>
                  </a:lnTo>
                  <a:lnTo>
                    <a:pt x="169925" y="0"/>
                  </a:lnTo>
                  <a:close/>
                </a:path>
              </a:pathLst>
            </a:custGeom>
            <a:solidFill>
              <a:srgbClr val="005A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606033" y="3922013"/>
              <a:ext cx="340360" cy="457200"/>
            </a:xfrm>
            <a:custGeom>
              <a:avLst/>
              <a:gdLst/>
              <a:ahLst/>
              <a:cxnLst/>
              <a:rect l="l" t="t" r="r" b="b"/>
              <a:pathLst>
                <a:path w="340360" h="457200">
                  <a:moveTo>
                    <a:pt x="0" y="114300"/>
                  </a:moveTo>
                  <a:lnTo>
                    <a:pt x="169925" y="114300"/>
                  </a:lnTo>
                  <a:lnTo>
                    <a:pt x="169925" y="0"/>
                  </a:lnTo>
                  <a:lnTo>
                    <a:pt x="339851" y="228600"/>
                  </a:lnTo>
                  <a:lnTo>
                    <a:pt x="169925" y="457200"/>
                  </a:lnTo>
                  <a:lnTo>
                    <a:pt x="169925" y="342900"/>
                  </a:lnTo>
                  <a:lnTo>
                    <a:pt x="0" y="342900"/>
                  </a:lnTo>
                  <a:lnTo>
                    <a:pt x="0" y="114300"/>
                  </a:lnTo>
                  <a:close/>
                </a:path>
              </a:pathLst>
            </a:custGeom>
            <a:ln w="25908">
              <a:solidFill>
                <a:srgbClr val="0040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/>
          <p:nvPr/>
        </p:nvSpPr>
        <p:spPr>
          <a:xfrm>
            <a:off x="2344673" y="4659629"/>
            <a:ext cx="0" cy="1701800"/>
          </a:xfrm>
          <a:custGeom>
            <a:avLst/>
            <a:gdLst/>
            <a:ahLst/>
            <a:cxnLst/>
            <a:rect l="l" t="t" r="r" b="b"/>
            <a:pathLst>
              <a:path w="0" h="1701800">
                <a:moveTo>
                  <a:pt x="0" y="0"/>
                </a:moveTo>
                <a:lnTo>
                  <a:pt x="0" y="1701800"/>
                </a:lnTo>
              </a:path>
            </a:pathLst>
          </a:custGeom>
          <a:ln w="38100">
            <a:solidFill>
              <a:srgbClr val="005884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5724905" y="4604765"/>
            <a:ext cx="0" cy="1729105"/>
          </a:xfrm>
          <a:custGeom>
            <a:avLst/>
            <a:gdLst/>
            <a:ahLst/>
            <a:cxnLst/>
            <a:rect l="l" t="t" r="r" b="b"/>
            <a:pathLst>
              <a:path w="0" h="1729104">
                <a:moveTo>
                  <a:pt x="0" y="0"/>
                </a:moveTo>
                <a:lnTo>
                  <a:pt x="0" y="1728787"/>
                </a:lnTo>
              </a:path>
            </a:pathLst>
          </a:custGeom>
          <a:ln w="38100">
            <a:solidFill>
              <a:srgbClr val="005884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9400" y="4552188"/>
            <a:ext cx="1540763" cy="1944624"/>
          </a:xfrm>
          <a:prstGeom prst="rect">
            <a:avLst/>
          </a:prstGeom>
        </p:spPr>
      </p:pic>
      <p:grpSp>
        <p:nvGrpSpPr>
          <p:cNvPr id="18" name="object 18" descr=""/>
          <p:cNvGrpSpPr/>
          <p:nvPr/>
        </p:nvGrpSpPr>
        <p:grpSpPr>
          <a:xfrm>
            <a:off x="80772" y="3401567"/>
            <a:ext cx="2479675" cy="1122045"/>
            <a:chOff x="80772" y="3401567"/>
            <a:chExt cx="2479675" cy="1122045"/>
          </a:xfrm>
        </p:grpSpPr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772" y="3401567"/>
              <a:ext cx="2124456" cy="1121663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2207514" y="3908297"/>
              <a:ext cx="340360" cy="457200"/>
            </a:xfrm>
            <a:custGeom>
              <a:avLst/>
              <a:gdLst/>
              <a:ahLst/>
              <a:cxnLst/>
              <a:rect l="l" t="t" r="r" b="b"/>
              <a:pathLst>
                <a:path w="340360" h="457200">
                  <a:moveTo>
                    <a:pt x="169925" y="0"/>
                  </a:moveTo>
                  <a:lnTo>
                    <a:pt x="169925" y="114300"/>
                  </a:lnTo>
                  <a:lnTo>
                    <a:pt x="0" y="114300"/>
                  </a:lnTo>
                  <a:lnTo>
                    <a:pt x="0" y="342900"/>
                  </a:lnTo>
                  <a:lnTo>
                    <a:pt x="169925" y="342900"/>
                  </a:lnTo>
                  <a:lnTo>
                    <a:pt x="169925" y="457200"/>
                  </a:lnTo>
                  <a:lnTo>
                    <a:pt x="339852" y="228600"/>
                  </a:lnTo>
                  <a:lnTo>
                    <a:pt x="169925" y="0"/>
                  </a:lnTo>
                  <a:close/>
                </a:path>
              </a:pathLst>
            </a:custGeom>
            <a:solidFill>
              <a:srgbClr val="005A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207514" y="3908297"/>
              <a:ext cx="340360" cy="457200"/>
            </a:xfrm>
            <a:custGeom>
              <a:avLst/>
              <a:gdLst/>
              <a:ahLst/>
              <a:cxnLst/>
              <a:rect l="l" t="t" r="r" b="b"/>
              <a:pathLst>
                <a:path w="340360" h="457200">
                  <a:moveTo>
                    <a:pt x="0" y="114300"/>
                  </a:moveTo>
                  <a:lnTo>
                    <a:pt x="169925" y="114300"/>
                  </a:lnTo>
                  <a:lnTo>
                    <a:pt x="169925" y="0"/>
                  </a:lnTo>
                  <a:lnTo>
                    <a:pt x="339852" y="228600"/>
                  </a:lnTo>
                  <a:lnTo>
                    <a:pt x="169925" y="457200"/>
                  </a:lnTo>
                  <a:lnTo>
                    <a:pt x="169925" y="342900"/>
                  </a:lnTo>
                  <a:lnTo>
                    <a:pt x="0" y="342900"/>
                  </a:lnTo>
                  <a:lnTo>
                    <a:pt x="0" y="114300"/>
                  </a:lnTo>
                  <a:close/>
                </a:path>
              </a:pathLst>
            </a:custGeom>
            <a:ln w="25908">
              <a:solidFill>
                <a:srgbClr val="0040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6375444" y="5370093"/>
            <a:ext cx="167005" cy="16637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 sz="1000" spc="-25" b="1">
                <a:solidFill>
                  <a:srgbClr val="252525"/>
                </a:solidFill>
                <a:latin typeface="Arial"/>
                <a:cs typeface="Arial"/>
              </a:rPr>
              <a:t>$$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6629400" y="6316979"/>
            <a:ext cx="1620520" cy="216535"/>
          </a:xfrm>
          <a:custGeom>
            <a:avLst/>
            <a:gdLst/>
            <a:ahLst/>
            <a:cxnLst/>
            <a:rect l="l" t="t" r="r" b="b"/>
            <a:pathLst>
              <a:path w="1620520" h="216534">
                <a:moveTo>
                  <a:pt x="1620011" y="0"/>
                </a:moveTo>
                <a:lnTo>
                  <a:pt x="0" y="0"/>
                </a:lnTo>
                <a:lnTo>
                  <a:pt x="0" y="216408"/>
                </a:lnTo>
                <a:lnTo>
                  <a:pt x="1620011" y="216408"/>
                </a:lnTo>
                <a:lnTo>
                  <a:pt x="162001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6332220" y="4532376"/>
            <a:ext cx="1917700" cy="1964689"/>
          </a:xfrm>
          <a:prstGeom prst="rect">
            <a:avLst/>
          </a:prstGeom>
          <a:ln w="9144">
            <a:solidFill>
              <a:srgbClr val="4A4A4A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850">
              <a:latin typeface="Times New Roman"/>
              <a:cs typeface="Times New Roman"/>
            </a:endParaRPr>
          </a:p>
          <a:p>
            <a:pPr algn="ctr" marR="192405">
              <a:lnSpc>
                <a:spcPct val="100000"/>
              </a:lnSpc>
            </a:pPr>
            <a:r>
              <a:rPr dirty="0" sz="800" spc="-10" b="1">
                <a:solidFill>
                  <a:srgbClr val="252525"/>
                </a:solidFill>
                <a:latin typeface="Arial"/>
                <a:cs typeface="Arial"/>
              </a:rPr>
              <a:t>Manual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Arial"/>
              <a:cs typeface="Arial"/>
            </a:endParaRPr>
          </a:p>
          <a:p>
            <a:pPr algn="r" marR="190500">
              <a:lnSpc>
                <a:spcPct val="100000"/>
              </a:lnSpc>
            </a:pPr>
            <a:r>
              <a:rPr dirty="0" sz="800" spc="-10" b="1">
                <a:solidFill>
                  <a:srgbClr val="252525"/>
                </a:solidFill>
                <a:latin typeface="Arial"/>
                <a:cs typeface="Arial"/>
              </a:rPr>
              <a:t>Mixed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 marL="690245" marR="142240" indent="506730">
              <a:lnSpc>
                <a:spcPct val="279700"/>
              </a:lnSpc>
              <a:spcBef>
                <a:spcPts val="515"/>
              </a:spcBef>
            </a:pPr>
            <a:r>
              <a:rPr dirty="0" sz="800" b="1">
                <a:solidFill>
                  <a:srgbClr val="252525"/>
                </a:solidFill>
                <a:latin typeface="Arial"/>
                <a:cs typeface="Arial"/>
              </a:rPr>
              <a:t>Text</a:t>
            </a:r>
            <a:r>
              <a:rPr dirty="0" sz="800" spc="-15" b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800" spc="-10" b="1">
                <a:solidFill>
                  <a:srgbClr val="252525"/>
                </a:solidFill>
                <a:latin typeface="Arial"/>
                <a:cs typeface="Arial"/>
              </a:rPr>
              <a:t>Mining </a:t>
            </a:r>
            <a:r>
              <a:rPr dirty="0" sz="800" b="1">
                <a:solidFill>
                  <a:srgbClr val="252525"/>
                </a:solidFill>
                <a:latin typeface="Arial"/>
                <a:cs typeface="Arial"/>
              </a:rPr>
              <a:t>Time</a:t>
            </a:r>
            <a:r>
              <a:rPr dirty="0" sz="800" spc="-15" b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800" b="1">
                <a:solidFill>
                  <a:srgbClr val="252525"/>
                </a:solidFill>
                <a:latin typeface="Arial"/>
                <a:cs typeface="Arial"/>
              </a:rPr>
              <a:t>and</a:t>
            </a:r>
            <a:r>
              <a:rPr dirty="0" sz="800" spc="-10" b="1">
                <a:solidFill>
                  <a:srgbClr val="252525"/>
                </a:solidFill>
                <a:latin typeface="Arial"/>
                <a:cs typeface="Arial"/>
              </a:rPr>
              <a:t> volume</a:t>
            </a:r>
            <a:endParaRPr sz="800">
              <a:latin typeface="Arial"/>
              <a:cs typeface="Arial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6577698" y="4640579"/>
            <a:ext cx="1593850" cy="1728470"/>
          </a:xfrm>
          <a:custGeom>
            <a:avLst/>
            <a:gdLst/>
            <a:ahLst/>
            <a:cxnLst/>
            <a:rect l="l" t="t" r="r" b="b"/>
            <a:pathLst>
              <a:path w="1593850" h="1728470">
                <a:moveTo>
                  <a:pt x="1593608" y="1676412"/>
                </a:moveTo>
                <a:lnTo>
                  <a:pt x="1582712" y="1670050"/>
                </a:lnTo>
                <a:lnTo>
                  <a:pt x="1504962" y="1624698"/>
                </a:lnTo>
                <a:lnTo>
                  <a:pt x="1501025" y="1625714"/>
                </a:lnTo>
                <a:lnTo>
                  <a:pt x="1497469" y="1631784"/>
                </a:lnTo>
                <a:lnTo>
                  <a:pt x="1498612" y="1635671"/>
                </a:lnTo>
                <a:lnTo>
                  <a:pt x="1501533" y="1637436"/>
                </a:lnTo>
                <a:lnTo>
                  <a:pt x="1557413" y="1670050"/>
                </a:lnTo>
                <a:lnTo>
                  <a:pt x="58051" y="1670050"/>
                </a:lnTo>
                <a:lnTo>
                  <a:pt x="58051" y="36004"/>
                </a:lnTo>
                <a:lnTo>
                  <a:pt x="92468" y="94996"/>
                </a:lnTo>
                <a:lnTo>
                  <a:pt x="96278" y="96012"/>
                </a:lnTo>
                <a:lnTo>
                  <a:pt x="102374" y="92456"/>
                </a:lnTo>
                <a:lnTo>
                  <a:pt x="103390" y="88646"/>
                </a:lnTo>
                <a:lnTo>
                  <a:pt x="59029" y="12573"/>
                </a:lnTo>
                <a:lnTo>
                  <a:pt x="51701" y="0"/>
                </a:lnTo>
                <a:lnTo>
                  <a:pt x="0" y="88646"/>
                </a:lnTo>
                <a:lnTo>
                  <a:pt x="1028" y="92456"/>
                </a:lnTo>
                <a:lnTo>
                  <a:pt x="7124" y="96012"/>
                </a:lnTo>
                <a:lnTo>
                  <a:pt x="10922" y="94996"/>
                </a:lnTo>
                <a:lnTo>
                  <a:pt x="45351" y="36004"/>
                </a:lnTo>
                <a:lnTo>
                  <a:pt x="45351" y="1677022"/>
                </a:lnTo>
                <a:lnTo>
                  <a:pt x="51701" y="1677022"/>
                </a:lnTo>
                <a:lnTo>
                  <a:pt x="51701" y="1682750"/>
                </a:lnTo>
                <a:lnTo>
                  <a:pt x="1557439" y="1682750"/>
                </a:lnTo>
                <a:lnTo>
                  <a:pt x="1568323" y="1676412"/>
                </a:lnTo>
                <a:lnTo>
                  <a:pt x="1501533" y="1715363"/>
                </a:lnTo>
                <a:lnTo>
                  <a:pt x="1498612" y="1717128"/>
                </a:lnTo>
                <a:lnTo>
                  <a:pt x="1497469" y="1721015"/>
                </a:lnTo>
                <a:lnTo>
                  <a:pt x="1501025" y="1727073"/>
                </a:lnTo>
                <a:lnTo>
                  <a:pt x="1504962" y="1728101"/>
                </a:lnTo>
                <a:lnTo>
                  <a:pt x="1582712" y="1682750"/>
                </a:lnTo>
                <a:lnTo>
                  <a:pt x="1593608" y="1676412"/>
                </a:lnTo>
                <a:close/>
              </a:path>
            </a:pathLst>
          </a:custGeom>
          <a:solidFill>
            <a:srgbClr val="4A4A4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" name="object 26" descr=""/>
          <p:cNvGrpSpPr/>
          <p:nvPr/>
        </p:nvGrpSpPr>
        <p:grpSpPr>
          <a:xfrm>
            <a:off x="3444176" y="4344860"/>
            <a:ext cx="1087120" cy="2513330"/>
            <a:chOff x="3444176" y="4344860"/>
            <a:chExt cx="1087120" cy="2513330"/>
          </a:xfrm>
        </p:grpSpPr>
        <p:sp>
          <p:nvSpPr>
            <p:cNvPr id="27" name="object 27" descr=""/>
            <p:cNvSpPr/>
            <p:nvPr/>
          </p:nvSpPr>
          <p:spPr>
            <a:xfrm>
              <a:off x="3541776" y="6016751"/>
              <a:ext cx="864235" cy="841375"/>
            </a:xfrm>
            <a:custGeom>
              <a:avLst/>
              <a:gdLst/>
              <a:ahLst/>
              <a:cxnLst/>
              <a:rect l="l" t="t" r="r" b="b"/>
              <a:pathLst>
                <a:path w="864235" h="841375">
                  <a:moveTo>
                    <a:pt x="432053" y="0"/>
                  </a:moveTo>
                  <a:lnTo>
                    <a:pt x="384974" y="2468"/>
                  </a:lnTo>
                  <a:lnTo>
                    <a:pt x="339363" y="9701"/>
                  </a:lnTo>
                  <a:lnTo>
                    <a:pt x="295485" y="21443"/>
                  </a:lnTo>
                  <a:lnTo>
                    <a:pt x="253603" y="37437"/>
                  </a:lnTo>
                  <a:lnTo>
                    <a:pt x="213980" y="57426"/>
                  </a:lnTo>
                  <a:lnTo>
                    <a:pt x="176881" y="81154"/>
                  </a:lnTo>
                  <a:lnTo>
                    <a:pt x="142568" y="108365"/>
                  </a:lnTo>
                  <a:lnTo>
                    <a:pt x="111305" y="138801"/>
                  </a:lnTo>
                  <a:lnTo>
                    <a:pt x="83356" y="172207"/>
                  </a:lnTo>
                  <a:lnTo>
                    <a:pt x="58984" y="208325"/>
                  </a:lnTo>
                  <a:lnTo>
                    <a:pt x="38452" y="246899"/>
                  </a:lnTo>
                  <a:lnTo>
                    <a:pt x="22024" y="287672"/>
                  </a:lnTo>
                  <a:lnTo>
                    <a:pt x="9964" y="330389"/>
                  </a:lnTo>
                  <a:lnTo>
                    <a:pt x="2535" y="374791"/>
                  </a:lnTo>
                  <a:lnTo>
                    <a:pt x="0" y="420624"/>
                  </a:lnTo>
                  <a:lnTo>
                    <a:pt x="2535" y="466456"/>
                  </a:lnTo>
                  <a:lnTo>
                    <a:pt x="9964" y="510858"/>
                  </a:lnTo>
                  <a:lnTo>
                    <a:pt x="22024" y="553575"/>
                  </a:lnTo>
                  <a:lnTo>
                    <a:pt x="38452" y="594348"/>
                  </a:lnTo>
                  <a:lnTo>
                    <a:pt x="58984" y="632922"/>
                  </a:lnTo>
                  <a:lnTo>
                    <a:pt x="83356" y="669040"/>
                  </a:lnTo>
                  <a:lnTo>
                    <a:pt x="111305" y="702446"/>
                  </a:lnTo>
                  <a:lnTo>
                    <a:pt x="142568" y="732882"/>
                  </a:lnTo>
                  <a:lnTo>
                    <a:pt x="176881" y="760093"/>
                  </a:lnTo>
                  <a:lnTo>
                    <a:pt x="213980" y="783821"/>
                  </a:lnTo>
                  <a:lnTo>
                    <a:pt x="253603" y="803810"/>
                  </a:lnTo>
                  <a:lnTo>
                    <a:pt x="295485" y="819804"/>
                  </a:lnTo>
                  <a:lnTo>
                    <a:pt x="339363" y="831546"/>
                  </a:lnTo>
                  <a:lnTo>
                    <a:pt x="384974" y="838779"/>
                  </a:lnTo>
                  <a:lnTo>
                    <a:pt x="432053" y="841248"/>
                  </a:lnTo>
                  <a:lnTo>
                    <a:pt x="479133" y="838779"/>
                  </a:lnTo>
                  <a:lnTo>
                    <a:pt x="524744" y="831546"/>
                  </a:lnTo>
                  <a:lnTo>
                    <a:pt x="568622" y="819804"/>
                  </a:lnTo>
                  <a:lnTo>
                    <a:pt x="610504" y="803810"/>
                  </a:lnTo>
                  <a:lnTo>
                    <a:pt x="650127" y="783821"/>
                  </a:lnTo>
                  <a:lnTo>
                    <a:pt x="687226" y="760093"/>
                  </a:lnTo>
                  <a:lnTo>
                    <a:pt x="721539" y="732882"/>
                  </a:lnTo>
                  <a:lnTo>
                    <a:pt x="752802" y="702446"/>
                  </a:lnTo>
                  <a:lnTo>
                    <a:pt x="780751" y="669040"/>
                  </a:lnTo>
                  <a:lnTo>
                    <a:pt x="805123" y="632922"/>
                  </a:lnTo>
                  <a:lnTo>
                    <a:pt x="825655" y="594348"/>
                  </a:lnTo>
                  <a:lnTo>
                    <a:pt x="842083" y="553575"/>
                  </a:lnTo>
                  <a:lnTo>
                    <a:pt x="854143" y="510858"/>
                  </a:lnTo>
                  <a:lnTo>
                    <a:pt x="861572" y="466456"/>
                  </a:lnTo>
                  <a:lnTo>
                    <a:pt x="864108" y="420624"/>
                  </a:lnTo>
                  <a:lnTo>
                    <a:pt x="861572" y="374791"/>
                  </a:lnTo>
                  <a:lnTo>
                    <a:pt x="854143" y="330389"/>
                  </a:lnTo>
                  <a:lnTo>
                    <a:pt x="842083" y="287672"/>
                  </a:lnTo>
                  <a:lnTo>
                    <a:pt x="825655" y="246899"/>
                  </a:lnTo>
                  <a:lnTo>
                    <a:pt x="805123" y="208325"/>
                  </a:lnTo>
                  <a:lnTo>
                    <a:pt x="780751" y="172207"/>
                  </a:lnTo>
                  <a:lnTo>
                    <a:pt x="752802" y="138801"/>
                  </a:lnTo>
                  <a:lnTo>
                    <a:pt x="721539" y="108365"/>
                  </a:lnTo>
                  <a:lnTo>
                    <a:pt x="687226" y="81154"/>
                  </a:lnTo>
                  <a:lnTo>
                    <a:pt x="650127" y="57426"/>
                  </a:lnTo>
                  <a:lnTo>
                    <a:pt x="610504" y="37437"/>
                  </a:lnTo>
                  <a:lnTo>
                    <a:pt x="568622" y="21443"/>
                  </a:lnTo>
                  <a:lnTo>
                    <a:pt x="524744" y="9701"/>
                  </a:lnTo>
                  <a:lnTo>
                    <a:pt x="479133" y="2468"/>
                  </a:lnTo>
                  <a:lnTo>
                    <a:pt x="432053" y="0"/>
                  </a:lnTo>
                  <a:close/>
                </a:path>
              </a:pathLst>
            </a:custGeom>
            <a:solidFill>
              <a:srgbClr val="3838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457194" y="4357877"/>
              <a:ext cx="1061085" cy="1061085"/>
            </a:xfrm>
            <a:custGeom>
              <a:avLst/>
              <a:gdLst/>
              <a:ahLst/>
              <a:cxnLst/>
              <a:rect l="l" t="t" r="r" b="b"/>
              <a:pathLst>
                <a:path w="1061085" h="1061085">
                  <a:moveTo>
                    <a:pt x="530351" y="0"/>
                  </a:moveTo>
                  <a:lnTo>
                    <a:pt x="482085" y="2167"/>
                  </a:lnTo>
                  <a:lnTo>
                    <a:pt x="435031" y="8546"/>
                  </a:lnTo>
                  <a:lnTo>
                    <a:pt x="389378" y="18947"/>
                  </a:lnTo>
                  <a:lnTo>
                    <a:pt x="345312" y="33185"/>
                  </a:lnTo>
                  <a:lnTo>
                    <a:pt x="303021" y="51071"/>
                  </a:lnTo>
                  <a:lnTo>
                    <a:pt x="262692" y="72418"/>
                  </a:lnTo>
                  <a:lnTo>
                    <a:pt x="224513" y="97039"/>
                  </a:lnTo>
                  <a:lnTo>
                    <a:pt x="188670" y="124746"/>
                  </a:lnTo>
                  <a:lnTo>
                    <a:pt x="155352" y="155352"/>
                  </a:lnTo>
                  <a:lnTo>
                    <a:pt x="124746" y="188670"/>
                  </a:lnTo>
                  <a:lnTo>
                    <a:pt x="97039" y="224513"/>
                  </a:lnTo>
                  <a:lnTo>
                    <a:pt x="72418" y="262692"/>
                  </a:lnTo>
                  <a:lnTo>
                    <a:pt x="51071" y="303021"/>
                  </a:lnTo>
                  <a:lnTo>
                    <a:pt x="33185" y="345312"/>
                  </a:lnTo>
                  <a:lnTo>
                    <a:pt x="18947" y="389378"/>
                  </a:lnTo>
                  <a:lnTo>
                    <a:pt x="8546" y="435031"/>
                  </a:lnTo>
                  <a:lnTo>
                    <a:pt x="2167" y="482085"/>
                  </a:lnTo>
                  <a:lnTo>
                    <a:pt x="0" y="530352"/>
                  </a:lnTo>
                  <a:lnTo>
                    <a:pt x="2167" y="578618"/>
                  </a:lnTo>
                  <a:lnTo>
                    <a:pt x="8546" y="625672"/>
                  </a:lnTo>
                  <a:lnTo>
                    <a:pt x="18947" y="671325"/>
                  </a:lnTo>
                  <a:lnTo>
                    <a:pt x="33185" y="715391"/>
                  </a:lnTo>
                  <a:lnTo>
                    <a:pt x="51071" y="757682"/>
                  </a:lnTo>
                  <a:lnTo>
                    <a:pt x="72418" y="798011"/>
                  </a:lnTo>
                  <a:lnTo>
                    <a:pt x="97039" y="836190"/>
                  </a:lnTo>
                  <a:lnTo>
                    <a:pt x="124746" y="872033"/>
                  </a:lnTo>
                  <a:lnTo>
                    <a:pt x="155352" y="905351"/>
                  </a:lnTo>
                  <a:lnTo>
                    <a:pt x="188670" y="935957"/>
                  </a:lnTo>
                  <a:lnTo>
                    <a:pt x="224513" y="963664"/>
                  </a:lnTo>
                  <a:lnTo>
                    <a:pt x="262692" y="988285"/>
                  </a:lnTo>
                  <a:lnTo>
                    <a:pt x="303021" y="1009632"/>
                  </a:lnTo>
                  <a:lnTo>
                    <a:pt x="345312" y="1027518"/>
                  </a:lnTo>
                  <a:lnTo>
                    <a:pt x="389378" y="1041756"/>
                  </a:lnTo>
                  <a:lnTo>
                    <a:pt x="435031" y="1052157"/>
                  </a:lnTo>
                  <a:lnTo>
                    <a:pt x="482085" y="1058536"/>
                  </a:lnTo>
                  <a:lnTo>
                    <a:pt x="530351" y="1060704"/>
                  </a:lnTo>
                  <a:lnTo>
                    <a:pt x="578618" y="1058536"/>
                  </a:lnTo>
                  <a:lnTo>
                    <a:pt x="625672" y="1052157"/>
                  </a:lnTo>
                  <a:lnTo>
                    <a:pt x="671325" y="1041756"/>
                  </a:lnTo>
                  <a:lnTo>
                    <a:pt x="715391" y="1027518"/>
                  </a:lnTo>
                  <a:lnTo>
                    <a:pt x="757682" y="1009632"/>
                  </a:lnTo>
                  <a:lnTo>
                    <a:pt x="798011" y="988285"/>
                  </a:lnTo>
                  <a:lnTo>
                    <a:pt x="836190" y="963664"/>
                  </a:lnTo>
                  <a:lnTo>
                    <a:pt x="872033" y="935957"/>
                  </a:lnTo>
                  <a:lnTo>
                    <a:pt x="905351" y="905351"/>
                  </a:lnTo>
                  <a:lnTo>
                    <a:pt x="935957" y="872033"/>
                  </a:lnTo>
                  <a:lnTo>
                    <a:pt x="963664" y="836190"/>
                  </a:lnTo>
                  <a:lnTo>
                    <a:pt x="988285" y="798011"/>
                  </a:lnTo>
                  <a:lnTo>
                    <a:pt x="1009632" y="757682"/>
                  </a:lnTo>
                  <a:lnTo>
                    <a:pt x="1027518" y="715391"/>
                  </a:lnTo>
                  <a:lnTo>
                    <a:pt x="1041756" y="671325"/>
                  </a:lnTo>
                  <a:lnTo>
                    <a:pt x="1052157" y="625672"/>
                  </a:lnTo>
                  <a:lnTo>
                    <a:pt x="1058536" y="578618"/>
                  </a:lnTo>
                  <a:lnTo>
                    <a:pt x="1060703" y="530352"/>
                  </a:lnTo>
                  <a:lnTo>
                    <a:pt x="1058536" y="482085"/>
                  </a:lnTo>
                  <a:lnTo>
                    <a:pt x="1052157" y="435031"/>
                  </a:lnTo>
                  <a:lnTo>
                    <a:pt x="1041756" y="389378"/>
                  </a:lnTo>
                  <a:lnTo>
                    <a:pt x="1027518" y="345312"/>
                  </a:lnTo>
                  <a:lnTo>
                    <a:pt x="1009632" y="303021"/>
                  </a:lnTo>
                  <a:lnTo>
                    <a:pt x="988285" y="262692"/>
                  </a:lnTo>
                  <a:lnTo>
                    <a:pt x="963664" y="224513"/>
                  </a:lnTo>
                  <a:lnTo>
                    <a:pt x="935957" y="188670"/>
                  </a:lnTo>
                  <a:lnTo>
                    <a:pt x="905351" y="155352"/>
                  </a:lnTo>
                  <a:lnTo>
                    <a:pt x="872033" y="124746"/>
                  </a:lnTo>
                  <a:lnTo>
                    <a:pt x="836190" y="97039"/>
                  </a:lnTo>
                  <a:lnTo>
                    <a:pt x="798011" y="72418"/>
                  </a:lnTo>
                  <a:lnTo>
                    <a:pt x="757682" y="51071"/>
                  </a:lnTo>
                  <a:lnTo>
                    <a:pt x="715391" y="33185"/>
                  </a:lnTo>
                  <a:lnTo>
                    <a:pt x="671325" y="18947"/>
                  </a:lnTo>
                  <a:lnTo>
                    <a:pt x="625672" y="8546"/>
                  </a:lnTo>
                  <a:lnTo>
                    <a:pt x="578618" y="2167"/>
                  </a:lnTo>
                  <a:lnTo>
                    <a:pt x="530351" y="0"/>
                  </a:lnTo>
                  <a:close/>
                </a:path>
              </a:pathLst>
            </a:custGeom>
            <a:solidFill>
              <a:srgbClr val="005A84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457194" y="4357877"/>
              <a:ext cx="1061085" cy="1061085"/>
            </a:xfrm>
            <a:custGeom>
              <a:avLst/>
              <a:gdLst/>
              <a:ahLst/>
              <a:cxnLst/>
              <a:rect l="l" t="t" r="r" b="b"/>
              <a:pathLst>
                <a:path w="1061085" h="1061085">
                  <a:moveTo>
                    <a:pt x="0" y="530352"/>
                  </a:moveTo>
                  <a:lnTo>
                    <a:pt x="2167" y="482085"/>
                  </a:lnTo>
                  <a:lnTo>
                    <a:pt x="8546" y="435031"/>
                  </a:lnTo>
                  <a:lnTo>
                    <a:pt x="18947" y="389378"/>
                  </a:lnTo>
                  <a:lnTo>
                    <a:pt x="33185" y="345312"/>
                  </a:lnTo>
                  <a:lnTo>
                    <a:pt x="51071" y="303021"/>
                  </a:lnTo>
                  <a:lnTo>
                    <a:pt x="72418" y="262692"/>
                  </a:lnTo>
                  <a:lnTo>
                    <a:pt x="97039" y="224513"/>
                  </a:lnTo>
                  <a:lnTo>
                    <a:pt x="124746" y="188670"/>
                  </a:lnTo>
                  <a:lnTo>
                    <a:pt x="155352" y="155352"/>
                  </a:lnTo>
                  <a:lnTo>
                    <a:pt x="188670" y="124746"/>
                  </a:lnTo>
                  <a:lnTo>
                    <a:pt x="224513" y="97039"/>
                  </a:lnTo>
                  <a:lnTo>
                    <a:pt x="262692" y="72418"/>
                  </a:lnTo>
                  <a:lnTo>
                    <a:pt x="303021" y="51071"/>
                  </a:lnTo>
                  <a:lnTo>
                    <a:pt x="345312" y="33185"/>
                  </a:lnTo>
                  <a:lnTo>
                    <a:pt x="389378" y="18947"/>
                  </a:lnTo>
                  <a:lnTo>
                    <a:pt x="435031" y="8546"/>
                  </a:lnTo>
                  <a:lnTo>
                    <a:pt x="482085" y="2167"/>
                  </a:lnTo>
                  <a:lnTo>
                    <a:pt x="530351" y="0"/>
                  </a:lnTo>
                  <a:lnTo>
                    <a:pt x="578618" y="2167"/>
                  </a:lnTo>
                  <a:lnTo>
                    <a:pt x="625672" y="8546"/>
                  </a:lnTo>
                  <a:lnTo>
                    <a:pt x="671325" y="18947"/>
                  </a:lnTo>
                  <a:lnTo>
                    <a:pt x="715391" y="33185"/>
                  </a:lnTo>
                  <a:lnTo>
                    <a:pt x="757682" y="51071"/>
                  </a:lnTo>
                  <a:lnTo>
                    <a:pt x="798011" y="72418"/>
                  </a:lnTo>
                  <a:lnTo>
                    <a:pt x="836190" y="97039"/>
                  </a:lnTo>
                  <a:lnTo>
                    <a:pt x="872033" y="124746"/>
                  </a:lnTo>
                  <a:lnTo>
                    <a:pt x="905351" y="155352"/>
                  </a:lnTo>
                  <a:lnTo>
                    <a:pt x="935957" y="188670"/>
                  </a:lnTo>
                  <a:lnTo>
                    <a:pt x="963664" y="224513"/>
                  </a:lnTo>
                  <a:lnTo>
                    <a:pt x="988285" y="262692"/>
                  </a:lnTo>
                  <a:lnTo>
                    <a:pt x="1009632" y="303021"/>
                  </a:lnTo>
                  <a:lnTo>
                    <a:pt x="1027518" y="345312"/>
                  </a:lnTo>
                  <a:lnTo>
                    <a:pt x="1041756" y="389378"/>
                  </a:lnTo>
                  <a:lnTo>
                    <a:pt x="1052157" y="435031"/>
                  </a:lnTo>
                  <a:lnTo>
                    <a:pt x="1058536" y="482085"/>
                  </a:lnTo>
                  <a:lnTo>
                    <a:pt x="1060703" y="530352"/>
                  </a:lnTo>
                  <a:lnTo>
                    <a:pt x="1058536" y="578618"/>
                  </a:lnTo>
                  <a:lnTo>
                    <a:pt x="1052157" y="625672"/>
                  </a:lnTo>
                  <a:lnTo>
                    <a:pt x="1041756" y="671325"/>
                  </a:lnTo>
                  <a:lnTo>
                    <a:pt x="1027518" y="715391"/>
                  </a:lnTo>
                  <a:lnTo>
                    <a:pt x="1009632" y="757682"/>
                  </a:lnTo>
                  <a:lnTo>
                    <a:pt x="988285" y="798011"/>
                  </a:lnTo>
                  <a:lnTo>
                    <a:pt x="963664" y="836190"/>
                  </a:lnTo>
                  <a:lnTo>
                    <a:pt x="935957" y="872033"/>
                  </a:lnTo>
                  <a:lnTo>
                    <a:pt x="905351" y="905351"/>
                  </a:lnTo>
                  <a:lnTo>
                    <a:pt x="872033" y="935957"/>
                  </a:lnTo>
                  <a:lnTo>
                    <a:pt x="836190" y="963664"/>
                  </a:lnTo>
                  <a:lnTo>
                    <a:pt x="798011" y="988285"/>
                  </a:lnTo>
                  <a:lnTo>
                    <a:pt x="757682" y="1009632"/>
                  </a:lnTo>
                  <a:lnTo>
                    <a:pt x="715391" y="1027518"/>
                  </a:lnTo>
                  <a:lnTo>
                    <a:pt x="671325" y="1041756"/>
                  </a:lnTo>
                  <a:lnTo>
                    <a:pt x="625672" y="1052157"/>
                  </a:lnTo>
                  <a:lnTo>
                    <a:pt x="578618" y="1058536"/>
                  </a:lnTo>
                  <a:lnTo>
                    <a:pt x="530351" y="1060704"/>
                  </a:lnTo>
                  <a:lnTo>
                    <a:pt x="482085" y="1058536"/>
                  </a:lnTo>
                  <a:lnTo>
                    <a:pt x="435031" y="1052157"/>
                  </a:lnTo>
                  <a:lnTo>
                    <a:pt x="389378" y="1041756"/>
                  </a:lnTo>
                  <a:lnTo>
                    <a:pt x="345312" y="1027518"/>
                  </a:lnTo>
                  <a:lnTo>
                    <a:pt x="303021" y="1009632"/>
                  </a:lnTo>
                  <a:lnTo>
                    <a:pt x="262692" y="988285"/>
                  </a:lnTo>
                  <a:lnTo>
                    <a:pt x="224513" y="963664"/>
                  </a:lnTo>
                  <a:lnTo>
                    <a:pt x="188670" y="935957"/>
                  </a:lnTo>
                  <a:lnTo>
                    <a:pt x="155352" y="905351"/>
                  </a:lnTo>
                  <a:lnTo>
                    <a:pt x="124746" y="872033"/>
                  </a:lnTo>
                  <a:lnTo>
                    <a:pt x="97039" y="836190"/>
                  </a:lnTo>
                  <a:lnTo>
                    <a:pt x="72418" y="798011"/>
                  </a:lnTo>
                  <a:lnTo>
                    <a:pt x="51071" y="757682"/>
                  </a:lnTo>
                  <a:lnTo>
                    <a:pt x="33185" y="715391"/>
                  </a:lnTo>
                  <a:lnTo>
                    <a:pt x="18947" y="671325"/>
                  </a:lnTo>
                  <a:lnTo>
                    <a:pt x="8546" y="625672"/>
                  </a:lnTo>
                  <a:lnTo>
                    <a:pt x="2167" y="578618"/>
                  </a:lnTo>
                  <a:lnTo>
                    <a:pt x="0" y="530352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3726560" y="4631817"/>
            <a:ext cx="521334" cy="280035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2700" marR="5080" indent="100330">
              <a:lnSpc>
                <a:spcPts val="919"/>
              </a:lnSpc>
              <a:spcBef>
                <a:spcPts val="260"/>
              </a:spcBef>
            </a:pPr>
            <a:r>
              <a:rPr dirty="0" sz="900" spc="-10">
                <a:solidFill>
                  <a:srgbClr val="4A4A4A"/>
                </a:solidFill>
                <a:latin typeface="Arial"/>
                <a:cs typeface="Arial"/>
              </a:rPr>
              <a:t>Client taxonomy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3826700" y="5007800"/>
            <a:ext cx="1087120" cy="1087120"/>
            <a:chOff x="3826700" y="5007800"/>
            <a:chExt cx="1087120" cy="1087120"/>
          </a:xfrm>
        </p:grpSpPr>
        <p:sp>
          <p:nvSpPr>
            <p:cNvPr id="32" name="object 32" descr=""/>
            <p:cNvSpPr/>
            <p:nvPr/>
          </p:nvSpPr>
          <p:spPr>
            <a:xfrm>
              <a:off x="3839718" y="5020818"/>
              <a:ext cx="1061085" cy="1061085"/>
            </a:xfrm>
            <a:custGeom>
              <a:avLst/>
              <a:gdLst/>
              <a:ahLst/>
              <a:cxnLst/>
              <a:rect l="l" t="t" r="r" b="b"/>
              <a:pathLst>
                <a:path w="1061085" h="1061085">
                  <a:moveTo>
                    <a:pt x="530352" y="0"/>
                  </a:moveTo>
                  <a:lnTo>
                    <a:pt x="482085" y="2167"/>
                  </a:lnTo>
                  <a:lnTo>
                    <a:pt x="435031" y="8546"/>
                  </a:lnTo>
                  <a:lnTo>
                    <a:pt x="389378" y="18947"/>
                  </a:lnTo>
                  <a:lnTo>
                    <a:pt x="345312" y="33185"/>
                  </a:lnTo>
                  <a:lnTo>
                    <a:pt x="303021" y="51071"/>
                  </a:lnTo>
                  <a:lnTo>
                    <a:pt x="262692" y="72418"/>
                  </a:lnTo>
                  <a:lnTo>
                    <a:pt x="224513" y="97039"/>
                  </a:lnTo>
                  <a:lnTo>
                    <a:pt x="188670" y="124746"/>
                  </a:lnTo>
                  <a:lnTo>
                    <a:pt x="155352" y="155352"/>
                  </a:lnTo>
                  <a:lnTo>
                    <a:pt x="124746" y="188670"/>
                  </a:lnTo>
                  <a:lnTo>
                    <a:pt x="97039" y="224513"/>
                  </a:lnTo>
                  <a:lnTo>
                    <a:pt x="72418" y="262692"/>
                  </a:lnTo>
                  <a:lnTo>
                    <a:pt x="51071" y="303021"/>
                  </a:lnTo>
                  <a:lnTo>
                    <a:pt x="33185" y="345312"/>
                  </a:lnTo>
                  <a:lnTo>
                    <a:pt x="18947" y="389378"/>
                  </a:lnTo>
                  <a:lnTo>
                    <a:pt x="8546" y="435031"/>
                  </a:lnTo>
                  <a:lnTo>
                    <a:pt x="2167" y="482085"/>
                  </a:lnTo>
                  <a:lnTo>
                    <a:pt x="0" y="530351"/>
                  </a:lnTo>
                  <a:lnTo>
                    <a:pt x="2167" y="578624"/>
                  </a:lnTo>
                  <a:lnTo>
                    <a:pt x="8546" y="625682"/>
                  </a:lnTo>
                  <a:lnTo>
                    <a:pt x="18947" y="671338"/>
                  </a:lnTo>
                  <a:lnTo>
                    <a:pt x="33185" y="715406"/>
                  </a:lnTo>
                  <a:lnTo>
                    <a:pt x="51071" y="757699"/>
                  </a:lnTo>
                  <a:lnTo>
                    <a:pt x="72418" y="798028"/>
                  </a:lnTo>
                  <a:lnTo>
                    <a:pt x="97039" y="836207"/>
                  </a:lnTo>
                  <a:lnTo>
                    <a:pt x="124746" y="872048"/>
                  </a:lnTo>
                  <a:lnTo>
                    <a:pt x="155352" y="905365"/>
                  </a:lnTo>
                  <a:lnTo>
                    <a:pt x="188670" y="935970"/>
                  </a:lnTo>
                  <a:lnTo>
                    <a:pt x="224513" y="963675"/>
                  </a:lnTo>
                  <a:lnTo>
                    <a:pt x="262692" y="988294"/>
                  </a:lnTo>
                  <a:lnTo>
                    <a:pt x="303021" y="1009639"/>
                  </a:lnTo>
                  <a:lnTo>
                    <a:pt x="345312" y="1027523"/>
                  </a:lnTo>
                  <a:lnTo>
                    <a:pt x="389378" y="1041758"/>
                  </a:lnTo>
                  <a:lnTo>
                    <a:pt x="435031" y="1052159"/>
                  </a:lnTo>
                  <a:lnTo>
                    <a:pt x="482085" y="1058536"/>
                  </a:lnTo>
                  <a:lnTo>
                    <a:pt x="530352" y="1060703"/>
                  </a:lnTo>
                  <a:lnTo>
                    <a:pt x="578618" y="1058536"/>
                  </a:lnTo>
                  <a:lnTo>
                    <a:pt x="625672" y="1052159"/>
                  </a:lnTo>
                  <a:lnTo>
                    <a:pt x="671325" y="1041758"/>
                  </a:lnTo>
                  <a:lnTo>
                    <a:pt x="715391" y="1027523"/>
                  </a:lnTo>
                  <a:lnTo>
                    <a:pt x="757682" y="1009639"/>
                  </a:lnTo>
                  <a:lnTo>
                    <a:pt x="798011" y="988294"/>
                  </a:lnTo>
                  <a:lnTo>
                    <a:pt x="836190" y="963675"/>
                  </a:lnTo>
                  <a:lnTo>
                    <a:pt x="872033" y="935970"/>
                  </a:lnTo>
                  <a:lnTo>
                    <a:pt x="905351" y="905365"/>
                  </a:lnTo>
                  <a:lnTo>
                    <a:pt x="935957" y="872048"/>
                  </a:lnTo>
                  <a:lnTo>
                    <a:pt x="963664" y="836207"/>
                  </a:lnTo>
                  <a:lnTo>
                    <a:pt x="988285" y="798028"/>
                  </a:lnTo>
                  <a:lnTo>
                    <a:pt x="1009632" y="757699"/>
                  </a:lnTo>
                  <a:lnTo>
                    <a:pt x="1027518" y="715406"/>
                  </a:lnTo>
                  <a:lnTo>
                    <a:pt x="1041756" y="671338"/>
                  </a:lnTo>
                  <a:lnTo>
                    <a:pt x="1052157" y="625682"/>
                  </a:lnTo>
                  <a:lnTo>
                    <a:pt x="1058536" y="578624"/>
                  </a:lnTo>
                  <a:lnTo>
                    <a:pt x="1060704" y="530351"/>
                  </a:lnTo>
                  <a:lnTo>
                    <a:pt x="1058536" y="482085"/>
                  </a:lnTo>
                  <a:lnTo>
                    <a:pt x="1052157" y="435031"/>
                  </a:lnTo>
                  <a:lnTo>
                    <a:pt x="1041756" y="389378"/>
                  </a:lnTo>
                  <a:lnTo>
                    <a:pt x="1027518" y="345312"/>
                  </a:lnTo>
                  <a:lnTo>
                    <a:pt x="1009632" y="303021"/>
                  </a:lnTo>
                  <a:lnTo>
                    <a:pt x="988285" y="262692"/>
                  </a:lnTo>
                  <a:lnTo>
                    <a:pt x="963664" y="224513"/>
                  </a:lnTo>
                  <a:lnTo>
                    <a:pt x="935957" y="188670"/>
                  </a:lnTo>
                  <a:lnTo>
                    <a:pt x="905351" y="155352"/>
                  </a:lnTo>
                  <a:lnTo>
                    <a:pt x="872033" y="124746"/>
                  </a:lnTo>
                  <a:lnTo>
                    <a:pt x="836190" y="97039"/>
                  </a:lnTo>
                  <a:lnTo>
                    <a:pt x="798011" y="72418"/>
                  </a:lnTo>
                  <a:lnTo>
                    <a:pt x="757682" y="51071"/>
                  </a:lnTo>
                  <a:lnTo>
                    <a:pt x="715391" y="33185"/>
                  </a:lnTo>
                  <a:lnTo>
                    <a:pt x="671325" y="18947"/>
                  </a:lnTo>
                  <a:lnTo>
                    <a:pt x="625672" y="8546"/>
                  </a:lnTo>
                  <a:lnTo>
                    <a:pt x="578618" y="2167"/>
                  </a:lnTo>
                  <a:lnTo>
                    <a:pt x="530352" y="0"/>
                  </a:lnTo>
                  <a:close/>
                </a:path>
              </a:pathLst>
            </a:custGeom>
            <a:solidFill>
              <a:srgbClr val="A4A4A4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839718" y="5020818"/>
              <a:ext cx="1061085" cy="1061085"/>
            </a:xfrm>
            <a:custGeom>
              <a:avLst/>
              <a:gdLst/>
              <a:ahLst/>
              <a:cxnLst/>
              <a:rect l="l" t="t" r="r" b="b"/>
              <a:pathLst>
                <a:path w="1061085" h="1061085">
                  <a:moveTo>
                    <a:pt x="0" y="530351"/>
                  </a:moveTo>
                  <a:lnTo>
                    <a:pt x="2167" y="482085"/>
                  </a:lnTo>
                  <a:lnTo>
                    <a:pt x="8546" y="435031"/>
                  </a:lnTo>
                  <a:lnTo>
                    <a:pt x="18947" y="389378"/>
                  </a:lnTo>
                  <a:lnTo>
                    <a:pt x="33185" y="345312"/>
                  </a:lnTo>
                  <a:lnTo>
                    <a:pt x="51071" y="303021"/>
                  </a:lnTo>
                  <a:lnTo>
                    <a:pt x="72418" y="262692"/>
                  </a:lnTo>
                  <a:lnTo>
                    <a:pt x="97039" y="224513"/>
                  </a:lnTo>
                  <a:lnTo>
                    <a:pt x="124746" y="188670"/>
                  </a:lnTo>
                  <a:lnTo>
                    <a:pt x="155352" y="155352"/>
                  </a:lnTo>
                  <a:lnTo>
                    <a:pt x="188670" y="124746"/>
                  </a:lnTo>
                  <a:lnTo>
                    <a:pt x="224513" y="97039"/>
                  </a:lnTo>
                  <a:lnTo>
                    <a:pt x="262692" y="72418"/>
                  </a:lnTo>
                  <a:lnTo>
                    <a:pt x="303021" y="51071"/>
                  </a:lnTo>
                  <a:lnTo>
                    <a:pt x="345312" y="33185"/>
                  </a:lnTo>
                  <a:lnTo>
                    <a:pt x="389378" y="18947"/>
                  </a:lnTo>
                  <a:lnTo>
                    <a:pt x="435031" y="8546"/>
                  </a:lnTo>
                  <a:lnTo>
                    <a:pt x="482085" y="2167"/>
                  </a:lnTo>
                  <a:lnTo>
                    <a:pt x="530352" y="0"/>
                  </a:lnTo>
                  <a:lnTo>
                    <a:pt x="578618" y="2167"/>
                  </a:lnTo>
                  <a:lnTo>
                    <a:pt x="625672" y="8546"/>
                  </a:lnTo>
                  <a:lnTo>
                    <a:pt x="671325" y="18947"/>
                  </a:lnTo>
                  <a:lnTo>
                    <a:pt x="715391" y="33185"/>
                  </a:lnTo>
                  <a:lnTo>
                    <a:pt x="757682" y="51071"/>
                  </a:lnTo>
                  <a:lnTo>
                    <a:pt x="798011" y="72418"/>
                  </a:lnTo>
                  <a:lnTo>
                    <a:pt x="836190" y="97039"/>
                  </a:lnTo>
                  <a:lnTo>
                    <a:pt x="872033" y="124746"/>
                  </a:lnTo>
                  <a:lnTo>
                    <a:pt x="905351" y="155352"/>
                  </a:lnTo>
                  <a:lnTo>
                    <a:pt x="935957" y="188670"/>
                  </a:lnTo>
                  <a:lnTo>
                    <a:pt x="963664" y="224513"/>
                  </a:lnTo>
                  <a:lnTo>
                    <a:pt x="988285" y="262692"/>
                  </a:lnTo>
                  <a:lnTo>
                    <a:pt x="1009632" y="303021"/>
                  </a:lnTo>
                  <a:lnTo>
                    <a:pt x="1027518" y="345312"/>
                  </a:lnTo>
                  <a:lnTo>
                    <a:pt x="1041756" y="389378"/>
                  </a:lnTo>
                  <a:lnTo>
                    <a:pt x="1052157" y="435031"/>
                  </a:lnTo>
                  <a:lnTo>
                    <a:pt x="1058536" y="482085"/>
                  </a:lnTo>
                  <a:lnTo>
                    <a:pt x="1060704" y="530351"/>
                  </a:lnTo>
                  <a:lnTo>
                    <a:pt x="1058536" y="578624"/>
                  </a:lnTo>
                  <a:lnTo>
                    <a:pt x="1052157" y="625682"/>
                  </a:lnTo>
                  <a:lnTo>
                    <a:pt x="1041756" y="671338"/>
                  </a:lnTo>
                  <a:lnTo>
                    <a:pt x="1027518" y="715406"/>
                  </a:lnTo>
                  <a:lnTo>
                    <a:pt x="1009632" y="757699"/>
                  </a:lnTo>
                  <a:lnTo>
                    <a:pt x="988285" y="798028"/>
                  </a:lnTo>
                  <a:lnTo>
                    <a:pt x="963664" y="836207"/>
                  </a:lnTo>
                  <a:lnTo>
                    <a:pt x="935957" y="872048"/>
                  </a:lnTo>
                  <a:lnTo>
                    <a:pt x="905351" y="905365"/>
                  </a:lnTo>
                  <a:lnTo>
                    <a:pt x="872033" y="935970"/>
                  </a:lnTo>
                  <a:lnTo>
                    <a:pt x="836190" y="963675"/>
                  </a:lnTo>
                  <a:lnTo>
                    <a:pt x="798011" y="988294"/>
                  </a:lnTo>
                  <a:lnTo>
                    <a:pt x="757682" y="1009639"/>
                  </a:lnTo>
                  <a:lnTo>
                    <a:pt x="715391" y="1027523"/>
                  </a:lnTo>
                  <a:lnTo>
                    <a:pt x="671325" y="1041758"/>
                  </a:lnTo>
                  <a:lnTo>
                    <a:pt x="625672" y="1052159"/>
                  </a:lnTo>
                  <a:lnTo>
                    <a:pt x="578618" y="1058536"/>
                  </a:lnTo>
                  <a:lnTo>
                    <a:pt x="530352" y="1060703"/>
                  </a:lnTo>
                  <a:lnTo>
                    <a:pt x="482085" y="1058536"/>
                  </a:lnTo>
                  <a:lnTo>
                    <a:pt x="435031" y="1052159"/>
                  </a:lnTo>
                  <a:lnTo>
                    <a:pt x="389378" y="1041758"/>
                  </a:lnTo>
                  <a:lnTo>
                    <a:pt x="345312" y="1027523"/>
                  </a:lnTo>
                  <a:lnTo>
                    <a:pt x="303021" y="1009639"/>
                  </a:lnTo>
                  <a:lnTo>
                    <a:pt x="262692" y="988294"/>
                  </a:lnTo>
                  <a:lnTo>
                    <a:pt x="224513" y="963675"/>
                  </a:lnTo>
                  <a:lnTo>
                    <a:pt x="188670" y="935970"/>
                  </a:lnTo>
                  <a:lnTo>
                    <a:pt x="155352" y="905365"/>
                  </a:lnTo>
                  <a:lnTo>
                    <a:pt x="124746" y="872048"/>
                  </a:lnTo>
                  <a:lnTo>
                    <a:pt x="97039" y="836207"/>
                  </a:lnTo>
                  <a:lnTo>
                    <a:pt x="72418" y="798028"/>
                  </a:lnTo>
                  <a:lnTo>
                    <a:pt x="51071" y="757699"/>
                  </a:lnTo>
                  <a:lnTo>
                    <a:pt x="33185" y="715406"/>
                  </a:lnTo>
                  <a:lnTo>
                    <a:pt x="18947" y="671338"/>
                  </a:lnTo>
                  <a:lnTo>
                    <a:pt x="8546" y="625682"/>
                  </a:lnTo>
                  <a:lnTo>
                    <a:pt x="2167" y="578624"/>
                  </a:lnTo>
                  <a:lnTo>
                    <a:pt x="0" y="530351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4221860" y="5435853"/>
            <a:ext cx="521334" cy="28003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12700" marR="5080" indent="89535">
              <a:lnSpc>
                <a:spcPts val="919"/>
              </a:lnSpc>
              <a:spcBef>
                <a:spcPts val="265"/>
              </a:spcBef>
            </a:pPr>
            <a:r>
              <a:rPr dirty="0" sz="900" spc="-10">
                <a:solidFill>
                  <a:srgbClr val="4A4A4A"/>
                </a:solidFill>
                <a:latin typeface="Arial"/>
                <a:cs typeface="Arial"/>
              </a:rPr>
              <a:t>Public taxonomy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3063239" y="5007864"/>
            <a:ext cx="1085215" cy="1087120"/>
            <a:chOff x="3063239" y="5007864"/>
            <a:chExt cx="1085215" cy="1087120"/>
          </a:xfrm>
        </p:grpSpPr>
        <p:sp>
          <p:nvSpPr>
            <p:cNvPr id="36" name="object 36" descr=""/>
            <p:cNvSpPr/>
            <p:nvPr/>
          </p:nvSpPr>
          <p:spPr>
            <a:xfrm>
              <a:off x="3076193" y="5020818"/>
              <a:ext cx="1059180" cy="1061085"/>
            </a:xfrm>
            <a:custGeom>
              <a:avLst/>
              <a:gdLst/>
              <a:ahLst/>
              <a:cxnLst/>
              <a:rect l="l" t="t" r="r" b="b"/>
              <a:pathLst>
                <a:path w="1059179" h="1061085">
                  <a:moveTo>
                    <a:pt x="529590" y="0"/>
                  </a:moveTo>
                  <a:lnTo>
                    <a:pt x="481387" y="2167"/>
                  </a:lnTo>
                  <a:lnTo>
                    <a:pt x="434396" y="8546"/>
                  </a:lnTo>
                  <a:lnTo>
                    <a:pt x="388805" y="18947"/>
                  </a:lnTo>
                  <a:lnTo>
                    <a:pt x="344800" y="33185"/>
                  </a:lnTo>
                  <a:lnTo>
                    <a:pt x="302568" y="51071"/>
                  </a:lnTo>
                  <a:lnTo>
                    <a:pt x="262297" y="72418"/>
                  </a:lnTo>
                  <a:lnTo>
                    <a:pt x="224173" y="97039"/>
                  </a:lnTo>
                  <a:lnTo>
                    <a:pt x="188383" y="124746"/>
                  </a:lnTo>
                  <a:lnTo>
                    <a:pt x="155114" y="155352"/>
                  </a:lnTo>
                  <a:lnTo>
                    <a:pt x="124554" y="188670"/>
                  </a:lnTo>
                  <a:lnTo>
                    <a:pt x="96888" y="224513"/>
                  </a:lnTo>
                  <a:lnTo>
                    <a:pt x="72305" y="262692"/>
                  </a:lnTo>
                  <a:lnTo>
                    <a:pt x="50991" y="303021"/>
                  </a:lnTo>
                  <a:lnTo>
                    <a:pt x="33132" y="345312"/>
                  </a:lnTo>
                  <a:lnTo>
                    <a:pt x="18917" y="389378"/>
                  </a:lnTo>
                  <a:lnTo>
                    <a:pt x="8532" y="435031"/>
                  </a:lnTo>
                  <a:lnTo>
                    <a:pt x="2164" y="482085"/>
                  </a:lnTo>
                  <a:lnTo>
                    <a:pt x="0" y="530351"/>
                  </a:lnTo>
                  <a:lnTo>
                    <a:pt x="2164" y="578624"/>
                  </a:lnTo>
                  <a:lnTo>
                    <a:pt x="8532" y="625682"/>
                  </a:lnTo>
                  <a:lnTo>
                    <a:pt x="18917" y="671338"/>
                  </a:lnTo>
                  <a:lnTo>
                    <a:pt x="33132" y="715406"/>
                  </a:lnTo>
                  <a:lnTo>
                    <a:pt x="50991" y="757699"/>
                  </a:lnTo>
                  <a:lnTo>
                    <a:pt x="72305" y="798028"/>
                  </a:lnTo>
                  <a:lnTo>
                    <a:pt x="96888" y="836207"/>
                  </a:lnTo>
                  <a:lnTo>
                    <a:pt x="124554" y="872048"/>
                  </a:lnTo>
                  <a:lnTo>
                    <a:pt x="155114" y="905365"/>
                  </a:lnTo>
                  <a:lnTo>
                    <a:pt x="188383" y="935970"/>
                  </a:lnTo>
                  <a:lnTo>
                    <a:pt x="224173" y="963675"/>
                  </a:lnTo>
                  <a:lnTo>
                    <a:pt x="262297" y="988294"/>
                  </a:lnTo>
                  <a:lnTo>
                    <a:pt x="302568" y="1009639"/>
                  </a:lnTo>
                  <a:lnTo>
                    <a:pt x="344800" y="1027523"/>
                  </a:lnTo>
                  <a:lnTo>
                    <a:pt x="388805" y="1041758"/>
                  </a:lnTo>
                  <a:lnTo>
                    <a:pt x="434396" y="1052159"/>
                  </a:lnTo>
                  <a:lnTo>
                    <a:pt x="481387" y="1058536"/>
                  </a:lnTo>
                  <a:lnTo>
                    <a:pt x="529590" y="1060703"/>
                  </a:lnTo>
                  <a:lnTo>
                    <a:pt x="577792" y="1058536"/>
                  </a:lnTo>
                  <a:lnTo>
                    <a:pt x="624783" y="1052159"/>
                  </a:lnTo>
                  <a:lnTo>
                    <a:pt x="670374" y="1041758"/>
                  </a:lnTo>
                  <a:lnTo>
                    <a:pt x="714379" y="1027523"/>
                  </a:lnTo>
                  <a:lnTo>
                    <a:pt x="756611" y="1009639"/>
                  </a:lnTo>
                  <a:lnTo>
                    <a:pt x="796882" y="988294"/>
                  </a:lnTo>
                  <a:lnTo>
                    <a:pt x="835006" y="963675"/>
                  </a:lnTo>
                  <a:lnTo>
                    <a:pt x="870796" y="935970"/>
                  </a:lnTo>
                  <a:lnTo>
                    <a:pt x="904065" y="905365"/>
                  </a:lnTo>
                  <a:lnTo>
                    <a:pt x="934625" y="872048"/>
                  </a:lnTo>
                  <a:lnTo>
                    <a:pt x="962291" y="836207"/>
                  </a:lnTo>
                  <a:lnTo>
                    <a:pt x="986874" y="798028"/>
                  </a:lnTo>
                  <a:lnTo>
                    <a:pt x="1008188" y="757699"/>
                  </a:lnTo>
                  <a:lnTo>
                    <a:pt x="1026047" y="715406"/>
                  </a:lnTo>
                  <a:lnTo>
                    <a:pt x="1040262" y="671338"/>
                  </a:lnTo>
                  <a:lnTo>
                    <a:pt x="1050647" y="625682"/>
                  </a:lnTo>
                  <a:lnTo>
                    <a:pt x="1057015" y="578624"/>
                  </a:lnTo>
                  <a:lnTo>
                    <a:pt x="1059180" y="530351"/>
                  </a:lnTo>
                  <a:lnTo>
                    <a:pt x="1057015" y="482085"/>
                  </a:lnTo>
                  <a:lnTo>
                    <a:pt x="1050647" y="435031"/>
                  </a:lnTo>
                  <a:lnTo>
                    <a:pt x="1040262" y="389378"/>
                  </a:lnTo>
                  <a:lnTo>
                    <a:pt x="1026047" y="345312"/>
                  </a:lnTo>
                  <a:lnTo>
                    <a:pt x="1008188" y="303021"/>
                  </a:lnTo>
                  <a:lnTo>
                    <a:pt x="986874" y="262692"/>
                  </a:lnTo>
                  <a:lnTo>
                    <a:pt x="962291" y="224513"/>
                  </a:lnTo>
                  <a:lnTo>
                    <a:pt x="934625" y="188670"/>
                  </a:lnTo>
                  <a:lnTo>
                    <a:pt x="904065" y="155352"/>
                  </a:lnTo>
                  <a:lnTo>
                    <a:pt x="870796" y="124746"/>
                  </a:lnTo>
                  <a:lnTo>
                    <a:pt x="835006" y="97039"/>
                  </a:lnTo>
                  <a:lnTo>
                    <a:pt x="796882" y="72418"/>
                  </a:lnTo>
                  <a:lnTo>
                    <a:pt x="756611" y="51071"/>
                  </a:lnTo>
                  <a:lnTo>
                    <a:pt x="714379" y="33185"/>
                  </a:lnTo>
                  <a:lnTo>
                    <a:pt x="670374" y="18947"/>
                  </a:lnTo>
                  <a:lnTo>
                    <a:pt x="624783" y="8546"/>
                  </a:lnTo>
                  <a:lnTo>
                    <a:pt x="577792" y="2167"/>
                  </a:lnTo>
                  <a:lnTo>
                    <a:pt x="529590" y="0"/>
                  </a:lnTo>
                  <a:close/>
                </a:path>
              </a:pathLst>
            </a:custGeom>
            <a:solidFill>
              <a:srgbClr val="572D93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3076193" y="5020818"/>
              <a:ext cx="1059180" cy="1061085"/>
            </a:xfrm>
            <a:custGeom>
              <a:avLst/>
              <a:gdLst/>
              <a:ahLst/>
              <a:cxnLst/>
              <a:rect l="l" t="t" r="r" b="b"/>
              <a:pathLst>
                <a:path w="1059179" h="1061085">
                  <a:moveTo>
                    <a:pt x="0" y="530351"/>
                  </a:moveTo>
                  <a:lnTo>
                    <a:pt x="2164" y="482085"/>
                  </a:lnTo>
                  <a:lnTo>
                    <a:pt x="8532" y="435031"/>
                  </a:lnTo>
                  <a:lnTo>
                    <a:pt x="18917" y="389378"/>
                  </a:lnTo>
                  <a:lnTo>
                    <a:pt x="33132" y="345312"/>
                  </a:lnTo>
                  <a:lnTo>
                    <a:pt x="50991" y="303021"/>
                  </a:lnTo>
                  <a:lnTo>
                    <a:pt x="72305" y="262692"/>
                  </a:lnTo>
                  <a:lnTo>
                    <a:pt x="96888" y="224513"/>
                  </a:lnTo>
                  <a:lnTo>
                    <a:pt x="124554" y="188670"/>
                  </a:lnTo>
                  <a:lnTo>
                    <a:pt x="155114" y="155352"/>
                  </a:lnTo>
                  <a:lnTo>
                    <a:pt x="188383" y="124746"/>
                  </a:lnTo>
                  <a:lnTo>
                    <a:pt x="224173" y="97039"/>
                  </a:lnTo>
                  <a:lnTo>
                    <a:pt x="262297" y="72418"/>
                  </a:lnTo>
                  <a:lnTo>
                    <a:pt x="302568" y="51071"/>
                  </a:lnTo>
                  <a:lnTo>
                    <a:pt x="344800" y="33185"/>
                  </a:lnTo>
                  <a:lnTo>
                    <a:pt x="388805" y="18947"/>
                  </a:lnTo>
                  <a:lnTo>
                    <a:pt x="434396" y="8546"/>
                  </a:lnTo>
                  <a:lnTo>
                    <a:pt x="481387" y="2167"/>
                  </a:lnTo>
                  <a:lnTo>
                    <a:pt x="529590" y="0"/>
                  </a:lnTo>
                  <a:lnTo>
                    <a:pt x="577792" y="2167"/>
                  </a:lnTo>
                  <a:lnTo>
                    <a:pt x="624783" y="8546"/>
                  </a:lnTo>
                  <a:lnTo>
                    <a:pt x="670374" y="18947"/>
                  </a:lnTo>
                  <a:lnTo>
                    <a:pt x="714379" y="33185"/>
                  </a:lnTo>
                  <a:lnTo>
                    <a:pt x="756611" y="51071"/>
                  </a:lnTo>
                  <a:lnTo>
                    <a:pt x="796882" y="72418"/>
                  </a:lnTo>
                  <a:lnTo>
                    <a:pt x="835006" y="97039"/>
                  </a:lnTo>
                  <a:lnTo>
                    <a:pt x="870796" y="124746"/>
                  </a:lnTo>
                  <a:lnTo>
                    <a:pt x="904065" y="155352"/>
                  </a:lnTo>
                  <a:lnTo>
                    <a:pt x="934625" y="188670"/>
                  </a:lnTo>
                  <a:lnTo>
                    <a:pt x="962291" y="224513"/>
                  </a:lnTo>
                  <a:lnTo>
                    <a:pt x="986874" y="262692"/>
                  </a:lnTo>
                  <a:lnTo>
                    <a:pt x="1008188" y="303021"/>
                  </a:lnTo>
                  <a:lnTo>
                    <a:pt x="1026047" y="345312"/>
                  </a:lnTo>
                  <a:lnTo>
                    <a:pt x="1040262" y="389378"/>
                  </a:lnTo>
                  <a:lnTo>
                    <a:pt x="1050647" y="435031"/>
                  </a:lnTo>
                  <a:lnTo>
                    <a:pt x="1057015" y="482085"/>
                  </a:lnTo>
                  <a:lnTo>
                    <a:pt x="1059180" y="530351"/>
                  </a:lnTo>
                  <a:lnTo>
                    <a:pt x="1057015" y="578624"/>
                  </a:lnTo>
                  <a:lnTo>
                    <a:pt x="1050647" y="625682"/>
                  </a:lnTo>
                  <a:lnTo>
                    <a:pt x="1040262" y="671338"/>
                  </a:lnTo>
                  <a:lnTo>
                    <a:pt x="1026047" y="715406"/>
                  </a:lnTo>
                  <a:lnTo>
                    <a:pt x="1008188" y="757699"/>
                  </a:lnTo>
                  <a:lnTo>
                    <a:pt x="986874" y="798028"/>
                  </a:lnTo>
                  <a:lnTo>
                    <a:pt x="962291" y="836207"/>
                  </a:lnTo>
                  <a:lnTo>
                    <a:pt x="934625" y="872048"/>
                  </a:lnTo>
                  <a:lnTo>
                    <a:pt x="904065" y="905365"/>
                  </a:lnTo>
                  <a:lnTo>
                    <a:pt x="870796" y="935970"/>
                  </a:lnTo>
                  <a:lnTo>
                    <a:pt x="835006" y="963675"/>
                  </a:lnTo>
                  <a:lnTo>
                    <a:pt x="796882" y="988294"/>
                  </a:lnTo>
                  <a:lnTo>
                    <a:pt x="756611" y="1009639"/>
                  </a:lnTo>
                  <a:lnTo>
                    <a:pt x="714379" y="1027523"/>
                  </a:lnTo>
                  <a:lnTo>
                    <a:pt x="670374" y="1041758"/>
                  </a:lnTo>
                  <a:lnTo>
                    <a:pt x="624783" y="1052159"/>
                  </a:lnTo>
                  <a:lnTo>
                    <a:pt x="577792" y="1058536"/>
                  </a:lnTo>
                  <a:lnTo>
                    <a:pt x="529590" y="1060703"/>
                  </a:lnTo>
                  <a:lnTo>
                    <a:pt x="481387" y="1058536"/>
                  </a:lnTo>
                  <a:lnTo>
                    <a:pt x="434396" y="1052159"/>
                  </a:lnTo>
                  <a:lnTo>
                    <a:pt x="388805" y="1041758"/>
                  </a:lnTo>
                  <a:lnTo>
                    <a:pt x="344800" y="1027523"/>
                  </a:lnTo>
                  <a:lnTo>
                    <a:pt x="302568" y="1009639"/>
                  </a:lnTo>
                  <a:lnTo>
                    <a:pt x="262297" y="988294"/>
                  </a:lnTo>
                  <a:lnTo>
                    <a:pt x="224173" y="963675"/>
                  </a:lnTo>
                  <a:lnTo>
                    <a:pt x="188383" y="935970"/>
                  </a:lnTo>
                  <a:lnTo>
                    <a:pt x="155114" y="905365"/>
                  </a:lnTo>
                  <a:lnTo>
                    <a:pt x="124554" y="872048"/>
                  </a:lnTo>
                  <a:lnTo>
                    <a:pt x="96888" y="836207"/>
                  </a:lnTo>
                  <a:lnTo>
                    <a:pt x="72305" y="798028"/>
                  </a:lnTo>
                  <a:lnTo>
                    <a:pt x="50991" y="757699"/>
                  </a:lnTo>
                  <a:lnTo>
                    <a:pt x="33132" y="715406"/>
                  </a:lnTo>
                  <a:lnTo>
                    <a:pt x="18917" y="671338"/>
                  </a:lnTo>
                  <a:lnTo>
                    <a:pt x="8532" y="625682"/>
                  </a:lnTo>
                  <a:lnTo>
                    <a:pt x="2164" y="578624"/>
                  </a:lnTo>
                  <a:lnTo>
                    <a:pt x="0" y="530351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3232530" y="5376798"/>
            <a:ext cx="521334" cy="39878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algn="just" marL="12700" marR="5080" indent="7620">
              <a:lnSpc>
                <a:spcPct val="86100"/>
              </a:lnSpc>
              <a:spcBef>
                <a:spcPts val="250"/>
              </a:spcBef>
            </a:pPr>
            <a:r>
              <a:rPr dirty="0" sz="900" spc="-10">
                <a:solidFill>
                  <a:srgbClr val="4A4A4A"/>
                </a:solidFill>
                <a:latin typeface="Arial"/>
                <a:cs typeface="Arial"/>
              </a:rPr>
              <a:t>Thomson Reuters’ taxonomy</a:t>
            </a:r>
            <a:endParaRPr sz="900">
              <a:latin typeface="Arial"/>
              <a:cs typeface="Arial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3789934" y="6255816"/>
            <a:ext cx="38989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FFFFFF"/>
                </a:solidFill>
                <a:latin typeface="Arial"/>
                <a:cs typeface="Arial"/>
              </a:rPr>
              <a:t>Unique</a:t>
            </a:r>
            <a:endParaRPr sz="9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dirty="0" sz="900" spc="-10">
                <a:solidFill>
                  <a:srgbClr val="FFFFFF"/>
                </a:solidFill>
                <a:latin typeface="Arial"/>
                <a:cs typeface="Arial"/>
              </a:rPr>
              <a:t>terms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2470404" y="3575303"/>
            <a:ext cx="3406140" cy="1365885"/>
            <a:chOff x="2470404" y="3575303"/>
            <a:chExt cx="3406140" cy="136588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88692" y="3584447"/>
              <a:ext cx="3357711" cy="1338071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2478024" y="3582923"/>
              <a:ext cx="3390900" cy="1350645"/>
            </a:xfrm>
            <a:custGeom>
              <a:avLst/>
              <a:gdLst/>
              <a:ahLst/>
              <a:cxnLst/>
              <a:rect l="l" t="t" r="r" b="b"/>
              <a:pathLst>
                <a:path w="3390900" h="1350645">
                  <a:moveTo>
                    <a:pt x="0" y="1350264"/>
                  </a:moveTo>
                  <a:lnTo>
                    <a:pt x="3390900" y="1350264"/>
                  </a:lnTo>
                  <a:lnTo>
                    <a:pt x="3390900" y="0"/>
                  </a:lnTo>
                  <a:lnTo>
                    <a:pt x="0" y="0"/>
                  </a:lnTo>
                  <a:lnTo>
                    <a:pt x="0" y="1350264"/>
                  </a:lnTo>
                  <a:close/>
                </a:path>
              </a:pathLst>
            </a:custGeom>
            <a:ln w="15240">
              <a:solidFill>
                <a:srgbClr val="9F958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" name="object 5" descr=""/>
          <p:cNvGrpSpPr/>
          <p:nvPr/>
        </p:nvGrpSpPr>
        <p:grpSpPr>
          <a:xfrm>
            <a:off x="371856" y="2072639"/>
            <a:ext cx="5664835" cy="4742815"/>
            <a:chOff x="371856" y="2072639"/>
            <a:chExt cx="5664835" cy="4742815"/>
          </a:xfrm>
        </p:grpSpPr>
        <p:sp>
          <p:nvSpPr>
            <p:cNvPr id="6" name="object 6" descr=""/>
            <p:cNvSpPr/>
            <p:nvPr/>
          </p:nvSpPr>
          <p:spPr>
            <a:xfrm>
              <a:off x="371856" y="3264407"/>
              <a:ext cx="1681480" cy="3550920"/>
            </a:xfrm>
            <a:custGeom>
              <a:avLst/>
              <a:gdLst/>
              <a:ahLst/>
              <a:cxnLst/>
              <a:rect l="l" t="t" r="r" b="b"/>
              <a:pathLst>
                <a:path w="1681480" h="3550920">
                  <a:moveTo>
                    <a:pt x="1680972" y="0"/>
                  </a:moveTo>
                  <a:lnTo>
                    <a:pt x="0" y="0"/>
                  </a:lnTo>
                  <a:lnTo>
                    <a:pt x="0" y="3550920"/>
                  </a:lnTo>
                  <a:lnTo>
                    <a:pt x="1680972" y="3550920"/>
                  </a:lnTo>
                  <a:lnTo>
                    <a:pt x="16809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314194" y="2091689"/>
              <a:ext cx="3703320" cy="1757045"/>
            </a:xfrm>
            <a:custGeom>
              <a:avLst/>
              <a:gdLst/>
              <a:ahLst/>
              <a:cxnLst/>
              <a:rect l="l" t="t" r="r" b="b"/>
              <a:pathLst>
                <a:path w="3703320" h="1757045">
                  <a:moveTo>
                    <a:pt x="0" y="54863"/>
                  </a:moveTo>
                  <a:lnTo>
                    <a:pt x="0" y="1756664"/>
                  </a:lnTo>
                </a:path>
                <a:path w="3703320" h="1757045">
                  <a:moveTo>
                    <a:pt x="3703320" y="0"/>
                  </a:moveTo>
                  <a:lnTo>
                    <a:pt x="3703320" y="1728724"/>
                  </a:lnTo>
                </a:path>
              </a:pathLst>
            </a:custGeom>
            <a:ln w="38100">
              <a:solidFill>
                <a:srgbClr val="005884"/>
              </a:solidFill>
              <a:prstDash val="lg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611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81875" algn="l"/>
              </a:tabLst>
            </a:pPr>
            <a:r>
              <a:rPr dirty="0"/>
              <a:t>PORTFOLIO</a:t>
            </a:r>
            <a:r>
              <a:rPr dirty="0" spc="-105"/>
              <a:t> </a:t>
            </a:r>
            <a:r>
              <a:rPr dirty="0" spc="-10"/>
              <a:t>MANAGEMENT</a:t>
            </a:r>
            <a:r>
              <a:rPr dirty="0" spc="-90"/>
              <a:t> </a:t>
            </a:r>
            <a:r>
              <a:rPr dirty="0"/>
              <a:t>USE</a:t>
            </a:r>
            <a:r>
              <a:rPr dirty="0" spc="-125"/>
              <a:t> </a:t>
            </a:r>
            <a:r>
              <a:rPr dirty="0" spc="-20"/>
              <a:t>CASE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8649716" y="6425590"/>
            <a:ext cx="1536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4A4A4A"/>
                </a:solidFill>
                <a:latin typeface="Arial"/>
                <a:cs typeface="Arial"/>
              </a:rPr>
              <a:t>11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2164079" y="3901440"/>
            <a:ext cx="365760" cy="483234"/>
            <a:chOff x="2164079" y="3901440"/>
            <a:chExt cx="365760" cy="483234"/>
          </a:xfrm>
        </p:grpSpPr>
        <p:sp>
          <p:nvSpPr>
            <p:cNvPr id="11" name="object 11" descr=""/>
            <p:cNvSpPr/>
            <p:nvPr/>
          </p:nvSpPr>
          <p:spPr>
            <a:xfrm>
              <a:off x="2177033" y="3914394"/>
              <a:ext cx="340360" cy="457200"/>
            </a:xfrm>
            <a:custGeom>
              <a:avLst/>
              <a:gdLst/>
              <a:ahLst/>
              <a:cxnLst/>
              <a:rect l="l" t="t" r="r" b="b"/>
              <a:pathLst>
                <a:path w="340360" h="457200">
                  <a:moveTo>
                    <a:pt x="169926" y="0"/>
                  </a:moveTo>
                  <a:lnTo>
                    <a:pt x="169926" y="114299"/>
                  </a:lnTo>
                  <a:lnTo>
                    <a:pt x="0" y="114299"/>
                  </a:lnTo>
                  <a:lnTo>
                    <a:pt x="0" y="342899"/>
                  </a:lnTo>
                  <a:lnTo>
                    <a:pt x="169926" y="342899"/>
                  </a:lnTo>
                  <a:lnTo>
                    <a:pt x="169926" y="457199"/>
                  </a:lnTo>
                  <a:lnTo>
                    <a:pt x="339852" y="228599"/>
                  </a:lnTo>
                  <a:lnTo>
                    <a:pt x="169926" y="0"/>
                  </a:lnTo>
                  <a:close/>
                </a:path>
              </a:pathLst>
            </a:custGeom>
            <a:solidFill>
              <a:srgbClr val="005A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177033" y="3914394"/>
              <a:ext cx="340360" cy="457200"/>
            </a:xfrm>
            <a:custGeom>
              <a:avLst/>
              <a:gdLst/>
              <a:ahLst/>
              <a:cxnLst/>
              <a:rect l="l" t="t" r="r" b="b"/>
              <a:pathLst>
                <a:path w="340360" h="457200">
                  <a:moveTo>
                    <a:pt x="0" y="114299"/>
                  </a:moveTo>
                  <a:lnTo>
                    <a:pt x="169926" y="114299"/>
                  </a:lnTo>
                  <a:lnTo>
                    <a:pt x="169926" y="0"/>
                  </a:lnTo>
                  <a:lnTo>
                    <a:pt x="339852" y="228599"/>
                  </a:lnTo>
                  <a:lnTo>
                    <a:pt x="169926" y="457199"/>
                  </a:lnTo>
                  <a:lnTo>
                    <a:pt x="169926" y="342899"/>
                  </a:lnTo>
                  <a:lnTo>
                    <a:pt x="0" y="342899"/>
                  </a:lnTo>
                  <a:lnTo>
                    <a:pt x="0" y="114299"/>
                  </a:lnTo>
                  <a:close/>
                </a:path>
              </a:pathLst>
            </a:custGeom>
            <a:ln w="25908">
              <a:solidFill>
                <a:srgbClr val="0040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2641473" y="2211705"/>
            <a:ext cx="2950210" cy="10172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132715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252525"/>
                </a:solidFill>
                <a:latin typeface="Arial"/>
                <a:cs typeface="Arial"/>
              </a:rPr>
              <a:t>Approach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080"/>
              </a:spcBef>
            </a:pP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Automated</a:t>
            </a:r>
            <a:r>
              <a:rPr dirty="0" sz="1400" spc="-6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search</a:t>
            </a:r>
            <a:r>
              <a:rPr dirty="0" sz="1400" spc="-5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of</a:t>
            </a:r>
            <a:r>
              <a:rPr dirty="0" sz="14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the</a:t>
            </a:r>
            <a:r>
              <a:rPr dirty="0" sz="14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biomedical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literature.</a:t>
            </a:r>
            <a:r>
              <a:rPr dirty="0" sz="14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Link</a:t>
            </a:r>
            <a:r>
              <a:rPr dirty="0" sz="14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genes/protein</a:t>
            </a:r>
            <a:r>
              <a:rPr dirty="0" sz="14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terms</a:t>
            </a:r>
            <a:r>
              <a:rPr dirty="0" sz="14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4A4A4A"/>
                </a:solidFill>
                <a:latin typeface="Arial"/>
                <a:cs typeface="Arial"/>
              </a:rPr>
              <a:t>to </a:t>
            </a: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immunoassay</a:t>
            </a:r>
            <a:r>
              <a:rPr dirty="0" sz="1400" spc="1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terms.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278371" y="2144877"/>
            <a:ext cx="2423160" cy="1014094"/>
          </a:xfrm>
          <a:prstGeom prst="rect">
            <a:avLst/>
          </a:prstGeom>
        </p:spPr>
        <p:txBody>
          <a:bodyPr wrap="square" lIns="0" tIns="80010" rIns="0" bIns="0" rtlCol="0" vert="horz">
            <a:spAutoFit/>
          </a:bodyPr>
          <a:lstStyle/>
          <a:p>
            <a:pPr marL="762000">
              <a:lnSpc>
                <a:spcPct val="100000"/>
              </a:lnSpc>
              <a:spcBef>
                <a:spcPts val="630"/>
              </a:spcBef>
            </a:pPr>
            <a:r>
              <a:rPr dirty="0" sz="1400" spc="-10" b="1">
                <a:solidFill>
                  <a:srgbClr val="252525"/>
                </a:solidFill>
                <a:latin typeface="Arial"/>
                <a:cs typeface="Arial"/>
              </a:rPr>
              <a:t>Results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530"/>
              </a:spcBef>
            </a:pP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Article</a:t>
            </a:r>
            <a:r>
              <a:rPr dirty="0" sz="14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counts</a:t>
            </a:r>
            <a:r>
              <a:rPr dirty="0" sz="1400" spc="-5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per</a:t>
            </a:r>
            <a:r>
              <a:rPr dirty="0" sz="14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month</a:t>
            </a:r>
            <a:r>
              <a:rPr dirty="0" sz="14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4A4A4A"/>
                </a:solidFill>
                <a:latin typeface="Arial"/>
                <a:cs typeface="Arial"/>
              </a:rPr>
              <a:t>for </a:t>
            </a: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gene/protein</a:t>
            </a:r>
            <a:r>
              <a:rPr dirty="0" sz="14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used</a:t>
            </a:r>
            <a:r>
              <a:rPr dirty="0" sz="14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in</a:t>
            </a:r>
            <a:r>
              <a:rPr dirty="0" sz="1400" spc="-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a </a:t>
            </a: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specific immunoassay.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278371" y="3346195"/>
            <a:ext cx="2334895" cy="4527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Monthly</a:t>
            </a:r>
            <a:r>
              <a:rPr dirty="0" sz="14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report</a:t>
            </a:r>
            <a:r>
              <a:rPr dirty="0" sz="14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with</a:t>
            </a:r>
            <a:r>
              <a:rPr dirty="0" sz="1400" spc="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month-</a:t>
            </a:r>
            <a:r>
              <a:rPr dirty="0" sz="1400" spc="-25">
                <a:solidFill>
                  <a:srgbClr val="4A4A4A"/>
                </a:solidFill>
                <a:latin typeface="Arial"/>
                <a:cs typeface="Arial"/>
              </a:rPr>
              <a:t>to-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month</a:t>
            </a:r>
            <a:r>
              <a:rPr dirty="0" sz="1400" spc="-5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analytics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278371" y="3986276"/>
            <a:ext cx="7785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Raw</a:t>
            </a:r>
            <a:r>
              <a:rPr dirty="0" sz="1400" spc="-20">
                <a:solidFill>
                  <a:srgbClr val="4A4A4A"/>
                </a:solidFill>
                <a:latin typeface="Arial"/>
                <a:cs typeface="Arial"/>
              </a:rPr>
              <a:t> data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24104" y="2152243"/>
            <a:ext cx="1817370" cy="118427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algn="ctr" marL="83185">
              <a:lnSpc>
                <a:spcPct val="100000"/>
              </a:lnSpc>
              <a:spcBef>
                <a:spcPts val="459"/>
              </a:spcBef>
            </a:pPr>
            <a:r>
              <a:rPr dirty="0" sz="1400" spc="-20" b="1">
                <a:solidFill>
                  <a:srgbClr val="252525"/>
                </a:solidFill>
                <a:latin typeface="Arial"/>
                <a:cs typeface="Arial"/>
              </a:rPr>
              <a:t>Data</a:t>
            </a:r>
            <a:endParaRPr sz="1400">
              <a:latin typeface="Arial"/>
              <a:cs typeface="Arial"/>
            </a:endParaRPr>
          </a:p>
          <a:p>
            <a:pPr algn="ctr" marL="12700" marR="5080">
              <a:lnSpc>
                <a:spcPct val="100000"/>
              </a:lnSpc>
              <a:spcBef>
                <a:spcPts val="359"/>
              </a:spcBef>
            </a:pP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&gt;2</a:t>
            </a:r>
            <a:r>
              <a:rPr dirty="0" sz="14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million</a:t>
            </a:r>
            <a:r>
              <a:rPr dirty="0" sz="1400" spc="-3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gene/protein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and</a:t>
            </a:r>
            <a:r>
              <a:rPr dirty="0" sz="1400" spc="-7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synonym</a:t>
            </a:r>
            <a:r>
              <a:rPr dirty="0" sz="1400" spc="-3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terms</a:t>
            </a:r>
            <a:r>
              <a:rPr dirty="0" sz="1400" spc="-6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4A4A4A"/>
                </a:solidFill>
                <a:latin typeface="Arial"/>
                <a:cs typeface="Arial"/>
              </a:rPr>
              <a:t>+ </a:t>
            </a: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immunoassay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4A4A4A"/>
                </a:solidFill>
                <a:latin typeface="Arial"/>
                <a:cs typeface="Arial"/>
              </a:rPr>
              <a:t>and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synonym</a:t>
            </a:r>
            <a:r>
              <a:rPr dirty="0" sz="1400" spc="-7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4A4A4A"/>
                </a:solidFill>
                <a:latin typeface="Arial"/>
                <a:cs typeface="Arial"/>
              </a:rPr>
              <a:t>terms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352043" y="1392936"/>
            <a:ext cx="8376284" cy="765175"/>
          </a:xfrm>
          <a:custGeom>
            <a:avLst/>
            <a:gdLst/>
            <a:ahLst/>
            <a:cxnLst/>
            <a:rect l="l" t="t" r="r" b="b"/>
            <a:pathLst>
              <a:path w="8376284" h="765175">
                <a:moveTo>
                  <a:pt x="8248396" y="0"/>
                </a:moveTo>
                <a:lnTo>
                  <a:pt x="127507" y="0"/>
                </a:lnTo>
                <a:lnTo>
                  <a:pt x="77875" y="10029"/>
                </a:lnTo>
                <a:lnTo>
                  <a:pt x="37345" y="37369"/>
                </a:lnTo>
                <a:lnTo>
                  <a:pt x="10020" y="77902"/>
                </a:lnTo>
                <a:lnTo>
                  <a:pt x="0" y="127508"/>
                </a:lnTo>
                <a:lnTo>
                  <a:pt x="0" y="637539"/>
                </a:lnTo>
                <a:lnTo>
                  <a:pt x="10020" y="687145"/>
                </a:lnTo>
                <a:lnTo>
                  <a:pt x="37345" y="727678"/>
                </a:lnTo>
                <a:lnTo>
                  <a:pt x="77875" y="755018"/>
                </a:lnTo>
                <a:lnTo>
                  <a:pt x="127507" y="765048"/>
                </a:lnTo>
                <a:lnTo>
                  <a:pt x="8248396" y="765048"/>
                </a:lnTo>
                <a:lnTo>
                  <a:pt x="8298001" y="755018"/>
                </a:lnTo>
                <a:lnTo>
                  <a:pt x="8338534" y="727678"/>
                </a:lnTo>
                <a:lnTo>
                  <a:pt x="8365874" y="687145"/>
                </a:lnTo>
                <a:lnTo>
                  <a:pt x="8375904" y="637539"/>
                </a:lnTo>
                <a:lnTo>
                  <a:pt x="8375904" y="127508"/>
                </a:lnTo>
                <a:lnTo>
                  <a:pt x="8365874" y="77902"/>
                </a:lnTo>
                <a:lnTo>
                  <a:pt x="8338534" y="37369"/>
                </a:lnTo>
                <a:lnTo>
                  <a:pt x="8298001" y="10029"/>
                </a:lnTo>
                <a:lnTo>
                  <a:pt x="8248396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376834" y="1413129"/>
            <a:ext cx="7982584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3E3E3E"/>
                </a:solidFill>
                <a:latin typeface="Arial"/>
                <a:cs typeface="Arial"/>
              </a:rPr>
              <a:t>Goal:</a:t>
            </a:r>
            <a:r>
              <a:rPr dirty="0" sz="1600" spc="-20" b="1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3E3E3E"/>
                </a:solidFill>
                <a:latin typeface="Arial"/>
                <a:cs typeface="Arial"/>
              </a:rPr>
              <a:t>Monitor</a:t>
            </a:r>
            <a:r>
              <a:rPr dirty="0" sz="1600" spc="-4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3E3E3E"/>
                </a:solidFill>
                <a:latin typeface="Arial"/>
                <a:cs typeface="Arial"/>
              </a:rPr>
              <a:t>&gt;70,000</a:t>
            </a:r>
            <a:r>
              <a:rPr dirty="0" sz="1600" spc="-35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3E3E3E"/>
                </a:solidFill>
                <a:latin typeface="Arial"/>
                <a:cs typeface="Arial"/>
              </a:rPr>
              <a:t>human,</a:t>
            </a:r>
            <a:r>
              <a:rPr dirty="0" sz="1600" spc="-3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3E3E3E"/>
                </a:solidFill>
                <a:latin typeface="Arial"/>
                <a:cs typeface="Arial"/>
              </a:rPr>
              <a:t>mouse</a:t>
            </a:r>
            <a:r>
              <a:rPr dirty="0" sz="1600" spc="-5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3E3E3E"/>
                </a:solidFill>
                <a:latin typeface="Arial"/>
                <a:cs typeface="Arial"/>
              </a:rPr>
              <a:t>and</a:t>
            </a:r>
            <a:r>
              <a:rPr dirty="0" sz="1600" spc="-35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3E3E3E"/>
                </a:solidFill>
                <a:latin typeface="Arial"/>
                <a:cs typeface="Arial"/>
              </a:rPr>
              <a:t>rat</a:t>
            </a:r>
            <a:r>
              <a:rPr dirty="0" sz="1600" spc="-4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3E3E3E"/>
                </a:solidFill>
                <a:latin typeface="Arial"/>
                <a:cs typeface="Arial"/>
              </a:rPr>
              <a:t>genes/proteins</a:t>
            </a:r>
            <a:r>
              <a:rPr dirty="0" sz="1600" spc="-3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3E3E3E"/>
                </a:solidFill>
                <a:latin typeface="Arial"/>
                <a:cs typeface="Arial"/>
              </a:rPr>
              <a:t>in</a:t>
            </a:r>
            <a:r>
              <a:rPr dirty="0" sz="1600" spc="-6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dirty="0" sz="1600" spc="-35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3E3E3E"/>
                </a:solidFill>
                <a:latin typeface="Arial"/>
                <a:cs typeface="Arial"/>
              </a:rPr>
              <a:t>biomedical</a:t>
            </a:r>
            <a:r>
              <a:rPr dirty="0" sz="1600" spc="-7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3E3E3E"/>
                </a:solidFill>
                <a:latin typeface="Arial"/>
                <a:cs typeface="Arial"/>
              </a:rPr>
              <a:t>literature </a:t>
            </a:r>
            <a:r>
              <a:rPr dirty="0" sz="1600">
                <a:solidFill>
                  <a:srgbClr val="3E3E3E"/>
                </a:solidFill>
                <a:latin typeface="Arial"/>
                <a:cs typeface="Arial"/>
              </a:rPr>
              <a:t>linked</a:t>
            </a:r>
            <a:r>
              <a:rPr dirty="0" sz="1600" spc="-7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3E3E3E"/>
                </a:solidFill>
                <a:latin typeface="Arial"/>
                <a:cs typeface="Arial"/>
              </a:rPr>
              <a:t>to</a:t>
            </a:r>
            <a:r>
              <a:rPr dirty="0" sz="1600" spc="-3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3E3E3E"/>
                </a:solidFill>
                <a:latin typeface="Arial"/>
                <a:cs typeface="Arial"/>
              </a:rPr>
              <a:t>immunoassays</a:t>
            </a:r>
            <a:r>
              <a:rPr dirty="0" sz="1600" spc="-3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3E3E3E"/>
                </a:solidFill>
                <a:latin typeface="Arial"/>
                <a:cs typeface="Arial"/>
              </a:rPr>
              <a:t>to</a:t>
            </a:r>
            <a:r>
              <a:rPr dirty="0" sz="1600" spc="-2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3E3E3E"/>
                </a:solidFill>
                <a:latin typeface="Arial"/>
                <a:cs typeface="Arial"/>
              </a:rPr>
              <a:t>confirm</a:t>
            </a:r>
            <a:r>
              <a:rPr dirty="0" sz="1600" spc="-4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3E3E3E"/>
                </a:solidFill>
                <a:latin typeface="Arial"/>
                <a:cs typeface="Arial"/>
              </a:rPr>
              <a:t>a</a:t>
            </a:r>
            <a:r>
              <a:rPr dirty="0" sz="1600" spc="-4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3E3E3E"/>
                </a:solidFill>
                <a:latin typeface="Arial"/>
                <a:cs typeface="Arial"/>
              </a:rPr>
              <a:t>current</a:t>
            </a:r>
            <a:r>
              <a:rPr dirty="0" sz="1600" spc="-25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3E3E3E"/>
                </a:solidFill>
                <a:latin typeface="Arial"/>
                <a:cs typeface="Arial"/>
              </a:rPr>
              <a:t>portfolio</a:t>
            </a:r>
            <a:r>
              <a:rPr dirty="0" sz="1600" spc="-45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3E3E3E"/>
                </a:solidFill>
                <a:latin typeface="Arial"/>
                <a:cs typeface="Arial"/>
              </a:rPr>
              <a:t>content,</a:t>
            </a:r>
            <a:r>
              <a:rPr dirty="0" sz="1600" spc="-25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3E3E3E"/>
                </a:solidFill>
                <a:latin typeface="Arial"/>
                <a:cs typeface="Arial"/>
              </a:rPr>
              <a:t>as</a:t>
            </a:r>
            <a:r>
              <a:rPr dirty="0" sz="1600" spc="-45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3E3E3E"/>
                </a:solidFill>
                <a:latin typeface="Arial"/>
                <a:cs typeface="Arial"/>
              </a:rPr>
              <a:t>well</a:t>
            </a:r>
            <a:r>
              <a:rPr dirty="0" sz="1600" spc="-45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3E3E3E"/>
                </a:solidFill>
                <a:latin typeface="Arial"/>
                <a:cs typeface="Arial"/>
              </a:rPr>
              <a:t>as</a:t>
            </a:r>
            <a:r>
              <a:rPr dirty="0" sz="1600" spc="-4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3E3E3E"/>
                </a:solidFill>
                <a:latin typeface="Arial"/>
                <a:cs typeface="Arial"/>
              </a:rPr>
              <a:t>identify</a:t>
            </a:r>
            <a:r>
              <a:rPr dirty="0" sz="1600" spc="-55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3E3E3E"/>
                </a:solidFill>
                <a:latin typeface="Arial"/>
                <a:cs typeface="Arial"/>
              </a:rPr>
              <a:t>the</a:t>
            </a:r>
            <a:r>
              <a:rPr dirty="0" sz="1600" spc="-3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3E3E3E"/>
                </a:solidFill>
                <a:latin typeface="Arial"/>
                <a:cs typeface="Arial"/>
              </a:rPr>
              <a:t>new </a:t>
            </a:r>
            <a:r>
              <a:rPr dirty="0" sz="1600" spc="-10">
                <a:solidFill>
                  <a:srgbClr val="3E3E3E"/>
                </a:solidFill>
                <a:latin typeface="Arial"/>
                <a:cs typeface="Arial"/>
              </a:rPr>
              <a:t>up-and-</a:t>
            </a:r>
            <a:r>
              <a:rPr dirty="0" sz="1600">
                <a:solidFill>
                  <a:srgbClr val="3E3E3E"/>
                </a:solidFill>
                <a:latin typeface="Arial"/>
                <a:cs typeface="Arial"/>
              </a:rPr>
              <a:t>coming</a:t>
            </a:r>
            <a:r>
              <a:rPr dirty="0" sz="1600" spc="-4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3E3E3E"/>
                </a:solidFill>
                <a:latin typeface="Arial"/>
                <a:cs typeface="Arial"/>
              </a:rPr>
              <a:t>needs</a:t>
            </a:r>
            <a:r>
              <a:rPr dirty="0" sz="1600" spc="-35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3E3E3E"/>
                </a:solidFill>
                <a:latin typeface="Arial"/>
                <a:cs typeface="Arial"/>
              </a:rPr>
              <a:t>for</a:t>
            </a:r>
            <a:r>
              <a:rPr dirty="0" sz="1600" spc="-25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3E3E3E"/>
                </a:solidFill>
                <a:latin typeface="Arial"/>
                <a:cs typeface="Arial"/>
              </a:rPr>
              <a:t>a</a:t>
            </a:r>
            <a:r>
              <a:rPr dirty="0" sz="1600" spc="-45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3E3E3E"/>
                </a:solidFill>
                <a:latin typeface="Arial"/>
                <a:cs typeface="Arial"/>
              </a:rPr>
              <a:t>life</a:t>
            </a:r>
            <a:r>
              <a:rPr dirty="0" sz="1600" spc="-45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3E3E3E"/>
                </a:solidFill>
                <a:latin typeface="Arial"/>
                <a:cs typeface="Arial"/>
              </a:rPr>
              <a:t>sciences</a:t>
            </a:r>
            <a:r>
              <a:rPr dirty="0" sz="1600" spc="-65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3E3E3E"/>
                </a:solidFill>
                <a:latin typeface="Arial"/>
                <a:cs typeface="Arial"/>
              </a:rPr>
              <a:t>reagent</a:t>
            </a:r>
            <a:r>
              <a:rPr dirty="0" sz="1600" spc="-30">
                <a:solidFill>
                  <a:srgbClr val="3E3E3E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3E3E3E"/>
                </a:solidFill>
                <a:latin typeface="Arial"/>
                <a:cs typeface="Arial"/>
              </a:rPr>
              <a:t>company.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447992" y="3340544"/>
            <a:ext cx="5803900" cy="1044575"/>
            <a:chOff x="447992" y="3340544"/>
            <a:chExt cx="5803900" cy="1044575"/>
          </a:xfrm>
        </p:grpSpPr>
        <p:sp>
          <p:nvSpPr>
            <p:cNvPr id="21" name="object 21" descr=""/>
            <p:cNvSpPr/>
            <p:nvPr/>
          </p:nvSpPr>
          <p:spPr>
            <a:xfrm>
              <a:off x="461010" y="3353562"/>
              <a:ext cx="1419225" cy="350520"/>
            </a:xfrm>
            <a:custGeom>
              <a:avLst/>
              <a:gdLst/>
              <a:ahLst/>
              <a:cxnLst/>
              <a:rect l="l" t="t" r="r" b="b"/>
              <a:pathLst>
                <a:path w="1419225" h="350520">
                  <a:moveTo>
                    <a:pt x="1383792" y="0"/>
                  </a:moveTo>
                  <a:lnTo>
                    <a:pt x="35052" y="0"/>
                  </a:lnTo>
                  <a:lnTo>
                    <a:pt x="21409" y="2762"/>
                  </a:lnTo>
                  <a:lnTo>
                    <a:pt x="10267" y="10287"/>
                  </a:lnTo>
                  <a:lnTo>
                    <a:pt x="2755" y="21431"/>
                  </a:lnTo>
                  <a:lnTo>
                    <a:pt x="0" y="35051"/>
                  </a:lnTo>
                  <a:lnTo>
                    <a:pt x="0" y="315468"/>
                  </a:lnTo>
                  <a:lnTo>
                    <a:pt x="2755" y="329088"/>
                  </a:lnTo>
                  <a:lnTo>
                    <a:pt x="10267" y="340232"/>
                  </a:lnTo>
                  <a:lnTo>
                    <a:pt x="21409" y="347757"/>
                  </a:lnTo>
                  <a:lnTo>
                    <a:pt x="35052" y="350519"/>
                  </a:lnTo>
                  <a:lnTo>
                    <a:pt x="1383792" y="350519"/>
                  </a:lnTo>
                  <a:lnTo>
                    <a:pt x="1397412" y="347757"/>
                  </a:lnTo>
                  <a:lnTo>
                    <a:pt x="1408557" y="340232"/>
                  </a:lnTo>
                  <a:lnTo>
                    <a:pt x="1416081" y="329088"/>
                  </a:lnTo>
                  <a:lnTo>
                    <a:pt x="1418844" y="315468"/>
                  </a:lnTo>
                  <a:lnTo>
                    <a:pt x="1418844" y="35051"/>
                  </a:lnTo>
                  <a:lnTo>
                    <a:pt x="1416081" y="21431"/>
                  </a:lnTo>
                  <a:lnTo>
                    <a:pt x="1408557" y="10287"/>
                  </a:lnTo>
                  <a:lnTo>
                    <a:pt x="1397412" y="2762"/>
                  </a:lnTo>
                  <a:lnTo>
                    <a:pt x="1383792" y="0"/>
                  </a:lnTo>
                  <a:close/>
                </a:path>
              </a:pathLst>
            </a:custGeom>
            <a:solidFill>
              <a:srgbClr val="0051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61010" y="3353562"/>
              <a:ext cx="1419225" cy="350520"/>
            </a:xfrm>
            <a:custGeom>
              <a:avLst/>
              <a:gdLst/>
              <a:ahLst/>
              <a:cxnLst/>
              <a:rect l="l" t="t" r="r" b="b"/>
              <a:pathLst>
                <a:path w="1419225" h="350520">
                  <a:moveTo>
                    <a:pt x="0" y="35051"/>
                  </a:moveTo>
                  <a:lnTo>
                    <a:pt x="2755" y="21431"/>
                  </a:lnTo>
                  <a:lnTo>
                    <a:pt x="10267" y="10287"/>
                  </a:lnTo>
                  <a:lnTo>
                    <a:pt x="21409" y="2762"/>
                  </a:lnTo>
                  <a:lnTo>
                    <a:pt x="35052" y="0"/>
                  </a:lnTo>
                  <a:lnTo>
                    <a:pt x="1383792" y="0"/>
                  </a:lnTo>
                  <a:lnTo>
                    <a:pt x="1397412" y="2762"/>
                  </a:lnTo>
                  <a:lnTo>
                    <a:pt x="1408557" y="10287"/>
                  </a:lnTo>
                  <a:lnTo>
                    <a:pt x="1416081" y="21431"/>
                  </a:lnTo>
                  <a:lnTo>
                    <a:pt x="1418844" y="35051"/>
                  </a:lnTo>
                  <a:lnTo>
                    <a:pt x="1418844" y="315468"/>
                  </a:lnTo>
                  <a:lnTo>
                    <a:pt x="1416081" y="329088"/>
                  </a:lnTo>
                  <a:lnTo>
                    <a:pt x="1408557" y="340232"/>
                  </a:lnTo>
                  <a:lnTo>
                    <a:pt x="1397412" y="347757"/>
                  </a:lnTo>
                  <a:lnTo>
                    <a:pt x="1383792" y="350519"/>
                  </a:lnTo>
                  <a:lnTo>
                    <a:pt x="35052" y="350519"/>
                  </a:lnTo>
                  <a:lnTo>
                    <a:pt x="21409" y="347757"/>
                  </a:lnTo>
                  <a:lnTo>
                    <a:pt x="10267" y="340232"/>
                  </a:lnTo>
                  <a:lnTo>
                    <a:pt x="2755" y="329088"/>
                  </a:lnTo>
                  <a:lnTo>
                    <a:pt x="0" y="315468"/>
                  </a:lnTo>
                  <a:lnTo>
                    <a:pt x="0" y="35051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897118" y="3914394"/>
              <a:ext cx="341630" cy="457200"/>
            </a:xfrm>
            <a:custGeom>
              <a:avLst/>
              <a:gdLst/>
              <a:ahLst/>
              <a:cxnLst/>
              <a:rect l="l" t="t" r="r" b="b"/>
              <a:pathLst>
                <a:path w="341629" h="457200">
                  <a:moveTo>
                    <a:pt x="170687" y="0"/>
                  </a:moveTo>
                  <a:lnTo>
                    <a:pt x="170687" y="114299"/>
                  </a:lnTo>
                  <a:lnTo>
                    <a:pt x="0" y="114299"/>
                  </a:lnTo>
                  <a:lnTo>
                    <a:pt x="0" y="342899"/>
                  </a:lnTo>
                  <a:lnTo>
                    <a:pt x="170687" y="342899"/>
                  </a:lnTo>
                  <a:lnTo>
                    <a:pt x="170687" y="457199"/>
                  </a:lnTo>
                  <a:lnTo>
                    <a:pt x="341376" y="228599"/>
                  </a:lnTo>
                  <a:lnTo>
                    <a:pt x="170687" y="0"/>
                  </a:lnTo>
                  <a:close/>
                </a:path>
              </a:pathLst>
            </a:custGeom>
            <a:solidFill>
              <a:srgbClr val="005A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897118" y="3914394"/>
              <a:ext cx="341630" cy="457200"/>
            </a:xfrm>
            <a:custGeom>
              <a:avLst/>
              <a:gdLst/>
              <a:ahLst/>
              <a:cxnLst/>
              <a:rect l="l" t="t" r="r" b="b"/>
              <a:pathLst>
                <a:path w="341629" h="457200">
                  <a:moveTo>
                    <a:pt x="0" y="114299"/>
                  </a:moveTo>
                  <a:lnTo>
                    <a:pt x="170687" y="114299"/>
                  </a:lnTo>
                  <a:lnTo>
                    <a:pt x="170687" y="0"/>
                  </a:lnTo>
                  <a:lnTo>
                    <a:pt x="341376" y="228599"/>
                  </a:lnTo>
                  <a:lnTo>
                    <a:pt x="170687" y="457199"/>
                  </a:lnTo>
                  <a:lnTo>
                    <a:pt x="170687" y="342899"/>
                  </a:lnTo>
                  <a:lnTo>
                    <a:pt x="0" y="342899"/>
                  </a:lnTo>
                  <a:lnTo>
                    <a:pt x="0" y="114299"/>
                  </a:lnTo>
                  <a:close/>
                </a:path>
              </a:pathLst>
            </a:custGeom>
            <a:ln w="25908">
              <a:solidFill>
                <a:srgbClr val="0040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2641473" y="5139690"/>
            <a:ext cx="2821305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Confidence</a:t>
            </a:r>
            <a:r>
              <a:rPr dirty="0" sz="1400" spc="-7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score</a:t>
            </a:r>
            <a:r>
              <a:rPr dirty="0" sz="1400" spc="-6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based</a:t>
            </a:r>
            <a:r>
              <a:rPr dirty="0" sz="1400" spc="-5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on</a:t>
            </a:r>
            <a:r>
              <a:rPr dirty="0" sz="1400" spc="-2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natural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language,</a:t>
            </a:r>
            <a:r>
              <a:rPr dirty="0" sz="1400" spc="-7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complexity,</a:t>
            </a:r>
            <a:r>
              <a:rPr dirty="0" sz="1400" spc="-2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case,</a:t>
            </a:r>
            <a:r>
              <a:rPr dirty="0" sz="1400" spc="-5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context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clues</a:t>
            </a:r>
            <a:r>
              <a:rPr dirty="0" sz="1400" spc="-5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(‘anti-’),</a:t>
            </a:r>
            <a:r>
              <a:rPr dirty="0" sz="1400" spc="-6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proximity</a:t>
            </a:r>
            <a:r>
              <a:rPr dirty="0" sz="1400" spc="-3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of</a:t>
            </a:r>
            <a:r>
              <a:rPr dirty="0" sz="1400" spc="-3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4A4A4A"/>
                </a:solidFill>
                <a:latin typeface="Arial"/>
                <a:cs typeface="Arial"/>
              </a:rPr>
              <a:t>terms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 descr=""/>
          <p:cNvSpPr/>
          <p:nvPr/>
        </p:nvSpPr>
        <p:spPr>
          <a:xfrm>
            <a:off x="2314194" y="4659629"/>
            <a:ext cx="0" cy="1701800"/>
          </a:xfrm>
          <a:custGeom>
            <a:avLst/>
            <a:gdLst/>
            <a:ahLst/>
            <a:cxnLst/>
            <a:rect l="l" t="t" r="r" b="b"/>
            <a:pathLst>
              <a:path w="0" h="1701800">
                <a:moveTo>
                  <a:pt x="0" y="0"/>
                </a:moveTo>
                <a:lnTo>
                  <a:pt x="0" y="1701800"/>
                </a:lnTo>
              </a:path>
            </a:pathLst>
          </a:custGeom>
          <a:ln w="38100">
            <a:solidFill>
              <a:srgbClr val="005884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6017514" y="4604765"/>
            <a:ext cx="0" cy="1729105"/>
          </a:xfrm>
          <a:custGeom>
            <a:avLst/>
            <a:gdLst/>
            <a:ahLst/>
            <a:cxnLst/>
            <a:rect l="l" t="t" r="r" b="b"/>
            <a:pathLst>
              <a:path w="0" h="1729104">
                <a:moveTo>
                  <a:pt x="0" y="0"/>
                </a:moveTo>
                <a:lnTo>
                  <a:pt x="0" y="1728787"/>
                </a:lnTo>
              </a:path>
            </a:pathLst>
          </a:custGeom>
          <a:ln w="38100">
            <a:solidFill>
              <a:srgbClr val="005884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535635" y="3409569"/>
            <a:ext cx="12661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Tumor</a:t>
            </a:r>
            <a:r>
              <a:rPr dirty="0" sz="12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FFFFFF"/>
                </a:solidFill>
                <a:latin typeface="Arial"/>
                <a:cs typeface="Arial"/>
              </a:rPr>
              <a:t>protein</a:t>
            </a:r>
            <a:r>
              <a:rPr dirty="0" sz="1200" spc="-25">
                <a:solidFill>
                  <a:srgbClr val="FFFFFF"/>
                </a:solidFill>
                <a:latin typeface="Arial"/>
                <a:cs typeface="Arial"/>
              </a:rPr>
              <a:t> p53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589724" y="3691064"/>
            <a:ext cx="1303655" cy="466725"/>
            <a:chOff x="589724" y="3691064"/>
            <a:chExt cx="1303655" cy="466725"/>
          </a:xfrm>
        </p:grpSpPr>
        <p:sp>
          <p:nvSpPr>
            <p:cNvPr id="30" name="object 30" descr=""/>
            <p:cNvSpPr/>
            <p:nvPr/>
          </p:nvSpPr>
          <p:spPr>
            <a:xfrm>
              <a:off x="602742" y="3704082"/>
              <a:ext cx="142240" cy="264160"/>
            </a:xfrm>
            <a:custGeom>
              <a:avLst/>
              <a:gdLst/>
              <a:ahLst/>
              <a:cxnLst/>
              <a:rect l="l" t="t" r="r" b="b"/>
              <a:pathLst>
                <a:path w="142240" h="264160">
                  <a:moveTo>
                    <a:pt x="0" y="0"/>
                  </a:moveTo>
                  <a:lnTo>
                    <a:pt x="0" y="263906"/>
                  </a:lnTo>
                  <a:lnTo>
                    <a:pt x="141897" y="263906"/>
                  </a:lnTo>
                </a:path>
              </a:pathLst>
            </a:custGeom>
            <a:ln w="25908">
              <a:solidFill>
                <a:srgbClr val="185E8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744474" y="3792474"/>
              <a:ext cx="1135380" cy="352425"/>
            </a:xfrm>
            <a:custGeom>
              <a:avLst/>
              <a:gdLst/>
              <a:ahLst/>
              <a:cxnLst/>
              <a:rect l="l" t="t" r="r" b="b"/>
              <a:pathLst>
                <a:path w="1135380" h="352425">
                  <a:moveTo>
                    <a:pt x="1100201" y="0"/>
                  </a:moveTo>
                  <a:lnTo>
                    <a:pt x="35204" y="0"/>
                  </a:lnTo>
                  <a:lnTo>
                    <a:pt x="21500" y="2764"/>
                  </a:lnTo>
                  <a:lnTo>
                    <a:pt x="10310" y="10302"/>
                  </a:lnTo>
                  <a:lnTo>
                    <a:pt x="2766" y="21484"/>
                  </a:lnTo>
                  <a:lnTo>
                    <a:pt x="0" y="35178"/>
                  </a:lnTo>
                  <a:lnTo>
                    <a:pt x="0" y="316864"/>
                  </a:lnTo>
                  <a:lnTo>
                    <a:pt x="2766" y="330559"/>
                  </a:lnTo>
                  <a:lnTo>
                    <a:pt x="10310" y="341741"/>
                  </a:lnTo>
                  <a:lnTo>
                    <a:pt x="21500" y="349279"/>
                  </a:lnTo>
                  <a:lnTo>
                    <a:pt x="35204" y="352044"/>
                  </a:lnTo>
                  <a:lnTo>
                    <a:pt x="1100201" y="352044"/>
                  </a:lnTo>
                  <a:lnTo>
                    <a:pt x="1113895" y="349279"/>
                  </a:lnTo>
                  <a:lnTo>
                    <a:pt x="1125077" y="341741"/>
                  </a:lnTo>
                  <a:lnTo>
                    <a:pt x="1132615" y="330559"/>
                  </a:lnTo>
                  <a:lnTo>
                    <a:pt x="1135380" y="316864"/>
                  </a:lnTo>
                  <a:lnTo>
                    <a:pt x="1135380" y="35178"/>
                  </a:lnTo>
                  <a:lnTo>
                    <a:pt x="1132615" y="21484"/>
                  </a:lnTo>
                  <a:lnTo>
                    <a:pt x="1125077" y="10302"/>
                  </a:lnTo>
                  <a:lnTo>
                    <a:pt x="1113895" y="2764"/>
                  </a:lnTo>
                  <a:lnTo>
                    <a:pt x="1100201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744474" y="3792474"/>
              <a:ext cx="1135380" cy="352425"/>
            </a:xfrm>
            <a:custGeom>
              <a:avLst/>
              <a:gdLst/>
              <a:ahLst/>
              <a:cxnLst/>
              <a:rect l="l" t="t" r="r" b="b"/>
              <a:pathLst>
                <a:path w="1135380" h="352425">
                  <a:moveTo>
                    <a:pt x="0" y="35178"/>
                  </a:moveTo>
                  <a:lnTo>
                    <a:pt x="2766" y="21484"/>
                  </a:lnTo>
                  <a:lnTo>
                    <a:pt x="10310" y="10302"/>
                  </a:lnTo>
                  <a:lnTo>
                    <a:pt x="21500" y="2764"/>
                  </a:lnTo>
                  <a:lnTo>
                    <a:pt x="35204" y="0"/>
                  </a:lnTo>
                  <a:lnTo>
                    <a:pt x="1100201" y="0"/>
                  </a:lnTo>
                  <a:lnTo>
                    <a:pt x="1113895" y="2764"/>
                  </a:lnTo>
                  <a:lnTo>
                    <a:pt x="1125077" y="10302"/>
                  </a:lnTo>
                  <a:lnTo>
                    <a:pt x="1132615" y="21484"/>
                  </a:lnTo>
                  <a:lnTo>
                    <a:pt x="1135380" y="35178"/>
                  </a:lnTo>
                  <a:lnTo>
                    <a:pt x="1135380" y="316864"/>
                  </a:lnTo>
                  <a:lnTo>
                    <a:pt x="1132615" y="330559"/>
                  </a:lnTo>
                  <a:lnTo>
                    <a:pt x="1125077" y="341741"/>
                  </a:lnTo>
                  <a:lnTo>
                    <a:pt x="1113895" y="349279"/>
                  </a:lnTo>
                  <a:lnTo>
                    <a:pt x="1100201" y="352044"/>
                  </a:lnTo>
                  <a:lnTo>
                    <a:pt x="35204" y="352044"/>
                  </a:lnTo>
                  <a:lnTo>
                    <a:pt x="21500" y="349279"/>
                  </a:lnTo>
                  <a:lnTo>
                    <a:pt x="10310" y="341741"/>
                  </a:lnTo>
                  <a:lnTo>
                    <a:pt x="2766" y="330559"/>
                  </a:lnTo>
                  <a:lnTo>
                    <a:pt x="0" y="316864"/>
                  </a:lnTo>
                  <a:lnTo>
                    <a:pt x="0" y="35178"/>
                  </a:lnTo>
                  <a:close/>
                </a:path>
              </a:pathLst>
            </a:custGeom>
            <a:ln w="25908">
              <a:solidFill>
                <a:srgbClr val="00517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1214119" y="3885057"/>
            <a:ext cx="19494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5">
                <a:solidFill>
                  <a:srgbClr val="4A4A4A"/>
                </a:solidFill>
                <a:latin typeface="Arial"/>
                <a:cs typeface="Arial"/>
              </a:rPr>
              <a:t>p53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589724" y="3691064"/>
            <a:ext cx="1303655" cy="907415"/>
            <a:chOff x="589724" y="3691064"/>
            <a:chExt cx="1303655" cy="907415"/>
          </a:xfrm>
        </p:grpSpPr>
        <p:sp>
          <p:nvSpPr>
            <p:cNvPr id="35" name="object 35" descr=""/>
            <p:cNvSpPr/>
            <p:nvPr/>
          </p:nvSpPr>
          <p:spPr>
            <a:xfrm>
              <a:off x="602742" y="3704082"/>
              <a:ext cx="142240" cy="704215"/>
            </a:xfrm>
            <a:custGeom>
              <a:avLst/>
              <a:gdLst/>
              <a:ahLst/>
              <a:cxnLst/>
              <a:rect l="l" t="t" r="r" b="b"/>
              <a:pathLst>
                <a:path w="142240" h="704214">
                  <a:moveTo>
                    <a:pt x="0" y="0"/>
                  </a:moveTo>
                  <a:lnTo>
                    <a:pt x="0" y="703834"/>
                  </a:lnTo>
                  <a:lnTo>
                    <a:pt x="141897" y="703834"/>
                  </a:lnTo>
                </a:path>
              </a:pathLst>
            </a:custGeom>
            <a:ln w="25908">
              <a:solidFill>
                <a:srgbClr val="185E8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744474" y="4232910"/>
              <a:ext cx="1135380" cy="352425"/>
            </a:xfrm>
            <a:custGeom>
              <a:avLst/>
              <a:gdLst/>
              <a:ahLst/>
              <a:cxnLst/>
              <a:rect l="l" t="t" r="r" b="b"/>
              <a:pathLst>
                <a:path w="1135380" h="352425">
                  <a:moveTo>
                    <a:pt x="1100201" y="0"/>
                  </a:moveTo>
                  <a:lnTo>
                    <a:pt x="35204" y="0"/>
                  </a:lnTo>
                  <a:lnTo>
                    <a:pt x="21500" y="2764"/>
                  </a:lnTo>
                  <a:lnTo>
                    <a:pt x="10310" y="10302"/>
                  </a:lnTo>
                  <a:lnTo>
                    <a:pt x="2766" y="21484"/>
                  </a:lnTo>
                  <a:lnTo>
                    <a:pt x="0" y="35178"/>
                  </a:lnTo>
                  <a:lnTo>
                    <a:pt x="0" y="316864"/>
                  </a:lnTo>
                  <a:lnTo>
                    <a:pt x="2766" y="330559"/>
                  </a:lnTo>
                  <a:lnTo>
                    <a:pt x="10310" y="341741"/>
                  </a:lnTo>
                  <a:lnTo>
                    <a:pt x="21500" y="349279"/>
                  </a:lnTo>
                  <a:lnTo>
                    <a:pt x="35204" y="352044"/>
                  </a:lnTo>
                  <a:lnTo>
                    <a:pt x="1100201" y="352044"/>
                  </a:lnTo>
                  <a:lnTo>
                    <a:pt x="1113895" y="349279"/>
                  </a:lnTo>
                  <a:lnTo>
                    <a:pt x="1125077" y="341741"/>
                  </a:lnTo>
                  <a:lnTo>
                    <a:pt x="1132615" y="330559"/>
                  </a:lnTo>
                  <a:lnTo>
                    <a:pt x="1135380" y="316864"/>
                  </a:lnTo>
                  <a:lnTo>
                    <a:pt x="1135380" y="35178"/>
                  </a:lnTo>
                  <a:lnTo>
                    <a:pt x="1132615" y="21484"/>
                  </a:lnTo>
                  <a:lnTo>
                    <a:pt x="1125077" y="10302"/>
                  </a:lnTo>
                  <a:lnTo>
                    <a:pt x="1113895" y="2764"/>
                  </a:lnTo>
                  <a:lnTo>
                    <a:pt x="1100201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744474" y="4232910"/>
              <a:ext cx="1135380" cy="352425"/>
            </a:xfrm>
            <a:custGeom>
              <a:avLst/>
              <a:gdLst/>
              <a:ahLst/>
              <a:cxnLst/>
              <a:rect l="l" t="t" r="r" b="b"/>
              <a:pathLst>
                <a:path w="1135380" h="352425">
                  <a:moveTo>
                    <a:pt x="0" y="35178"/>
                  </a:moveTo>
                  <a:lnTo>
                    <a:pt x="2766" y="21484"/>
                  </a:lnTo>
                  <a:lnTo>
                    <a:pt x="10310" y="10302"/>
                  </a:lnTo>
                  <a:lnTo>
                    <a:pt x="21500" y="2764"/>
                  </a:lnTo>
                  <a:lnTo>
                    <a:pt x="35204" y="0"/>
                  </a:lnTo>
                  <a:lnTo>
                    <a:pt x="1100201" y="0"/>
                  </a:lnTo>
                  <a:lnTo>
                    <a:pt x="1113895" y="2764"/>
                  </a:lnTo>
                  <a:lnTo>
                    <a:pt x="1125077" y="10302"/>
                  </a:lnTo>
                  <a:lnTo>
                    <a:pt x="1132615" y="21484"/>
                  </a:lnTo>
                  <a:lnTo>
                    <a:pt x="1135380" y="35178"/>
                  </a:lnTo>
                  <a:lnTo>
                    <a:pt x="1135380" y="316864"/>
                  </a:lnTo>
                  <a:lnTo>
                    <a:pt x="1132615" y="330559"/>
                  </a:lnTo>
                  <a:lnTo>
                    <a:pt x="1125077" y="341741"/>
                  </a:lnTo>
                  <a:lnTo>
                    <a:pt x="1113895" y="349279"/>
                  </a:lnTo>
                  <a:lnTo>
                    <a:pt x="1100201" y="352044"/>
                  </a:lnTo>
                  <a:lnTo>
                    <a:pt x="35204" y="352044"/>
                  </a:lnTo>
                  <a:lnTo>
                    <a:pt x="21500" y="349279"/>
                  </a:lnTo>
                  <a:lnTo>
                    <a:pt x="10310" y="341741"/>
                  </a:lnTo>
                  <a:lnTo>
                    <a:pt x="2766" y="330559"/>
                  </a:lnTo>
                  <a:lnTo>
                    <a:pt x="0" y="316864"/>
                  </a:lnTo>
                  <a:lnTo>
                    <a:pt x="0" y="35178"/>
                  </a:lnTo>
                  <a:close/>
                </a:path>
              </a:pathLst>
            </a:custGeom>
            <a:ln w="25908">
              <a:solidFill>
                <a:srgbClr val="0A5F9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 descr=""/>
          <p:cNvSpPr txBox="1"/>
          <p:nvPr/>
        </p:nvSpPr>
        <p:spPr>
          <a:xfrm>
            <a:off x="1176019" y="4325239"/>
            <a:ext cx="26987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4A4A4A"/>
                </a:solidFill>
                <a:latin typeface="Arial"/>
                <a:cs typeface="Arial"/>
              </a:rPr>
              <a:t>TP53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589724" y="3691064"/>
            <a:ext cx="1303655" cy="1346200"/>
            <a:chOff x="589724" y="3691064"/>
            <a:chExt cx="1303655" cy="1346200"/>
          </a:xfrm>
        </p:grpSpPr>
        <p:sp>
          <p:nvSpPr>
            <p:cNvPr id="40" name="object 40" descr=""/>
            <p:cNvSpPr/>
            <p:nvPr/>
          </p:nvSpPr>
          <p:spPr>
            <a:xfrm>
              <a:off x="602742" y="3704082"/>
              <a:ext cx="142240" cy="1144270"/>
            </a:xfrm>
            <a:custGeom>
              <a:avLst/>
              <a:gdLst/>
              <a:ahLst/>
              <a:cxnLst/>
              <a:rect l="l" t="t" r="r" b="b"/>
              <a:pathLst>
                <a:path w="142240" h="1144270">
                  <a:moveTo>
                    <a:pt x="0" y="0"/>
                  </a:moveTo>
                  <a:lnTo>
                    <a:pt x="0" y="1143762"/>
                  </a:lnTo>
                  <a:lnTo>
                    <a:pt x="141897" y="1143762"/>
                  </a:lnTo>
                </a:path>
              </a:pathLst>
            </a:custGeom>
            <a:ln w="25908">
              <a:solidFill>
                <a:srgbClr val="185E8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744474" y="4671822"/>
              <a:ext cx="1135380" cy="352425"/>
            </a:xfrm>
            <a:custGeom>
              <a:avLst/>
              <a:gdLst/>
              <a:ahLst/>
              <a:cxnLst/>
              <a:rect l="l" t="t" r="r" b="b"/>
              <a:pathLst>
                <a:path w="1135380" h="352425">
                  <a:moveTo>
                    <a:pt x="1100201" y="0"/>
                  </a:moveTo>
                  <a:lnTo>
                    <a:pt x="35204" y="0"/>
                  </a:lnTo>
                  <a:lnTo>
                    <a:pt x="21500" y="2764"/>
                  </a:lnTo>
                  <a:lnTo>
                    <a:pt x="10310" y="10302"/>
                  </a:lnTo>
                  <a:lnTo>
                    <a:pt x="2766" y="21484"/>
                  </a:lnTo>
                  <a:lnTo>
                    <a:pt x="0" y="35178"/>
                  </a:lnTo>
                  <a:lnTo>
                    <a:pt x="0" y="316864"/>
                  </a:lnTo>
                  <a:lnTo>
                    <a:pt x="2766" y="330559"/>
                  </a:lnTo>
                  <a:lnTo>
                    <a:pt x="10310" y="341741"/>
                  </a:lnTo>
                  <a:lnTo>
                    <a:pt x="21500" y="349279"/>
                  </a:lnTo>
                  <a:lnTo>
                    <a:pt x="35204" y="352044"/>
                  </a:lnTo>
                  <a:lnTo>
                    <a:pt x="1100201" y="352044"/>
                  </a:lnTo>
                  <a:lnTo>
                    <a:pt x="1113895" y="349279"/>
                  </a:lnTo>
                  <a:lnTo>
                    <a:pt x="1125077" y="341741"/>
                  </a:lnTo>
                  <a:lnTo>
                    <a:pt x="1132615" y="330559"/>
                  </a:lnTo>
                  <a:lnTo>
                    <a:pt x="1135380" y="316864"/>
                  </a:lnTo>
                  <a:lnTo>
                    <a:pt x="1135380" y="35178"/>
                  </a:lnTo>
                  <a:lnTo>
                    <a:pt x="1132615" y="21484"/>
                  </a:lnTo>
                  <a:lnTo>
                    <a:pt x="1125077" y="10302"/>
                  </a:lnTo>
                  <a:lnTo>
                    <a:pt x="1113895" y="2764"/>
                  </a:lnTo>
                  <a:lnTo>
                    <a:pt x="1100201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744474" y="4671822"/>
              <a:ext cx="1135380" cy="352425"/>
            </a:xfrm>
            <a:custGeom>
              <a:avLst/>
              <a:gdLst/>
              <a:ahLst/>
              <a:cxnLst/>
              <a:rect l="l" t="t" r="r" b="b"/>
              <a:pathLst>
                <a:path w="1135380" h="352425">
                  <a:moveTo>
                    <a:pt x="0" y="35178"/>
                  </a:moveTo>
                  <a:lnTo>
                    <a:pt x="2766" y="21484"/>
                  </a:lnTo>
                  <a:lnTo>
                    <a:pt x="10310" y="10302"/>
                  </a:lnTo>
                  <a:lnTo>
                    <a:pt x="21500" y="2764"/>
                  </a:lnTo>
                  <a:lnTo>
                    <a:pt x="35204" y="0"/>
                  </a:lnTo>
                  <a:lnTo>
                    <a:pt x="1100201" y="0"/>
                  </a:lnTo>
                  <a:lnTo>
                    <a:pt x="1113895" y="2764"/>
                  </a:lnTo>
                  <a:lnTo>
                    <a:pt x="1125077" y="10302"/>
                  </a:lnTo>
                  <a:lnTo>
                    <a:pt x="1132615" y="21484"/>
                  </a:lnTo>
                  <a:lnTo>
                    <a:pt x="1135380" y="35178"/>
                  </a:lnTo>
                  <a:lnTo>
                    <a:pt x="1135380" y="316864"/>
                  </a:lnTo>
                  <a:lnTo>
                    <a:pt x="1132615" y="330559"/>
                  </a:lnTo>
                  <a:lnTo>
                    <a:pt x="1125077" y="341741"/>
                  </a:lnTo>
                  <a:lnTo>
                    <a:pt x="1113895" y="349279"/>
                  </a:lnTo>
                  <a:lnTo>
                    <a:pt x="1100201" y="352044"/>
                  </a:lnTo>
                  <a:lnTo>
                    <a:pt x="35204" y="352044"/>
                  </a:lnTo>
                  <a:lnTo>
                    <a:pt x="21500" y="349279"/>
                  </a:lnTo>
                  <a:lnTo>
                    <a:pt x="10310" y="341741"/>
                  </a:lnTo>
                  <a:lnTo>
                    <a:pt x="2766" y="330559"/>
                  </a:lnTo>
                  <a:lnTo>
                    <a:pt x="0" y="316864"/>
                  </a:lnTo>
                  <a:lnTo>
                    <a:pt x="0" y="35178"/>
                  </a:lnTo>
                  <a:close/>
                </a:path>
              </a:pathLst>
            </a:custGeom>
            <a:ln w="25908">
              <a:solidFill>
                <a:srgbClr val="1A6DA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1162303" y="4764735"/>
            <a:ext cx="29781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20">
                <a:solidFill>
                  <a:srgbClr val="4A4A4A"/>
                </a:solidFill>
                <a:latin typeface="Arial"/>
                <a:cs typeface="Arial"/>
              </a:rPr>
              <a:t>BCC7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589724" y="3691064"/>
            <a:ext cx="1303655" cy="1786255"/>
            <a:chOff x="589724" y="3691064"/>
            <a:chExt cx="1303655" cy="1786255"/>
          </a:xfrm>
        </p:grpSpPr>
        <p:sp>
          <p:nvSpPr>
            <p:cNvPr id="45" name="object 45" descr=""/>
            <p:cNvSpPr/>
            <p:nvPr/>
          </p:nvSpPr>
          <p:spPr>
            <a:xfrm>
              <a:off x="602742" y="3704082"/>
              <a:ext cx="142240" cy="1583690"/>
            </a:xfrm>
            <a:custGeom>
              <a:avLst/>
              <a:gdLst/>
              <a:ahLst/>
              <a:cxnLst/>
              <a:rect l="l" t="t" r="r" b="b"/>
              <a:pathLst>
                <a:path w="142240" h="1583689">
                  <a:moveTo>
                    <a:pt x="0" y="0"/>
                  </a:moveTo>
                  <a:lnTo>
                    <a:pt x="0" y="1583690"/>
                  </a:lnTo>
                  <a:lnTo>
                    <a:pt x="141897" y="1583690"/>
                  </a:lnTo>
                </a:path>
              </a:pathLst>
            </a:custGeom>
            <a:ln w="25907">
              <a:solidFill>
                <a:srgbClr val="185E8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744474" y="5112258"/>
              <a:ext cx="1135380" cy="352425"/>
            </a:xfrm>
            <a:custGeom>
              <a:avLst/>
              <a:gdLst/>
              <a:ahLst/>
              <a:cxnLst/>
              <a:rect l="l" t="t" r="r" b="b"/>
              <a:pathLst>
                <a:path w="1135380" h="352425">
                  <a:moveTo>
                    <a:pt x="1100201" y="0"/>
                  </a:moveTo>
                  <a:lnTo>
                    <a:pt x="35204" y="0"/>
                  </a:lnTo>
                  <a:lnTo>
                    <a:pt x="21500" y="2764"/>
                  </a:lnTo>
                  <a:lnTo>
                    <a:pt x="10310" y="10302"/>
                  </a:lnTo>
                  <a:lnTo>
                    <a:pt x="2766" y="21484"/>
                  </a:lnTo>
                  <a:lnTo>
                    <a:pt x="0" y="35179"/>
                  </a:lnTo>
                  <a:lnTo>
                    <a:pt x="0" y="316865"/>
                  </a:lnTo>
                  <a:lnTo>
                    <a:pt x="2766" y="330559"/>
                  </a:lnTo>
                  <a:lnTo>
                    <a:pt x="10310" y="341741"/>
                  </a:lnTo>
                  <a:lnTo>
                    <a:pt x="21500" y="349279"/>
                  </a:lnTo>
                  <a:lnTo>
                    <a:pt x="35204" y="352044"/>
                  </a:lnTo>
                  <a:lnTo>
                    <a:pt x="1100201" y="352044"/>
                  </a:lnTo>
                  <a:lnTo>
                    <a:pt x="1113895" y="349279"/>
                  </a:lnTo>
                  <a:lnTo>
                    <a:pt x="1125077" y="341741"/>
                  </a:lnTo>
                  <a:lnTo>
                    <a:pt x="1132615" y="330559"/>
                  </a:lnTo>
                  <a:lnTo>
                    <a:pt x="1135380" y="316865"/>
                  </a:lnTo>
                  <a:lnTo>
                    <a:pt x="1135380" y="35179"/>
                  </a:lnTo>
                  <a:lnTo>
                    <a:pt x="1132615" y="21484"/>
                  </a:lnTo>
                  <a:lnTo>
                    <a:pt x="1125077" y="10302"/>
                  </a:lnTo>
                  <a:lnTo>
                    <a:pt x="1113895" y="2764"/>
                  </a:lnTo>
                  <a:lnTo>
                    <a:pt x="1100201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744474" y="5112258"/>
              <a:ext cx="1135380" cy="352425"/>
            </a:xfrm>
            <a:custGeom>
              <a:avLst/>
              <a:gdLst/>
              <a:ahLst/>
              <a:cxnLst/>
              <a:rect l="l" t="t" r="r" b="b"/>
              <a:pathLst>
                <a:path w="1135380" h="352425">
                  <a:moveTo>
                    <a:pt x="0" y="35179"/>
                  </a:moveTo>
                  <a:lnTo>
                    <a:pt x="2766" y="21484"/>
                  </a:lnTo>
                  <a:lnTo>
                    <a:pt x="10310" y="10302"/>
                  </a:lnTo>
                  <a:lnTo>
                    <a:pt x="21500" y="2764"/>
                  </a:lnTo>
                  <a:lnTo>
                    <a:pt x="35204" y="0"/>
                  </a:lnTo>
                  <a:lnTo>
                    <a:pt x="1100201" y="0"/>
                  </a:lnTo>
                  <a:lnTo>
                    <a:pt x="1113895" y="2764"/>
                  </a:lnTo>
                  <a:lnTo>
                    <a:pt x="1125077" y="10302"/>
                  </a:lnTo>
                  <a:lnTo>
                    <a:pt x="1132615" y="21484"/>
                  </a:lnTo>
                  <a:lnTo>
                    <a:pt x="1135380" y="35179"/>
                  </a:lnTo>
                  <a:lnTo>
                    <a:pt x="1135380" y="316865"/>
                  </a:lnTo>
                  <a:lnTo>
                    <a:pt x="1132615" y="330559"/>
                  </a:lnTo>
                  <a:lnTo>
                    <a:pt x="1125077" y="341741"/>
                  </a:lnTo>
                  <a:lnTo>
                    <a:pt x="1113895" y="349279"/>
                  </a:lnTo>
                  <a:lnTo>
                    <a:pt x="1100201" y="352044"/>
                  </a:lnTo>
                  <a:lnTo>
                    <a:pt x="35204" y="352044"/>
                  </a:lnTo>
                  <a:lnTo>
                    <a:pt x="21500" y="349279"/>
                  </a:lnTo>
                  <a:lnTo>
                    <a:pt x="10310" y="341741"/>
                  </a:lnTo>
                  <a:lnTo>
                    <a:pt x="2766" y="330559"/>
                  </a:lnTo>
                  <a:lnTo>
                    <a:pt x="0" y="316865"/>
                  </a:lnTo>
                  <a:lnTo>
                    <a:pt x="0" y="35179"/>
                  </a:lnTo>
                  <a:close/>
                </a:path>
              </a:pathLst>
            </a:custGeom>
            <a:ln w="25908">
              <a:solidFill>
                <a:srgbClr val="2D79B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 descr=""/>
          <p:cNvSpPr txBox="1"/>
          <p:nvPr/>
        </p:nvSpPr>
        <p:spPr>
          <a:xfrm>
            <a:off x="1176019" y="5205222"/>
            <a:ext cx="26987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solidFill>
                  <a:srgbClr val="4A4A4A"/>
                </a:solidFill>
                <a:latin typeface="Arial"/>
                <a:cs typeface="Arial"/>
              </a:rPr>
              <a:t>LFS1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49" name="object 49" descr=""/>
          <p:cNvGrpSpPr/>
          <p:nvPr/>
        </p:nvGrpSpPr>
        <p:grpSpPr>
          <a:xfrm>
            <a:off x="589724" y="3691064"/>
            <a:ext cx="1303655" cy="2226945"/>
            <a:chOff x="589724" y="3691064"/>
            <a:chExt cx="1303655" cy="2226945"/>
          </a:xfrm>
        </p:grpSpPr>
        <p:sp>
          <p:nvSpPr>
            <p:cNvPr id="50" name="object 50" descr=""/>
            <p:cNvSpPr/>
            <p:nvPr/>
          </p:nvSpPr>
          <p:spPr>
            <a:xfrm>
              <a:off x="602742" y="3704082"/>
              <a:ext cx="142240" cy="2023745"/>
            </a:xfrm>
            <a:custGeom>
              <a:avLst/>
              <a:gdLst/>
              <a:ahLst/>
              <a:cxnLst/>
              <a:rect l="l" t="t" r="r" b="b"/>
              <a:pathLst>
                <a:path w="142240" h="2023745">
                  <a:moveTo>
                    <a:pt x="0" y="0"/>
                  </a:moveTo>
                  <a:lnTo>
                    <a:pt x="0" y="2023618"/>
                  </a:lnTo>
                  <a:lnTo>
                    <a:pt x="141897" y="2023618"/>
                  </a:lnTo>
                </a:path>
              </a:pathLst>
            </a:custGeom>
            <a:ln w="25908">
              <a:solidFill>
                <a:srgbClr val="185E8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744474" y="5552694"/>
              <a:ext cx="1135380" cy="352425"/>
            </a:xfrm>
            <a:custGeom>
              <a:avLst/>
              <a:gdLst/>
              <a:ahLst/>
              <a:cxnLst/>
              <a:rect l="l" t="t" r="r" b="b"/>
              <a:pathLst>
                <a:path w="1135380" h="352425">
                  <a:moveTo>
                    <a:pt x="1100201" y="0"/>
                  </a:moveTo>
                  <a:lnTo>
                    <a:pt x="35204" y="0"/>
                  </a:lnTo>
                  <a:lnTo>
                    <a:pt x="21500" y="2764"/>
                  </a:lnTo>
                  <a:lnTo>
                    <a:pt x="10310" y="10302"/>
                  </a:lnTo>
                  <a:lnTo>
                    <a:pt x="2766" y="21484"/>
                  </a:lnTo>
                  <a:lnTo>
                    <a:pt x="0" y="35178"/>
                  </a:lnTo>
                  <a:lnTo>
                    <a:pt x="0" y="316839"/>
                  </a:lnTo>
                  <a:lnTo>
                    <a:pt x="2766" y="330543"/>
                  </a:lnTo>
                  <a:lnTo>
                    <a:pt x="10310" y="341733"/>
                  </a:lnTo>
                  <a:lnTo>
                    <a:pt x="21500" y="349277"/>
                  </a:lnTo>
                  <a:lnTo>
                    <a:pt x="35204" y="352043"/>
                  </a:lnTo>
                  <a:lnTo>
                    <a:pt x="1100201" y="352043"/>
                  </a:lnTo>
                  <a:lnTo>
                    <a:pt x="1113895" y="349277"/>
                  </a:lnTo>
                  <a:lnTo>
                    <a:pt x="1125077" y="341733"/>
                  </a:lnTo>
                  <a:lnTo>
                    <a:pt x="1132615" y="330543"/>
                  </a:lnTo>
                  <a:lnTo>
                    <a:pt x="1135380" y="316839"/>
                  </a:lnTo>
                  <a:lnTo>
                    <a:pt x="1135380" y="35178"/>
                  </a:lnTo>
                  <a:lnTo>
                    <a:pt x="1132615" y="21484"/>
                  </a:lnTo>
                  <a:lnTo>
                    <a:pt x="1125077" y="10302"/>
                  </a:lnTo>
                  <a:lnTo>
                    <a:pt x="1113895" y="2764"/>
                  </a:lnTo>
                  <a:lnTo>
                    <a:pt x="1100201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744474" y="5552694"/>
              <a:ext cx="1135380" cy="352425"/>
            </a:xfrm>
            <a:custGeom>
              <a:avLst/>
              <a:gdLst/>
              <a:ahLst/>
              <a:cxnLst/>
              <a:rect l="l" t="t" r="r" b="b"/>
              <a:pathLst>
                <a:path w="1135380" h="352425">
                  <a:moveTo>
                    <a:pt x="0" y="35178"/>
                  </a:moveTo>
                  <a:lnTo>
                    <a:pt x="2766" y="21484"/>
                  </a:lnTo>
                  <a:lnTo>
                    <a:pt x="10310" y="10302"/>
                  </a:lnTo>
                  <a:lnTo>
                    <a:pt x="21500" y="2764"/>
                  </a:lnTo>
                  <a:lnTo>
                    <a:pt x="35204" y="0"/>
                  </a:lnTo>
                  <a:lnTo>
                    <a:pt x="1100201" y="0"/>
                  </a:lnTo>
                  <a:lnTo>
                    <a:pt x="1113895" y="2764"/>
                  </a:lnTo>
                  <a:lnTo>
                    <a:pt x="1125077" y="10302"/>
                  </a:lnTo>
                  <a:lnTo>
                    <a:pt x="1132615" y="21484"/>
                  </a:lnTo>
                  <a:lnTo>
                    <a:pt x="1135380" y="35178"/>
                  </a:lnTo>
                  <a:lnTo>
                    <a:pt x="1135380" y="316839"/>
                  </a:lnTo>
                  <a:lnTo>
                    <a:pt x="1132615" y="330543"/>
                  </a:lnTo>
                  <a:lnTo>
                    <a:pt x="1125077" y="341733"/>
                  </a:lnTo>
                  <a:lnTo>
                    <a:pt x="1113895" y="349277"/>
                  </a:lnTo>
                  <a:lnTo>
                    <a:pt x="1100201" y="352043"/>
                  </a:lnTo>
                  <a:lnTo>
                    <a:pt x="35204" y="352043"/>
                  </a:lnTo>
                  <a:lnTo>
                    <a:pt x="21500" y="349277"/>
                  </a:lnTo>
                  <a:lnTo>
                    <a:pt x="10310" y="341733"/>
                  </a:lnTo>
                  <a:lnTo>
                    <a:pt x="2766" y="330543"/>
                  </a:lnTo>
                  <a:lnTo>
                    <a:pt x="0" y="316839"/>
                  </a:lnTo>
                  <a:lnTo>
                    <a:pt x="0" y="35178"/>
                  </a:lnTo>
                  <a:close/>
                </a:path>
              </a:pathLst>
            </a:custGeom>
            <a:ln w="25908">
              <a:solidFill>
                <a:srgbClr val="4886B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 descr=""/>
          <p:cNvSpPr txBox="1"/>
          <p:nvPr/>
        </p:nvSpPr>
        <p:spPr>
          <a:xfrm>
            <a:off x="801116" y="5592572"/>
            <a:ext cx="1019175" cy="25336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425450" marR="5080" indent="-413384">
              <a:lnSpc>
                <a:spcPts val="830"/>
              </a:lnSpc>
              <a:spcBef>
                <a:spcPts val="240"/>
              </a:spcBef>
            </a:pPr>
            <a:r>
              <a:rPr dirty="0" sz="800">
                <a:solidFill>
                  <a:srgbClr val="4A4A4A"/>
                </a:solidFill>
                <a:latin typeface="Arial"/>
                <a:cs typeface="Arial"/>
              </a:rPr>
              <a:t>Cellular</a:t>
            </a:r>
            <a:r>
              <a:rPr dirty="0" sz="800" spc="-3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4A4A4A"/>
                </a:solidFill>
                <a:latin typeface="Arial"/>
                <a:cs typeface="Arial"/>
              </a:rPr>
              <a:t>tumor</a:t>
            </a:r>
            <a:r>
              <a:rPr dirty="0" sz="800" spc="-3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4A4A4A"/>
                </a:solidFill>
                <a:latin typeface="Arial"/>
                <a:cs typeface="Arial"/>
              </a:rPr>
              <a:t>antigen </a:t>
            </a:r>
            <a:r>
              <a:rPr dirty="0" sz="800" spc="-25">
                <a:solidFill>
                  <a:srgbClr val="4A4A4A"/>
                </a:solidFill>
                <a:latin typeface="Arial"/>
                <a:cs typeface="Arial"/>
              </a:rPr>
              <a:t>p53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54" name="object 54" descr=""/>
          <p:cNvGrpSpPr/>
          <p:nvPr/>
        </p:nvGrpSpPr>
        <p:grpSpPr>
          <a:xfrm>
            <a:off x="589724" y="3691064"/>
            <a:ext cx="1303655" cy="2665730"/>
            <a:chOff x="589724" y="3691064"/>
            <a:chExt cx="1303655" cy="2665730"/>
          </a:xfrm>
        </p:grpSpPr>
        <p:sp>
          <p:nvSpPr>
            <p:cNvPr id="55" name="object 55" descr=""/>
            <p:cNvSpPr/>
            <p:nvPr/>
          </p:nvSpPr>
          <p:spPr>
            <a:xfrm>
              <a:off x="602742" y="3704082"/>
              <a:ext cx="142240" cy="2463800"/>
            </a:xfrm>
            <a:custGeom>
              <a:avLst/>
              <a:gdLst/>
              <a:ahLst/>
              <a:cxnLst/>
              <a:rect l="l" t="t" r="r" b="b"/>
              <a:pathLst>
                <a:path w="142240" h="2463800">
                  <a:moveTo>
                    <a:pt x="0" y="0"/>
                  </a:moveTo>
                  <a:lnTo>
                    <a:pt x="0" y="2463533"/>
                  </a:lnTo>
                  <a:lnTo>
                    <a:pt x="141897" y="2463533"/>
                  </a:lnTo>
                </a:path>
              </a:pathLst>
            </a:custGeom>
            <a:ln w="25907">
              <a:solidFill>
                <a:srgbClr val="185E8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744474" y="5991606"/>
              <a:ext cx="1135380" cy="352425"/>
            </a:xfrm>
            <a:custGeom>
              <a:avLst/>
              <a:gdLst/>
              <a:ahLst/>
              <a:cxnLst/>
              <a:rect l="l" t="t" r="r" b="b"/>
              <a:pathLst>
                <a:path w="1135380" h="352425">
                  <a:moveTo>
                    <a:pt x="1100201" y="0"/>
                  </a:moveTo>
                  <a:lnTo>
                    <a:pt x="35204" y="0"/>
                  </a:lnTo>
                  <a:lnTo>
                    <a:pt x="21500" y="2766"/>
                  </a:lnTo>
                  <a:lnTo>
                    <a:pt x="10310" y="10310"/>
                  </a:lnTo>
                  <a:lnTo>
                    <a:pt x="2766" y="21500"/>
                  </a:lnTo>
                  <a:lnTo>
                    <a:pt x="0" y="35204"/>
                  </a:lnTo>
                  <a:lnTo>
                    <a:pt x="0" y="316839"/>
                  </a:lnTo>
                  <a:lnTo>
                    <a:pt x="2766" y="330543"/>
                  </a:lnTo>
                  <a:lnTo>
                    <a:pt x="10310" y="341733"/>
                  </a:lnTo>
                  <a:lnTo>
                    <a:pt x="21500" y="349277"/>
                  </a:lnTo>
                  <a:lnTo>
                    <a:pt x="35204" y="352044"/>
                  </a:lnTo>
                  <a:lnTo>
                    <a:pt x="1100201" y="352044"/>
                  </a:lnTo>
                  <a:lnTo>
                    <a:pt x="1113895" y="349277"/>
                  </a:lnTo>
                  <a:lnTo>
                    <a:pt x="1125077" y="341733"/>
                  </a:lnTo>
                  <a:lnTo>
                    <a:pt x="1132615" y="330543"/>
                  </a:lnTo>
                  <a:lnTo>
                    <a:pt x="1135380" y="316839"/>
                  </a:lnTo>
                  <a:lnTo>
                    <a:pt x="1135380" y="35204"/>
                  </a:lnTo>
                  <a:lnTo>
                    <a:pt x="1132615" y="21500"/>
                  </a:lnTo>
                  <a:lnTo>
                    <a:pt x="1125077" y="10310"/>
                  </a:lnTo>
                  <a:lnTo>
                    <a:pt x="1113895" y="2766"/>
                  </a:lnTo>
                  <a:lnTo>
                    <a:pt x="1100201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744474" y="5991606"/>
              <a:ext cx="1135380" cy="352425"/>
            </a:xfrm>
            <a:custGeom>
              <a:avLst/>
              <a:gdLst/>
              <a:ahLst/>
              <a:cxnLst/>
              <a:rect l="l" t="t" r="r" b="b"/>
              <a:pathLst>
                <a:path w="1135380" h="352425">
                  <a:moveTo>
                    <a:pt x="0" y="35204"/>
                  </a:moveTo>
                  <a:lnTo>
                    <a:pt x="2766" y="21500"/>
                  </a:lnTo>
                  <a:lnTo>
                    <a:pt x="10310" y="10310"/>
                  </a:lnTo>
                  <a:lnTo>
                    <a:pt x="21500" y="2766"/>
                  </a:lnTo>
                  <a:lnTo>
                    <a:pt x="35204" y="0"/>
                  </a:lnTo>
                  <a:lnTo>
                    <a:pt x="1100201" y="0"/>
                  </a:lnTo>
                  <a:lnTo>
                    <a:pt x="1113895" y="2766"/>
                  </a:lnTo>
                  <a:lnTo>
                    <a:pt x="1125077" y="10310"/>
                  </a:lnTo>
                  <a:lnTo>
                    <a:pt x="1132615" y="21500"/>
                  </a:lnTo>
                  <a:lnTo>
                    <a:pt x="1135380" y="35204"/>
                  </a:lnTo>
                  <a:lnTo>
                    <a:pt x="1135380" y="316839"/>
                  </a:lnTo>
                  <a:lnTo>
                    <a:pt x="1132615" y="330543"/>
                  </a:lnTo>
                  <a:lnTo>
                    <a:pt x="1125077" y="341733"/>
                  </a:lnTo>
                  <a:lnTo>
                    <a:pt x="1113895" y="349277"/>
                  </a:lnTo>
                  <a:lnTo>
                    <a:pt x="1100201" y="352044"/>
                  </a:lnTo>
                  <a:lnTo>
                    <a:pt x="35204" y="352044"/>
                  </a:lnTo>
                  <a:lnTo>
                    <a:pt x="21500" y="349277"/>
                  </a:lnTo>
                  <a:lnTo>
                    <a:pt x="10310" y="341733"/>
                  </a:lnTo>
                  <a:lnTo>
                    <a:pt x="2766" y="330543"/>
                  </a:lnTo>
                  <a:lnTo>
                    <a:pt x="0" y="316839"/>
                  </a:lnTo>
                  <a:lnTo>
                    <a:pt x="0" y="35204"/>
                  </a:lnTo>
                  <a:close/>
                </a:path>
              </a:pathLst>
            </a:custGeom>
            <a:ln w="25908">
              <a:solidFill>
                <a:srgbClr val="7093B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 txBox="1"/>
          <p:nvPr/>
        </p:nvSpPr>
        <p:spPr>
          <a:xfrm>
            <a:off x="843788" y="6085128"/>
            <a:ext cx="93535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4A4A4A"/>
                </a:solidFill>
                <a:latin typeface="Arial"/>
                <a:cs typeface="Arial"/>
              </a:rPr>
              <a:t>Phosphoprotein</a:t>
            </a:r>
            <a:r>
              <a:rPr dirty="0" sz="800" spc="-6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800" spc="-25">
                <a:solidFill>
                  <a:srgbClr val="4A4A4A"/>
                </a:solidFill>
                <a:latin typeface="Arial"/>
                <a:cs typeface="Arial"/>
              </a:rPr>
              <a:t>p53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589724" y="3691064"/>
            <a:ext cx="1303655" cy="3106420"/>
            <a:chOff x="589724" y="3691064"/>
            <a:chExt cx="1303655" cy="3106420"/>
          </a:xfrm>
        </p:grpSpPr>
        <p:sp>
          <p:nvSpPr>
            <p:cNvPr id="60" name="object 60" descr=""/>
            <p:cNvSpPr/>
            <p:nvPr/>
          </p:nvSpPr>
          <p:spPr>
            <a:xfrm>
              <a:off x="602742" y="3704082"/>
              <a:ext cx="142240" cy="2903855"/>
            </a:xfrm>
            <a:custGeom>
              <a:avLst/>
              <a:gdLst/>
              <a:ahLst/>
              <a:cxnLst/>
              <a:rect l="l" t="t" r="r" b="b"/>
              <a:pathLst>
                <a:path w="142240" h="2903854">
                  <a:moveTo>
                    <a:pt x="0" y="0"/>
                  </a:moveTo>
                  <a:lnTo>
                    <a:pt x="0" y="2903448"/>
                  </a:lnTo>
                  <a:lnTo>
                    <a:pt x="141897" y="2903448"/>
                  </a:lnTo>
                </a:path>
              </a:pathLst>
            </a:custGeom>
            <a:ln w="25908">
              <a:solidFill>
                <a:srgbClr val="185E8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744474" y="6432042"/>
              <a:ext cx="1135380" cy="352425"/>
            </a:xfrm>
            <a:custGeom>
              <a:avLst/>
              <a:gdLst/>
              <a:ahLst/>
              <a:cxnLst/>
              <a:rect l="l" t="t" r="r" b="b"/>
              <a:pathLst>
                <a:path w="1135380" h="352425">
                  <a:moveTo>
                    <a:pt x="1100201" y="0"/>
                  </a:moveTo>
                  <a:lnTo>
                    <a:pt x="35204" y="0"/>
                  </a:lnTo>
                  <a:lnTo>
                    <a:pt x="21500" y="2766"/>
                  </a:lnTo>
                  <a:lnTo>
                    <a:pt x="10310" y="10310"/>
                  </a:lnTo>
                  <a:lnTo>
                    <a:pt x="2766" y="21500"/>
                  </a:lnTo>
                  <a:lnTo>
                    <a:pt x="0" y="35204"/>
                  </a:lnTo>
                  <a:lnTo>
                    <a:pt x="0" y="316838"/>
                  </a:lnTo>
                  <a:lnTo>
                    <a:pt x="21500" y="349276"/>
                  </a:lnTo>
                  <a:lnTo>
                    <a:pt x="1100201" y="352045"/>
                  </a:lnTo>
                  <a:lnTo>
                    <a:pt x="1113895" y="349278"/>
                  </a:lnTo>
                  <a:lnTo>
                    <a:pt x="1125077" y="341733"/>
                  </a:lnTo>
                  <a:lnTo>
                    <a:pt x="1132615" y="330543"/>
                  </a:lnTo>
                  <a:lnTo>
                    <a:pt x="1135380" y="316839"/>
                  </a:lnTo>
                  <a:lnTo>
                    <a:pt x="1135380" y="35204"/>
                  </a:lnTo>
                  <a:lnTo>
                    <a:pt x="1132615" y="21500"/>
                  </a:lnTo>
                  <a:lnTo>
                    <a:pt x="1125077" y="10310"/>
                  </a:lnTo>
                  <a:lnTo>
                    <a:pt x="1113895" y="2766"/>
                  </a:lnTo>
                  <a:lnTo>
                    <a:pt x="1100201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744474" y="6432042"/>
              <a:ext cx="1135380" cy="352425"/>
            </a:xfrm>
            <a:custGeom>
              <a:avLst/>
              <a:gdLst/>
              <a:ahLst/>
              <a:cxnLst/>
              <a:rect l="l" t="t" r="r" b="b"/>
              <a:pathLst>
                <a:path w="1135380" h="352425">
                  <a:moveTo>
                    <a:pt x="0" y="35204"/>
                  </a:moveTo>
                  <a:lnTo>
                    <a:pt x="2766" y="21500"/>
                  </a:lnTo>
                  <a:lnTo>
                    <a:pt x="10310" y="10310"/>
                  </a:lnTo>
                  <a:lnTo>
                    <a:pt x="21500" y="2766"/>
                  </a:lnTo>
                  <a:lnTo>
                    <a:pt x="35204" y="0"/>
                  </a:lnTo>
                  <a:lnTo>
                    <a:pt x="1100201" y="0"/>
                  </a:lnTo>
                  <a:lnTo>
                    <a:pt x="1113895" y="2766"/>
                  </a:lnTo>
                  <a:lnTo>
                    <a:pt x="1125077" y="10310"/>
                  </a:lnTo>
                  <a:lnTo>
                    <a:pt x="1132615" y="21500"/>
                  </a:lnTo>
                  <a:lnTo>
                    <a:pt x="1135380" y="35204"/>
                  </a:lnTo>
                  <a:lnTo>
                    <a:pt x="1135380" y="316839"/>
                  </a:lnTo>
                  <a:lnTo>
                    <a:pt x="1132615" y="330543"/>
                  </a:lnTo>
                  <a:lnTo>
                    <a:pt x="1125077" y="341733"/>
                  </a:lnTo>
                  <a:lnTo>
                    <a:pt x="1113895" y="349278"/>
                  </a:lnTo>
                  <a:lnTo>
                    <a:pt x="1100201" y="352045"/>
                  </a:lnTo>
                  <a:lnTo>
                    <a:pt x="35204" y="352042"/>
                  </a:lnTo>
                  <a:lnTo>
                    <a:pt x="21500" y="349276"/>
                  </a:lnTo>
                  <a:lnTo>
                    <a:pt x="10310" y="341731"/>
                  </a:lnTo>
                  <a:lnTo>
                    <a:pt x="2766" y="330541"/>
                  </a:lnTo>
                  <a:lnTo>
                    <a:pt x="0" y="316838"/>
                  </a:lnTo>
                  <a:lnTo>
                    <a:pt x="0" y="35204"/>
                  </a:lnTo>
                  <a:close/>
                </a:path>
              </a:pathLst>
            </a:custGeom>
            <a:ln w="25907">
              <a:solidFill>
                <a:srgbClr val="94A3B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 descr=""/>
          <p:cNvSpPr txBox="1"/>
          <p:nvPr/>
        </p:nvSpPr>
        <p:spPr>
          <a:xfrm>
            <a:off x="874267" y="6525259"/>
            <a:ext cx="87312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solidFill>
                  <a:srgbClr val="4A4A4A"/>
                </a:solidFill>
                <a:latin typeface="Arial"/>
                <a:cs typeface="Arial"/>
              </a:rPr>
              <a:t>Antigen</a:t>
            </a:r>
            <a:r>
              <a:rPr dirty="0" sz="800" spc="1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4A4A4A"/>
                </a:solidFill>
                <a:latin typeface="Arial"/>
                <a:cs typeface="Arial"/>
              </a:rPr>
              <a:t>NY-CO-</a:t>
            </a:r>
            <a:r>
              <a:rPr dirty="0" sz="800" spc="-25">
                <a:solidFill>
                  <a:srgbClr val="4A4A4A"/>
                </a:solidFill>
                <a:latin typeface="Arial"/>
                <a:cs typeface="Arial"/>
              </a:rPr>
              <a:t>13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4" name="object 64" descr=""/>
          <p:cNvGrpSpPr/>
          <p:nvPr/>
        </p:nvGrpSpPr>
        <p:grpSpPr>
          <a:xfrm>
            <a:off x="6190488" y="4355591"/>
            <a:ext cx="2771140" cy="2383790"/>
            <a:chOff x="6190488" y="4355591"/>
            <a:chExt cx="2771140" cy="2383790"/>
          </a:xfrm>
        </p:grpSpPr>
        <p:pic>
          <p:nvPicPr>
            <p:cNvPr id="65" name="object 6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99632" y="4364735"/>
              <a:ext cx="1045463" cy="1284732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6195060" y="4360163"/>
              <a:ext cx="1054735" cy="1294130"/>
            </a:xfrm>
            <a:custGeom>
              <a:avLst/>
              <a:gdLst/>
              <a:ahLst/>
              <a:cxnLst/>
              <a:rect l="l" t="t" r="r" b="b"/>
              <a:pathLst>
                <a:path w="1054734" h="1294129">
                  <a:moveTo>
                    <a:pt x="0" y="1293876"/>
                  </a:moveTo>
                  <a:lnTo>
                    <a:pt x="1054608" y="1293876"/>
                  </a:lnTo>
                  <a:lnTo>
                    <a:pt x="1054608" y="0"/>
                  </a:lnTo>
                  <a:lnTo>
                    <a:pt x="0" y="0"/>
                  </a:lnTo>
                  <a:lnTo>
                    <a:pt x="0" y="1293876"/>
                  </a:lnTo>
                  <a:close/>
                </a:path>
              </a:pathLst>
            </a:custGeom>
            <a:ln w="9144">
              <a:solidFill>
                <a:srgbClr val="005A8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62316" y="4383023"/>
              <a:ext cx="1089659" cy="1248156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7857744" y="4378451"/>
              <a:ext cx="1099185" cy="1257300"/>
            </a:xfrm>
            <a:custGeom>
              <a:avLst/>
              <a:gdLst/>
              <a:ahLst/>
              <a:cxnLst/>
              <a:rect l="l" t="t" r="r" b="b"/>
              <a:pathLst>
                <a:path w="1099184" h="1257300">
                  <a:moveTo>
                    <a:pt x="0" y="1257300"/>
                  </a:moveTo>
                  <a:lnTo>
                    <a:pt x="1098803" y="1257300"/>
                  </a:lnTo>
                  <a:lnTo>
                    <a:pt x="1098803" y="0"/>
                  </a:lnTo>
                  <a:lnTo>
                    <a:pt x="0" y="0"/>
                  </a:lnTo>
                  <a:lnTo>
                    <a:pt x="0" y="1257300"/>
                  </a:lnTo>
                  <a:close/>
                </a:path>
              </a:pathLst>
            </a:custGeom>
            <a:ln w="9144">
              <a:solidFill>
                <a:srgbClr val="005A8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70192" y="5743955"/>
              <a:ext cx="1454808" cy="986028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6865620" y="5739383"/>
              <a:ext cx="1511935" cy="995680"/>
            </a:xfrm>
            <a:custGeom>
              <a:avLst/>
              <a:gdLst/>
              <a:ahLst/>
              <a:cxnLst/>
              <a:rect l="l" t="t" r="r" b="b"/>
              <a:pathLst>
                <a:path w="1511934" h="995679">
                  <a:moveTo>
                    <a:pt x="0" y="995171"/>
                  </a:moveTo>
                  <a:lnTo>
                    <a:pt x="1511807" y="995171"/>
                  </a:lnTo>
                  <a:lnTo>
                    <a:pt x="1511807" y="0"/>
                  </a:lnTo>
                  <a:lnTo>
                    <a:pt x="0" y="0"/>
                  </a:lnTo>
                  <a:lnTo>
                    <a:pt x="0" y="995171"/>
                  </a:lnTo>
                  <a:close/>
                </a:path>
              </a:pathLst>
            </a:custGeom>
            <a:ln w="9144">
              <a:solidFill>
                <a:srgbClr val="FF8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57521" y="4920702"/>
            <a:ext cx="124460" cy="1040765"/>
          </a:xfrm>
          <a:prstGeom prst="rect">
            <a:avLst/>
          </a:prstGeom>
        </p:spPr>
        <p:txBody>
          <a:bodyPr wrap="square" lIns="0" tIns="381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700">
                <a:solidFill>
                  <a:srgbClr val="4A4A4A"/>
                </a:solidFill>
                <a:latin typeface="Arial"/>
                <a:cs typeface="Arial"/>
              </a:rPr>
              <a:t>©2012</a:t>
            </a:r>
            <a:r>
              <a:rPr dirty="0" sz="700" spc="-2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700">
                <a:solidFill>
                  <a:srgbClr val="4A4A4A"/>
                </a:solidFill>
                <a:latin typeface="Arial"/>
                <a:cs typeface="Arial"/>
              </a:rPr>
              <a:t>Thomson</a:t>
            </a:r>
            <a:r>
              <a:rPr dirty="0" sz="700" spc="-2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700" spc="-10">
                <a:solidFill>
                  <a:srgbClr val="4A4A4A"/>
                </a:solidFill>
                <a:latin typeface="Arial"/>
                <a:cs typeface="Arial"/>
              </a:rPr>
              <a:t>Reuters.</a:t>
            </a:r>
            <a:endParaRPr sz="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85850" y="1474088"/>
            <a:ext cx="6570345" cy="835660"/>
          </a:xfrm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dirty="0" u="none">
                <a:solidFill>
                  <a:srgbClr val="FFFFFF"/>
                </a:solidFill>
              </a:rPr>
              <a:t>How</a:t>
            </a:r>
            <a:r>
              <a:rPr dirty="0" u="none" spc="-70">
                <a:solidFill>
                  <a:srgbClr val="FFFFFF"/>
                </a:solidFill>
              </a:rPr>
              <a:t> </a:t>
            </a:r>
            <a:r>
              <a:rPr dirty="0" u="none">
                <a:solidFill>
                  <a:srgbClr val="FFFFFF"/>
                </a:solidFill>
              </a:rPr>
              <a:t>Synaptica</a:t>
            </a:r>
            <a:r>
              <a:rPr dirty="0" u="none" spc="-75">
                <a:solidFill>
                  <a:srgbClr val="FFFFFF"/>
                </a:solidFill>
              </a:rPr>
              <a:t> </a:t>
            </a:r>
            <a:r>
              <a:rPr dirty="0" u="none">
                <a:solidFill>
                  <a:srgbClr val="FFFFFF"/>
                </a:solidFill>
              </a:rPr>
              <a:t>KMS</a:t>
            </a:r>
            <a:r>
              <a:rPr dirty="0" u="none" spc="-75">
                <a:solidFill>
                  <a:srgbClr val="FFFFFF"/>
                </a:solidFill>
              </a:rPr>
              <a:t> </a:t>
            </a:r>
            <a:r>
              <a:rPr dirty="0" u="none">
                <a:solidFill>
                  <a:srgbClr val="FFFFFF"/>
                </a:solidFill>
              </a:rPr>
              <a:t>Enables</a:t>
            </a:r>
            <a:r>
              <a:rPr dirty="0" u="none" spc="-70">
                <a:solidFill>
                  <a:srgbClr val="FFFFFF"/>
                </a:solidFill>
              </a:rPr>
              <a:t> </a:t>
            </a:r>
            <a:r>
              <a:rPr dirty="0" u="none" spc="-10">
                <a:solidFill>
                  <a:srgbClr val="FFFFFF"/>
                </a:solidFill>
              </a:rPr>
              <a:t>THOMSON </a:t>
            </a:r>
            <a:r>
              <a:rPr dirty="0" u="none">
                <a:solidFill>
                  <a:srgbClr val="FFFFFF"/>
                </a:solidFill>
              </a:rPr>
              <a:t>REUTERS</a:t>
            </a:r>
            <a:r>
              <a:rPr dirty="0" u="none" spc="-120">
                <a:solidFill>
                  <a:srgbClr val="FFFFFF"/>
                </a:solidFill>
              </a:rPr>
              <a:t> </a:t>
            </a:r>
            <a:r>
              <a:rPr dirty="0" u="none">
                <a:solidFill>
                  <a:srgbClr val="FFFFFF"/>
                </a:solidFill>
              </a:rPr>
              <a:t>Annotation</a:t>
            </a:r>
            <a:r>
              <a:rPr dirty="0" u="none" spc="-135">
                <a:solidFill>
                  <a:srgbClr val="FFFFFF"/>
                </a:solidFill>
              </a:rPr>
              <a:t> </a:t>
            </a:r>
            <a:r>
              <a:rPr dirty="0" u="none" spc="-10">
                <a:solidFill>
                  <a:srgbClr val="FFFFFF"/>
                </a:solidFill>
              </a:rPr>
              <a:t>Services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8649716" y="6322567"/>
            <a:ext cx="1536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4A4A4A"/>
                </a:solidFill>
                <a:latin typeface="Arial"/>
                <a:cs typeface="Arial"/>
              </a:rPr>
              <a:t>12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  <a:tabLst>
                <a:tab pos="7381875" algn="l"/>
              </a:tabLst>
            </a:pPr>
            <a:r>
              <a:rPr dirty="0" u="none"/>
              <a:t>How</a:t>
            </a:r>
            <a:r>
              <a:rPr dirty="0" u="none" spc="-80"/>
              <a:t> </a:t>
            </a:r>
            <a:r>
              <a:rPr dirty="0" u="none"/>
              <a:t>Synaptica</a:t>
            </a:r>
            <a:r>
              <a:rPr dirty="0" u="none" spc="-80"/>
              <a:t> </a:t>
            </a:r>
            <a:r>
              <a:rPr dirty="0" u="none"/>
              <a:t>KMS</a:t>
            </a:r>
            <a:r>
              <a:rPr dirty="0" u="none" spc="-90"/>
              <a:t> </a:t>
            </a:r>
            <a:r>
              <a:rPr dirty="0" u="none"/>
              <a:t>Enables</a:t>
            </a:r>
            <a:r>
              <a:rPr dirty="0" u="none" spc="-80"/>
              <a:t> </a:t>
            </a:r>
            <a:r>
              <a:rPr dirty="0" u="none" spc="-10"/>
              <a:t>THOMSON </a:t>
            </a:r>
            <a:r>
              <a:rPr dirty="0"/>
              <a:t>REUTERS</a:t>
            </a:r>
            <a:r>
              <a:rPr dirty="0" spc="-120"/>
              <a:t> </a:t>
            </a:r>
            <a:r>
              <a:rPr dirty="0"/>
              <a:t>Annotation</a:t>
            </a:r>
            <a:r>
              <a:rPr dirty="0" spc="-145"/>
              <a:t> </a:t>
            </a:r>
            <a:r>
              <a:rPr dirty="0" spc="-10"/>
              <a:t>Services</a:t>
            </a:r>
            <a:r>
              <a:rPr dirty="0"/>
              <a:t>	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649716" y="6425590"/>
            <a:ext cx="1536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4A4A4A"/>
                </a:solidFill>
                <a:latin typeface="Arial"/>
                <a:cs typeface="Arial"/>
              </a:rPr>
              <a:t>13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025652" y="3098292"/>
            <a:ext cx="1548765" cy="840105"/>
            <a:chOff x="1025652" y="3098292"/>
            <a:chExt cx="1548765" cy="84010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6800" y="3116580"/>
              <a:ext cx="1507236" cy="74066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5652" y="3098292"/>
              <a:ext cx="1534668" cy="839723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4044" y="3144012"/>
              <a:ext cx="1412747" cy="646176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114044" y="3144011"/>
            <a:ext cx="1412875" cy="646430"/>
          </a:xfrm>
          <a:prstGeom prst="rect">
            <a:avLst/>
          </a:prstGeom>
          <a:ln w="9144">
            <a:solidFill>
              <a:srgbClr val="005884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15"/>
              </a:spcBef>
            </a:pPr>
            <a:r>
              <a:rPr dirty="0" sz="1800" spc="-10">
                <a:solidFill>
                  <a:srgbClr val="4A4A4A"/>
                </a:solidFill>
                <a:latin typeface="Arial"/>
                <a:cs typeface="Arial"/>
              </a:rPr>
              <a:t>Customer</a:t>
            </a:r>
            <a:endParaRPr sz="18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dirty="0" sz="1800" spc="-10">
                <a:solidFill>
                  <a:srgbClr val="4A4A4A"/>
                </a:solidFill>
                <a:latin typeface="Arial"/>
                <a:cs typeface="Arial"/>
              </a:rPr>
              <a:t>terminology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167383" y="4175759"/>
            <a:ext cx="1534795" cy="840105"/>
            <a:chOff x="1167383" y="4175759"/>
            <a:chExt cx="1534795" cy="840105"/>
          </a:xfrm>
        </p:grpSpPr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08531" y="4194047"/>
              <a:ext cx="1487424" cy="740663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67383" y="4175759"/>
              <a:ext cx="1534667" cy="83972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55775" y="4221479"/>
              <a:ext cx="1392936" cy="646176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1255775" y="4221479"/>
            <a:ext cx="1393190" cy="646430"/>
          </a:xfrm>
          <a:prstGeom prst="rect">
            <a:avLst/>
          </a:prstGeom>
          <a:ln w="9144">
            <a:solidFill>
              <a:srgbClr val="005884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dirty="0" sz="1800" spc="-10">
                <a:solidFill>
                  <a:srgbClr val="4A4A4A"/>
                </a:solidFill>
                <a:latin typeface="Arial"/>
                <a:cs typeface="Arial"/>
              </a:rPr>
              <a:t>Public</a:t>
            </a:r>
            <a:endParaRPr sz="1800">
              <a:latin typeface="Arial"/>
              <a:cs typeface="Arial"/>
            </a:endParaRPr>
          </a:p>
          <a:p>
            <a:pPr marL="92075">
              <a:lnSpc>
                <a:spcPct val="100000"/>
              </a:lnSpc>
            </a:pPr>
            <a:r>
              <a:rPr dirty="0" sz="1800" spc="-10">
                <a:solidFill>
                  <a:srgbClr val="4A4A4A"/>
                </a:solidFill>
                <a:latin typeface="Arial"/>
                <a:cs typeface="Arial"/>
              </a:rPr>
              <a:t>terminology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2834639" y="4489703"/>
            <a:ext cx="1537970" cy="840105"/>
            <a:chOff x="2834639" y="4489703"/>
            <a:chExt cx="1537970" cy="840105"/>
          </a:xfrm>
        </p:grpSpPr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75787" y="4507991"/>
              <a:ext cx="1496567" cy="740663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34639" y="4489703"/>
              <a:ext cx="1534667" cy="839724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23031" y="4535423"/>
              <a:ext cx="1402080" cy="646176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2923031" y="4535423"/>
              <a:ext cx="1402080" cy="646430"/>
            </a:xfrm>
            <a:custGeom>
              <a:avLst/>
              <a:gdLst/>
              <a:ahLst/>
              <a:cxnLst/>
              <a:rect l="l" t="t" r="r" b="b"/>
              <a:pathLst>
                <a:path w="1402079" h="646429">
                  <a:moveTo>
                    <a:pt x="0" y="646176"/>
                  </a:moveTo>
                  <a:lnTo>
                    <a:pt x="1402080" y="646176"/>
                  </a:lnTo>
                  <a:lnTo>
                    <a:pt x="1402080" y="0"/>
                  </a:lnTo>
                  <a:lnTo>
                    <a:pt x="0" y="0"/>
                  </a:lnTo>
                  <a:lnTo>
                    <a:pt x="0" y="646176"/>
                  </a:lnTo>
                  <a:close/>
                </a:path>
              </a:pathLst>
            </a:custGeom>
            <a:ln w="9144">
              <a:solidFill>
                <a:srgbClr val="00588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3002026" y="4563871"/>
            <a:ext cx="120396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4A4A4A"/>
                </a:solidFill>
                <a:latin typeface="Arial"/>
                <a:cs typeface="Arial"/>
              </a:rPr>
              <a:t>Custom terminology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4907279" y="3870959"/>
            <a:ext cx="1661160" cy="840105"/>
            <a:chOff x="4907279" y="3870959"/>
            <a:chExt cx="1661160" cy="840105"/>
          </a:xfrm>
        </p:grpSpPr>
        <p:pic>
          <p:nvPicPr>
            <p:cNvPr id="21" name="object 2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48427" y="3889247"/>
              <a:ext cx="1620012" cy="740663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07279" y="3870959"/>
              <a:ext cx="1534668" cy="839724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995671" y="3916679"/>
              <a:ext cx="1525524" cy="646176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4995671" y="3916679"/>
            <a:ext cx="1525905" cy="646430"/>
          </a:xfrm>
          <a:prstGeom prst="rect">
            <a:avLst/>
          </a:prstGeom>
          <a:ln w="9144">
            <a:solidFill>
              <a:srgbClr val="005884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92075" marR="247015">
              <a:lnSpc>
                <a:spcPct val="100000"/>
              </a:lnSpc>
              <a:spcBef>
                <a:spcPts val="310"/>
              </a:spcBef>
            </a:pPr>
            <a:r>
              <a:rPr dirty="0" sz="1800" spc="-10">
                <a:solidFill>
                  <a:srgbClr val="4A4A4A"/>
                </a:solidFill>
                <a:latin typeface="Arial"/>
                <a:cs typeface="Arial"/>
              </a:rPr>
              <a:t>Final terminology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2682239" y="2958083"/>
            <a:ext cx="2268220" cy="2589530"/>
            <a:chOff x="2682239" y="2958083"/>
            <a:chExt cx="2268220" cy="2589530"/>
          </a:xfrm>
        </p:grpSpPr>
        <p:sp>
          <p:nvSpPr>
            <p:cNvPr id="26" name="object 26" descr=""/>
            <p:cNvSpPr/>
            <p:nvPr/>
          </p:nvSpPr>
          <p:spPr>
            <a:xfrm>
              <a:off x="4264913" y="2972561"/>
              <a:ext cx="670560" cy="2560320"/>
            </a:xfrm>
            <a:custGeom>
              <a:avLst/>
              <a:gdLst/>
              <a:ahLst/>
              <a:cxnLst/>
              <a:rect l="l" t="t" r="r" b="b"/>
              <a:pathLst>
                <a:path w="670560" h="2560320">
                  <a:moveTo>
                    <a:pt x="0" y="0"/>
                  </a:moveTo>
                  <a:lnTo>
                    <a:pt x="76875" y="1475"/>
                  </a:lnTo>
                  <a:lnTo>
                    <a:pt x="147445" y="5679"/>
                  </a:lnTo>
                  <a:lnTo>
                    <a:pt x="209698" y="12276"/>
                  </a:lnTo>
                  <a:lnTo>
                    <a:pt x="261621" y="20930"/>
                  </a:lnTo>
                  <a:lnTo>
                    <a:pt x="301201" y="31305"/>
                  </a:lnTo>
                  <a:lnTo>
                    <a:pt x="335280" y="55879"/>
                  </a:lnTo>
                  <a:lnTo>
                    <a:pt x="335280" y="1224280"/>
                  </a:lnTo>
                  <a:lnTo>
                    <a:pt x="344135" y="1237092"/>
                  </a:lnTo>
                  <a:lnTo>
                    <a:pt x="408938" y="1259229"/>
                  </a:lnTo>
                  <a:lnTo>
                    <a:pt x="460861" y="1267883"/>
                  </a:lnTo>
                  <a:lnTo>
                    <a:pt x="523114" y="1274480"/>
                  </a:lnTo>
                  <a:lnTo>
                    <a:pt x="593684" y="1278684"/>
                  </a:lnTo>
                  <a:lnTo>
                    <a:pt x="670560" y="1280160"/>
                  </a:lnTo>
                  <a:lnTo>
                    <a:pt x="593684" y="1281635"/>
                  </a:lnTo>
                  <a:lnTo>
                    <a:pt x="523114" y="1285839"/>
                  </a:lnTo>
                  <a:lnTo>
                    <a:pt x="460861" y="1292436"/>
                  </a:lnTo>
                  <a:lnTo>
                    <a:pt x="408938" y="1301090"/>
                  </a:lnTo>
                  <a:lnTo>
                    <a:pt x="369358" y="1311465"/>
                  </a:lnTo>
                  <a:lnTo>
                    <a:pt x="335280" y="1336039"/>
                  </a:lnTo>
                  <a:lnTo>
                    <a:pt x="335280" y="2504440"/>
                  </a:lnTo>
                  <a:lnTo>
                    <a:pt x="326424" y="2517252"/>
                  </a:lnTo>
                  <a:lnTo>
                    <a:pt x="261621" y="2539389"/>
                  </a:lnTo>
                  <a:lnTo>
                    <a:pt x="209698" y="2548043"/>
                  </a:lnTo>
                  <a:lnTo>
                    <a:pt x="147445" y="2554640"/>
                  </a:lnTo>
                  <a:lnTo>
                    <a:pt x="76875" y="2558844"/>
                  </a:lnTo>
                  <a:lnTo>
                    <a:pt x="0" y="2560320"/>
                  </a:lnTo>
                </a:path>
              </a:pathLst>
            </a:custGeom>
            <a:ln w="28956">
              <a:solidFill>
                <a:srgbClr val="005A8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723387" y="3208019"/>
              <a:ext cx="1516380" cy="1018031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682239" y="3189731"/>
              <a:ext cx="1534667" cy="1114044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770631" y="3235451"/>
              <a:ext cx="1421892" cy="923544"/>
            </a:xfrm>
            <a:prstGeom prst="rect">
              <a:avLst/>
            </a:prstGeom>
          </p:spPr>
        </p:pic>
      </p:grpSp>
      <p:sp>
        <p:nvSpPr>
          <p:cNvPr id="30" name="object 30" descr=""/>
          <p:cNvSpPr txBox="1"/>
          <p:nvPr/>
        </p:nvSpPr>
        <p:spPr>
          <a:xfrm>
            <a:off x="5418582" y="2669285"/>
            <a:ext cx="1737360" cy="646430"/>
          </a:xfrm>
          <a:prstGeom prst="rect">
            <a:avLst/>
          </a:prstGeom>
          <a:solidFill>
            <a:srgbClr val="005A84"/>
          </a:solidFill>
          <a:ln w="25907">
            <a:solidFill>
              <a:srgbClr val="00405F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91440" marR="87630">
              <a:lnSpc>
                <a:spcPct val="100000"/>
              </a:lnSpc>
              <a:spcBef>
                <a:spcPts val="31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Secure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storage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taxonomies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6678930" y="3472434"/>
            <a:ext cx="1351915" cy="646430"/>
          </a:xfrm>
          <a:prstGeom prst="rect">
            <a:avLst/>
          </a:prstGeom>
          <a:solidFill>
            <a:srgbClr val="005A84"/>
          </a:solidFill>
          <a:ln w="25907">
            <a:solidFill>
              <a:srgbClr val="00405F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91440" marR="86995">
              <a:lnSpc>
                <a:spcPct val="100000"/>
              </a:lnSpc>
              <a:spcBef>
                <a:spcPts val="305"/>
              </a:spcBef>
            </a:pP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Edit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taxonomies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6678930" y="4386834"/>
            <a:ext cx="1371600" cy="646430"/>
          </a:xfrm>
          <a:prstGeom prst="rect">
            <a:avLst/>
          </a:prstGeom>
          <a:solidFill>
            <a:srgbClr val="005A84"/>
          </a:solidFill>
          <a:ln w="25907">
            <a:solidFill>
              <a:srgbClr val="00405F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91440" marR="106680">
              <a:lnSpc>
                <a:spcPct val="100000"/>
              </a:lnSpc>
              <a:spcBef>
                <a:spcPts val="310"/>
              </a:spcBef>
            </a:pP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Map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taxonomies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5418582" y="5279897"/>
            <a:ext cx="2368550" cy="646430"/>
          </a:xfrm>
          <a:prstGeom prst="rect">
            <a:avLst/>
          </a:prstGeom>
          <a:solidFill>
            <a:srgbClr val="005A84"/>
          </a:solidFill>
          <a:ln w="25907">
            <a:solidFill>
              <a:srgbClr val="00405F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15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Automated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access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to</a:t>
            </a:r>
            <a:endParaRPr sz="18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taxonomies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2770632" y="3235451"/>
            <a:ext cx="1422400" cy="923925"/>
          </a:xfrm>
          <a:prstGeom prst="rect">
            <a:avLst/>
          </a:prstGeom>
          <a:ln w="9144">
            <a:solidFill>
              <a:srgbClr val="005884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marL="91440" marR="144145">
              <a:lnSpc>
                <a:spcPct val="100000"/>
              </a:lnSpc>
              <a:spcBef>
                <a:spcPts val="315"/>
              </a:spcBef>
            </a:pPr>
            <a:r>
              <a:rPr dirty="0" sz="1800" spc="-10">
                <a:solidFill>
                  <a:srgbClr val="4A4A4A"/>
                </a:solidFill>
                <a:latin typeface="Arial"/>
                <a:cs typeface="Arial"/>
              </a:rPr>
              <a:t>Domain specific terminology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578102" y="1652778"/>
            <a:ext cx="544195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4A4A4A"/>
                </a:solidFill>
                <a:latin typeface="Arial"/>
                <a:cs typeface="Arial"/>
              </a:rPr>
              <a:t>Review</a:t>
            </a:r>
            <a:r>
              <a:rPr dirty="0" sz="2400" spc="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A4A4A"/>
                </a:solidFill>
                <a:latin typeface="Arial"/>
                <a:cs typeface="Arial"/>
              </a:rPr>
              <a:t>of</a:t>
            </a:r>
            <a:r>
              <a:rPr dirty="0" sz="2400" spc="-6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A4A4A"/>
                </a:solidFill>
                <a:latin typeface="Arial"/>
                <a:cs typeface="Arial"/>
              </a:rPr>
              <a:t>Thomson</a:t>
            </a:r>
            <a:r>
              <a:rPr dirty="0" sz="2400" spc="-1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4A4A4A"/>
                </a:solidFill>
                <a:latin typeface="Arial"/>
                <a:cs typeface="Arial"/>
              </a:rPr>
              <a:t>Reuters Use</a:t>
            </a:r>
            <a:r>
              <a:rPr dirty="0" sz="2400" spc="-1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4A4A4A"/>
                </a:solidFill>
                <a:latin typeface="Arial"/>
                <a:cs typeface="Arial"/>
              </a:rPr>
              <a:t>Cases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20661" y="1432369"/>
            <a:ext cx="3560445" cy="2498725"/>
            <a:chOff x="720661" y="1432369"/>
            <a:chExt cx="3560445" cy="2498725"/>
          </a:xfrm>
        </p:grpSpPr>
        <p:sp>
          <p:nvSpPr>
            <p:cNvPr id="3" name="object 3" descr=""/>
            <p:cNvSpPr/>
            <p:nvPr/>
          </p:nvSpPr>
          <p:spPr>
            <a:xfrm>
              <a:off x="725423" y="1437132"/>
              <a:ext cx="3550920" cy="2489200"/>
            </a:xfrm>
            <a:custGeom>
              <a:avLst/>
              <a:gdLst/>
              <a:ahLst/>
              <a:cxnLst/>
              <a:rect l="l" t="t" r="r" b="b"/>
              <a:pathLst>
                <a:path w="3550920" h="2489200">
                  <a:moveTo>
                    <a:pt x="3550920" y="0"/>
                  </a:moveTo>
                  <a:lnTo>
                    <a:pt x="0" y="0"/>
                  </a:lnTo>
                  <a:lnTo>
                    <a:pt x="0" y="2488692"/>
                  </a:lnTo>
                  <a:lnTo>
                    <a:pt x="3550920" y="2488692"/>
                  </a:lnTo>
                  <a:lnTo>
                    <a:pt x="3550920" y="0"/>
                  </a:lnTo>
                  <a:close/>
                </a:path>
              </a:pathLst>
            </a:custGeom>
            <a:solidFill>
              <a:srgbClr val="DDE0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25423" y="1437132"/>
              <a:ext cx="3550920" cy="2489200"/>
            </a:xfrm>
            <a:custGeom>
              <a:avLst/>
              <a:gdLst/>
              <a:ahLst/>
              <a:cxnLst/>
              <a:rect l="l" t="t" r="r" b="b"/>
              <a:pathLst>
                <a:path w="3550920" h="2489200">
                  <a:moveTo>
                    <a:pt x="0" y="2488692"/>
                  </a:moveTo>
                  <a:lnTo>
                    <a:pt x="3550920" y="2488692"/>
                  </a:lnTo>
                  <a:lnTo>
                    <a:pt x="3550920" y="0"/>
                  </a:lnTo>
                  <a:lnTo>
                    <a:pt x="0" y="0"/>
                  </a:lnTo>
                  <a:lnTo>
                    <a:pt x="0" y="2488692"/>
                  </a:lnTo>
                  <a:close/>
                </a:path>
              </a:pathLst>
            </a:custGeom>
            <a:ln w="9144">
              <a:solidFill>
                <a:srgbClr val="4A4A4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0203" y="1807464"/>
              <a:ext cx="1507236" cy="740663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9055" y="1789176"/>
              <a:ext cx="1534668" cy="83972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7447" y="1834896"/>
              <a:ext cx="1412748" cy="646176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  <a:tabLst>
                <a:tab pos="7381875" algn="l"/>
              </a:tabLst>
            </a:pPr>
            <a:r>
              <a:rPr dirty="0" u="none"/>
              <a:t>Collaboration,</a:t>
            </a:r>
            <a:r>
              <a:rPr dirty="0" u="none" spc="-80"/>
              <a:t> </a:t>
            </a:r>
            <a:r>
              <a:rPr dirty="0" u="none"/>
              <a:t>Import,</a:t>
            </a:r>
            <a:r>
              <a:rPr dirty="0" u="none" spc="-85"/>
              <a:t> </a:t>
            </a:r>
            <a:r>
              <a:rPr dirty="0" u="none"/>
              <a:t>Linked</a:t>
            </a:r>
            <a:r>
              <a:rPr dirty="0" u="none" spc="-85"/>
              <a:t> </a:t>
            </a:r>
            <a:r>
              <a:rPr dirty="0" u="none"/>
              <a:t>Data,</a:t>
            </a:r>
            <a:r>
              <a:rPr dirty="0" u="none" spc="-90"/>
              <a:t> </a:t>
            </a:r>
            <a:r>
              <a:rPr dirty="0" u="none"/>
              <a:t>and</a:t>
            </a:r>
            <a:r>
              <a:rPr dirty="0" u="none" spc="-85"/>
              <a:t> </a:t>
            </a:r>
            <a:r>
              <a:rPr dirty="0" u="none" spc="-20"/>
              <a:t>Term </a:t>
            </a:r>
            <a:r>
              <a:rPr dirty="0" spc="-10"/>
              <a:t>Creation</a:t>
            </a:r>
            <a:r>
              <a:rPr dirty="0"/>
              <a:t>	</a:t>
            </a:r>
          </a:p>
        </p:txBody>
      </p:sp>
      <p:sp>
        <p:nvSpPr>
          <p:cNvPr id="9" name="object 9" descr=""/>
          <p:cNvSpPr txBox="1"/>
          <p:nvPr/>
        </p:nvSpPr>
        <p:spPr>
          <a:xfrm>
            <a:off x="8649716" y="6425590"/>
            <a:ext cx="1536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4A4A4A"/>
                </a:solidFill>
                <a:latin typeface="Arial"/>
                <a:cs typeface="Arial"/>
              </a:rPr>
              <a:t>14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17447" y="1834895"/>
            <a:ext cx="1412875" cy="646430"/>
          </a:xfrm>
          <a:prstGeom prst="rect">
            <a:avLst/>
          </a:prstGeom>
          <a:ln w="9144">
            <a:solidFill>
              <a:srgbClr val="005884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10"/>
              </a:spcBef>
            </a:pPr>
            <a:r>
              <a:rPr dirty="0" sz="1800" spc="-10">
                <a:solidFill>
                  <a:srgbClr val="4A4A4A"/>
                </a:solidFill>
                <a:latin typeface="Arial"/>
                <a:cs typeface="Arial"/>
              </a:rPr>
              <a:t>Customer</a:t>
            </a:r>
            <a:endParaRPr sz="18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solidFill>
                  <a:srgbClr val="4A4A4A"/>
                </a:solidFill>
                <a:latin typeface="Arial"/>
                <a:cs typeface="Arial"/>
              </a:rPr>
              <a:t>terminology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836675" y="2892551"/>
            <a:ext cx="1534795" cy="840105"/>
            <a:chOff x="836675" y="2892551"/>
            <a:chExt cx="1534795" cy="840105"/>
          </a:xfrm>
        </p:grpSpPr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7823" y="2910839"/>
              <a:ext cx="1487424" cy="74066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6675" y="2892551"/>
              <a:ext cx="1534668" cy="839724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5067" y="2938271"/>
              <a:ext cx="1392936" cy="646176"/>
            </a:xfrm>
            <a:prstGeom prst="rect">
              <a:avLst/>
            </a:prstGeom>
          </p:spPr>
        </p:pic>
      </p:grpSp>
      <p:sp>
        <p:nvSpPr>
          <p:cNvPr id="15" name="object 15" descr=""/>
          <p:cNvSpPr txBox="1"/>
          <p:nvPr/>
        </p:nvSpPr>
        <p:spPr>
          <a:xfrm>
            <a:off x="925067" y="2938272"/>
            <a:ext cx="1393190" cy="646430"/>
          </a:xfrm>
          <a:prstGeom prst="rect">
            <a:avLst/>
          </a:prstGeom>
          <a:ln w="9144">
            <a:solidFill>
              <a:srgbClr val="005884"/>
            </a:solidFill>
          </a:ln>
        </p:spPr>
        <p:txBody>
          <a:bodyPr wrap="square" lIns="0" tIns="40640" rIns="0" bIns="0" rtlCol="0" vert="horz">
            <a:spAutoFit/>
          </a:bodyPr>
          <a:lstStyle/>
          <a:p>
            <a:pPr marL="91440" marR="112395">
              <a:lnSpc>
                <a:spcPct val="100000"/>
              </a:lnSpc>
              <a:spcBef>
                <a:spcPts val="320"/>
              </a:spcBef>
            </a:pPr>
            <a:r>
              <a:rPr dirty="0" sz="1800" spc="-10">
                <a:solidFill>
                  <a:srgbClr val="4A4A4A"/>
                </a:solidFill>
                <a:latin typeface="Arial"/>
                <a:cs typeface="Arial"/>
              </a:rPr>
              <a:t>Public terminology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2557272" y="2898648"/>
            <a:ext cx="1537970" cy="840105"/>
            <a:chOff x="2557272" y="2898648"/>
            <a:chExt cx="1537970" cy="840105"/>
          </a:xfrm>
        </p:grpSpPr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98420" y="2916936"/>
              <a:ext cx="1496568" cy="740663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57272" y="2898648"/>
              <a:ext cx="1534668" cy="839724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45664" y="2944368"/>
              <a:ext cx="1402080" cy="646176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/>
          <p:nvPr/>
        </p:nvSpPr>
        <p:spPr>
          <a:xfrm>
            <a:off x="2645664" y="2944367"/>
            <a:ext cx="1402080" cy="646430"/>
          </a:xfrm>
          <a:prstGeom prst="rect">
            <a:avLst/>
          </a:prstGeom>
          <a:ln w="9144">
            <a:solidFill>
              <a:srgbClr val="005884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15"/>
              </a:spcBef>
            </a:pPr>
            <a:r>
              <a:rPr dirty="0" sz="1800" spc="-10">
                <a:solidFill>
                  <a:srgbClr val="4A4A4A"/>
                </a:solidFill>
                <a:latin typeface="Arial"/>
                <a:cs typeface="Arial"/>
              </a:rPr>
              <a:t>Custom</a:t>
            </a:r>
            <a:endParaRPr sz="1800">
              <a:latin typeface="Arial"/>
              <a:cs typeface="Arial"/>
            </a:endParaRPr>
          </a:p>
          <a:p>
            <a:pPr marL="91440">
              <a:lnSpc>
                <a:spcPct val="100000"/>
              </a:lnSpc>
            </a:pPr>
            <a:r>
              <a:rPr dirty="0" sz="1800" spc="-10">
                <a:solidFill>
                  <a:srgbClr val="4A4A4A"/>
                </a:solidFill>
                <a:latin typeface="Arial"/>
                <a:cs typeface="Arial"/>
              </a:rPr>
              <a:t>terminology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2552700" y="1679448"/>
            <a:ext cx="1557655" cy="1114425"/>
            <a:chOff x="2552700" y="1679448"/>
            <a:chExt cx="1557655" cy="1114425"/>
          </a:xfrm>
        </p:grpSpPr>
        <p:pic>
          <p:nvPicPr>
            <p:cNvPr id="22" name="object 2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93848" y="1697736"/>
              <a:ext cx="1516379" cy="1016508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552700" y="1679448"/>
              <a:ext cx="1534668" cy="1114043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641092" y="1725168"/>
              <a:ext cx="1421892" cy="922019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2641092" y="1725167"/>
            <a:ext cx="1422400" cy="922019"/>
          </a:xfrm>
          <a:prstGeom prst="rect">
            <a:avLst/>
          </a:prstGeom>
          <a:ln w="9144">
            <a:solidFill>
              <a:srgbClr val="005884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91440" marR="144145">
              <a:lnSpc>
                <a:spcPct val="100000"/>
              </a:lnSpc>
              <a:spcBef>
                <a:spcPts val="310"/>
              </a:spcBef>
            </a:pPr>
            <a:r>
              <a:rPr dirty="0" sz="1800" spc="-10">
                <a:solidFill>
                  <a:srgbClr val="4A4A4A"/>
                </a:solidFill>
                <a:latin typeface="Arial"/>
                <a:cs typeface="Arial"/>
              </a:rPr>
              <a:t>Domain specific terminology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4480686" y="1527810"/>
            <a:ext cx="4253230" cy="2448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2451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Collaborative</a:t>
            </a:r>
            <a:r>
              <a:rPr dirty="0" sz="2200" spc="-10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Work</a:t>
            </a:r>
            <a:r>
              <a:rPr dirty="0" sz="2200" spc="-10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4A4A4A"/>
                </a:solidFill>
                <a:latin typeface="Arial"/>
                <a:cs typeface="Arial"/>
              </a:rPr>
              <a:t>Spaces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allow</a:t>
            </a:r>
            <a:r>
              <a:rPr dirty="0" sz="2200" spc="-5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for</a:t>
            </a:r>
            <a:r>
              <a:rPr dirty="0" sz="22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team</a:t>
            </a:r>
            <a:r>
              <a:rPr dirty="0" sz="22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4A4A4A"/>
                </a:solidFill>
                <a:latin typeface="Arial"/>
                <a:cs typeface="Arial"/>
              </a:rPr>
              <a:t>effort development</a:t>
            </a:r>
            <a:endParaRPr sz="22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Public</a:t>
            </a:r>
            <a:r>
              <a:rPr dirty="0" sz="2200" spc="-6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and</a:t>
            </a:r>
            <a:r>
              <a:rPr dirty="0" sz="2200" spc="-5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Enterprise</a:t>
            </a:r>
            <a:r>
              <a:rPr dirty="0" sz="22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term</a:t>
            </a:r>
            <a:r>
              <a:rPr dirty="0" sz="22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 spc="-20">
                <a:solidFill>
                  <a:srgbClr val="4A4A4A"/>
                </a:solidFill>
                <a:latin typeface="Arial"/>
                <a:cs typeface="Arial"/>
              </a:rPr>
              <a:t>sets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may</a:t>
            </a:r>
            <a:r>
              <a:rPr dirty="0" sz="22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be</a:t>
            </a:r>
            <a:r>
              <a:rPr dirty="0" sz="2200" spc="-5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imported</a:t>
            </a:r>
            <a:r>
              <a:rPr dirty="0" sz="22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via</a:t>
            </a:r>
            <a:r>
              <a:rPr dirty="0" sz="2200" spc="-5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4A4A4A"/>
                </a:solidFill>
                <a:latin typeface="Arial"/>
                <a:cs typeface="Arial"/>
              </a:rPr>
              <a:t>various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source</a:t>
            </a:r>
            <a:r>
              <a:rPr dirty="0" sz="2200" spc="-5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formats</a:t>
            </a:r>
            <a:r>
              <a:rPr dirty="0" sz="2200" spc="-3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 spc="-50">
                <a:solidFill>
                  <a:srgbClr val="4A4A4A"/>
                </a:solidFill>
                <a:latin typeface="Arial"/>
                <a:cs typeface="Arial"/>
              </a:rPr>
              <a:t>(CSV,</a:t>
            </a:r>
            <a:r>
              <a:rPr dirty="0" sz="2200" spc="-9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 spc="-20">
                <a:solidFill>
                  <a:srgbClr val="4A4A4A"/>
                </a:solidFill>
                <a:latin typeface="Arial"/>
                <a:cs typeface="Arial"/>
              </a:rPr>
              <a:t>TXT,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XLSX,</a:t>
            </a:r>
            <a:r>
              <a:rPr dirty="0" sz="2200" spc="-7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 spc="-20">
                <a:solidFill>
                  <a:srgbClr val="4A4A4A"/>
                </a:solidFill>
                <a:latin typeface="Arial"/>
                <a:cs typeface="Arial"/>
              </a:rPr>
              <a:t>XML)</a:t>
            </a:r>
            <a:endParaRPr sz="2200">
              <a:latin typeface="Arial"/>
              <a:cs typeface="Arial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805078" y="4101465"/>
            <a:ext cx="7780020" cy="1778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Linked</a:t>
            </a:r>
            <a:r>
              <a:rPr dirty="0" sz="2200" spc="-7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Data</a:t>
            </a:r>
            <a:r>
              <a:rPr dirty="0" sz="2200" spc="-7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technologies</a:t>
            </a:r>
            <a:r>
              <a:rPr dirty="0" sz="2200" spc="-7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provide</a:t>
            </a:r>
            <a:r>
              <a:rPr dirty="0" sz="2200" spc="-5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access</a:t>
            </a:r>
            <a:r>
              <a:rPr dirty="0" sz="2200" spc="-8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to</a:t>
            </a:r>
            <a:r>
              <a:rPr dirty="0" sz="2200" spc="-5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public</a:t>
            </a:r>
            <a:r>
              <a:rPr dirty="0" sz="2200" spc="-7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 spc="-25">
                <a:solidFill>
                  <a:srgbClr val="4A4A4A"/>
                </a:solidFill>
                <a:latin typeface="Arial"/>
                <a:cs typeface="Arial"/>
              </a:rPr>
              <a:t>and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private</a:t>
            </a:r>
            <a:r>
              <a:rPr dirty="0" sz="2200" spc="-8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resources</a:t>
            </a:r>
            <a:r>
              <a:rPr dirty="0" sz="2200" spc="-8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across</a:t>
            </a:r>
            <a:r>
              <a:rPr dirty="0" sz="2200" spc="-8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organizations</a:t>
            </a:r>
            <a:r>
              <a:rPr dirty="0" sz="2200" spc="-8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throughout</a:t>
            </a:r>
            <a:r>
              <a:rPr dirty="0" sz="2200" spc="-7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the</a:t>
            </a:r>
            <a:r>
              <a:rPr dirty="0" sz="2200" spc="-8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4A4A4A"/>
                </a:solidFill>
                <a:latin typeface="Arial"/>
                <a:cs typeface="Arial"/>
              </a:rPr>
              <a:t>world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(Coming</a:t>
            </a:r>
            <a:r>
              <a:rPr dirty="0" sz="2200" spc="-6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4A4A4A"/>
                </a:solidFill>
                <a:latin typeface="Arial"/>
                <a:cs typeface="Arial"/>
              </a:rPr>
              <a:t>Soon)</a:t>
            </a:r>
            <a:endParaRPr sz="2200">
              <a:latin typeface="Arial"/>
              <a:cs typeface="Arial"/>
            </a:endParaRPr>
          </a:p>
          <a:p>
            <a:pPr marL="355600" marR="80645" indent="-342900">
              <a:lnSpc>
                <a:spcPct val="100000"/>
              </a:lnSpc>
              <a:spcBef>
                <a:spcPts val="600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Enable</a:t>
            </a:r>
            <a:r>
              <a:rPr dirty="0" sz="2200" spc="-6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the</a:t>
            </a:r>
            <a:r>
              <a:rPr dirty="0" sz="2200" spc="-5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customer</a:t>
            </a:r>
            <a:r>
              <a:rPr dirty="0" sz="2200" spc="-5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to</a:t>
            </a:r>
            <a:r>
              <a:rPr dirty="0" sz="22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create</a:t>
            </a:r>
            <a:r>
              <a:rPr dirty="0" sz="22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new</a:t>
            </a:r>
            <a:r>
              <a:rPr dirty="0" sz="22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controlled</a:t>
            </a:r>
            <a:r>
              <a:rPr dirty="0" sz="2200" spc="-6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4A4A4A"/>
                </a:solidFill>
                <a:latin typeface="Arial"/>
                <a:cs typeface="Arial"/>
              </a:rPr>
              <a:t>vocabularies,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metadata</a:t>
            </a:r>
            <a:r>
              <a:rPr dirty="0" sz="2200" spc="-2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fields,</a:t>
            </a:r>
            <a:r>
              <a:rPr dirty="0" sz="2200" spc="-5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and</a:t>
            </a:r>
            <a:r>
              <a:rPr dirty="0" sz="22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new</a:t>
            </a:r>
            <a:r>
              <a:rPr dirty="0" sz="22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terms</a:t>
            </a:r>
            <a:r>
              <a:rPr dirty="0" sz="22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on</a:t>
            </a:r>
            <a:r>
              <a:rPr dirty="0" sz="22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the</a:t>
            </a:r>
            <a:r>
              <a:rPr dirty="0" sz="22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fly</a:t>
            </a:r>
            <a:r>
              <a:rPr dirty="0" sz="22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and</a:t>
            </a:r>
            <a:r>
              <a:rPr dirty="0" sz="2200" spc="-5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on</a:t>
            </a:r>
            <a:r>
              <a:rPr dirty="0" sz="22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4A4A4A"/>
                </a:solidFill>
                <a:latin typeface="Arial"/>
                <a:cs typeface="Arial"/>
              </a:rPr>
              <a:t>demand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  <a:tabLst>
                <a:tab pos="7381875" algn="l"/>
              </a:tabLst>
            </a:pPr>
            <a:r>
              <a:rPr dirty="0" u="none"/>
              <a:t>Taxonomy</a:t>
            </a:r>
            <a:r>
              <a:rPr dirty="0" u="none" spc="-125"/>
              <a:t> </a:t>
            </a:r>
            <a:r>
              <a:rPr dirty="0" u="none"/>
              <a:t>Management,</a:t>
            </a:r>
            <a:r>
              <a:rPr dirty="0" u="none" spc="-110"/>
              <a:t> </a:t>
            </a:r>
            <a:r>
              <a:rPr dirty="0" u="none"/>
              <a:t>Mapping</a:t>
            </a:r>
            <a:r>
              <a:rPr dirty="0" u="none" spc="-105"/>
              <a:t> </a:t>
            </a:r>
            <a:r>
              <a:rPr dirty="0" u="none" spc="-25"/>
              <a:t>and </a:t>
            </a:r>
            <a:r>
              <a:rPr dirty="0" spc="-10"/>
              <a:t>Distribution</a:t>
            </a:r>
            <a:r>
              <a:rPr dirty="0"/>
              <a:t>	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649716" y="6425590"/>
            <a:ext cx="1536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4A4A4A"/>
                </a:solidFill>
                <a:latin typeface="Arial"/>
                <a:cs typeface="Arial"/>
              </a:rPr>
              <a:t>15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3366515" y="3424428"/>
            <a:ext cx="1661160" cy="840105"/>
            <a:chOff x="3366515" y="3424428"/>
            <a:chExt cx="1661160" cy="84010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07663" y="3442716"/>
              <a:ext cx="1620012" cy="74066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66515" y="3424428"/>
              <a:ext cx="1534667" cy="83972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54907" y="3470148"/>
              <a:ext cx="1525524" cy="646176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3454908" y="3470147"/>
            <a:ext cx="1525905" cy="646430"/>
          </a:xfrm>
          <a:prstGeom prst="rect">
            <a:avLst/>
          </a:prstGeom>
          <a:ln w="9144">
            <a:solidFill>
              <a:srgbClr val="005884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marL="92075" marR="247015">
              <a:lnSpc>
                <a:spcPct val="100000"/>
              </a:lnSpc>
              <a:spcBef>
                <a:spcPts val="315"/>
              </a:spcBef>
            </a:pPr>
            <a:r>
              <a:rPr dirty="0" sz="1800" spc="-10">
                <a:solidFill>
                  <a:srgbClr val="4A4A4A"/>
                </a:solidFill>
                <a:latin typeface="Arial"/>
                <a:cs typeface="Arial"/>
              </a:rPr>
              <a:t>Final terminology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2745485" y="2081022"/>
            <a:ext cx="670560" cy="3404870"/>
          </a:xfrm>
          <a:custGeom>
            <a:avLst/>
            <a:gdLst/>
            <a:ahLst/>
            <a:cxnLst/>
            <a:rect l="l" t="t" r="r" b="b"/>
            <a:pathLst>
              <a:path w="670560" h="3404870">
                <a:moveTo>
                  <a:pt x="0" y="0"/>
                </a:moveTo>
                <a:lnTo>
                  <a:pt x="76875" y="1475"/>
                </a:lnTo>
                <a:lnTo>
                  <a:pt x="147445" y="5679"/>
                </a:lnTo>
                <a:lnTo>
                  <a:pt x="209698" y="12276"/>
                </a:lnTo>
                <a:lnTo>
                  <a:pt x="261621" y="20930"/>
                </a:lnTo>
                <a:lnTo>
                  <a:pt x="301201" y="31305"/>
                </a:lnTo>
                <a:lnTo>
                  <a:pt x="335280" y="55879"/>
                </a:lnTo>
                <a:lnTo>
                  <a:pt x="335280" y="1659889"/>
                </a:lnTo>
                <a:lnTo>
                  <a:pt x="344135" y="1672702"/>
                </a:lnTo>
                <a:lnTo>
                  <a:pt x="408938" y="1694839"/>
                </a:lnTo>
                <a:lnTo>
                  <a:pt x="460861" y="1703493"/>
                </a:lnTo>
                <a:lnTo>
                  <a:pt x="523114" y="1710090"/>
                </a:lnTo>
                <a:lnTo>
                  <a:pt x="593684" y="1714294"/>
                </a:lnTo>
                <a:lnTo>
                  <a:pt x="670560" y="1715770"/>
                </a:lnTo>
                <a:lnTo>
                  <a:pt x="593684" y="1717245"/>
                </a:lnTo>
                <a:lnTo>
                  <a:pt x="523114" y="1721449"/>
                </a:lnTo>
                <a:lnTo>
                  <a:pt x="460861" y="1728046"/>
                </a:lnTo>
                <a:lnTo>
                  <a:pt x="408938" y="1736700"/>
                </a:lnTo>
                <a:lnTo>
                  <a:pt x="369358" y="1747075"/>
                </a:lnTo>
                <a:lnTo>
                  <a:pt x="335280" y="1771650"/>
                </a:lnTo>
                <a:lnTo>
                  <a:pt x="335280" y="3348736"/>
                </a:lnTo>
                <a:lnTo>
                  <a:pt x="326424" y="3361548"/>
                </a:lnTo>
                <a:lnTo>
                  <a:pt x="261621" y="3383685"/>
                </a:lnTo>
                <a:lnTo>
                  <a:pt x="209698" y="3392339"/>
                </a:lnTo>
                <a:lnTo>
                  <a:pt x="147445" y="3398936"/>
                </a:lnTo>
                <a:lnTo>
                  <a:pt x="76875" y="3403140"/>
                </a:lnTo>
                <a:lnTo>
                  <a:pt x="0" y="3404616"/>
                </a:lnTo>
              </a:path>
            </a:pathLst>
          </a:custGeom>
          <a:ln w="28956">
            <a:solidFill>
              <a:srgbClr val="005A8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681990" y="2198370"/>
            <a:ext cx="1737360" cy="646430"/>
          </a:xfrm>
          <a:prstGeom prst="rect">
            <a:avLst/>
          </a:prstGeom>
          <a:solidFill>
            <a:srgbClr val="005A84"/>
          </a:solidFill>
          <a:ln w="25908">
            <a:solidFill>
              <a:srgbClr val="00405F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90805" marR="88265">
              <a:lnSpc>
                <a:spcPct val="100000"/>
              </a:lnSpc>
              <a:spcBef>
                <a:spcPts val="31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Secure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storage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taxonomies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75538" y="3015233"/>
            <a:ext cx="1351915" cy="646430"/>
          </a:xfrm>
          <a:prstGeom prst="rect">
            <a:avLst/>
          </a:prstGeom>
          <a:solidFill>
            <a:srgbClr val="005A84"/>
          </a:solidFill>
          <a:ln w="25908">
            <a:solidFill>
              <a:srgbClr val="00405F"/>
            </a:solidFill>
          </a:ln>
        </p:spPr>
        <p:txBody>
          <a:bodyPr wrap="square" lIns="0" tIns="38735" rIns="0" bIns="0" rtlCol="0" vert="horz">
            <a:spAutoFit/>
          </a:bodyPr>
          <a:lstStyle/>
          <a:p>
            <a:pPr marL="90170" marR="88265">
              <a:lnSpc>
                <a:spcPct val="100000"/>
              </a:lnSpc>
              <a:spcBef>
                <a:spcPts val="305"/>
              </a:spcBef>
            </a:pP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Edit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taxonomies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75538" y="3830573"/>
            <a:ext cx="1371600" cy="646430"/>
          </a:xfrm>
          <a:prstGeom prst="rect">
            <a:avLst/>
          </a:prstGeom>
          <a:solidFill>
            <a:srgbClr val="005A84"/>
          </a:solidFill>
          <a:ln w="25908">
            <a:solidFill>
              <a:srgbClr val="00405F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marL="90170" marR="107950">
              <a:lnSpc>
                <a:spcPct val="100000"/>
              </a:lnSpc>
              <a:spcBef>
                <a:spcPts val="315"/>
              </a:spcBef>
            </a:pP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Map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taxonomies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377190" y="4647438"/>
            <a:ext cx="2368550" cy="646430"/>
          </a:xfrm>
          <a:prstGeom prst="rect">
            <a:avLst/>
          </a:prstGeom>
          <a:solidFill>
            <a:srgbClr val="005A84"/>
          </a:solidFill>
          <a:ln w="25908">
            <a:solidFill>
              <a:srgbClr val="00405F"/>
            </a:solidFill>
          </a:ln>
        </p:spPr>
        <p:txBody>
          <a:bodyPr wrap="square" lIns="0" tIns="39370" rIns="0" bIns="0" rtlCol="0" vert="horz">
            <a:spAutoFit/>
          </a:bodyPr>
          <a:lstStyle/>
          <a:p>
            <a:pPr marL="90805" marR="135255">
              <a:lnSpc>
                <a:spcPct val="100000"/>
              </a:lnSpc>
              <a:spcBef>
                <a:spcPts val="31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Automated</a:t>
            </a:r>
            <a:r>
              <a:rPr dirty="0" sz="1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access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taxonomies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190871" y="1971243"/>
            <a:ext cx="3522979" cy="37903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81915" indent="-342900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Provide</a:t>
            </a:r>
            <a:r>
              <a:rPr dirty="0" sz="2200" spc="-9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interface</a:t>
            </a:r>
            <a:r>
              <a:rPr dirty="0" sz="2200" spc="-9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 spc="-25">
                <a:solidFill>
                  <a:srgbClr val="4A4A4A"/>
                </a:solidFill>
                <a:latin typeface="Arial"/>
                <a:cs typeface="Arial"/>
              </a:rPr>
              <a:t>for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editing</a:t>
            </a:r>
            <a:r>
              <a:rPr dirty="0" sz="2200" spc="-5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new</a:t>
            </a:r>
            <a:r>
              <a:rPr dirty="0" sz="2200" spc="-5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and</a:t>
            </a:r>
            <a:r>
              <a:rPr dirty="0" sz="2200" spc="-5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4A4A4A"/>
                </a:solidFill>
                <a:latin typeface="Arial"/>
                <a:cs typeface="Arial"/>
              </a:rPr>
              <a:t>existing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terms</a:t>
            </a:r>
            <a:r>
              <a:rPr dirty="0" sz="22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along</a:t>
            </a:r>
            <a:r>
              <a:rPr dirty="0" sz="2200" spc="-5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with</a:t>
            </a:r>
            <a:r>
              <a:rPr dirty="0" sz="22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4A4A4A"/>
                </a:solidFill>
                <a:latin typeface="Arial"/>
                <a:cs typeface="Arial"/>
              </a:rPr>
              <a:t>their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governance</a:t>
            </a:r>
            <a:r>
              <a:rPr dirty="0" sz="2200" spc="-9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and</a:t>
            </a:r>
            <a:r>
              <a:rPr dirty="0" sz="2200" spc="-8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4A4A4A"/>
                </a:solidFill>
                <a:latin typeface="Arial"/>
                <a:cs typeface="Arial"/>
              </a:rPr>
              <a:t>lifecycle characteristics.</a:t>
            </a:r>
            <a:endParaRPr sz="22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605"/>
              </a:spcBef>
              <a:buChar char="•"/>
              <a:tabLst>
                <a:tab pos="354965" algn="l"/>
                <a:tab pos="355600" algn="l"/>
              </a:tabLst>
            </a:pP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Both</a:t>
            </a:r>
            <a:r>
              <a:rPr dirty="0" sz="2200" spc="-8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automated</a:t>
            </a:r>
            <a:r>
              <a:rPr dirty="0" sz="2200" spc="-5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 spc="-25">
                <a:solidFill>
                  <a:srgbClr val="4A4A4A"/>
                </a:solidFill>
                <a:latin typeface="Arial"/>
                <a:cs typeface="Arial"/>
              </a:rPr>
              <a:t>and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manual</a:t>
            </a:r>
            <a:r>
              <a:rPr dirty="0" sz="2200" spc="-7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mapping</a:t>
            </a:r>
            <a:r>
              <a:rPr dirty="0" sz="2200" spc="-6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4A4A4A"/>
                </a:solidFill>
                <a:latin typeface="Arial"/>
                <a:cs typeface="Arial"/>
              </a:rPr>
              <a:t>features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to</a:t>
            </a:r>
            <a:r>
              <a:rPr dirty="0" sz="2200" spc="-4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provide</a:t>
            </a:r>
            <a:r>
              <a:rPr dirty="0" sz="22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4A4A4A"/>
                </a:solidFill>
                <a:latin typeface="Arial"/>
                <a:cs typeface="Arial"/>
              </a:rPr>
              <a:t>alignment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between</a:t>
            </a:r>
            <a:r>
              <a:rPr dirty="0" sz="2200" spc="-8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public,</a:t>
            </a:r>
            <a:r>
              <a:rPr dirty="0" sz="2200" spc="-10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4A4A4A"/>
                </a:solidFill>
                <a:latin typeface="Arial"/>
                <a:cs typeface="Arial"/>
              </a:rPr>
              <a:t>internal,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and</a:t>
            </a:r>
            <a:r>
              <a:rPr dirty="0" sz="2200" spc="-7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>
                <a:solidFill>
                  <a:srgbClr val="4A4A4A"/>
                </a:solidFill>
                <a:latin typeface="Arial"/>
                <a:cs typeface="Arial"/>
              </a:rPr>
              <a:t>external</a:t>
            </a:r>
            <a:r>
              <a:rPr dirty="0" sz="2200" spc="-5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200" spc="-10">
                <a:solidFill>
                  <a:srgbClr val="4A4A4A"/>
                </a:solidFill>
                <a:latin typeface="Arial"/>
                <a:cs typeface="Arial"/>
              </a:rPr>
              <a:t>controlled vocabularies.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17447" y="1365503"/>
            <a:ext cx="7370445" cy="0"/>
          </a:xfrm>
          <a:custGeom>
            <a:avLst/>
            <a:gdLst/>
            <a:ahLst/>
            <a:cxnLst/>
            <a:rect l="l" t="t" r="r" b="b"/>
            <a:pathLst>
              <a:path w="7370445" h="0">
                <a:moveTo>
                  <a:pt x="0" y="0"/>
                </a:moveTo>
                <a:lnTo>
                  <a:pt x="7370063" y="0"/>
                </a:lnTo>
              </a:path>
            </a:pathLst>
          </a:custGeom>
          <a:ln w="24384">
            <a:solidFill>
              <a:srgbClr val="4A4A4A"/>
            </a:solidFill>
            <a:prstDash val="dot"/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</a:pPr>
            <a:r>
              <a:rPr dirty="0" u="none"/>
              <a:t>APIs</a:t>
            </a:r>
            <a:r>
              <a:rPr dirty="0" u="none" spc="-70"/>
              <a:t> </a:t>
            </a:r>
            <a:r>
              <a:rPr dirty="0" u="none"/>
              <a:t>and</a:t>
            </a:r>
            <a:r>
              <a:rPr dirty="0" u="none" spc="-70"/>
              <a:t> </a:t>
            </a:r>
            <a:r>
              <a:rPr dirty="0" u="none"/>
              <a:t>Web</a:t>
            </a:r>
            <a:r>
              <a:rPr dirty="0" u="none" spc="-60"/>
              <a:t> </a:t>
            </a:r>
            <a:r>
              <a:rPr dirty="0" u="none"/>
              <a:t>Services</a:t>
            </a:r>
            <a:r>
              <a:rPr dirty="0" u="none" spc="-55"/>
              <a:t> </a:t>
            </a:r>
            <a:r>
              <a:rPr dirty="0" u="none"/>
              <a:t>for</a:t>
            </a:r>
            <a:r>
              <a:rPr dirty="0" u="none" spc="-70"/>
              <a:t> </a:t>
            </a:r>
            <a:r>
              <a:rPr dirty="0" u="none"/>
              <a:t>direct</a:t>
            </a:r>
            <a:r>
              <a:rPr dirty="0" u="none" spc="-65"/>
              <a:t> </a:t>
            </a:r>
            <a:r>
              <a:rPr dirty="0" u="none" spc="-10"/>
              <a:t>integration </a:t>
            </a:r>
            <a:r>
              <a:rPr dirty="0" u="none"/>
              <a:t>with</a:t>
            </a:r>
            <a:r>
              <a:rPr dirty="0" u="none" spc="-75"/>
              <a:t> </a:t>
            </a:r>
            <a:r>
              <a:rPr dirty="0" u="none"/>
              <a:t>external</a:t>
            </a:r>
            <a:r>
              <a:rPr dirty="0" u="none" spc="-80"/>
              <a:t> </a:t>
            </a:r>
            <a:r>
              <a:rPr dirty="0" u="none" spc="-10"/>
              <a:t>applications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8649716" y="6425590"/>
            <a:ext cx="1536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4A4A4A"/>
                </a:solidFill>
                <a:latin typeface="Arial"/>
                <a:cs typeface="Arial"/>
              </a:rPr>
              <a:t>16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2316988" y="3668776"/>
            <a:ext cx="5363210" cy="1387475"/>
            <a:chOff x="2316988" y="3668776"/>
            <a:chExt cx="5363210" cy="1387475"/>
          </a:xfrm>
        </p:grpSpPr>
        <p:sp>
          <p:nvSpPr>
            <p:cNvPr id="6" name="object 6" descr=""/>
            <p:cNvSpPr/>
            <p:nvPr/>
          </p:nvSpPr>
          <p:spPr>
            <a:xfrm>
              <a:off x="7603997" y="3669030"/>
              <a:ext cx="76200" cy="1386840"/>
            </a:xfrm>
            <a:custGeom>
              <a:avLst/>
              <a:gdLst/>
              <a:ahLst/>
              <a:cxnLst/>
              <a:rect l="l" t="t" r="r" b="b"/>
              <a:pathLst>
                <a:path w="76200" h="1386839">
                  <a:moveTo>
                    <a:pt x="48005" y="63500"/>
                  </a:moveTo>
                  <a:lnTo>
                    <a:pt x="28194" y="63500"/>
                  </a:lnTo>
                  <a:lnTo>
                    <a:pt x="28194" y="1386713"/>
                  </a:lnTo>
                  <a:lnTo>
                    <a:pt x="48005" y="1386713"/>
                  </a:lnTo>
                  <a:lnTo>
                    <a:pt x="48005" y="63500"/>
                  </a:lnTo>
                  <a:close/>
                </a:path>
                <a:path w="76200" h="1386839">
                  <a:moveTo>
                    <a:pt x="38100" y="0"/>
                  </a:moveTo>
                  <a:lnTo>
                    <a:pt x="0" y="76200"/>
                  </a:lnTo>
                  <a:lnTo>
                    <a:pt x="28194" y="76200"/>
                  </a:lnTo>
                  <a:lnTo>
                    <a:pt x="28194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1386839">
                  <a:moveTo>
                    <a:pt x="69850" y="63500"/>
                  </a:moveTo>
                  <a:lnTo>
                    <a:pt x="48005" y="63500"/>
                  </a:lnTo>
                  <a:lnTo>
                    <a:pt x="48005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319528" y="3671316"/>
              <a:ext cx="20320" cy="0"/>
            </a:xfrm>
            <a:custGeom>
              <a:avLst/>
              <a:gdLst/>
              <a:ahLst/>
              <a:cxnLst/>
              <a:rect l="l" t="t" r="r" b="b"/>
              <a:pathLst>
                <a:path w="20319" h="0">
                  <a:moveTo>
                    <a:pt x="0" y="0"/>
                  </a:moveTo>
                  <a:lnTo>
                    <a:pt x="19812" y="0"/>
                  </a:lnTo>
                </a:path>
              </a:pathLst>
            </a:custGeom>
            <a:ln w="4571">
              <a:solidFill>
                <a:srgbClr val="0058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408170" y="3900678"/>
              <a:ext cx="2080260" cy="704215"/>
            </a:xfrm>
            <a:custGeom>
              <a:avLst/>
              <a:gdLst/>
              <a:ahLst/>
              <a:cxnLst/>
              <a:rect l="l" t="t" r="r" b="b"/>
              <a:pathLst>
                <a:path w="2080260" h="704214">
                  <a:moveTo>
                    <a:pt x="2080260" y="0"/>
                  </a:moveTo>
                  <a:lnTo>
                    <a:pt x="0" y="0"/>
                  </a:lnTo>
                  <a:lnTo>
                    <a:pt x="0" y="704088"/>
                  </a:lnTo>
                  <a:lnTo>
                    <a:pt x="2080260" y="704088"/>
                  </a:lnTo>
                  <a:lnTo>
                    <a:pt x="2080260" y="0"/>
                  </a:lnTo>
                  <a:close/>
                </a:path>
              </a:pathLst>
            </a:custGeom>
            <a:solidFill>
              <a:srgbClr val="005A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408170" y="3900678"/>
              <a:ext cx="2080260" cy="704215"/>
            </a:xfrm>
            <a:custGeom>
              <a:avLst/>
              <a:gdLst/>
              <a:ahLst/>
              <a:cxnLst/>
              <a:rect l="l" t="t" r="r" b="b"/>
              <a:pathLst>
                <a:path w="2080260" h="704214">
                  <a:moveTo>
                    <a:pt x="0" y="704088"/>
                  </a:moveTo>
                  <a:lnTo>
                    <a:pt x="2080260" y="704088"/>
                  </a:lnTo>
                  <a:lnTo>
                    <a:pt x="2080260" y="0"/>
                  </a:lnTo>
                  <a:lnTo>
                    <a:pt x="0" y="0"/>
                  </a:lnTo>
                  <a:lnTo>
                    <a:pt x="0" y="704088"/>
                  </a:lnTo>
                  <a:close/>
                </a:path>
              </a:pathLst>
            </a:custGeom>
            <a:ln w="25908">
              <a:solidFill>
                <a:srgbClr val="0040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4408170" y="3900678"/>
            <a:ext cx="2080260" cy="692150"/>
          </a:xfrm>
          <a:prstGeom prst="rect">
            <a:avLst/>
          </a:prstGeom>
          <a:ln w="25907">
            <a:solidFill>
              <a:srgbClr val="00405F"/>
            </a:solidFill>
          </a:ln>
        </p:spPr>
        <p:txBody>
          <a:bodyPr wrap="square" lIns="0" tIns="400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15"/>
              </a:spcBef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APIs</a:t>
            </a:r>
            <a:r>
              <a:rPr dirty="0" sz="20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Web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Services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565084" y="3660584"/>
            <a:ext cx="2105025" cy="1166495"/>
            <a:chOff x="1565084" y="3660584"/>
            <a:chExt cx="2105025" cy="1166495"/>
          </a:xfrm>
        </p:grpSpPr>
        <p:sp>
          <p:nvSpPr>
            <p:cNvPr id="12" name="object 12" descr=""/>
            <p:cNvSpPr/>
            <p:nvPr/>
          </p:nvSpPr>
          <p:spPr>
            <a:xfrm>
              <a:off x="1578102" y="3673601"/>
              <a:ext cx="2078989" cy="919480"/>
            </a:xfrm>
            <a:custGeom>
              <a:avLst/>
              <a:gdLst/>
              <a:ahLst/>
              <a:cxnLst/>
              <a:rect l="l" t="t" r="r" b="b"/>
              <a:pathLst>
                <a:path w="2078989" h="919479">
                  <a:moveTo>
                    <a:pt x="0" y="918972"/>
                  </a:moveTo>
                  <a:lnTo>
                    <a:pt x="2078736" y="918972"/>
                  </a:lnTo>
                  <a:lnTo>
                    <a:pt x="2078736" y="0"/>
                  </a:lnTo>
                  <a:lnTo>
                    <a:pt x="0" y="0"/>
                  </a:lnTo>
                  <a:lnTo>
                    <a:pt x="0" y="918972"/>
                  </a:lnTo>
                  <a:close/>
                </a:path>
              </a:pathLst>
            </a:custGeom>
            <a:solidFill>
              <a:srgbClr val="FFFF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578102" y="3673601"/>
              <a:ext cx="2078989" cy="1140460"/>
            </a:xfrm>
            <a:custGeom>
              <a:avLst/>
              <a:gdLst/>
              <a:ahLst/>
              <a:cxnLst/>
              <a:rect l="l" t="t" r="r" b="b"/>
              <a:pathLst>
                <a:path w="2078989" h="1140460">
                  <a:moveTo>
                    <a:pt x="0" y="1139952"/>
                  </a:moveTo>
                  <a:lnTo>
                    <a:pt x="2078736" y="1139952"/>
                  </a:lnTo>
                  <a:lnTo>
                    <a:pt x="2078736" y="0"/>
                  </a:lnTo>
                  <a:lnTo>
                    <a:pt x="0" y="0"/>
                  </a:lnTo>
                  <a:lnTo>
                    <a:pt x="0" y="1139952"/>
                  </a:lnTo>
                  <a:close/>
                </a:path>
              </a:pathLst>
            </a:custGeom>
            <a:ln w="25907">
              <a:solidFill>
                <a:srgbClr val="BEA6E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591055" y="3705225"/>
            <a:ext cx="2052955" cy="8204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4A4A4A"/>
                </a:solidFill>
                <a:latin typeface="Arial"/>
                <a:cs typeface="Arial"/>
              </a:rPr>
              <a:t>Synaptica</a:t>
            </a:r>
            <a:r>
              <a:rPr dirty="0" sz="2000" spc="-6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4A4A4A"/>
                </a:solidFill>
                <a:latin typeface="Arial"/>
                <a:cs typeface="Arial"/>
              </a:rPr>
              <a:t>GUI</a:t>
            </a:r>
            <a:endParaRPr sz="2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dirty="0" sz="1600">
                <a:solidFill>
                  <a:srgbClr val="4A4A4A"/>
                </a:solidFill>
                <a:latin typeface="Arial"/>
                <a:cs typeface="Arial"/>
              </a:rPr>
              <a:t>Cloud</a:t>
            </a:r>
            <a:r>
              <a:rPr dirty="0" sz="1600" spc="-6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4A4A4A"/>
                </a:solidFill>
                <a:latin typeface="Arial"/>
                <a:cs typeface="Arial"/>
              </a:rPr>
              <a:t>Based</a:t>
            </a:r>
            <a:r>
              <a:rPr dirty="0" sz="1600" spc="-5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4A4A4A"/>
                </a:solidFill>
                <a:latin typeface="Arial"/>
                <a:cs typeface="Arial"/>
              </a:rPr>
              <a:t>or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600">
                <a:solidFill>
                  <a:srgbClr val="4A4A4A"/>
                </a:solidFill>
                <a:latin typeface="Arial"/>
                <a:cs typeface="Arial"/>
              </a:rPr>
              <a:t>Locally</a:t>
            </a:r>
            <a:r>
              <a:rPr dirty="0" sz="1600" spc="-6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4A4A4A"/>
                </a:solidFill>
                <a:latin typeface="Arial"/>
                <a:cs typeface="Arial"/>
              </a:rPr>
              <a:t>Hosted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1565084" y="1520510"/>
            <a:ext cx="4935220" cy="4819650"/>
            <a:chOff x="1565084" y="1520510"/>
            <a:chExt cx="4935220" cy="4819650"/>
          </a:xfrm>
        </p:grpSpPr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90792" y="2041475"/>
              <a:ext cx="604310" cy="417885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81200" y="2455163"/>
              <a:ext cx="652272" cy="658367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81200" y="2974848"/>
              <a:ext cx="652272" cy="656844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578102" y="2224278"/>
              <a:ext cx="751840" cy="1445260"/>
            </a:xfrm>
            <a:custGeom>
              <a:avLst/>
              <a:gdLst/>
              <a:ahLst/>
              <a:cxnLst/>
              <a:rect l="l" t="t" r="r" b="b"/>
              <a:pathLst>
                <a:path w="751839" h="1445260">
                  <a:moveTo>
                    <a:pt x="0" y="0"/>
                  </a:moveTo>
                  <a:lnTo>
                    <a:pt x="462279" y="0"/>
                  </a:lnTo>
                </a:path>
                <a:path w="751839" h="1445260">
                  <a:moveTo>
                    <a:pt x="0" y="521208"/>
                  </a:moveTo>
                  <a:lnTo>
                    <a:pt x="462279" y="521208"/>
                  </a:lnTo>
                </a:path>
                <a:path w="751839" h="1445260">
                  <a:moveTo>
                    <a:pt x="0" y="1040892"/>
                  </a:moveTo>
                  <a:lnTo>
                    <a:pt x="462279" y="1040892"/>
                  </a:lnTo>
                </a:path>
                <a:path w="751839" h="1445260">
                  <a:moveTo>
                    <a:pt x="0" y="1444752"/>
                  </a:moveTo>
                  <a:lnTo>
                    <a:pt x="751331" y="1444752"/>
                  </a:lnTo>
                </a:path>
              </a:pathLst>
            </a:custGeom>
            <a:ln w="19812">
              <a:solidFill>
                <a:srgbClr val="00588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578102" y="5459729"/>
              <a:ext cx="4909185" cy="867410"/>
            </a:xfrm>
            <a:custGeom>
              <a:avLst/>
              <a:gdLst/>
              <a:ahLst/>
              <a:cxnLst/>
              <a:rect l="l" t="t" r="r" b="b"/>
              <a:pathLst>
                <a:path w="4909185" h="867410">
                  <a:moveTo>
                    <a:pt x="4908804" y="0"/>
                  </a:moveTo>
                  <a:lnTo>
                    <a:pt x="0" y="0"/>
                  </a:lnTo>
                  <a:lnTo>
                    <a:pt x="0" y="867156"/>
                  </a:lnTo>
                  <a:lnTo>
                    <a:pt x="4908804" y="867156"/>
                  </a:lnTo>
                  <a:lnTo>
                    <a:pt x="4908804" y="0"/>
                  </a:lnTo>
                  <a:close/>
                </a:path>
              </a:pathLst>
            </a:custGeom>
            <a:solidFill>
              <a:srgbClr val="005A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578102" y="5459729"/>
              <a:ext cx="4909185" cy="867410"/>
            </a:xfrm>
            <a:custGeom>
              <a:avLst/>
              <a:gdLst/>
              <a:ahLst/>
              <a:cxnLst/>
              <a:rect l="l" t="t" r="r" b="b"/>
              <a:pathLst>
                <a:path w="4909185" h="867410">
                  <a:moveTo>
                    <a:pt x="0" y="867156"/>
                  </a:moveTo>
                  <a:lnTo>
                    <a:pt x="4908804" y="867156"/>
                  </a:lnTo>
                  <a:lnTo>
                    <a:pt x="4908804" y="0"/>
                  </a:lnTo>
                  <a:lnTo>
                    <a:pt x="0" y="0"/>
                  </a:lnTo>
                  <a:lnTo>
                    <a:pt x="0" y="867156"/>
                  </a:lnTo>
                  <a:close/>
                </a:path>
              </a:pathLst>
            </a:custGeom>
            <a:ln w="25907">
              <a:solidFill>
                <a:srgbClr val="00405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90792" y="1520510"/>
              <a:ext cx="604310" cy="418857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2753614" y="1617345"/>
            <a:ext cx="203898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Administrators</a:t>
            </a:r>
            <a:r>
              <a:rPr dirty="0" sz="1400" spc="-7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/</a:t>
            </a:r>
            <a:r>
              <a:rPr dirty="0" sz="14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Modelers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578102" y="5459729"/>
            <a:ext cx="4910455" cy="867410"/>
          </a:xfrm>
          <a:prstGeom prst="rect">
            <a:avLst/>
          </a:prstGeom>
          <a:ln w="25907">
            <a:solidFill>
              <a:srgbClr val="00405F"/>
            </a:solidFill>
          </a:ln>
        </p:spPr>
        <p:txBody>
          <a:bodyPr wrap="square" lIns="0" tIns="243204" rIns="0" bIns="0" rtlCol="0" vert="horz">
            <a:spAutoFit/>
          </a:bodyPr>
          <a:lstStyle/>
          <a:p>
            <a:pPr marL="555625">
              <a:lnSpc>
                <a:spcPct val="100000"/>
              </a:lnSpc>
              <a:spcBef>
                <a:spcPts val="1914"/>
              </a:spcBef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Database</a:t>
            </a:r>
            <a:r>
              <a:rPr dirty="0" sz="24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24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4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1565084" y="4579556"/>
            <a:ext cx="4936490" cy="893444"/>
            <a:chOff x="1565084" y="4579556"/>
            <a:chExt cx="4936490" cy="893444"/>
          </a:xfrm>
        </p:grpSpPr>
        <p:sp>
          <p:nvSpPr>
            <p:cNvPr id="26" name="object 26" descr=""/>
            <p:cNvSpPr/>
            <p:nvPr/>
          </p:nvSpPr>
          <p:spPr>
            <a:xfrm>
              <a:off x="1578102" y="4592574"/>
              <a:ext cx="4910455" cy="867410"/>
            </a:xfrm>
            <a:custGeom>
              <a:avLst/>
              <a:gdLst/>
              <a:ahLst/>
              <a:cxnLst/>
              <a:rect l="l" t="t" r="r" b="b"/>
              <a:pathLst>
                <a:path w="4910455" h="867410">
                  <a:moveTo>
                    <a:pt x="4910328" y="0"/>
                  </a:moveTo>
                  <a:lnTo>
                    <a:pt x="0" y="0"/>
                  </a:lnTo>
                  <a:lnTo>
                    <a:pt x="0" y="867156"/>
                  </a:lnTo>
                  <a:lnTo>
                    <a:pt x="4910328" y="867156"/>
                  </a:lnTo>
                  <a:lnTo>
                    <a:pt x="4910328" y="0"/>
                  </a:lnTo>
                  <a:close/>
                </a:path>
              </a:pathLst>
            </a:custGeom>
            <a:solidFill>
              <a:srgbClr val="005A8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578102" y="4592574"/>
              <a:ext cx="4910455" cy="867410"/>
            </a:xfrm>
            <a:custGeom>
              <a:avLst/>
              <a:gdLst/>
              <a:ahLst/>
              <a:cxnLst/>
              <a:rect l="l" t="t" r="r" b="b"/>
              <a:pathLst>
                <a:path w="4910455" h="867410">
                  <a:moveTo>
                    <a:pt x="0" y="867156"/>
                  </a:moveTo>
                  <a:lnTo>
                    <a:pt x="4910328" y="867156"/>
                  </a:lnTo>
                  <a:lnTo>
                    <a:pt x="4910328" y="0"/>
                  </a:lnTo>
                  <a:lnTo>
                    <a:pt x="0" y="0"/>
                  </a:lnTo>
                  <a:lnTo>
                    <a:pt x="0" y="867156"/>
                  </a:lnTo>
                  <a:close/>
                </a:path>
              </a:pathLst>
            </a:custGeom>
            <a:ln w="25908">
              <a:solidFill>
                <a:srgbClr val="0040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3087751" y="4701920"/>
            <a:ext cx="18897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FFFFFF"/>
                </a:solidFill>
                <a:latin typeface="Arial"/>
                <a:cs typeface="Arial"/>
              </a:rPr>
              <a:t>Database</a:t>
            </a:r>
            <a:r>
              <a:rPr dirty="0" sz="2400" spc="-1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Arial"/>
                <a:cs typeface="Arial"/>
              </a:rPr>
              <a:t>API</a:t>
            </a:r>
            <a:endParaRPr sz="2400">
              <a:latin typeface="Arial"/>
              <a:cs typeface="Arial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3173095" y="5070728"/>
            <a:ext cx="17176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Stored</a:t>
            </a:r>
            <a:r>
              <a:rPr dirty="0" sz="16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Procedures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1567941" y="1638045"/>
            <a:ext cx="6084570" cy="4028440"/>
            <a:chOff x="1567941" y="1638045"/>
            <a:chExt cx="6084570" cy="4028440"/>
          </a:xfrm>
        </p:grpSpPr>
        <p:sp>
          <p:nvSpPr>
            <p:cNvPr id="31" name="object 31" descr=""/>
            <p:cNvSpPr/>
            <p:nvPr/>
          </p:nvSpPr>
          <p:spPr>
            <a:xfrm>
              <a:off x="1578101" y="1704593"/>
              <a:ext cx="462280" cy="1964055"/>
            </a:xfrm>
            <a:custGeom>
              <a:avLst/>
              <a:gdLst/>
              <a:ahLst/>
              <a:cxnLst/>
              <a:rect l="l" t="t" r="r" b="b"/>
              <a:pathLst>
                <a:path w="462280" h="1964054">
                  <a:moveTo>
                    <a:pt x="0" y="0"/>
                  </a:moveTo>
                  <a:lnTo>
                    <a:pt x="462279" y="0"/>
                  </a:lnTo>
                </a:path>
                <a:path w="462280" h="1964054">
                  <a:moveTo>
                    <a:pt x="0" y="0"/>
                  </a:moveTo>
                  <a:lnTo>
                    <a:pt x="0" y="1963546"/>
                  </a:lnTo>
                </a:path>
              </a:pathLst>
            </a:custGeom>
            <a:ln w="19812">
              <a:solidFill>
                <a:srgbClr val="00588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93141" y="2205269"/>
              <a:ext cx="810516" cy="963084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6107430" y="4434077"/>
              <a:ext cx="289560" cy="425450"/>
            </a:xfrm>
            <a:custGeom>
              <a:avLst/>
              <a:gdLst/>
              <a:ahLst/>
              <a:cxnLst/>
              <a:rect l="l" t="t" r="r" b="b"/>
              <a:pathLst>
                <a:path w="289560" h="425450">
                  <a:moveTo>
                    <a:pt x="144780" y="0"/>
                  </a:moveTo>
                  <a:lnTo>
                    <a:pt x="0" y="144780"/>
                  </a:lnTo>
                  <a:lnTo>
                    <a:pt x="72390" y="144780"/>
                  </a:lnTo>
                  <a:lnTo>
                    <a:pt x="72390" y="280416"/>
                  </a:lnTo>
                  <a:lnTo>
                    <a:pt x="0" y="280416"/>
                  </a:lnTo>
                  <a:lnTo>
                    <a:pt x="144780" y="425196"/>
                  </a:lnTo>
                  <a:lnTo>
                    <a:pt x="289560" y="280416"/>
                  </a:lnTo>
                  <a:lnTo>
                    <a:pt x="217170" y="280416"/>
                  </a:lnTo>
                  <a:lnTo>
                    <a:pt x="217170" y="144780"/>
                  </a:lnTo>
                  <a:lnTo>
                    <a:pt x="28956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EBEA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6107430" y="4434077"/>
              <a:ext cx="289560" cy="425450"/>
            </a:xfrm>
            <a:custGeom>
              <a:avLst/>
              <a:gdLst/>
              <a:ahLst/>
              <a:cxnLst/>
              <a:rect l="l" t="t" r="r" b="b"/>
              <a:pathLst>
                <a:path w="289560" h="425450">
                  <a:moveTo>
                    <a:pt x="0" y="144780"/>
                  </a:moveTo>
                  <a:lnTo>
                    <a:pt x="144780" y="0"/>
                  </a:lnTo>
                  <a:lnTo>
                    <a:pt x="289560" y="144780"/>
                  </a:lnTo>
                  <a:lnTo>
                    <a:pt x="217170" y="144780"/>
                  </a:lnTo>
                  <a:lnTo>
                    <a:pt x="217170" y="280416"/>
                  </a:lnTo>
                  <a:lnTo>
                    <a:pt x="289560" y="280416"/>
                  </a:lnTo>
                  <a:lnTo>
                    <a:pt x="144780" y="425196"/>
                  </a:lnTo>
                  <a:lnTo>
                    <a:pt x="0" y="280416"/>
                  </a:lnTo>
                  <a:lnTo>
                    <a:pt x="72390" y="280416"/>
                  </a:lnTo>
                  <a:lnTo>
                    <a:pt x="72390" y="144780"/>
                  </a:lnTo>
                  <a:lnTo>
                    <a:pt x="0" y="144780"/>
                  </a:lnTo>
                  <a:close/>
                </a:path>
              </a:pathLst>
            </a:custGeom>
            <a:ln w="25908">
              <a:solidFill>
                <a:srgbClr val="00405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3925062" y="5269230"/>
              <a:ext cx="289560" cy="384175"/>
            </a:xfrm>
            <a:custGeom>
              <a:avLst/>
              <a:gdLst/>
              <a:ahLst/>
              <a:cxnLst/>
              <a:rect l="l" t="t" r="r" b="b"/>
              <a:pathLst>
                <a:path w="289560" h="384175">
                  <a:moveTo>
                    <a:pt x="144779" y="0"/>
                  </a:moveTo>
                  <a:lnTo>
                    <a:pt x="0" y="144780"/>
                  </a:lnTo>
                  <a:lnTo>
                    <a:pt x="72389" y="144780"/>
                  </a:lnTo>
                  <a:lnTo>
                    <a:pt x="72389" y="239268"/>
                  </a:lnTo>
                  <a:lnTo>
                    <a:pt x="0" y="239268"/>
                  </a:lnTo>
                  <a:lnTo>
                    <a:pt x="144779" y="384048"/>
                  </a:lnTo>
                  <a:lnTo>
                    <a:pt x="289560" y="239268"/>
                  </a:lnTo>
                  <a:lnTo>
                    <a:pt x="217170" y="239268"/>
                  </a:lnTo>
                  <a:lnTo>
                    <a:pt x="217170" y="144780"/>
                  </a:lnTo>
                  <a:lnTo>
                    <a:pt x="289560" y="144780"/>
                  </a:lnTo>
                  <a:lnTo>
                    <a:pt x="144779" y="0"/>
                  </a:lnTo>
                  <a:close/>
                </a:path>
              </a:pathLst>
            </a:custGeom>
            <a:solidFill>
              <a:srgbClr val="EBEA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3925062" y="5269230"/>
              <a:ext cx="289560" cy="384175"/>
            </a:xfrm>
            <a:custGeom>
              <a:avLst/>
              <a:gdLst/>
              <a:ahLst/>
              <a:cxnLst/>
              <a:rect l="l" t="t" r="r" b="b"/>
              <a:pathLst>
                <a:path w="289560" h="384175">
                  <a:moveTo>
                    <a:pt x="0" y="144780"/>
                  </a:moveTo>
                  <a:lnTo>
                    <a:pt x="144779" y="0"/>
                  </a:lnTo>
                  <a:lnTo>
                    <a:pt x="289560" y="144780"/>
                  </a:lnTo>
                  <a:lnTo>
                    <a:pt x="217170" y="144780"/>
                  </a:lnTo>
                  <a:lnTo>
                    <a:pt x="217170" y="239268"/>
                  </a:lnTo>
                  <a:lnTo>
                    <a:pt x="289560" y="239268"/>
                  </a:lnTo>
                  <a:lnTo>
                    <a:pt x="144779" y="384048"/>
                  </a:lnTo>
                  <a:lnTo>
                    <a:pt x="0" y="239268"/>
                  </a:lnTo>
                  <a:lnTo>
                    <a:pt x="72389" y="239268"/>
                  </a:lnTo>
                  <a:lnTo>
                    <a:pt x="72389" y="144780"/>
                  </a:lnTo>
                  <a:lnTo>
                    <a:pt x="0" y="144780"/>
                  </a:lnTo>
                  <a:close/>
                </a:path>
              </a:pathLst>
            </a:custGeom>
            <a:ln w="25907">
              <a:solidFill>
                <a:srgbClr val="00405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658873" y="4431029"/>
              <a:ext cx="288290" cy="425450"/>
            </a:xfrm>
            <a:custGeom>
              <a:avLst/>
              <a:gdLst/>
              <a:ahLst/>
              <a:cxnLst/>
              <a:rect l="l" t="t" r="r" b="b"/>
              <a:pathLst>
                <a:path w="288289" h="425450">
                  <a:moveTo>
                    <a:pt x="144018" y="0"/>
                  </a:moveTo>
                  <a:lnTo>
                    <a:pt x="0" y="144018"/>
                  </a:lnTo>
                  <a:lnTo>
                    <a:pt x="72008" y="144018"/>
                  </a:lnTo>
                  <a:lnTo>
                    <a:pt x="72008" y="281178"/>
                  </a:lnTo>
                  <a:lnTo>
                    <a:pt x="0" y="281178"/>
                  </a:lnTo>
                  <a:lnTo>
                    <a:pt x="144018" y="425196"/>
                  </a:lnTo>
                  <a:lnTo>
                    <a:pt x="288036" y="281178"/>
                  </a:lnTo>
                  <a:lnTo>
                    <a:pt x="216026" y="281178"/>
                  </a:lnTo>
                  <a:lnTo>
                    <a:pt x="216026" y="144018"/>
                  </a:lnTo>
                  <a:lnTo>
                    <a:pt x="288036" y="144018"/>
                  </a:lnTo>
                  <a:lnTo>
                    <a:pt x="144018" y="0"/>
                  </a:lnTo>
                  <a:close/>
                </a:path>
              </a:pathLst>
            </a:custGeom>
            <a:solidFill>
              <a:srgbClr val="EBEA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658873" y="4431029"/>
              <a:ext cx="288290" cy="425450"/>
            </a:xfrm>
            <a:custGeom>
              <a:avLst/>
              <a:gdLst/>
              <a:ahLst/>
              <a:cxnLst/>
              <a:rect l="l" t="t" r="r" b="b"/>
              <a:pathLst>
                <a:path w="288289" h="425450">
                  <a:moveTo>
                    <a:pt x="0" y="144018"/>
                  </a:moveTo>
                  <a:lnTo>
                    <a:pt x="144018" y="0"/>
                  </a:lnTo>
                  <a:lnTo>
                    <a:pt x="288036" y="144018"/>
                  </a:lnTo>
                  <a:lnTo>
                    <a:pt x="216026" y="144018"/>
                  </a:lnTo>
                  <a:lnTo>
                    <a:pt x="216026" y="281178"/>
                  </a:lnTo>
                  <a:lnTo>
                    <a:pt x="288036" y="281178"/>
                  </a:lnTo>
                  <a:lnTo>
                    <a:pt x="144018" y="425196"/>
                  </a:lnTo>
                  <a:lnTo>
                    <a:pt x="0" y="281178"/>
                  </a:lnTo>
                  <a:lnTo>
                    <a:pt x="72008" y="281178"/>
                  </a:lnTo>
                  <a:lnTo>
                    <a:pt x="72008" y="144018"/>
                  </a:lnTo>
                  <a:lnTo>
                    <a:pt x="0" y="144018"/>
                  </a:lnTo>
                  <a:close/>
                </a:path>
              </a:pathLst>
            </a:custGeom>
            <a:ln w="25908">
              <a:solidFill>
                <a:srgbClr val="00405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5300345" y="3396233"/>
              <a:ext cx="85090" cy="458470"/>
            </a:xfrm>
            <a:custGeom>
              <a:avLst/>
              <a:gdLst/>
              <a:ahLst/>
              <a:cxnLst/>
              <a:rect l="l" t="t" r="r" b="b"/>
              <a:pathLst>
                <a:path w="85089" h="458470">
                  <a:moveTo>
                    <a:pt x="36605" y="382488"/>
                  </a:moveTo>
                  <a:lnTo>
                    <a:pt x="8508" y="383285"/>
                  </a:lnTo>
                  <a:lnTo>
                    <a:pt x="48640" y="458342"/>
                  </a:lnTo>
                  <a:lnTo>
                    <a:pt x="78020" y="395223"/>
                  </a:lnTo>
                  <a:lnTo>
                    <a:pt x="36956" y="395223"/>
                  </a:lnTo>
                  <a:lnTo>
                    <a:pt x="36605" y="382488"/>
                  </a:lnTo>
                  <a:close/>
                </a:path>
                <a:path w="85089" h="458470">
                  <a:moveTo>
                    <a:pt x="56416" y="381926"/>
                  </a:moveTo>
                  <a:lnTo>
                    <a:pt x="36605" y="382488"/>
                  </a:lnTo>
                  <a:lnTo>
                    <a:pt x="36956" y="395223"/>
                  </a:lnTo>
                  <a:lnTo>
                    <a:pt x="56768" y="394715"/>
                  </a:lnTo>
                  <a:lnTo>
                    <a:pt x="56416" y="381926"/>
                  </a:lnTo>
                  <a:close/>
                </a:path>
                <a:path w="85089" h="458470">
                  <a:moveTo>
                    <a:pt x="84581" y="381126"/>
                  </a:moveTo>
                  <a:lnTo>
                    <a:pt x="56416" y="381926"/>
                  </a:lnTo>
                  <a:lnTo>
                    <a:pt x="56768" y="394715"/>
                  </a:lnTo>
                  <a:lnTo>
                    <a:pt x="36956" y="395223"/>
                  </a:lnTo>
                  <a:lnTo>
                    <a:pt x="78020" y="395223"/>
                  </a:lnTo>
                  <a:lnTo>
                    <a:pt x="84581" y="381126"/>
                  </a:lnTo>
                  <a:close/>
                </a:path>
                <a:path w="85089" h="458470">
                  <a:moveTo>
                    <a:pt x="47972" y="75856"/>
                  </a:moveTo>
                  <a:lnTo>
                    <a:pt x="28162" y="76418"/>
                  </a:lnTo>
                  <a:lnTo>
                    <a:pt x="36605" y="382488"/>
                  </a:lnTo>
                  <a:lnTo>
                    <a:pt x="56416" y="381926"/>
                  </a:lnTo>
                  <a:lnTo>
                    <a:pt x="47972" y="75856"/>
                  </a:lnTo>
                  <a:close/>
                </a:path>
                <a:path w="85089" h="458470">
                  <a:moveTo>
                    <a:pt x="35940" y="0"/>
                  </a:moveTo>
                  <a:lnTo>
                    <a:pt x="0" y="77215"/>
                  </a:lnTo>
                  <a:lnTo>
                    <a:pt x="28162" y="76418"/>
                  </a:lnTo>
                  <a:lnTo>
                    <a:pt x="27812" y="63753"/>
                  </a:lnTo>
                  <a:lnTo>
                    <a:pt x="47625" y="63245"/>
                  </a:lnTo>
                  <a:lnTo>
                    <a:pt x="69864" y="63245"/>
                  </a:lnTo>
                  <a:lnTo>
                    <a:pt x="35940" y="0"/>
                  </a:lnTo>
                  <a:close/>
                </a:path>
                <a:path w="85089" h="458470">
                  <a:moveTo>
                    <a:pt x="47625" y="63245"/>
                  </a:moveTo>
                  <a:lnTo>
                    <a:pt x="27812" y="63753"/>
                  </a:lnTo>
                  <a:lnTo>
                    <a:pt x="28162" y="76418"/>
                  </a:lnTo>
                  <a:lnTo>
                    <a:pt x="47972" y="75856"/>
                  </a:lnTo>
                  <a:lnTo>
                    <a:pt x="47625" y="63245"/>
                  </a:lnTo>
                  <a:close/>
                </a:path>
                <a:path w="85089" h="458470">
                  <a:moveTo>
                    <a:pt x="69864" y="63245"/>
                  </a:moveTo>
                  <a:lnTo>
                    <a:pt x="47625" y="63245"/>
                  </a:lnTo>
                  <a:lnTo>
                    <a:pt x="47972" y="75856"/>
                  </a:lnTo>
                  <a:lnTo>
                    <a:pt x="76200" y="75056"/>
                  </a:lnTo>
                  <a:lnTo>
                    <a:pt x="69864" y="63245"/>
                  </a:lnTo>
                  <a:close/>
                </a:path>
              </a:pathLst>
            </a:custGeom>
            <a:solidFill>
              <a:srgbClr val="4848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5314950" y="1648205"/>
              <a:ext cx="76200" cy="520065"/>
            </a:xfrm>
            <a:custGeom>
              <a:avLst/>
              <a:gdLst/>
              <a:ahLst/>
              <a:cxnLst/>
              <a:rect l="l" t="t" r="r" b="b"/>
              <a:pathLst>
                <a:path w="76200" h="520064">
                  <a:moveTo>
                    <a:pt x="28194" y="443357"/>
                  </a:moveTo>
                  <a:lnTo>
                    <a:pt x="0" y="443357"/>
                  </a:lnTo>
                  <a:lnTo>
                    <a:pt x="38100" y="519557"/>
                  </a:lnTo>
                  <a:lnTo>
                    <a:pt x="69850" y="456057"/>
                  </a:lnTo>
                  <a:lnTo>
                    <a:pt x="28194" y="456057"/>
                  </a:lnTo>
                  <a:lnTo>
                    <a:pt x="28194" y="443357"/>
                  </a:lnTo>
                  <a:close/>
                </a:path>
                <a:path w="76200" h="520064">
                  <a:moveTo>
                    <a:pt x="48005" y="0"/>
                  </a:moveTo>
                  <a:lnTo>
                    <a:pt x="28194" y="0"/>
                  </a:lnTo>
                  <a:lnTo>
                    <a:pt x="28194" y="456057"/>
                  </a:lnTo>
                  <a:lnTo>
                    <a:pt x="48005" y="456057"/>
                  </a:lnTo>
                  <a:lnTo>
                    <a:pt x="48005" y="0"/>
                  </a:lnTo>
                  <a:close/>
                </a:path>
                <a:path w="76200" h="520064">
                  <a:moveTo>
                    <a:pt x="76200" y="443357"/>
                  </a:moveTo>
                  <a:lnTo>
                    <a:pt x="48005" y="443357"/>
                  </a:lnTo>
                  <a:lnTo>
                    <a:pt x="48005" y="456057"/>
                  </a:lnTo>
                  <a:lnTo>
                    <a:pt x="69850" y="456057"/>
                  </a:lnTo>
                  <a:lnTo>
                    <a:pt x="76200" y="443357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5342382" y="1648205"/>
              <a:ext cx="1847850" cy="0"/>
            </a:xfrm>
            <a:custGeom>
              <a:avLst/>
              <a:gdLst/>
              <a:ahLst/>
              <a:cxnLst/>
              <a:rect l="l" t="t" r="r" b="b"/>
              <a:pathLst>
                <a:path w="1847850" h="0">
                  <a:moveTo>
                    <a:pt x="0" y="0"/>
                  </a:moveTo>
                  <a:lnTo>
                    <a:pt x="1847595" y="0"/>
                  </a:lnTo>
                </a:path>
              </a:pathLst>
            </a:custGeom>
            <a:ln w="19812">
              <a:solidFill>
                <a:srgbClr val="4A4A4A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41753" y="2321093"/>
              <a:ext cx="810516" cy="963084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7162038" y="1654301"/>
              <a:ext cx="76200" cy="629285"/>
            </a:xfrm>
            <a:custGeom>
              <a:avLst/>
              <a:gdLst/>
              <a:ahLst/>
              <a:cxnLst/>
              <a:rect l="l" t="t" r="r" b="b"/>
              <a:pathLst>
                <a:path w="76200" h="629285">
                  <a:moveTo>
                    <a:pt x="28193" y="552831"/>
                  </a:moveTo>
                  <a:lnTo>
                    <a:pt x="0" y="552831"/>
                  </a:lnTo>
                  <a:lnTo>
                    <a:pt x="38100" y="629031"/>
                  </a:lnTo>
                  <a:lnTo>
                    <a:pt x="69850" y="565531"/>
                  </a:lnTo>
                  <a:lnTo>
                    <a:pt x="28193" y="565531"/>
                  </a:lnTo>
                  <a:lnTo>
                    <a:pt x="28193" y="552831"/>
                  </a:lnTo>
                  <a:close/>
                </a:path>
                <a:path w="76200" h="629285">
                  <a:moveTo>
                    <a:pt x="48005" y="0"/>
                  </a:moveTo>
                  <a:lnTo>
                    <a:pt x="28193" y="0"/>
                  </a:lnTo>
                  <a:lnTo>
                    <a:pt x="28193" y="565531"/>
                  </a:lnTo>
                  <a:lnTo>
                    <a:pt x="48005" y="565531"/>
                  </a:lnTo>
                  <a:lnTo>
                    <a:pt x="48005" y="0"/>
                  </a:lnTo>
                  <a:close/>
                </a:path>
                <a:path w="76200" h="629285">
                  <a:moveTo>
                    <a:pt x="76200" y="552831"/>
                  </a:moveTo>
                  <a:lnTo>
                    <a:pt x="48005" y="552831"/>
                  </a:lnTo>
                  <a:lnTo>
                    <a:pt x="48005" y="565531"/>
                  </a:lnTo>
                  <a:lnTo>
                    <a:pt x="69850" y="565531"/>
                  </a:lnTo>
                  <a:lnTo>
                    <a:pt x="76200" y="552831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5271896" y="1384173"/>
            <a:ext cx="21018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49277A"/>
                </a:solidFill>
                <a:latin typeface="Arial"/>
                <a:cs typeface="Arial"/>
              </a:rPr>
              <a:t>Vocabulary</a:t>
            </a:r>
            <a:r>
              <a:rPr dirty="0" sz="1600" spc="-110">
                <a:solidFill>
                  <a:srgbClr val="49277A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49277A"/>
                </a:solidFill>
                <a:latin typeface="Arial"/>
                <a:cs typeface="Arial"/>
              </a:rPr>
              <a:t>Distribution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5352669" y="1628012"/>
            <a:ext cx="194119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49277A"/>
                </a:solidFill>
                <a:latin typeface="Arial"/>
                <a:cs typeface="Arial"/>
              </a:rPr>
              <a:t>via</a:t>
            </a:r>
            <a:r>
              <a:rPr dirty="0" sz="1600" spc="-75">
                <a:solidFill>
                  <a:srgbClr val="49277A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49277A"/>
                </a:solidFill>
                <a:latin typeface="Arial"/>
                <a:cs typeface="Arial"/>
              </a:rPr>
              <a:t>Scheduled</a:t>
            </a:r>
            <a:r>
              <a:rPr dirty="0" sz="1600" spc="-70">
                <a:solidFill>
                  <a:srgbClr val="49277A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49277A"/>
                </a:solidFill>
                <a:latin typeface="Arial"/>
                <a:cs typeface="Arial"/>
              </a:rPr>
              <a:t>Export</a:t>
            </a:r>
            <a:endParaRPr sz="1600">
              <a:latin typeface="Arial"/>
              <a:cs typeface="Arial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2715514" y="2136470"/>
            <a:ext cx="5342255" cy="12795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Editors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</a:pP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Reviewers</a:t>
            </a:r>
            <a:r>
              <a:rPr dirty="0" sz="1400" spc="-3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/</a:t>
            </a:r>
            <a:r>
              <a:rPr dirty="0" sz="1400" spc="-4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Stakeholders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5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tabLst>
                <a:tab pos="2014220" algn="l"/>
              </a:tabLst>
            </a:pP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End</a:t>
            </a:r>
            <a:r>
              <a:rPr dirty="0" sz="1400" spc="-2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A4A4A"/>
                </a:solidFill>
                <a:latin typeface="Arial"/>
                <a:cs typeface="Arial"/>
              </a:rPr>
              <a:t>Users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	3</a:t>
            </a:r>
            <a:r>
              <a:rPr dirty="0" baseline="24691" sz="1350">
                <a:solidFill>
                  <a:srgbClr val="4A4A4A"/>
                </a:solidFill>
                <a:latin typeface="Arial"/>
                <a:cs typeface="Arial"/>
              </a:rPr>
              <a:t>rd</a:t>
            </a:r>
            <a:r>
              <a:rPr dirty="0" baseline="24691" sz="1350" spc="209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Party</a:t>
            </a:r>
            <a:r>
              <a:rPr dirty="0" sz="1400" spc="-11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4A4A4A"/>
                </a:solidFill>
                <a:latin typeface="Arial"/>
                <a:cs typeface="Arial"/>
              </a:rPr>
              <a:t>Applications</a:t>
            </a:r>
            <a:r>
              <a:rPr dirty="0" baseline="-31746" sz="2100">
                <a:solidFill>
                  <a:srgbClr val="4A4A4A"/>
                </a:solidFill>
                <a:latin typeface="Arial"/>
                <a:cs typeface="Arial"/>
              </a:rPr>
              <a:t>Import</a:t>
            </a:r>
            <a:r>
              <a:rPr dirty="0" baseline="-31746" sz="2100" spc="-6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baseline="-31746" sz="2100">
                <a:solidFill>
                  <a:srgbClr val="4A4A4A"/>
                </a:solidFill>
                <a:latin typeface="Arial"/>
                <a:cs typeface="Arial"/>
              </a:rPr>
              <a:t>/ Export</a:t>
            </a:r>
            <a:r>
              <a:rPr dirty="0" baseline="-31746" sz="2100" spc="-7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baseline="-31746" sz="2100" spc="-15">
                <a:solidFill>
                  <a:srgbClr val="4A4A4A"/>
                </a:solidFill>
                <a:latin typeface="Arial"/>
                <a:cs typeface="Arial"/>
              </a:rPr>
              <a:t>Files</a:t>
            </a:r>
            <a:endParaRPr baseline="-31746" sz="2100">
              <a:latin typeface="Arial"/>
              <a:cs typeface="Arial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6544818" y="3679697"/>
            <a:ext cx="269875" cy="558165"/>
            <a:chOff x="6544818" y="3679697"/>
            <a:chExt cx="269875" cy="558165"/>
          </a:xfrm>
        </p:grpSpPr>
        <p:sp>
          <p:nvSpPr>
            <p:cNvPr id="48" name="object 48" descr=""/>
            <p:cNvSpPr/>
            <p:nvPr/>
          </p:nvSpPr>
          <p:spPr>
            <a:xfrm>
              <a:off x="6738366" y="3679697"/>
              <a:ext cx="76200" cy="521334"/>
            </a:xfrm>
            <a:custGeom>
              <a:avLst/>
              <a:gdLst/>
              <a:ahLst/>
              <a:cxnLst/>
              <a:rect l="l" t="t" r="r" b="b"/>
              <a:pathLst>
                <a:path w="76200" h="521335">
                  <a:moveTo>
                    <a:pt x="48005" y="63500"/>
                  </a:moveTo>
                  <a:lnTo>
                    <a:pt x="28193" y="63500"/>
                  </a:lnTo>
                  <a:lnTo>
                    <a:pt x="28193" y="520826"/>
                  </a:lnTo>
                  <a:lnTo>
                    <a:pt x="48005" y="520826"/>
                  </a:lnTo>
                  <a:lnTo>
                    <a:pt x="48005" y="63500"/>
                  </a:lnTo>
                  <a:close/>
                </a:path>
                <a:path w="76200" h="521335">
                  <a:moveTo>
                    <a:pt x="38100" y="0"/>
                  </a:moveTo>
                  <a:lnTo>
                    <a:pt x="0" y="76200"/>
                  </a:lnTo>
                  <a:lnTo>
                    <a:pt x="28193" y="76200"/>
                  </a:lnTo>
                  <a:lnTo>
                    <a:pt x="28193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521335">
                  <a:moveTo>
                    <a:pt x="69850" y="63500"/>
                  </a:moveTo>
                  <a:lnTo>
                    <a:pt x="48005" y="63500"/>
                  </a:lnTo>
                  <a:lnTo>
                    <a:pt x="48005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44818" y="4161281"/>
              <a:ext cx="231775" cy="76200"/>
            </a:xfrm>
            <a:prstGeom prst="rect">
              <a:avLst/>
            </a:prstGeom>
          </p:spPr>
        </p:pic>
      </p:grpSp>
      <p:sp>
        <p:nvSpPr>
          <p:cNvPr id="50" name="object 50" descr=""/>
          <p:cNvSpPr txBox="1"/>
          <p:nvPr/>
        </p:nvSpPr>
        <p:spPr>
          <a:xfrm>
            <a:off x="6498463" y="3387405"/>
            <a:ext cx="1405890" cy="862330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marL="339090" indent="-327025">
              <a:lnSpc>
                <a:spcPct val="100000"/>
              </a:lnSpc>
              <a:spcBef>
                <a:spcPts val="919"/>
              </a:spcBef>
            </a:pP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Full</a:t>
            </a:r>
            <a:r>
              <a:rPr dirty="0" sz="1200" spc="-5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4A4A4A"/>
                </a:solidFill>
                <a:latin typeface="Arial"/>
                <a:cs typeface="Arial"/>
              </a:rPr>
              <a:t>and</a:t>
            </a:r>
            <a:r>
              <a:rPr dirty="0" sz="1200" spc="-30">
                <a:solidFill>
                  <a:srgbClr val="4A4A4A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4A4A4A"/>
                </a:solidFill>
                <a:latin typeface="Arial"/>
                <a:cs typeface="Arial"/>
              </a:rPr>
              <a:t>Incremental</a:t>
            </a:r>
            <a:endParaRPr sz="1200">
              <a:latin typeface="Arial"/>
              <a:cs typeface="Arial"/>
            </a:endParaRPr>
          </a:p>
          <a:p>
            <a:pPr marL="339090" marR="416559">
              <a:lnSpc>
                <a:spcPct val="100000"/>
              </a:lnSpc>
              <a:spcBef>
                <a:spcPts val="965"/>
              </a:spcBef>
            </a:pPr>
            <a:r>
              <a:rPr dirty="0" sz="1400">
                <a:solidFill>
                  <a:srgbClr val="49277A"/>
                </a:solidFill>
                <a:latin typeface="Arial"/>
                <a:cs typeface="Arial"/>
              </a:rPr>
              <a:t>via</a:t>
            </a:r>
            <a:r>
              <a:rPr dirty="0" sz="1400" spc="-20">
                <a:solidFill>
                  <a:srgbClr val="49277A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49277A"/>
                </a:solidFill>
                <a:latin typeface="Arial"/>
                <a:cs typeface="Arial"/>
              </a:rPr>
              <a:t>Web </a:t>
            </a:r>
            <a:r>
              <a:rPr dirty="0" sz="1400" spc="-10">
                <a:solidFill>
                  <a:srgbClr val="49277A"/>
                </a:solidFill>
                <a:latin typeface="Arial"/>
                <a:cs typeface="Arial"/>
              </a:rPr>
              <a:t>Service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51" name="object 51" descr=""/>
          <p:cNvSpPr/>
          <p:nvPr/>
        </p:nvSpPr>
        <p:spPr>
          <a:xfrm>
            <a:off x="6544818" y="5017770"/>
            <a:ext cx="1097915" cy="76200"/>
          </a:xfrm>
          <a:custGeom>
            <a:avLst/>
            <a:gdLst/>
            <a:ahLst/>
            <a:cxnLst/>
            <a:rect l="l" t="t" r="r" b="b"/>
            <a:pathLst>
              <a:path w="1097915" h="76200">
                <a:moveTo>
                  <a:pt x="76200" y="0"/>
                </a:moveTo>
                <a:lnTo>
                  <a:pt x="0" y="38099"/>
                </a:lnTo>
                <a:lnTo>
                  <a:pt x="76200" y="76199"/>
                </a:lnTo>
                <a:lnTo>
                  <a:pt x="76200" y="48005"/>
                </a:lnTo>
                <a:lnTo>
                  <a:pt x="63500" y="48005"/>
                </a:lnTo>
                <a:lnTo>
                  <a:pt x="63500" y="28193"/>
                </a:lnTo>
                <a:lnTo>
                  <a:pt x="76200" y="28193"/>
                </a:lnTo>
                <a:lnTo>
                  <a:pt x="76200" y="0"/>
                </a:lnTo>
                <a:close/>
              </a:path>
              <a:path w="1097915" h="76200">
                <a:moveTo>
                  <a:pt x="76200" y="28193"/>
                </a:moveTo>
                <a:lnTo>
                  <a:pt x="63500" y="28193"/>
                </a:lnTo>
                <a:lnTo>
                  <a:pt x="63500" y="48005"/>
                </a:lnTo>
                <a:lnTo>
                  <a:pt x="76200" y="48005"/>
                </a:lnTo>
                <a:lnTo>
                  <a:pt x="76200" y="28193"/>
                </a:lnTo>
                <a:close/>
              </a:path>
              <a:path w="1097915" h="76200">
                <a:moveTo>
                  <a:pt x="1097660" y="28193"/>
                </a:moveTo>
                <a:lnTo>
                  <a:pt x="76200" y="28193"/>
                </a:lnTo>
                <a:lnTo>
                  <a:pt x="76200" y="48005"/>
                </a:lnTo>
                <a:lnTo>
                  <a:pt x="1097660" y="48005"/>
                </a:lnTo>
                <a:lnTo>
                  <a:pt x="1097660" y="28193"/>
                </a:lnTo>
                <a:close/>
              </a:path>
            </a:pathLst>
          </a:custGeom>
          <a:solidFill>
            <a:srgbClr val="4A4A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 txBox="1"/>
          <p:nvPr/>
        </p:nvSpPr>
        <p:spPr>
          <a:xfrm>
            <a:off x="6570344" y="4810125"/>
            <a:ext cx="114490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9400" marR="5080" indent="-266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49277A"/>
                </a:solidFill>
                <a:latin typeface="Arial"/>
                <a:cs typeface="Arial"/>
              </a:rPr>
              <a:t>via</a:t>
            </a:r>
            <a:r>
              <a:rPr dirty="0" sz="1400" spc="-20">
                <a:solidFill>
                  <a:srgbClr val="49277A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49277A"/>
                </a:solidFill>
                <a:latin typeface="Arial"/>
                <a:cs typeface="Arial"/>
              </a:rPr>
              <a:t>Scheduled </a:t>
            </a:r>
            <a:r>
              <a:rPr dirty="0" sz="1400">
                <a:solidFill>
                  <a:srgbClr val="49277A"/>
                </a:solidFill>
                <a:latin typeface="Arial"/>
                <a:cs typeface="Arial"/>
              </a:rPr>
              <a:t>DB</a:t>
            </a:r>
            <a:r>
              <a:rPr dirty="0" sz="1400" spc="-15">
                <a:solidFill>
                  <a:srgbClr val="49277A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49277A"/>
                </a:solidFill>
                <a:latin typeface="Arial"/>
                <a:cs typeface="Arial"/>
              </a:rPr>
              <a:t>Job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53" name="object 5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65264" y="2686811"/>
            <a:ext cx="635507" cy="63550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611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81875" algn="l"/>
              </a:tabLst>
            </a:pPr>
            <a:r>
              <a:rPr dirty="0"/>
              <a:t>For</a:t>
            </a:r>
            <a:r>
              <a:rPr dirty="0" spc="-70"/>
              <a:t> </a:t>
            </a:r>
            <a:r>
              <a:rPr dirty="0"/>
              <a:t>More</a:t>
            </a:r>
            <a:r>
              <a:rPr dirty="0" spc="-65"/>
              <a:t> </a:t>
            </a:r>
            <a:r>
              <a:rPr dirty="0"/>
              <a:t>Information</a:t>
            </a:r>
            <a:r>
              <a:rPr dirty="0" spc="-70"/>
              <a:t> </a:t>
            </a:r>
            <a:r>
              <a:rPr dirty="0"/>
              <a:t>Please</a:t>
            </a:r>
            <a:r>
              <a:rPr dirty="0" spc="-75"/>
              <a:t> </a:t>
            </a:r>
            <a:r>
              <a:rPr dirty="0"/>
              <a:t>Contact</a:t>
            </a:r>
            <a:r>
              <a:rPr dirty="0" spc="-80"/>
              <a:t> </a:t>
            </a:r>
            <a:r>
              <a:rPr dirty="0" spc="-25"/>
              <a:t>Us!</a:t>
            </a:r>
            <a:r>
              <a:rPr dirty="0"/>
              <a:t>	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649716" y="6425590"/>
            <a:ext cx="1536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4A4A4A"/>
                </a:solidFill>
                <a:latin typeface="Arial"/>
                <a:cs typeface="Arial"/>
              </a:rPr>
              <a:t>17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96492" y="2066925"/>
            <a:ext cx="7179309" cy="3304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4531995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666666"/>
                </a:solidFill>
                <a:latin typeface="Arial"/>
                <a:cs typeface="Arial"/>
              </a:rPr>
              <a:t>Elizabeth</a:t>
            </a:r>
            <a:r>
              <a:rPr dirty="0" sz="1800" spc="-65" b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666666"/>
                </a:solidFill>
                <a:latin typeface="Arial"/>
                <a:cs typeface="Arial"/>
              </a:rPr>
              <a:t>Sweeney,</a:t>
            </a:r>
            <a:r>
              <a:rPr dirty="0" sz="1800" spc="-70" b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666666"/>
                </a:solidFill>
                <a:latin typeface="Arial"/>
                <a:cs typeface="Arial"/>
              </a:rPr>
              <a:t>PhD </a:t>
            </a:r>
            <a:r>
              <a:rPr dirty="0" sz="1800">
                <a:solidFill>
                  <a:srgbClr val="666666"/>
                </a:solidFill>
                <a:latin typeface="Arial"/>
                <a:cs typeface="Arial"/>
              </a:rPr>
              <a:t>Senior</a:t>
            </a:r>
            <a:r>
              <a:rPr dirty="0" sz="1800" spc="-35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66666"/>
                </a:solidFill>
                <a:latin typeface="Arial"/>
                <a:cs typeface="Arial"/>
              </a:rPr>
              <a:t>Research</a:t>
            </a:r>
            <a:r>
              <a:rPr dirty="0" sz="1800" spc="-3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66666"/>
                </a:solidFill>
                <a:latin typeface="Arial"/>
                <a:cs typeface="Arial"/>
              </a:rPr>
              <a:t>Scientist </a:t>
            </a:r>
            <a:r>
              <a:rPr dirty="0" sz="1800" b="1">
                <a:solidFill>
                  <a:srgbClr val="F57E1F"/>
                </a:solidFill>
                <a:latin typeface="Arial"/>
                <a:cs typeface="Arial"/>
              </a:rPr>
              <a:t>Thomson</a:t>
            </a:r>
            <a:r>
              <a:rPr dirty="0" sz="1800" spc="5" b="1">
                <a:solidFill>
                  <a:srgbClr val="F57E1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57E1F"/>
                </a:solidFill>
                <a:latin typeface="Arial"/>
                <a:cs typeface="Arial"/>
              </a:rPr>
              <a:t>Reuters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u="sng" sz="1600" spc="-10">
                <a:solidFill>
                  <a:srgbClr val="828282"/>
                </a:solidFill>
                <a:uFill>
                  <a:solidFill>
                    <a:srgbClr val="828282"/>
                  </a:solidFill>
                </a:uFill>
                <a:latin typeface="Arial"/>
                <a:cs typeface="Arial"/>
                <a:hlinkClick r:id="rId2"/>
              </a:rPr>
              <a:t>elizabeth.sweeney@thomsonreuters.com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600" spc="-10">
                <a:solidFill>
                  <a:srgbClr val="666666"/>
                </a:solidFill>
                <a:latin typeface="Arial"/>
                <a:cs typeface="Arial"/>
                <a:hlinkClick r:id="rId3"/>
              </a:rPr>
              <a:t>www.thomsonreuters.com</a:t>
            </a:r>
            <a:endParaRPr sz="1600">
              <a:latin typeface="Arial"/>
              <a:cs typeface="Arial"/>
            </a:endParaRPr>
          </a:p>
          <a:p>
            <a:pPr marL="4551045" marR="968375">
              <a:lnSpc>
                <a:spcPct val="100000"/>
              </a:lnSpc>
              <a:spcBef>
                <a:spcPts val="840"/>
              </a:spcBef>
            </a:pPr>
            <a:r>
              <a:rPr dirty="0" sz="1800" b="1">
                <a:solidFill>
                  <a:srgbClr val="666666"/>
                </a:solidFill>
                <a:latin typeface="Arial"/>
                <a:cs typeface="Arial"/>
              </a:rPr>
              <a:t>Jim</a:t>
            </a:r>
            <a:r>
              <a:rPr dirty="0" sz="1800" spc="-20" b="1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666666"/>
                </a:solidFill>
                <a:latin typeface="Arial"/>
                <a:cs typeface="Arial"/>
              </a:rPr>
              <a:t>Sweeney </a:t>
            </a:r>
            <a:r>
              <a:rPr dirty="0" sz="1800">
                <a:latin typeface="Calibri"/>
                <a:cs typeface="Calibri"/>
              </a:rPr>
              <a:t>Product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Manager </a:t>
            </a:r>
            <a:r>
              <a:rPr dirty="0" sz="1800" b="1">
                <a:solidFill>
                  <a:srgbClr val="004362"/>
                </a:solidFill>
                <a:latin typeface="Arial"/>
                <a:cs typeface="Arial"/>
              </a:rPr>
              <a:t>Synaptica,</a:t>
            </a:r>
            <a:r>
              <a:rPr dirty="0" sz="1800" spc="-105" b="1">
                <a:solidFill>
                  <a:srgbClr val="004362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004362"/>
                </a:solidFill>
                <a:latin typeface="Arial"/>
                <a:cs typeface="Arial"/>
              </a:rPr>
              <a:t>LLC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 marL="4551045" marR="5080">
              <a:lnSpc>
                <a:spcPct val="102499"/>
              </a:lnSpc>
            </a:pPr>
            <a:r>
              <a:rPr dirty="0" u="sng" sz="1600" spc="-10">
                <a:solidFill>
                  <a:srgbClr val="828282"/>
                </a:solidFill>
                <a:uFill>
                  <a:solidFill>
                    <a:srgbClr val="828282"/>
                  </a:solidFill>
                </a:uFill>
                <a:latin typeface="Arial"/>
                <a:cs typeface="Arial"/>
                <a:hlinkClick r:id="rId4"/>
              </a:rPr>
              <a:t>jim.sweeney@synaptica.com</a:t>
            </a:r>
            <a:r>
              <a:rPr dirty="0" sz="1600" spc="-10">
                <a:solidFill>
                  <a:srgbClr val="828282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666666"/>
                </a:solidFill>
                <a:latin typeface="Arial"/>
                <a:cs typeface="Arial"/>
                <a:hlinkClick r:id="rId5"/>
              </a:rPr>
              <a:t>www.synaptica.com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2023-03-16T01:59:45Z</dcterms:created>
  <dcterms:modified xsi:type="dcterms:W3CDTF">2023-03-16T01:59:45Z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2015-11-23T00:00:00Z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2023-03-16T00:00:00Z</vt:filetime>
  </property>
</Properties>
</file>