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6" r:id="rId4"/>
    <p:sldMasterId id="2147483697" r:id="rId5"/>
    <p:sldMasterId id="2147483698" r:id="rId6"/>
    <p:sldMasterId id="2147483699"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Lst>
  <p:sldSz cy="5143500" cx="9144000"/>
  <p:notesSz cx="6858000" cy="9144000"/>
  <p:embeddedFontLst>
    <p:embeddedFont>
      <p:font typeface="Lato"/>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34AD780-778F-4BAB-B470-55AEC7FC2E41}">
  <a:tblStyle styleId="{E34AD780-778F-4BAB-B470-55AEC7FC2E4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Lato-italic.fntdata"/><Relationship Id="rId20" Type="http://schemas.openxmlformats.org/officeDocument/2006/relationships/slide" Target="slides/slide12.xml"/><Relationship Id="rId41" Type="http://schemas.openxmlformats.org/officeDocument/2006/relationships/font" Target="fonts/Lato-boldItalic.fntdata"/><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4.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1.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11" Type="http://schemas.openxmlformats.org/officeDocument/2006/relationships/slide" Target="slides/slide3.xml"/><Relationship Id="rId33" Type="http://schemas.openxmlformats.org/officeDocument/2006/relationships/slide" Target="slides/slide25.xml"/><Relationship Id="rId10" Type="http://schemas.openxmlformats.org/officeDocument/2006/relationships/slide" Target="slides/slide2.xml"/><Relationship Id="rId32" Type="http://schemas.openxmlformats.org/officeDocument/2006/relationships/slide" Target="slides/slide24.xml"/><Relationship Id="rId13" Type="http://schemas.openxmlformats.org/officeDocument/2006/relationships/slide" Target="slides/slide5.xml"/><Relationship Id="rId35" Type="http://schemas.openxmlformats.org/officeDocument/2006/relationships/slide" Target="slides/slide27.xml"/><Relationship Id="rId12" Type="http://schemas.openxmlformats.org/officeDocument/2006/relationships/slide" Target="slides/slide4.xml"/><Relationship Id="rId34" Type="http://schemas.openxmlformats.org/officeDocument/2006/relationships/slide" Target="slides/slide26.xml"/><Relationship Id="rId15" Type="http://schemas.openxmlformats.org/officeDocument/2006/relationships/slide" Target="slides/slide7.xml"/><Relationship Id="rId37" Type="http://schemas.openxmlformats.org/officeDocument/2006/relationships/slide" Target="slides/slide29.xml"/><Relationship Id="rId14" Type="http://schemas.openxmlformats.org/officeDocument/2006/relationships/slide" Target="slides/slide6.xml"/><Relationship Id="rId36" Type="http://schemas.openxmlformats.org/officeDocument/2006/relationships/slide" Target="slides/slide28.xml"/><Relationship Id="rId17" Type="http://schemas.openxmlformats.org/officeDocument/2006/relationships/slide" Target="slides/slide9.xml"/><Relationship Id="rId39" Type="http://schemas.openxmlformats.org/officeDocument/2006/relationships/font" Target="fonts/Lato-bold.fntdata"/><Relationship Id="rId16" Type="http://schemas.openxmlformats.org/officeDocument/2006/relationships/slide" Target="slides/slide8.xml"/><Relationship Id="rId38" Type="http://schemas.openxmlformats.org/officeDocument/2006/relationships/font" Target="fonts/Lato-regular.fntdata"/><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US" sz="1400" u="none" cap="none" strike="noStrike">
                <a:latin typeface="Times New Roman"/>
                <a:ea typeface="Times New Roman"/>
                <a:cs typeface="Times New Roman"/>
                <a:sym typeface="Times New Roman"/>
              </a:rPr>
              <a:t>‹#›</a:t>
            </a:fld>
            <a:endParaRPr b="0" i="0" sz="1400" u="none" cap="none" strike="noStrike">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presentation/d/154YS2sCNkidcDSKObifiLrVRjCUvxoR2/edit?usp=sharing&amp;ouid=111278550759812745249&amp;rtpof=true&amp;sd=true"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notes"/>
          <p:cNvSpPr/>
          <p:nvPr>
            <p:ph idx="2" type="sldImg"/>
          </p:nvPr>
        </p:nvSpPr>
        <p:spPr>
          <a:xfrm>
            <a:off x="1714680" y="685800"/>
            <a:ext cx="342864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p1:notes"/>
          <p:cNvSpPr txBox="1"/>
          <p:nvPr>
            <p:ph idx="1" type="body"/>
          </p:nvPr>
        </p:nvSpPr>
        <p:spPr>
          <a:xfrm>
            <a:off x="380880" y="4343400"/>
            <a:ext cx="6095520" cy="41144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234" name="Google Shape;234;p1:notes"/>
          <p:cNvSpPr txBox="1"/>
          <p:nvPr/>
        </p:nvSpPr>
        <p:spPr>
          <a:xfrm>
            <a:off x="3884760" y="8685360"/>
            <a:ext cx="2971440" cy="4568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notes"/>
          <p:cNvSpPr/>
          <p:nvPr>
            <p:ph idx="2" type="sldImg"/>
          </p:nvPr>
        </p:nvSpPr>
        <p:spPr>
          <a:xfrm>
            <a:off x="2286000" y="514440"/>
            <a:ext cx="4571640" cy="25714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 name="Google Shape;240;p2:notes"/>
          <p:cNvSpPr txBox="1"/>
          <p:nvPr>
            <p:ph idx="1" type="body"/>
          </p:nvPr>
        </p:nvSpPr>
        <p:spPr>
          <a:xfrm>
            <a:off x="507960" y="3257640"/>
            <a:ext cx="8127720" cy="30859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241" name="Google Shape;241;p2:notes"/>
          <p:cNvSpPr txBox="1"/>
          <p:nvPr/>
        </p:nvSpPr>
        <p:spPr>
          <a:xfrm>
            <a:off x="5179320" y="6513840"/>
            <a:ext cx="3962160" cy="3427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47" name="Google Shape;247;p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54" name="Google Shape;254;p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61" name="Google Shape;261;p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68" name="Google Shape;268;p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75" name="Google Shape;275;p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3" name="Google Shape;283;p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90" name="Google Shape;290;p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97" name="Google Shape;297;p1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05" name="Google Shape;305;p1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12" name="Google Shape;312;p1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19" name="Google Shape;319;p1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4:notes"/>
          <p:cNvSpPr/>
          <p:nvPr>
            <p:ph idx="2" type="sldImg"/>
          </p:nvPr>
        </p:nvSpPr>
        <p:spPr>
          <a:xfrm>
            <a:off x="964440" y="385920"/>
            <a:ext cx="1928520" cy="19285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6" name="Google Shape;326;p14:notes"/>
          <p:cNvSpPr txBox="1"/>
          <p:nvPr>
            <p:ph idx="1" type="body"/>
          </p:nvPr>
        </p:nvSpPr>
        <p:spPr>
          <a:xfrm>
            <a:off x="380880" y="4343400"/>
            <a:ext cx="609552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0" lang="en-US" sz="800" strike="noStrike">
                <a:solidFill>
                  <a:srgbClr val="000000"/>
                </a:solidFill>
                <a:latin typeface="Arial"/>
                <a:ea typeface="Arial"/>
                <a:cs typeface="Arial"/>
                <a:sym typeface="Arial"/>
              </a:rPr>
              <a:t>10/3/2022 RP for Jeffrey → Mohammad:  </a:t>
            </a:r>
            <a:r>
              <a:rPr b="0" lang="en-US" sz="900" strike="noStrike">
                <a:solidFill>
                  <a:srgbClr val="000000"/>
                </a:solidFill>
                <a:latin typeface="Arial"/>
                <a:ea typeface="Arial"/>
                <a:cs typeface="Arial"/>
                <a:sym typeface="Arial"/>
              </a:rPr>
              <a:t>Add Services information to align</a:t>
            </a:r>
            <a:endParaRPr b="0" sz="900" strike="noStrike">
              <a:latin typeface="Arial"/>
              <a:ea typeface="Arial"/>
              <a:cs typeface="Arial"/>
              <a:sym typeface="Arial"/>
            </a:endParaRPr>
          </a:p>
          <a:p>
            <a:pPr indent="0" lvl="0" marL="0" rtl="0" algn="l">
              <a:lnSpc>
                <a:spcPct val="80000"/>
              </a:lnSpc>
              <a:spcBef>
                <a:spcPts val="0"/>
              </a:spcBef>
              <a:spcAft>
                <a:spcPts val="0"/>
              </a:spcAft>
              <a:buNone/>
            </a:pPr>
            <a:r>
              <a:t/>
            </a:r>
            <a:endParaRPr b="0" sz="900" strike="noStrike">
              <a:latin typeface="Arial"/>
              <a:ea typeface="Arial"/>
              <a:cs typeface="Arial"/>
              <a:sym typeface="Arial"/>
            </a:endParaRPr>
          </a:p>
          <a:p>
            <a:pPr indent="-285480" lvl="0" marL="457200" rtl="0" algn="l">
              <a:lnSpc>
                <a:spcPct val="8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Services:  definition + structure (input - use case based scope+what it does - output)   ←  interdependencies amongst services via inputs (from which service) and outputs (to which service)</a:t>
            </a:r>
            <a:endParaRPr b="0" sz="900" strike="noStrike">
              <a:latin typeface="Arial"/>
              <a:ea typeface="Arial"/>
              <a:cs typeface="Arial"/>
              <a:sym typeface="Arial"/>
            </a:endParaRPr>
          </a:p>
          <a:p>
            <a:pPr indent="0" lvl="0" marL="457200" rtl="0" algn="l">
              <a:lnSpc>
                <a:spcPct val="80000"/>
              </a:lnSpc>
              <a:spcBef>
                <a:spcPts val="0"/>
              </a:spcBef>
              <a:spcAft>
                <a:spcPts val="0"/>
              </a:spcAft>
              <a:buNone/>
            </a:pPr>
            <a:r>
              <a:t/>
            </a:r>
            <a:endParaRPr b="0" sz="900" strike="noStrike">
              <a:latin typeface="Arial"/>
              <a:ea typeface="Arial"/>
              <a:cs typeface="Arial"/>
              <a:sym typeface="Arial"/>
            </a:endParaRPr>
          </a:p>
          <a:p>
            <a:pPr indent="-285480" lvl="0" marL="457200" rtl="0" algn="l">
              <a:lnSpc>
                <a:spcPct val="80000"/>
              </a:lnSpc>
              <a:spcBef>
                <a:spcPts val="0"/>
              </a:spcBef>
              <a:spcAft>
                <a:spcPts val="0"/>
              </a:spcAft>
              <a:buClr>
                <a:srgbClr val="000000"/>
              </a:buClr>
              <a:buSzPts val="900"/>
              <a:buFont typeface="Arial"/>
              <a:buChar char="●"/>
            </a:pPr>
            <a:r>
              <a:rPr b="0" lang="en-US" sz="900" strike="noStrike">
                <a:solidFill>
                  <a:srgbClr val="000000"/>
                </a:solidFill>
                <a:latin typeface="Arial"/>
                <a:ea typeface="Arial"/>
                <a:cs typeface="Arial"/>
                <a:sym typeface="Arial"/>
              </a:rPr>
              <a:t>Service Owner / Provider’s - Role &amp; Responsibilities</a:t>
            </a:r>
            <a:endParaRPr b="0" sz="900" strike="noStrike">
              <a:latin typeface="Arial"/>
              <a:ea typeface="Arial"/>
              <a:cs typeface="Arial"/>
              <a:sym typeface="Arial"/>
            </a:endParaRPr>
          </a:p>
          <a:p>
            <a:pPr indent="0" lvl="0" marL="0" rtl="0" algn="l">
              <a:lnSpc>
                <a:spcPct val="80000"/>
              </a:lnSpc>
              <a:spcBef>
                <a:spcPts val="0"/>
              </a:spcBef>
              <a:spcAft>
                <a:spcPts val="0"/>
              </a:spcAft>
              <a:buNone/>
            </a:pPr>
            <a:r>
              <a:t/>
            </a:r>
            <a:endParaRPr b="0" sz="900" strike="noStrike">
              <a:latin typeface="Arial"/>
              <a:ea typeface="Arial"/>
              <a:cs typeface="Arial"/>
              <a:sym typeface="Arial"/>
            </a:endParaRPr>
          </a:p>
          <a:p>
            <a:pPr indent="0" lvl="0" marL="0" rtl="0" algn="l">
              <a:lnSpc>
                <a:spcPct val="80000"/>
              </a:lnSpc>
              <a:spcBef>
                <a:spcPts val="0"/>
              </a:spcBef>
              <a:spcAft>
                <a:spcPts val="0"/>
              </a:spcAft>
              <a:buNone/>
            </a:pPr>
            <a:r>
              <a:rPr b="0" lang="en-US" sz="900" strike="noStrike">
                <a:solidFill>
                  <a:srgbClr val="000000"/>
                </a:solidFill>
                <a:latin typeface="Arial"/>
                <a:ea typeface="Arial"/>
                <a:cs typeface="Arial"/>
                <a:sym typeface="Arial"/>
              </a:rPr>
              <a:t>10/11/2022 JW for Rebecca ⇒ Mapping Personas to Services</a:t>
            </a:r>
            <a:endParaRPr b="0" sz="900" strike="noStrike">
              <a:latin typeface="Arial"/>
              <a:ea typeface="Arial"/>
              <a:cs typeface="Arial"/>
              <a:sym typeface="Arial"/>
            </a:endParaRPr>
          </a:p>
          <a:p>
            <a:pPr indent="0" lvl="0" marL="0" rtl="0" algn="l">
              <a:lnSpc>
                <a:spcPct val="80000"/>
              </a:lnSpc>
              <a:spcBef>
                <a:spcPts val="0"/>
              </a:spcBef>
              <a:spcAft>
                <a:spcPts val="0"/>
              </a:spcAft>
              <a:buNone/>
            </a:pPr>
            <a:r>
              <a:rPr b="0" lang="en-US" sz="900" u="sng" strike="noStrike">
                <a:solidFill>
                  <a:schemeClr val="hlink"/>
                </a:solidFill>
                <a:latin typeface="Arial"/>
                <a:ea typeface="Arial"/>
                <a:cs typeface="Arial"/>
                <a:sym typeface="Arial"/>
                <a:hlinkClick r:id="rId2"/>
              </a:rPr>
              <a:t>https://docs.google.com/presentation/d/154YS2sCNkidcDSKObifiLrVRjCUvxoR2/edit?usp=sharing&amp;ouid=111278550759812745249&amp;rtpof=true&amp;sd=true</a:t>
            </a:r>
            <a:endParaRPr b="0" sz="900" strike="noStrike">
              <a:latin typeface="Arial"/>
              <a:ea typeface="Arial"/>
              <a:cs typeface="Arial"/>
              <a:sym typeface="Arial"/>
            </a:endParaRPr>
          </a:p>
          <a:p>
            <a:pPr indent="0" lvl="0" marL="0" rtl="0" algn="l">
              <a:lnSpc>
                <a:spcPct val="80000"/>
              </a:lnSpc>
              <a:spcBef>
                <a:spcPts val="0"/>
              </a:spcBef>
              <a:spcAft>
                <a:spcPts val="0"/>
              </a:spcAft>
              <a:buNone/>
            </a:pPr>
            <a:r>
              <a:t/>
            </a:r>
            <a:endParaRPr b="0" sz="900" strike="noStrike">
              <a:latin typeface="Arial"/>
              <a:ea typeface="Arial"/>
              <a:cs typeface="Arial"/>
              <a:sym typeface="Arial"/>
            </a:endParaRPr>
          </a:p>
          <a:p>
            <a:pPr indent="0" lvl="0" marL="0" rtl="0" algn="l">
              <a:lnSpc>
                <a:spcPct val="80000"/>
              </a:lnSpc>
              <a:spcBef>
                <a:spcPts val="0"/>
              </a:spcBef>
              <a:spcAft>
                <a:spcPts val="0"/>
              </a:spcAft>
              <a:buNone/>
            </a:pPr>
            <a:r>
              <a:t/>
            </a:r>
            <a:endParaRPr b="0" sz="900" strike="noStrike">
              <a:latin typeface="Arial"/>
              <a:ea typeface="Arial"/>
              <a:cs typeface="Arial"/>
              <a:sym typeface="Arial"/>
            </a:endParaRPr>
          </a:p>
          <a:p>
            <a:pPr indent="0" lvl="0" marL="0" rtl="0" algn="l">
              <a:lnSpc>
                <a:spcPct val="100000"/>
              </a:lnSpc>
              <a:spcBef>
                <a:spcPts val="0"/>
              </a:spcBef>
              <a:spcAft>
                <a:spcPts val="0"/>
              </a:spcAft>
              <a:buNone/>
            </a:pPr>
            <a:r>
              <a:rPr b="1" lang="en-US" sz="900" strike="noStrike">
                <a:solidFill>
                  <a:srgbClr val="000000"/>
                </a:solidFill>
                <a:latin typeface="Arial"/>
                <a:ea typeface="Arial"/>
                <a:cs typeface="Arial"/>
                <a:sym typeface="Arial"/>
              </a:rPr>
              <a:t>Use cases (Who-What-Wow) to de-dup overlaps and ensure services interoperability &amp; continuity in the ecosystem</a:t>
            </a:r>
            <a:endParaRPr b="0" sz="900" strike="noStrike">
              <a:latin typeface="Arial"/>
              <a:ea typeface="Arial"/>
              <a:cs typeface="Arial"/>
              <a:sym typeface="Arial"/>
            </a:endParaRPr>
          </a:p>
          <a:p>
            <a:pPr indent="0" lvl="0" marL="0" rtl="0" algn="l">
              <a:lnSpc>
                <a:spcPct val="100000"/>
              </a:lnSpc>
              <a:spcBef>
                <a:spcPts val="0"/>
              </a:spcBef>
              <a:spcAft>
                <a:spcPts val="0"/>
              </a:spcAft>
              <a:buNone/>
            </a:pPr>
            <a:r>
              <a:t/>
            </a:r>
            <a:endParaRPr b="0" sz="900" strike="noStrike">
              <a:latin typeface="Arial"/>
              <a:ea typeface="Arial"/>
              <a:cs typeface="Arial"/>
              <a:sym typeface="Arial"/>
            </a:endParaRPr>
          </a:p>
          <a:p>
            <a:pPr indent="0" lvl="0" marL="0" rtl="0" algn="l">
              <a:lnSpc>
                <a:spcPct val="100000"/>
              </a:lnSpc>
              <a:spcBef>
                <a:spcPts val="0"/>
              </a:spcBef>
              <a:spcAft>
                <a:spcPts val="0"/>
              </a:spcAft>
              <a:buNone/>
            </a:pPr>
            <a:r>
              <a:rPr b="0" lang="en-US" sz="900" strike="noStrike">
                <a:solidFill>
                  <a:srgbClr val="000000"/>
                </a:solidFill>
                <a:latin typeface="Arial"/>
                <a:ea typeface="Arial"/>
                <a:cs typeface="Arial"/>
                <a:sym typeface="Arial"/>
              </a:rPr>
              <a:t>Example:  Serial services</a:t>
            </a:r>
            <a:endParaRPr b="0" sz="900" strike="noStrike">
              <a:latin typeface="Arial"/>
              <a:ea typeface="Arial"/>
              <a:cs typeface="Arial"/>
              <a:sym typeface="Arial"/>
            </a:endParaRPr>
          </a:p>
          <a:p>
            <a:pPr indent="0" lvl="0" marL="0" rtl="0" algn="l">
              <a:lnSpc>
                <a:spcPct val="100000"/>
              </a:lnSpc>
              <a:spcBef>
                <a:spcPts val="0"/>
              </a:spcBef>
              <a:spcAft>
                <a:spcPts val="0"/>
              </a:spcAft>
              <a:buNone/>
            </a:pPr>
            <a:r>
              <a:rPr b="0" i="1" lang="en-US" sz="900" strike="noStrike">
                <a:solidFill>
                  <a:srgbClr val="000000"/>
                </a:solidFill>
                <a:latin typeface="Arial"/>
                <a:ea typeface="Arial"/>
                <a:cs typeface="Arial"/>
                <a:sym typeface="Arial"/>
              </a:rPr>
              <a:t>Reality is one service’s published event on Enterprise Message Bus (ESB) is caught by listening services 1-M in SOA with event pub-sub with Model View Control design pattern.</a:t>
            </a:r>
            <a:endParaRPr b="0" sz="900" strike="noStrike">
              <a:latin typeface="Arial"/>
              <a:ea typeface="Arial"/>
              <a:cs typeface="Arial"/>
              <a:sym typeface="Arial"/>
            </a:endParaRPr>
          </a:p>
          <a:p>
            <a:pPr indent="-285480" lvl="0" marL="457200" rtl="0" algn="l">
              <a:lnSpc>
                <a:spcPct val="100000"/>
              </a:lnSpc>
              <a:spcBef>
                <a:spcPts val="0"/>
              </a:spcBef>
              <a:spcAft>
                <a:spcPts val="0"/>
              </a:spcAft>
              <a:buClr>
                <a:srgbClr val="000000"/>
              </a:buClr>
              <a:buSzPts val="900"/>
              <a:buFont typeface="Arial"/>
              <a:buChar char="●"/>
            </a:pPr>
            <a:r>
              <a:rPr b="0" i="1" lang="en-US" sz="900" strike="noStrike">
                <a:solidFill>
                  <a:srgbClr val="000000"/>
                </a:solidFill>
                <a:latin typeface="Arial"/>
                <a:ea typeface="Arial"/>
                <a:cs typeface="Arial"/>
                <a:sym typeface="Arial"/>
              </a:rPr>
              <a:t>Catch  ‘Catalog Publish’ event → </a:t>
            </a:r>
            <a:r>
              <a:rPr b="1" i="1" lang="en-US" sz="900" strike="noStrike">
                <a:solidFill>
                  <a:srgbClr val="000000"/>
                </a:solidFill>
                <a:latin typeface="Arial"/>
                <a:ea typeface="Arial"/>
                <a:cs typeface="Arial"/>
                <a:sym typeface="Arial"/>
              </a:rPr>
              <a:t>Metadata Extractor </a:t>
            </a:r>
            <a:r>
              <a:rPr b="0" i="1" lang="en-US" sz="900" strike="noStrike">
                <a:solidFill>
                  <a:srgbClr val="000000"/>
                </a:solidFill>
                <a:latin typeface="Arial"/>
                <a:ea typeface="Arial"/>
                <a:cs typeface="Arial"/>
                <a:sym typeface="Arial"/>
              </a:rPr>
              <a:t>→ publish ‘Metadata Extractor Incremental Updated’ event</a:t>
            </a:r>
            <a:endParaRPr b="0" sz="900" strike="noStrike">
              <a:latin typeface="Arial"/>
              <a:ea typeface="Arial"/>
              <a:cs typeface="Arial"/>
              <a:sym typeface="Arial"/>
            </a:endParaRPr>
          </a:p>
          <a:p>
            <a:pPr indent="-285480" lvl="0" marL="457200" rtl="0" algn="l">
              <a:lnSpc>
                <a:spcPct val="100000"/>
              </a:lnSpc>
              <a:spcBef>
                <a:spcPts val="0"/>
              </a:spcBef>
              <a:spcAft>
                <a:spcPts val="0"/>
              </a:spcAft>
              <a:buClr>
                <a:srgbClr val="000000"/>
              </a:buClr>
              <a:buSzPts val="900"/>
              <a:buFont typeface="Arial"/>
              <a:buChar char="●"/>
            </a:pPr>
            <a:r>
              <a:rPr b="0" i="1" lang="en-US" sz="900" strike="noStrike">
                <a:solidFill>
                  <a:srgbClr val="000000"/>
                </a:solidFill>
                <a:latin typeface="Arial"/>
                <a:ea typeface="Arial"/>
                <a:cs typeface="Arial"/>
                <a:sym typeface="Arial"/>
              </a:rPr>
              <a:t>Catch ‘Metadata Extractor Incremental Updated’ event → </a:t>
            </a:r>
            <a:r>
              <a:rPr b="1" i="1" lang="en-US" sz="900" strike="noStrike">
                <a:solidFill>
                  <a:srgbClr val="000000"/>
                </a:solidFill>
                <a:latin typeface="Arial"/>
                <a:ea typeface="Arial"/>
                <a:cs typeface="Arial"/>
                <a:sym typeface="Arial"/>
              </a:rPr>
              <a:t>Metadata Exchange</a:t>
            </a:r>
            <a:r>
              <a:rPr b="0" i="1" lang="en-US" sz="900" strike="noStrike">
                <a:solidFill>
                  <a:srgbClr val="000000"/>
                </a:solidFill>
                <a:latin typeface="Arial"/>
                <a:ea typeface="Arial"/>
                <a:cs typeface="Arial"/>
                <a:sym typeface="Arial"/>
              </a:rPr>
              <a:t> → publish ‘Metadata Exchange Incremental Updated’ event</a:t>
            </a:r>
            <a:endParaRPr b="0" sz="900" strike="noStrike">
              <a:latin typeface="Arial"/>
              <a:ea typeface="Arial"/>
              <a:cs typeface="Arial"/>
              <a:sym typeface="Arial"/>
            </a:endParaRPr>
          </a:p>
          <a:p>
            <a:pPr indent="-285480" lvl="0" marL="457200" rtl="0" algn="l">
              <a:lnSpc>
                <a:spcPct val="100000"/>
              </a:lnSpc>
              <a:spcBef>
                <a:spcPts val="0"/>
              </a:spcBef>
              <a:spcAft>
                <a:spcPts val="0"/>
              </a:spcAft>
              <a:buClr>
                <a:srgbClr val="000000"/>
              </a:buClr>
              <a:buSzPts val="900"/>
              <a:buFont typeface="Arial"/>
              <a:buChar char="●"/>
            </a:pPr>
            <a:r>
              <a:rPr b="0" i="1" lang="en-US" sz="900" strike="noStrike">
                <a:solidFill>
                  <a:srgbClr val="000000"/>
                </a:solidFill>
                <a:latin typeface="Arial"/>
                <a:ea typeface="Arial"/>
                <a:cs typeface="Arial"/>
                <a:sym typeface="Arial"/>
              </a:rPr>
              <a:t>Catch ‘Metadata Exchange Incremental Updated’ event → </a:t>
            </a:r>
            <a:r>
              <a:rPr b="1" i="1" lang="en-US" sz="900" strike="noStrike">
                <a:solidFill>
                  <a:srgbClr val="000000"/>
                </a:solidFill>
                <a:latin typeface="Arial"/>
                <a:ea typeface="Arial"/>
                <a:cs typeface="Arial"/>
                <a:sym typeface="Arial"/>
              </a:rPr>
              <a:t>Data Governance Framework</a:t>
            </a:r>
            <a:r>
              <a:rPr b="0" i="1" lang="en-US" sz="900" strike="noStrike">
                <a:solidFill>
                  <a:srgbClr val="000000"/>
                </a:solidFill>
                <a:latin typeface="Arial"/>
                <a:ea typeface="Arial"/>
                <a:cs typeface="Arial"/>
                <a:sym typeface="Arial"/>
              </a:rPr>
              <a:t> → publish ‘DGF updated’ event</a:t>
            </a:r>
            <a:endParaRPr b="0" sz="900" strike="noStrike">
              <a:latin typeface="Arial"/>
              <a:ea typeface="Arial"/>
              <a:cs typeface="Arial"/>
              <a:sym typeface="Arial"/>
            </a:endParaRPr>
          </a:p>
          <a:p>
            <a:pPr indent="-285480" lvl="0" marL="457200" rtl="0" algn="l">
              <a:lnSpc>
                <a:spcPct val="100000"/>
              </a:lnSpc>
              <a:spcBef>
                <a:spcPts val="0"/>
              </a:spcBef>
              <a:spcAft>
                <a:spcPts val="0"/>
              </a:spcAft>
              <a:buClr>
                <a:srgbClr val="000000"/>
              </a:buClr>
              <a:buSzPts val="900"/>
              <a:buFont typeface="Arial"/>
              <a:buChar char="●"/>
            </a:pPr>
            <a:r>
              <a:rPr b="0" i="1" lang="en-US" sz="900" strike="noStrike">
                <a:solidFill>
                  <a:srgbClr val="000000"/>
                </a:solidFill>
                <a:latin typeface="Arial"/>
                <a:ea typeface="Arial"/>
                <a:cs typeface="Arial"/>
                <a:sym typeface="Arial"/>
              </a:rPr>
              <a:t>Catch ‘DGF updated’ event → </a:t>
            </a:r>
            <a:r>
              <a:rPr b="1" i="1" lang="en-US" sz="900" strike="noStrike">
                <a:solidFill>
                  <a:srgbClr val="000000"/>
                </a:solidFill>
                <a:latin typeface="Arial"/>
                <a:ea typeface="Arial"/>
                <a:cs typeface="Arial"/>
                <a:sym typeface="Arial"/>
              </a:rPr>
              <a:t>View Creation Framework</a:t>
            </a:r>
            <a:r>
              <a:rPr b="0" i="1" lang="en-US" sz="900" strike="noStrike">
                <a:solidFill>
                  <a:srgbClr val="000000"/>
                </a:solidFill>
                <a:latin typeface="Arial"/>
                <a:ea typeface="Arial"/>
                <a:cs typeface="Arial"/>
                <a:sym typeface="Arial"/>
              </a:rPr>
              <a:t> → publish ‘VCF executed’ event</a:t>
            </a:r>
            <a:endParaRPr b="0" sz="900" strike="noStrike">
              <a:latin typeface="Arial"/>
              <a:ea typeface="Arial"/>
              <a:cs typeface="Arial"/>
              <a:sym typeface="Arial"/>
            </a:endParaRPr>
          </a:p>
          <a:p>
            <a:pPr indent="-285480" lvl="0" marL="457200" rtl="0" algn="l">
              <a:lnSpc>
                <a:spcPct val="100000"/>
              </a:lnSpc>
              <a:spcBef>
                <a:spcPts val="0"/>
              </a:spcBef>
              <a:spcAft>
                <a:spcPts val="0"/>
              </a:spcAft>
              <a:buClr>
                <a:srgbClr val="000000"/>
              </a:buClr>
              <a:buSzPts val="900"/>
              <a:buFont typeface="Arial"/>
              <a:buChar char="●"/>
            </a:pPr>
            <a:r>
              <a:rPr b="0" i="1" lang="en-US" sz="900" strike="noStrike">
                <a:solidFill>
                  <a:srgbClr val="000000"/>
                </a:solidFill>
                <a:latin typeface="Arial"/>
                <a:ea typeface="Arial"/>
                <a:cs typeface="Arial"/>
                <a:sym typeface="Arial"/>
              </a:rPr>
              <a:t>Catch ‘VCF executed’ event → </a:t>
            </a:r>
            <a:r>
              <a:rPr b="1" i="1" lang="en-US" sz="900" strike="noStrike">
                <a:solidFill>
                  <a:srgbClr val="000000"/>
                </a:solidFill>
                <a:latin typeface="Arial"/>
                <a:ea typeface="Arial"/>
                <a:cs typeface="Arial"/>
                <a:sym typeface="Arial"/>
              </a:rPr>
              <a:t>Workflow notification to UAT team to test</a:t>
            </a:r>
            <a:r>
              <a:rPr b="0" i="1" lang="en-US" sz="900" strike="noStrike">
                <a:solidFill>
                  <a:srgbClr val="000000"/>
                </a:solidFill>
                <a:latin typeface="Arial"/>
                <a:ea typeface="Arial"/>
                <a:cs typeface="Arial"/>
                <a:sym typeface="Arial"/>
              </a:rPr>
              <a:t> …</a:t>
            </a:r>
            <a:endParaRPr b="0" sz="900" strike="noStrike">
              <a:latin typeface="Arial"/>
              <a:ea typeface="Arial"/>
              <a:cs typeface="Arial"/>
              <a:sym typeface="Arial"/>
            </a:endParaRPr>
          </a:p>
          <a:p>
            <a:pPr indent="0" lvl="0" marL="0" rtl="0" algn="l">
              <a:lnSpc>
                <a:spcPct val="100000"/>
              </a:lnSpc>
              <a:spcBef>
                <a:spcPts val="0"/>
              </a:spcBef>
              <a:spcAft>
                <a:spcPts val="0"/>
              </a:spcAft>
              <a:buNone/>
            </a:pPr>
            <a:r>
              <a:t/>
            </a:r>
            <a:endParaRPr b="0" sz="900" strike="noStrike">
              <a:latin typeface="Arial"/>
              <a:ea typeface="Arial"/>
              <a:cs typeface="Arial"/>
              <a:sym typeface="Arial"/>
            </a:endParaRPr>
          </a:p>
          <a:p>
            <a:pPr indent="0" lvl="0" marL="0" rtl="0" algn="l">
              <a:lnSpc>
                <a:spcPct val="80000"/>
              </a:lnSpc>
              <a:spcBef>
                <a:spcPts val="0"/>
              </a:spcBef>
              <a:spcAft>
                <a:spcPts val="0"/>
              </a:spcAft>
              <a:buNone/>
            </a:pPr>
            <a:r>
              <a:t/>
            </a:r>
            <a:endParaRPr b="0" sz="900" strike="noStrike">
              <a:latin typeface="Arial"/>
              <a:ea typeface="Arial"/>
              <a:cs typeface="Arial"/>
              <a:sym typeface="Arial"/>
            </a:endParaRPr>
          </a:p>
        </p:txBody>
      </p:sp>
      <p:sp>
        <p:nvSpPr>
          <p:cNvPr id="327" name="Google Shape;327;p14:notes"/>
          <p:cNvSpPr txBox="1"/>
          <p:nvPr/>
        </p:nvSpPr>
        <p:spPr>
          <a:xfrm>
            <a:off x="3884760" y="8685360"/>
            <a:ext cx="2971440" cy="45684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fld id="{00000000-1234-1234-1234-123412341234}" type="slidenum">
              <a:rPr b="0" lang="en-US" sz="1400" strike="noStrike">
                <a:solidFill>
                  <a:srgbClr val="000000"/>
                </a:solidFill>
                <a:latin typeface="Arial"/>
                <a:ea typeface="Arial"/>
                <a:cs typeface="Arial"/>
                <a:sym typeface="Arial"/>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5:notes"/>
          <p:cNvSpPr/>
          <p:nvPr>
            <p:ph idx="2" type="sldImg"/>
          </p:nvPr>
        </p:nvSpPr>
        <p:spPr>
          <a:xfrm>
            <a:off x="2286000" y="514440"/>
            <a:ext cx="4571640" cy="25714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4" name="Google Shape;354;p15:notes"/>
          <p:cNvSpPr txBox="1"/>
          <p:nvPr>
            <p:ph idx="1" type="body"/>
          </p:nvPr>
        </p:nvSpPr>
        <p:spPr>
          <a:xfrm>
            <a:off x="507960" y="3257640"/>
            <a:ext cx="8127720" cy="30859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355" name="Google Shape;355;p15:notes"/>
          <p:cNvSpPr txBox="1"/>
          <p:nvPr/>
        </p:nvSpPr>
        <p:spPr>
          <a:xfrm>
            <a:off x="5179320" y="6513840"/>
            <a:ext cx="3962160" cy="3427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lang="en-US" sz="1400" strike="noStrike">
                <a:solidFill>
                  <a:srgbClr val="000000"/>
                </a:solidFill>
                <a:latin typeface="Arial"/>
                <a:ea typeface="Arial"/>
                <a:cs typeface="Arial"/>
                <a:sym typeface="Arial"/>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6:notes"/>
          <p:cNvSpPr/>
          <p:nvPr>
            <p:ph idx="2" type="sldImg"/>
          </p:nvPr>
        </p:nvSpPr>
        <p:spPr>
          <a:xfrm>
            <a:off x="2286000" y="514440"/>
            <a:ext cx="4571640" cy="25714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2" name="Google Shape;362;p16:notes"/>
          <p:cNvSpPr txBox="1"/>
          <p:nvPr>
            <p:ph idx="1" type="body"/>
          </p:nvPr>
        </p:nvSpPr>
        <p:spPr>
          <a:xfrm>
            <a:off x="507960" y="3257640"/>
            <a:ext cx="8127720" cy="30859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363" name="Google Shape;363;p16:notes"/>
          <p:cNvSpPr txBox="1"/>
          <p:nvPr/>
        </p:nvSpPr>
        <p:spPr>
          <a:xfrm>
            <a:off x="5179320" y="6513840"/>
            <a:ext cx="3962160" cy="3427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lang="en-US" sz="1400" strike="noStrike">
                <a:solidFill>
                  <a:srgbClr val="000000"/>
                </a:solidFill>
                <a:latin typeface="Arial"/>
                <a:ea typeface="Arial"/>
                <a:cs typeface="Arial"/>
                <a:sym typeface="Arial"/>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9" name="Google Shape;369;p1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76" name="Google Shape;376;p1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89" name="Google Shape;389;p1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6" name="Google Shape;396;p2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1:notes"/>
          <p:cNvSpPr/>
          <p:nvPr>
            <p:ph idx="2" type="sldImg"/>
          </p:nvPr>
        </p:nvSpPr>
        <p:spPr>
          <a:xfrm>
            <a:off x="1714680" y="685800"/>
            <a:ext cx="342864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3" name="Google Shape;403;p21:notes"/>
          <p:cNvSpPr txBox="1"/>
          <p:nvPr>
            <p:ph idx="1" type="body"/>
          </p:nvPr>
        </p:nvSpPr>
        <p:spPr>
          <a:xfrm>
            <a:off x="380880" y="4343400"/>
            <a:ext cx="6095520" cy="41144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404" name="Google Shape;404;p21:notes"/>
          <p:cNvSpPr txBox="1"/>
          <p:nvPr/>
        </p:nvSpPr>
        <p:spPr>
          <a:xfrm>
            <a:off x="3884760" y="8685360"/>
            <a:ext cx="2971440" cy="4568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lang="en-US" sz="1400" strike="noStrike">
                <a:solidFill>
                  <a:srgbClr val="000000"/>
                </a:solidFill>
                <a:latin typeface="Arial"/>
                <a:ea typeface="Arial"/>
                <a:cs typeface="Arial"/>
                <a:sym typeface="Arial"/>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10" name="Google Shape;410;p2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2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37" name="Google Shape;437;p2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2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61" name="Google Shape;461;p2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2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84" name="Google Shape;484;p2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2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98" name="Google Shape;498;p2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2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12" name="Google Shape;512;p2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2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26" name="Google Shape;526;p2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2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42" name="Google Shape;542;p2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8" name="Shape 18"/>
        <p:cNvGrpSpPr/>
        <p:nvPr/>
      </p:nvGrpSpPr>
      <p:grpSpPr>
        <a:xfrm>
          <a:off x="0" y="0"/>
          <a:ext cx="0" cy="0"/>
          <a:chOff x="0" y="0"/>
          <a:chExt cx="0" cy="0"/>
        </a:xfrm>
      </p:grpSpPr>
      <p:sp>
        <p:nvSpPr>
          <p:cNvPr id="19" name="Google Shape;19;p2"/>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1" name="Shape 2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2" name="Shape 22"/>
        <p:cNvGrpSpPr/>
        <p:nvPr/>
      </p:nvGrpSpPr>
      <p:grpSpPr>
        <a:xfrm>
          <a:off x="0" y="0"/>
          <a:ext cx="0" cy="0"/>
          <a:chOff x="0" y="0"/>
          <a:chExt cx="0" cy="0"/>
        </a:xfrm>
      </p:grpSpPr>
      <p:sp>
        <p:nvSpPr>
          <p:cNvPr id="23" name="Google Shape;23;p4"/>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5" name="Shape 25"/>
        <p:cNvGrpSpPr/>
        <p:nvPr/>
      </p:nvGrpSpPr>
      <p:grpSpPr>
        <a:xfrm>
          <a:off x="0" y="0"/>
          <a:ext cx="0" cy="0"/>
          <a:chOff x="0" y="0"/>
          <a:chExt cx="0" cy="0"/>
        </a:xfrm>
      </p:grpSpPr>
      <p:sp>
        <p:nvSpPr>
          <p:cNvPr id="26" name="Google Shape;26;p5"/>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5"/>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 name="Google Shape;28;p5"/>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31" name="Shape 31"/>
        <p:cNvGrpSpPr/>
        <p:nvPr/>
      </p:nvGrpSpPr>
      <p:grpSpPr>
        <a:xfrm>
          <a:off x="0" y="0"/>
          <a:ext cx="0" cy="0"/>
          <a:chOff x="0" y="0"/>
          <a:chExt cx="0" cy="0"/>
        </a:xfrm>
      </p:grpSpPr>
      <p:sp>
        <p:nvSpPr>
          <p:cNvPr id="32" name="Google Shape;32;p7"/>
          <p:cNvSpPr txBox="1"/>
          <p:nvPr>
            <p:ph idx="1" type="subTitle"/>
          </p:nvPr>
        </p:nvSpPr>
        <p:spPr>
          <a:xfrm>
            <a:off x="457200" y="544680"/>
            <a:ext cx="8229240" cy="1569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33" name="Shape 33"/>
        <p:cNvGrpSpPr/>
        <p:nvPr/>
      </p:nvGrpSpPr>
      <p:grpSpPr>
        <a:xfrm>
          <a:off x="0" y="0"/>
          <a:ext cx="0" cy="0"/>
          <a:chOff x="0" y="0"/>
          <a:chExt cx="0" cy="0"/>
        </a:xfrm>
      </p:grpSpPr>
      <p:sp>
        <p:nvSpPr>
          <p:cNvPr id="34" name="Google Shape;34;p8"/>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8"/>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 name="Google Shape;36;p8"/>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 name="Google Shape;37;p8"/>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8" name="Shape 38"/>
        <p:cNvGrpSpPr/>
        <p:nvPr/>
      </p:nvGrpSpPr>
      <p:grpSpPr>
        <a:xfrm>
          <a:off x="0" y="0"/>
          <a:ext cx="0" cy="0"/>
          <a:chOff x="0" y="0"/>
          <a:chExt cx="0" cy="0"/>
        </a:xfrm>
      </p:grpSpPr>
      <p:sp>
        <p:nvSpPr>
          <p:cNvPr id="39" name="Google Shape;39;p9"/>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9"/>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 name="Google Shape;41;p9"/>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2" name="Google Shape;42;p9"/>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43" name="Shape 43"/>
        <p:cNvGrpSpPr/>
        <p:nvPr/>
      </p:nvGrpSpPr>
      <p:grpSpPr>
        <a:xfrm>
          <a:off x="0" y="0"/>
          <a:ext cx="0" cy="0"/>
          <a:chOff x="0" y="0"/>
          <a:chExt cx="0" cy="0"/>
        </a:xfrm>
      </p:grpSpPr>
      <p:sp>
        <p:nvSpPr>
          <p:cNvPr id="44" name="Google Shape;44;p10"/>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0"/>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6" name="Google Shape;46;p10"/>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7" name="Google Shape;47;p10"/>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8" name="Shape 48"/>
        <p:cNvGrpSpPr/>
        <p:nvPr/>
      </p:nvGrpSpPr>
      <p:grpSpPr>
        <a:xfrm>
          <a:off x="0" y="0"/>
          <a:ext cx="0" cy="0"/>
          <a:chOff x="0" y="0"/>
          <a:chExt cx="0" cy="0"/>
        </a:xfrm>
      </p:grpSpPr>
      <p:sp>
        <p:nvSpPr>
          <p:cNvPr id="49" name="Google Shape;49;p11"/>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1"/>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1" name="Google Shape;51;p11"/>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52" name="Shape 52"/>
        <p:cNvGrpSpPr/>
        <p:nvPr/>
      </p:nvGrpSpPr>
      <p:grpSpPr>
        <a:xfrm>
          <a:off x="0" y="0"/>
          <a:ext cx="0" cy="0"/>
          <a:chOff x="0" y="0"/>
          <a:chExt cx="0" cy="0"/>
        </a:xfrm>
      </p:grpSpPr>
      <p:sp>
        <p:nvSpPr>
          <p:cNvPr id="53" name="Google Shape;53;p12"/>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2"/>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5" name="Google Shape;55;p12"/>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6" name="Google Shape;56;p12"/>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7" name="Google Shape;57;p12"/>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8" name="Shape 58"/>
        <p:cNvGrpSpPr/>
        <p:nvPr/>
      </p:nvGrpSpPr>
      <p:grpSpPr>
        <a:xfrm>
          <a:off x="0" y="0"/>
          <a:ext cx="0" cy="0"/>
          <a:chOff x="0" y="0"/>
          <a:chExt cx="0" cy="0"/>
        </a:xfrm>
      </p:grpSpPr>
      <p:sp>
        <p:nvSpPr>
          <p:cNvPr id="59" name="Google Shape;59;p13"/>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3"/>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1" name="Google Shape;61;p13"/>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2" name="Google Shape;62;p13"/>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3" name="Google Shape;63;p13"/>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4" name="Google Shape;64;p13"/>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5" name="Google Shape;65;p13"/>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73" name="Shape 73"/>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74" name="Shape 74"/>
        <p:cNvGrpSpPr/>
        <p:nvPr/>
      </p:nvGrpSpPr>
      <p:grpSpPr>
        <a:xfrm>
          <a:off x="0" y="0"/>
          <a:ext cx="0" cy="0"/>
          <a:chOff x="0" y="0"/>
          <a:chExt cx="0" cy="0"/>
        </a:xfrm>
      </p:grpSpPr>
      <p:sp>
        <p:nvSpPr>
          <p:cNvPr id="75" name="Google Shape;75;p16"/>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6"/>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77" name="Shape 77"/>
        <p:cNvGrpSpPr/>
        <p:nvPr/>
      </p:nvGrpSpPr>
      <p:grpSpPr>
        <a:xfrm>
          <a:off x="0" y="0"/>
          <a:ext cx="0" cy="0"/>
          <a:chOff x="0" y="0"/>
          <a:chExt cx="0" cy="0"/>
        </a:xfrm>
      </p:grpSpPr>
      <p:sp>
        <p:nvSpPr>
          <p:cNvPr id="78" name="Google Shape;78;p17"/>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7"/>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80" name="Shape 80"/>
        <p:cNvGrpSpPr/>
        <p:nvPr/>
      </p:nvGrpSpPr>
      <p:grpSpPr>
        <a:xfrm>
          <a:off x="0" y="0"/>
          <a:ext cx="0" cy="0"/>
          <a:chOff x="0" y="0"/>
          <a:chExt cx="0" cy="0"/>
        </a:xfrm>
      </p:grpSpPr>
      <p:sp>
        <p:nvSpPr>
          <p:cNvPr id="81" name="Google Shape;81;p18"/>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8"/>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3" name="Google Shape;83;p18"/>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4" name="Shape 84"/>
        <p:cNvGrpSpPr/>
        <p:nvPr/>
      </p:nvGrpSpPr>
      <p:grpSpPr>
        <a:xfrm>
          <a:off x="0" y="0"/>
          <a:ext cx="0" cy="0"/>
          <a:chOff x="0" y="0"/>
          <a:chExt cx="0" cy="0"/>
        </a:xfrm>
      </p:grpSpPr>
      <p:sp>
        <p:nvSpPr>
          <p:cNvPr id="85" name="Google Shape;85;p19"/>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86" name="Shape 86"/>
        <p:cNvGrpSpPr/>
        <p:nvPr/>
      </p:nvGrpSpPr>
      <p:grpSpPr>
        <a:xfrm>
          <a:off x="0" y="0"/>
          <a:ext cx="0" cy="0"/>
          <a:chOff x="0" y="0"/>
          <a:chExt cx="0" cy="0"/>
        </a:xfrm>
      </p:grpSpPr>
      <p:sp>
        <p:nvSpPr>
          <p:cNvPr id="87" name="Google Shape;87;p20"/>
          <p:cNvSpPr txBox="1"/>
          <p:nvPr>
            <p:ph idx="1" type="subTitle"/>
          </p:nvPr>
        </p:nvSpPr>
        <p:spPr>
          <a:xfrm>
            <a:off x="457200" y="544680"/>
            <a:ext cx="8229240" cy="1569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88" name="Shape 88"/>
        <p:cNvGrpSpPr/>
        <p:nvPr/>
      </p:nvGrpSpPr>
      <p:grpSpPr>
        <a:xfrm>
          <a:off x="0" y="0"/>
          <a:ext cx="0" cy="0"/>
          <a:chOff x="0" y="0"/>
          <a:chExt cx="0" cy="0"/>
        </a:xfrm>
      </p:grpSpPr>
      <p:sp>
        <p:nvSpPr>
          <p:cNvPr id="89" name="Google Shape;89;p21"/>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1"/>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1" name="Google Shape;91;p21"/>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2" name="Google Shape;92;p21"/>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93" name="Shape 93"/>
        <p:cNvGrpSpPr/>
        <p:nvPr/>
      </p:nvGrpSpPr>
      <p:grpSpPr>
        <a:xfrm>
          <a:off x="0" y="0"/>
          <a:ext cx="0" cy="0"/>
          <a:chOff x="0" y="0"/>
          <a:chExt cx="0" cy="0"/>
        </a:xfrm>
      </p:grpSpPr>
      <p:sp>
        <p:nvSpPr>
          <p:cNvPr id="94" name="Google Shape;94;p22"/>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2"/>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6" name="Google Shape;96;p22"/>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7" name="Google Shape;97;p22"/>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98" name="Shape 98"/>
        <p:cNvGrpSpPr/>
        <p:nvPr/>
      </p:nvGrpSpPr>
      <p:grpSpPr>
        <a:xfrm>
          <a:off x="0" y="0"/>
          <a:ext cx="0" cy="0"/>
          <a:chOff x="0" y="0"/>
          <a:chExt cx="0" cy="0"/>
        </a:xfrm>
      </p:grpSpPr>
      <p:sp>
        <p:nvSpPr>
          <p:cNvPr id="99" name="Google Shape;99;p23"/>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3"/>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1" name="Google Shape;101;p23"/>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2" name="Google Shape;102;p23"/>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03" name="Shape 103"/>
        <p:cNvGrpSpPr/>
        <p:nvPr/>
      </p:nvGrpSpPr>
      <p:grpSpPr>
        <a:xfrm>
          <a:off x="0" y="0"/>
          <a:ext cx="0" cy="0"/>
          <a:chOff x="0" y="0"/>
          <a:chExt cx="0" cy="0"/>
        </a:xfrm>
      </p:grpSpPr>
      <p:sp>
        <p:nvSpPr>
          <p:cNvPr id="104" name="Google Shape;104;p24"/>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4"/>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6" name="Google Shape;106;p24"/>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07" name="Shape 107"/>
        <p:cNvGrpSpPr/>
        <p:nvPr/>
      </p:nvGrpSpPr>
      <p:grpSpPr>
        <a:xfrm>
          <a:off x="0" y="0"/>
          <a:ext cx="0" cy="0"/>
          <a:chOff x="0" y="0"/>
          <a:chExt cx="0" cy="0"/>
        </a:xfrm>
      </p:grpSpPr>
      <p:sp>
        <p:nvSpPr>
          <p:cNvPr id="108" name="Google Shape;108;p25"/>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5"/>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0" name="Google Shape;110;p25"/>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1" name="Google Shape;111;p25"/>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2" name="Google Shape;112;p25"/>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13" name="Shape 113"/>
        <p:cNvGrpSpPr/>
        <p:nvPr/>
      </p:nvGrpSpPr>
      <p:grpSpPr>
        <a:xfrm>
          <a:off x="0" y="0"/>
          <a:ext cx="0" cy="0"/>
          <a:chOff x="0" y="0"/>
          <a:chExt cx="0" cy="0"/>
        </a:xfrm>
      </p:grpSpPr>
      <p:sp>
        <p:nvSpPr>
          <p:cNvPr id="114" name="Google Shape;114;p26"/>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26"/>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6" name="Google Shape;116;p26"/>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7" name="Google Shape;117;p26"/>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8" name="Google Shape;118;p26"/>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9" name="Google Shape;119;p26"/>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0" name="Google Shape;120;p26"/>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28" name="Shape 128"/>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29" name="Shape 129"/>
        <p:cNvGrpSpPr/>
        <p:nvPr/>
      </p:nvGrpSpPr>
      <p:grpSpPr>
        <a:xfrm>
          <a:off x="0" y="0"/>
          <a:ext cx="0" cy="0"/>
          <a:chOff x="0" y="0"/>
          <a:chExt cx="0" cy="0"/>
        </a:xfrm>
      </p:grpSpPr>
      <p:sp>
        <p:nvSpPr>
          <p:cNvPr id="130" name="Google Shape;130;p29"/>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29"/>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32" name="Shape 132"/>
        <p:cNvGrpSpPr/>
        <p:nvPr/>
      </p:nvGrpSpPr>
      <p:grpSpPr>
        <a:xfrm>
          <a:off x="0" y="0"/>
          <a:ext cx="0" cy="0"/>
          <a:chOff x="0" y="0"/>
          <a:chExt cx="0" cy="0"/>
        </a:xfrm>
      </p:grpSpPr>
      <p:sp>
        <p:nvSpPr>
          <p:cNvPr id="133" name="Google Shape;133;p30"/>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30"/>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35" name="Shape 135"/>
        <p:cNvGrpSpPr/>
        <p:nvPr/>
      </p:nvGrpSpPr>
      <p:grpSpPr>
        <a:xfrm>
          <a:off x="0" y="0"/>
          <a:ext cx="0" cy="0"/>
          <a:chOff x="0" y="0"/>
          <a:chExt cx="0" cy="0"/>
        </a:xfrm>
      </p:grpSpPr>
      <p:sp>
        <p:nvSpPr>
          <p:cNvPr id="136" name="Google Shape;136;p31"/>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31"/>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8" name="Google Shape;138;p31"/>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9" name="Shape 139"/>
        <p:cNvGrpSpPr/>
        <p:nvPr/>
      </p:nvGrpSpPr>
      <p:grpSpPr>
        <a:xfrm>
          <a:off x="0" y="0"/>
          <a:ext cx="0" cy="0"/>
          <a:chOff x="0" y="0"/>
          <a:chExt cx="0" cy="0"/>
        </a:xfrm>
      </p:grpSpPr>
      <p:sp>
        <p:nvSpPr>
          <p:cNvPr id="140" name="Google Shape;140;p32"/>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41" name="Shape 141"/>
        <p:cNvGrpSpPr/>
        <p:nvPr/>
      </p:nvGrpSpPr>
      <p:grpSpPr>
        <a:xfrm>
          <a:off x="0" y="0"/>
          <a:ext cx="0" cy="0"/>
          <a:chOff x="0" y="0"/>
          <a:chExt cx="0" cy="0"/>
        </a:xfrm>
      </p:grpSpPr>
      <p:sp>
        <p:nvSpPr>
          <p:cNvPr id="142" name="Google Shape;142;p33"/>
          <p:cNvSpPr txBox="1"/>
          <p:nvPr>
            <p:ph idx="1" type="subTitle"/>
          </p:nvPr>
        </p:nvSpPr>
        <p:spPr>
          <a:xfrm>
            <a:off x="457200" y="544680"/>
            <a:ext cx="8229240" cy="1569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43" name="Shape 143"/>
        <p:cNvGrpSpPr/>
        <p:nvPr/>
      </p:nvGrpSpPr>
      <p:grpSpPr>
        <a:xfrm>
          <a:off x="0" y="0"/>
          <a:ext cx="0" cy="0"/>
          <a:chOff x="0" y="0"/>
          <a:chExt cx="0" cy="0"/>
        </a:xfrm>
      </p:grpSpPr>
      <p:sp>
        <p:nvSpPr>
          <p:cNvPr id="144" name="Google Shape;144;p34"/>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34"/>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6" name="Google Shape;146;p34"/>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7" name="Google Shape;147;p34"/>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48" name="Shape 148"/>
        <p:cNvGrpSpPr/>
        <p:nvPr/>
      </p:nvGrpSpPr>
      <p:grpSpPr>
        <a:xfrm>
          <a:off x="0" y="0"/>
          <a:ext cx="0" cy="0"/>
          <a:chOff x="0" y="0"/>
          <a:chExt cx="0" cy="0"/>
        </a:xfrm>
      </p:grpSpPr>
      <p:sp>
        <p:nvSpPr>
          <p:cNvPr id="149" name="Google Shape;149;p35"/>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35"/>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1" name="Google Shape;151;p35"/>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2" name="Google Shape;152;p35"/>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53" name="Shape 153"/>
        <p:cNvGrpSpPr/>
        <p:nvPr/>
      </p:nvGrpSpPr>
      <p:grpSpPr>
        <a:xfrm>
          <a:off x="0" y="0"/>
          <a:ext cx="0" cy="0"/>
          <a:chOff x="0" y="0"/>
          <a:chExt cx="0" cy="0"/>
        </a:xfrm>
      </p:grpSpPr>
      <p:sp>
        <p:nvSpPr>
          <p:cNvPr id="154" name="Google Shape;154;p36"/>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36"/>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6" name="Google Shape;156;p36"/>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7" name="Google Shape;157;p36"/>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58" name="Shape 158"/>
        <p:cNvGrpSpPr/>
        <p:nvPr/>
      </p:nvGrpSpPr>
      <p:grpSpPr>
        <a:xfrm>
          <a:off x="0" y="0"/>
          <a:ext cx="0" cy="0"/>
          <a:chOff x="0" y="0"/>
          <a:chExt cx="0" cy="0"/>
        </a:xfrm>
      </p:grpSpPr>
      <p:sp>
        <p:nvSpPr>
          <p:cNvPr id="159" name="Google Shape;159;p37"/>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37"/>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1" name="Google Shape;161;p37"/>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62" name="Shape 162"/>
        <p:cNvGrpSpPr/>
        <p:nvPr/>
      </p:nvGrpSpPr>
      <p:grpSpPr>
        <a:xfrm>
          <a:off x="0" y="0"/>
          <a:ext cx="0" cy="0"/>
          <a:chOff x="0" y="0"/>
          <a:chExt cx="0" cy="0"/>
        </a:xfrm>
      </p:grpSpPr>
      <p:sp>
        <p:nvSpPr>
          <p:cNvPr id="163" name="Google Shape;163;p38"/>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38"/>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5" name="Google Shape;165;p38"/>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6" name="Google Shape;166;p38"/>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7" name="Google Shape;167;p38"/>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68" name="Shape 168"/>
        <p:cNvGrpSpPr/>
        <p:nvPr/>
      </p:nvGrpSpPr>
      <p:grpSpPr>
        <a:xfrm>
          <a:off x="0" y="0"/>
          <a:ext cx="0" cy="0"/>
          <a:chOff x="0" y="0"/>
          <a:chExt cx="0" cy="0"/>
        </a:xfrm>
      </p:grpSpPr>
      <p:sp>
        <p:nvSpPr>
          <p:cNvPr id="169" name="Google Shape;169;p39"/>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39"/>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1" name="Google Shape;171;p39"/>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2" name="Google Shape;172;p39"/>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3" name="Google Shape;173;p39"/>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4" name="Google Shape;174;p39"/>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5" name="Google Shape;175;p39"/>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83" name="Shape 183"/>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84" name="Shape 184"/>
        <p:cNvGrpSpPr/>
        <p:nvPr/>
      </p:nvGrpSpPr>
      <p:grpSpPr>
        <a:xfrm>
          <a:off x="0" y="0"/>
          <a:ext cx="0" cy="0"/>
          <a:chOff x="0" y="0"/>
          <a:chExt cx="0" cy="0"/>
        </a:xfrm>
      </p:grpSpPr>
      <p:sp>
        <p:nvSpPr>
          <p:cNvPr id="185" name="Google Shape;185;p42"/>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42"/>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87" name="Shape 187"/>
        <p:cNvGrpSpPr/>
        <p:nvPr/>
      </p:nvGrpSpPr>
      <p:grpSpPr>
        <a:xfrm>
          <a:off x="0" y="0"/>
          <a:ext cx="0" cy="0"/>
          <a:chOff x="0" y="0"/>
          <a:chExt cx="0" cy="0"/>
        </a:xfrm>
      </p:grpSpPr>
      <p:sp>
        <p:nvSpPr>
          <p:cNvPr id="188" name="Google Shape;188;p43"/>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43"/>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90" name="Shape 190"/>
        <p:cNvGrpSpPr/>
        <p:nvPr/>
      </p:nvGrpSpPr>
      <p:grpSpPr>
        <a:xfrm>
          <a:off x="0" y="0"/>
          <a:ext cx="0" cy="0"/>
          <a:chOff x="0" y="0"/>
          <a:chExt cx="0" cy="0"/>
        </a:xfrm>
      </p:grpSpPr>
      <p:sp>
        <p:nvSpPr>
          <p:cNvPr id="191" name="Google Shape;191;p44"/>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44"/>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3" name="Google Shape;193;p44"/>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45"/>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96" name="Shape 196"/>
        <p:cNvGrpSpPr/>
        <p:nvPr/>
      </p:nvGrpSpPr>
      <p:grpSpPr>
        <a:xfrm>
          <a:off x="0" y="0"/>
          <a:ext cx="0" cy="0"/>
          <a:chOff x="0" y="0"/>
          <a:chExt cx="0" cy="0"/>
        </a:xfrm>
      </p:grpSpPr>
      <p:sp>
        <p:nvSpPr>
          <p:cNvPr id="197" name="Google Shape;197;p46"/>
          <p:cNvSpPr txBox="1"/>
          <p:nvPr>
            <p:ph idx="1" type="subTitle"/>
          </p:nvPr>
        </p:nvSpPr>
        <p:spPr>
          <a:xfrm>
            <a:off x="457200" y="544680"/>
            <a:ext cx="8229240" cy="1569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98" name="Shape 198"/>
        <p:cNvGrpSpPr/>
        <p:nvPr/>
      </p:nvGrpSpPr>
      <p:grpSpPr>
        <a:xfrm>
          <a:off x="0" y="0"/>
          <a:ext cx="0" cy="0"/>
          <a:chOff x="0" y="0"/>
          <a:chExt cx="0" cy="0"/>
        </a:xfrm>
      </p:grpSpPr>
      <p:sp>
        <p:nvSpPr>
          <p:cNvPr id="199" name="Google Shape;199;p47"/>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47"/>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1" name="Google Shape;201;p47"/>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2" name="Google Shape;202;p47"/>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03" name="Shape 203"/>
        <p:cNvGrpSpPr/>
        <p:nvPr/>
      </p:nvGrpSpPr>
      <p:grpSpPr>
        <a:xfrm>
          <a:off x="0" y="0"/>
          <a:ext cx="0" cy="0"/>
          <a:chOff x="0" y="0"/>
          <a:chExt cx="0" cy="0"/>
        </a:xfrm>
      </p:grpSpPr>
      <p:sp>
        <p:nvSpPr>
          <p:cNvPr id="204" name="Google Shape;204;p48"/>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5" name="Google Shape;205;p48"/>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6" name="Google Shape;206;p48"/>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7" name="Google Shape;207;p48"/>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08" name="Shape 208"/>
        <p:cNvGrpSpPr/>
        <p:nvPr/>
      </p:nvGrpSpPr>
      <p:grpSpPr>
        <a:xfrm>
          <a:off x="0" y="0"/>
          <a:ext cx="0" cy="0"/>
          <a:chOff x="0" y="0"/>
          <a:chExt cx="0" cy="0"/>
        </a:xfrm>
      </p:grpSpPr>
      <p:sp>
        <p:nvSpPr>
          <p:cNvPr id="209" name="Google Shape;209;p49"/>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0" name="Google Shape;210;p49"/>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1" name="Google Shape;211;p49"/>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2" name="Google Shape;212;p49"/>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13" name="Shape 213"/>
        <p:cNvGrpSpPr/>
        <p:nvPr/>
      </p:nvGrpSpPr>
      <p:grpSpPr>
        <a:xfrm>
          <a:off x="0" y="0"/>
          <a:ext cx="0" cy="0"/>
          <a:chOff x="0" y="0"/>
          <a:chExt cx="0" cy="0"/>
        </a:xfrm>
      </p:grpSpPr>
      <p:sp>
        <p:nvSpPr>
          <p:cNvPr id="214" name="Google Shape;214;p50"/>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p50"/>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6" name="Google Shape;216;p50"/>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17" name="Shape 217"/>
        <p:cNvGrpSpPr/>
        <p:nvPr/>
      </p:nvGrpSpPr>
      <p:grpSpPr>
        <a:xfrm>
          <a:off x="0" y="0"/>
          <a:ext cx="0" cy="0"/>
          <a:chOff x="0" y="0"/>
          <a:chExt cx="0" cy="0"/>
        </a:xfrm>
      </p:grpSpPr>
      <p:sp>
        <p:nvSpPr>
          <p:cNvPr id="218" name="Google Shape;218;p51"/>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9" name="Google Shape;219;p51"/>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0" name="Google Shape;220;p51"/>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1" name="Google Shape;221;p51"/>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2" name="Google Shape;222;p51"/>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23" name="Shape 223"/>
        <p:cNvGrpSpPr/>
        <p:nvPr/>
      </p:nvGrpSpPr>
      <p:grpSpPr>
        <a:xfrm>
          <a:off x="0" y="0"/>
          <a:ext cx="0" cy="0"/>
          <a:chOff x="0" y="0"/>
          <a:chExt cx="0" cy="0"/>
        </a:xfrm>
      </p:grpSpPr>
      <p:sp>
        <p:nvSpPr>
          <p:cNvPr id="224" name="Google Shape;224;p52"/>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5" name="Google Shape;225;p52"/>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6" name="Google Shape;226;p52"/>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7" name="Google Shape;227;p52"/>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8" name="Google Shape;228;p52"/>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9" name="Google Shape;229;p52"/>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0" name="Google Shape;230;p52"/>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4.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4.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image" Target="../media/image4.pn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3" Type="http://schemas.openxmlformats.org/officeDocument/2006/relationships/slideLayout" Target="../slideLayouts/slideLayout36.xml"/><Relationship Id="rId12" Type="http://schemas.openxmlformats.org/officeDocument/2006/relationships/slideLayout" Target="../slideLayouts/slideLayout35.xml"/><Relationship Id="rId1" Type="http://schemas.openxmlformats.org/officeDocument/2006/relationships/image" Target="../media/image4.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1.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6.xml"/><Relationship Id="rId10" Type="http://schemas.openxmlformats.org/officeDocument/2006/relationships/slideLayout" Target="../slideLayouts/slideLayout45.xml"/><Relationship Id="rId13" Type="http://schemas.openxmlformats.org/officeDocument/2006/relationships/slideLayout" Target="../slideLayouts/slideLayout48.xml"/><Relationship Id="rId12" Type="http://schemas.openxmlformats.org/officeDocument/2006/relationships/slideLayout" Target="../slideLayouts/slideLayout47.xml"/><Relationship Id="rId1" Type="http://schemas.openxmlformats.org/officeDocument/2006/relationships/image" Target="../media/image4.png"/><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theme" Target="../theme/theme3.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353880" y="4608720"/>
            <a:ext cx="1069560" cy="397440"/>
          </a:xfrm>
          <a:prstGeom prst="rect">
            <a:avLst/>
          </a:prstGeom>
          <a:noFill/>
          <a:ln>
            <a:noFill/>
          </a:ln>
        </p:spPr>
      </p:pic>
      <p:sp>
        <p:nvSpPr>
          <p:cNvPr id="11" name="Google Shape;11;p1"/>
          <p:cNvSpPr/>
          <p:nvPr/>
        </p:nvSpPr>
        <p:spPr>
          <a:xfrm>
            <a:off x="1333440" y="4612320"/>
            <a:ext cx="7124400" cy="300960"/>
          </a:xfrm>
          <a:prstGeom prst="rect">
            <a:avLst/>
          </a:prstGeom>
          <a:noFill/>
          <a:ln>
            <a:noFill/>
          </a:ln>
        </p:spPr>
        <p:txBody>
          <a:bodyPr anchorCtr="0" anchor="b" bIns="0" lIns="0" spcFirstLastPara="1" rIns="0" wrap="square" tIns="0">
            <a:noAutofit/>
          </a:bodyPr>
          <a:lstStyle/>
          <a:p>
            <a:pPr indent="0" lvl="0" marL="0" marR="0" rtl="0" algn="ctr">
              <a:lnSpc>
                <a:spcPct val="113000"/>
              </a:lnSpc>
              <a:spcBef>
                <a:spcPts val="0"/>
              </a:spcBef>
              <a:spcAft>
                <a:spcPts val="0"/>
              </a:spcAft>
              <a:buNone/>
            </a:pPr>
            <a:r>
              <a:rPr b="0" i="0" lang="en-US" sz="650" u="none" cap="none" strike="noStrike">
                <a:solidFill>
                  <a:srgbClr val="000000"/>
                </a:solidFill>
                <a:latin typeface="Arial"/>
                <a:ea typeface="Arial"/>
                <a:cs typeface="Arial"/>
                <a:sym typeface="Arial"/>
              </a:rPr>
              <a:t>Verizon confidential and proprietary. Unauthorized disclosure, reproduction or other use prohibited.</a:t>
            </a:r>
            <a:endParaRPr b="0" i="0" sz="650" u="none" cap="none" strike="noStrike">
              <a:latin typeface="Arial"/>
              <a:ea typeface="Arial"/>
              <a:cs typeface="Arial"/>
              <a:sym typeface="Arial"/>
            </a:endParaRPr>
          </a:p>
        </p:txBody>
      </p:sp>
      <p:sp>
        <p:nvSpPr>
          <p:cNvPr id="12" name="Google Shape;12;p1"/>
          <p:cNvSpPr txBox="1"/>
          <p:nvPr>
            <p:ph type="title"/>
          </p:nvPr>
        </p:nvSpPr>
        <p:spPr>
          <a:xfrm>
            <a:off x="457200" y="594360"/>
            <a:ext cx="7086240" cy="205704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3" name="Google Shape;13;p1"/>
          <p:cNvSpPr txBox="1"/>
          <p:nvPr>
            <p:ph idx="12" type="sldNum"/>
          </p:nvPr>
        </p:nvSpPr>
        <p:spPr>
          <a:xfrm>
            <a:off x="8458200" y="4700160"/>
            <a:ext cx="228240" cy="22824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buNone/>
              <a:defRPr b="1" i="0" sz="700" u="none" cap="none" strike="noStrike">
                <a:solidFill>
                  <a:srgbClr val="FFFFFF"/>
                </a:solidFill>
                <a:latin typeface="Arial"/>
                <a:ea typeface="Arial"/>
                <a:cs typeface="Arial"/>
                <a:sym typeface="Arial"/>
              </a:defRPr>
            </a:lvl1pPr>
            <a:lvl2pPr indent="0" lvl="1" marL="0" marR="0" rtl="0" algn="r">
              <a:lnSpc>
                <a:spcPct val="100000"/>
              </a:lnSpc>
              <a:spcBef>
                <a:spcPts val="0"/>
              </a:spcBef>
              <a:buNone/>
              <a:defRPr b="1" i="0" sz="700" u="none" cap="none" strike="noStrike">
                <a:solidFill>
                  <a:srgbClr val="FFFFFF"/>
                </a:solidFill>
                <a:latin typeface="Arial"/>
                <a:ea typeface="Arial"/>
                <a:cs typeface="Arial"/>
                <a:sym typeface="Arial"/>
              </a:defRPr>
            </a:lvl2pPr>
            <a:lvl3pPr indent="0" lvl="2" marL="0" marR="0" rtl="0" algn="r">
              <a:lnSpc>
                <a:spcPct val="100000"/>
              </a:lnSpc>
              <a:spcBef>
                <a:spcPts val="0"/>
              </a:spcBef>
              <a:buNone/>
              <a:defRPr b="1" i="0" sz="700" u="none" cap="none" strike="noStrike">
                <a:solidFill>
                  <a:srgbClr val="FFFFFF"/>
                </a:solidFill>
                <a:latin typeface="Arial"/>
                <a:ea typeface="Arial"/>
                <a:cs typeface="Arial"/>
                <a:sym typeface="Arial"/>
              </a:defRPr>
            </a:lvl3pPr>
            <a:lvl4pPr indent="0" lvl="3" marL="0" marR="0" rtl="0" algn="r">
              <a:lnSpc>
                <a:spcPct val="100000"/>
              </a:lnSpc>
              <a:spcBef>
                <a:spcPts val="0"/>
              </a:spcBef>
              <a:buNone/>
              <a:defRPr b="1" i="0" sz="700" u="none" cap="none" strike="noStrike">
                <a:solidFill>
                  <a:srgbClr val="FFFFFF"/>
                </a:solidFill>
                <a:latin typeface="Arial"/>
                <a:ea typeface="Arial"/>
                <a:cs typeface="Arial"/>
                <a:sym typeface="Arial"/>
              </a:defRPr>
            </a:lvl4pPr>
            <a:lvl5pPr indent="0" lvl="4" marL="0" marR="0" rtl="0" algn="r">
              <a:lnSpc>
                <a:spcPct val="100000"/>
              </a:lnSpc>
              <a:spcBef>
                <a:spcPts val="0"/>
              </a:spcBef>
              <a:buNone/>
              <a:defRPr b="1" i="0" sz="700" u="none" cap="none" strike="noStrike">
                <a:solidFill>
                  <a:srgbClr val="FFFFFF"/>
                </a:solidFill>
                <a:latin typeface="Arial"/>
                <a:ea typeface="Arial"/>
                <a:cs typeface="Arial"/>
                <a:sym typeface="Arial"/>
              </a:defRPr>
            </a:lvl5pPr>
            <a:lvl6pPr indent="0" lvl="5" marL="0" marR="0" rtl="0" algn="r">
              <a:lnSpc>
                <a:spcPct val="100000"/>
              </a:lnSpc>
              <a:spcBef>
                <a:spcPts val="0"/>
              </a:spcBef>
              <a:buNone/>
              <a:defRPr b="1" i="0" sz="700" u="none" cap="none" strike="noStrike">
                <a:solidFill>
                  <a:srgbClr val="FFFFFF"/>
                </a:solidFill>
                <a:latin typeface="Arial"/>
                <a:ea typeface="Arial"/>
                <a:cs typeface="Arial"/>
                <a:sym typeface="Arial"/>
              </a:defRPr>
            </a:lvl6pPr>
            <a:lvl7pPr indent="0" lvl="6" marL="0" marR="0" rtl="0" algn="r">
              <a:lnSpc>
                <a:spcPct val="100000"/>
              </a:lnSpc>
              <a:spcBef>
                <a:spcPts val="0"/>
              </a:spcBef>
              <a:buNone/>
              <a:defRPr b="1" i="0" sz="700" u="none" cap="none" strike="noStrike">
                <a:solidFill>
                  <a:srgbClr val="FFFFFF"/>
                </a:solidFill>
                <a:latin typeface="Arial"/>
                <a:ea typeface="Arial"/>
                <a:cs typeface="Arial"/>
                <a:sym typeface="Arial"/>
              </a:defRPr>
            </a:lvl7pPr>
            <a:lvl8pPr indent="0" lvl="7" marL="0" marR="0" rtl="0" algn="r">
              <a:lnSpc>
                <a:spcPct val="100000"/>
              </a:lnSpc>
              <a:spcBef>
                <a:spcPts val="0"/>
              </a:spcBef>
              <a:buNone/>
              <a:defRPr b="1" i="0" sz="700" u="none" cap="none" strike="noStrike">
                <a:solidFill>
                  <a:srgbClr val="FFFFFF"/>
                </a:solidFill>
                <a:latin typeface="Arial"/>
                <a:ea typeface="Arial"/>
                <a:cs typeface="Arial"/>
                <a:sym typeface="Arial"/>
              </a:defRPr>
            </a:lvl8pPr>
            <a:lvl9pPr indent="0" lvl="8" marL="0" marR="0" rtl="0" algn="r">
              <a:lnSpc>
                <a:spcPct val="100000"/>
              </a:lnSpc>
              <a:spcBef>
                <a:spcPts val="0"/>
              </a:spcBef>
              <a:buNone/>
              <a:defRPr b="1" i="0" sz="7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b="0">
              <a:solidFill>
                <a:srgbClr val="000000"/>
              </a:solidFill>
              <a:latin typeface="Times New Roman"/>
              <a:ea typeface="Times New Roman"/>
              <a:cs typeface="Times New Roman"/>
              <a:sym typeface="Times New Roman"/>
            </a:endParaRPr>
          </a:p>
        </p:txBody>
      </p:sp>
      <p:sp>
        <p:nvSpPr>
          <p:cNvPr id="14" name="Google Shape;14;p1"/>
          <p:cNvSpPr/>
          <p:nvPr/>
        </p:nvSpPr>
        <p:spPr>
          <a:xfrm>
            <a:off x="108360" y="4531680"/>
            <a:ext cx="2587680" cy="57024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 name="Google Shape;15;p1"/>
          <p:cNvPicPr preferRelativeResize="0"/>
          <p:nvPr/>
        </p:nvPicPr>
        <p:blipFill rotWithShape="1">
          <a:blip r:embed="rId2">
            <a:alphaModFix/>
          </a:blip>
          <a:srcRect b="0" l="0" r="0" t="0"/>
          <a:stretch/>
        </p:blipFill>
        <p:spPr>
          <a:xfrm>
            <a:off x="357120" y="4615200"/>
            <a:ext cx="1069560" cy="384480"/>
          </a:xfrm>
          <a:prstGeom prst="rect">
            <a:avLst/>
          </a:prstGeom>
          <a:noFill/>
          <a:ln>
            <a:noFill/>
          </a:ln>
        </p:spPr>
      </p:pic>
      <p:sp>
        <p:nvSpPr>
          <p:cNvPr id="16" name="Google Shape;16;p1"/>
          <p:cNvSpPr/>
          <p:nvPr/>
        </p:nvSpPr>
        <p:spPr>
          <a:xfrm>
            <a:off x="1333440" y="4700160"/>
            <a:ext cx="7124400" cy="213120"/>
          </a:xfrm>
          <a:prstGeom prst="rect">
            <a:avLst/>
          </a:prstGeom>
          <a:noFill/>
          <a:ln>
            <a:noFill/>
          </a:ln>
        </p:spPr>
        <p:txBody>
          <a:bodyPr anchorCtr="0" anchor="b" bIns="0" lIns="0" spcFirstLastPara="1" rIns="0" wrap="square" tIns="0">
            <a:noAutofit/>
          </a:bodyPr>
          <a:lstStyle/>
          <a:p>
            <a:pPr indent="0" lvl="0" marL="0" marR="0" rtl="0" algn="ctr">
              <a:lnSpc>
                <a:spcPct val="113000"/>
              </a:lnSpc>
              <a:spcBef>
                <a:spcPts val="0"/>
              </a:spcBef>
              <a:spcAft>
                <a:spcPts val="0"/>
              </a:spcAft>
              <a:buNone/>
            </a:pPr>
            <a:r>
              <a:rPr b="0" i="0" lang="en-US" sz="650" u="none" cap="none" strike="noStrike">
                <a:solidFill>
                  <a:srgbClr val="FFFFFF"/>
                </a:solidFill>
                <a:latin typeface="Arial"/>
                <a:ea typeface="Arial"/>
                <a:cs typeface="Arial"/>
                <a:sym typeface="Arial"/>
              </a:rPr>
              <a:t>Verizon confidential and proprietary. Unauthorized disclosure, reproduction or other use prohibited.</a:t>
            </a:r>
            <a:endParaRPr b="0" i="0" sz="650" u="none" cap="none" strike="noStrike">
              <a:latin typeface="Arial"/>
              <a:ea typeface="Arial"/>
              <a:cs typeface="Arial"/>
              <a:sym typeface="Arial"/>
            </a:endParaRPr>
          </a:p>
        </p:txBody>
      </p:sp>
      <p:sp>
        <p:nvSpPr>
          <p:cNvPr id="17" name="Google Shape;17;p1"/>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 name="Shape 66"/>
        <p:cNvGrpSpPr/>
        <p:nvPr/>
      </p:nvGrpSpPr>
      <p:grpSpPr>
        <a:xfrm>
          <a:off x="0" y="0"/>
          <a:ext cx="0" cy="0"/>
          <a:chOff x="0" y="0"/>
          <a:chExt cx="0" cy="0"/>
        </a:xfrm>
      </p:grpSpPr>
      <p:pic>
        <p:nvPicPr>
          <p:cNvPr id="67" name="Google Shape;67;p14"/>
          <p:cNvPicPr preferRelativeResize="0"/>
          <p:nvPr/>
        </p:nvPicPr>
        <p:blipFill rotWithShape="1">
          <a:blip r:embed="rId1">
            <a:alphaModFix/>
          </a:blip>
          <a:srcRect b="0" l="0" r="0" t="0"/>
          <a:stretch/>
        </p:blipFill>
        <p:spPr>
          <a:xfrm>
            <a:off x="353880" y="4608720"/>
            <a:ext cx="1069560" cy="397440"/>
          </a:xfrm>
          <a:prstGeom prst="rect">
            <a:avLst/>
          </a:prstGeom>
          <a:noFill/>
          <a:ln>
            <a:noFill/>
          </a:ln>
        </p:spPr>
      </p:pic>
      <p:sp>
        <p:nvSpPr>
          <p:cNvPr id="68" name="Google Shape;68;p14"/>
          <p:cNvSpPr/>
          <p:nvPr/>
        </p:nvSpPr>
        <p:spPr>
          <a:xfrm>
            <a:off x="1333440" y="4612320"/>
            <a:ext cx="7124400" cy="300960"/>
          </a:xfrm>
          <a:prstGeom prst="rect">
            <a:avLst/>
          </a:prstGeom>
          <a:noFill/>
          <a:ln>
            <a:noFill/>
          </a:ln>
        </p:spPr>
        <p:txBody>
          <a:bodyPr anchorCtr="0" anchor="b" bIns="0" lIns="0" spcFirstLastPara="1" rIns="0" wrap="square" tIns="0">
            <a:noAutofit/>
          </a:bodyPr>
          <a:lstStyle/>
          <a:p>
            <a:pPr indent="0" lvl="0" marL="0" marR="0" rtl="0" algn="ctr">
              <a:lnSpc>
                <a:spcPct val="113000"/>
              </a:lnSpc>
              <a:spcBef>
                <a:spcPts val="0"/>
              </a:spcBef>
              <a:spcAft>
                <a:spcPts val="0"/>
              </a:spcAft>
              <a:buNone/>
            </a:pPr>
            <a:r>
              <a:rPr b="0" i="0" lang="en-US" sz="650" u="none" cap="none" strike="noStrike">
                <a:solidFill>
                  <a:srgbClr val="000000"/>
                </a:solidFill>
                <a:latin typeface="Arial"/>
                <a:ea typeface="Arial"/>
                <a:cs typeface="Arial"/>
                <a:sym typeface="Arial"/>
              </a:rPr>
              <a:t>Verizon confidential and proprietary. Unauthorized disclosure, reproduction or other use prohibited.</a:t>
            </a:r>
            <a:endParaRPr b="0" i="0" sz="650" u="none" cap="none" strike="noStrike">
              <a:latin typeface="Arial"/>
              <a:ea typeface="Arial"/>
              <a:cs typeface="Arial"/>
              <a:sym typeface="Arial"/>
            </a:endParaRPr>
          </a:p>
        </p:txBody>
      </p:sp>
      <p:sp>
        <p:nvSpPr>
          <p:cNvPr id="69" name="Google Shape;69;p14"/>
          <p:cNvSpPr/>
          <p:nvPr/>
        </p:nvSpPr>
        <p:spPr>
          <a:xfrm>
            <a:off x="311760" y="478080"/>
            <a:ext cx="8229240" cy="360"/>
          </a:xfrm>
          <a:custGeom>
            <a:rect b="b" l="l" r="r" t="t"/>
            <a:pathLst>
              <a:path extrusionOk="0" h="21600" w="21600">
                <a:moveTo>
                  <a:pt x="0" y="0"/>
                </a:moveTo>
                <a:lnTo>
                  <a:pt x="21600" y="21600"/>
                </a:lnTo>
              </a:path>
            </a:pathLst>
          </a:custGeom>
          <a:noFill/>
          <a:ln cap="flat" cmpd="sng" w="47500">
            <a:solidFill>
              <a:srgbClr val="000000"/>
            </a:solidFill>
            <a:prstDash val="solid"/>
            <a:round/>
            <a:headEnd len="sm" w="sm" type="none"/>
            <a:tailEnd len="sm" w="sm" type="none"/>
          </a:ln>
        </p:spPr>
      </p:sp>
      <p:sp>
        <p:nvSpPr>
          <p:cNvPr id="70" name="Google Shape;70;p14"/>
          <p:cNvSpPr txBox="1"/>
          <p:nvPr>
            <p:ph type="title"/>
          </p:nvPr>
        </p:nvSpPr>
        <p:spPr>
          <a:xfrm>
            <a:off x="311760" y="122400"/>
            <a:ext cx="8229240" cy="2952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1" name="Google Shape;71;p14"/>
          <p:cNvSpPr txBox="1"/>
          <p:nvPr>
            <p:ph idx="1" type="body"/>
          </p:nvPr>
        </p:nvSpPr>
        <p:spPr>
          <a:xfrm>
            <a:off x="311760" y="599040"/>
            <a:ext cx="8520120" cy="39693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2" name="Google Shape;72;p14"/>
          <p:cNvSpPr txBox="1"/>
          <p:nvPr>
            <p:ph idx="12" type="sldNum"/>
          </p:nvPr>
        </p:nvSpPr>
        <p:spPr>
          <a:xfrm>
            <a:off x="8603640" y="4661280"/>
            <a:ext cx="228240" cy="26532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buNone/>
              <a:defRPr b="0" i="0" sz="1000" u="none" cap="none" strike="noStrike">
                <a:solidFill>
                  <a:srgbClr val="000000"/>
                </a:solidFill>
                <a:latin typeface="Arial"/>
                <a:ea typeface="Arial"/>
                <a:cs typeface="Arial"/>
                <a:sym typeface="Arial"/>
              </a:defRPr>
            </a:lvl1pPr>
            <a:lvl2pPr indent="0" lvl="1" marL="0" marR="0" rtl="0" algn="r">
              <a:lnSpc>
                <a:spcPct val="100000"/>
              </a:lnSpc>
              <a:spcBef>
                <a:spcPts val="0"/>
              </a:spcBef>
              <a:buNone/>
              <a:defRPr b="0" i="0" sz="1000" u="none" cap="none" strike="noStrike">
                <a:solidFill>
                  <a:srgbClr val="000000"/>
                </a:solidFill>
                <a:latin typeface="Arial"/>
                <a:ea typeface="Arial"/>
                <a:cs typeface="Arial"/>
                <a:sym typeface="Arial"/>
              </a:defRPr>
            </a:lvl2pPr>
            <a:lvl3pPr indent="0" lvl="2" marL="0" marR="0" rtl="0" algn="r">
              <a:lnSpc>
                <a:spcPct val="100000"/>
              </a:lnSpc>
              <a:spcBef>
                <a:spcPts val="0"/>
              </a:spcBef>
              <a:buNone/>
              <a:defRPr b="0" i="0" sz="1000" u="none" cap="none" strike="noStrike">
                <a:solidFill>
                  <a:srgbClr val="000000"/>
                </a:solidFill>
                <a:latin typeface="Arial"/>
                <a:ea typeface="Arial"/>
                <a:cs typeface="Arial"/>
                <a:sym typeface="Arial"/>
              </a:defRPr>
            </a:lvl3pPr>
            <a:lvl4pPr indent="0" lvl="3" marL="0" marR="0" rtl="0" algn="r">
              <a:lnSpc>
                <a:spcPct val="100000"/>
              </a:lnSpc>
              <a:spcBef>
                <a:spcPts val="0"/>
              </a:spcBef>
              <a:buNone/>
              <a:defRPr b="0" i="0" sz="1000" u="none" cap="none" strike="noStrike">
                <a:solidFill>
                  <a:srgbClr val="000000"/>
                </a:solidFill>
                <a:latin typeface="Arial"/>
                <a:ea typeface="Arial"/>
                <a:cs typeface="Arial"/>
                <a:sym typeface="Arial"/>
              </a:defRPr>
            </a:lvl4pPr>
            <a:lvl5pPr indent="0" lvl="4" marL="0" marR="0" rtl="0" algn="r">
              <a:lnSpc>
                <a:spcPct val="100000"/>
              </a:lnSpc>
              <a:spcBef>
                <a:spcPts val="0"/>
              </a:spcBef>
              <a:buNone/>
              <a:defRPr b="0" i="0" sz="1000" u="none" cap="none" strike="noStrike">
                <a:solidFill>
                  <a:srgbClr val="000000"/>
                </a:solidFill>
                <a:latin typeface="Arial"/>
                <a:ea typeface="Arial"/>
                <a:cs typeface="Arial"/>
                <a:sym typeface="Arial"/>
              </a:defRPr>
            </a:lvl5pPr>
            <a:lvl6pPr indent="0" lvl="5" marL="0" marR="0" rtl="0" algn="r">
              <a:lnSpc>
                <a:spcPct val="100000"/>
              </a:lnSpc>
              <a:spcBef>
                <a:spcPts val="0"/>
              </a:spcBef>
              <a:buNone/>
              <a:defRPr b="0" i="0" sz="1000" u="none" cap="none" strike="noStrike">
                <a:solidFill>
                  <a:srgbClr val="000000"/>
                </a:solidFill>
                <a:latin typeface="Arial"/>
                <a:ea typeface="Arial"/>
                <a:cs typeface="Arial"/>
                <a:sym typeface="Arial"/>
              </a:defRPr>
            </a:lvl6pPr>
            <a:lvl7pPr indent="0" lvl="6" marL="0" marR="0" rtl="0" algn="r">
              <a:lnSpc>
                <a:spcPct val="100000"/>
              </a:lnSpc>
              <a:spcBef>
                <a:spcPts val="0"/>
              </a:spcBef>
              <a:buNone/>
              <a:defRPr b="0" i="0" sz="1000" u="none" cap="none" strike="noStrike">
                <a:solidFill>
                  <a:srgbClr val="000000"/>
                </a:solidFill>
                <a:latin typeface="Arial"/>
                <a:ea typeface="Arial"/>
                <a:cs typeface="Arial"/>
                <a:sym typeface="Arial"/>
              </a:defRPr>
            </a:lvl7pPr>
            <a:lvl8pPr indent="0" lvl="7" marL="0" marR="0" rtl="0" algn="r">
              <a:lnSpc>
                <a:spcPct val="100000"/>
              </a:lnSpc>
              <a:spcBef>
                <a:spcPts val="0"/>
              </a:spcBef>
              <a:buNone/>
              <a:defRPr b="0" i="0" sz="1000" u="none" cap="none" strike="noStrike">
                <a:solidFill>
                  <a:srgbClr val="000000"/>
                </a:solidFill>
                <a:latin typeface="Arial"/>
                <a:ea typeface="Arial"/>
                <a:cs typeface="Arial"/>
                <a:sym typeface="Arial"/>
              </a:defRPr>
            </a:lvl8pPr>
            <a:lvl9pPr indent="0" lvl="8" marL="0" marR="0" rtl="0" algn="r">
              <a:lnSpc>
                <a:spcPct val="100000"/>
              </a:lnSpc>
              <a:spcBef>
                <a:spcPts val="0"/>
              </a:spcBef>
              <a:buNone/>
              <a:defRPr b="0" i="0" sz="10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pic>
        <p:nvPicPr>
          <p:cNvPr id="122" name="Google Shape;122;p27"/>
          <p:cNvPicPr preferRelativeResize="0"/>
          <p:nvPr/>
        </p:nvPicPr>
        <p:blipFill rotWithShape="1">
          <a:blip r:embed="rId1">
            <a:alphaModFix/>
          </a:blip>
          <a:srcRect b="0" l="0" r="0" t="0"/>
          <a:stretch/>
        </p:blipFill>
        <p:spPr>
          <a:xfrm>
            <a:off x="353880" y="4608720"/>
            <a:ext cx="1069560" cy="397440"/>
          </a:xfrm>
          <a:prstGeom prst="rect">
            <a:avLst/>
          </a:prstGeom>
          <a:noFill/>
          <a:ln>
            <a:noFill/>
          </a:ln>
        </p:spPr>
      </p:pic>
      <p:sp>
        <p:nvSpPr>
          <p:cNvPr id="123" name="Google Shape;123;p27"/>
          <p:cNvSpPr/>
          <p:nvPr/>
        </p:nvSpPr>
        <p:spPr>
          <a:xfrm>
            <a:off x="1333440" y="4612320"/>
            <a:ext cx="7124400" cy="300960"/>
          </a:xfrm>
          <a:prstGeom prst="rect">
            <a:avLst/>
          </a:prstGeom>
          <a:noFill/>
          <a:ln>
            <a:noFill/>
          </a:ln>
        </p:spPr>
        <p:txBody>
          <a:bodyPr anchorCtr="0" anchor="b" bIns="0" lIns="0" spcFirstLastPara="1" rIns="0" wrap="square" tIns="0">
            <a:noAutofit/>
          </a:bodyPr>
          <a:lstStyle/>
          <a:p>
            <a:pPr indent="0" lvl="0" marL="0" marR="0" rtl="0" algn="ctr">
              <a:lnSpc>
                <a:spcPct val="113000"/>
              </a:lnSpc>
              <a:spcBef>
                <a:spcPts val="0"/>
              </a:spcBef>
              <a:spcAft>
                <a:spcPts val="0"/>
              </a:spcAft>
              <a:buNone/>
            </a:pPr>
            <a:r>
              <a:rPr b="0" i="0" lang="en-US" sz="650" u="none" cap="none" strike="noStrike">
                <a:solidFill>
                  <a:srgbClr val="000000"/>
                </a:solidFill>
                <a:latin typeface="Arial"/>
                <a:ea typeface="Arial"/>
                <a:cs typeface="Arial"/>
                <a:sym typeface="Arial"/>
              </a:rPr>
              <a:t>Verizon confidential and proprietary. Unauthorized disclosure, reproduction or other use prohibited.</a:t>
            </a:r>
            <a:endParaRPr b="0" i="0" sz="650" u="none" cap="none" strike="noStrike">
              <a:latin typeface="Arial"/>
              <a:ea typeface="Arial"/>
              <a:cs typeface="Arial"/>
              <a:sym typeface="Arial"/>
            </a:endParaRPr>
          </a:p>
        </p:txBody>
      </p:sp>
      <p:sp>
        <p:nvSpPr>
          <p:cNvPr id="124" name="Google Shape;124;p27"/>
          <p:cNvSpPr/>
          <p:nvPr/>
        </p:nvSpPr>
        <p:spPr>
          <a:xfrm>
            <a:off x="457200" y="457200"/>
            <a:ext cx="8229240" cy="360"/>
          </a:xfrm>
          <a:custGeom>
            <a:rect b="b" l="l" r="r" t="t"/>
            <a:pathLst>
              <a:path extrusionOk="0" h="21600" w="21600">
                <a:moveTo>
                  <a:pt x="0" y="0"/>
                </a:moveTo>
                <a:lnTo>
                  <a:pt x="21600" y="21600"/>
                </a:lnTo>
              </a:path>
            </a:pathLst>
          </a:custGeom>
          <a:noFill/>
          <a:ln cap="flat" cmpd="sng" w="47500">
            <a:solidFill>
              <a:srgbClr val="000000"/>
            </a:solidFill>
            <a:prstDash val="solid"/>
            <a:round/>
            <a:headEnd len="sm" w="sm" type="none"/>
            <a:tailEnd len="sm" w="sm" type="none"/>
          </a:ln>
        </p:spPr>
      </p:sp>
      <p:sp>
        <p:nvSpPr>
          <p:cNvPr id="125" name="Google Shape;125;p27"/>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6" name="Google Shape;126;p27"/>
          <p:cNvSpPr/>
          <p:nvPr/>
        </p:nvSpPr>
        <p:spPr>
          <a:xfrm>
            <a:off x="8458200" y="4700160"/>
            <a:ext cx="228240" cy="2282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fld id="{00000000-1234-1234-1234-123412341234}" type="slidenum">
              <a:rPr b="0" i="0" lang="en-US" sz="1800" u="none" cap="none" strike="noStrike">
                <a:latin typeface="Arial"/>
                <a:ea typeface="Arial"/>
                <a:cs typeface="Arial"/>
                <a:sym typeface="Arial"/>
              </a:rPr>
              <a:t>‹#›</a:t>
            </a:fld>
            <a:endParaRPr b="0" sz="1800" strike="noStrike">
              <a:latin typeface="Arial"/>
              <a:ea typeface="Arial"/>
              <a:cs typeface="Arial"/>
              <a:sym typeface="Arial"/>
            </a:endParaRPr>
          </a:p>
        </p:txBody>
      </p:sp>
      <p:sp>
        <p:nvSpPr>
          <p:cNvPr id="127" name="Google Shape;127;p27"/>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 name="Shape 176"/>
        <p:cNvGrpSpPr/>
        <p:nvPr/>
      </p:nvGrpSpPr>
      <p:grpSpPr>
        <a:xfrm>
          <a:off x="0" y="0"/>
          <a:ext cx="0" cy="0"/>
          <a:chOff x="0" y="0"/>
          <a:chExt cx="0" cy="0"/>
        </a:xfrm>
      </p:grpSpPr>
      <p:pic>
        <p:nvPicPr>
          <p:cNvPr id="177" name="Google Shape;177;p40"/>
          <p:cNvPicPr preferRelativeResize="0"/>
          <p:nvPr/>
        </p:nvPicPr>
        <p:blipFill rotWithShape="1">
          <a:blip r:embed="rId1">
            <a:alphaModFix/>
          </a:blip>
          <a:srcRect b="0" l="0" r="0" t="0"/>
          <a:stretch/>
        </p:blipFill>
        <p:spPr>
          <a:xfrm>
            <a:off x="353880" y="4608720"/>
            <a:ext cx="1069560" cy="397440"/>
          </a:xfrm>
          <a:prstGeom prst="rect">
            <a:avLst/>
          </a:prstGeom>
          <a:noFill/>
          <a:ln>
            <a:noFill/>
          </a:ln>
        </p:spPr>
      </p:pic>
      <p:sp>
        <p:nvSpPr>
          <p:cNvPr id="178" name="Google Shape;178;p40"/>
          <p:cNvSpPr/>
          <p:nvPr/>
        </p:nvSpPr>
        <p:spPr>
          <a:xfrm>
            <a:off x="1333440" y="4612320"/>
            <a:ext cx="7124400" cy="300960"/>
          </a:xfrm>
          <a:prstGeom prst="rect">
            <a:avLst/>
          </a:prstGeom>
          <a:noFill/>
          <a:ln>
            <a:noFill/>
          </a:ln>
        </p:spPr>
        <p:txBody>
          <a:bodyPr anchorCtr="0" anchor="b" bIns="0" lIns="0" spcFirstLastPara="1" rIns="0" wrap="square" tIns="0">
            <a:noAutofit/>
          </a:bodyPr>
          <a:lstStyle/>
          <a:p>
            <a:pPr indent="0" lvl="0" marL="0" marR="0" rtl="0" algn="ctr">
              <a:lnSpc>
                <a:spcPct val="113000"/>
              </a:lnSpc>
              <a:spcBef>
                <a:spcPts val="0"/>
              </a:spcBef>
              <a:spcAft>
                <a:spcPts val="0"/>
              </a:spcAft>
              <a:buNone/>
            </a:pPr>
            <a:r>
              <a:rPr b="0" lang="en-US" sz="650" strike="noStrike">
                <a:solidFill>
                  <a:srgbClr val="000000"/>
                </a:solidFill>
                <a:latin typeface="Arial"/>
                <a:ea typeface="Arial"/>
                <a:cs typeface="Arial"/>
                <a:sym typeface="Arial"/>
              </a:rPr>
              <a:t>Verizon confidential and proprietary. Unauthorized disclosure, reproduction or other use prohibited.</a:t>
            </a:r>
            <a:endParaRPr b="0" sz="650" strike="noStrike">
              <a:latin typeface="Arial"/>
              <a:ea typeface="Arial"/>
              <a:cs typeface="Arial"/>
              <a:sym typeface="Arial"/>
            </a:endParaRPr>
          </a:p>
        </p:txBody>
      </p:sp>
      <p:sp>
        <p:nvSpPr>
          <p:cNvPr id="179" name="Google Shape;179;p40"/>
          <p:cNvSpPr txBox="1"/>
          <p:nvPr>
            <p:ph type="title"/>
          </p:nvPr>
        </p:nvSpPr>
        <p:spPr>
          <a:xfrm>
            <a:off x="457200" y="544680"/>
            <a:ext cx="8229240" cy="3384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80" name="Google Shape;180;p40"/>
          <p:cNvSpPr/>
          <p:nvPr/>
        </p:nvSpPr>
        <p:spPr>
          <a:xfrm>
            <a:off x="457200" y="457200"/>
            <a:ext cx="8229240" cy="360"/>
          </a:xfrm>
          <a:custGeom>
            <a:rect b="b" l="l" r="r" t="t"/>
            <a:pathLst>
              <a:path extrusionOk="0" h="21600" w="21600">
                <a:moveTo>
                  <a:pt x="0" y="0"/>
                </a:moveTo>
                <a:lnTo>
                  <a:pt x="21600" y="21600"/>
                </a:lnTo>
              </a:path>
            </a:pathLst>
          </a:custGeom>
          <a:noFill/>
          <a:ln cap="flat" cmpd="sng" w="47500">
            <a:solidFill>
              <a:srgbClr val="000000"/>
            </a:solidFill>
            <a:prstDash val="solid"/>
            <a:round/>
            <a:headEnd len="sm" w="sm" type="none"/>
            <a:tailEnd len="sm" w="sm" type="none"/>
          </a:ln>
        </p:spPr>
      </p:sp>
      <p:sp>
        <p:nvSpPr>
          <p:cNvPr id="181" name="Google Shape;181;p40"/>
          <p:cNvSpPr/>
          <p:nvPr/>
        </p:nvSpPr>
        <p:spPr>
          <a:xfrm>
            <a:off x="8458200" y="4700160"/>
            <a:ext cx="228240" cy="2282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fld id="{00000000-1234-1234-1234-123412341234}" type="slidenum">
              <a:rPr b="0" lang="en-US" sz="1800" strike="noStrike">
                <a:latin typeface="Arial"/>
                <a:ea typeface="Arial"/>
                <a:cs typeface="Arial"/>
                <a:sym typeface="Arial"/>
              </a:rPr>
              <a:t>‹#›</a:t>
            </a:fld>
            <a:endParaRPr b="0" sz="1800" strike="noStrike">
              <a:latin typeface="Arial"/>
              <a:ea typeface="Arial"/>
              <a:cs typeface="Arial"/>
              <a:sym typeface="Arial"/>
            </a:endParaRPr>
          </a:p>
        </p:txBody>
      </p:sp>
      <p:sp>
        <p:nvSpPr>
          <p:cNvPr id="182" name="Google Shape;182;p40"/>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3.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1" Type="http://schemas.openxmlformats.org/officeDocument/2006/relationships/image" Target="../media/image16.png"/><Relationship Id="rId10" Type="http://schemas.openxmlformats.org/officeDocument/2006/relationships/image" Target="../media/image35.png"/><Relationship Id="rId13" Type="http://schemas.openxmlformats.org/officeDocument/2006/relationships/image" Target="../media/image27.png"/><Relationship Id="rId12" Type="http://schemas.openxmlformats.org/officeDocument/2006/relationships/image" Target="../media/image18.png"/><Relationship Id="rId1" Type="http://schemas.openxmlformats.org/officeDocument/2006/relationships/slideLayout" Target="../slideLayouts/slideLayout37.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9.png"/><Relationship Id="rId9" Type="http://schemas.openxmlformats.org/officeDocument/2006/relationships/image" Target="../media/image17.png"/><Relationship Id="rId15" Type="http://schemas.openxmlformats.org/officeDocument/2006/relationships/image" Target="../media/image22.png"/><Relationship Id="rId14" Type="http://schemas.openxmlformats.org/officeDocument/2006/relationships/image" Target="../media/image20.png"/><Relationship Id="rId16" Type="http://schemas.openxmlformats.org/officeDocument/2006/relationships/image" Target="../media/image7.png"/><Relationship Id="rId5" Type="http://schemas.openxmlformats.org/officeDocument/2006/relationships/image" Target="../media/image19.png"/><Relationship Id="rId6" Type="http://schemas.openxmlformats.org/officeDocument/2006/relationships/image" Target="../media/image26.png"/><Relationship Id="rId7" Type="http://schemas.openxmlformats.org/officeDocument/2006/relationships/image" Target="../media/image12.png"/><Relationship Id="rId8"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5.xml"/><Relationship Id="rId3" Type="http://schemas.openxmlformats.org/officeDocument/2006/relationships/image" Target="../media/image15.png"/><Relationship Id="rId4" Type="http://schemas.openxmlformats.org/officeDocument/2006/relationships/image" Target="../media/image32.png"/><Relationship Id="rId5"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6.xml"/><Relationship Id="rId3" Type="http://schemas.openxmlformats.org/officeDocument/2006/relationships/image" Target="../media/image15.png"/><Relationship Id="rId4" Type="http://schemas.openxmlformats.org/officeDocument/2006/relationships/image" Target="../media/image32.png"/><Relationship Id="rId5"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7.xml"/><Relationship Id="rId3" Type="http://schemas.openxmlformats.org/officeDocument/2006/relationships/image" Target="../media/image15.png"/><Relationship Id="rId4" Type="http://schemas.openxmlformats.org/officeDocument/2006/relationships/image" Target="../media/image32.png"/><Relationship Id="rId5"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53"/>
          <p:cNvSpPr txBox="1"/>
          <p:nvPr/>
        </p:nvSpPr>
        <p:spPr>
          <a:xfrm>
            <a:off x="457200" y="594360"/>
            <a:ext cx="8229240" cy="235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US" sz="2800" u="none" cap="none" strike="noStrike">
                <a:solidFill>
                  <a:srgbClr val="FFFFFF"/>
                </a:solidFill>
                <a:latin typeface="Arial"/>
                <a:ea typeface="Arial"/>
                <a:cs typeface="Arial"/>
                <a:sym typeface="Arial"/>
              </a:rPr>
              <a:t>Service Level Management</a:t>
            </a:r>
            <a:br>
              <a:rPr b="0" i="0" lang="en-US" sz="1800" u="none" cap="none" strike="noStrike"/>
            </a:br>
            <a:r>
              <a:rPr b="0" i="0" lang="en-US" sz="2500" u="none" cap="none" strike="noStrike">
                <a:solidFill>
                  <a:srgbClr val="FFFFFF"/>
                </a:solidFill>
                <a:latin typeface="Arial"/>
                <a:ea typeface="Arial"/>
                <a:cs typeface="Arial"/>
                <a:sym typeface="Arial"/>
              </a:rPr>
              <a:t>Walkaround Deck &amp; Planning Guide</a:t>
            </a:r>
            <a:br>
              <a:rPr b="0" i="0" lang="en-US" sz="1800" u="none" cap="none" strike="noStrike"/>
            </a:br>
            <a:br>
              <a:rPr b="0" i="0" lang="en-US" sz="1800" u="none" cap="none" strike="noStrike"/>
            </a:br>
            <a:br>
              <a:rPr b="0" i="0" lang="en-US" sz="1800" u="none" cap="none" strike="noStrike"/>
            </a:br>
            <a:r>
              <a:rPr b="0" i="0" lang="en-US" sz="1700" u="none" cap="none" strike="noStrike">
                <a:solidFill>
                  <a:srgbClr val="FFFFFF"/>
                </a:solidFill>
                <a:latin typeface="Arial"/>
                <a:ea typeface="Arial"/>
                <a:cs typeface="Arial"/>
                <a:sym typeface="Arial"/>
              </a:rPr>
              <a:t>October 2022</a:t>
            </a:r>
            <a:endParaRPr b="0" i="0" sz="1700" u="none" cap="none" strike="noStrike">
              <a:solidFill>
                <a:srgbClr val="000000"/>
              </a:solidFill>
              <a:latin typeface="Arial"/>
              <a:ea typeface="Arial"/>
              <a:cs typeface="Arial"/>
              <a:sym typeface="Arial"/>
            </a:endParaRPr>
          </a:p>
        </p:txBody>
      </p:sp>
      <p:sp>
        <p:nvSpPr>
          <p:cNvPr id="237" name="Google Shape;237;p53"/>
          <p:cNvSpPr txBox="1"/>
          <p:nvPr/>
        </p:nvSpPr>
        <p:spPr>
          <a:xfrm>
            <a:off x="8458200" y="4700160"/>
            <a:ext cx="228240" cy="228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1" i="0" lang="en-US" sz="700" u="none" cap="none" strike="noStrike">
                <a:solidFill>
                  <a:srgbClr val="FFFFFF"/>
                </a:solidFill>
                <a:latin typeface="Arial"/>
                <a:ea typeface="Arial"/>
                <a:cs typeface="Arial"/>
                <a:sym typeface="Arial"/>
              </a:rPr>
              <a:t>‹#›</a:t>
            </a:fld>
            <a:endParaRPr b="0" i="0" sz="700" u="none" cap="none" strike="noStrike">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54"/>
          <p:cNvSpPr txBox="1"/>
          <p:nvPr/>
        </p:nvSpPr>
        <p:spPr>
          <a:xfrm>
            <a:off x="311760" y="122400"/>
            <a:ext cx="8229240" cy="2952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1D1C1D"/>
                </a:solidFill>
                <a:latin typeface="Lato"/>
                <a:ea typeface="Lato"/>
                <a:cs typeface="Lato"/>
                <a:sym typeface="Lato"/>
              </a:rPr>
              <a:t>Service Definition</a:t>
            </a:r>
            <a:endParaRPr b="0" i="0" sz="2000" u="none" cap="none" strike="noStrike">
              <a:solidFill>
                <a:srgbClr val="000000"/>
              </a:solidFill>
              <a:latin typeface="Arial"/>
              <a:ea typeface="Arial"/>
              <a:cs typeface="Arial"/>
              <a:sym typeface="Arial"/>
            </a:endParaRPr>
          </a:p>
        </p:txBody>
      </p:sp>
      <p:sp>
        <p:nvSpPr>
          <p:cNvPr id="244" name="Google Shape;244;p54"/>
          <p:cNvSpPr txBox="1"/>
          <p:nvPr/>
        </p:nvSpPr>
        <p:spPr>
          <a:xfrm>
            <a:off x="605880" y="788760"/>
            <a:ext cx="7566480" cy="3400200"/>
          </a:xfrm>
          <a:prstGeom prst="rect">
            <a:avLst/>
          </a:prstGeom>
          <a:noFill/>
          <a:ln>
            <a:noFill/>
          </a:ln>
        </p:spPr>
        <p:txBody>
          <a:bodyPr anchorCtr="0" anchor="t" bIns="91425" lIns="91425" spcFirstLastPara="1" rIns="91425" wrap="square" tIns="91425">
            <a:normAutofit/>
          </a:bodyPr>
          <a:lstStyle/>
          <a:p>
            <a:pPr indent="0" lvl="0" marL="12240" marR="0" rtl="0" algn="l">
              <a:lnSpc>
                <a:spcPct val="100000"/>
              </a:lnSpc>
              <a:spcBef>
                <a:spcPts val="0"/>
              </a:spcBef>
              <a:spcAft>
                <a:spcPts val="0"/>
              </a:spcAft>
              <a:buNone/>
            </a:pPr>
            <a:r>
              <a:rPr b="0" i="0" lang="en-US" sz="1600" u="none" cap="none" strike="noStrike">
                <a:solidFill>
                  <a:srgbClr val="000000"/>
                </a:solidFill>
                <a:latin typeface="Comic Sans MS"/>
                <a:ea typeface="Comic Sans MS"/>
                <a:cs typeface="Comic Sans MS"/>
                <a:sym typeface="Comic Sans MS"/>
              </a:rPr>
              <a:t>Wikipedia:</a:t>
            </a:r>
            <a:endParaRPr b="0" i="0" sz="1600" u="none" cap="none" strike="noStrike">
              <a:solidFill>
                <a:srgbClr val="000000"/>
              </a:solidFill>
              <a:latin typeface="Arial"/>
              <a:ea typeface="Arial"/>
              <a:cs typeface="Arial"/>
              <a:sym typeface="Arial"/>
            </a:endParaRPr>
          </a:p>
          <a:p>
            <a:pPr indent="0" lvl="0" marL="12240" marR="0" rtl="0" algn="l">
              <a:lnSpc>
                <a:spcPct val="100000"/>
              </a:lnSpc>
              <a:spcBef>
                <a:spcPts val="425"/>
              </a:spcBef>
              <a:spcAft>
                <a:spcPts val="0"/>
              </a:spcAft>
              <a:buNone/>
            </a:pPr>
            <a:r>
              <a:rPr b="0" i="0" lang="en-US" sz="1600" u="none" cap="none" strike="noStrike">
                <a:solidFill>
                  <a:srgbClr val="000000"/>
                </a:solidFill>
                <a:latin typeface="Comic Sans MS"/>
                <a:ea typeface="Comic Sans MS"/>
                <a:cs typeface="Comic Sans MS"/>
                <a:sym typeface="Comic Sans MS"/>
              </a:rPr>
              <a:t>"Service Design is the activity of planning and organizing people, infrastructure, communication and material components of a service, in order to improve its quality, the interaction between service provider and customers and the customer's experience</a:t>
            </a:r>
            <a:endParaRPr b="0" i="0" sz="1600" u="none" cap="none" strike="noStrike">
              <a:solidFill>
                <a:srgbClr val="000000"/>
              </a:solidFill>
              <a:latin typeface="Arial"/>
              <a:ea typeface="Arial"/>
              <a:cs typeface="Arial"/>
              <a:sym typeface="Arial"/>
            </a:endParaRPr>
          </a:p>
          <a:p>
            <a:pPr indent="0" lvl="0" marL="12240" marR="0" rtl="0" algn="l">
              <a:lnSpc>
                <a:spcPct val="100000"/>
              </a:lnSpc>
              <a:spcBef>
                <a:spcPts val="425"/>
              </a:spcBef>
              <a:spcAft>
                <a:spcPts val="0"/>
              </a:spcAft>
              <a:buNone/>
            </a:pPr>
            <a:r>
              <a:t/>
            </a:r>
            <a:endParaRPr b="0" i="0" sz="1600" u="none" cap="none" strike="noStrike">
              <a:solidFill>
                <a:srgbClr val="000000"/>
              </a:solidFill>
              <a:latin typeface="Arial"/>
              <a:ea typeface="Arial"/>
              <a:cs typeface="Arial"/>
              <a:sym typeface="Arial"/>
            </a:endParaRPr>
          </a:p>
          <a:p>
            <a:pPr indent="0" lvl="0" marL="12240" marR="0" rtl="0" algn="l">
              <a:lnSpc>
                <a:spcPct val="100000"/>
              </a:lnSpc>
              <a:spcBef>
                <a:spcPts val="425"/>
              </a:spcBef>
              <a:spcAft>
                <a:spcPts val="0"/>
              </a:spcAft>
              <a:buNone/>
            </a:pPr>
            <a:r>
              <a:rPr b="0" i="0" lang="en-US" sz="1600" u="none" cap="none" strike="noStrike">
                <a:solidFill>
                  <a:srgbClr val="000000"/>
                </a:solidFill>
                <a:latin typeface="Comic Sans MS"/>
                <a:ea typeface="Comic Sans MS"/>
                <a:cs typeface="Comic Sans MS"/>
                <a:sym typeface="Comic Sans MS"/>
              </a:rPr>
              <a:t>- servicedesign.org</a:t>
            </a:r>
            <a:endParaRPr b="0" i="0" sz="1600" u="none" cap="none" strike="noStrike">
              <a:solidFill>
                <a:srgbClr val="000000"/>
              </a:solidFill>
              <a:latin typeface="Arial"/>
              <a:ea typeface="Arial"/>
              <a:cs typeface="Arial"/>
              <a:sym typeface="Arial"/>
            </a:endParaRPr>
          </a:p>
          <a:p>
            <a:pPr indent="0" lvl="0" marL="12240" marR="0" rtl="0" algn="l">
              <a:lnSpc>
                <a:spcPct val="100000"/>
              </a:lnSpc>
              <a:spcBef>
                <a:spcPts val="425"/>
              </a:spcBef>
              <a:spcAft>
                <a:spcPts val="0"/>
              </a:spcAft>
              <a:buNone/>
            </a:pPr>
            <a:r>
              <a:rPr b="0" i="0" lang="en-US" sz="1600" u="none" cap="none" strike="noStrike">
                <a:solidFill>
                  <a:srgbClr val="000000"/>
                </a:solidFill>
                <a:latin typeface="Comic Sans MS"/>
                <a:ea typeface="Comic Sans MS"/>
                <a:cs typeface="Comic Sans MS"/>
                <a:sym typeface="Comic Sans MS"/>
              </a:rPr>
              <a:t>"Design for experiences that reach people through many different touch-points, and that happen over time.</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55"/>
          <p:cNvSpPr txBox="1"/>
          <p:nvPr/>
        </p:nvSpPr>
        <p:spPr>
          <a:xfrm>
            <a:off x="311760" y="122400"/>
            <a:ext cx="8229240" cy="2952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What are Services?</a:t>
            </a:r>
            <a:endParaRPr b="0" i="0" sz="2000" u="none" cap="none" strike="noStrike">
              <a:solidFill>
                <a:srgbClr val="000000"/>
              </a:solidFill>
              <a:latin typeface="Arial"/>
              <a:ea typeface="Arial"/>
              <a:cs typeface="Arial"/>
              <a:sym typeface="Arial"/>
            </a:endParaRPr>
          </a:p>
        </p:txBody>
      </p:sp>
      <p:sp>
        <p:nvSpPr>
          <p:cNvPr id="250" name="Google Shape;250;p55"/>
          <p:cNvSpPr txBox="1"/>
          <p:nvPr/>
        </p:nvSpPr>
        <p:spPr>
          <a:xfrm>
            <a:off x="311760" y="599040"/>
            <a:ext cx="8520120" cy="3969360"/>
          </a:xfrm>
          <a:prstGeom prst="rect">
            <a:avLst/>
          </a:prstGeom>
          <a:noFill/>
          <a:ln>
            <a:noFill/>
          </a:ln>
        </p:spPr>
        <p:txBody>
          <a:bodyPr anchorCtr="0" anchor="t" bIns="91425" lIns="91425" spcFirstLastPara="1" rIns="91425" wrap="square" tIns="91425">
            <a:normAutofit/>
          </a:bodyPr>
          <a:lstStyle/>
          <a:p>
            <a:pPr indent="-342720" lvl="0" marL="4572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"Activities or events that form a service product through an interaction between the customer, any mediating technology, and representatives of the service organization.</a:t>
            </a:r>
            <a:endParaRPr b="0" i="0" sz="2000" u="none" cap="none" strike="noStrike">
              <a:solidFill>
                <a:srgbClr val="000000"/>
              </a:solidFill>
              <a:latin typeface="Arial"/>
              <a:ea typeface="Arial"/>
              <a:cs typeface="Arial"/>
              <a:sym typeface="Arial"/>
            </a:endParaRPr>
          </a:p>
          <a:p>
            <a:pPr indent="-342720" lvl="0" marL="457200" marR="0" rtl="0" algn="l">
              <a:lnSpc>
                <a:spcPct val="100000"/>
              </a:lnSpc>
              <a:spcBef>
                <a:spcPts val="1199"/>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Performances</a:t>
            </a:r>
            <a:endParaRPr b="0" i="0" sz="20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2000"/>
              <a:buFont typeface="Arial"/>
              <a:buChar char="○"/>
            </a:pPr>
            <a:r>
              <a:rPr b="0" i="0" lang="en-US" sz="2000" u="sng" cap="none" strike="noStrike">
                <a:solidFill>
                  <a:srgbClr val="000000"/>
                </a:solidFill>
                <a:latin typeface="Arial"/>
                <a:ea typeface="Arial"/>
                <a:cs typeface="Arial"/>
                <a:sym typeface="Arial"/>
              </a:rPr>
              <a:t>choreographed</a:t>
            </a:r>
            <a:r>
              <a:rPr b="0" i="0" lang="en-US" sz="2000" u="none" cap="none" strike="noStrike">
                <a:solidFill>
                  <a:srgbClr val="000000"/>
                </a:solidFill>
                <a:latin typeface="Arial"/>
                <a:ea typeface="Arial"/>
                <a:cs typeface="Arial"/>
                <a:sym typeface="Arial"/>
              </a:rPr>
              <a:t> interactions manufactured at the point of delivery and designed to meet people's expectations</a:t>
            </a:r>
            <a:endParaRPr b="0" i="0" sz="2000" u="none" cap="none" strike="noStrike">
              <a:solidFill>
                <a:srgbClr val="000000"/>
              </a:solidFill>
              <a:latin typeface="Arial"/>
              <a:ea typeface="Arial"/>
              <a:cs typeface="Arial"/>
              <a:sym typeface="Arial"/>
            </a:endParaRPr>
          </a:p>
          <a:p>
            <a:pPr indent="-342720" lvl="0" marL="457200" marR="0" rtl="0" algn="l">
              <a:lnSpc>
                <a:spcPct val="100000"/>
              </a:lnSpc>
              <a:spcBef>
                <a:spcPts val="1199"/>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Processes</a:t>
            </a:r>
            <a:endParaRPr b="0" i="0" sz="20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that that people see and experience and where they </a:t>
            </a:r>
            <a:r>
              <a:rPr b="0" i="0" lang="en-US" sz="2000" u="sng" cap="none" strike="noStrike">
                <a:solidFill>
                  <a:srgbClr val="000000"/>
                </a:solidFill>
                <a:latin typeface="Arial"/>
                <a:ea typeface="Arial"/>
                <a:cs typeface="Arial"/>
                <a:sym typeface="Arial"/>
              </a:rPr>
              <a:t>co-produce</a:t>
            </a:r>
            <a:r>
              <a:rPr b="0" i="0" lang="en-US" sz="2000" u="none" cap="none" strike="noStrike">
                <a:solidFill>
                  <a:srgbClr val="000000"/>
                </a:solidFill>
                <a:latin typeface="Arial"/>
                <a:ea typeface="Arial"/>
                <a:cs typeface="Arial"/>
                <a:sym typeface="Arial"/>
              </a:rPr>
              <a:t> value, utility, satisfaction, and delight."</a:t>
            </a:r>
            <a:endParaRPr b="0" i="0" sz="2000" u="none" cap="none" strike="noStrike">
              <a:solidFill>
                <a:srgbClr val="000000"/>
              </a:solidFill>
              <a:latin typeface="Arial"/>
              <a:ea typeface="Arial"/>
              <a:cs typeface="Arial"/>
              <a:sym typeface="Arial"/>
            </a:endParaRPr>
          </a:p>
        </p:txBody>
      </p:sp>
      <p:sp>
        <p:nvSpPr>
          <p:cNvPr id="251" name="Google Shape;251;p55"/>
          <p:cNvSpPr txBox="1"/>
          <p:nvPr/>
        </p:nvSpPr>
        <p:spPr>
          <a:xfrm>
            <a:off x="8603640" y="4661280"/>
            <a:ext cx="228240" cy="26532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000" u="none" cap="none" strike="noStrike">
                <a:solidFill>
                  <a:srgbClr val="000000"/>
                </a:solidFill>
                <a:latin typeface="Arial"/>
                <a:ea typeface="Arial"/>
                <a:cs typeface="Arial"/>
                <a:sym typeface="Arial"/>
              </a:rPr>
              <a:t>‹#›</a:t>
            </a:fld>
            <a:endParaRPr b="0" i="0" sz="1000" u="none" cap="none" strike="noStrike">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56"/>
          <p:cNvSpPr txBox="1"/>
          <p:nvPr/>
        </p:nvSpPr>
        <p:spPr>
          <a:xfrm>
            <a:off x="311760" y="122400"/>
            <a:ext cx="8229240" cy="2952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Services We Love…</a:t>
            </a:r>
            <a:endParaRPr b="0" i="0" sz="2000" u="none" cap="none" strike="noStrike">
              <a:solidFill>
                <a:srgbClr val="000000"/>
              </a:solidFill>
              <a:latin typeface="Arial"/>
              <a:ea typeface="Arial"/>
              <a:cs typeface="Arial"/>
              <a:sym typeface="Arial"/>
            </a:endParaRPr>
          </a:p>
        </p:txBody>
      </p:sp>
      <p:sp>
        <p:nvSpPr>
          <p:cNvPr id="257" name="Google Shape;257;p56"/>
          <p:cNvSpPr txBox="1"/>
          <p:nvPr/>
        </p:nvSpPr>
        <p:spPr>
          <a:xfrm>
            <a:off x="311760" y="599040"/>
            <a:ext cx="8520120" cy="3969360"/>
          </a:xfrm>
          <a:prstGeom prst="rect">
            <a:avLst/>
          </a:prstGeom>
          <a:noFill/>
          <a:ln>
            <a:noFill/>
          </a:ln>
        </p:spPr>
        <p:txBody>
          <a:bodyPr anchorCtr="0" anchor="t" bIns="91425" lIns="91425" spcFirstLastPara="1" rIns="91425" wrap="square" tIns="91425">
            <a:normAutofit/>
          </a:bodyPr>
          <a:lstStyle/>
          <a:p>
            <a:pPr indent="-342720" lvl="0" marL="4572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are consistent, resilient, and available</a:t>
            </a:r>
            <a:endParaRPr b="0" i="0" sz="2400" u="none" cap="none" strike="noStrike">
              <a:solidFill>
                <a:srgbClr val="000000"/>
              </a:solidFill>
              <a:latin typeface="Arial"/>
              <a:ea typeface="Arial"/>
              <a:cs typeface="Arial"/>
              <a:sym typeface="Arial"/>
            </a:endParaRPr>
          </a:p>
          <a:p>
            <a:pPr indent="-342720" lvl="0" marL="457200" marR="0" rtl="0" algn="l">
              <a:lnSpc>
                <a:spcPct val="100000"/>
              </a:lnSpc>
              <a:spcBef>
                <a:spcPts val="601"/>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are easy to find, easy to access, and easy to consume</a:t>
            </a:r>
            <a:endParaRPr b="0" i="0" sz="2400" u="none" cap="none" strike="noStrike">
              <a:solidFill>
                <a:srgbClr val="000000"/>
              </a:solidFill>
              <a:latin typeface="Arial"/>
              <a:ea typeface="Arial"/>
              <a:cs typeface="Arial"/>
              <a:sym typeface="Arial"/>
            </a:endParaRPr>
          </a:p>
          <a:p>
            <a:pPr indent="-342720" lvl="0" marL="457200" marR="0" rtl="0" algn="l">
              <a:lnSpc>
                <a:spcPct val="100000"/>
              </a:lnSpc>
              <a:spcBef>
                <a:spcPts val="601"/>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meet our functional &amp; emotional needs</a:t>
            </a:r>
            <a:endParaRPr b="0" i="0" sz="2400" u="none" cap="none" strike="noStrike">
              <a:solidFill>
                <a:srgbClr val="000000"/>
              </a:solidFill>
              <a:latin typeface="Arial"/>
              <a:ea typeface="Arial"/>
              <a:cs typeface="Arial"/>
              <a:sym typeface="Arial"/>
            </a:endParaRPr>
          </a:p>
          <a:p>
            <a:pPr indent="-342720" lvl="0" marL="457200" marR="0" rtl="0" algn="l">
              <a:lnSpc>
                <a:spcPct val="100000"/>
              </a:lnSpc>
              <a:spcBef>
                <a:spcPts val="601"/>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provide us with the right information, at the right time in the right way, with the right quality &amp; right protection </a:t>
            </a:r>
            <a:r>
              <a:rPr b="0" i="0" lang="en-US" sz="2400" u="none" cap="none" strike="noStrike">
                <a:solidFill>
                  <a:srgbClr val="C00000"/>
                </a:solidFill>
                <a:latin typeface="Arial"/>
                <a:ea typeface="Arial"/>
                <a:cs typeface="Arial"/>
                <a:sym typeface="Arial"/>
              </a:rPr>
              <a:t>*</a:t>
            </a:r>
            <a:endParaRPr b="0" i="0" sz="2400" u="none" cap="none" strike="noStrike">
              <a:solidFill>
                <a:srgbClr val="000000"/>
              </a:solidFill>
              <a:latin typeface="Arial"/>
              <a:ea typeface="Arial"/>
              <a:cs typeface="Arial"/>
              <a:sym typeface="Arial"/>
            </a:endParaRPr>
          </a:p>
          <a:p>
            <a:pPr indent="-342720" lvl="0" marL="457200" marR="0" rtl="0" algn="l">
              <a:lnSpc>
                <a:spcPct val="100000"/>
              </a:lnSpc>
              <a:spcBef>
                <a:spcPts val="601"/>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allow us to recover and resume when interruptions occur</a:t>
            </a:r>
            <a:endParaRPr b="0" i="0" sz="2400" u="none" cap="none" strike="noStrike">
              <a:solidFill>
                <a:srgbClr val="000000"/>
              </a:solidFill>
              <a:latin typeface="Arial"/>
              <a:ea typeface="Arial"/>
              <a:cs typeface="Arial"/>
              <a:sym typeface="Arial"/>
            </a:endParaRPr>
          </a:p>
          <a:p>
            <a:pPr indent="0" lvl="0" marL="114480" marR="0" rtl="0" algn="l">
              <a:lnSpc>
                <a:spcPct val="100000"/>
              </a:lnSpc>
              <a:spcBef>
                <a:spcPts val="601"/>
              </a:spcBef>
              <a:spcAft>
                <a:spcPts val="0"/>
              </a:spcAft>
              <a:buNone/>
            </a:pPr>
            <a:r>
              <a:t/>
            </a:r>
            <a:endParaRPr b="0" i="0" sz="2400" u="none" cap="none" strike="noStrike">
              <a:solidFill>
                <a:srgbClr val="000000"/>
              </a:solidFill>
              <a:latin typeface="Arial"/>
              <a:ea typeface="Arial"/>
              <a:cs typeface="Arial"/>
              <a:sym typeface="Arial"/>
            </a:endParaRPr>
          </a:p>
          <a:p>
            <a:pPr indent="0" lvl="0" marL="114480" marR="0" rtl="0" algn="ctr">
              <a:lnSpc>
                <a:spcPct val="100000"/>
              </a:lnSpc>
              <a:spcBef>
                <a:spcPts val="601"/>
              </a:spcBef>
              <a:spcAft>
                <a:spcPts val="0"/>
              </a:spcAft>
              <a:buNone/>
            </a:pPr>
            <a:r>
              <a:rPr b="1" i="0" lang="en-US" sz="1800" u="none" cap="none" strike="noStrike">
                <a:solidFill>
                  <a:srgbClr val="C00000"/>
                </a:solidFill>
                <a:latin typeface="Arial"/>
                <a:ea typeface="Arial"/>
                <a:cs typeface="Arial"/>
                <a:sym typeface="Arial"/>
              </a:rPr>
              <a:t>* 5 Rights for Outcome Driven Delivery</a:t>
            </a:r>
            <a:endParaRPr b="0" i="0" sz="1800" u="none" cap="none" strike="noStrike">
              <a:solidFill>
                <a:srgbClr val="000000"/>
              </a:solidFill>
              <a:latin typeface="Arial"/>
              <a:ea typeface="Arial"/>
              <a:cs typeface="Arial"/>
              <a:sym typeface="Arial"/>
            </a:endParaRPr>
          </a:p>
        </p:txBody>
      </p:sp>
      <p:sp>
        <p:nvSpPr>
          <p:cNvPr id="258" name="Google Shape;258;p56"/>
          <p:cNvSpPr txBox="1"/>
          <p:nvPr/>
        </p:nvSpPr>
        <p:spPr>
          <a:xfrm>
            <a:off x="8603640" y="4661280"/>
            <a:ext cx="228240" cy="26532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000" u="none" cap="none" strike="noStrike">
                <a:solidFill>
                  <a:srgbClr val="000000"/>
                </a:solidFill>
                <a:latin typeface="Arial"/>
                <a:ea typeface="Arial"/>
                <a:cs typeface="Arial"/>
                <a:sym typeface="Arial"/>
              </a:rPr>
              <a:t>‹#›</a:t>
            </a:fld>
            <a:endParaRPr b="0" i="0" sz="1000" u="none" cap="none" strike="noStrike">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57"/>
          <p:cNvSpPr txBox="1"/>
          <p:nvPr/>
        </p:nvSpPr>
        <p:spPr>
          <a:xfrm>
            <a:off x="311760" y="122400"/>
            <a:ext cx="8229240" cy="2952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Customer First</a:t>
            </a:r>
            <a:endParaRPr b="0" i="0" sz="2000" u="none" cap="none" strike="noStrike">
              <a:solidFill>
                <a:srgbClr val="000000"/>
              </a:solidFill>
              <a:latin typeface="Arial"/>
              <a:ea typeface="Arial"/>
              <a:cs typeface="Arial"/>
              <a:sym typeface="Arial"/>
            </a:endParaRPr>
          </a:p>
        </p:txBody>
      </p:sp>
      <p:sp>
        <p:nvSpPr>
          <p:cNvPr id="264" name="Google Shape;264;p57"/>
          <p:cNvSpPr txBox="1"/>
          <p:nvPr/>
        </p:nvSpPr>
        <p:spPr>
          <a:xfrm>
            <a:off x="311760" y="599040"/>
            <a:ext cx="8520120" cy="3969360"/>
          </a:xfrm>
          <a:prstGeom prst="rect">
            <a:avLst/>
          </a:prstGeom>
          <a:noFill/>
          <a:ln>
            <a:noFill/>
          </a:ln>
        </p:spPr>
        <p:txBody>
          <a:bodyPr anchorCtr="0" anchor="t" bIns="91425" lIns="91425" spcFirstLastPara="1" rIns="91425" wrap="square" tIns="91425">
            <a:normAutofit/>
          </a:bodyPr>
          <a:lstStyle/>
          <a:p>
            <a:pPr indent="0" lvl="0" marL="114480" marR="0" rtl="0" algn="l">
              <a:lnSpc>
                <a:spcPct val="100000"/>
              </a:lnSpc>
              <a:spcBef>
                <a:spcPts val="0"/>
              </a:spcBef>
              <a:spcAft>
                <a:spcPts val="0"/>
              </a:spcAft>
              <a:buNone/>
            </a:pPr>
            <a:r>
              <a:rPr b="0" i="1" lang="en-US" sz="2000" u="none" cap="none" strike="noStrike">
                <a:solidFill>
                  <a:srgbClr val="000000"/>
                </a:solidFill>
                <a:latin typeface="Arial"/>
                <a:ea typeface="Arial"/>
                <a:cs typeface="Arial"/>
                <a:sym typeface="Arial"/>
              </a:rPr>
              <a:t>"Twenty years ago, when asked what people looked for when making purchases, the most common response was 'quality of product. In 2004 the most common answer was 'honesty’.</a:t>
            </a:r>
            <a:endParaRPr b="0" i="0" sz="2000" u="none" cap="none" strike="noStrike">
              <a:solidFill>
                <a:srgbClr val="000000"/>
              </a:solidFill>
              <a:latin typeface="Arial"/>
              <a:ea typeface="Arial"/>
              <a:cs typeface="Arial"/>
              <a:sym typeface="Arial"/>
            </a:endParaRPr>
          </a:p>
          <a:p>
            <a:pPr indent="-228240" lvl="0" marL="45720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342720" lvl="0" marL="4572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Delivering a great product isn't enough..</a:t>
            </a:r>
            <a:endParaRPr b="0" i="0" sz="20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Service and support are a big deal</a:t>
            </a:r>
            <a:endParaRPr b="0" i="0" sz="2000" u="none" cap="none" strike="noStrike">
              <a:solidFill>
                <a:srgbClr val="000000"/>
              </a:solidFill>
              <a:latin typeface="Arial"/>
              <a:ea typeface="Arial"/>
              <a:cs typeface="Arial"/>
              <a:sym typeface="Arial"/>
            </a:endParaRPr>
          </a:p>
          <a:p>
            <a:pPr indent="-317160" lvl="2" marL="13716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(Comcast fail)</a:t>
            </a:r>
            <a:endParaRPr b="0" i="0" sz="20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A great experience can seriously outshine</a:t>
            </a:r>
            <a:endParaRPr b="0" i="0" sz="2000" u="none" cap="none" strike="noStrike">
              <a:solidFill>
                <a:srgbClr val="000000"/>
              </a:solidFill>
              <a:latin typeface="Arial"/>
              <a:ea typeface="Arial"/>
              <a:cs typeface="Arial"/>
              <a:sym typeface="Arial"/>
            </a:endParaRPr>
          </a:p>
          <a:p>
            <a:pPr indent="-317160" lvl="2" marL="13716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an ugly interface (Zappos win)</a:t>
            </a:r>
            <a:endParaRPr b="0" i="0" sz="2000" u="none" cap="none" strike="noStrike">
              <a:solidFill>
                <a:srgbClr val="000000"/>
              </a:solidFill>
              <a:latin typeface="Arial"/>
              <a:ea typeface="Arial"/>
              <a:cs typeface="Arial"/>
              <a:sym typeface="Arial"/>
            </a:endParaRPr>
          </a:p>
          <a:p>
            <a:pPr indent="-228240" lvl="0" marL="45720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342720" lvl="0" marL="4572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You certainly can't sell a crappy product and run.</a:t>
            </a:r>
            <a:endParaRPr b="0" i="0" sz="2000" u="none" cap="none" strike="noStrike">
              <a:solidFill>
                <a:srgbClr val="000000"/>
              </a:solidFill>
              <a:latin typeface="Arial"/>
              <a:ea typeface="Arial"/>
              <a:cs typeface="Arial"/>
              <a:sym typeface="Arial"/>
            </a:endParaRPr>
          </a:p>
        </p:txBody>
      </p:sp>
      <p:sp>
        <p:nvSpPr>
          <p:cNvPr id="265" name="Google Shape;265;p57"/>
          <p:cNvSpPr txBox="1"/>
          <p:nvPr/>
        </p:nvSpPr>
        <p:spPr>
          <a:xfrm>
            <a:off x="8603640" y="4661280"/>
            <a:ext cx="228240" cy="26532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000" u="none" cap="none" strike="noStrike">
                <a:solidFill>
                  <a:srgbClr val="000000"/>
                </a:solidFill>
                <a:latin typeface="Arial"/>
                <a:ea typeface="Arial"/>
                <a:cs typeface="Arial"/>
                <a:sym typeface="Arial"/>
              </a:rPr>
              <a:t>‹#›</a:t>
            </a:fld>
            <a:endParaRPr b="0" i="0" sz="1000" u="none" cap="none" strike="noStrike">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58"/>
          <p:cNvSpPr txBox="1"/>
          <p:nvPr/>
        </p:nvSpPr>
        <p:spPr>
          <a:xfrm>
            <a:off x="311760" y="122400"/>
            <a:ext cx="8229240" cy="2952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Outcome Driven Design &amp; Delivery</a:t>
            </a:r>
            <a:endParaRPr b="0" i="0" sz="2000" u="none" cap="none" strike="noStrike">
              <a:solidFill>
                <a:srgbClr val="000000"/>
              </a:solidFill>
              <a:latin typeface="Arial"/>
              <a:ea typeface="Arial"/>
              <a:cs typeface="Arial"/>
              <a:sym typeface="Arial"/>
            </a:endParaRPr>
          </a:p>
        </p:txBody>
      </p:sp>
      <p:sp>
        <p:nvSpPr>
          <p:cNvPr id="271" name="Google Shape;271;p58"/>
          <p:cNvSpPr txBox="1"/>
          <p:nvPr/>
        </p:nvSpPr>
        <p:spPr>
          <a:xfrm>
            <a:off x="311760" y="599040"/>
            <a:ext cx="8520120" cy="3969360"/>
          </a:xfrm>
          <a:prstGeom prst="rect">
            <a:avLst/>
          </a:prstGeom>
          <a:noFill/>
          <a:ln>
            <a:noFill/>
          </a:ln>
        </p:spPr>
        <p:txBody>
          <a:bodyPr anchorCtr="0" anchor="t" bIns="91425" lIns="91425" spcFirstLastPara="1" rIns="91425" wrap="square" tIns="91425">
            <a:normAutofit/>
          </a:bodyPr>
          <a:lstStyle/>
          <a:p>
            <a:pPr indent="-342720" lvl="0" marL="45720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This is a shift…</a:t>
            </a:r>
            <a:endParaRPr b="0" i="0" sz="1800" u="none" cap="none" strike="noStrike">
              <a:solidFill>
                <a:srgbClr val="000000"/>
              </a:solidFill>
              <a:latin typeface="Arial"/>
              <a:ea typeface="Arial"/>
              <a:cs typeface="Arial"/>
              <a:sym typeface="Arial"/>
            </a:endParaRPr>
          </a:p>
          <a:p>
            <a:pPr indent="-228240" lvl="0" marL="45720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342720" lvl="0" marL="45720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It's seriously customer-centered</a:t>
            </a:r>
            <a:endParaRPr b="0" i="0" sz="18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Customer-centered philosophy: When you create great experiences, conversions long term, loyal, multi-purchase conversions - will follow.</a:t>
            </a:r>
            <a:endParaRPr b="0" i="0" sz="18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Business-centered philosophy: Figure out how to design this thing to make the most people convert without pissing them off</a:t>
            </a:r>
            <a:endParaRPr b="0" i="0" sz="1800" u="none" cap="none" strike="noStrike">
              <a:solidFill>
                <a:srgbClr val="000000"/>
              </a:solidFill>
              <a:latin typeface="Arial"/>
              <a:ea typeface="Arial"/>
              <a:cs typeface="Arial"/>
              <a:sym typeface="Arial"/>
            </a:endParaRPr>
          </a:p>
          <a:p>
            <a:pPr indent="-228240" lvl="0" marL="45720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342720" lvl="0" marL="45720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Caution </a:t>
            </a:r>
            <a:endParaRPr b="0" i="0" sz="18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Avoid the temptation to provide service for the lowest cost and maximum profit. This can eat away at the fundamental purpose of service: to provide support and to help people live their lives to their full potential.</a:t>
            </a:r>
            <a:endParaRPr b="0" i="0" sz="1800" u="none" cap="none" strike="noStrike">
              <a:solidFill>
                <a:srgbClr val="000000"/>
              </a:solidFill>
              <a:latin typeface="Arial"/>
              <a:ea typeface="Arial"/>
              <a:cs typeface="Arial"/>
              <a:sym typeface="Arial"/>
            </a:endParaRPr>
          </a:p>
        </p:txBody>
      </p:sp>
      <p:sp>
        <p:nvSpPr>
          <p:cNvPr id="272" name="Google Shape;272;p58"/>
          <p:cNvSpPr txBox="1"/>
          <p:nvPr/>
        </p:nvSpPr>
        <p:spPr>
          <a:xfrm>
            <a:off x="8603640" y="4661280"/>
            <a:ext cx="228240" cy="26532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000" u="none" cap="none" strike="noStrike">
                <a:solidFill>
                  <a:srgbClr val="000000"/>
                </a:solidFill>
                <a:latin typeface="Arial"/>
                <a:ea typeface="Arial"/>
                <a:cs typeface="Arial"/>
                <a:sym typeface="Arial"/>
              </a:rPr>
              <a:t>‹#›</a:t>
            </a:fld>
            <a:endParaRPr b="0" i="0" sz="1000" u="none" cap="none" strike="noStrike">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59"/>
          <p:cNvSpPr txBox="1"/>
          <p:nvPr/>
        </p:nvSpPr>
        <p:spPr>
          <a:xfrm>
            <a:off x="311760" y="122400"/>
            <a:ext cx="8229240" cy="2952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Communities of Practice</a:t>
            </a:r>
            <a:endParaRPr b="0" i="0" sz="2000" u="none" cap="none" strike="noStrike">
              <a:solidFill>
                <a:srgbClr val="000000"/>
              </a:solidFill>
              <a:latin typeface="Arial"/>
              <a:ea typeface="Arial"/>
              <a:cs typeface="Arial"/>
              <a:sym typeface="Arial"/>
            </a:endParaRPr>
          </a:p>
        </p:txBody>
      </p:sp>
      <p:sp>
        <p:nvSpPr>
          <p:cNvPr id="278" name="Google Shape;278;p59"/>
          <p:cNvSpPr txBox="1"/>
          <p:nvPr/>
        </p:nvSpPr>
        <p:spPr>
          <a:xfrm>
            <a:off x="311760" y="599040"/>
            <a:ext cx="8520120" cy="3969360"/>
          </a:xfrm>
          <a:prstGeom prst="rect">
            <a:avLst/>
          </a:prstGeom>
          <a:noFill/>
          <a:ln>
            <a:noFill/>
          </a:ln>
        </p:spPr>
        <p:txBody>
          <a:bodyPr anchorCtr="0" anchor="t" bIns="91425" lIns="91425" spcFirstLastPara="1" rIns="91425" wrap="square" tIns="91425">
            <a:normAutofit/>
          </a:bodyPr>
          <a:lstStyle/>
          <a:p>
            <a:pPr indent="0" lvl="0" marL="114480" marR="0" rtl="0" algn="l">
              <a:lnSpc>
                <a:spcPct val="100000"/>
              </a:lnSpc>
              <a:spcBef>
                <a:spcPts val="0"/>
              </a:spcBef>
              <a:spcAft>
                <a:spcPts val="0"/>
              </a:spcAft>
              <a:buNone/>
            </a:pPr>
            <a:r>
              <a:rPr b="0" i="0" lang="en-US" sz="2400" u="none" cap="none" strike="noStrike">
                <a:solidFill>
                  <a:srgbClr val="000000"/>
                </a:solidFill>
                <a:latin typeface="Arial"/>
                <a:ea typeface="Arial"/>
                <a:cs typeface="Arial"/>
                <a:sym typeface="Arial"/>
              </a:rPr>
              <a:t>Communities rule!</a:t>
            </a:r>
            <a:endParaRPr b="0" i="0" sz="2400" u="none" cap="none" strike="noStrike">
              <a:solidFill>
                <a:srgbClr val="000000"/>
              </a:solidFill>
              <a:latin typeface="Arial"/>
              <a:ea typeface="Arial"/>
              <a:cs typeface="Arial"/>
              <a:sym typeface="Arial"/>
            </a:endParaRPr>
          </a:p>
          <a:p>
            <a:pPr indent="0" lvl="0" marL="114480" marR="0" rtl="0" algn="l">
              <a:lnSpc>
                <a:spcPct val="100000"/>
              </a:lnSpc>
              <a:spcBef>
                <a:spcPts val="0"/>
              </a:spcBef>
              <a:spcAft>
                <a:spcPts val="0"/>
              </a:spcAft>
              <a:buNone/>
            </a:pPr>
            <a:r>
              <a:t/>
            </a:r>
            <a:endParaRPr b="0" i="0" sz="2400" u="none" cap="none" strike="noStrike">
              <a:solidFill>
                <a:srgbClr val="000000"/>
              </a:solidFill>
              <a:latin typeface="Arial"/>
              <a:ea typeface="Arial"/>
              <a:cs typeface="Arial"/>
              <a:sym typeface="Arial"/>
            </a:endParaRPr>
          </a:p>
          <a:p>
            <a:pPr indent="-342720" lvl="0" marL="4572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The first stop for a purchase is often a review site</a:t>
            </a:r>
            <a:endParaRPr b="0" i="0" sz="2400" u="none" cap="none" strike="noStrike">
              <a:solidFill>
                <a:srgbClr val="000000"/>
              </a:solidFill>
              <a:latin typeface="Arial"/>
              <a:ea typeface="Arial"/>
              <a:cs typeface="Arial"/>
              <a:sym typeface="Arial"/>
            </a:endParaRPr>
          </a:p>
          <a:p>
            <a:pPr indent="-342720" lvl="0" marL="4572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Authority and credibility often rests with user communities</a:t>
            </a:r>
            <a:endParaRPr b="0" i="0" sz="2400" u="none" cap="none" strike="noStrike">
              <a:solidFill>
                <a:srgbClr val="000000"/>
              </a:solidFill>
              <a:latin typeface="Arial"/>
              <a:ea typeface="Arial"/>
              <a:cs typeface="Arial"/>
              <a:sym typeface="Arial"/>
            </a:endParaRPr>
          </a:p>
          <a:p>
            <a:pPr indent="-342720" lvl="0" marL="4572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People identify with a product based on who else has it</a:t>
            </a:r>
            <a:endParaRPr b="0" i="0" sz="2400" u="none" cap="none" strike="noStrike">
              <a:solidFill>
                <a:srgbClr val="000000"/>
              </a:solidFill>
              <a:latin typeface="Arial"/>
              <a:ea typeface="Arial"/>
              <a:cs typeface="Arial"/>
              <a:sym typeface="Arial"/>
            </a:endParaRPr>
          </a:p>
          <a:p>
            <a:pPr indent="-342720" lvl="0" marL="4572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Many products are only as good as they are extensible</a:t>
            </a:r>
            <a:endParaRPr b="0" i="0" sz="2400" u="none" cap="none" strike="noStrike">
              <a:solidFill>
                <a:srgbClr val="000000"/>
              </a:solidFill>
              <a:latin typeface="Arial"/>
              <a:ea typeface="Arial"/>
              <a:cs typeface="Arial"/>
              <a:sym typeface="Arial"/>
            </a:endParaRPr>
          </a:p>
        </p:txBody>
      </p:sp>
      <p:sp>
        <p:nvSpPr>
          <p:cNvPr id="279" name="Google Shape;279;p59"/>
          <p:cNvSpPr txBox="1"/>
          <p:nvPr/>
        </p:nvSpPr>
        <p:spPr>
          <a:xfrm>
            <a:off x="8603640" y="4661280"/>
            <a:ext cx="228240" cy="26532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000" u="none" cap="none" strike="noStrike">
                <a:solidFill>
                  <a:srgbClr val="000000"/>
                </a:solidFill>
                <a:latin typeface="Arial"/>
                <a:ea typeface="Arial"/>
                <a:cs typeface="Arial"/>
                <a:sym typeface="Arial"/>
              </a:rPr>
              <a:t>‹#›</a:t>
            </a:fld>
            <a:endParaRPr b="0" i="0" sz="1000" u="none" cap="none" strike="noStrike">
              <a:latin typeface="Times New Roman"/>
              <a:ea typeface="Times New Roman"/>
              <a:cs typeface="Times New Roman"/>
              <a:sym typeface="Times New Roman"/>
            </a:endParaRPr>
          </a:p>
        </p:txBody>
      </p:sp>
      <p:sp>
        <p:nvSpPr>
          <p:cNvPr id="280" name="Google Shape;280;p59"/>
          <p:cNvSpPr/>
          <p:nvPr/>
        </p:nvSpPr>
        <p:spPr>
          <a:xfrm>
            <a:off x="1329120" y="3423600"/>
            <a:ext cx="6194880" cy="579240"/>
          </a:xfrm>
          <a:prstGeom prst="rect">
            <a:avLst/>
          </a:prstGeom>
          <a:solidFill>
            <a:srgbClr val="FFFFFF"/>
          </a:solidFill>
          <a:ln cap="flat" cmpd="sng" w="28425">
            <a:solidFill>
              <a:srgbClr val="D8DA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Service Owners frequently use these words…</a:t>
            </a:r>
            <a:endParaRPr b="0" i="0" sz="1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88CE"/>
                </a:solidFill>
                <a:latin typeface="Arial"/>
                <a:ea typeface="Arial"/>
                <a:cs typeface="Arial"/>
                <a:sym typeface="Arial"/>
              </a:rPr>
              <a:t>Choreograph, Collaborate, Communicate, Co-Create, Coordinate</a:t>
            </a:r>
            <a:endParaRPr b="0" i="0" sz="1400" u="none" cap="none" strike="noStrike">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60"/>
          <p:cNvSpPr txBox="1"/>
          <p:nvPr/>
        </p:nvSpPr>
        <p:spPr>
          <a:xfrm>
            <a:off x="311760" y="122400"/>
            <a:ext cx="8229240" cy="2952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The Service Economy starts within EACH Organization</a:t>
            </a:r>
            <a:endParaRPr b="0" i="0" sz="2000" u="none" cap="none" strike="noStrike">
              <a:solidFill>
                <a:srgbClr val="000000"/>
              </a:solidFill>
              <a:latin typeface="Arial"/>
              <a:ea typeface="Arial"/>
              <a:cs typeface="Arial"/>
              <a:sym typeface="Arial"/>
            </a:endParaRPr>
          </a:p>
        </p:txBody>
      </p:sp>
      <p:sp>
        <p:nvSpPr>
          <p:cNvPr id="286" name="Google Shape;286;p60"/>
          <p:cNvSpPr txBox="1"/>
          <p:nvPr/>
        </p:nvSpPr>
        <p:spPr>
          <a:xfrm>
            <a:off x="311760" y="599040"/>
            <a:ext cx="8520120" cy="3969360"/>
          </a:xfrm>
          <a:prstGeom prst="rect">
            <a:avLst/>
          </a:prstGeom>
          <a:noFill/>
          <a:ln>
            <a:noFill/>
          </a:ln>
        </p:spPr>
        <p:txBody>
          <a:bodyPr anchorCtr="0" anchor="t" bIns="91425" lIns="91425" spcFirstLastPara="1" rIns="91425" wrap="square" tIns="91425">
            <a:normAutofit/>
          </a:bodyPr>
          <a:lstStyle/>
          <a:p>
            <a:pPr indent="-342720" lvl="0" marL="4572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Services constitute about 70% of most industrialized nations' GDP</a:t>
            </a:r>
            <a:endParaRPr b="0" i="0" sz="2000" u="none" cap="none" strike="noStrike">
              <a:solidFill>
                <a:srgbClr val="000000"/>
              </a:solidFill>
              <a:latin typeface="Arial"/>
              <a:ea typeface="Arial"/>
              <a:cs typeface="Arial"/>
              <a:sym typeface="Arial"/>
            </a:endParaRPr>
          </a:p>
          <a:p>
            <a:pPr indent="-228240" lvl="0" marL="45720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342720" lvl="0" marL="4572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In the US, private sector alone accounts for nearly 70% of our GDP. Add public sector, and it's closer to 80%</a:t>
            </a:r>
            <a:endParaRPr b="0" i="0" sz="20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"Services produced by private industry accounted for 67.8 percent of U.S. gross domestic product back in 2006.”</a:t>
            </a:r>
            <a:endParaRPr b="0" i="0" sz="2000" u="none" cap="none" strike="noStrike">
              <a:solidFill>
                <a:srgbClr val="000000"/>
              </a:solidFill>
              <a:latin typeface="Arial"/>
              <a:ea typeface="Arial"/>
              <a:cs typeface="Arial"/>
              <a:sym typeface="Arial"/>
            </a:endParaRPr>
          </a:p>
          <a:p>
            <a:pPr indent="-317160" lvl="2" marL="13716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=&gt; US Department of State</a:t>
            </a:r>
            <a:endParaRPr b="0" i="0" sz="2000" u="none" cap="none" strike="noStrike">
              <a:solidFill>
                <a:srgbClr val="000000"/>
              </a:solidFill>
              <a:latin typeface="Arial"/>
              <a:ea typeface="Arial"/>
              <a:cs typeface="Arial"/>
              <a:sym typeface="Arial"/>
            </a:endParaRPr>
          </a:p>
          <a:p>
            <a:pPr indent="-228240" lvl="0" marL="45720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342720" lvl="0" marL="4572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That’s a huge shift in thinking and planning…</a:t>
            </a:r>
            <a:endParaRPr b="0" i="0" sz="2000" u="none" cap="none" strike="noStrike">
              <a:solidFill>
                <a:srgbClr val="000000"/>
              </a:solidFill>
              <a:latin typeface="Arial"/>
              <a:ea typeface="Arial"/>
              <a:cs typeface="Arial"/>
              <a:sym typeface="Arial"/>
            </a:endParaRPr>
          </a:p>
        </p:txBody>
      </p:sp>
      <p:sp>
        <p:nvSpPr>
          <p:cNvPr id="287" name="Google Shape;287;p60"/>
          <p:cNvSpPr txBox="1"/>
          <p:nvPr/>
        </p:nvSpPr>
        <p:spPr>
          <a:xfrm>
            <a:off x="8603640" y="4661280"/>
            <a:ext cx="228240" cy="26532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000" u="none" cap="none" strike="noStrike">
                <a:solidFill>
                  <a:srgbClr val="000000"/>
                </a:solidFill>
                <a:latin typeface="Arial"/>
                <a:ea typeface="Arial"/>
                <a:cs typeface="Arial"/>
                <a:sym typeface="Arial"/>
              </a:rPr>
              <a:t>‹#›</a:t>
            </a:fld>
            <a:endParaRPr b="0" i="0" sz="1000" u="none" cap="none" strike="noStrike">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61"/>
          <p:cNvSpPr txBox="1"/>
          <p:nvPr/>
        </p:nvSpPr>
        <p:spPr>
          <a:xfrm>
            <a:off x="311760" y="122400"/>
            <a:ext cx="8229240" cy="2952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Accelerating Shift to Services</a:t>
            </a:r>
            <a:endParaRPr b="0" i="0" sz="2000" u="none" cap="none" strike="noStrike">
              <a:solidFill>
                <a:srgbClr val="000000"/>
              </a:solidFill>
              <a:latin typeface="Arial"/>
              <a:ea typeface="Arial"/>
              <a:cs typeface="Arial"/>
              <a:sym typeface="Arial"/>
            </a:endParaRPr>
          </a:p>
        </p:txBody>
      </p:sp>
      <p:sp>
        <p:nvSpPr>
          <p:cNvPr id="293" name="Google Shape;293;p61"/>
          <p:cNvSpPr txBox="1"/>
          <p:nvPr/>
        </p:nvSpPr>
        <p:spPr>
          <a:xfrm>
            <a:off x="311760" y="599040"/>
            <a:ext cx="8091000" cy="3969720"/>
          </a:xfrm>
          <a:prstGeom prst="rect">
            <a:avLst/>
          </a:prstGeom>
          <a:noFill/>
          <a:ln>
            <a:noFill/>
          </a:ln>
        </p:spPr>
        <p:txBody>
          <a:bodyPr anchorCtr="0" anchor="t" bIns="91425" lIns="91425" spcFirstLastPara="1" rIns="91425" wrap="square" tIns="91425">
            <a:normAutofit/>
          </a:bodyPr>
          <a:lstStyle/>
          <a:p>
            <a:pPr indent="-342720" lvl="0" marL="4572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With the digitalization of our economy and artificial ecosystems, new services are being introduced faster and in many cases at increasingly smaller sizes with greater precision. </a:t>
            </a:r>
            <a:endParaRPr b="0" i="0" sz="2000" u="none" cap="none" strike="noStrike">
              <a:solidFill>
                <a:srgbClr val="000000"/>
              </a:solidFill>
              <a:latin typeface="Arial"/>
              <a:ea typeface="Arial"/>
              <a:cs typeface="Arial"/>
              <a:sym typeface="Arial"/>
            </a:endParaRPr>
          </a:p>
          <a:p>
            <a:pPr indent="-342720" lvl="0" marL="457200" marR="0" rtl="0" algn="l">
              <a:lnSpc>
                <a:spcPct val="100000"/>
              </a:lnSpc>
              <a:spcBef>
                <a:spcPts val="1199"/>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Think IoT, I4.0 (Industry), Digital Twins, Smart Cities, Digital Ecosystems.</a:t>
            </a:r>
            <a:endParaRPr b="0" i="0" sz="2000" u="none" cap="none" strike="noStrike">
              <a:solidFill>
                <a:srgbClr val="000000"/>
              </a:solidFill>
              <a:latin typeface="Arial"/>
              <a:ea typeface="Arial"/>
              <a:cs typeface="Arial"/>
              <a:sym typeface="Arial"/>
            </a:endParaRPr>
          </a:p>
          <a:p>
            <a:pPr indent="-342720" lvl="0" marL="457200" marR="0" rtl="0" algn="l">
              <a:lnSpc>
                <a:spcPct val="100000"/>
              </a:lnSpc>
              <a:spcBef>
                <a:spcPts val="1199"/>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The pace of change and complexity is accelerating. The timeline to build and implement large systems is being displaced by smaller components and services that are interoperable and self-sustaining. </a:t>
            </a:r>
            <a:endParaRPr b="0" i="0" sz="2000" u="none" cap="none" strike="noStrike">
              <a:solidFill>
                <a:srgbClr val="000000"/>
              </a:solidFill>
              <a:latin typeface="Arial"/>
              <a:ea typeface="Arial"/>
              <a:cs typeface="Arial"/>
              <a:sym typeface="Arial"/>
            </a:endParaRPr>
          </a:p>
        </p:txBody>
      </p:sp>
      <p:sp>
        <p:nvSpPr>
          <p:cNvPr id="294" name="Google Shape;294;p61"/>
          <p:cNvSpPr txBox="1"/>
          <p:nvPr/>
        </p:nvSpPr>
        <p:spPr>
          <a:xfrm>
            <a:off x="8603640" y="4661280"/>
            <a:ext cx="228240" cy="26532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000" u="none" cap="none" strike="noStrike">
                <a:solidFill>
                  <a:srgbClr val="000000"/>
                </a:solidFill>
                <a:latin typeface="Arial"/>
                <a:ea typeface="Arial"/>
                <a:cs typeface="Arial"/>
                <a:sym typeface="Arial"/>
              </a:rPr>
              <a:t>‹#›</a:t>
            </a:fld>
            <a:endParaRPr b="0" i="0" sz="1000" u="none" cap="none" strike="noStrike">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62"/>
          <p:cNvSpPr txBox="1"/>
          <p:nvPr/>
        </p:nvSpPr>
        <p:spPr>
          <a:xfrm>
            <a:off x="311760" y="122400"/>
            <a:ext cx="8229240" cy="2952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And Yet</a:t>
            </a:r>
            <a:endParaRPr b="0" i="0" sz="2000" u="none" cap="none" strike="noStrike">
              <a:solidFill>
                <a:srgbClr val="000000"/>
              </a:solidFill>
              <a:latin typeface="Arial"/>
              <a:ea typeface="Arial"/>
              <a:cs typeface="Arial"/>
              <a:sym typeface="Arial"/>
            </a:endParaRPr>
          </a:p>
        </p:txBody>
      </p:sp>
      <p:sp>
        <p:nvSpPr>
          <p:cNvPr id="300" name="Google Shape;300;p62"/>
          <p:cNvSpPr txBox="1"/>
          <p:nvPr/>
        </p:nvSpPr>
        <p:spPr>
          <a:xfrm>
            <a:off x="311760" y="884880"/>
            <a:ext cx="8520120" cy="3683520"/>
          </a:xfrm>
          <a:prstGeom prst="rect">
            <a:avLst/>
          </a:prstGeom>
          <a:noFill/>
          <a:ln>
            <a:noFill/>
          </a:ln>
        </p:spPr>
        <p:txBody>
          <a:bodyPr anchorCtr="0" anchor="t" bIns="91425" lIns="91425" spcFirstLastPara="1" rIns="91425" wrap="square" tIns="91425">
            <a:normAutofit/>
          </a:bodyPr>
          <a:lstStyle/>
          <a:p>
            <a:pPr indent="-323640" lvl="0" marL="457200" marR="0" rtl="0" algn="l">
              <a:lnSpc>
                <a:spcPct val="80000"/>
              </a:lnSpc>
              <a:spcBef>
                <a:spcPts val="0"/>
              </a:spcBef>
              <a:spcAft>
                <a:spcPts val="0"/>
              </a:spcAft>
              <a:buClr>
                <a:srgbClr val="000000"/>
              </a:buClr>
              <a:buSzPts val="2480"/>
              <a:buFont typeface="Calibri"/>
              <a:buChar char="●"/>
            </a:pPr>
            <a:r>
              <a:rPr b="0" i="0" lang="en-US" sz="2480" u="none" cap="none" strike="noStrike">
                <a:solidFill>
                  <a:srgbClr val="000000"/>
                </a:solidFill>
                <a:latin typeface="Calibri"/>
                <a:ea typeface="Calibri"/>
                <a:cs typeface="Calibri"/>
                <a:sym typeface="Calibri"/>
              </a:rPr>
              <a:t>…</a:t>
            </a:r>
            <a:r>
              <a:rPr b="0" i="1" lang="en-US" sz="2480" u="none" cap="none" strike="noStrike">
                <a:solidFill>
                  <a:srgbClr val="000000"/>
                </a:solidFill>
                <a:latin typeface="Calibri"/>
                <a:ea typeface="Calibri"/>
                <a:cs typeface="Calibri"/>
                <a:sym typeface="Calibri"/>
              </a:rPr>
              <a:t>the shift to a service economy has not necessarily heralded a service revolution. Many of our interactions with organizations are characterized by profound frustration.. </a:t>
            </a:r>
            <a:endParaRPr b="0" i="0" sz="2480" u="none" cap="none" strike="noStrike">
              <a:solidFill>
                <a:srgbClr val="000000"/>
              </a:solidFill>
              <a:latin typeface="Arial"/>
              <a:ea typeface="Arial"/>
              <a:cs typeface="Arial"/>
              <a:sym typeface="Arial"/>
            </a:endParaRPr>
          </a:p>
          <a:p>
            <a:pPr indent="-228240" lvl="0" marL="457200" marR="0" rtl="0" algn="l">
              <a:lnSpc>
                <a:spcPct val="80000"/>
              </a:lnSpc>
              <a:spcBef>
                <a:spcPts val="0"/>
              </a:spcBef>
              <a:spcAft>
                <a:spcPts val="0"/>
              </a:spcAft>
              <a:buNone/>
            </a:pPr>
            <a:r>
              <a:t/>
            </a:r>
            <a:endParaRPr b="0" i="0" sz="2480" u="none" cap="none" strike="noStrike">
              <a:solidFill>
                <a:srgbClr val="000000"/>
              </a:solidFill>
              <a:latin typeface="Arial"/>
              <a:ea typeface="Arial"/>
              <a:cs typeface="Arial"/>
              <a:sym typeface="Arial"/>
            </a:endParaRPr>
          </a:p>
          <a:p>
            <a:pPr indent="-323640" lvl="0" marL="457200" marR="0" rtl="0" algn="l">
              <a:lnSpc>
                <a:spcPct val="80000"/>
              </a:lnSpc>
              <a:spcBef>
                <a:spcPts val="0"/>
              </a:spcBef>
              <a:spcAft>
                <a:spcPts val="0"/>
              </a:spcAft>
              <a:buClr>
                <a:srgbClr val="000000"/>
              </a:buClr>
              <a:buSzPts val="2480"/>
              <a:buFont typeface="Calibri"/>
              <a:buChar char="●"/>
            </a:pPr>
            <a:r>
              <a:rPr b="0" i="1" lang="en-US" sz="2480" u="none" cap="none" strike="noStrike">
                <a:solidFill>
                  <a:srgbClr val="000000"/>
                </a:solidFill>
                <a:latin typeface="Calibri"/>
                <a:ea typeface="Calibri"/>
                <a:cs typeface="Calibri"/>
                <a:sym typeface="Calibri"/>
              </a:rPr>
              <a:t>Too often it feels like 'producer interests' or profit incentives matter more than how we feel.</a:t>
            </a:r>
            <a:endParaRPr b="0" i="0" sz="2480" u="none" cap="none" strike="noStrike">
              <a:solidFill>
                <a:srgbClr val="000000"/>
              </a:solidFill>
              <a:latin typeface="Arial"/>
              <a:ea typeface="Arial"/>
              <a:cs typeface="Arial"/>
              <a:sym typeface="Arial"/>
            </a:endParaRPr>
          </a:p>
          <a:p>
            <a:pPr indent="-228240" lvl="0" marL="457200" marR="0" rtl="0" algn="l">
              <a:lnSpc>
                <a:spcPct val="80000"/>
              </a:lnSpc>
              <a:spcBef>
                <a:spcPts val="0"/>
              </a:spcBef>
              <a:spcAft>
                <a:spcPts val="0"/>
              </a:spcAft>
              <a:buNone/>
            </a:pPr>
            <a:r>
              <a:t/>
            </a:r>
            <a:endParaRPr b="0" i="0" sz="2480" u="none" cap="none" strike="noStrike">
              <a:solidFill>
                <a:srgbClr val="000000"/>
              </a:solidFill>
              <a:latin typeface="Arial"/>
              <a:ea typeface="Arial"/>
              <a:cs typeface="Arial"/>
              <a:sym typeface="Arial"/>
            </a:endParaRPr>
          </a:p>
          <a:p>
            <a:pPr indent="-228240" lvl="0" marL="457200" marR="0" rtl="0" algn="l">
              <a:lnSpc>
                <a:spcPct val="80000"/>
              </a:lnSpc>
              <a:spcBef>
                <a:spcPts val="0"/>
              </a:spcBef>
              <a:spcAft>
                <a:spcPts val="0"/>
              </a:spcAft>
              <a:buNone/>
            </a:pPr>
            <a:r>
              <a:t/>
            </a:r>
            <a:endParaRPr b="0" i="0" sz="2480" u="none" cap="none" strike="noStrike">
              <a:solidFill>
                <a:srgbClr val="000000"/>
              </a:solidFill>
              <a:latin typeface="Arial"/>
              <a:ea typeface="Arial"/>
              <a:cs typeface="Arial"/>
              <a:sym typeface="Arial"/>
            </a:endParaRPr>
          </a:p>
          <a:p>
            <a:pPr indent="457200" lvl="0" marL="914400" marR="0" rtl="0" algn="l">
              <a:lnSpc>
                <a:spcPct val="80000"/>
              </a:lnSpc>
              <a:spcBef>
                <a:spcPts val="0"/>
              </a:spcBef>
              <a:spcAft>
                <a:spcPts val="0"/>
              </a:spcAft>
              <a:buNone/>
            </a:pPr>
            <a:r>
              <a:rPr b="0" i="0" lang="en-US" sz="2660" u="none" cap="none" strike="noStrike">
                <a:solidFill>
                  <a:srgbClr val="000000"/>
                </a:solidFill>
                <a:latin typeface="Calibri"/>
                <a:ea typeface="Calibri"/>
                <a:cs typeface="Calibri"/>
                <a:sym typeface="Calibri"/>
              </a:rPr>
              <a:t>Enter Service Design</a:t>
            </a:r>
            <a:endParaRPr b="0" i="0" sz="2660" u="none" cap="none" strike="noStrike">
              <a:solidFill>
                <a:srgbClr val="000000"/>
              </a:solidFill>
              <a:latin typeface="Arial"/>
              <a:ea typeface="Arial"/>
              <a:cs typeface="Arial"/>
              <a:sym typeface="Arial"/>
            </a:endParaRPr>
          </a:p>
        </p:txBody>
      </p:sp>
      <p:sp>
        <p:nvSpPr>
          <p:cNvPr id="301" name="Google Shape;301;p62"/>
          <p:cNvSpPr txBox="1"/>
          <p:nvPr/>
        </p:nvSpPr>
        <p:spPr>
          <a:xfrm>
            <a:off x="8603640" y="4661280"/>
            <a:ext cx="228240" cy="26532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000" u="none" cap="none" strike="noStrike">
                <a:solidFill>
                  <a:srgbClr val="000000"/>
                </a:solidFill>
                <a:latin typeface="Arial"/>
                <a:ea typeface="Arial"/>
                <a:cs typeface="Arial"/>
                <a:sym typeface="Arial"/>
              </a:rPr>
              <a:t>‹#›</a:t>
            </a:fld>
            <a:endParaRPr b="0" i="0" sz="1000" u="none" cap="none" strike="noStrike">
              <a:latin typeface="Times New Roman"/>
              <a:ea typeface="Times New Roman"/>
              <a:cs typeface="Times New Roman"/>
              <a:sym typeface="Times New Roman"/>
            </a:endParaRPr>
          </a:p>
        </p:txBody>
      </p:sp>
      <p:sp>
        <p:nvSpPr>
          <p:cNvPr id="302" name="Google Shape;302;p62"/>
          <p:cNvSpPr/>
          <p:nvPr/>
        </p:nvSpPr>
        <p:spPr>
          <a:xfrm>
            <a:off x="697320" y="3422880"/>
            <a:ext cx="866880" cy="338040"/>
          </a:xfrm>
          <a:prstGeom prst="rightArrow">
            <a:avLst>
              <a:gd fmla="val 50000" name="adj1"/>
              <a:gd fmla="val 50000" name="adj2"/>
            </a:avLst>
          </a:prstGeom>
          <a:solidFill>
            <a:srgbClr val="CCC9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63"/>
          <p:cNvSpPr txBox="1"/>
          <p:nvPr/>
        </p:nvSpPr>
        <p:spPr>
          <a:xfrm>
            <a:off x="311760" y="122400"/>
            <a:ext cx="8229240" cy="2952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Service Design</a:t>
            </a:r>
            <a:endParaRPr b="0" i="0" sz="2000" u="none" cap="none" strike="noStrike">
              <a:solidFill>
                <a:srgbClr val="000000"/>
              </a:solidFill>
              <a:latin typeface="Arial"/>
              <a:ea typeface="Arial"/>
              <a:cs typeface="Arial"/>
              <a:sym typeface="Arial"/>
            </a:endParaRPr>
          </a:p>
        </p:txBody>
      </p:sp>
      <p:sp>
        <p:nvSpPr>
          <p:cNvPr id="308" name="Google Shape;308;p63"/>
          <p:cNvSpPr txBox="1"/>
          <p:nvPr/>
        </p:nvSpPr>
        <p:spPr>
          <a:xfrm>
            <a:off x="311760" y="599040"/>
            <a:ext cx="8520120" cy="3969360"/>
          </a:xfrm>
          <a:prstGeom prst="rect">
            <a:avLst/>
          </a:prstGeom>
          <a:noFill/>
          <a:ln>
            <a:noFill/>
          </a:ln>
        </p:spPr>
        <p:txBody>
          <a:bodyPr anchorCtr="0" anchor="t" bIns="91425" lIns="91425" spcFirstLastPara="1" rIns="91425" wrap="square" tIns="91425">
            <a:normAutofit/>
          </a:bodyPr>
          <a:lstStyle/>
          <a:p>
            <a:pPr indent="-342720" lvl="0" marL="457200" marR="0" rtl="0" algn="l">
              <a:lnSpc>
                <a:spcPct val="100000"/>
              </a:lnSpc>
              <a:spcBef>
                <a:spcPts val="0"/>
              </a:spcBef>
              <a:spcAft>
                <a:spcPts val="0"/>
              </a:spcAft>
              <a:buClr>
                <a:srgbClr val="000000"/>
              </a:buClr>
              <a:buSzPts val="1600"/>
              <a:buFont typeface="Arial"/>
              <a:buChar char="●"/>
            </a:pPr>
            <a:r>
              <a:rPr b="1" i="0" lang="en-US" sz="1600" u="none" cap="none" strike="noStrike">
                <a:solidFill>
                  <a:srgbClr val="000000"/>
                </a:solidFill>
                <a:latin typeface="Arial"/>
                <a:ea typeface="Arial"/>
                <a:cs typeface="Arial"/>
                <a:sym typeface="Arial"/>
              </a:rPr>
              <a:t>Is it new ?</a:t>
            </a:r>
            <a:endParaRPr b="0" i="0" sz="16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Yes and no</a:t>
            </a:r>
            <a:endParaRPr b="0" i="0" sz="1600" u="none" cap="none" strike="noStrike">
              <a:solidFill>
                <a:srgbClr val="000000"/>
              </a:solidFill>
              <a:latin typeface="Arial"/>
              <a:ea typeface="Arial"/>
              <a:cs typeface="Arial"/>
              <a:sym typeface="Arial"/>
            </a:endParaRPr>
          </a:p>
          <a:p>
            <a:pPr indent="-228240" lvl="0" marL="45720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p>
            <a:pPr indent="-342720" lvl="0" marL="457200" marR="0" rtl="0" algn="l">
              <a:lnSpc>
                <a:spcPct val="100000"/>
              </a:lnSpc>
              <a:spcBef>
                <a:spcPts val="0"/>
              </a:spcBef>
              <a:spcAft>
                <a:spcPts val="0"/>
              </a:spcAft>
              <a:buClr>
                <a:srgbClr val="000000"/>
              </a:buClr>
              <a:buSzPts val="1600"/>
              <a:buFont typeface="Arial"/>
              <a:buChar char="●"/>
            </a:pPr>
            <a:r>
              <a:rPr b="1" i="0" lang="en-US" sz="1600" u="none" cap="none" strike="noStrike">
                <a:solidFill>
                  <a:srgbClr val="000000"/>
                </a:solidFill>
                <a:latin typeface="Arial"/>
                <a:ea typeface="Arial"/>
                <a:cs typeface="Arial"/>
                <a:sym typeface="Arial"/>
              </a:rPr>
              <a:t>What’s Not new?</a:t>
            </a:r>
            <a:endParaRPr b="0" i="0" sz="16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Design thinking</a:t>
            </a:r>
            <a:endParaRPr b="0" i="0" sz="16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User-centered design</a:t>
            </a:r>
            <a:endParaRPr b="0" i="0" sz="16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Management consulting</a:t>
            </a:r>
            <a:endParaRPr b="0" i="0" sz="16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Queue management design</a:t>
            </a:r>
            <a:endParaRPr b="0" i="0" sz="16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Customer service training</a:t>
            </a:r>
            <a:endParaRPr b="0" i="0" sz="16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Merchandising</a:t>
            </a:r>
            <a:endParaRPr b="0" i="0" sz="1600" u="none" cap="none" strike="noStrike">
              <a:solidFill>
                <a:srgbClr val="000000"/>
              </a:solidFill>
              <a:latin typeface="Arial"/>
              <a:ea typeface="Arial"/>
              <a:cs typeface="Arial"/>
              <a:sym typeface="Arial"/>
            </a:endParaRPr>
          </a:p>
          <a:p>
            <a:pPr indent="0" lvl="0" marL="59688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p>
            <a:pPr indent="-342720" lvl="0" marL="457200" marR="0" rtl="0" algn="l">
              <a:lnSpc>
                <a:spcPct val="100000"/>
              </a:lnSpc>
              <a:spcBef>
                <a:spcPts val="0"/>
              </a:spcBef>
              <a:spcAft>
                <a:spcPts val="0"/>
              </a:spcAft>
              <a:buClr>
                <a:srgbClr val="000000"/>
              </a:buClr>
              <a:buSzPts val="1600"/>
              <a:buFont typeface="Arial"/>
              <a:buChar char="●"/>
            </a:pPr>
            <a:r>
              <a:rPr b="1" i="0" lang="en-US" sz="1600" u="none" cap="none" strike="noStrike">
                <a:solidFill>
                  <a:srgbClr val="000000"/>
                </a:solidFill>
                <a:latin typeface="Arial"/>
                <a:ea typeface="Arial"/>
                <a:cs typeface="Arial"/>
                <a:sym typeface="Arial"/>
              </a:rPr>
              <a:t>What’s New?</a:t>
            </a:r>
            <a:endParaRPr b="0" i="0" sz="16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Addressing an overall experience problem with user-centered design thinking</a:t>
            </a:r>
            <a:endParaRPr b="0" i="0" sz="16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instead of business thinking</a:t>
            </a:r>
            <a:endParaRPr b="0" i="0" sz="1600" u="none" cap="none" strike="noStrike">
              <a:solidFill>
                <a:srgbClr val="000000"/>
              </a:solidFill>
              <a:latin typeface="Arial"/>
              <a:ea typeface="Arial"/>
              <a:cs typeface="Arial"/>
              <a:sym typeface="Arial"/>
            </a:endParaRPr>
          </a:p>
        </p:txBody>
      </p:sp>
      <p:sp>
        <p:nvSpPr>
          <p:cNvPr id="309" name="Google Shape;309;p63"/>
          <p:cNvSpPr txBox="1"/>
          <p:nvPr/>
        </p:nvSpPr>
        <p:spPr>
          <a:xfrm>
            <a:off x="8603640" y="4661280"/>
            <a:ext cx="228240" cy="26532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000" u="none" cap="none" strike="noStrike">
                <a:solidFill>
                  <a:srgbClr val="000000"/>
                </a:solidFill>
                <a:latin typeface="Arial"/>
                <a:ea typeface="Arial"/>
                <a:cs typeface="Arial"/>
                <a:sym typeface="Arial"/>
              </a:rPr>
              <a:t>‹#›</a:t>
            </a:fld>
            <a:endParaRPr b="0" i="0" sz="1000" u="none" cap="none" strike="noStrike">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64"/>
          <p:cNvSpPr txBox="1"/>
          <p:nvPr/>
        </p:nvSpPr>
        <p:spPr>
          <a:xfrm>
            <a:off x="311760" y="122400"/>
            <a:ext cx="8229240" cy="2952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What’s involved in Service Design?</a:t>
            </a:r>
            <a:endParaRPr b="0" i="0" sz="2000" u="none" cap="none" strike="noStrike">
              <a:solidFill>
                <a:srgbClr val="000000"/>
              </a:solidFill>
              <a:latin typeface="Arial"/>
              <a:ea typeface="Arial"/>
              <a:cs typeface="Arial"/>
              <a:sym typeface="Arial"/>
            </a:endParaRPr>
          </a:p>
        </p:txBody>
      </p:sp>
      <p:sp>
        <p:nvSpPr>
          <p:cNvPr id="315" name="Google Shape;315;p64"/>
          <p:cNvSpPr txBox="1"/>
          <p:nvPr/>
        </p:nvSpPr>
        <p:spPr>
          <a:xfrm>
            <a:off x="311760" y="599040"/>
            <a:ext cx="8520120" cy="3969360"/>
          </a:xfrm>
          <a:prstGeom prst="rect">
            <a:avLst/>
          </a:prstGeom>
          <a:noFill/>
          <a:ln>
            <a:noFill/>
          </a:ln>
        </p:spPr>
        <p:txBody>
          <a:bodyPr anchorCtr="0" anchor="t" bIns="91425" lIns="91425" spcFirstLastPara="1" rIns="91425" wrap="square" tIns="91425">
            <a:normAutofit/>
          </a:bodyPr>
          <a:lstStyle/>
          <a:p>
            <a:pPr indent="-342720" lvl="0" marL="457200" marR="0" rtl="0" algn="l">
              <a:lnSpc>
                <a:spcPct val="100000"/>
              </a:lnSpc>
              <a:spcBef>
                <a:spcPts val="0"/>
              </a:spcBef>
              <a:spcAft>
                <a:spcPts val="0"/>
              </a:spcAft>
              <a:buClr>
                <a:srgbClr val="000000"/>
              </a:buClr>
              <a:buSzPts val="1600"/>
              <a:buFont typeface="Arial"/>
              <a:buChar char="●"/>
            </a:pPr>
            <a:r>
              <a:rPr b="1" i="0" lang="en-US" sz="1600" u="none" cap="none" strike="noStrike">
                <a:solidFill>
                  <a:srgbClr val="000000"/>
                </a:solidFill>
                <a:latin typeface="Arial"/>
                <a:ea typeface="Arial"/>
                <a:cs typeface="Arial"/>
                <a:sym typeface="Arial"/>
              </a:rPr>
              <a:t>People</a:t>
            </a:r>
            <a:endParaRPr b="0" i="0" sz="16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all the people directly or indirectly involved in the service delivery, from employees, and partners to other customers</a:t>
            </a:r>
            <a:endParaRPr b="0" i="0" sz="1600" u="none" cap="none" strike="noStrike">
              <a:solidFill>
                <a:srgbClr val="000000"/>
              </a:solidFill>
              <a:latin typeface="Arial"/>
              <a:ea typeface="Arial"/>
              <a:cs typeface="Arial"/>
              <a:sym typeface="Arial"/>
            </a:endParaRPr>
          </a:p>
          <a:p>
            <a:pPr indent="-342720" lvl="0" marL="457200" marR="0" rtl="0" algn="l">
              <a:lnSpc>
                <a:spcPct val="100000"/>
              </a:lnSpc>
              <a:spcBef>
                <a:spcPts val="0"/>
              </a:spcBef>
              <a:spcAft>
                <a:spcPts val="0"/>
              </a:spcAft>
              <a:buClr>
                <a:srgbClr val="000000"/>
              </a:buClr>
              <a:buSzPts val="1600"/>
              <a:buFont typeface="Arial"/>
              <a:buChar char="●"/>
            </a:pPr>
            <a:r>
              <a:rPr b="1" i="0" lang="en-US" sz="1600" u="none" cap="none" strike="noStrike">
                <a:solidFill>
                  <a:srgbClr val="000000"/>
                </a:solidFill>
                <a:latin typeface="Arial"/>
                <a:ea typeface="Arial"/>
                <a:cs typeface="Arial"/>
                <a:sym typeface="Arial"/>
              </a:rPr>
              <a:t>Product</a:t>
            </a:r>
            <a:endParaRPr b="0" i="0" sz="16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artifacts that facilitate interaction between the customer, any mediating technology, and representatives of the service organization (often referred to as service evidence)</a:t>
            </a:r>
            <a:endParaRPr b="0" i="0" sz="1600" u="none" cap="none" strike="noStrike">
              <a:solidFill>
                <a:srgbClr val="000000"/>
              </a:solidFill>
              <a:latin typeface="Arial"/>
              <a:ea typeface="Arial"/>
              <a:cs typeface="Arial"/>
              <a:sym typeface="Arial"/>
            </a:endParaRPr>
          </a:p>
          <a:p>
            <a:pPr indent="-342720" lvl="0" marL="457200" marR="0" rtl="0" algn="l">
              <a:lnSpc>
                <a:spcPct val="100000"/>
              </a:lnSpc>
              <a:spcBef>
                <a:spcPts val="0"/>
              </a:spcBef>
              <a:spcAft>
                <a:spcPts val="0"/>
              </a:spcAft>
              <a:buClr>
                <a:srgbClr val="000000"/>
              </a:buClr>
              <a:buSzPts val="1600"/>
              <a:buFont typeface="Arial"/>
              <a:buChar char="●"/>
            </a:pPr>
            <a:r>
              <a:rPr b="1" i="0" lang="en-US" sz="1600" u="none" cap="none" strike="noStrike">
                <a:solidFill>
                  <a:srgbClr val="000000"/>
                </a:solidFill>
                <a:latin typeface="Arial"/>
                <a:ea typeface="Arial"/>
                <a:cs typeface="Arial"/>
                <a:sym typeface="Arial"/>
              </a:rPr>
              <a:t>Place</a:t>
            </a:r>
            <a:endParaRPr b="0" i="0" sz="16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the settings for the service delivery-either physical or virtual, synchronous or asynchronous</a:t>
            </a:r>
            <a:endParaRPr b="0" i="0" sz="1600" u="none" cap="none" strike="noStrike">
              <a:solidFill>
                <a:srgbClr val="000000"/>
              </a:solidFill>
              <a:latin typeface="Arial"/>
              <a:ea typeface="Arial"/>
              <a:cs typeface="Arial"/>
              <a:sym typeface="Arial"/>
            </a:endParaRPr>
          </a:p>
          <a:p>
            <a:pPr indent="-342720" lvl="0" marL="457200" marR="0" rtl="0" algn="l">
              <a:lnSpc>
                <a:spcPct val="100000"/>
              </a:lnSpc>
              <a:spcBef>
                <a:spcPts val="0"/>
              </a:spcBef>
              <a:spcAft>
                <a:spcPts val="0"/>
              </a:spcAft>
              <a:buClr>
                <a:srgbClr val="000000"/>
              </a:buClr>
              <a:buSzPts val="1600"/>
              <a:buFont typeface="Arial"/>
              <a:buChar char="●"/>
            </a:pPr>
            <a:r>
              <a:rPr b="1" i="0" lang="en-US" sz="1600" u="none" cap="none" strike="noStrike">
                <a:solidFill>
                  <a:srgbClr val="000000"/>
                </a:solidFill>
                <a:latin typeface="Arial"/>
                <a:ea typeface="Arial"/>
                <a:cs typeface="Arial"/>
                <a:sym typeface="Arial"/>
              </a:rPr>
              <a:t>Process</a:t>
            </a:r>
            <a:endParaRPr b="0" i="0" sz="16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procedure, mechanisms, and flow of activities by which the services are experienced over time</a:t>
            </a:r>
            <a:endParaRPr b="0" i="0" sz="1600" u="none" cap="none" strike="noStrike">
              <a:solidFill>
                <a:srgbClr val="000000"/>
              </a:solidFill>
              <a:latin typeface="Arial"/>
              <a:ea typeface="Arial"/>
              <a:cs typeface="Arial"/>
              <a:sym typeface="Arial"/>
            </a:endParaRPr>
          </a:p>
          <a:p>
            <a:pPr indent="-342720" lvl="0" marL="457200" marR="0" rtl="0" algn="l">
              <a:lnSpc>
                <a:spcPct val="100000"/>
              </a:lnSpc>
              <a:spcBef>
                <a:spcPts val="0"/>
              </a:spcBef>
              <a:spcAft>
                <a:spcPts val="0"/>
              </a:spcAft>
              <a:buClr>
                <a:srgbClr val="000000"/>
              </a:buClr>
              <a:buSzPts val="1600"/>
              <a:buFont typeface="Arial"/>
              <a:buChar char="●"/>
            </a:pPr>
            <a:r>
              <a:rPr b="1" i="0" lang="en-US" sz="1600" u="none" cap="none" strike="noStrike">
                <a:solidFill>
                  <a:srgbClr val="000000"/>
                </a:solidFill>
                <a:latin typeface="Arial"/>
                <a:ea typeface="Arial"/>
                <a:cs typeface="Arial"/>
                <a:sym typeface="Arial"/>
              </a:rPr>
              <a:t>Performance</a:t>
            </a:r>
            <a:endParaRPr b="0" i="0" sz="16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transformation and interaction among people and machines (associated with both the customers and the firm) to achieve synergy in value creation and perception of quality (after Lovelock and Wright)"</a:t>
            </a:r>
            <a:endParaRPr b="0" i="0" sz="1600" u="none" cap="none" strike="noStrike">
              <a:solidFill>
                <a:srgbClr val="000000"/>
              </a:solidFill>
              <a:latin typeface="Arial"/>
              <a:ea typeface="Arial"/>
              <a:cs typeface="Arial"/>
              <a:sym typeface="Arial"/>
            </a:endParaRPr>
          </a:p>
        </p:txBody>
      </p:sp>
      <p:sp>
        <p:nvSpPr>
          <p:cNvPr id="316" name="Google Shape;316;p64"/>
          <p:cNvSpPr txBox="1"/>
          <p:nvPr/>
        </p:nvSpPr>
        <p:spPr>
          <a:xfrm>
            <a:off x="8603640" y="4661280"/>
            <a:ext cx="228240" cy="26532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000" u="none" cap="none" strike="noStrike">
                <a:solidFill>
                  <a:srgbClr val="000000"/>
                </a:solidFill>
                <a:latin typeface="Arial"/>
                <a:ea typeface="Arial"/>
                <a:cs typeface="Arial"/>
                <a:sym typeface="Arial"/>
              </a:rPr>
              <a:t>‹#›</a:t>
            </a:fld>
            <a:endParaRPr b="0" i="0" sz="1000" u="none" cap="none" strike="noStrike">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65"/>
          <p:cNvSpPr txBox="1"/>
          <p:nvPr/>
        </p:nvSpPr>
        <p:spPr>
          <a:xfrm>
            <a:off x="311760" y="122400"/>
            <a:ext cx="8229240" cy="2952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Defining a Service</a:t>
            </a:r>
            <a:endParaRPr b="0" i="0" sz="2000" u="none" cap="none" strike="noStrike">
              <a:solidFill>
                <a:srgbClr val="000000"/>
              </a:solidFill>
              <a:latin typeface="Arial"/>
              <a:ea typeface="Arial"/>
              <a:cs typeface="Arial"/>
              <a:sym typeface="Arial"/>
            </a:endParaRPr>
          </a:p>
        </p:txBody>
      </p:sp>
      <p:sp>
        <p:nvSpPr>
          <p:cNvPr id="322" name="Google Shape;322;p65"/>
          <p:cNvSpPr txBox="1"/>
          <p:nvPr/>
        </p:nvSpPr>
        <p:spPr>
          <a:xfrm>
            <a:off x="311760" y="599040"/>
            <a:ext cx="8520120" cy="3969360"/>
          </a:xfrm>
          <a:prstGeom prst="rect">
            <a:avLst/>
          </a:prstGeom>
          <a:noFill/>
          <a:ln>
            <a:noFill/>
          </a:ln>
        </p:spPr>
        <p:txBody>
          <a:bodyPr anchorCtr="0" anchor="t" bIns="91425" lIns="91425" spcFirstLastPara="1" rIns="91425" wrap="square" tIns="91425">
            <a:normAutofit/>
          </a:bodyPr>
          <a:lstStyle/>
          <a:p>
            <a:pPr indent="-329760" lvl="0" marL="457200" marR="0" rtl="0" algn="l">
              <a:lnSpc>
                <a:spcPct val="100000"/>
              </a:lnSpc>
              <a:spcBef>
                <a:spcPts val="0"/>
              </a:spcBef>
              <a:spcAft>
                <a:spcPts val="0"/>
              </a:spcAft>
              <a:buClr>
                <a:srgbClr val="000000"/>
              </a:buClr>
              <a:buSzPts val="1600"/>
              <a:buFont typeface="Arial"/>
              <a:buChar char="●"/>
            </a:pPr>
            <a:r>
              <a:rPr b="1" i="0" lang="en-US" sz="1600" u="none" cap="none" strike="noStrike">
                <a:solidFill>
                  <a:srgbClr val="000000"/>
                </a:solidFill>
                <a:latin typeface="Arial"/>
                <a:ea typeface="Arial"/>
                <a:cs typeface="Arial"/>
                <a:sym typeface="Arial"/>
              </a:rPr>
              <a:t>Service Framework</a:t>
            </a:r>
            <a:endParaRPr b="0" i="0" sz="16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Customer First (DT)</a:t>
            </a:r>
            <a:endParaRPr b="0" i="0" sz="14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Inputs – Process – Outputs</a:t>
            </a:r>
            <a:endParaRPr b="0" i="0" sz="14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Lifecycle Management &amp; Operations Management</a:t>
            </a:r>
            <a:endParaRPr b="0" i="0" sz="14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Monitor – Measure – Manage (SLAs)</a:t>
            </a:r>
            <a:endParaRPr b="0" i="0" sz="14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Processes may be supported by automation (systems, services, or tools)</a:t>
            </a:r>
            <a:endParaRPr b="0" i="0" sz="1400" u="none" cap="none" strike="noStrike">
              <a:solidFill>
                <a:srgbClr val="000000"/>
              </a:solidFill>
              <a:latin typeface="Arial"/>
              <a:ea typeface="Arial"/>
              <a:cs typeface="Arial"/>
              <a:sym typeface="Arial"/>
            </a:endParaRPr>
          </a:p>
          <a:p>
            <a:pPr indent="-329760" lvl="0" marL="457200" marR="0" rtl="0" algn="l">
              <a:lnSpc>
                <a:spcPct val="100000"/>
              </a:lnSpc>
              <a:spcBef>
                <a:spcPts val="1001"/>
              </a:spcBef>
              <a:spcAft>
                <a:spcPts val="0"/>
              </a:spcAft>
              <a:buClr>
                <a:srgbClr val="000000"/>
              </a:buClr>
              <a:buSzPts val="1600"/>
              <a:buFont typeface="Arial"/>
              <a:buChar char="●"/>
            </a:pPr>
            <a:r>
              <a:rPr b="1" i="0" lang="en-US" sz="1600" u="none" cap="none" strike="noStrike">
                <a:solidFill>
                  <a:srgbClr val="000000"/>
                </a:solidFill>
                <a:latin typeface="Arial"/>
                <a:ea typeface="Arial"/>
                <a:cs typeface="Arial"/>
                <a:sym typeface="Arial"/>
              </a:rPr>
              <a:t>Service Ecosystem</a:t>
            </a:r>
            <a:endParaRPr b="0" i="0" sz="16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Mini-Supply Chain</a:t>
            </a:r>
            <a:endParaRPr b="0" i="0" sz="14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Fits within one or more Value Chains </a:t>
            </a:r>
            <a:endParaRPr b="0" i="0" sz="14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”Your Service is part of a larger Community of Services”</a:t>
            </a:r>
            <a:endParaRPr b="0" i="0" sz="1400" u="none" cap="none" strike="noStrike">
              <a:solidFill>
                <a:srgbClr val="000000"/>
              </a:solidFill>
              <a:latin typeface="Arial"/>
              <a:ea typeface="Arial"/>
              <a:cs typeface="Arial"/>
              <a:sym typeface="Arial"/>
            </a:endParaRPr>
          </a:p>
          <a:p>
            <a:pPr indent="-329760" lvl="0" marL="457200" marR="0" rtl="0" algn="l">
              <a:lnSpc>
                <a:spcPct val="100000"/>
              </a:lnSpc>
              <a:spcBef>
                <a:spcPts val="1001"/>
              </a:spcBef>
              <a:spcAft>
                <a:spcPts val="0"/>
              </a:spcAft>
              <a:buClr>
                <a:srgbClr val="000000"/>
              </a:buClr>
              <a:buSzPts val="1600"/>
              <a:buFont typeface="Arial"/>
              <a:buChar char="●"/>
            </a:pPr>
            <a:r>
              <a:rPr b="1" i="0" lang="en-US" sz="1600" u="none" cap="none" strike="noStrike">
                <a:solidFill>
                  <a:srgbClr val="000000"/>
                </a:solidFill>
                <a:latin typeface="Arial"/>
                <a:ea typeface="Arial"/>
                <a:cs typeface="Arial"/>
                <a:sym typeface="Arial"/>
              </a:rPr>
              <a:t>Service Relationships</a:t>
            </a:r>
            <a:endParaRPr b="0" i="0" sz="16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Partners</a:t>
            </a:r>
            <a:endParaRPr b="0" i="0" sz="14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Providers</a:t>
            </a:r>
            <a:endParaRPr b="0" i="0" sz="14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Consumers</a:t>
            </a:r>
            <a:endParaRPr b="0" i="0" sz="1400" u="none" cap="none" strike="noStrike">
              <a:solidFill>
                <a:srgbClr val="000000"/>
              </a:solidFill>
              <a:latin typeface="Arial"/>
              <a:ea typeface="Arial"/>
              <a:cs typeface="Arial"/>
              <a:sym typeface="Arial"/>
            </a:endParaRPr>
          </a:p>
          <a:p>
            <a:pPr indent="-329760" lvl="0" marL="457200" marR="0" rtl="0" algn="l">
              <a:lnSpc>
                <a:spcPct val="100000"/>
              </a:lnSpc>
              <a:spcBef>
                <a:spcPts val="1001"/>
              </a:spcBef>
              <a:spcAft>
                <a:spcPts val="0"/>
              </a:spcAft>
              <a:buClr>
                <a:srgbClr val="000000"/>
              </a:buClr>
              <a:buSzPts val="1600"/>
              <a:buFont typeface="Arial"/>
              <a:buChar char="●"/>
            </a:pPr>
            <a:r>
              <a:rPr b="1" i="0" lang="en-US" sz="1600" u="none" cap="none" strike="noStrike">
                <a:solidFill>
                  <a:srgbClr val="000000"/>
                </a:solidFill>
                <a:latin typeface="Arial"/>
                <a:ea typeface="Arial"/>
                <a:cs typeface="Arial"/>
                <a:sym typeface="Arial"/>
              </a:rPr>
              <a:t>Service Territory map</a:t>
            </a:r>
            <a:endParaRPr b="0" i="0" sz="1600" u="none" cap="none" strike="noStrike">
              <a:solidFill>
                <a:srgbClr val="000000"/>
              </a:solidFill>
              <a:latin typeface="Arial"/>
              <a:ea typeface="Arial"/>
              <a:cs typeface="Arial"/>
              <a:sym typeface="Arial"/>
            </a:endParaRPr>
          </a:p>
          <a:p>
            <a:pPr indent="-317160" lvl="1" marL="9144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Boundaries and Interfaces to</a:t>
            </a:r>
            <a:endParaRPr b="0" i="0" sz="1400" u="none" cap="none" strike="noStrike">
              <a:solidFill>
                <a:srgbClr val="000000"/>
              </a:solidFill>
              <a:latin typeface="Arial"/>
              <a:ea typeface="Arial"/>
              <a:cs typeface="Arial"/>
              <a:sym typeface="Arial"/>
            </a:endParaRPr>
          </a:p>
          <a:p>
            <a:pPr indent="-317160" lvl="2" marL="13716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Process Integration – handoffs to other Service Owners</a:t>
            </a:r>
            <a:endParaRPr b="0" i="0" sz="1400" u="none" cap="none" strike="noStrike">
              <a:solidFill>
                <a:srgbClr val="000000"/>
              </a:solidFill>
              <a:latin typeface="Arial"/>
              <a:ea typeface="Arial"/>
              <a:cs typeface="Arial"/>
              <a:sym typeface="Arial"/>
            </a:endParaRPr>
          </a:p>
          <a:p>
            <a:pPr indent="-317160" lvl="2" marL="13716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Data Integration – between Systems and/or Tools</a:t>
            </a:r>
            <a:endParaRPr b="0" i="0" sz="1400" u="none" cap="none" strike="noStrike">
              <a:solidFill>
                <a:srgbClr val="000000"/>
              </a:solidFill>
              <a:latin typeface="Arial"/>
              <a:ea typeface="Arial"/>
              <a:cs typeface="Arial"/>
              <a:sym typeface="Arial"/>
            </a:endParaRPr>
          </a:p>
        </p:txBody>
      </p:sp>
      <p:sp>
        <p:nvSpPr>
          <p:cNvPr id="323" name="Google Shape;323;p65"/>
          <p:cNvSpPr txBox="1"/>
          <p:nvPr/>
        </p:nvSpPr>
        <p:spPr>
          <a:xfrm>
            <a:off x="8603640" y="4661280"/>
            <a:ext cx="228240" cy="26532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000" u="none" cap="none" strike="noStrike">
                <a:solidFill>
                  <a:srgbClr val="000000"/>
                </a:solidFill>
                <a:latin typeface="Arial"/>
                <a:ea typeface="Arial"/>
                <a:cs typeface="Arial"/>
                <a:sym typeface="Arial"/>
              </a:rPr>
              <a:t>‹#›</a:t>
            </a:fld>
            <a:endParaRPr b="0" i="0" sz="1000" u="none" cap="none" strike="noStrike">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66"/>
          <p:cNvSpPr txBox="1"/>
          <p:nvPr/>
        </p:nvSpPr>
        <p:spPr>
          <a:xfrm>
            <a:off x="457200" y="133560"/>
            <a:ext cx="6171840" cy="22140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lang="en-US" sz="2400" strike="noStrike">
                <a:solidFill>
                  <a:srgbClr val="000000"/>
                </a:solidFill>
                <a:latin typeface="Arial"/>
                <a:ea typeface="Arial"/>
                <a:cs typeface="Arial"/>
                <a:sym typeface="Arial"/>
              </a:rPr>
              <a:t>Service Design:  “Mini-Supply Chain”</a:t>
            </a:r>
            <a:endParaRPr b="0" sz="2400" strike="noStrike">
              <a:solidFill>
                <a:srgbClr val="000000"/>
              </a:solidFill>
              <a:latin typeface="Arial"/>
              <a:ea typeface="Arial"/>
              <a:cs typeface="Arial"/>
              <a:sym typeface="Arial"/>
            </a:endParaRPr>
          </a:p>
        </p:txBody>
      </p:sp>
      <p:sp>
        <p:nvSpPr>
          <p:cNvPr id="330" name="Google Shape;330;p66"/>
          <p:cNvSpPr/>
          <p:nvPr/>
        </p:nvSpPr>
        <p:spPr>
          <a:xfrm>
            <a:off x="5796720" y="601920"/>
            <a:ext cx="2880000" cy="2122920"/>
          </a:xfrm>
          <a:prstGeom prst="rect">
            <a:avLst/>
          </a:prstGeom>
          <a:solidFill>
            <a:srgbClr val="FFFFFF"/>
          </a:solidFill>
          <a:ln cap="flat" cmpd="sng" w="25550">
            <a:solidFill>
              <a:srgbClr val="000000"/>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l">
              <a:lnSpc>
                <a:spcPct val="200000"/>
              </a:lnSpc>
              <a:spcBef>
                <a:spcPts val="0"/>
              </a:spcBef>
              <a:spcAft>
                <a:spcPts val="0"/>
              </a:spcAft>
              <a:buNone/>
            </a:pPr>
            <a:r>
              <a:rPr b="1" lang="en-US" sz="1200" strike="noStrike">
                <a:solidFill>
                  <a:srgbClr val="000000"/>
                </a:solidFill>
                <a:latin typeface="Arial"/>
                <a:ea typeface="Arial"/>
                <a:cs typeface="Arial"/>
                <a:sym typeface="Arial"/>
              </a:rPr>
              <a:t>A Service (Business, Functional, Technical):</a:t>
            </a:r>
            <a:endParaRPr b="0" sz="1200" strike="noStrike">
              <a:latin typeface="Arial"/>
              <a:ea typeface="Arial"/>
              <a:cs typeface="Arial"/>
              <a:sym typeface="Arial"/>
            </a:endParaRPr>
          </a:p>
          <a:p>
            <a:pPr indent="-141840" lvl="1" marL="177840" marR="0" rtl="0" algn="l">
              <a:lnSpc>
                <a:spcPct val="100000"/>
              </a:lnSpc>
              <a:spcBef>
                <a:spcPts val="0"/>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Capabilities are enabled by one or more services</a:t>
            </a:r>
            <a:endParaRPr b="0" i="0" sz="1200" u="none" cap="none" strike="noStrike">
              <a:latin typeface="Arial"/>
              <a:ea typeface="Arial"/>
              <a:cs typeface="Arial"/>
              <a:sym typeface="Arial"/>
            </a:endParaRPr>
          </a:p>
          <a:p>
            <a:pPr indent="-141840" lvl="1" marL="177840" marR="0" rtl="0" algn="l">
              <a:lnSpc>
                <a:spcPct val="100000"/>
              </a:lnSpc>
              <a:spcBef>
                <a:spcPts val="601"/>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Each service is designed as a “mini-supply chain” (SIPOCR - see examples below)</a:t>
            </a:r>
            <a:endParaRPr b="0" i="0" sz="1200" u="none" cap="none" strike="noStrike">
              <a:latin typeface="Arial"/>
              <a:ea typeface="Arial"/>
              <a:cs typeface="Arial"/>
              <a:sym typeface="Arial"/>
            </a:endParaRPr>
          </a:p>
          <a:p>
            <a:pPr indent="-141840" lvl="1" marL="177840" marR="0" rtl="0" algn="l">
              <a:lnSpc>
                <a:spcPct val="100000"/>
              </a:lnSpc>
              <a:spcBef>
                <a:spcPts val="601"/>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Service Level Management is designed to ensure operational effectiveness</a:t>
            </a:r>
            <a:endParaRPr b="0" i="0" sz="1200" u="none" cap="none" strike="noStrike">
              <a:latin typeface="Arial"/>
              <a:ea typeface="Arial"/>
              <a:cs typeface="Arial"/>
              <a:sym typeface="Arial"/>
            </a:endParaRPr>
          </a:p>
          <a:p>
            <a:pPr indent="-141840" lvl="1" marL="177840" marR="0" rtl="0" algn="l">
              <a:lnSpc>
                <a:spcPct val="100000"/>
              </a:lnSpc>
              <a:spcBef>
                <a:spcPts val="601"/>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Simplify accountability (Service Matrix is consistent versus RACI Models which always change)</a:t>
            </a:r>
            <a:endParaRPr b="0" i="0" sz="1200" u="none" cap="none" strike="noStrike">
              <a:latin typeface="Arial"/>
              <a:ea typeface="Arial"/>
              <a:cs typeface="Arial"/>
              <a:sym typeface="Arial"/>
            </a:endParaRPr>
          </a:p>
          <a:p>
            <a:pPr indent="-141840" lvl="1" marL="177840" marR="0" rtl="0" algn="l">
              <a:lnSpc>
                <a:spcPct val="100000"/>
              </a:lnSpc>
              <a:spcBef>
                <a:spcPts val="601"/>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Measures quality, productivity, and service excellence (what gets measured Right gets done Right)</a:t>
            </a:r>
            <a:endParaRPr b="0" i="0" sz="1200" u="none" cap="none" strike="noStrike">
              <a:latin typeface="Arial"/>
              <a:ea typeface="Arial"/>
              <a:cs typeface="Arial"/>
              <a:sym typeface="Arial"/>
            </a:endParaRPr>
          </a:p>
          <a:p>
            <a:pPr indent="-141840" lvl="1" marL="177840" marR="0" rtl="0" algn="l">
              <a:lnSpc>
                <a:spcPct val="100000"/>
              </a:lnSpc>
              <a:spcBef>
                <a:spcPts val="601"/>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Service is a business model (revenue, cost control, measurement, supplier and customer management)</a:t>
            </a:r>
            <a:endParaRPr b="0" i="0" sz="1200" u="none" cap="none" strike="noStrike">
              <a:latin typeface="Arial"/>
              <a:ea typeface="Arial"/>
              <a:cs typeface="Arial"/>
              <a:sym typeface="Arial"/>
            </a:endParaRPr>
          </a:p>
          <a:p>
            <a:pPr indent="-141840" lvl="1" marL="177840" marR="0" rtl="0" algn="l">
              <a:lnSpc>
                <a:spcPct val="100000"/>
              </a:lnSpc>
              <a:spcBef>
                <a:spcPts val="601"/>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Service owners are responsible for delivering desired outcomes for customers, compliance, &amp; corporate</a:t>
            </a:r>
            <a:endParaRPr b="0" i="0" sz="1200" u="none" cap="none" strike="noStrike">
              <a:latin typeface="Arial"/>
              <a:ea typeface="Arial"/>
              <a:cs typeface="Arial"/>
              <a:sym typeface="Arial"/>
            </a:endParaRPr>
          </a:p>
        </p:txBody>
      </p:sp>
      <p:sp>
        <p:nvSpPr>
          <p:cNvPr id="331" name="Google Shape;331;p66"/>
          <p:cNvSpPr/>
          <p:nvPr/>
        </p:nvSpPr>
        <p:spPr>
          <a:xfrm>
            <a:off x="209880" y="2786040"/>
            <a:ext cx="8476920" cy="457560"/>
          </a:xfrm>
          <a:prstGeom prst="rect">
            <a:avLst/>
          </a:prstGeom>
          <a:noFill/>
          <a:ln cap="flat" cmpd="sng" w="284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900" strike="noStrike">
                <a:solidFill>
                  <a:srgbClr val="000000"/>
                </a:solidFill>
                <a:latin typeface="Arial"/>
                <a:ea typeface="Arial"/>
                <a:cs typeface="Arial"/>
                <a:sym typeface="Arial"/>
              </a:rPr>
              <a:t>When we “connect-the-dots” between Service Owners we can create Value Streams (“legos” of Reusable Component Services)</a:t>
            </a:r>
            <a:endParaRPr b="0" sz="900" strike="noStrike">
              <a:latin typeface="Arial"/>
              <a:ea typeface="Arial"/>
              <a:cs typeface="Arial"/>
              <a:sym typeface="Arial"/>
            </a:endParaRPr>
          </a:p>
          <a:p>
            <a:pPr indent="0" lvl="0" marL="0" marR="0" rtl="0" algn="l">
              <a:lnSpc>
                <a:spcPct val="100000"/>
              </a:lnSpc>
              <a:spcBef>
                <a:spcPts val="0"/>
              </a:spcBef>
              <a:spcAft>
                <a:spcPts val="0"/>
              </a:spcAft>
              <a:buNone/>
            </a:pPr>
            <a:r>
              <a:rPr b="1" i="1" lang="en-US" sz="900" strike="noStrike">
                <a:solidFill>
                  <a:srgbClr val="0088CE"/>
                </a:solidFill>
                <a:latin typeface="Arial"/>
                <a:ea typeface="Arial"/>
                <a:cs typeface="Arial"/>
                <a:sym typeface="Arial"/>
              </a:rPr>
              <a:t>This allows us to quickly bootstrap (new) Value-Added Services like Data Onboarding</a:t>
            </a:r>
            <a:r>
              <a:rPr b="1" lang="en-US" sz="900" strike="noStrike">
                <a:solidFill>
                  <a:srgbClr val="0088CE"/>
                </a:solidFill>
                <a:latin typeface="Arial"/>
                <a:ea typeface="Arial"/>
                <a:cs typeface="Arial"/>
                <a:sym typeface="Arial"/>
              </a:rPr>
              <a:t> </a:t>
            </a:r>
            <a:endParaRPr b="0" sz="900" strike="noStrike">
              <a:latin typeface="Arial"/>
              <a:ea typeface="Arial"/>
              <a:cs typeface="Arial"/>
              <a:sym typeface="Arial"/>
            </a:endParaRPr>
          </a:p>
        </p:txBody>
      </p:sp>
      <p:sp>
        <p:nvSpPr>
          <p:cNvPr id="332" name="Google Shape;332;p66"/>
          <p:cNvSpPr/>
          <p:nvPr/>
        </p:nvSpPr>
        <p:spPr>
          <a:xfrm>
            <a:off x="1263960" y="1293120"/>
            <a:ext cx="3210120" cy="334440"/>
          </a:xfrm>
          <a:prstGeom prst="rightArrow">
            <a:avLst>
              <a:gd fmla="val 50000" name="adj1"/>
              <a:gd fmla="val 50000" name="adj2"/>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66"/>
          <p:cNvSpPr/>
          <p:nvPr/>
        </p:nvSpPr>
        <p:spPr>
          <a:xfrm>
            <a:off x="2265480" y="1103400"/>
            <a:ext cx="1063080" cy="781920"/>
          </a:xfrm>
          <a:prstGeom prst="roundRect">
            <a:avLst>
              <a:gd fmla="val 16667" name="adj"/>
            </a:avLst>
          </a:prstGeom>
          <a:solidFill>
            <a:srgbClr val="E6B8AF"/>
          </a:solidFill>
          <a:ln cap="flat" cmpd="sng" w="9525">
            <a:solidFill>
              <a:srgbClr val="00000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lang="en-US" sz="1000" strike="noStrike">
                <a:solidFill>
                  <a:srgbClr val="000000"/>
                </a:solidFill>
                <a:latin typeface="Arial"/>
                <a:ea typeface="Arial"/>
                <a:cs typeface="Arial"/>
                <a:sym typeface="Arial"/>
              </a:rPr>
              <a:t>Processes</a:t>
            </a:r>
            <a:endParaRPr b="0" sz="1000" strike="noStrike">
              <a:latin typeface="Arial"/>
              <a:ea typeface="Arial"/>
              <a:cs typeface="Arial"/>
              <a:sym typeface="Arial"/>
            </a:endParaRPr>
          </a:p>
        </p:txBody>
      </p:sp>
      <p:sp>
        <p:nvSpPr>
          <p:cNvPr id="334" name="Google Shape;334;p66"/>
          <p:cNvSpPr/>
          <p:nvPr/>
        </p:nvSpPr>
        <p:spPr>
          <a:xfrm>
            <a:off x="1390680" y="1313640"/>
            <a:ext cx="685800" cy="289440"/>
          </a:xfrm>
          <a:prstGeom prst="rect">
            <a:avLst/>
          </a:prstGeom>
          <a:no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lang="en-US" sz="1000" strike="noStrike">
                <a:solidFill>
                  <a:srgbClr val="000000"/>
                </a:solidFill>
                <a:latin typeface="Arial"/>
                <a:ea typeface="Arial"/>
                <a:cs typeface="Arial"/>
                <a:sym typeface="Arial"/>
              </a:rPr>
              <a:t>Inputs</a:t>
            </a:r>
            <a:endParaRPr b="0" sz="1000" strike="noStrike">
              <a:latin typeface="Arial"/>
              <a:ea typeface="Arial"/>
              <a:cs typeface="Arial"/>
              <a:sym typeface="Arial"/>
            </a:endParaRPr>
          </a:p>
        </p:txBody>
      </p:sp>
      <p:sp>
        <p:nvSpPr>
          <p:cNvPr id="335" name="Google Shape;335;p66"/>
          <p:cNvSpPr/>
          <p:nvPr/>
        </p:nvSpPr>
        <p:spPr>
          <a:xfrm>
            <a:off x="3517200" y="1313640"/>
            <a:ext cx="685800" cy="289440"/>
          </a:xfrm>
          <a:prstGeom prst="rect">
            <a:avLst/>
          </a:prstGeom>
          <a:no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lang="en-US" sz="1000" strike="noStrike">
                <a:solidFill>
                  <a:srgbClr val="000000"/>
                </a:solidFill>
                <a:latin typeface="Arial"/>
                <a:ea typeface="Arial"/>
                <a:cs typeface="Arial"/>
                <a:sym typeface="Arial"/>
              </a:rPr>
              <a:t>Outputs</a:t>
            </a:r>
            <a:endParaRPr b="0" sz="1000" strike="noStrike">
              <a:latin typeface="Arial"/>
              <a:ea typeface="Arial"/>
              <a:cs typeface="Arial"/>
              <a:sym typeface="Arial"/>
            </a:endParaRPr>
          </a:p>
        </p:txBody>
      </p:sp>
      <p:sp>
        <p:nvSpPr>
          <p:cNvPr id="336" name="Google Shape;336;p66"/>
          <p:cNvSpPr/>
          <p:nvPr/>
        </p:nvSpPr>
        <p:spPr>
          <a:xfrm>
            <a:off x="1623960" y="612360"/>
            <a:ext cx="2352960" cy="426240"/>
          </a:xfrm>
          <a:prstGeom prst="rect">
            <a:avLst/>
          </a:prstGeom>
          <a:no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lang="en-US" sz="1100" strike="noStrike">
                <a:solidFill>
                  <a:srgbClr val="000000"/>
                </a:solidFill>
                <a:latin typeface="Arial"/>
                <a:ea typeface="Arial"/>
                <a:cs typeface="Arial"/>
                <a:sym typeface="Arial"/>
              </a:rPr>
              <a:t>What is a Service?</a:t>
            </a:r>
            <a:endParaRPr b="0" sz="1100" strike="noStrike">
              <a:latin typeface="Arial"/>
              <a:ea typeface="Arial"/>
              <a:cs typeface="Arial"/>
              <a:sym typeface="Arial"/>
            </a:endParaRPr>
          </a:p>
          <a:p>
            <a:pPr indent="0" lvl="0" marL="0" marR="0" rtl="0" algn="ctr">
              <a:lnSpc>
                <a:spcPct val="100000"/>
              </a:lnSpc>
              <a:spcBef>
                <a:spcPts val="0"/>
              </a:spcBef>
              <a:spcAft>
                <a:spcPts val="0"/>
              </a:spcAft>
              <a:buNone/>
            </a:pPr>
            <a:r>
              <a:rPr b="1" lang="en-US" sz="800" strike="noStrike">
                <a:solidFill>
                  <a:srgbClr val="D52B1E"/>
                </a:solidFill>
                <a:latin typeface="Arial"/>
                <a:ea typeface="Arial"/>
                <a:cs typeface="Arial"/>
                <a:sym typeface="Arial"/>
              </a:rPr>
              <a:t>(Think about it as a “mini-Supply Chain”)</a:t>
            </a:r>
            <a:endParaRPr b="0" sz="800" strike="noStrike">
              <a:latin typeface="Arial"/>
              <a:ea typeface="Arial"/>
              <a:cs typeface="Arial"/>
              <a:sym typeface="Arial"/>
            </a:endParaRPr>
          </a:p>
        </p:txBody>
      </p:sp>
      <p:sp>
        <p:nvSpPr>
          <p:cNvPr id="337" name="Google Shape;337;p66"/>
          <p:cNvSpPr/>
          <p:nvPr/>
        </p:nvSpPr>
        <p:spPr>
          <a:xfrm>
            <a:off x="1777320" y="2004480"/>
            <a:ext cx="1000440" cy="143640"/>
          </a:xfrm>
          <a:prstGeom prst="rect">
            <a:avLst/>
          </a:prstGeom>
          <a:solidFill>
            <a:srgbClr val="E6B8AF"/>
          </a:solidFill>
          <a:ln cap="flat" cmpd="sng" w="9525">
            <a:solidFill>
              <a:srgbClr val="00000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lang="en-US" sz="700" strike="noStrike">
                <a:solidFill>
                  <a:srgbClr val="000000"/>
                </a:solidFill>
                <a:latin typeface="Arial"/>
                <a:ea typeface="Arial"/>
                <a:cs typeface="Arial"/>
                <a:sym typeface="Arial"/>
              </a:rPr>
              <a:t>Data &amp; Information</a:t>
            </a:r>
            <a:endParaRPr b="0" sz="700" strike="noStrike">
              <a:latin typeface="Arial"/>
              <a:ea typeface="Arial"/>
              <a:cs typeface="Arial"/>
              <a:sym typeface="Arial"/>
            </a:endParaRPr>
          </a:p>
        </p:txBody>
      </p:sp>
      <p:sp>
        <p:nvSpPr>
          <p:cNvPr id="338" name="Google Shape;338;p66"/>
          <p:cNvSpPr/>
          <p:nvPr/>
        </p:nvSpPr>
        <p:spPr>
          <a:xfrm>
            <a:off x="2822760" y="2004480"/>
            <a:ext cx="1000440" cy="143640"/>
          </a:xfrm>
          <a:prstGeom prst="rect">
            <a:avLst/>
          </a:prstGeom>
          <a:solidFill>
            <a:srgbClr val="E6B8AF"/>
          </a:solidFill>
          <a:ln cap="flat" cmpd="sng" w="9525">
            <a:solidFill>
              <a:srgbClr val="00000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lang="en-US" sz="700" strike="noStrike">
                <a:solidFill>
                  <a:srgbClr val="000000"/>
                </a:solidFill>
                <a:latin typeface="Arial"/>
                <a:ea typeface="Arial"/>
                <a:cs typeface="Arial"/>
                <a:sym typeface="Arial"/>
              </a:rPr>
              <a:t>Decisions</a:t>
            </a:r>
            <a:endParaRPr b="0" sz="700" strike="noStrike">
              <a:latin typeface="Arial"/>
              <a:ea typeface="Arial"/>
              <a:cs typeface="Arial"/>
              <a:sym typeface="Arial"/>
            </a:endParaRPr>
          </a:p>
        </p:txBody>
      </p:sp>
      <p:sp>
        <p:nvSpPr>
          <p:cNvPr id="339" name="Google Shape;339;p66"/>
          <p:cNvSpPr/>
          <p:nvPr/>
        </p:nvSpPr>
        <p:spPr>
          <a:xfrm>
            <a:off x="2822760" y="2180160"/>
            <a:ext cx="1000440" cy="143640"/>
          </a:xfrm>
          <a:prstGeom prst="rect">
            <a:avLst/>
          </a:prstGeom>
          <a:solidFill>
            <a:srgbClr val="E6B8AF"/>
          </a:solidFill>
          <a:ln cap="flat" cmpd="sng" w="9525">
            <a:solidFill>
              <a:srgbClr val="00000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lang="en-US" sz="700" strike="noStrike">
                <a:solidFill>
                  <a:srgbClr val="000000"/>
                </a:solidFill>
                <a:latin typeface="Arial"/>
                <a:ea typeface="Arial"/>
                <a:cs typeface="Arial"/>
                <a:sym typeface="Arial"/>
              </a:rPr>
              <a:t>Measure</a:t>
            </a:r>
            <a:endParaRPr b="0" sz="700" strike="noStrike">
              <a:latin typeface="Arial"/>
              <a:ea typeface="Arial"/>
              <a:cs typeface="Arial"/>
              <a:sym typeface="Arial"/>
            </a:endParaRPr>
          </a:p>
        </p:txBody>
      </p:sp>
      <p:sp>
        <p:nvSpPr>
          <p:cNvPr id="340" name="Google Shape;340;p66"/>
          <p:cNvSpPr/>
          <p:nvPr/>
        </p:nvSpPr>
        <p:spPr>
          <a:xfrm>
            <a:off x="1777320" y="2180160"/>
            <a:ext cx="1000440" cy="143640"/>
          </a:xfrm>
          <a:prstGeom prst="rect">
            <a:avLst/>
          </a:prstGeom>
          <a:solidFill>
            <a:srgbClr val="E6B8AF"/>
          </a:solidFill>
          <a:ln cap="flat" cmpd="sng" w="9525">
            <a:solidFill>
              <a:srgbClr val="00000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lang="en-US" sz="700" strike="noStrike">
                <a:solidFill>
                  <a:srgbClr val="000000"/>
                </a:solidFill>
                <a:latin typeface="Arial"/>
                <a:ea typeface="Arial"/>
                <a:cs typeface="Arial"/>
                <a:sym typeface="Arial"/>
              </a:rPr>
              <a:t>Activities</a:t>
            </a:r>
            <a:endParaRPr b="0" sz="700" strike="noStrike">
              <a:latin typeface="Arial"/>
              <a:ea typeface="Arial"/>
              <a:cs typeface="Arial"/>
              <a:sym typeface="Arial"/>
            </a:endParaRPr>
          </a:p>
        </p:txBody>
      </p:sp>
      <p:sp>
        <p:nvSpPr>
          <p:cNvPr id="341" name="Google Shape;341;p66"/>
          <p:cNvSpPr/>
          <p:nvPr/>
        </p:nvSpPr>
        <p:spPr>
          <a:xfrm>
            <a:off x="1777320" y="2355840"/>
            <a:ext cx="2045880" cy="143640"/>
          </a:xfrm>
          <a:prstGeom prst="rect">
            <a:avLst/>
          </a:prstGeom>
          <a:solidFill>
            <a:srgbClr val="E6B8AF"/>
          </a:solidFill>
          <a:ln cap="flat" cmpd="sng" w="9525">
            <a:solidFill>
              <a:srgbClr val="00000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lang="en-US" sz="700" strike="noStrike">
                <a:solidFill>
                  <a:srgbClr val="000000"/>
                </a:solidFill>
                <a:latin typeface="Arial"/>
                <a:ea typeface="Arial"/>
                <a:cs typeface="Arial"/>
                <a:sym typeface="Arial"/>
              </a:rPr>
              <a:t>Automation (Maap Components)</a:t>
            </a:r>
            <a:endParaRPr b="0" sz="700" strike="noStrike">
              <a:latin typeface="Arial"/>
              <a:ea typeface="Arial"/>
              <a:cs typeface="Arial"/>
              <a:sym typeface="Arial"/>
            </a:endParaRPr>
          </a:p>
        </p:txBody>
      </p:sp>
      <p:sp>
        <p:nvSpPr>
          <p:cNvPr id="342" name="Google Shape;342;p66"/>
          <p:cNvSpPr/>
          <p:nvPr/>
        </p:nvSpPr>
        <p:spPr>
          <a:xfrm>
            <a:off x="209880" y="1313640"/>
            <a:ext cx="842400" cy="289440"/>
          </a:xfrm>
          <a:prstGeom prst="rect">
            <a:avLst/>
          </a:prstGeom>
          <a:no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lang="en-US" sz="1000" strike="noStrike">
                <a:solidFill>
                  <a:srgbClr val="000000"/>
                </a:solidFill>
                <a:latin typeface="Arial"/>
                <a:ea typeface="Arial"/>
                <a:cs typeface="Arial"/>
                <a:sym typeface="Arial"/>
              </a:rPr>
              <a:t>Suppliers</a:t>
            </a:r>
            <a:endParaRPr b="0" sz="1000" strike="noStrike">
              <a:latin typeface="Arial"/>
              <a:ea typeface="Arial"/>
              <a:cs typeface="Arial"/>
              <a:sym typeface="Arial"/>
            </a:endParaRPr>
          </a:p>
        </p:txBody>
      </p:sp>
      <p:sp>
        <p:nvSpPr>
          <p:cNvPr id="343" name="Google Shape;343;p66"/>
          <p:cNvSpPr/>
          <p:nvPr/>
        </p:nvSpPr>
        <p:spPr>
          <a:xfrm>
            <a:off x="4699440" y="1313640"/>
            <a:ext cx="842400" cy="289440"/>
          </a:xfrm>
          <a:prstGeom prst="rect">
            <a:avLst/>
          </a:prstGeom>
          <a:no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lang="en-US" sz="1000" strike="noStrike">
                <a:solidFill>
                  <a:srgbClr val="000000"/>
                </a:solidFill>
                <a:latin typeface="Arial"/>
                <a:ea typeface="Arial"/>
                <a:cs typeface="Arial"/>
                <a:sym typeface="Arial"/>
              </a:rPr>
              <a:t>Customers</a:t>
            </a:r>
            <a:endParaRPr b="0" sz="1000" strike="noStrike">
              <a:latin typeface="Arial"/>
              <a:ea typeface="Arial"/>
              <a:cs typeface="Arial"/>
              <a:sym typeface="Arial"/>
            </a:endParaRPr>
          </a:p>
        </p:txBody>
      </p:sp>
      <p:sp>
        <p:nvSpPr>
          <p:cNvPr id="344" name="Google Shape;344;p66"/>
          <p:cNvSpPr/>
          <p:nvPr/>
        </p:nvSpPr>
        <p:spPr>
          <a:xfrm>
            <a:off x="209880" y="1707120"/>
            <a:ext cx="945000" cy="1782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lang="en-US" sz="700" strike="noStrike">
                <a:solidFill>
                  <a:srgbClr val="000000"/>
                </a:solidFill>
                <a:latin typeface="Arial"/>
                <a:ea typeface="Arial"/>
                <a:cs typeface="Arial"/>
                <a:sym typeface="Arial"/>
              </a:rPr>
              <a:t>Service Providers</a:t>
            </a:r>
            <a:endParaRPr b="0" sz="700" strike="noStrike">
              <a:latin typeface="Arial"/>
              <a:ea typeface="Arial"/>
              <a:cs typeface="Arial"/>
              <a:sym typeface="Arial"/>
            </a:endParaRPr>
          </a:p>
        </p:txBody>
      </p:sp>
      <p:sp>
        <p:nvSpPr>
          <p:cNvPr id="345" name="Google Shape;345;p66"/>
          <p:cNvSpPr/>
          <p:nvPr/>
        </p:nvSpPr>
        <p:spPr>
          <a:xfrm>
            <a:off x="209880" y="1917360"/>
            <a:ext cx="945000" cy="1782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lang="en-US" sz="700" strike="noStrike">
                <a:solidFill>
                  <a:srgbClr val="000000"/>
                </a:solidFill>
                <a:latin typeface="Arial"/>
                <a:ea typeface="Arial"/>
                <a:cs typeface="Arial"/>
                <a:sym typeface="Arial"/>
              </a:rPr>
              <a:t>Service Partners</a:t>
            </a:r>
            <a:endParaRPr b="0" sz="700" strike="noStrike">
              <a:latin typeface="Arial"/>
              <a:ea typeface="Arial"/>
              <a:cs typeface="Arial"/>
              <a:sym typeface="Arial"/>
            </a:endParaRPr>
          </a:p>
        </p:txBody>
      </p:sp>
      <p:sp>
        <p:nvSpPr>
          <p:cNvPr id="346" name="Google Shape;346;p66"/>
          <p:cNvSpPr/>
          <p:nvPr/>
        </p:nvSpPr>
        <p:spPr>
          <a:xfrm>
            <a:off x="209880" y="2127960"/>
            <a:ext cx="945000" cy="1782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lang="en-US" sz="700" strike="noStrike">
                <a:solidFill>
                  <a:srgbClr val="000000"/>
                </a:solidFill>
                <a:latin typeface="Arial"/>
                <a:ea typeface="Arial"/>
                <a:cs typeface="Arial"/>
                <a:sym typeface="Arial"/>
              </a:rPr>
              <a:t>Consumers</a:t>
            </a:r>
            <a:endParaRPr b="0" sz="700" strike="noStrike">
              <a:latin typeface="Arial"/>
              <a:ea typeface="Arial"/>
              <a:cs typeface="Arial"/>
              <a:sym typeface="Arial"/>
            </a:endParaRPr>
          </a:p>
        </p:txBody>
      </p:sp>
      <p:sp>
        <p:nvSpPr>
          <p:cNvPr id="347" name="Google Shape;347;p66"/>
          <p:cNvSpPr/>
          <p:nvPr/>
        </p:nvSpPr>
        <p:spPr>
          <a:xfrm>
            <a:off x="4648320" y="1707120"/>
            <a:ext cx="945000" cy="1782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lang="en-US" sz="700" strike="noStrike">
                <a:solidFill>
                  <a:srgbClr val="000000"/>
                </a:solidFill>
                <a:latin typeface="Arial"/>
                <a:ea typeface="Arial"/>
                <a:cs typeface="Arial"/>
                <a:sym typeface="Arial"/>
              </a:rPr>
              <a:t>Service Providers</a:t>
            </a:r>
            <a:endParaRPr b="0" sz="700" strike="noStrike">
              <a:latin typeface="Arial"/>
              <a:ea typeface="Arial"/>
              <a:cs typeface="Arial"/>
              <a:sym typeface="Arial"/>
            </a:endParaRPr>
          </a:p>
        </p:txBody>
      </p:sp>
      <p:sp>
        <p:nvSpPr>
          <p:cNvPr id="348" name="Google Shape;348;p66"/>
          <p:cNvSpPr/>
          <p:nvPr/>
        </p:nvSpPr>
        <p:spPr>
          <a:xfrm>
            <a:off x="4648320" y="1917360"/>
            <a:ext cx="945000" cy="1782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lang="en-US" sz="700" strike="noStrike">
                <a:solidFill>
                  <a:srgbClr val="000000"/>
                </a:solidFill>
                <a:latin typeface="Arial"/>
                <a:ea typeface="Arial"/>
                <a:cs typeface="Arial"/>
                <a:sym typeface="Arial"/>
              </a:rPr>
              <a:t>Service Partners</a:t>
            </a:r>
            <a:endParaRPr b="0" sz="700" strike="noStrike">
              <a:latin typeface="Arial"/>
              <a:ea typeface="Arial"/>
              <a:cs typeface="Arial"/>
              <a:sym typeface="Arial"/>
            </a:endParaRPr>
          </a:p>
        </p:txBody>
      </p:sp>
      <p:sp>
        <p:nvSpPr>
          <p:cNvPr id="349" name="Google Shape;349;p66"/>
          <p:cNvSpPr/>
          <p:nvPr/>
        </p:nvSpPr>
        <p:spPr>
          <a:xfrm>
            <a:off x="4648320" y="2127960"/>
            <a:ext cx="945000" cy="1782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lang="en-US" sz="700" strike="noStrike">
                <a:solidFill>
                  <a:srgbClr val="000000"/>
                </a:solidFill>
                <a:latin typeface="Arial"/>
                <a:ea typeface="Arial"/>
                <a:cs typeface="Arial"/>
                <a:sym typeface="Arial"/>
              </a:rPr>
              <a:t>Consumers</a:t>
            </a:r>
            <a:endParaRPr b="0" sz="700" strike="noStrike">
              <a:latin typeface="Arial"/>
              <a:ea typeface="Arial"/>
              <a:cs typeface="Arial"/>
              <a:sym typeface="Arial"/>
            </a:endParaRPr>
          </a:p>
        </p:txBody>
      </p:sp>
      <p:graphicFrame>
        <p:nvGraphicFramePr>
          <p:cNvPr id="350" name="Google Shape;350;p66"/>
          <p:cNvGraphicFramePr/>
          <p:nvPr/>
        </p:nvGraphicFramePr>
        <p:xfrm>
          <a:off x="209880" y="3450960"/>
          <a:ext cx="3000000" cy="3000000"/>
        </p:xfrm>
        <a:graphic>
          <a:graphicData uri="http://schemas.openxmlformats.org/drawingml/2006/table">
            <a:tbl>
              <a:tblPr>
                <a:noFill/>
                <a:tableStyleId>{E34AD780-778F-4BAB-B470-55AEC7FC2E41}</a:tableStyleId>
              </a:tblPr>
              <a:tblGrid>
                <a:gridCol w="1455850"/>
                <a:gridCol w="1287725"/>
                <a:gridCol w="1126800"/>
                <a:gridCol w="2253950"/>
                <a:gridCol w="1197000"/>
                <a:gridCol w="1155600"/>
              </a:tblGrid>
              <a:tr h="441725">
                <a:tc>
                  <a:txBody>
                    <a:bodyPr/>
                    <a:lstStyle/>
                    <a:p>
                      <a:pPr indent="0" lvl="0" marL="0" marR="0" rtl="0" algn="ctr">
                        <a:lnSpc>
                          <a:spcPct val="100000"/>
                        </a:lnSpc>
                        <a:spcBef>
                          <a:spcPts val="0"/>
                        </a:spcBef>
                        <a:spcAft>
                          <a:spcPts val="0"/>
                        </a:spcAft>
                        <a:buNone/>
                      </a:pPr>
                      <a:r>
                        <a:rPr b="1" lang="en-US" sz="1000" u="none" cap="none" strike="noStrike">
                          <a:solidFill>
                            <a:srgbClr val="000000"/>
                          </a:solidFill>
                          <a:latin typeface="Calibri"/>
                          <a:ea typeface="Calibri"/>
                          <a:cs typeface="Calibri"/>
                          <a:sym typeface="Calibri"/>
                        </a:rPr>
                        <a:t>Supplier</a:t>
                      </a:r>
                      <a:endParaRPr b="0" sz="10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lang="en-US" sz="1000" u="none" cap="none" strike="noStrike">
                          <a:solidFill>
                            <a:srgbClr val="000000"/>
                          </a:solidFill>
                          <a:latin typeface="Calibri"/>
                          <a:ea typeface="Calibri"/>
                          <a:cs typeface="Calibri"/>
                          <a:sym typeface="Calibri"/>
                        </a:rPr>
                        <a:t>(Provider)</a:t>
                      </a:r>
                      <a:endParaRPr b="0" sz="1000" u="none" cap="none" strike="noStrike">
                        <a:latin typeface="Arial"/>
                        <a:ea typeface="Arial"/>
                        <a:cs typeface="Arial"/>
                        <a:sym typeface="Arial"/>
                      </a:endParaRPr>
                    </a:p>
                  </a:txBody>
                  <a:tcPr marT="45725" marB="45725" marR="21250" marL="21250">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D8DADA"/>
                    </a:solidFill>
                  </a:tcPr>
                </a:tc>
                <a:tc>
                  <a:txBody>
                    <a:bodyPr/>
                    <a:lstStyle/>
                    <a:p>
                      <a:pPr indent="0" lvl="0" marL="0" marR="0" rtl="0" algn="ctr">
                        <a:lnSpc>
                          <a:spcPct val="100000"/>
                        </a:lnSpc>
                        <a:spcBef>
                          <a:spcPts val="0"/>
                        </a:spcBef>
                        <a:spcAft>
                          <a:spcPts val="0"/>
                        </a:spcAft>
                        <a:buNone/>
                      </a:pPr>
                      <a:r>
                        <a:rPr b="1" lang="en-US" sz="1000" u="none" cap="none" strike="noStrike">
                          <a:solidFill>
                            <a:srgbClr val="000000"/>
                          </a:solidFill>
                          <a:latin typeface="Calibri"/>
                          <a:ea typeface="Calibri"/>
                          <a:cs typeface="Calibri"/>
                          <a:sym typeface="Calibri"/>
                        </a:rPr>
                        <a:t>Input</a:t>
                      </a:r>
                      <a:endParaRPr b="0" sz="1000" u="none" cap="none" strike="noStrike">
                        <a:latin typeface="Arial"/>
                        <a:ea typeface="Arial"/>
                        <a:cs typeface="Arial"/>
                        <a:sym typeface="Arial"/>
                      </a:endParaRPr>
                    </a:p>
                  </a:txBody>
                  <a:tcPr marT="45725" marB="45725" marR="21250" marL="21250">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D8DADA"/>
                    </a:solidFill>
                  </a:tcPr>
                </a:tc>
                <a:tc>
                  <a:txBody>
                    <a:bodyPr/>
                    <a:lstStyle/>
                    <a:p>
                      <a:pPr indent="0" lvl="0" marL="0" marR="0" rtl="0" algn="ctr">
                        <a:lnSpc>
                          <a:spcPct val="100000"/>
                        </a:lnSpc>
                        <a:spcBef>
                          <a:spcPts val="0"/>
                        </a:spcBef>
                        <a:spcAft>
                          <a:spcPts val="0"/>
                        </a:spcAft>
                        <a:buNone/>
                      </a:pPr>
                      <a:r>
                        <a:rPr b="0" lang="en-US" sz="1000" u="none" cap="none" strike="noStrike">
                          <a:solidFill>
                            <a:srgbClr val="000000"/>
                          </a:solidFill>
                          <a:latin typeface="Calibri"/>
                          <a:ea typeface="Calibri"/>
                          <a:cs typeface="Calibri"/>
                          <a:sym typeface="Calibri"/>
                        </a:rPr>
                        <a:t>Service Owner</a:t>
                      </a:r>
                      <a:endParaRPr b="0" sz="1000" u="none" cap="none" strike="noStrike">
                        <a:latin typeface="Arial"/>
                        <a:ea typeface="Arial"/>
                        <a:cs typeface="Arial"/>
                        <a:sym typeface="Arial"/>
                      </a:endParaRPr>
                    </a:p>
                  </a:txBody>
                  <a:tcPr marT="45725" marB="45725" marR="21250" marL="21250">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D8DADA"/>
                    </a:solidFill>
                  </a:tcPr>
                </a:tc>
                <a:tc>
                  <a:txBody>
                    <a:bodyPr/>
                    <a:lstStyle/>
                    <a:p>
                      <a:pPr indent="0" lvl="0" marL="0" marR="0" rtl="0" algn="ctr">
                        <a:lnSpc>
                          <a:spcPct val="100000"/>
                        </a:lnSpc>
                        <a:spcBef>
                          <a:spcPts val="0"/>
                        </a:spcBef>
                        <a:spcAft>
                          <a:spcPts val="0"/>
                        </a:spcAft>
                        <a:buNone/>
                      </a:pPr>
                      <a:r>
                        <a:rPr b="1" lang="en-US" sz="1000" u="none" cap="none" strike="noStrike">
                          <a:solidFill>
                            <a:srgbClr val="000000"/>
                          </a:solidFill>
                          <a:latin typeface="Calibri"/>
                          <a:ea typeface="Calibri"/>
                          <a:cs typeface="Calibri"/>
                          <a:sym typeface="Calibri"/>
                        </a:rPr>
                        <a:t>Process</a:t>
                      </a:r>
                      <a:endParaRPr b="0" sz="10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lang="en-US" sz="1000" u="none" cap="none" strike="noStrike">
                          <a:solidFill>
                            <a:srgbClr val="000000"/>
                          </a:solidFill>
                          <a:latin typeface="Calibri"/>
                          <a:ea typeface="Calibri"/>
                          <a:cs typeface="Calibri"/>
                          <a:sym typeface="Calibri"/>
                        </a:rPr>
                        <a:t>(Service - L2 &amp; L3)</a:t>
                      </a:r>
                      <a:endParaRPr b="0" sz="1000" u="none" cap="none" strike="noStrike">
                        <a:latin typeface="Arial"/>
                        <a:ea typeface="Arial"/>
                        <a:cs typeface="Arial"/>
                        <a:sym typeface="Arial"/>
                      </a:endParaRPr>
                    </a:p>
                  </a:txBody>
                  <a:tcPr marT="45725" marB="45725" marR="21250" marL="21250">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D8DADA"/>
                    </a:solidFill>
                  </a:tcPr>
                </a:tc>
                <a:tc>
                  <a:txBody>
                    <a:bodyPr/>
                    <a:lstStyle/>
                    <a:p>
                      <a:pPr indent="0" lvl="0" marL="0" marR="0" rtl="0" algn="ctr">
                        <a:lnSpc>
                          <a:spcPct val="100000"/>
                        </a:lnSpc>
                        <a:spcBef>
                          <a:spcPts val="0"/>
                        </a:spcBef>
                        <a:spcAft>
                          <a:spcPts val="0"/>
                        </a:spcAft>
                        <a:buNone/>
                      </a:pPr>
                      <a:r>
                        <a:rPr b="1" lang="en-US" sz="1000" u="none" cap="none" strike="noStrike">
                          <a:solidFill>
                            <a:srgbClr val="000000"/>
                          </a:solidFill>
                          <a:latin typeface="Calibri"/>
                          <a:ea typeface="Calibri"/>
                          <a:cs typeface="Calibri"/>
                          <a:sym typeface="Calibri"/>
                        </a:rPr>
                        <a:t>Output</a:t>
                      </a:r>
                      <a:endParaRPr b="0" sz="1000" u="none" cap="none" strike="noStrike">
                        <a:latin typeface="Arial"/>
                        <a:ea typeface="Arial"/>
                        <a:cs typeface="Arial"/>
                        <a:sym typeface="Arial"/>
                      </a:endParaRPr>
                    </a:p>
                  </a:txBody>
                  <a:tcPr marT="45725" marB="45725" marR="21250" marL="21250">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D8DADA"/>
                    </a:solidFill>
                  </a:tcPr>
                </a:tc>
                <a:tc>
                  <a:txBody>
                    <a:bodyPr/>
                    <a:lstStyle/>
                    <a:p>
                      <a:pPr indent="0" lvl="0" marL="0" marR="0" rtl="0" algn="ctr">
                        <a:lnSpc>
                          <a:spcPct val="100000"/>
                        </a:lnSpc>
                        <a:spcBef>
                          <a:spcPts val="0"/>
                        </a:spcBef>
                        <a:spcAft>
                          <a:spcPts val="0"/>
                        </a:spcAft>
                        <a:buNone/>
                      </a:pPr>
                      <a:r>
                        <a:rPr b="1" lang="en-US" sz="1000" u="none" cap="none" strike="noStrike">
                          <a:solidFill>
                            <a:srgbClr val="000000"/>
                          </a:solidFill>
                          <a:latin typeface="Calibri"/>
                          <a:ea typeface="Calibri"/>
                          <a:cs typeface="Calibri"/>
                          <a:sym typeface="Calibri"/>
                        </a:rPr>
                        <a:t>Customer</a:t>
                      </a:r>
                      <a:endParaRPr b="0" sz="10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lang="en-US" sz="1000" u="none" cap="none" strike="noStrike">
                          <a:solidFill>
                            <a:srgbClr val="000000"/>
                          </a:solidFill>
                          <a:latin typeface="Calibri"/>
                          <a:ea typeface="Calibri"/>
                          <a:cs typeface="Calibri"/>
                          <a:sym typeface="Calibri"/>
                        </a:rPr>
                        <a:t>(Consumer)</a:t>
                      </a:r>
                      <a:endParaRPr b="0" sz="1000" u="none" cap="none" strike="noStrike">
                        <a:latin typeface="Arial"/>
                        <a:ea typeface="Arial"/>
                        <a:cs typeface="Arial"/>
                        <a:sym typeface="Arial"/>
                      </a:endParaRPr>
                    </a:p>
                  </a:txBody>
                  <a:tcPr marT="45725" marB="45725" marR="21250" marL="21250">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D8DADA"/>
                    </a:solidFill>
                  </a:tcPr>
                </a:tc>
              </a:tr>
              <a:tr h="502200">
                <a:tc>
                  <a:txBody>
                    <a:bodyPr/>
                    <a:lstStyle/>
                    <a:p>
                      <a:pPr indent="0" lvl="0" marL="0" marR="0" rtl="0" algn="ctr">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Consumers | Compliance | Corporate</a:t>
                      </a:r>
                      <a:endParaRPr b="0" sz="800" u="none" cap="none" strike="noStrike">
                        <a:latin typeface="Arial"/>
                        <a:ea typeface="Arial"/>
                        <a:cs typeface="Arial"/>
                        <a:sym typeface="Arial"/>
                      </a:endParaRPr>
                    </a:p>
                  </a:txBody>
                  <a:tcPr marT="45725" marB="45725" marR="21250" marL="21250">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Jobs + Desired Outcomes</a:t>
                      </a:r>
                      <a:endParaRPr b="0" sz="800" u="none" cap="none" strike="noStrike">
                        <a:latin typeface="Arial"/>
                        <a:ea typeface="Arial"/>
                        <a:cs typeface="Arial"/>
                        <a:sym typeface="Arial"/>
                      </a:endParaRPr>
                    </a:p>
                  </a:txBody>
                  <a:tcPr marT="45725" marB="45725" marR="21250" marL="21250">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Product Management</a:t>
                      </a:r>
                      <a:endParaRPr b="0" sz="800" u="none" cap="none" strike="noStrike">
                        <a:latin typeface="Arial"/>
                        <a:ea typeface="Arial"/>
                        <a:cs typeface="Arial"/>
                        <a:sym typeface="Arial"/>
                      </a:endParaRPr>
                    </a:p>
                  </a:txBody>
                  <a:tcPr marT="45725" marB="45725" marR="21250" marL="21250">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Design Thinking (Outcome Discovery)</a:t>
                      </a:r>
                      <a:endParaRPr b="0" sz="800" u="none" cap="none" strike="noStrike">
                        <a:latin typeface="Arial"/>
                        <a:ea typeface="Arial"/>
                        <a:cs typeface="Arial"/>
                        <a:sym typeface="Arial"/>
                      </a:endParaRPr>
                    </a:p>
                  </a:txBody>
                  <a:tcPr marT="45725" marB="45725" marR="21250" marL="21250">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Personas &amp; Job Study</a:t>
                      </a:r>
                      <a:endParaRPr b="0" sz="800" u="none" cap="none" strike="noStrike">
                        <a:latin typeface="Arial"/>
                        <a:ea typeface="Arial"/>
                        <a:cs typeface="Arial"/>
                        <a:sym typeface="Arial"/>
                      </a:endParaRPr>
                    </a:p>
                  </a:txBody>
                  <a:tcPr marT="45725" marB="45725" marR="21250" marL="21250">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Data Architecture</a:t>
                      </a:r>
                      <a:endParaRPr b="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Data Engineering</a:t>
                      </a:r>
                      <a:endParaRPr b="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Data Governance</a:t>
                      </a:r>
                      <a:endParaRPr b="0" sz="800" u="none" cap="none" strike="noStrike">
                        <a:latin typeface="Arial"/>
                        <a:ea typeface="Arial"/>
                        <a:cs typeface="Arial"/>
                        <a:sym typeface="Arial"/>
                      </a:endParaRPr>
                    </a:p>
                  </a:txBody>
                  <a:tcPr marT="45725" marB="45725" marR="21250" marL="21250">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FFFFFF"/>
                    </a:solidFill>
                  </a:tcPr>
                </a:tc>
              </a:tr>
              <a:tr h="502200">
                <a:tc>
                  <a:txBody>
                    <a:bodyPr/>
                    <a:lstStyle/>
                    <a:p>
                      <a:pPr indent="0" lvl="0" marL="0" marR="0" rtl="0" algn="ctr">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Catalog Management</a:t>
                      </a:r>
                      <a:endParaRPr b="0" sz="800" u="none" cap="none" strike="noStrike">
                        <a:latin typeface="Arial"/>
                        <a:ea typeface="Arial"/>
                        <a:cs typeface="Arial"/>
                        <a:sym typeface="Arial"/>
                      </a:endParaRPr>
                    </a:p>
                  </a:txBody>
                  <a:tcPr marT="45725" marB="45725" marR="21250" marL="21250">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Updated Business Term Mapping to Policy Terms</a:t>
                      </a:r>
                      <a:endParaRPr b="0" sz="800" u="none" cap="none" strike="noStrike">
                        <a:latin typeface="Arial"/>
                        <a:ea typeface="Arial"/>
                        <a:cs typeface="Arial"/>
                        <a:sym typeface="Arial"/>
                      </a:endParaRPr>
                    </a:p>
                  </a:txBody>
                  <a:tcPr marT="45725" marB="45725" marR="21250" marL="21250">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Orchestration Services</a:t>
                      </a:r>
                      <a:endParaRPr b="0" sz="800" u="none" cap="none" strike="noStrike">
                        <a:latin typeface="Arial"/>
                        <a:ea typeface="Arial"/>
                        <a:cs typeface="Arial"/>
                        <a:sym typeface="Arial"/>
                      </a:endParaRPr>
                    </a:p>
                  </a:txBody>
                  <a:tcPr marT="45725" marB="45725" marR="21250" marL="21250">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Replicate Changes to VZ Data Catalog to GCP Data Catalog (ME &gt; ATLAS &gt; MDE)</a:t>
                      </a:r>
                      <a:endParaRPr b="0" sz="800" u="none" cap="none" strike="noStrike">
                        <a:latin typeface="Arial"/>
                        <a:ea typeface="Arial"/>
                        <a:cs typeface="Arial"/>
                        <a:sym typeface="Arial"/>
                      </a:endParaRPr>
                    </a:p>
                  </a:txBody>
                  <a:tcPr marT="45725" marB="45725" marR="21250" marL="21250">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CSV File </a:t>
                      </a:r>
                      <a:endParaRPr b="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(Column to Policy Term Mapping) </a:t>
                      </a:r>
                      <a:endParaRPr b="0" sz="800" u="none" cap="none" strike="noStrike">
                        <a:latin typeface="Arial"/>
                        <a:ea typeface="Arial"/>
                        <a:cs typeface="Arial"/>
                        <a:sym typeface="Arial"/>
                      </a:endParaRPr>
                    </a:p>
                  </a:txBody>
                  <a:tcPr marT="45725" marB="45725" marR="21250" marL="21250">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System Operations</a:t>
                      </a:r>
                      <a:endParaRPr b="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GCP (DGF)</a:t>
                      </a:r>
                      <a:endParaRPr b="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GCP (VCF)</a:t>
                      </a:r>
                      <a:endParaRPr b="0" sz="800" u="none" cap="none" strike="noStrike">
                        <a:latin typeface="Arial"/>
                        <a:ea typeface="Arial"/>
                        <a:cs typeface="Arial"/>
                        <a:sym typeface="Arial"/>
                      </a:endParaRPr>
                    </a:p>
                  </a:txBody>
                  <a:tcPr marT="45725" marB="45725" marR="21250" marL="21250">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FFFFFF"/>
                    </a:solidFill>
                  </a:tcPr>
                </a:tc>
              </a:tr>
            </a:tbl>
          </a:graphicData>
        </a:graphic>
      </p:graphicFrame>
      <p:sp>
        <p:nvSpPr>
          <p:cNvPr id="351" name="Google Shape;351;p66"/>
          <p:cNvSpPr/>
          <p:nvPr/>
        </p:nvSpPr>
        <p:spPr>
          <a:xfrm>
            <a:off x="2201400" y="3191400"/>
            <a:ext cx="4997160" cy="228600"/>
          </a:xfrm>
          <a:prstGeom prst="rect">
            <a:avLst/>
          </a:prstGeom>
          <a:no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lang="en-US" sz="600" strike="noStrike">
                <a:solidFill>
                  <a:srgbClr val="D52B1E"/>
                </a:solidFill>
                <a:latin typeface="Arial"/>
                <a:ea typeface="Arial"/>
                <a:cs typeface="Arial"/>
                <a:sym typeface="Arial"/>
              </a:rPr>
              <a:t>A few examples of Service Handoffs between Service Owners (manual &amp; automated) </a:t>
            </a:r>
            <a:endParaRPr b="0" sz="600" strike="noStrike">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67"/>
          <p:cNvSpPr txBox="1"/>
          <p:nvPr/>
        </p:nvSpPr>
        <p:spPr>
          <a:xfrm>
            <a:off x="311760" y="122400"/>
            <a:ext cx="8229240" cy="2952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lang="en-US" sz="2000" strike="noStrike">
                <a:solidFill>
                  <a:srgbClr val="1D1C1D"/>
                </a:solidFill>
                <a:latin typeface="Lato"/>
                <a:ea typeface="Lato"/>
                <a:cs typeface="Lato"/>
                <a:sym typeface="Lato"/>
              </a:rPr>
              <a:t>Service Management</a:t>
            </a:r>
            <a:endParaRPr b="0" sz="2000" strike="noStrike">
              <a:solidFill>
                <a:srgbClr val="000000"/>
              </a:solidFill>
              <a:latin typeface="Arial"/>
              <a:ea typeface="Arial"/>
              <a:cs typeface="Arial"/>
              <a:sym typeface="Arial"/>
            </a:endParaRPr>
          </a:p>
        </p:txBody>
      </p:sp>
      <p:sp>
        <p:nvSpPr>
          <p:cNvPr id="358" name="Google Shape;358;p67"/>
          <p:cNvSpPr txBox="1"/>
          <p:nvPr/>
        </p:nvSpPr>
        <p:spPr>
          <a:xfrm>
            <a:off x="1388160" y="897120"/>
            <a:ext cx="5417640" cy="3348720"/>
          </a:xfrm>
          <a:prstGeom prst="rect">
            <a:avLst/>
          </a:prstGeom>
          <a:noFill/>
          <a:ln>
            <a:noFill/>
          </a:ln>
        </p:spPr>
        <p:txBody>
          <a:bodyPr anchorCtr="0" anchor="t" bIns="91425" lIns="91425" spcFirstLastPara="1" rIns="91425" wrap="square" tIns="91425">
            <a:normAutofit/>
          </a:bodyPr>
          <a:lstStyle/>
          <a:p>
            <a:pPr indent="-285480" lvl="0" marL="297720" marR="0" rtl="0" algn="l">
              <a:lnSpc>
                <a:spcPct val="143000"/>
              </a:lnSpc>
              <a:spcBef>
                <a:spcPts val="0"/>
              </a:spcBef>
              <a:spcAft>
                <a:spcPts val="0"/>
              </a:spcAft>
              <a:buClr>
                <a:srgbClr val="000000"/>
              </a:buClr>
              <a:buSzPts val="1800"/>
              <a:buFont typeface="Noto Sans Symbols"/>
              <a:buChar char="⮚"/>
            </a:pPr>
            <a:r>
              <a:rPr b="1" lang="en-US" sz="1800" strike="noStrike">
                <a:solidFill>
                  <a:srgbClr val="000000"/>
                </a:solidFill>
                <a:latin typeface="Comic Sans MS"/>
                <a:ea typeface="Comic Sans MS"/>
                <a:cs typeface="Comic Sans MS"/>
                <a:sym typeface="Comic Sans MS"/>
              </a:rPr>
              <a:t>Support business needs</a:t>
            </a:r>
            <a:endParaRPr b="0" sz="1800" strike="noStrike">
              <a:solidFill>
                <a:srgbClr val="000000"/>
              </a:solidFill>
              <a:latin typeface="Arial"/>
              <a:ea typeface="Arial"/>
              <a:cs typeface="Arial"/>
              <a:sym typeface="Arial"/>
            </a:endParaRPr>
          </a:p>
          <a:p>
            <a:pPr indent="-285480" lvl="0" marL="297720" marR="0" rtl="0" algn="l">
              <a:lnSpc>
                <a:spcPct val="143000"/>
              </a:lnSpc>
              <a:spcBef>
                <a:spcPts val="601"/>
              </a:spcBef>
              <a:spcAft>
                <a:spcPts val="0"/>
              </a:spcAft>
              <a:buClr>
                <a:srgbClr val="000000"/>
              </a:buClr>
              <a:buSzPts val="1800"/>
              <a:buFont typeface="Noto Sans Symbols"/>
              <a:buChar char="⮚"/>
            </a:pPr>
            <a:r>
              <a:rPr b="1" lang="en-US" sz="1800" strike="noStrike">
                <a:solidFill>
                  <a:srgbClr val="000000"/>
                </a:solidFill>
                <a:latin typeface="Comic Sans MS"/>
                <a:ea typeface="Comic Sans MS"/>
                <a:cs typeface="Comic Sans MS"/>
                <a:sym typeface="Comic Sans MS"/>
              </a:rPr>
              <a:t>Manage expectations</a:t>
            </a:r>
            <a:endParaRPr b="0" sz="1800" strike="noStrike">
              <a:solidFill>
                <a:srgbClr val="000000"/>
              </a:solidFill>
              <a:latin typeface="Arial"/>
              <a:ea typeface="Arial"/>
              <a:cs typeface="Arial"/>
              <a:sym typeface="Arial"/>
            </a:endParaRPr>
          </a:p>
          <a:p>
            <a:pPr indent="-285480" lvl="0" marL="297720" marR="0" rtl="0" algn="l">
              <a:lnSpc>
                <a:spcPct val="143000"/>
              </a:lnSpc>
              <a:spcBef>
                <a:spcPts val="601"/>
              </a:spcBef>
              <a:spcAft>
                <a:spcPts val="0"/>
              </a:spcAft>
              <a:buClr>
                <a:srgbClr val="000000"/>
              </a:buClr>
              <a:buSzPts val="1800"/>
              <a:buFont typeface="Noto Sans Symbols"/>
              <a:buChar char="⮚"/>
            </a:pPr>
            <a:r>
              <a:rPr b="1" lang="en-US" sz="1800" strike="noStrike">
                <a:solidFill>
                  <a:srgbClr val="000000"/>
                </a:solidFill>
                <a:latin typeface="Comic Sans MS"/>
                <a:ea typeface="Comic Sans MS"/>
                <a:cs typeface="Comic Sans MS"/>
                <a:sym typeface="Comic Sans MS"/>
              </a:rPr>
              <a:t>Optimize resources allocation and utilization</a:t>
            </a:r>
            <a:endParaRPr b="0" sz="1800" strike="noStrike">
              <a:solidFill>
                <a:srgbClr val="000000"/>
              </a:solidFill>
              <a:latin typeface="Arial"/>
              <a:ea typeface="Arial"/>
              <a:cs typeface="Arial"/>
              <a:sym typeface="Arial"/>
            </a:endParaRPr>
          </a:p>
          <a:p>
            <a:pPr indent="-285480" lvl="0" marL="297720" marR="0" rtl="0" algn="l">
              <a:lnSpc>
                <a:spcPct val="143000"/>
              </a:lnSpc>
              <a:spcBef>
                <a:spcPts val="601"/>
              </a:spcBef>
              <a:spcAft>
                <a:spcPts val="0"/>
              </a:spcAft>
              <a:buClr>
                <a:srgbClr val="000000"/>
              </a:buClr>
              <a:buSzPts val="1800"/>
              <a:buFont typeface="Noto Sans Symbols"/>
              <a:buChar char="⮚"/>
            </a:pPr>
            <a:r>
              <a:rPr b="1" lang="en-US" sz="1800" strike="noStrike">
                <a:solidFill>
                  <a:srgbClr val="000000"/>
                </a:solidFill>
                <a:latin typeface="Comic Sans MS"/>
                <a:ea typeface="Comic Sans MS"/>
                <a:cs typeface="Comic Sans MS"/>
                <a:sym typeface="Comic Sans MS"/>
              </a:rPr>
              <a:t>Keep costs under control</a:t>
            </a:r>
            <a:endParaRPr b="0" sz="1800" strike="noStrike">
              <a:solidFill>
                <a:srgbClr val="000000"/>
              </a:solidFill>
              <a:latin typeface="Arial"/>
              <a:ea typeface="Arial"/>
              <a:cs typeface="Arial"/>
              <a:sym typeface="Arial"/>
            </a:endParaRPr>
          </a:p>
        </p:txBody>
      </p:sp>
      <p:sp>
        <p:nvSpPr>
          <p:cNvPr id="359" name="Google Shape;359;p67"/>
          <p:cNvSpPr/>
          <p:nvPr/>
        </p:nvSpPr>
        <p:spPr>
          <a:xfrm>
            <a:off x="3597120" y="2858760"/>
            <a:ext cx="4571640" cy="1158840"/>
          </a:xfrm>
          <a:prstGeom prst="rect">
            <a:avLst/>
          </a:prstGeom>
          <a:noFill/>
          <a:ln>
            <a:noFill/>
          </a:ln>
        </p:spPr>
        <p:txBody>
          <a:bodyPr anchorCtr="0" anchor="t" bIns="45700" lIns="91425" spcFirstLastPara="1" rIns="91425" wrap="square" tIns="45700">
            <a:noAutofit/>
          </a:bodyPr>
          <a:lstStyle/>
          <a:p>
            <a:pPr indent="-342720" lvl="0" marL="355680" marR="0" rtl="0" algn="l">
              <a:lnSpc>
                <a:spcPct val="100000"/>
              </a:lnSpc>
              <a:spcBef>
                <a:spcPts val="0"/>
              </a:spcBef>
              <a:spcAft>
                <a:spcPts val="0"/>
              </a:spcAft>
              <a:buNone/>
            </a:pPr>
            <a:r>
              <a:rPr b="0" lang="en-US" sz="1400" strike="noStrike">
                <a:solidFill>
                  <a:srgbClr val="009DD9"/>
                </a:solidFill>
                <a:latin typeface="Comic Sans MS"/>
                <a:ea typeface="Comic Sans MS"/>
                <a:cs typeface="Comic Sans MS"/>
                <a:sym typeface="Comic Sans MS"/>
              </a:rPr>
              <a:t>“ </a:t>
            </a:r>
            <a:r>
              <a:rPr b="0" i="1" lang="en-US" sz="1400" strike="noStrike">
                <a:solidFill>
                  <a:srgbClr val="009DD9"/>
                </a:solidFill>
                <a:latin typeface="Comic Sans MS"/>
                <a:ea typeface="Comic Sans MS"/>
                <a:cs typeface="Comic Sans MS"/>
                <a:sym typeface="Comic Sans MS"/>
              </a:rPr>
              <a:t>SLA’s force the support service to orient itself to  providing cost-effective service solutions to business  needs and to support the business plan ”</a:t>
            </a:r>
            <a:endParaRPr b="0" sz="1400" strike="noStrike">
              <a:latin typeface="Arial"/>
              <a:ea typeface="Arial"/>
              <a:cs typeface="Arial"/>
              <a:sym typeface="Arial"/>
            </a:endParaRPr>
          </a:p>
          <a:p>
            <a:pPr indent="0" lvl="0" marL="355680" marR="0" rtl="0" algn="l">
              <a:lnSpc>
                <a:spcPct val="100000"/>
              </a:lnSpc>
              <a:spcBef>
                <a:spcPts val="1689"/>
              </a:spcBef>
              <a:spcAft>
                <a:spcPts val="0"/>
              </a:spcAft>
              <a:buNone/>
            </a:pPr>
            <a:r>
              <a:rPr b="0" lang="en-US" sz="1400" strike="noStrike">
                <a:solidFill>
                  <a:srgbClr val="009DD9"/>
                </a:solidFill>
                <a:latin typeface="Comic Sans MS"/>
                <a:ea typeface="Comic Sans MS"/>
                <a:cs typeface="Comic Sans MS"/>
                <a:sym typeface="Comic Sans MS"/>
              </a:rPr>
              <a:t>(Andrew Hiles)</a:t>
            </a:r>
            <a:endParaRPr b="0" sz="1400" strike="noStrike">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68"/>
          <p:cNvSpPr txBox="1"/>
          <p:nvPr/>
        </p:nvSpPr>
        <p:spPr>
          <a:xfrm>
            <a:off x="311760" y="122400"/>
            <a:ext cx="8229240" cy="2952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lang="en-US" sz="2000" strike="noStrike">
                <a:solidFill>
                  <a:srgbClr val="1D1C1D"/>
                </a:solidFill>
                <a:latin typeface="Lato"/>
                <a:ea typeface="Lato"/>
                <a:cs typeface="Lato"/>
                <a:sym typeface="Lato"/>
              </a:rPr>
              <a:t>SLAs Must…</a:t>
            </a:r>
            <a:endParaRPr b="0" sz="2000" strike="noStrike">
              <a:solidFill>
                <a:srgbClr val="000000"/>
              </a:solidFill>
              <a:latin typeface="Arial"/>
              <a:ea typeface="Arial"/>
              <a:cs typeface="Arial"/>
              <a:sym typeface="Arial"/>
            </a:endParaRPr>
          </a:p>
        </p:txBody>
      </p:sp>
      <p:sp>
        <p:nvSpPr>
          <p:cNvPr id="366" name="Google Shape;366;p68"/>
          <p:cNvSpPr txBox="1"/>
          <p:nvPr/>
        </p:nvSpPr>
        <p:spPr>
          <a:xfrm>
            <a:off x="1388160" y="897120"/>
            <a:ext cx="6455520" cy="3348720"/>
          </a:xfrm>
          <a:prstGeom prst="rect">
            <a:avLst/>
          </a:prstGeom>
          <a:noFill/>
          <a:ln>
            <a:noFill/>
          </a:ln>
        </p:spPr>
        <p:txBody>
          <a:bodyPr anchorCtr="0" anchor="t" bIns="91425" lIns="91425" spcFirstLastPara="1" rIns="91425" wrap="square" tIns="91425">
            <a:normAutofit/>
          </a:bodyPr>
          <a:lstStyle/>
          <a:p>
            <a:pPr indent="-342720" lvl="1" marL="812160" marR="0" rtl="0" algn="l">
              <a:lnSpc>
                <a:spcPct val="100000"/>
              </a:lnSpc>
              <a:spcBef>
                <a:spcPts val="0"/>
              </a:spcBef>
              <a:spcAft>
                <a:spcPts val="0"/>
              </a:spcAft>
              <a:buClr>
                <a:srgbClr val="0E6EC5"/>
              </a:buClr>
              <a:buSzPts val="3000"/>
              <a:buFont typeface="Noto Sans Symbols"/>
              <a:buChar char="✔"/>
            </a:pPr>
            <a:r>
              <a:rPr b="0" i="0" lang="en-US" sz="2000" u="none" cap="none" strike="noStrike">
                <a:solidFill>
                  <a:srgbClr val="000000"/>
                </a:solidFill>
                <a:latin typeface="Comic Sans MS"/>
                <a:ea typeface="Comic Sans MS"/>
                <a:cs typeface="Comic Sans MS"/>
                <a:sym typeface="Comic Sans MS"/>
              </a:rPr>
              <a:t>make it possible an immediate association to the client  business and to the satisfaction of its users</a:t>
            </a:r>
            <a:endParaRPr b="0" i="0" sz="2000" u="none" cap="none" strike="noStrike">
              <a:solidFill>
                <a:srgbClr val="000000"/>
              </a:solidFill>
              <a:latin typeface="Arial"/>
              <a:ea typeface="Arial"/>
              <a:cs typeface="Arial"/>
              <a:sym typeface="Arial"/>
            </a:endParaRPr>
          </a:p>
          <a:p>
            <a:pPr indent="-105840" lvl="0" marL="914400" marR="0" rtl="0" algn="l">
              <a:lnSpc>
                <a:spcPct val="100000"/>
              </a:lnSpc>
              <a:spcBef>
                <a:spcPts val="14"/>
              </a:spcBef>
              <a:spcAft>
                <a:spcPts val="0"/>
              </a:spcAft>
              <a:buNone/>
            </a:pPr>
            <a:r>
              <a:t/>
            </a:r>
            <a:endParaRPr b="0" sz="2000" strike="noStrike">
              <a:solidFill>
                <a:srgbClr val="000000"/>
              </a:solidFill>
              <a:latin typeface="Arial"/>
              <a:ea typeface="Arial"/>
              <a:cs typeface="Arial"/>
              <a:sym typeface="Arial"/>
            </a:endParaRPr>
          </a:p>
          <a:p>
            <a:pPr indent="-342720" lvl="1" marL="812160" marR="0" rtl="0" algn="l">
              <a:lnSpc>
                <a:spcPct val="100000"/>
              </a:lnSpc>
              <a:spcBef>
                <a:spcPts val="0"/>
              </a:spcBef>
              <a:spcAft>
                <a:spcPts val="0"/>
              </a:spcAft>
              <a:buClr>
                <a:srgbClr val="0E6EC5"/>
              </a:buClr>
              <a:buSzPts val="3000"/>
              <a:buFont typeface="Noto Sans Symbols"/>
              <a:buChar char="✔"/>
            </a:pPr>
            <a:r>
              <a:rPr b="0" i="0" lang="en-US" sz="2000" u="none" cap="none" strike="noStrike">
                <a:solidFill>
                  <a:srgbClr val="000000"/>
                </a:solidFill>
                <a:latin typeface="Comic Sans MS"/>
                <a:ea typeface="Comic Sans MS"/>
                <a:cs typeface="Comic Sans MS"/>
                <a:sym typeface="Comic Sans MS"/>
              </a:rPr>
              <a:t>be formulated in such a way that permanently encourage the best cost/benefit ratio on service provision</a:t>
            </a:r>
            <a:endParaRPr b="0" i="0" sz="2000" u="none" cap="none" strike="noStrike">
              <a:solidFill>
                <a:srgbClr val="000000"/>
              </a:solidFill>
              <a:latin typeface="Arial"/>
              <a:ea typeface="Arial"/>
              <a:cs typeface="Arial"/>
              <a:sym typeface="Arial"/>
            </a:endParaRPr>
          </a:p>
          <a:p>
            <a:pPr indent="0" lvl="0" marL="114480" marR="0" rtl="0" algn="l">
              <a:lnSpc>
                <a:spcPct val="100000"/>
              </a:lnSpc>
              <a:spcBef>
                <a:spcPts val="14"/>
              </a:spcBef>
              <a:spcAft>
                <a:spcPts val="0"/>
              </a:spcAft>
              <a:buNone/>
            </a:pPr>
            <a:r>
              <a:t/>
            </a:r>
            <a:endParaRPr b="0" sz="2000" strike="noStrike">
              <a:solidFill>
                <a:srgbClr val="000000"/>
              </a:solidFill>
              <a:latin typeface="Arial"/>
              <a:ea typeface="Arial"/>
              <a:cs typeface="Arial"/>
              <a:sym typeface="Arial"/>
            </a:endParaRPr>
          </a:p>
          <a:p>
            <a:pPr indent="-342720" lvl="1" marL="812160" marR="0" rtl="0" algn="l">
              <a:lnSpc>
                <a:spcPct val="100000"/>
              </a:lnSpc>
              <a:spcBef>
                <a:spcPts val="0"/>
              </a:spcBef>
              <a:spcAft>
                <a:spcPts val="0"/>
              </a:spcAft>
              <a:buClr>
                <a:srgbClr val="0E6EC5"/>
              </a:buClr>
              <a:buSzPts val="3000"/>
              <a:buFont typeface="Noto Sans Symbols"/>
              <a:buChar char="✔"/>
            </a:pPr>
            <a:r>
              <a:rPr b="0" i="0" lang="en-US" sz="2000" u="none" cap="none" strike="noStrike">
                <a:solidFill>
                  <a:srgbClr val="000000"/>
                </a:solidFill>
                <a:latin typeface="Comic Sans MS"/>
                <a:ea typeface="Comic Sans MS"/>
                <a:cs typeface="Comic Sans MS"/>
                <a:sym typeface="Comic Sans MS"/>
              </a:rPr>
              <a:t>be continually reevaluated to reflect the dynamic objectives and priorities of the client business needs</a:t>
            </a:r>
            <a:endParaRPr b="0" i="0" sz="2000" u="none" cap="none" strike="noStrike">
              <a:solidFill>
                <a:srgbClr val="000000"/>
              </a:solidFill>
              <a:latin typeface="Arial"/>
              <a:ea typeface="Arial"/>
              <a:cs typeface="Arial"/>
              <a:sym typeface="Arial"/>
            </a:endParaRPr>
          </a:p>
          <a:p>
            <a:pPr indent="-166320" lvl="0" marL="756360" marR="0" rtl="0" algn="l">
              <a:lnSpc>
                <a:spcPct val="100000"/>
              </a:lnSpc>
              <a:spcBef>
                <a:spcPts val="0"/>
              </a:spcBef>
              <a:spcAft>
                <a:spcPts val="0"/>
              </a:spcAft>
              <a:buNone/>
            </a:pPr>
            <a:r>
              <a:t/>
            </a:r>
            <a:endParaRPr b="0" sz="2000"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69"/>
          <p:cNvSpPr txBox="1"/>
          <p:nvPr/>
        </p:nvSpPr>
        <p:spPr>
          <a:xfrm>
            <a:off x="311760" y="122400"/>
            <a:ext cx="8229240" cy="2952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lang="en-US" sz="2000" strike="noStrike">
                <a:solidFill>
                  <a:srgbClr val="000000"/>
                </a:solidFill>
                <a:latin typeface="Arial"/>
                <a:ea typeface="Arial"/>
                <a:cs typeface="Arial"/>
                <a:sym typeface="Arial"/>
              </a:rPr>
              <a:t>Service Design Mindset</a:t>
            </a:r>
            <a:endParaRPr b="0" sz="2000" strike="noStrike">
              <a:solidFill>
                <a:srgbClr val="000000"/>
              </a:solidFill>
              <a:latin typeface="Arial"/>
              <a:ea typeface="Arial"/>
              <a:cs typeface="Arial"/>
              <a:sym typeface="Arial"/>
            </a:endParaRPr>
          </a:p>
        </p:txBody>
      </p:sp>
      <p:sp>
        <p:nvSpPr>
          <p:cNvPr id="372" name="Google Shape;372;p69"/>
          <p:cNvSpPr txBox="1"/>
          <p:nvPr/>
        </p:nvSpPr>
        <p:spPr>
          <a:xfrm>
            <a:off x="447120" y="1422720"/>
            <a:ext cx="8093880" cy="2297880"/>
          </a:xfrm>
          <a:prstGeom prst="rect">
            <a:avLst/>
          </a:prstGeom>
          <a:noFill/>
          <a:ln>
            <a:noFill/>
          </a:ln>
        </p:spPr>
        <p:txBody>
          <a:bodyPr anchorCtr="0" anchor="t" bIns="91425" lIns="91425" spcFirstLastPara="1" rIns="91425" wrap="square" tIns="91425">
            <a:normAutofit/>
          </a:bodyPr>
          <a:lstStyle/>
          <a:p>
            <a:pPr indent="0" lvl="0" marL="0" marR="0" rtl="0" algn="l">
              <a:lnSpc>
                <a:spcPct val="120000"/>
              </a:lnSpc>
              <a:spcBef>
                <a:spcPts val="0"/>
              </a:spcBef>
              <a:spcAft>
                <a:spcPts val="0"/>
              </a:spcAft>
              <a:buNone/>
            </a:pPr>
            <a:r>
              <a:rPr b="0" lang="en-US" sz="1600" strike="noStrike">
                <a:solidFill>
                  <a:srgbClr val="7F7F7F"/>
                </a:solidFill>
                <a:latin typeface="Arial"/>
                <a:ea typeface="Arial"/>
                <a:cs typeface="Arial"/>
                <a:sym typeface="Arial"/>
              </a:rPr>
              <a:t>“Service Design is a practice to create useful,  usable, desirable, effective and distinctive  services. These are developed through an iterative,  user-centered and collaborative design process,  focusing on the end user experience and taking  multiple tangible and intangible touchpoints in  consideration. Service Design aims to create value  for both the business as well as the customer.”</a:t>
            </a:r>
            <a:endParaRPr b="0" sz="1600" strike="noStrike">
              <a:solidFill>
                <a:srgbClr val="000000"/>
              </a:solidFill>
              <a:latin typeface="Arial"/>
              <a:ea typeface="Arial"/>
              <a:cs typeface="Arial"/>
              <a:sym typeface="Arial"/>
            </a:endParaRPr>
          </a:p>
        </p:txBody>
      </p:sp>
      <p:sp>
        <p:nvSpPr>
          <p:cNvPr id="373" name="Google Shape;373;p69"/>
          <p:cNvSpPr txBox="1"/>
          <p:nvPr/>
        </p:nvSpPr>
        <p:spPr>
          <a:xfrm>
            <a:off x="8603640" y="4661280"/>
            <a:ext cx="228240" cy="26532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000000"/>
                </a:solidFill>
                <a:latin typeface="Arial"/>
                <a:ea typeface="Arial"/>
                <a:cs typeface="Arial"/>
                <a:sym typeface="Arial"/>
              </a:rPr>
              <a:t>‹#›</a:t>
            </a:fld>
            <a:endParaRPr b="0" sz="1000" strike="noStrike">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70"/>
          <p:cNvSpPr txBox="1"/>
          <p:nvPr/>
        </p:nvSpPr>
        <p:spPr>
          <a:xfrm>
            <a:off x="311760" y="122400"/>
            <a:ext cx="8229240" cy="2952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lang="en-US" sz="2000" strike="noStrike">
                <a:solidFill>
                  <a:srgbClr val="000000"/>
                </a:solidFill>
                <a:latin typeface="Arial"/>
                <a:ea typeface="Arial"/>
                <a:cs typeface="Arial"/>
                <a:sym typeface="Arial"/>
              </a:rPr>
              <a:t>Service Design:  Beyond Products</a:t>
            </a:r>
            <a:endParaRPr b="0" sz="2000" strike="noStrike">
              <a:solidFill>
                <a:srgbClr val="000000"/>
              </a:solidFill>
              <a:latin typeface="Arial"/>
              <a:ea typeface="Arial"/>
              <a:cs typeface="Arial"/>
              <a:sym typeface="Arial"/>
            </a:endParaRPr>
          </a:p>
        </p:txBody>
      </p:sp>
      <p:sp>
        <p:nvSpPr>
          <p:cNvPr id="379" name="Google Shape;379;p70"/>
          <p:cNvSpPr txBox="1"/>
          <p:nvPr/>
        </p:nvSpPr>
        <p:spPr>
          <a:xfrm>
            <a:off x="311760" y="599040"/>
            <a:ext cx="8093880" cy="1703160"/>
          </a:xfrm>
          <a:prstGeom prst="rect">
            <a:avLst/>
          </a:prstGeom>
          <a:noFill/>
          <a:ln>
            <a:noFill/>
          </a:ln>
        </p:spPr>
        <p:txBody>
          <a:bodyPr anchorCtr="0" anchor="t" bIns="91425" lIns="91425" spcFirstLastPara="1" rIns="91425" wrap="square" tIns="91425">
            <a:normAutofit/>
          </a:bodyPr>
          <a:lstStyle/>
          <a:p>
            <a:pPr indent="-342720" lvl="0" marL="457200" marR="0" rtl="0" algn="l">
              <a:lnSpc>
                <a:spcPct val="100000"/>
              </a:lnSpc>
              <a:spcBef>
                <a:spcPts val="0"/>
              </a:spcBef>
              <a:spcAft>
                <a:spcPts val="0"/>
              </a:spcAft>
              <a:buClr>
                <a:srgbClr val="000000"/>
              </a:buClr>
              <a:buSzPts val="2000"/>
              <a:buFont typeface="Arial"/>
              <a:buChar char="●"/>
            </a:pPr>
            <a:r>
              <a:rPr b="0" lang="en-US" sz="2000" strike="noStrike">
                <a:solidFill>
                  <a:srgbClr val="000000"/>
                </a:solidFill>
                <a:latin typeface="Arial"/>
                <a:ea typeface="Arial"/>
                <a:cs typeface="Arial"/>
                <a:sym typeface="Arial"/>
              </a:rPr>
              <a:t>Almost certainly you are building a service, not a  product.</a:t>
            </a:r>
            <a:endParaRPr b="0" sz="2000" strike="noStrike">
              <a:solidFill>
                <a:srgbClr val="000000"/>
              </a:solidFill>
              <a:latin typeface="Arial"/>
              <a:ea typeface="Arial"/>
              <a:cs typeface="Arial"/>
              <a:sym typeface="Arial"/>
            </a:endParaRPr>
          </a:p>
          <a:p>
            <a:pPr indent="-342720" lvl="0" marL="457200" marR="0" rtl="0" algn="l">
              <a:lnSpc>
                <a:spcPct val="100000"/>
              </a:lnSpc>
              <a:spcBef>
                <a:spcPts val="601"/>
              </a:spcBef>
              <a:spcAft>
                <a:spcPts val="0"/>
              </a:spcAft>
              <a:buClr>
                <a:srgbClr val="000000"/>
              </a:buClr>
              <a:buSzPts val="2000"/>
              <a:buFont typeface="Arial"/>
              <a:buChar char="●"/>
            </a:pPr>
            <a:r>
              <a:rPr b="0" lang="en-US" sz="2000" strike="noStrike">
                <a:solidFill>
                  <a:srgbClr val="000000"/>
                </a:solidFill>
                <a:latin typeface="Arial"/>
                <a:ea typeface="Arial"/>
                <a:cs typeface="Arial"/>
                <a:sym typeface="Arial"/>
              </a:rPr>
              <a:t>Services could be considered the new products.</a:t>
            </a:r>
            <a:endParaRPr b="0" sz="2000" strike="noStrike">
              <a:solidFill>
                <a:srgbClr val="000000"/>
              </a:solidFill>
              <a:latin typeface="Arial"/>
              <a:ea typeface="Arial"/>
              <a:cs typeface="Arial"/>
              <a:sym typeface="Arial"/>
            </a:endParaRPr>
          </a:p>
          <a:p>
            <a:pPr indent="-342720" lvl="0" marL="457200" marR="0" rtl="0" algn="l">
              <a:lnSpc>
                <a:spcPct val="100000"/>
              </a:lnSpc>
              <a:spcBef>
                <a:spcPts val="601"/>
              </a:spcBef>
              <a:spcAft>
                <a:spcPts val="0"/>
              </a:spcAft>
              <a:buClr>
                <a:srgbClr val="000000"/>
              </a:buClr>
              <a:buSzPts val="2000"/>
              <a:buFont typeface="Arial"/>
              <a:buChar char="●"/>
            </a:pPr>
            <a:r>
              <a:rPr b="0" lang="en-US" sz="2000" strike="noStrike">
                <a:solidFill>
                  <a:srgbClr val="000000"/>
                </a:solidFill>
                <a:latin typeface="Arial"/>
                <a:ea typeface="Arial"/>
                <a:cs typeface="Arial"/>
                <a:sym typeface="Arial"/>
              </a:rPr>
              <a:t>Products do not vanish but are embedded in an  ecosystem. This service ecosystem encompasses  all touchpoints with the user.</a:t>
            </a:r>
            <a:endParaRPr b="0" sz="2000" strike="noStrike">
              <a:solidFill>
                <a:srgbClr val="000000"/>
              </a:solidFill>
              <a:latin typeface="Arial"/>
              <a:ea typeface="Arial"/>
              <a:cs typeface="Arial"/>
              <a:sym typeface="Arial"/>
            </a:endParaRPr>
          </a:p>
        </p:txBody>
      </p:sp>
      <p:sp>
        <p:nvSpPr>
          <p:cNvPr id="380" name="Google Shape;380;p70"/>
          <p:cNvSpPr txBox="1"/>
          <p:nvPr/>
        </p:nvSpPr>
        <p:spPr>
          <a:xfrm>
            <a:off x="8603640" y="4661280"/>
            <a:ext cx="228240" cy="26532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000000"/>
                </a:solidFill>
                <a:latin typeface="Arial"/>
                <a:ea typeface="Arial"/>
                <a:cs typeface="Arial"/>
                <a:sym typeface="Arial"/>
              </a:rPr>
              <a:t>‹#›</a:t>
            </a:fld>
            <a:endParaRPr b="0" sz="1000" strike="noStrike">
              <a:latin typeface="Times New Roman"/>
              <a:ea typeface="Times New Roman"/>
              <a:cs typeface="Times New Roman"/>
              <a:sym typeface="Times New Roman"/>
            </a:endParaRPr>
          </a:p>
        </p:txBody>
      </p:sp>
      <p:sp>
        <p:nvSpPr>
          <p:cNvPr id="381" name="Google Shape;381;p70"/>
          <p:cNvSpPr/>
          <p:nvPr/>
        </p:nvSpPr>
        <p:spPr>
          <a:xfrm>
            <a:off x="816480" y="3178800"/>
            <a:ext cx="3134880" cy="821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lang="en-US" sz="1600" strike="noStrike">
                <a:solidFill>
                  <a:srgbClr val="595959"/>
                </a:solidFill>
                <a:latin typeface="Arial"/>
                <a:ea typeface="Arial"/>
                <a:cs typeface="Arial"/>
                <a:sym typeface="Arial"/>
              </a:rPr>
              <a:t>A  pre-produced, finished thin waiting on the shelf to be picked up by a consumer</a:t>
            </a:r>
            <a:endParaRPr b="0" sz="1600" strike="noStrike">
              <a:latin typeface="Arial"/>
              <a:ea typeface="Arial"/>
              <a:cs typeface="Arial"/>
              <a:sym typeface="Arial"/>
            </a:endParaRPr>
          </a:p>
        </p:txBody>
      </p:sp>
      <p:pic>
        <p:nvPicPr>
          <p:cNvPr id="382" name="Google Shape;382;p70"/>
          <p:cNvPicPr preferRelativeResize="0"/>
          <p:nvPr/>
        </p:nvPicPr>
        <p:blipFill rotWithShape="1">
          <a:blip r:embed="rId3">
            <a:alphaModFix/>
          </a:blip>
          <a:srcRect b="0" l="0" r="0" t="0"/>
          <a:stretch/>
        </p:blipFill>
        <p:spPr>
          <a:xfrm>
            <a:off x="6342480" y="2199240"/>
            <a:ext cx="914040" cy="914040"/>
          </a:xfrm>
          <a:prstGeom prst="rect">
            <a:avLst/>
          </a:prstGeom>
          <a:noFill/>
          <a:ln>
            <a:noFill/>
          </a:ln>
        </p:spPr>
      </p:pic>
      <p:pic>
        <p:nvPicPr>
          <p:cNvPr id="383" name="Google Shape;383;p70"/>
          <p:cNvPicPr preferRelativeResize="0"/>
          <p:nvPr/>
        </p:nvPicPr>
        <p:blipFill rotWithShape="1">
          <a:blip r:embed="rId4">
            <a:alphaModFix/>
          </a:blip>
          <a:srcRect b="0" l="0" r="0" t="0"/>
          <a:stretch/>
        </p:blipFill>
        <p:spPr>
          <a:xfrm>
            <a:off x="1541160" y="2242800"/>
            <a:ext cx="914040" cy="914040"/>
          </a:xfrm>
          <a:prstGeom prst="rect">
            <a:avLst/>
          </a:prstGeom>
          <a:noFill/>
          <a:ln>
            <a:noFill/>
          </a:ln>
        </p:spPr>
      </p:pic>
      <p:sp>
        <p:nvSpPr>
          <p:cNvPr id="384" name="Google Shape;384;p70"/>
          <p:cNvSpPr/>
          <p:nvPr/>
        </p:nvSpPr>
        <p:spPr>
          <a:xfrm>
            <a:off x="5232240" y="3178800"/>
            <a:ext cx="3371040" cy="821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lang="en-US" sz="1600" strike="noStrike">
                <a:solidFill>
                  <a:srgbClr val="595959"/>
                </a:solidFill>
                <a:latin typeface="Arial"/>
                <a:ea typeface="Arial"/>
                <a:cs typeface="Arial"/>
                <a:sym typeface="Arial"/>
              </a:rPr>
              <a:t>A pre-planned set of activities waiting to be shaped and executed in inter-action with a user.</a:t>
            </a:r>
            <a:endParaRPr b="0" sz="1600" strike="noStrike">
              <a:latin typeface="Arial"/>
              <a:ea typeface="Arial"/>
              <a:cs typeface="Arial"/>
              <a:sym typeface="Arial"/>
            </a:endParaRPr>
          </a:p>
        </p:txBody>
      </p:sp>
      <p:sp>
        <p:nvSpPr>
          <p:cNvPr id="385" name="Google Shape;385;p70"/>
          <p:cNvSpPr/>
          <p:nvPr/>
        </p:nvSpPr>
        <p:spPr>
          <a:xfrm>
            <a:off x="2455560" y="2533320"/>
            <a:ext cx="1299600" cy="3049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lang="en-US" sz="1400" strike="noStrike">
                <a:solidFill>
                  <a:srgbClr val="595959"/>
                </a:solidFill>
                <a:latin typeface="Arial"/>
                <a:ea typeface="Arial"/>
                <a:cs typeface="Arial"/>
                <a:sym typeface="Arial"/>
              </a:rPr>
              <a:t>Product</a:t>
            </a:r>
            <a:endParaRPr b="0" sz="1400" strike="noStrike">
              <a:latin typeface="Arial"/>
              <a:ea typeface="Arial"/>
              <a:cs typeface="Arial"/>
              <a:sym typeface="Arial"/>
            </a:endParaRPr>
          </a:p>
        </p:txBody>
      </p:sp>
      <p:sp>
        <p:nvSpPr>
          <p:cNvPr id="386" name="Google Shape;386;p70"/>
          <p:cNvSpPr/>
          <p:nvPr/>
        </p:nvSpPr>
        <p:spPr>
          <a:xfrm>
            <a:off x="7234920" y="2533320"/>
            <a:ext cx="1299600" cy="3049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lang="en-US" sz="1400" strike="noStrike">
                <a:solidFill>
                  <a:srgbClr val="595959"/>
                </a:solidFill>
                <a:latin typeface="Arial"/>
                <a:ea typeface="Arial"/>
                <a:cs typeface="Arial"/>
                <a:sym typeface="Arial"/>
              </a:rPr>
              <a:t>Service</a:t>
            </a:r>
            <a:endParaRPr b="0" sz="1400" strike="noStrike">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71"/>
          <p:cNvSpPr txBox="1"/>
          <p:nvPr/>
        </p:nvSpPr>
        <p:spPr>
          <a:xfrm>
            <a:off x="311760" y="122400"/>
            <a:ext cx="8229240" cy="2952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lang="en-US" sz="2000" strike="noStrike">
                <a:solidFill>
                  <a:srgbClr val="000000"/>
                </a:solidFill>
                <a:latin typeface="Arial"/>
                <a:ea typeface="Arial"/>
                <a:cs typeface="Arial"/>
                <a:sym typeface="Arial"/>
              </a:rPr>
              <a:t>User Centered Design</a:t>
            </a:r>
            <a:endParaRPr b="0" sz="2000" strike="noStrike">
              <a:solidFill>
                <a:srgbClr val="000000"/>
              </a:solidFill>
              <a:latin typeface="Arial"/>
              <a:ea typeface="Arial"/>
              <a:cs typeface="Arial"/>
              <a:sym typeface="Arial"/>
            </a:endParaRPr>
          </a:p>
        </p:txBody>
      </p:sp>
      <p:sp>
        <p:nvSpPr>
          <p:cNvPr id="392" name="Google Shape;392;p71"/>
          <p:cNvSpPr txBox="1"/>
          <p:nvPr/>
        </p:nvSpPr>
        <p:spPr>
          <a:xfrm>
            <a:off x="311760" y="599040"/>
            <a:ext cx="8291520" cy="3969360"/>
          </a:xfrm>
          <a:prstGeom prst="rect">
            <a:avLst/>
          </a:prstGeom>
          <a:noFill/>
          <a:ln>
            <a:noFill/>
          </a:ln>
        </p:spPr>
        <p:txBody>
          <a:bodyPr anchorCtr="0" anchor="t" bIns="91425" lIns="91425" spcFirstLastPara="1" rIns="91425" wrap="square" tIns="91425">
            <a:normAutofit/>
          </a:bodyPr>
          <a:lstStyle/>
          <a:p>
            <a:pPr indent="-285480" lvl="0" marL="351000" marR="0" rtl="0" algn="l">
              <a:lnSpc>
                <a:spcPct val="100000"/>
              </a:lnSpc>
              <a:spcBef>
                <a:spcPts val="0"/>
              </a:spcBef>
              <a:spcAft>
                <a:spcPts val="0"/>
              </a:spcAft>
              <a:buClr>
                <a:srgbClr val="000000"/>
              </a:buClr>
              <a:buSzPts val="1600"/>
              <a:buFont typeface="Arial"/>
              <a:buChar char="•"/>
            </a:pPr>
            <a:r>
              <a:rPr b="1" lang="en-US" sz="1600" strike="noStrike">
                <a:solidFill>
                  <a:srgbClr val="000000"/>
                </a:solidFill>
                <a:latin typeface="Arial"/>
                <a:ea typeface="Arial"/>
                <a:cs typeface="Arial"/>
                <a:sym typeface="Arial"/>
              </a:rPr>
              <a:t>Specify the context of use</a:t>
            </a:r>
            <a:endParaRPr b="0" sz="1600" strike="noStrike">
              <a:solidFill>
                <a:srgbClr val="000000"/>
              </a:solidFill>
              <a:latin typeface="Arial"/>
              <a:ea typeface="Arial"/>
              <a:cs typeface="Arial"/>
              <a:sym typeface="Arial"/>
            </a:endParaRPr>
          </a:p>
          <a:p>
            <a:pPr indent="-285480" lvl="1" marL="808200" marR="0" rtl="0" algn="l">
              <a:lnSpc>
                <a:spcPct val="100000"/>
              </a:lnSpc>
              <a:spcBef>
                <a:spcPts val="601"/>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Identify the personas who will use the product, what they will use it for, and under what conditions they will use it.</a:t>
            </a:r>
            <a:endParaRPr b="0" i="0" sz="1600" u="none" cap="none" strike="noStrike">
              <a:solidFill>
                <a:srgbClr val="000000"/>
              </a:solidFill>
              <a:latin typeface="Arial"/>
              <a:ea typeface="Arial"/>
              <a:cs typeface="Arial"/>
              <a:sym typeface="Arial"/>
            </a:endParaRPr>
          </a:p>
          <a:p>
            <a:pPr indent="-285480" lvl="0" marL="351000" marR="0" rtl="0" algn="l">
              <a:lnSpc>
                <a:spcPct val="100000"/>
              </a:lnSpc>
              <a:spcBef>
                <a:spcPts val="601"/>
              </a:spcBef>
              <a:spcAft>
                <a:spcPts val="0"/>
              </a:spcAft>
              <a:buClr>
                <a:srgbClr val="000000"/>
              </a:buClr>
              <a:buSzPts val="1600"/>
              <a:buFont typeface="Arial"/>
              <a:buChar char="•"/>
            </a:pPr>
            <a:r>
              <a:rPr b="1" lang="en-US" sz="1600" strike="noStrike">
                <a:solidFill>
                  <a:srgbClr val="000000"/>
                </a:solidFill>
                <a:latin typeface="Arial"/>
                <a:ea typeface="Arial"/>
                <a:cs typeface="Arial"/>
                <a:sym typeface="Arial"/>
              </a:rPr>
              <a:t>Specify requirements</a:t>
            </a:r>
            <a:endParaRPr b="0" sz="1600" strike="noStrike">
              <a:solidFill>
                <a:srgbClr val="000000"/>
              </a:solidFill>
              <a:latin typeface="Arial"/>
              <a:ea typeface="Arial"/>
              <a:cs typeface="Arial"/>
              <a:sym typeface="Arial"/>
            </a:endParaRPr>
          </a:p>
          <a:p>
            <a:pPr indent="-285480" lvl="1" marL="808200" marR="0" rtl="0" algn="l">
              <a:lnSpc>
                <a:spcPct val="100000"/>
              </a:lnSpc>
              <a:spcBef>
                <a:spcPts val="601"/>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Identify any business requirements or user goals that must be met for the product to be successful.</a:t>
            </a:r>
            <a:endParaRPr b="0" i="0" sz="1600" u="none" cap="none" strike="noStrike">
              <a:solidFill>
                <a:srgbClr val="000000"/>
              </a:solidFill>
              <a:latin typeface="Arial"/>
              <a:ea typeface="Arial"/>
              <a:cs typeface="Arial"/>
              <a:sym typeface="Arial"/>
            </a:endParaRPr>
          </a:p>
          <a:p>
            <a:pPr indent="-285480" lvl="0" marL="351000" marR="0" rtl="0" algn="l">
              <a:lnSpc>
                <a:spcPct val="100000"/>
              </a:lnSpc>
              <a:spcBef>
                <a:spcPts val="601"/>
              </a:spcBef>
              <a:spcAft>
                <a:spcPts val="0"/>
              </a:spcAft>
              <a:buClr>
                <a:srgbClr val="000000"/>
              </a:buClr>
              <a:buSzPts val="1600"/>
              <a:buFont typeface="Arial"/>
              <a:buChar char="•"/>
            </a:pPr>
            <a:r>
              <a:rPr b="1" lang="en-US" sz="1600" strike="noStrike">
                <a:solidFill>
                  <a:srgbClr val="000000"/>
                </a:solidFill>
                <a:latin typeface="Arial"/>
                <a:ea typeface="Arial"/>
                <a:cs typeface="Arial"/>
                <a:sym typeface="Arial"/>
              </a:rPr>
              <a:t>Create design solutions</a:t>
            </a:r>
            <a:endParaRPr b="0" sz="1600" strike="noStrike">
              <a:solidFill>
                <a:srgbClr val="000000"/>
              </a:solidFill>
              <a:latin typeface="Arial"/>
              <a:ea typeface="Arial"/>
              <a:cs typeface="Arial"/>
              <a:sym typeface="Arial"/>
            </a:endParaRPr>
          </a:p>
          <a:p>
            <a:pPr indent="-285480" lvl="1" marL="808200" marR="0" rtl="0" algn="l">
              <a:lnSpc>
                <a:spcPct val="100000"/>
              </a:lnSpc>
              <a:spcBef>
                <a:spcPts val="601"/>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This part of the process may be done in stages, building from a rough concept to a complete design.</a:t>
            </a:r>
            <a:endParaRPr b="0" i="0" sz="1600" u="none" cap="none" strike="noStrike">
              <a:solidFill>
                <a:srgbClr val="000000"/>
              </a:solidFill>
              <a:latin typeface="Arial"/>
              <a:ea typeface="Arial"/>
              <a:cs typeface="Arial"/>
              <a:sym typeface="Arial"/>
            </a:endParaRPr>
          </a:p>
          <a:p>
            <a:pPr indent="-285480" lvl="0" marL="351000" marR="0" rtl="0" algn="l">
              <a:lnSpc>
                <a:spcPct val="100000"/>
              </a:lnSpc>
              <a:spcBef>
                <a:spcPts val="601"/>
              </a:spcBef>
              <a:spcAft>
                <a:spcPts val="0"/>
              </a:spcAft>
              <a:buClr>
                <a:srgbClr val="000000"/>
              </a:buClr>
              <a:buSzPts val="1600"/>
              <a:buFont typeface="Arial"/>
              <a:buChar char="•"/>
            </a:pPr>
            <a:r>
              <a:rPr b="1" lang="en-US" sz="1600" strike="noStrike">
                <a:solidFill>
                  <a:srgbClr val="000000"/>
                </a:solidFill>
                <a:latin typeface="Arial"/>
                <a:ea typeface="Arial"/>
                <a:cs typeface="Arial"/>
                <a:sym typeface="Arial"/>
              </a:rPr>
              <a:t>Evaluate designs</a:t>
            </a:r>
            <a:endParaRPr b="0" sz="1600" strike="noStrike">
              <a:solidFill>
                <a:srgbClr val="000000"/>
              </a:solidFill>
              <a:latin typeface="Arial"/>
              <a:ea typeface="Arial"/>
              <a:cs typeface="Arial"/>
              <a:sym typeface="Arial"/>
            </a:endParaRPr>
          </a:p>
          <a:p>
            <a:pPr indent="-285480" lvl="1" marL="808200" marR="0" rtl="0" algn="l">
              <a:lnSpc>
                <a:spcPct val="100000"/>
              </a:lnSpc>
              <a:spcBef>
                <a:spcPts val="601"/>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The most important part of this process is that evaluation ‐ ideally through usability testing with actual users ‐ is as integral as quality testing is to good software development.</a:t>
            </a:r>
            <a:endParaRPr b="0" i="0" sz="1600" u="none" cap="none" strike="noStrike">
              <a:solidFill>
                <a:srgbClr val="000000"/>
              </a:solidFill>
              <a:latin typeface="Arial"/>
              <a:ea typeface="Arial"/>
              <a:cs typeface="Arial"/>
              <a:sym typeface="Arial"/>
            </a:endParaRPr>
          </a:p>
        </p:txBody>
      </p:sp>
      <p:sp>
        <p:nvSpPr>
          <p:cNvPr id="393" name="Google Shape;393;p71"/>
          <p:cNvSpPr txBox="1"/>
          <p:nvPr/>
        </p:nvSpPr>
        <p:spPr>
          <a:xfrm>
            <a:off x="8603640" y="4661280"/>
            <a:ext cx="228240" cy="26532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000000"/>
                </a:solidFill>
                <a:latin typeface="Arial"/>
                <a:ea typeface="Arial"/>
                <a:cs typeface="Arial"/>
                <a:sym typeface="Arial"/>
              </a:rPr>
              <a:t>‹#›</a:t>
            </a:fld>
            <a:endParaRPr b="0" sz="1000" strike="noStrike">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72"/>
          <p:cNvSpPr txBox="1"/>
          <p:nvPr/>
        </p:nvSpPr>
        <p:spPr>
          <a:xfrm>
            <a:off x="311760" y="122400"/>
            <a:ext cx="8229240" cy="2952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lang="en-US" sz="2000" strike="noStrike">
                <a:solidFill>
                  <a:srgbClr val="000000"/>
                </a:solidFill>
                <a:latin typeface="Arial"/>
                <a:ea typeface="Arial"/>
                <a:cs typeface="Arial"/>
                <a:sym typeface="Arial"/>
              </a:rPr>
              <a:t>Service Owner Leadership</a:t>
            </a:r>
            <a:endParaRPr b="0" sz="2000" strike="noStrike">
              <a:solidFill>
                <a:srgbClr val="000000"/>
              </a:solidFill>
              <a:latin typeface="Arial"/>
              <a:ea typeface="Arial"/>
              <a:cs typeface="Arial"/>
              <a:sym typeface="Arial"/>
            </a:endParaRPr>
          </a:p>
        </p:txBody>
      </p:sp>
      <p:sp>
        <p:nvSpPr>
          <p:cNvPr id="399" name="Google Shape;399;p72"/>
          <p:cNvSpPr txBox="1"/>
          <p:nvPr/>
        </p:nvSpPr>
        <p:spPr>
          <a:xfrm>
            <a:off x="1021680" y="1343160"/>
            <a:ext cx="6457320" cy="2044080"/>
          </a:xfrm>
          <a:prstGeom prst="rect">
            <a:avLst/>
          </a:prstGeom>
          <a:noFill/>
          <a:ln>
            <a:noFill/>
          </a:ln>
        </p:spPr>
        <p:txBody>
          <a:bodyPr anchorCtr="0" anchor="t" bIns="91425" lIns="91425" spcFirstLastPara="1" rIns="91425" wrap="square" tIns="91425">
            <a:normAutofit/>
          </a:bodyPr>
          <a:lstStyle/>
          <a:p>
            <a:pPr indent="0" lvl="0" marL="0" marR="0" rtl="0" algn="l">
              <a:lnSpc>
                <a:spcPct val="113000"/>
              </a:lnSpc>
              <a:spcBef>
                <a:spcPts val="0"/>
              </a:spcBef>
              <a:spcAft>
                <a:spcPts val="0"/>
              </a:spcAft>
              <a:buNone/>
            </a:pPr>
            <a:r>
              <a:rPr b="0" lang="en-US" sz="2400" strike="noStrike">
                <a:solidFill>
                  <a:srgbClr val="595959"/>
                </a:solidFill>
                <a:latin typeface="Arial"/>
                <a:ea typeface="Arial"/>
                <a:cs typeface="Arial"/>
                <a:sym typeface="Arial"/>
              </a:rPr>
              <a:t>Service Owner negotiates, agrees and documents appropriate  service targets with representatives of the  business, and then monitors and produces reports on the service provider’s ability  to deliver the agreed  level of services.</a:t>
            </a:r>
            <a:endParaRPr b="0" sz="2400" strike="noStrike">
              <a:solidFill>
                <a:srgbClr val="000000"/>
              </a:solidFill>
              <a:latin typeface="Arial"/>
              <a:ea typeface="Arial"/>
              <a:cs typeface="Arial"/>
              <a:sym typeface="Arial"/>
            </a:endParaRPr>
          </a:p>
          <a:p>
            <a:pPr indent="-228240" lvl="0" marL="457200" marR="0" rtl="0" algn="l">
              <a:lnSpc>
                <a:spcPct val="100000"/>
              </a:lnSpc>
              <a:spcBef>
                <a:spcPts val="0"/>
              </a:spcBef>
              <a:spcAft>
                <a:spcPts val="0"/>
              </a:spcAft>
              <a:buNone/>
            </a:pPr>
            <a:r>
              <a:t/>
            </a:r>
            <a:endParaRPr b="0" sz="2400" strike="noStrike">
              <a:solidFill>
                <a:srgbClr val="000000"/>
              </a:solidFill>
              <a:latin typeface="Arial"/>
              <a:ea typeface="Arial"/>
              <a:cs typeface="Arial"/>
              <a:sym typeface="Arial"/>
            </a:endParaRPr>
          </a:p>
        </p:txBody>
      </p:sp>
      <p:sp>
        <p:nvSpPr>
          <p:cNvPr id="400" name="Google Shape;400;p72"/>
          <p:cNvSpPr txBox="1"/>
          <p:nvPr/>
        </p:nvSpPr>
        <p:spPr>
          <a:xfrm>
            <a:off x="8603640" y="4661280"/>
            <a:ext cx="228240" cy="26532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000000"/>
                </a:solidFill>
                <a:latin typeface="Arial"/>
                <a:ea typeface="Arial"/>
                <a:cs typeface="Arial"/>
                <a:sym typeface="Arial"/>
              </a:rPr>
              <a:t>‹#›</a:t>
            </a:fld>
            <a:endParaRPr b="0" sz="1000" strike="noStrike">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73"/>
          <p:cNvSpPr txBox="1"/>
          <p:nvPr/>
        </p:nvSpPr>
        <p:spPr>
          <a:xfrm>
            <a:off x="372600" y="1158480"/>
            <a:ext cx="8229240" cy="235296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b="1" lang="en-US" sz="2800" strike="noStrike">
                <a:solidFill>
                  <a:srgbClr val="FFFFFF"/>
                </a:solidFill>
                <a:latin typeface="Arial"/>
                <a:ea typeface="Arial"/>
                <a:cs typeface="Arial"/>
                <a:sym typeface="Arial"/>
              </a:rPr>
              <a:t>5 Step Planning Guide</a:t>
            </a:r>
            <a:endParaRPr b="0" sz="2800" strike="noStrike">
              <a:solidFill>
                <a:srgbClr val="000000"/>
              </a:solidFill>
              <a:latin typeface="Arial"/>
              <a:ea typeface="Arial"/>
              <a:cs typeface="Arial"/>
              <a:sym typeface="Arial"/>
            </a:endParaRPr>
          </a:p>
        </p:txBody>
      </p:sp>
      <p:sp>
        <p:nvSpPr>
          <p:cNvPr id="407" name="Google Shape;407;p73"/>
          <p:cNvSpPr txBox="1"/>
          <p:nvPr/>
        </p:nvSpPr>
        <p:spPr>
          <a:xfrm>
            <a:off x="8458200" y="4700160"/>
            <a:ext cx="228240" cy="228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1" lang="en-US" sz="700" strike="noStrike">
                <a:solidFill>
                  <a:srgbClr val="FFFFFF"/>
                </a:solidFill>
                <a:latin typeface="Arial"/>
                <a:ea typeface="Arial"/>
                <a:cs typeface="Arial"/>
                <a:sym typeface="Arial"/>
              </a:rPr>
              <a:t>‹#›</a:t>
            </a:fld>
            <a:endParaRPr b="0" sz="700" strike="noStrike">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74"/>
          <p:cNvSpPr/>
          <p:nvPr/>
        </p:nvSpPr>
        <p:spPr>
          <a:xfrm>
            <a:off x="3517200" y="1242000"/>
            <a:ext cx="4771800" cy="35388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74"/>
          <p:cNvSpPr/>
          <p:nvPr/>
        </p:nvSpPr>
        <p:spPr>
          <a:xfrm>
            <a:off x="3512880" y="1250280"/>
            <a:ext cx="1594080" cy="291240"/>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74"/>
          <p:cNvSpPr/>
          <p:nvPr/>
        </p:nvSpPr>
        <p:spPr>
          <a:xfrm>
            <a:off x="3554280" y="1263240"/>
            <a:ext cx="4698360" cy="28044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274320" marR="0" rtl="0" algn="l">
              <a:lnSpc>
                <a:spcPct val="100000"/>
              </a:lnSpc>
              <a:spcBef>
                <a:spcPts val="0"/>
              </a:spcBef>
              <a:spcAft>
                <a:spcPts val="0"/>
              </a:spcAft>
              <a:buNone/>
            </a:pPr>
            <a:r>
              <a:rPr b="0" lang="en-US" sz="1600" strike="noStrike">
                <a:solidFill>
                  <a:srgbClr val="1F487C"/>
                </a:solidFill>
                <a:latin typeface="Calibri"/>
                <a:ea typeface="Calibri"/>
                <a:cs typeface="Calibri"/>
                <a:sym typeface="Calibri"/>
              </a:rPr>
              <a:t>1. Start with the S-I-P-O-C Chart</a:t>
            </a:r>
            <a:endParaRPr b="0" sz="1600" strike="noStrike">
              <a:latin typeface="Arial"/>
              <a:ea typeface="Arial"/>
              <a:cs typeface="Arial"/>
              <a:sym typeface="Arial"/>
            </a:endParaRPr>
          </a:p>
        </p:txBody>
      </p:sp>
      <p:sp>
        <p:nvSpPr>
          <p:cNvPr id="415" name="Google Shape;415;p74"/>
          <p:cNvSpPr/>
          <p:nvPr/>
        </p:nvSpPr>
        <p:spPr>
          <a:xfrm>
            <a:off x="3554280" y="1263240"/>
            <a:ext cx="4698360" cy="280800"/>
          </a:xfrm>
          <a:custGeom>
            <a:rect b="b" l="l" r="r" t="t"/>
            <a:pathLst>
              <a:path extrusionOk="0" h="374650" w="6264909">
                <a:moveTo>
                  <a:pt x="0" y="62484"/>
                </a:moveTo>
                <a:lnTo>
                  <a:pt x="4906" y="38147"/>
                </a:lnTo>
                <a:lnTo>
                  <a:pt x="18286" y="18287"/>
                </a:lnTo>
                <a:lnTo>
                  <a:pt x="38131" y="4905"/>
                </a:lnTo>
                <a:lnTo>
                  <a:pt x="62433" y="0"/>
                </a:lnTo>
                <a:lnTo>
                  <a:pt x="6202222" y="0"/>
                </a:lnTo>
                <a:lnTo>
                  <a:pt x="6226559" y="4905"/>
                </a:lnTo>
                <a:lnTo>
                  <a:pt x="6246418" y="18287"/>
                </a:lnTo>
                <a:lnTo>
                  <a:pt x="6259801" y="38147"/>
                </a:lnTo>
                <a:lnTo>
                  <a:pt x="6264706" y="62484"/>
                </a:lnTo>
                <a:lnTo>
                  <a:pt x="6264706" y="312166"/>
                </a:lnTo>
                <a:lnTo>
                  <a:pt x="6259801" y="336428"/>
                </a:lnTo>
                <a:lnTo>
                  <a:pt x="6246418" y="356250"/>
                </a:lnTo>
                <a:lnTo>
                  <a:pt x="6226559" y="369619"/>
                </a:lnTo>
                <a:lnTo>
                  <a:pt x="6202222" y="374523"/>
                </a:lnTo>
                <a:lnTo>
                  <a:pt x="62433" y="374523"/>
                </a:lnTo>
                <a:lnTo>
                  <a:pt x="38131" y="369619"/>
                </a:lnTo>
                <a:lnTo>
                  <a:pt x="18286" y="356250"/>
                </a:lnTo>
                <a:lnTo>
                  <a:pt x="4906" y="336428"/>
                </a:lnTo>
                <a:lnTo>
                  <a:pt x="0" y="312166"/>
                </a:lnTo>
                <a:lnTo>
                  <a:pt x="0" y="62484"/>
                </a:lnTo>
                <a:close/>
              </a:path>
            </a:pathLst>
          </a:custGeom>
          <a:noFill/>
          <a:ln cap="flat" cmpd="sng" w="12600">
            <a:solidFill>
              <a:srgbClr val="497DBA"/>
            </a:solidFill>
            <a:prstDash val="solid"/>
            <a:round/>
            <a:headEnd len="sm" w="sm" type="none"/>
            <a:tailEnd len="sm" w="sm" type="none"/>
          </a:ln>
        </p:spPr>
      </p:sp>
      <p:sp>
        <p:nvSpPr>
          <p:cNvPr id="416" name="Google Shape;416;p74"/>
          <p:cNvSpPr/>
          <p:nvPr/>
        </p:nvSpPr>
        <p:spPr>
          <a:xfrm>
            <a:off x="3517200" y="1620360"/>
            <a:ext cx="4771800" cy="353880"/>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74"/>
          <p:cNvSpPr/>
          <p:nvPr/>
        </p:nvSpPr>
        <p:spPr>
          <a:xfrm>
            <a:off x="3512880" y="1628640"/>
            <a:ext cx="2314080" cy="291240"/>
          </a:xfrm>
          <a:prstGeom prst="rect">
            <a:avLst/>
          </a:prstGeom>
          <a:blipFill rotWithShape="1">
            <a:blip r:embed="rId7">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74"/>
          <p:cNvSpPr/>
          <p:nvPr/>
        </p:nvSpPr>
        <p:spPr>
          <a:xfrm>
            <a:off x="3554280" y="1641960"/>
            <a:ext cx="4698360" cy="280800"/>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274320" marR="0" rtl="0" algn="l">
              <a:lnSpc>
                <a:spcPct val="100000"/>
              </a:lnSpc>
              <a:spcBef>
                <a:spcPts val="0"/>
              </a:spcBef>
              <a:spcAft>
                <a:spcPts val="0"/>
              </a:spcAft>
              <a:buNone/>
            </a:pPr>
            <a:r>
              <a:rPr b="0" lang="en-US" sz="1600" strike="noStrike">
                <a:solidFill>
                  <a:srgbClr val="1F487C"/>
                </a:solidFill>
                <a:latin typeface="Calibri"/>
                <a:ea typeface="Calibri"/>
                <a:cs typeface="Calibri"/>
                <a:sym typeface="Calibri"/>
              </a:rPr>
              <a:t>2. Identify your Feedback Loops</a:t>
            </a:r>
            <a:endParaRPr b="0" sz="1600" strike="noStrike">
              <a:latin typeface="Arial"/>
              <a:ea typeface="Arial"/>
              <a:cs typeface="Arial"/>
              <a:sym typeface="Arial"/>
            </a:endParaRPr>
          </a:p>
        </p:txBody>
      </p:sp>
      <p:sp>
        <p:nvSpPr>
          <p:cNvPr id="419" name="Google Shape;419;p74"/>
          <p:cNvSpPr/>
          <p:nvPr/>
        </p:nvSpPr>
        <p:spPr>
          <a:xfrm>
            <a:off x="3554280" y="1641960"/>
            <a:ext cx="4698360" cy="280800"/>
          </a:xfrm>
          <a:custGeom>
            <a:rect b="b" l="l" r="r" t="t"/>
            <a:pathLst>
              <a:path extrusionOk="0" h="374650" w="6264909">
                <a:moveTo>
                  <a:pt x="0" y="62484"/>
                </a:moveTo>
                <a:lnTo>
                  <a:pt x="4906" y="38147"/>
                </a:lnTo>
                <a:lnTo>
                  <a:pt x="18286" y="18287"/>
                </a:lnTo>
                <a:lnTo>
                  <a:pt x="38131" y="4905"/>
                </a:lnTo>
                <a:lnTo>
                  <a:pt x="62433" y="0"/>
                </a:lnTo>
                <a:lnTo>
                  <a:pt x="6202222" y="0"/>
                </a:lnTo>
                <a:lnTo>
                  <a:pt x="6226559" y="4905"/>
                </a:lnTo>
                <a:lnTo>
                  <a:pt x="6246418" y="18288"/>
                </a:lnTo>
                <a:lnTo>
                  <a:pt x="6259801" y="38147"/>
                </a:lnTo>
                <a:lnTo>
                  <a:pt x="6264706" y="62484"/>
                </a:lnTo>
                <a:lnTo>
                  <a:pt x="6264706" y="312166"/>
                </a:lnTo>
                <a:lnTo>
                  <a:pt x="6259801" y="336502"/>
                </a:lnTo>
                <a:lnTo>
                  <a:pt x="6246418" y="356362"/>
                </a:lnTo>
                <a:lnTo>
                  <a:pt x="6226559" y="369744"/>
                </a:lnTo>
                <a:lnTo>
                  <a:pt x="6202222" y="374650"/>
                </a:lnTo>
                <a:lnTo>
                  <a:pt x="62433" y="374650"/>
                </a:lnTo>
                <a:lnTo>
                  <a:pt x="38131" y="369744"/>
                </a:lnTo>
                <a:lnTo>
                  <a:pt x="18286" y="356362"/>
                </a:lnTo>
                <a:lnTo>
                  <a:pt x="4906" y="336502"/>
                </a:lnTo>
                <a:lnTo>
                  <a:pt x="0" y="312166"/>
                </a:lnTo>
                <a:lnTo>
                  <a:pt x="0" y="62484"/>
                </a:lnTo>
                <a:close/>
              </a:path>
            </a:pathLst>
          </a:custGeom>
          <a:noFill/>
          <a:ln cap="flat" cmpd="sng" w="12600">
            <a:solidFill>
              <a:srgbClr val="497DBA"/>
            </a:solidFill>
            <a:prstDash val="solid"/>
            <a:round/>
            <a:headEnd len="sm" w="sm" type="none"/>
            <a:tailEnd len="sm" w="sm" type="none"/>
          </a:ln>
        </p:spPr>
      </p:sp>
      <p:sp>
        <p:nvSpPr>
          <p:cNvPr id="420" name="Google Shape;420;p74"/>
          <p:cNvSpPr/>
          <p:nvPr/>
        </p:nvSpPr>
        <p:spPr>
          <a:xfrm>
            <a:off x="3517200" y="1998720"/>
            <a:ext cx="4771800" cy="353880"/>
          </a:xfrm>
          <a:prstGeom prst="rect">
            <a:avLst/>
          </a:prstGeom>
          <a:blipFill rotWithShape="1">
            <a:blip r:embed="rId9">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74"/>
          <p:cNvSpPr/>
          <p:nvPr/>
        </p:nvSpPr>
        <p:spPr>
          <a:xfrm>
            <a:off x="3512880" y="2006640"/>
            <a:ext cx="2546280" cy="291240"/>
          </a:xfrm>
          <a:prstGeom prst="rect">
            <a:avLst/>
          </a:prstGeom>
          <a:blipFill rotWithShape="1">
            <a:blip r:embed="rId10">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74"/>
          <p:cNvSpPr/>
          <p:nvPr/>
        </p:nvSpPr>
        <p:spPr>
          <a:xfrm>
            <a:off x="3554280" y="2020680"/>
            <a:ext cx="4698360" cy="280800"/>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274320" marR="0" rtl="0" algn="l">
              <a:lnSpc>
                <a:spcPct val="100000"/>
              </a:lnSpc>
              <a:spcBef>
                <a:spcPts val="0"/>
              </a:spcBef>
              <a:spcAft>
                <a:spcPts val="0"/>
              </a:spcAft>
              <a:buNone/>
            </a:pPr>
            <a:r>
              <a:rPr b="0" lang="en-US" sz="1600" strike="noStrike">
                <a:solidFill>
                  <a:srgbClr val="1F487C"/>
                </a:solidFill>
                <a:latin typeface="Calibri"/>
                <a:ea typeface="Calibri"/>
                <a:cs typeface="Calibri"/>
                <a:sym typeface="Calibri"/>
              </a:rPr>
              <a:t>3. Draft the Inputs, Process, &amp; Outputs (I-P-O)</a:t>
            </a:r>
            <a:endParaRPr b="0" sz="1600" strike="noStrike">
              <a:latin typeface="Arial"/>
              <a:ea typeface="Arial"/>
              <a:cs typeface="Arial"/>
              <a:sym typeface="Arial"/>
            </a:endParaRPr>
          </a:p>
        </p:txBody>
      </p:sp>
      <p:sp>
        <p:nvSpPr>
          <p:cNvPr id="423" name="Google Shape;423;p74"/>
          <p:cNvSpPr/>
          <p:nvPr/>
        </p:nvSpPr>
        <p:spPr>
          <a:xfrm>
            <a:off x="3554280" y="2020680"/>
            <a:ext cx="4698360" cy="280800"/>
          </a:xfrm>
          <a:custGeom>
            <a:rect b="b" l="l" r="r" t="t"/>
            <a:pathLst>
              <a:path extrusionOk="0" h="374650" w="6264909">
                <a:moveTo>
                  <a:pt x="0" y="62483"/>
                </a:moveTo>
                <a:lnTo>
                  <a:pt x="4906" y="38201"/>
                </a:lnTo>
                <a:lnTo>
                  <a:pt x="18286" y="18335"/>
                </a:lnTo>
                <a:lnTo>
                  <a:pt x="38131" y="4923"/>
                </a:lnTo>
                <a:lnTo>
                  <a:pt x="62433" y="0"/>
                </a:lnTo>
                <a:lnTo>
                  <a:pt x="6202222" y="0"/>
                </a:lnTo>
                <a:lnTo>
                  <a:pt x="6226559" y="4923"/>
                </a:lnTo>
                <a:lnTo>
                  <a:pt x="6246418" y="18335"/>
                </a:lnTo>
                <a:lnTo>
                  <a:pt x="6259801" y="38201"/>
                </a:lnTo>
                <a:lnTo>
                  <a:pt x="6264706" y="62483"/>
                </a:lnTo>
                <a:lnTo>
                  <a:pt x="6264706" y="312165"/>
                </a:lnTo>
                <a:lnTo>
                  <a:pt x="6259801" y="336502"/>
                </a:lnTo>
                <a:lnTo>
                  <a:pt x="6246418" y="356362"/>
                </a:lnTo>
                <a:lnTo>
                  <a:pt x="6226559" y="369744"/>
                </a:lnTo>
                <a:lnTo>
                  <a:pt x="6202222" y="374650"/>
                </a:lnTo>
                <a:lnTo>
                  <a:pt x="62433" y="374650"/>
                </a:lnTo>
                <a:lnTo>
                  <a:pt x="38131" y="369744"/>
                </a:lnTo>
                <a:lnTo>
                  <a:pt x="18286" y="356361"/>
                </a:lnTo>
                <a:lnTo>
                  <a:pt x="4906" y="336502"/>
                </a:lnTo>
                <a:lnTo>
                  <a:pt x="0" y="312165"/>
                </a:lnTo>
                <a:lnTo>
                  <a:pt x="0" y="62483"/>
                </a:lnTo>
                <a:close/>
              </a:path>
            </a:pathLst>
          </a:custGeom>
          <a:noFill/>
          <a:ln cap="flat" cmpd="sng" w="12600">
            <a:solidFill>
              <a:srgbClr val="497DBA"/>
            </a:solidFill>
            <a:prstDash val="solid"/>
            <a:round/>
            <a:headEnd len="sm" w="sm" type="none"/>
            <a:tailEnd len="sm" w="sm" type="none"/>
          </a:ln>
        </p:spPr>
      </p:sp>
      <p:sp>
        <p:nvSpPr>
          <p:cNvPr id="424" name="Google Shape;424;p74"/>
          <p:cNvSpPr/>
          <p:nvPr/>
        </p:nvSpPr>
        <p:spPr>
          <a:xfrm>
            <a:off x="3517200" y="2378160"/>
            <a:ext cx="4771800" cy="35388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74"/>
          <p:cNvSpPr/>
          <p:nvPr/>
        </p:nvSpPr>
        <p:spPr>
          <a:xfrm>
            <a:off x="3512880" y="2386440"/>
            <a:ext cx="1747080" cy="291240"/>
          </a:xfrm>
          <a:prstGeom prst="rect">
            <a:avLst/>
          </a:prstGeom>
          <a:blipFill rotWithShape="1">
            <a:blip r:embed="rId1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74"/>
          <p:cNvSpPr/>
          <p:nvPr/>
        </p:nvSpPr>
        <p:spPr>
          <a:xfrm>
            <a:off x="3554280" y="2399760"/>
            <a:ext cx="4698360" cy="280440"/>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274320" marR="0" rtl="0" algn="l">
              <a:lnSpc>
                <a:spcPct val="100000"/>
              </a:lnSpc>
              <a:spcBef>
                <a:spcPts val="0"/>
              </a:spcBef>
              <a:spcAft>
                <a:spcPts val="0"/>
              </a:spcAft>
              <a:buNone/>
            </a:pPr>
            <a:r>
              <a:rPr b="0" lang="en-US" sz="1600" strike="noStrike">
                <a:solidFill>
                  <a:srgbClr val="1F487C"/>
                </a:solidFill>
                <a:latin typeface="Calibri"/>
                <a:ea typeface="Calibri"/>
                <a:cs typeface="Calibri"/>
                <a:sym typeface="Calibri"/>
              </a:rPr>
              <a:t>4. Clarify the 5 Key Measures</a:t>
            </a:r>
            <a:endParaRPr b="0" sz="1600" strike="noStrike">
              <a:latin typeface="Arial"/>
              <a:ea typeface="Arial"/>
              <a:cs typeface="Arial"/>
              <a:sym typeface="Arial"/>
            </a:endParaRPr>
          </a:p>
        </p:txBody>
      </p:sp>
      <p:sp>
        <p:nvSpPr>
          <p:cNvPr id="427" name="Google Shape;427;p74"/>
          <p:cNvSpPr/>
          <p:nvPr/>
        </p:nvSpPr>
        <p:spPr>
          <a:xfrm>
            <a:off x="3554280" y="2399760"/>
            <a:ext cx="4698360" cy="280800"/>
          </a:xfrm>
          <a:custGeom>
            <a:rect b="b" l="l" r="r" t="t"/>
            <a:pathLst>
              <a:path extrusionOk="0" h="374650" w="6264909">
                <a:moveTo>
                  <a:pt x="0" y="62356"/>
                </a:moveTo>
                <a:lnTo>
                  <a:pt x="4906" y="38094"/>
                </a:lnTo>
                <a:lnTo>
                  <a:pt x="18286" y="18272"/>
                </a:lnTo>
                <a:lnTo>
                  <a:pt x="38131" y="4903"/>
                </a:lnTo>
                <a:lnTo>
                  <a:pt x="62433" y="0"/>
                </a:lnTo>
                <a:lnTo>
                  <a:pt x="6202222" y="0"/>
                </a:lnTo>
                <a:lnTo>
                  <a:pt x="6226559" y="4903"/>
                </a:lnTo>
                <a:lnTo>
                  <a:pt x="6246418" y="18272"/>
                </a:lnTo>
                <a:lnTo>
                  <a:pt x="6259801" y="38094"/>
                </a:lnTo>
                <a:lnTo>
                  <a:pt x="6264706" y="62356"/>
                </a:lnTo>
                <a:lnTo>
                  <a:pt x="6264706" y="312038"/>
                </a:lnTo>
                <a:lnTo>
                  <a:pt x="6259801" y="336375"/>
                </a:lnTo>
                <a:lnTo>
                  <a:pt x="6246418" y="356234"/>
                </a:lnTo>
                <a:lnTo>
                  <a:pt x="6226559" y="369617"/>
                </a:lnTo>
                <a:lnTo>
                  <a:pt x="6202222" y="374523"/>
                </a:lnTo>
                <a:lnTo>
                  <a:pt x="62433" y="374523"/>
                </a:lnTo>
                <a:lnTo>
                  <a:pt x="38131" y="369617"/>
                </a:lnTo>
                <a:lnTo>
                  <a:pt x="18286" y="356235"/>
                </a:lnTo>
                <a:lnTo>
                  <a:pt x="4906" y="336375"/>
                </a:lnTo>
                <a:lnTo>
                  <a:pt x="0" y="312038"/>
                </a:lnTo>
                <a:lnTo>
                  <a:pt x="0" y="62356"/>
                </a:lnTo>
                <a:close/>
              </a:path>
            </a:pathLst>
          </a:custGeom>
          <a:noFill/>
          <a:ln cap="flat" cmpd="sng" w="12600">
            <a:solidFill>
              <a:srgbClr val="497DBA"/>
            </a:solidFill>
            <a:prstDash val="solid"/>
            <a:round/>
            <a:headEnd len="sm" w="sm" type="none"/>
            <a:tailEnd len="sm" w="sm" type="none"/>
          </a:ln>
        </p:spPr>
      </p:sp>
      <p:sp>
        <p:nvSpPr>
          <p:cNvPr id="428" name="Google Shape;428;p74"/>
          <p:cNvSpPr/>
          <p:nvPr/>
        </p:nvSpPr>
        <p:spPr>
          <a:xfrm>
            <a:off x="3517200" y="2756520"/>
            <a:ext cx="4771800" cy="353880"/>
          </a:xfrm>
          <a:prstGeom prst="rect">
            <a:avLst/>
          </a:prstGeom>
          <a:blipFill rotWithShape="1">
            <a:blip r:embed="rId1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74"/>
          <p:cNvSpPr/>
          <p:nvPr/>
        </p:nvSpPr>
        <p:spPr>
          <a:xfrm>
            <a:off x="3512880" y="2764440"/>
            <a:ext cx="1982520" cy="291240"/>
          </a:xfrm>
          <a:prstGeom prst="rect">
            <a:avLst/>
          </a:prstGeom>
          <a:blipFill rotWithShape="1">
            <a:blip r:embed="rId1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74"/>
          <p:cNvSpPr/>
          <p:nvPr/>
        </p:nvSpPr>
        <p:spPr>
          <a:xfrm>
            <a:off x="3554280" y="2778480"/>
            <a:ext cx="4698360" cy="280440"/>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274320" marR="0" rtl="0" algn="l">
              <a:lnSpc>
                <a:spcPct val="100000"/>
              </a:lnSpc>
              <a:spcBef>
                <a:spcPts val="0"/>
              </a:spcBef>
              <a:spcAft>
                <a:spcPts val="0"/>
              </a:spcAft>
              <a:buNone/>
            </a:pPr>
            <a:r>
              <a:rPr b="0" lang="en-US" sz="1600" strike="noStrike">
                <a:solidFill>
                  <a:srgbClr val="1F487C"/>
                </a:solidFill>
                <a:latin typeface="Calibri"/>
                <a:ea typeface="Calibri"/>
                <a:cs typeface="Calibri"/>
                <a:sym typeface="Calibri"/>
              </a:rPr>
              <a:t>5. Set your Performance Objectives</a:t>
            </a:r>
            <a:endParaRPr b="0" sz="1600" strike="noStrike">
              <a:latin typeface="Arial"/>
              <a:ea typeface="Arial"/>
              <a:cs typeface="Arial"/>
              <a:sym typeface="Arial"/>
            </a:endParaRPr>
          </a:p>
        </p:txBody>
      </p:sp>
      <p:sp>
        <p:nvSpPr>
          <p:cNvPr id="431" name="Google Shape;431;p74"/>
          <p:cNvSpPr/>
          <p:nvPr/>
        </p:nvSpPr>
        <p:spPr>
          <a:xfrm>
            <a:off x="3554280" y="2778480"/>
            <a:ext cx="4698360" cy="280800"/>
          </a:xfrm>
          <a:custGeom>
            <a:rect b="b" l="l" r="r" t="t"/>
            <a:pathLst>
              <a:path extrusionOk="0" h="374650" w="6264909">
                <a:moveTo>
                  <a:pt x="0" y="62356"/>
                </a:moveTo>
                <a:lnTo>
                  <a:pt x="4906" y="38094"/>
                </a:lnTo>
                <a:lnTo>
                  <a:pt x="18286" y="18272"/>
                </a:lnTo>
                <a:lnTo>
                  <a:pt x="38131" y="4903"/>
                </a:lnTo>
                <a:lnTo>
                  <a:pt x="62433" y="0"/>
                </a:lnTo>
                <a:lnTo>
                  <a:pt x="6202222" y="0"/>
                </a:lnTo>
                <a:lnTo>
                  <a:pt x="6226559" y="4903"/>
                </a:lnTo>
                <a:lnTo>
                  <a:pt x="6246418" y="18272"/>
                </a:lnTo>
                <a:lnTo>
                  <a:pt x="6259801" y="38094"/>
                </a:lnTo>
                <a:lnTo>
                  <a:pt x="6264706" y="62356"/>
                </a:lnTo>
                <a:lnTo>
                  <a:pt x="6264706" y="312166"/>
                </a:lnTo>
                <a:lnTo>
                  <a:pt x="6259801" y="336428"/>
                </a:lnTo>
                <a:lnTo>
                  <a:pt x="6246418" y="356250"/>
                </a:lnTo>
                <a:lnTo>
                  <a:pt x="6226559" y="369619"/>
                </a:lnTo>
                <a:lnTo>
                  <a:pt x="6202222" y="374523"/>
                </a:lnTo>
                <a:lnTo>
                  <a:pt x="62433" y="374523"/>
                </a:lnTo>
                <a:lnTo>
                  <a:pt x="38131" y="369619"/>
                </a:lnTo>
                <a:lnTo>
                  <a:pt x="18286" y="356250"/>
                </a:lnTo>
                <a:lnTo>
                  <a:pt x="4906" y="336428"/>
                </a:lnTo>
                <a:lnTo>
                  <a:pt x="0" y="312166"/>
                </a:lnTo>
                <a:lnTo>
                  <a:pt x="0" y="62356"/>
                </a:lnTo>
                <a:close/>
              </a:path>
            </a:pathLst>
          </a:custGeom>
          <a:noFill/>
          <a:ln cap="flat" cmpd="sng" w="12600">
            <a:solidFill>
              <a:srgbClr val="497DBA"/>
            </a:solidFill>
            <a:prstDash val="solid"/>
            <a:round/>
            <a:headEnd len="sm" w="sm" type="none"/>
            <a:tailEnd len="sm" w="sm" type="none"/>
          </a:ln>
        </p:spPr>
      </p:sp>
      <p:sp>
        <p:nvSpPr>
          <p:cNvPr id="432" name="Google Shape;432;p74"/>
          <p:cNvSpPr txBox="1"/>
          <p:nvPr/>
        </p:nvSpPr>
        <p:spPr>
          <a:xfrm>
            <a:off x="457200" y="544680"/>
            <a:ext cx="8229240" cy="868320"/>
          </a:xfrm>
          <a:prstGeom prst="rect">
            <a:avLst/>
          </a:prstGeom>
          <a:noFill/>
          <a:ln>
            <a:noFill/>
          </a:ln>
        </p:spPr>
        <p:txBody>
          <a:bodyPr anchorCtr="0" anchor="t" bIns="0" lIns="0" spcFirstLastPara="1" rIns="0" wrap="square" tIns="9350">
            <a:noAutofit/>
          </a:bodyPr>
          <a:lstStyle/>
          <a:p>
            <a:pPr indent="0" lvl="0" marL="9360" marR="0" rtl="0" algn="l">
              <a:lnSpc>
                <a:spcPct val="100000"/>
              </a:lnSpc>
              <a:spcBef>
                <a:spcPts val="0"/>
              </a:spcBef>
              <a:spcAft>
                <a:spcPts val="0"/>
              </a:spcAft>
              <a:buNone/>
            </a:pPr>
            <a:r>
              <a:rPr b="1" lang="en-US" sz="2400" strike="noStrike">
                <a:solidFill>
                  <a:srgbClr val="000000"/>
                </a:solidFill>
                <a:latin typeface="Arial"/>
                <a:ea typeface="Arial"/>
                <a:cs typeface="Arial"/>
                <a:sym typeface="Arial"/>
              </a:rPr>
              <a:t>Service Planning Guide</a:t>
            </a:r>
            <a:endParaRPr b="0" sz="2400" strike="noStrike">
              <a:solidFill>
                <a:srgbClr val="000000"/>
              </a:solidFill>
              <a:latin typeface="Arial"/>
              <a:ea typeface="Arial"/>
              <a:cs typeface="Arial"/>
              <a:sym typeface="Arial"/>
            </a:endParaRPr>
          </a:p>
        </p:txBody>
      </p:sp>
      <p:sp>
        <p:nvSpPr>
          <p:cNvPr id="433" name="Google Shape;433;p74"/>
          <p:cNvSpPr/>
          <p:nvPr/>
        </p:nvSpPr>
        <p:spPr>
          <a:xfrm>
            <a:off x="3554280" y="3490200"/>
            <a:ext cx="5730840" cy="420840"/>
          </a:xfrm>
          <a:prstGeom prst="rect">
            <a:avLst/>
          </a:prstGeom>
          <a:noFill/>
          <a:ln>
            <a:noFill/>
          </a:ln>
        </p:spPr>
        <p:txBody>
          <a:bodyPr anchorCtr="0" anchor="t" bIns="0" lIns="0" spcFirstLastPara="1" rIns="0" wrap="square" tIns="9350">
            <a:noAutofit/>
          </a:bodyPr>
          <a:lstStyle/>
          <a:p>
            <a:pPr indent="0" lvl="0" marL="9360" marR="0" rtl="0" algn="l">
              <a:lnSpc>
                <a:spcPct val="100000"/>
              </a:lnSpc>
              <a:spcBef>
                <a:spcPts val="0"/>
              </a:spcBef>
              <a:spcAft>
                <a:spcPts val="0"/>
              </a:spcAft>
              <a:buNone/>
            </a:pPr>
            <a:r>
              <a:rPr b="0" lang="en-US" sz="1350" strike="noStrike">
                <a:solidFill>
                  <a:srgbClr val="1F487C"/>
                </a:solidFill>
                <a:latin typeface="Comic Sans MS"/>
                <a:ea typeface="Comic Sans MS"/>
                <a:cs typeface="Comic Sans MS"/>
                <a:sym typeface="Comic Sans MS"/>
              </a:rPr>
              <a:t>Remember: Your Service is only successful when you help your customers get THEIR jobs done Right!</a:t>
            </a:r>
            <a:endParaRPr b="0" sz="1350" strike="noStrike">
              <a:latin typeface="Arial"/>
              <a:ea typeface="Arial"/>
              <a:cs typeface="Arial"/>
              <a:sym typeface="Arial"/>
            </a:endParaRPr>
          </a:p>
        </p:txBody>
      </p:sp>
      <p:pic>
        <p:nvPicPr>
          <p:cNvPr id="434" name="Google Shape;434;p74"/>
          <p:cNvPicPr preferRelativeResize="0"/>
          <p:nvPr/>
        </p:nvPicPr>
        <p:blipFill rotWithShape="1">
          <a:blip r:embed="rId16">
            <a:alphaModFix/>
          </a:blip>
          <a:srcRect b="0" l="0" r="0" t="0"/>
          <a:stretch/>
        </p:blipFill>
        <p:spPr>
          <a:xfrm>
            <a:off x="1550160" y="1796040"/>
            <a:ext cx="914040" cy="91404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75"/>
          <p:cNvSpPr txBox="1"/>
          <p:nvPr/>
        </p:nvSpPr>
        <p:spPr>
          <a:xfrm>
            <a:off x="457200" y="544680"/>
            <a:ext cx="8229240" cy="868320"/>
          </a:xfrm>
          <a:prstGeom prst="rect">
            <a:avLst/>
          </a:prstGeom>
          <a:noFill/>
          <a:ln>
            <a:noFill/>
          </a:ln>
        </p:spPr>
        <p:txBody>
          <a:bodyPr anchorCtr="0" anchor="t" bIns="0" lIns="0" spcFirstLastPara="1" rIns="0" wrap="square" tIns="9350">
            <a:noAutofit/>
          </a:bodyPr>
          <a:lstStyle/>
          <a:p>
            <a:pPr indent="0" lvl="0" marL="9360" marR="0" rtl="0" algn="l">
              <a:lnSpc>
                <a:spcPct val="100000"/>
              </a:lnSpc>
              <a:spcBef>
                <a:spcPts val="0"/>
              </a:spcBef>
              <a:spcAft>
                <a:spcPts val="0"/>
              </a:spcAft>
              <a:buNone/>
            </a:pPr>
            <a:r>
              <a:rPr b="1" lang="en-US" sz="2400" strike="noStrike">
                <a:solidFill>
                  <a:srgbClr val="000000"/>
                </a:solidFill>
                <a:latin typeface="Arial"/>
                <a:ea typeface="Arial"/>
                <a:cs typeface="Arial"/>
                <a:sym typeface="Arial"/>
              </a:rPr>
              <a:t>Step 1 - The SIPOC Diagram</a:t>
            </a:r>
            <a:endParaRPr b="0" sz="2400" strike="noStrike">
              <a:solidFill>
                <a:srgbClr val="000000"/>
              </a:solidFill>
              <a:latin typeface="Arial"/>
              <a:ea typeface="Arial"/>
              <a:cs typeface="Arial"/>
              <a:sym typeface="Arial"/>
            </a:endParaRPr>
          </a:p>
        </p:txBody>
      </p:sp>
      <p:sp>
        <p:nvSpPr>
          <p:cNvPr id="440" name="Google Shape;440;p75"/>
          <p:cNvSpPr/>
          <p:nvPr/>
        </p:nvSpPr>
        <p:spPr>
          <a:xfrm>
            <a:off x="685800" y="1583280"/>
            <a:ext cx="7416720" cy="70164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75"/>
          <p:cNvSpPr/>
          <p:nvPr/>
        </p:nvSpPr>
        <p:spPr>
          <a:xfrm>
            <a:off x="1074600" y="1814400"/>
            <a:ext cx="1146600" cy="387360"/>
          </a:xfrm>
          <a:custGeom>
            <a:rect b="b" l="l" r="r" t="t"/>
            <a:pathLst>
              <a:path extrusionOk="0" h="516889" w="1292225">
                <a:moveTo>
                  <a:pt x="1291970" y="0"/>
                </a:moveTo>
                <a:lnTo>
                  <a:pt x="0" y="0"/>
                </a:lnTo>
                <a:lnTo>
                  <a:pt x="0" y="516763"/>
                </a:lnTo>
                <a:lnTo>
                  <a:pt x="1291970" y="516763"/>
                </a:lnTo>
                <a:lnTo>
                  <a:pt x="1291970" y="0"/>
                </a:lnTo>
                <a:close/>
              </a:path>
            </a:pathLst>
          </a:custGeom>
          <a:solidFill>
            <a:srgbClr val="F7954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500" strike="noStrike">
                <a:solidFill>
                  <a:srgbClr val="FFFFFF"/>
                </a:solidFill>
                <a:latin typeface="Calibri"/>
                <a:ea typeface="Calibri"/>
                <a:cs typeface="Calibri"/>
                <a:sym typeface="Calibri"/>
              </a:rPr>
              <a:t>S</a:t>
            </a:r>
            <a:r>
              <a:rPr b="1" lang="en-US" sz="1050" strike="noStrike">
                <a:solidFill>
                  <a:srgbClr val="FFFFFF"/>
                </a:solidFill>
                <a:latin typeface="Calibri"/>
                <a:ea typeface="Calibri"/>
                <a:cs typeface="Calibri"/>
                <a:sym typeface="Calibri"/>
              </a:rPr>
              <a:t>uppliers</a:t>
            </a:r>
            <a:endParaRPr b="0" sz="1050" strike="noStrike">
              <a:latin typeface="Arial"/>
              <a:ea typeface="Arial"/>
              <a:cs typeface="Arial"/>
              <a:sym typeface="Arial"/>
            </a:endParaRPr>
          </a:p>
        </p:txBody>
      </p:sp>
      <p:sp>
        <p:nvSpPr>
          <p:cNvPr id="442" name="Google Shape;442;p75"/>
          <p:cNvSpPr/>
          <p:nvPr/>
        </p:nvSpPr>
        <p:spPr>
          <a:xfrm>
            <a:off x="1074600" y="1814400"/>
            <a:ext cx="1146600" cy="387360"/>
          </a:xfrm>
          <a:custGeom>
            <a:rect b="b" l="l" r="r" t="t"/>
            <a:pathLst>
              <a:path extrusionOk="0" h="516889" w="1292225">
                <a:moveTo>
                  <a:pt x="0" y="516763"/>
                </a:moveTo>
                <a:lnTo>
                  <a:pt x="1291970" y="516763"/>
                </a:lnTo>
                <a:lnTo>
                  <a:pt x="1291970" y="0"/>
                </a:lnTo>
                <a:lnTo>
                  <a:pt x="0" y="0"/>
                </a:lnTo>
                <a:lnTo>
                  <a:pt x="0" y="516763"/>
                </a:lnTo>
                <a:close/>
              </a:path>
            </a:pathLst>
          </a:custGeom>
          <a:noFill/>
          <a:ln cap="flat" cmpd="sng" w="25200">
            <a:solidFill>
              <a:srgbClr val="F79546"/>
            </a:solidFill>
            <a:prstDash val="solid"/>
            <a:round/>
            <a:headEnd len="sm" w="sm" type="none"/>
            <a:tailEnd len="sm" w="sm" type="none"/>
          </a:ln>
        </p:spPr>
      </p:sp>
      <p:sp>
        <p:nvSpPr>
          <p:cNvPr id="443" name="Google Shape;443;p75"/>
          <p:cNvSpPr/>
          <p:nvPr/>
        </p:nvSpPr>
        <p:spPr>
          <a:xfrm>
            <a:off x="1074600" y="2210760"/>
            <a:ext cx="1146600" cy="1877400"/>
          </a:xfrm>
          <a:custGeom>
            <a:rect b="b" l="l" r="r" t="t"/>
            <a:pathLst>
              <a:path extrusionOk="0" h="2503804" w="1292225">
                <a:moveTo>
                  <a:pt x="1291970" y="0"/>
                </a:moveTo>
                <a:lnTo>
                  <a:pt x="0" y="0"/>
                </a:lnTo>
                <a:lnTo>
                  <a:pt x="0" y="2503424"/>
                </a:lnTo>
                <a:lnTo>
                  <a:pt x="1291970" y="2503424"/>
                </a:lnTo>
                <a:lnTo>
                  <a:pt x="1291970" y="0"/>
                </a:lnTo>
                <a:close/>
              </a:path>
            </a:pathLst>
          </a:custGeom>
          <a:solidFill>
            <a:srgbClr val="F1F1F1"/>
          </a:solidFill>
          <a:ln>
            <a:noFill/>
          </a:ln>
        </p:spPr>
        <p:txBody>
          <a:bodyPr anchorCtr="0" anchor="t" bIns="0" lIns="0" spcFirstLastPara="1" rIns="0" wrap="square" tIns="0">
            <a:noAutofit/>
          </a:bodyPr>
          <a:lstStyle/>
          <a:p>
            <a:pPr indent="0" lvl="0" marL="43200" marR="0" rtl="0" algn="l">
              <a:lnSpc>
                <a:spcPct val="104000"/>
              </a:lnSpc>
              <a:spcBef>
                <a:spcPts val="0"/>
              </a:spcBef>
              <a:spcAft>
                <a:spcPts val="0"/>
              </a:spcAft>
              <a:buNone/>
            </a:pPr>
            <a:r>
              <a:rPr b="0" lang="en-US" sz="900" strike="noStrike">
                <a:solidFill>
                  <a:srgbClr val="1F487C"/>
                </a:solidFill>
                <a:latin typeface="Calibri"/>
                <a:ea typeface="Calibri"/>
                <a:cs typeface="Calibri"/>
                <a:sym typeface="Calibri"/>
              </a:rPr>
              <a:t>Can be one or more of the following:</a:t>
            </a:r>
            <a:endParaRPr b="0" sz="900" strike="noStrike">
              <a:latin typeface="Arial"/>
              <a:ea typeface="Arial"/>
              <a:cs typeface="Arial"/>
              <a:sym typeface="Arial"/>
            </a:endParaRPr>
          </a:p>
          <a:p>
            <a:pPr indent="0" lvl="0" marL="43200" marR="0" rtl="0" algn="l">
              <a:lnSpc>
                <a:spcPct val="104000"/>
              </a:lnSpc>
              <a:spcBef>
                <a:spcPts val="269"/>
              </a:spcBef>
              <a:spcAft>
                <a:spcPts val="0"/>
              </a:spcAft>
              <a:buNone/>
            </a:pPr>
            <a:r>
              <a:t/>
            </a:r>
            <a:endParaRPr b="0" sz="900" strike="noStrike">
              <a:latin typeface="Arial"/>
              <a:ea typeface="Arial"/>
              <a:cs typeface="Arial"/>
              <a:sym typeface="Arial"/>
            </a:endParaRPr>
          </a:p>
          <a:p>
            <a:pPr indent="-171000" lvl="0" marL="214920" marR="0" rtl="0" algn="l">
              <a:lnSpc>
                <a:spcPct val="104000"/>
              </a:lnSpc>
              <a:spcBef>
                <a:spcPts val="269"/>
              </a:spcBef>
              <a:spcAft>
                <a:spcPts val="0"/>
              </a:spcAft>
              <a:buClr>
                <a:srgbClr val="000000"/>
              </a:buClr>
              <a:buSzPts val="900"/>
              <a:buFont typeface="Arial"/>
              <a:buChar char="•"/>
            </a:pPr>
            <a:r>
              <a:rPr b="0" lang="en-US" sz="900" strike="noStrike">
                <a:solidFill>
                  <a:srgbClr val="1F487C"/>
                </a:solidFill>
                <a:latin typeface="Calibri"/>
                <a:ea typeface="Calibri"/>
                <a:cs typeface="Calibri"/>
                <a:sym typeface="Calibri"/>
              </a:rPr>
              <a:t>People</a:t>
            </a:r>
            <a:endParaRPr b="0" sz="900" strike="noStrike">
              <a:latin typeface="Arial"/>
              <a:ea typeface="Arial"/>
              <a:cs typeface="Arial"/>
              <a:sym typeface="Arial"/>
            </a:endParaRPr>
          </a:p>
          <a:p>
            <a:pPr indent="-171000" lvl="0" marL="214920" marR="0" rtl="0" algn="l">
              <a:lnSpc>
                <a:spcPct val="104000"/>
              </a:lnSpc>
              <a:spcBef>
                <a:spcPts val="269"/>
              </a:spcBef>
              <a:spcAft>
                <a:spcPts val="0"/>
              </a:spcAft>
              <a:buClr>
                <a:srgbClr val="000000"/>
              </a:buClr>
              <a:buSzPts val="900"/>
              <a:buFont typeface="Arial"/>
              <a:buChar char="•"/>
            </a:pPr>
            <a:r>
              <a:rPr b="0" lang="en-US" sz="900" strike="noStrike">
                <a:solidFill>
                  <a:srgbClr val="1F487C"/>
                </a:solidFill>
                <a:latin typeface="Calibri"/>
                <a:ea typeface="Calibri"/>
                <a:cs typeface="Calibri"/>
                <a:sym typeface="Calibri"/>
              </a:rPr>
              <a:t>Processes (event)</a:t>
            </a:r>
            <a:endParaRPr b="0" sz="900" strike="noStrike">
              <a:latin typeface="Arial"/>
              <a:ea typeface="Arial"/>
              <a:cs typeface="Arial"/>
              <a:sym typeface="Arial"/>
            </a:endParaRPr>
          </a:p>
          <a:p>
            <a:pPr indent="-171000" lvl="0" marL="214920" marR="0" rtl="0" algn="l">
              <a:lnSpc>
                <a:spcPct val="104000"/>
              </a:lnSpc>
              <a:spcBef>
                <a:spcPts val="269"/>
              </a:spcBef>
              <a:spcAft>
                <a:spcPts val="0"/>
              </a:spcAft>
              <a:buClr>
                <a:srgbClr val="000000"/>
              </a:buClr>
              <a:buSzPts val="900"/>
              <a:buFont typeface="Arial"/>
              <a:buChar char="•"/>
            </a:pPr>
            <a:r>
              <a:rPr b="0" lang="en-US" sz="900" strike="noStrike">
                <a:solidFill>
                  <a:srgbClr val="1F487C"/>
                </a:solidFill>
                <a:latin typeface="Calibri"/>
                <a:ea typeface="Calibri"/>
                <a:cs typeface="Calibri"/>
                <a:sym typeface="Calibri"/>
              </a:rPr>
              <a:t>Technology (system, service, event)</a:t>
            </a:r>
            <a:endParaRPr b="0" sz="900" strike="noStrike">
              <a:latin typeface="Arial"/>
              <a:ea typeface="Arial"/>
              <a:cs typeface="Arial"/>
              <a:sym typeface="Arial"/>
            </a:endParaRPr>
          </a:p>
        </p:txBody>
      </p:sp>
      <p:sp>
        <p:nvSpPr>
          <p:cNvPr id="444" name="Google Shape;444;p75"/>
          <p:cNvSpPr/>
          <p:nvPr/>
        </p:nvSpPr>
        <p:spPr>
          <a:xfrm>
            <a:off x="2382480" y="1823040"/>
            <a:ext cx="1146600" cy="387360"/>
          </a:xfrm>
          <a:custGeom>
            <a:rect b="b" l="l" r="r" t="t"/>
            <a:pathLst>
              <a:path extrusionOk="0" h="516889" w="1292225">
                <a:moveTo>
                  <a:pt x="1291970" y="0"/>
                </a:moveTo>
                <a:lnTo>
                  <a:pt x="0" y="0"/>
                </a:lnTo>
                <a:lnTo>
                  <a:pt x="0" y="516763"/>
                </a:lnTo>
                <a:lnTo>
                  <a:pt x="1291970" y="516763"/>
                </a:lnTo>
                <a:lnTo>
                  <a:pt x="1291970" y="0"/>
                </a:lnTo>
                <a:close/>
              </a:path>
            </a:pathLst>
          </a:custGeom>
          <a:solidFill>
            <a:srgbClr val="1F487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500" strike="noStrike">
                <a:solidFill>
                  <a:srgbClr val="FFFFFF"/>
                </a:solidFill>
                <a:latin typeface="Calibri"/>
                <a:ea typeface="Calibri"/>
                <a:cs typeface="Calibri"/>
                <a:sym typeface="Calibri"/>
              </a:rPr>
              <a:t>I</a:t>
            </a:r>
            <a:r>
              <a:rPr b="1" lang="en-US" sz="1050" strike="noStrike">
                <a:solidFill>
                  <a:srgbClr val="FFFFFF"/>
                </a:solidFill>
                <a:latin typeface="Calibri"/>
                <a:ea typeface="Calibri"/>
                <a:cs typeface="Calibri"/>
                <a:sym typeface="Calibri"/>
              </a:rPr>
              <a:t>nputs</a:t>
            </a:r>
            <a:endParaRPr b="0" sz="1050" strike="noStrike">
              <a:latin typeface="Arial"/>
              <a:ea typeface="Arial"/>
              <a:cs typeface="Arial"/>
              <a:sym typeface="Arial"/>
            </a:endParaRPr>
          </a:p>
        </p:txBody>
      </p:sp>
      <p:sp>
        <p:nvSpPr>
          <p:cNvPr id="445" name="Google Shape;445;p75"/>
          <p:cNvSpPr/>
          <p:nvPr/>
        </p:nvSpPr>
        <p:spPr>
          <a:xfrm>
            <a:off x="2382480" y="1823040"/>
            <a:ext cx="1146600" cy="387360"/>
          </a:xfrm>
          <a:custGeom>
            <a:rect b="b" l="l" r="r" t="t"/>
            <a:pathLst>
              <a:path extrusionOk="0" h="516889" w="1292225">
                <a:moveTo>
                  <a:pt x="0" y="516763"/>
                </a:moveTo>
                <a:lnTo>
                  <a:pt x="1291970" y="516763"/>
                </a:lnTo>
                <a:lnTo>
                  <a:pt x="1291970" y="0"/>
                </a:lnTo>
                <a:lnTo>
                  <a:pt x="0" y="0"/>
                </a:lnTo>
                <a:lnTo>
                  <a:pt x="0" y="516763"/>
                </a:lnTo>
                <a:close/>
              </a:path>
            </a:pathLst>
          </a:custGeom>
          <a:noFill/>
          <a:ln cap="flat" cmpd="sng" w="25200">
            <a:solidFill>
              <a:srgbClr val="DCE6F1"/>
            </a:solidFill>
            <a:prstDash val="solid"/>
            <a:round/>
            <a:headEnd len="sm" w="sm" type="none"/>
            <a:tailEnd len="sm" w="sm" type="none"/>
          </a:ln>
        </p:spPr>
      </p:sp>
      <p:sp>
        <p:nvSpPr>
          <p:cNvPr id="446" name="Google Shape;446;p75"/>
          <p:cNvSpPr/>
          <p:nvPr/>
        </p:nvSpPr>
        <p:spPr>
          <a:xfrm>
            <a:off x="2382480" y="2210760"/>
            <a:ext cx="1146600" cy="1877400"/>
          </a:xfrm>
          <a:custGeom>
            <a:rect b="b" l="l" r="r" t="t"/>
            <a:pathLst>
              <a:path extrusionOk="0" h="2503804" w="1292225">
                <a:moveTo>
                  <a:pt x="1291970" y="0"/>
                </a:moveTo>
                <a:lnTo>
                  <a:pt x="0" y="0"/>
                </a:lnTo>
                <a:lnTo>
                  <a:pt x="0" y="2503424"/>
                </a:lnTo>
                <a:lnTo>
                  <a:pt x="1291970" y="2503424"/>
                </a:lnTo>
                <a:lnTo>
                  <a:pt x="1291970" y="0"/>
                </a:lnTo>
                <a:close/>
              </a:path>
            </a:pathLst>
          </a:custGeom>
          <a:solidFill>
            <a:srgbClr val="F1F1F1"/>
          </a:solidFill>
          <a:ln>
            <a:noFill/>
          </a:ln>
        </p:spPr>
        <p:txBody>
          <a:bodyPr anchorCtr="0" anchor="t" bIns="0" lIns="0" spcFirstLastPara="1" rIns="0" wrap="square" tIns="0">
            <a:noAutofit/>
          </a:bodyPr>
          <a:lstStyle/>
          <a:p>
            <a:pPr indent="0" lvl="0" marL="43920" marR="0" rtl="0" algn="l">
              <a:lnSpc>
                <a:spcPct val="104000"/>
              </a:lnSpc>
              <a:spcBef>
                <a:spcPts val="0"/>
              </a:spcBef>
              <a:spcAft>
                <a:spcPts val="0"/>
              </a:spcAft>
              <a:buNone/>
            </a:pPr>
            <a:r>
              <a:rPr b="0" lang="en-US" sz="900" strike="noStrike">
                <a:solidFill>
                  <a:srgbClr val="1F487C"/>
                </a:solidFill>
                <a:latin typeface="Calibri"/>
                <a:ea typeface="Calibri"/>
                <a:cs typeface="Calibri"/>
                <a:sym typeface="Calibri"/>
              </a:rPr>
              <a:t>May include:</a:t>
            </a:r>
            <a:endParaRPr b="0" sz="900" strike="noStrike">
              <a:latin typeface="Arial"/>
              <a:ea typeface="Arial"/>
              <a:cs typeface="Arial"/>
              <a:sym typeface="Arial"/>
            </a:endParaRPr>
          </a:p>
          <a:p>
            <a:pPr indent="-171000" lvl="0" marL="215280" marR="0" rtl="0" algn="l">
              <a:lnSpc>
                <a:spcPct val="104000"/>
              </a:lnSpc>
              <a:spcBef>
                <a:spcPts val="269"/>
              </a:spcBef>
              <a:spcAft>
                <a:spcPts val="0"/>
              </a:spcAft>
              <a:buClr>
                <a:srgbClr val="000000"/>
              </a:buClr>
              <a:buSzPts val="900"/>
              <a:buFont typeface="Arial"/>
              <a:buChar char="•"/>
            </a:pPr>
            <a:r>
              <a:rPr b="0" lang="en-US" sz="900" strike="noStrike">
                <a:solidFill>
                  <a:srgbClr val="1F487C"/>
                </a:solidFill>
                <a:latin typeface="Calibri"/>
                <a:ea typeface="Calibri"/>
                <a:cs typeface="Calibri"/>
                <a:sym typeface="Calibri"/>
              </a:rPr>
              <a:t>Instructions</a:t>
            </a:r>
            <a:endParaRPr b="0" sz="900" strike="noStrike">
              <a:latin typeface="Arial"/>
              <a:ea typeface="Arial"/>
              <a:cs typeface="Arial"/>
              <a:sym typeface="Arial"/>
            </a:endParaRPr>
          </a:p>
          <a:p>
            <a:pPr indent="-171000" lvl="0" marL="215280" marR="0" rtl="0" algn="l">
              <a:lnSpc>
                <a:spcPct val="104000"/>
              </a:lnSpc>
              <a:spcBef>
                <a:spcPts val="269"/>
              </a:spcBef>
              <a:spcAft>
                <a:spcPts val="0"/>
              </a:spcAft>
              <a:buClr>
                <a:srgbClr val="000000"/>
              </a:buClr>
              <a:buSzPts val="900"/>
              <a:buFont typeface="Arial"/>
              <a:buChar char="•"/>
            </a:pPr>
            <a:r>
              <a:rPr b="0" lang="en-US" sz="900" strike="noStrike">
                <a:solidFill>
                  <a:srgbClr val="1F487C"/>
                </a:solidFill>
                <a:latin typeface="Calibri"/>
                <a:ea typeface="Calibri"/>
                <a:cs typeface="Calibri"/>
                <a:sym typeface="Calibri"/>
              </a:rPr>
              <a:t>Artifacts</a:t>
            </a:r>
            <a:endParaRPr b="0" sz="900" strike="noStrike">
              <a:latin typeface="Arial"/>
              <a:ea typeface="Arial"/>
              <a:cs typeface="Arial"/>
              <a:sym typeface="Arial"/>
            </a:endParaRPr>
          </a:p>
          <a:p>
            <a:pPr indent="-171000" lvl="0" marL="215280" marR="0" rtl="0" algn="l">
              <a:lnSpc>
                <a:spcPct val="104000"/>
              </a:lnSpc>
              <a:spcBef>
                <a:spcPts val="269"/>
              </a:spcBef>
              <a:spcAft>
                <a:spcPts val="0"/>
              </a:spcAft>
              <a:buClr>
                <a:srgbClr val="000000"/>
              </a:buClr>
              <a:buSzPts val="900"/>
              <a:buFont typeface="Arial"/>
              <a:buChar char="•"/>
            </a:pPr>
            <a:r>
              <a:rPr b="0" lang="en-US" sz="900" strike="noStrike">
                <a:solidFill>
                  <a:srgbClr val="1F487C"/>
                </a:solidFill>
                <a:latin typeface="Calibri"/>
                <a:ea typeface="Calibri"/>
                <a:cs typeface="Calibri"/>
                <a:sym typeface="Calibri"/>
              </a:rPr>
              <a:t>Data</a:t>
            </a:r>
            <a:endParaRPr b="0" sz="900" strike="noStrike">
              <a:latin typeface="Arial"/>
              <a:ea typeface="Arial"/>
              <a:cs typeface="Arial"/>
              <a:sym typeface="Arial"/>
            </a:endParaRPr>
          </a:p>
          <a:p>
            <a:pPr indent="-171000" lvl="0" marL="215280" marR="0" rtl="0" algn="l">
              <a:lnSpc>
                <a:spcPct val="104000"/>
              </a:lnSpc>
              <a:spcBef>
                <a:spcPts val="269"/>
              </a:spcBef>
              <a:spcAft>
                <a:spcPts val="0"/>
              </a:spcAft>
              <a:buClr>
                <a:srgbClr val="000000"/>
              </a:buClr>
              <a:buSzPts val="900"/>
              <a:buFont typeface="Arial"/>
              <a:buChar char="•"/>
            </a:pPr>
            <a:r>
              <a:rPr b="0" lang="en-US" sz="900" strike="noStrike">
                <a:solidFill>
                  <a:srgbClr val="1F487C"/>
                </a:solidFill>
                <a:latin typeface="Calibri"/>
                <a:ea typeface="Calibri"/>
                <a:cs typeface="Calibri"/>
                <a:sym typeface="Calibri"/>
              </a:rPr>
              <a:t>Analytics</a:t>
            </a:r>
            <a:endParaRPr b="0" sz="900" strike="noStrike">
              <a:latin typeface="Arial"/>
              <a:ea typeface="Arial"/>
              <a:cs typeface="Arial"/>
              <a:sym typeface="Arial"/>
            </a:endParaRPr>
          </a:p>
          <a:p>
            <a:pPr indent="-171000" lvl="0" marL="215280" marR="0" rtl="0" algn="l">
              <a:lnSpc>
                <a:spcPct val="104000"/>
              </a:lnSpc>
              <a:spcBef>
                <a:spcPts val="269"/>
              </a:spcBef>
              <a:spcAft>
                <a:spcPts val="0"/>
              </a:spcAft>
              <a:buClr>
                <a:srgbClr val="000000"/>
              </a:buClr>
              <a:buSzPts val="900"/>
              <a:buFont typeface="Arial"/>
              <a:buChar char="•"/>
            </a:pPr>
            <a:r>
              <a:rPr b="0" lang="en-US" sz="900" strike="noStrike">
                <a:solidFill>
                  <a:srgbClr val="1F487C"/>
                </a:solidFill>
                <a:latin typeface="Calibri"/>
                <a:ea typeface="Calibri"/>
                <a:cs typeface="Calibri"/>
                <a:sym typeface="Calibri"/>
              </a:rPr>
              <a:t>Issue</a:t>
            </a:r>
            <a:endParaRPr b="0" sz="900" strike="noStrike">
              <a:latin typeface="Arial"/>
              <a:ea typeface="Arial"/>
              <a:cs typeface="Arial"/>
              <a:sym typeface="Arial"/>
            </a:endParaRPr>
          </a:p>
          <a:p>
            <a:pPr indent="-171000" lvl="0" marL="215280" marR="0" rtl="0" algn="l">
              <a:lnSpc>
                <a:spcPct val="104000"/>
              </a:lnSpc>
              <a:spcBef>
                <a:spcPts val="269"/>
              </a:spcBef>
              <a:spcAft>
                <a:spcPts val="0"/>
              </a:spcAft>
              <a:buClr>
                <a:srgbClr val="000000"/>
              </a:buClr>
              <a:buSzPts val="900"/>
              <a:buFont typeface="Arial"/>
              <a:buChar char="•"/>
            </a:pPr>
            <a:r>
              <a:rPr b="0" lang="en-US" sz="900" strike="noStrike">
                <a:solidFill>
                  <a:srgbClr val="1F487C"/>
                </a:solidFill>
                <a:latin typeface="Calibri"/>
                <a:ea typeface="Calibri"/>
                <a:cs typeface="Calibri"/>
                <a:sym typeface="Calibri"/>
              </a:rPr>
              <a:t>Complaint</a:t>
            </a:r>
            <a:endParaRPr b="0" sz="900" strike="noStrike">
              <a:latin typeface="Arial"/>
              <a:ea typeface="Arial"/>
              <a:cs typeface="Arial"/>
              <a:sym typeface="Arial"/>
            </a:endParaRPr>
          </a:p>
          <a:p>
            <a:pPr indent="-171000" lvl="0" marL="215280" marR="0" rtl="0" algn="l">
              <a:lnSpc>
                <a:spcPct val="104000"/>
              </a:lnSpc>
              <a:spcBef>
                <a:spcPts val="269"/>
              </a:spcBef>
              <a:spcAft>
                <a:spcPts val="0"/>
              </a:spcAft>
              <a:buClr>
                <a:srgbClr val="000000"/>
              </a:buClr>
              <a:buSzPts val="900"/>
              <a:buFont typeface="Arial"/>
              <a:buChar char="•"/>
            </a:pPr>
            <a:r>
              <a:rPr b="0" lang="en-US" sz="900" strike="noStrike">
                <a:solidFill>
                  <a:srgbClr val="1F487C"/>
                </a:solidFill>
                <a:latin typeface="Calibri"/>
                <a:ea typeface="Calibri"/>
                <a:cs typeface="Calibri"/>
                <a:sym typeface="Calibri"/>
              </a:rPr>
              <a:t>Request</a:t>
            </a:r>
            <a:endParaRPr b="0" sz="900" strike="noStrike">
              <a:latin typeface="Arial"/>
              <a:ea typeface="Arial"/>
              <a:cs typeface="Arial"/>
              <a:sym typeface="Arial"/>
            </a:endParaRPr>
          </a:p>
          <a:p>
            <a:pPr indent="-171000" lvl="0" marL="215280" marR="0" rtl="0" algn="l">
              <a:lnSpc>
                <a:spcPct val="104000"/>
              </a:lnSpc>
              <a:spcBef>
                <a:spcPts val="269"/>
              </a:spcBef>
              <a:spcAft>
                <a:spcPts val="0"/>
              </a:spcAft>
              <a:buClr>
                <a:srgbClr val="000000"/>
              </a:buClr>
              <a:buSzPts val="900"/>
              <a:buFont typeface="Arial"/>
              <a:buChar char="•"/>
            </a:pPr>
            <a:r>
              <a:rPr b="0" lang="en-US" sz="900" strike="noStrike">
                <a:solidFill>
                  <a:srgbClr val="1F487C"/>
                </a:solidFill>
                <a:latin typeface="Calibri"/>
                <a:ea typeface="Calibri"/>
                <a:cs typeface="Calibri"/>
                <a:sym typeface="Calibri"/>
              </a:rPr>
              <a:t>Standards</a:t>
            </a:r>
            <a:endParaRPr b="0" sz="900" strike="noStrike">
              <a:latin typeface="Arial"/>
              <a:ea typeface="Arial"/>
              <a:cs typeface="Arial"/>
              <a:sym typeface="Arial"/>
            </a:endParaRPr>
          </a:p>
          <a:p>
            <a:pPr indent="-171000" lvl="0" marL="215280" marR="0" rtl="0" algn="l">
              <a:lnSpc>
                <a:spcPct val="104000"/>
              </a:lnSpc>
              <a:spcBef>
                <a:spcPts val="269"/>
              </a:spcBef>
              <a:spcAft>
                <a:spcPts val="0"/>
              </a:spcAft>
              <a:buClr>
                <a:srgbClr val="000000"/>
              </a:buClr>
              <a:buSzPts val="900"/>
              <a:buFont typeface="Arial"/>
              <a:buChar char="•"/>
            </a:pPr>
            <a:r>
              <a:rPr b="0" lang="en-US" sz="900" strike="noStrike">
                <a:solidFill>
                  <a:srgbClr val="1F487C"/>
                </a:solidFill>
                <a:latin typeface="Calibri"/>
                <a:ea typeface="Calibri"/>
                <a:cs typeface="Calibri"/>
                <a:sym typeface="Calibri"/>
              </a:rPr>
              <a:t>Design</a:t>
            </a:r>
            <a:endParaRPr b="0" sz="900" strike="noStrike">
              <a:latin typeface="Arial"/>
              <a:ea typeface="Arial"/>
              <a:cs typeface="Arial"/>
              <a:sym typeface="Arial"/>
            </a:endParaRPr>
          </a:p>
          <a:p>
            <a:pPr indent="-119160" lvl="0" marL="215280" marR="0" rtl="0" algn="l">
              <a:lnSpc>
                <a:spcPct val="104000"/>
              </a:lnSpc>
              <a:spcBef>
                <a:spcPts val="269"/>
              </a:spcBef>
              <a:spcAft>
                <a:spcPts val="0"/>
              </a:spcAft>
              <a:buNone/>
            </a:pPr>
            <a:r>
              <a:t/>
            </a:r>
            <a:endParaRPr b="0" sz="900" strike="noStrike">
              <a:latin typeface="Arial"/>
              <a:ea typeface="Arial"/>
              <a:cs typeface="Arial"/>
              <a:sym typeface="Arial"/>
            </a:endParaRPr>
          </a:p>
          <a:p>
            <a:pPr indent="0" lvl="0" marL="0" marR="0" rtl="0" algn="l">
              <a:lnSpc>
                <a:spcPct val="100000"/>
              </a:lnSpc>
              <a:spcBef>
                <a:spcPts val="0"/>
              </a:spcBef>
              <a:spcAft>
                <a:spcPts val="0"/>
              </a:spcAft>
              <a:buNone/>
            </a:pPr>
            <a:r>
              <a:t/>
            </a:r>
            <a:endParaRPr b="0" sz="900" strike="noStrike">
              <a:latin typeface="Arial"/>
              <a:ea typeface="Arial"/>
              <a:cs typeface="Arial"/>
              <a:sym typeface="Arial"/>
            </a:endParaRPr>
          </a:p>
        </p:txBody>
      </p:sp>
      <p:sp>
        <p:nvSpPr>
          <p:cNvPr id="447" name="Google Shape;447;p75"/>
          <p:cNvSpPr/>
          <p:nvPr/>
        </p:nvSpPr>
        <p:spPr>
          <a:xfrm>
            <a:off x="3690000" y="1838160"/>
            <a:ext cx="1146600" cy="387360"/>
          </a:xfrm>
          <a:custGeom>
            <a:rect b="b" l="l" r="r" t="t"/>
            <a:pathLst>
              <a:path extrusionOk="0" h="516889" w="1292225">
                <a:moveTo>
                  <a:pt x="1291971" y="0"/>
                </a:moveTo>
                <a:lnTo>
                  <a:pt x="0" y="0"/>
                </a:lnTo>
                <a:lnTo>
                  <a:pt x="0" y="516763"/>
                </a:lnTo>
                <a:lnTo>
                  <a:pt x="1291971" y="516763"/>
                </a:lnTo>
                <a:lnTo>
                  <a:pt x="1291971" y="0"/>
                </a:lnTo>
                <a:close/>
              </a:path>
            </a:pathLst>
          </a:custGeom>
          <a:solidFill>
            <a:srgbClr val="1F487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500" strike="noStrike">
                <a:solidFill>
                  <a:srgbClr val="FFFFFF"/>
                </a:solidFill>
                <a:latin typeface="Calibri"/>
                <a:ea typeface="Calibri"/>
                <a:cs typeface="Calibri"/>
                <a:sym typeface="Calibri"/>
              </a:rPr>
              <a:t>P</a:t>
            </a:r>
            <a:r>
              <a:rPr b="1" lang="en-US" sz="1050" strike="noStrike">
                <a:solidFill>
                  <a:srgbClr val="FFFFFF"/>
                </a:solidFill>
                <a:latin typeface="Calibri"/>
                <a:ea typeface="Calibri"/>
                <a:cs typeface="Calibri"/>
                <a:sym typeface="Calibri"/>
              </a:rPr>
              <a:t>rocess</a:t>
            </a:r>
            <a:endParaRPr b="0" sz="1050" strike="noStrike">
              <a:latin typeface="Arial"/>
              <a:ea typeface="Arial"/>
              <a:cs typeface="Arial"/>
              <a:sym typeface="Arial"/>
            </a:endParaRPr>
          </a:p>
        </p:txBody>
      </p:sp>
      <p:sp>
        <p:nvSpPr>
          <p:cNvPr id="448" name="Google Shape;448;p75"/>
          <p:cNvSpPr/>
          <p:nvPr/>
        </p:nvSpPr>
        <p:spPr>
          <a:xfrm>
            <a:off x="3690000" y="1823040"/>
            <a:ext cx="1146600" cy="387360"/>
          </a:xfrm>
          <a:custGeom>
            <a:rect b="b" l="l" r="r" t="t"/>
            <a:pathLst>
              <a:path extrusionOk="0" h="516889" w="1292225">
                <a:moveTo>
                  <a:pt x="0" y="516763"/>
                </a:moveTo>
                <a:lnTo>
                  <a:pt x="1291971" y="516763"/>
                </a:lnTo>
                <a:lnTo>
                  <a:pt x="1291971" y="0"/>
                </a:lnTo>
                <a:lnTo>
                  <a:pt x="0" y="0"/>
                </a:lnTo>
                <a:lnTo>
                  <a:pt x="0" y="516763"/>
                </a:lnTo>
                <a:close/>
              </a:path>
            </a:pathLst>
          </a:custGeom>
          <a:noFill/>
          <a:ln cap="flat" cmpd="sng" w="25550">
            <a:solidFill>
              <a:srgbClr val="DCE6F1"/>
            </a:solidFill>
            <a:prstDash val="solid"/>
            <a:round/>
            <a:headEnd len="sm" w="sm" type="none"/>
            <a:tailEnd len="sm" w="sm" type="none"/>
          </a:ln>
        </p:spPr>
      </p:sp>
      <p:sp>
        <p:nvSpPr>
          <p:cNvPr id="449" name="Google Shape;449;p75"/>
          <p:cNvSpPr/>
          <p:nvPr/>
        </p:nvSpPr>
        <p:spPr>
          <a:xfrm>
            <a:off x="3690000" y="2210760"/>
            <a:ext cx="1146600" cy="1877400"/>
          </a:xfrm>
          <a:custGeom>
            <a:rect b="b" l="l" r="r" t="t"/>
            <a:pathLst>
              <a:path extrusionOk="0" h="2503804" w="1292225">
                <a:moveTo>
                  <a:pt x="1291971" y="0"/>
                </a:moveTo>
                <a:lnTo>
                  <a:pt x="0" y="0"/>
                </a:lnTo>
                <a:lnTo>
                  <a:pt x="0" y="2503424"/>
                </a:lnTo>
                <a:lnTo>
                  <a:pt x="1291971" y="2503424"/>
                </a:lnTo>
                <a:lnTo>
                  <a:pt x="1291971" y="0"/>
                </a:lnTo>
                <a:close/>
              </a:path>
            </a:pathLst>
          </a:custGeom>
          <a:solidFill>
            <a:srgbClr val="F1F1F1"/>
          </a:solidFill>
          <a:ln>
            <a:noFill/>
          </a:ln>
        </p:spPr>
        <p:txBody>
          <a:bodyPr anchorCtr="0" anchor="t" bIns="0" lIns="0" spcFirstLastPara="1" rIns="0" wrap="square" tIns="0">
            <a:noAutofit/>
          </a:bodyPr>
          <a:lstStyle/>
          <a:p>
            <a:pPr indent="0" lvl="0" marL="45720" marR="0" rtl="0" algn="l">
              <a:lnSpc>
                <a:spcPct val="100000"/>
              </a:lnSpc>
              <a:spcBef>
                <a:spcPts val="0"/>
              </a:spcBef>
              <a:spcAft>
                <a:spcPts val="0"/>
              </a:spcAft>
              <a:buNone/>
            </a:pPr>
            <a:r>
              <a:rPr b="0" lang="en-US" sz="900" strike="noStrike">
                <a:solidFill>
                  <a:srgbClr val="1F487C"/>
                </a:solidFill>
                <a:latin typeface="Calibri"/>
                <a:ea typeface="Calibri"/>
                <a:cs typeface="Calibri"/>
                <a:sym typeface="Calibri"/>
              </a:rPr>
              <a:t>Steps required to deliver the Right outcomes in the Right way (controls, quality, efficiency) for your Customers.</a:t>
            </a:r>
            <a:endParaRPr b="0" sz="900" strike="noStrike">
              <a:latin typeface="Arial"/>
              <a:ea typeface="Arial"/>
              <a:cs typeface="Arial"/>
              <a:sym typeface="Arial"/>
            </a:endParaRPr>
          </a:p>
          <a:p>
            <a:pPr indent="0" lvl="0" marL="45720" marR="0" rtl="0" algn="l">
              <a:lnSpc>
                <a:spcPct val="100000"/>
              </a:lnSpc>
              <a:spcBef>
                <a:spcPts val="0"/>
              </a:spcBef>
              <a:spcAft>
                <a:spcPts val="0"/>
              </a:spcAft>
              <a:buNone/>
            </a:pPr>
            <a:r>
              <a:t/>
            </a:r>
            <a:endParaRPr b="0" sz="900" strike="noStrike">
              <a:latin typeface="Arial"/>
              <a:ea typeface="Arial"/>
              <a:cs typeface="Arial"/>
              <a:sym typeface="Arial"/>
            </a:endParaRPr>
          </a:p>
          <a:p>
            <a:pPr indent="0" lvl="0" marL="45720" marR="0" rtl="0" algn="l">
              <a:lnSpc>
                <a:spcPct val="100000"/>
              </a:lnSpc>
              <a:spcBef>
                <a:spcPts val="0"/>
              </a:spcBef>
              <a:spcAft>
                <a:spcPts val="0"/>
              </a:spcAft>
              <a:buNone/>
            </a:pPr>
            <a:r>
              <a:rPr b="0" lang="en-US" sz="900" strike="noStrike">
                <a:solidFill>
                  <a:srgbClr val="D52B1E"/>
                </a:solidFill>
                <a:latin typeface="Calibri"/>
                <a:ea typeface="Calibri"/>
                <a:cs typeface="Calibri"/>
                <a:sym typeface="Calibri"/>
              </a:rPr>
              <a:t>Remember: It’s not about doing your job. It’s about delivering the Right outcomes.</a:t>
            </a:r>
            <a:endParaRPr b="0" sz="900" strike="noStrike">
              <a:latin typeface="Arial"/>
              <a:ea typeface="Arial"/>
              <a:cs typeface="Arial"/>
              <a:sym typeface="Arial"/>
            </a:endParaRPr>
          </a:p>
        </p:txBody>
      </p:sp>
      <p:sp>
        <p:nvSpPr>
          <p:cNvPr id="450" name="Google Shape;450;p75"/>
          <p:cNvSpPr/>
          <p:nvPr/>
        </p:nvSpPr>
        <p:spPr>
          <a:xfrm>
            <a:off x="4997880" y="1823040"/>
            <a:ext cx="1146600" cy="387360"/>
          </a:xfrm>
          <a:custGeom>
            <a:rect b="b" l="l" r="r" t="t"/>
            <a:pathLst>
              <a:path extrusionOk="0" h="516889" w="1292225">
                <a:moveTo>
                  <a:pt x="1291970" y="0"/>
                </a:moveTo>
                <a:lnTo>
                  <a:pt x="0" y="0"/>
                </a:lnTo>
                <a:lnTo>
                  <a:pt x="0" y="516763"/>
                </a:lnTo>
                <a:lnTo>
                  <a:pt x="1291970" y="516763"/>
                </a:lnTo>
                <a:lnTo>
                  <a:pt x="1291970" y="0"/>
                </a:lnTo>
                <a:close/>
              </a:path>
            </a:pathLst>
          </a:custGeom>
          <a:solidFill>
            <a:srgbClr val="1F487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500" strike="noStrike">
                <a:solidFill>
                  <a:srgbClr val="FFFFFF"/>
                </a:solidFill>
                <a:latin typeface="Calibri"/>
                <a:ea typeface="Calibri"/>
                <a:cs typeface="Calibri"/>
                <a:sym typeface="Calibri"/>
              </a:rPr>
              <a:t>O</a:t>
            </a:r>
            <a:r>
              <a:rPr b="1" lang="en-US" sz="1050" strike="noStrike">
                <a:solidFill>
                  <a:srgbClr val="FFFFFF"/>
                </a:solidFill>
                <a:latin typeface="Calibri"/>
                <a:ea typeface="Calibri"/>
                <a:cs typeface="Calibri"/>
                <a:sym typeface="Calibri"/>
              </a:rPr>
              <a:t>utputs</a:t>
            </a:r>
            <a:endParaRPr b="0" sz="1050" strike="noStrike">
              <a:latin typeface="Arial"/>
              <a:ea typeface="Arial"/>
              <a:cs typeface="Arial"/>
              <a:sym typeface="Arial"/>
            </a:endParaRPr>
          </a:p>
        </p:txBody>
      </p:sp>
      <p:sp>
        <p:nvSpPr>
          <p:cNvPr id="451" name="Google Shape;451;p75"/>
          <p:cNvSpPr/>
          <p:nvPr/>
        </p:nvSpPr>
        <p:spPr>
          <a:xfrm>
            <a:off x="4997880" y="1823040"/>
            <a:ext cx="1146600" cy="387360"/>
          </a:xfrm>
          <a:custGeom>
            <a:rect b="b" l="l" r="r" t="t"/>
            <a:pathLst>
              <a:path extrusionOk="0" h="516889" w="1292225">
                <a:moveTo>
                  <a:pt x="0" y="516763"/>
                </a:moveTo>
                <a:lnTo>
                  <a:pt x="1291970" y="516763"/>
                </a:lnTo>
                <a:lnTo>
                  <a:pt x="1291970" y="0"/>
                </a:lnTo>
                <a:lnTo>
                  <a:pt x="0" y="0"/>
                </a:lnTo>
                <a:lnTo>
                  <a:pt x="0" y="516763"/>
                </a:lnTo>
                <a:close/>
              </a:path>
            </a:pathLst>
          </a:custGeom>
          <a:noFill/>
          <a:ln cap="flat" cmpd="sng" w="25550">
            <a:solidFill>
              <a:srgbClr val="DCE6F1"/>
            </a:solidFill>
            <a:prstDash val="solid"/>
            <a:round/>
            <a:headEnd len="sm" w="sm" type="none"/>
            <a:tailEnd len="sm" w="sm" type="none"/>
          </a:ln>
        </p:spPr>
      </p:sp>
      <p:sp>
        <p:nvSpPr>
          <p:cNvPr id="452" name="Google Shape;452;p75"/>
          <p:cNvSpPr/>
          <p:nvPr/>
        </p:nvSpPr>
        <p:spPr>
          <a:xfrm>
            <a:off x="4997880" y="2210760"/>
            <a:ext cx="1146600" cy="1877400"/>
          </a:xfrm>
          <a:custGeom>
            <a:rect b="b" l="l" r="r" t="t"/>
            <a:pathLst>
              <a:path extrusionOk="0" h="2503804" w="1292225">
                <a:moveTo>
                  <a:pt x="1291970" y="0"/>
                </a:moveTo>
                <a:lnTo>
                  <a:pt x="0" y="0"/>
                </a:lnTo>
                <a:lnTo>
                  <a:pt x="0" y="2503424"/>
                </a:lnTo>
                <a:lnTo>
                  <a:pt x="1291970" y="2503424"/>
                </a:lnTo>
                <a:lnTo>
                  <a:pt x="1291970" y="0"/>
                </a:lnTo>
                <a:close/>
              </a:path>
            </a:pathLst>
          </a:custGeom>
          <a:solidFill>
            <a:srgbClr val="F1F1F1"/>
          </a:solidFill>
          <a:ln>
            <a:noFill/>
          </a:ln>
        </p:spPr>
        <p:txBody>
          <a:bodyPr anchorCtr="0" anchor="t" bIns="0" lIns="0" spcFirstLastPara="1" rIns="0" wrap="square" tIns="0">
            <a:noAutofit/>
          </a:bodyPr>
          <a:lstStyle/>
          <a:p>
            <a:pPr indent="0" lvl="0" marL="45720" marR="0" rtl="0" algn="l">
              <a:lnSpc>
                <a:spcPct val="100000"/>
              </a:lnSpc>
              <a:spcBef>
                <a:spcPts val="0"/>
              </a:spcBef>
              <a:spcAft>
                <a:spcPts val="0"/>
              </a:spcAft>
              <a:buNone/>
            </a:pPr>
            <a:r>
              <a:rPr b="0" lang="en-US" sz="900" strike="noStrike">
                <a:solidFill>
                  <a:srgbClr val="1F487C"/>
                </a:solidFill>
                <a:latin typeface="Calibri"/>
                <a:ea typeface="Calibri"/>
                <a:cs typeface="Calibri"/>
                <a:sym typeface="Calibri"/>
              </a:rPr>
              <a:t>May include:</a:t>
            </a:r>
            <a:endParaRPr b="0" sz="900" strike="noStrike">
              <a:latin typeface="Arial"/>
              <a:ea typeface="Arial"/>
              <a:cs typeface="Arial"/>
              <a:sym typeface="Arial"/>
            </a:endParaRPr>
          </a:p>
          <a:p>
            <a:pPr indent="-171000" lvl="0" marL="215280" marR="0" rtl="0" algn="l">
              <a:lnSpc>
                <a:spcPct val="104000"/>
              </a:lnSpc>
              <a:spcBef>
                <a:spcPts val="269"/>
              </a:spcBef>
              <a:spcAft>
                <a:spcPts val="0"/>
              </a:spcAft>
              <a:buClr>
                <a:srgbClr val="000000"/>
              </a:buClr>
              <a:buSzPts val="900"/>
              <a:buFont typeface="Arial"/>
              <a:buChar char="•"/>
            </a:pPr>
            <a:r>
              <a:rPr b="0" lang="en-US" sz="900" strike="noStrike">
                <a:solidFill>
                  <a:srgbClr val="1F487C"/>
                </a:solidFill>
                <a:latin typeface="Calibri"/>
                <a:ea typeface="Calibri"/>
                <a:cs typeface="Calibri"/>
                <a:sym typeface="Calibri"/>
              </a:rPr>
              <a:t>Instructions</a:t>
            </a:r>
            <a:endParaRPr b="0" sz="900" strike="noStrike">
              <a:latin typeface="Arial"/>
              <a:ea typeface="Arial"/>
              <a:cs typeface="Arial"/>
              <a:sym typeface="Arial"/>
            </a:endParaRPr>
          </a:p>
          <a:p>
            <a:pPr indent="-171000" lvl="0" marL="215280" marR="0" rtl="0" algn="l">
              <a:lnSpc>
                <a:spcPct val="104000"/>
              </a:lnSpc>
              <a:spcBef>
                <a:spcPts val="269"/>
              </a:spcBef>
              <a:spcAft>
                <a:spcPts val="0"/>
              </a:spcAft>
              <a:buClr>
                <a:srgbClr val="000000"/>
              </a:buClr>
              <a:buSzPts val="900"/>
              <a:buFont typeface="Arial"/>
              <a:buChar char="•"/>
            </a:pPr>
            <a:r>
              <a:rPr b="0" lang="en-US" sz="900" strike="noStrike">
                <a:solidFill>
                  <a:srgbClr val="1F487C"/>
                </a:solidFill>
                <a:latin typeface="Calibri"/>
                <a:ea typeface="Calibri"/>
                <a:cs typeface="Calibri"/>
                <a:sym typeface="Calibri"/>
              </a:rPr>
              <a:t>Artifacts</a:t>
            </a:r>
            <a:endParaRPr b="0" sz="900" strike="noStrike">
              <a:latin typeface="Arial"/>
              <a:ea typeface="Arial"/>
              <a:cs typeface="Arial"/>
              <a:sym typeface="Arial"/>
            </a:endParaRPr>
          </a:p>
          <a:p>
            <a:pPr indent="-171000" lvl="0" marL="215280" marR="0" rtl="0" algn="l">
              <a:lnSpc>
                <a:spcPct val="104000"/>
              </a:lnSpc>
              <a:spcBef>
                <a:spcPts val="269"/>
              </a:spcBef>
              <a:spcAft>
                <a:spcPts val="0"/>
              </a:spcAft>
              <a:buClr>
                <a:srgbClr val="000000"/>
              </a:buClr>
              <a:buSzPts val="900"/>
              <a:buFont typeface="Arial"/>
              <a:buChar char="•"/>
            </a:pPr>
            <a:r>
              <a:rPr b="0" lang="en-US" sz="900" strike="noStrike">
                <a:solidFill>
                  <a:srgbClr val="1F487C"/>
                </a:solidFill>
                <a:latin typeface="Calibri"/>
                <a:ea typeface="Calibri"/>
                <a:cs typeface="Calibri"/>
                <a:sym typeface="Calibri"/>
              </a:rPr>
              <a:t>Data</a:t>
            </a:r>
            <a:endParaRPr b="0" sz="900" strike="noStrike">
              <a:latin typeface="Arial"/>
              <a:ea typeface="Arial"/>
              <a:cs typeface="Arial"/>
              <a:sym typeface="Arial"/>
            </a:endParaRPr>
          </a:p>
          <a:p>
            <a:pPr indent="-171000" lvl="0" marL="215280" marR="0" rtl="0" algn="l">
              <a:lnSpc>
                <a:spcPct val="104000"/>
              </a:lnSpc>
              <a:spcBef>
                <a:spcPts val="269"/>
              </a:spcBef>
              <a:spcAft>
                <a:spcPts val="0"/>
              </a:spcAft>
              <a:buClr>
                <a:srgbClr val="000000"/>
              </a:buClr>
              <a:buSzPts val="900"/>
              <a:buFont typeface="Arial"/>
              <a:buChar char="•"/>
            </a:pPr>
            <a:r>
              <a:rPr b="0" lang="en-US" sz="900" strike="noStrike">
                <a:solidFill>
                  <a:srgbClr val="1F487C"/>
                </a:solidFill>
                <a:latin typeface="Calibri"/>
                <a:ea typeface="Calibri"/>
                <a:cs typeface="Calibri"/>
                <a:sym typeface="Calibri"/>
              </a:rPr>
              <a:t>Analytics</a:t>
            </a:r>
            <a:endParaRPr b="0" sz="900" strike="noStrike">
              <a:latin typeface="Arial"/>
              <a:ea typeface="Arial"/>
              <a:cs typeface="Arial"/>
              <a:sym typeface="Arial"/>
            </a:endParaRPr>
          </a:p>
          <a:p>
            <a:pPr indent="-171000" lvl="0" marL="215280" marR="0" rtl="0" algn="l">
              <a:lnSpc>
                <a:spcPct val="104000"/>
              </a:lnSpc>
              <a:spcBef>
                <a:spcPts val="269"/>
              </a:spcBef>
              <a:spcAft>
                <a:spcPts val="0"/>
              </a:spcAft>
              <a:buClr>
                <a:srgbClr val="000000"/>
              </a:buClr>
              <a:buSzPts val="900"/>
              <a:buFont typeface="Arial"/>
              <a:buChar char="•"/>
            </a:pPr>
            <a:r>
              <a:rPr b="0" lang="en-US" sz="900" strike="noStrike">
                <a:solidFill>
                  <a:srgbClr val="1F487C"/>
                </a:solidFill>
                <a:latin typeface="Calibri"/>
                <a:ea typeface="Calibri"/>
                <a:cs typeface="Calibri"/>
                <a:sym typeface="Calibri"/>
              </a:rPr>
              <a:t>Solution</a:t>
            </a:r>
            <a:endParaRPr b="0" sz="900" strike="noStrike">
              <a:latin typeface="Arial"/>
              <a:ea typeface="Arial"/>
              <a:cs typeface="Arial"/>
              <a:sym typeface="Arial"/>
            </a:endParaRPr>
          </a:p>
          <a:p>
            <a:pPr indent="-171000" lvl="0" marL="215280" marR="0" rtl="0" algn="l">
              <a:lnSpc>
                <a:spcPct val="104000"/>
              </a:lnSpc>
              <a:spcBef>
                <a:spcPts val="269"/>
              </a:spcBef>
              <a:spcAft>
                <a:spcPts val="0"/>
              </a:spcAft>
              <a:buClr>
                <a:srgbClr val="000000"/>
              </a:buClr>
              <a:buSzPts val="900"/>
              <a:buFont typeface="Arial"/>
              <a:buChar char="•"/>
            </a:pPr>
            <a:r>
              <a:rPr b="0" lang="en-US" sz="900" strike="noStrike">
                <a:solidFill>
                  <a:srgbClr val="1F487C"/>
                </a:solidFill>
                <a:latin typeface="Calibri"/>
                <a:ea typeface="Calibri"/>
                <a:cs typeface="Calibri"/>
                <a:sym typeface="Calibri"/>
              </a:rPr>
              <a:t>Resolution</a:t>
            </a:r>
            <a:endParaRPr b="0" sz="900" strike="noStrike">
              <a:latin typeface="Arial"/>
              <a:ea typeface="Arial"/>
              <a:cs typeface="Arial"/>
              <a:sym typeface="Arial"/>
            </a:endParaRPr>
          </a:p>
          <a:p>
            <a:pPr indent="-171000" lvl="0" marL="215280" marR="0" rtl="0" algn="l">
              <a:lnSpc>
                <a:spcPct val="104000"/>
              </a:lnSpc>
              <a:spcBef>
                <a:spcPts val="269"/>
              </a:spcBef>
              <a:spcAft>
                <a:spcPts val="0"/>
              </a:spcAft>
              <a:buClr>
                <a:srgbClr val="000000"/>
              </a:buClr>
              <a:buSzPts val="900"/>
              <a:buFont typeface="Arial"/>
              <a:buChar char="•"/>
            </a:pPr>
            <a:r>
              <a:rPr b="0" lang="en-US" sz="900" strike="noStrike">
                <a:solidFill>
                  <a:srgbClr val="1F487C"/>
                </a:solidFill>
                <a:latin typeface="Calibri"/>
                <a:ea typeface="Calibri"/>
                <a:cs typeface="Calibri"/>
                <a:sym typeface="Calibri"/>
              </a:rPr>
              <a:t>Model</a:t>
            </a:r>
            <a:endParaRPr b="0" sz="900" strike="noStrike">
              <a:latin typeface="Arial"/>
              <a:ea typeface="Arial"/>
              <a:cs typeface="Arial"/>
              <a:sym typeface="Arial"/>
            </a:endParaRPr>
          </a:p>
          <a:p>
            <a:pPr indent="-171000" lvl="0" marL="215280" marR="0" rtl="0" algn="l">
              <a:lnSpc>
                <a:spcPct val="104000"/>
              </a:lnSpc>
              <a:spcBef>
                <a:spcPts val="269"/>
              </a:spcBef>
              <a:spcAft>
                <a:spcPts val="0"/>
              </a:spcAft>
              <a:buClr>
                <a:srgbClr val="000000"/>
              </a:buClr>
              <a:buSzPts val="900"/>
              <a:buFont typeface="Arial"/>
              <a:buChar char="•"/>
            </a:pPr>
            <a:r>
              <a:rPr b="0" lang="en-US" sz="900" strike="noStrike">
                <a:solidFill>
                  <a:srgbClr val="1F487C"/>
                </a:solidFill>
                <a:latin typeface="Calibri"/>
                <a:ea typeface="Calibri"/>
                <a:cs typeface="Calibri"/>
                <a:sym typeface="Calibri"/>
              </a:rPr>
              <a:t>Guidance</a:t>
            </a:r>
            <a:endParaRPr b="0" sz="900" strike="noStrike">
              <a:latin typeface="Arial"/>
              <a:ea typeface="Arial"/>
              <a:cs typeface="Arial"/>
              <a:sym typeface="Arial"/>
            </a:endParaRPr>
          </a:p>
          <a:p>
            <a:pPr indent="-171000" lvl="0" marL="215280" marR="0" rtl="0" algn="l">
              <a:lnSpc>
                <a:spcPct val="104000"/>
              </a:lnSpc>
              <a:spcBef>
                <a:spcPts val="269"/>
              </a:spcBef>
              <a:spcAft>
                <a:spcPts val="0"/>
              </a:spcAft>
              <a:buClr>
                <a:srgbClr val="000000"/>
              </a:buClr>
              <a:buSzPts val="900"/>
              <a:buFont typeface="Arial"/>
              <a:buChar char="•"/>
            </a:pPr>
            <a:r>
              <a:rPr b="0" lang="en-US" sz="900" strike="noStrike">
                <a:solidFill>
                  <a:srgbClr val="1F487C"/>
                </a:solidFill>
                <a:latin typeface="Calibri"/>
                <a:ea typeface="Calibri"/>
                <a:cs typeface="Calibri"/>
                <a:sym typeface="Calibri"/>
              </a:rPr>
              <a:t>Mentoring</a:t>
            </a:r>
            <a:endParaRPr b="0" sz="900" strike="noStrike">
              <a:latin typeface="Arial"/>
              <a:ea typeface="Arial"/>
              <a:cs typeface="Arial"/>
              <a:sym typeface="Arial"/>
            </a:endParaRPr>
          </a:p>
          <a:p>
            <a:pPr indent="-119160" lvl="0" marL="215280" marR="0" rtl="0" algn="l">
              <a:lnSpc>
                <a:spcPct val="104000"/>
              </a:lnSpc>
              <a:spcBef>
                <a:spcPts val="269"/>
              </a:spcBef>
              <a:spcAft>
                <a:spcPts val="0"/>
              </a:spcAft>
              <a:buNone/>
            </a:pPr>
            <a:r>
              <a:t/>
            </a:r>
            <a:endParaRPr b="0" sz="900" strike="noStrike">
              <a:latin typeface="Arial"/>
              <a:ea typeface="Arial"/>
              <a:cs typeface="Arial"/>
              <a:sym typeface="Arial"/>
            </a:endParaRPr>
          </a:p>
          <a:p>
            <a:pPr indent="0" lvl="0" marL="45720" marR="0" rtl="0" algn="l">
              <a:lnSpc>
                <a:spcPct val="100000"/>
              </a:lnSpc>
              <a:spcBef>
                <a:spcPts val="0"/>
              </a:spcBef>
              <a:spcAft>
                <a:spcPts val="0"/>
              </a:spcAft>
              <a:buNone/>
            </a:pPr>
            <a:r>
              <a:t/>
            </a:r>
            <a:endParaRPr b="0" sz="900" strike="noStrike">
              <a:latin typeface="Arial"/>
              <a:ea typeface="Arial"/>
              <a:cs typeface="Arial"/>
              <a:sym typeface="Arial"/>
            </a:endParaRPr>
          </a:p>
        </p:txBody>
      </p:sp>
      <p:sp>
        <p:nvSpPr>
          <p:cNvPr id="453" name="Google Shape;453;p75"/>
          <p:cNvSpPr/>
          <p:nvPr/>
        </p:nvSpPr>
        <p:spPr>
          <a:xfrm>
            <a:off x="6255720" y="1796400"/>
            <a:ext cx="1245960" cy="470520"/>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75"/>
          <p:cNvSpPr/>
          <p:nvPr/>
        </p:nvSpPr>
        <p:spPr>
          <a:xfrm>
            <a:off x="6305400" y="1823040"/>
            <a:ext cx="1146600" cy="387360"/>
          </a:xfrm>
          <a:custGeom>
            <a:rect b="b" l="l" r="r" t="t"/>
            <a:pathLst>
              <a:path extrusionOk="0" h="516889" w="1292225">
                <a:moveTo>
                  <a:pt x="1291971" y="0"/>
                </a:moveTo>
                <a:lnTo>
                  <a:pt x="0" y="0"/>
                </a:lnTo>
                <a:lnTo>
                  <a:pt x="0" y="516763"/>
                </a:lnTo>
                <a:lnTo>
                  <a:pt x="1291971" y="516763"/>
                </a:lnTo>
                <a:lnTo>
                  <a:pt x="1291971" y="0"/>
                </a:lnTo>
                <a:close/>
              </a:path>
            </a:pathLst>
          </a:custGeom>
          <a:solidFill>
            <a:srgbClr val="F7954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500" strike="noStrike">
                <a:solidFill>
                  <a:srgbClr val="FFFFFF"/>
                </a:solidFill>
                <a:latin typeface="Calibri"/>
                <a:ea typeface="Calibri"/>
                <a:cs typeface="Calibri"/>
                <a:sym typeface="Calibri"/>
              </a:rPr>
              <a:t>C</a:t>
            </a:r>
            <a:r>
              <a:rPr b="1" lang="en-US" sz="1050" strike="noStrike">
                <a:solidFill>
                  <a:srgbClr val="FFFFFF"/>
                </a:solidFill>
                <a:latin typeface="Calibri"/>
                <a:ea typeface="Calibri"/>
                <a:cs typeface="Calibri"/>
                <a:sym typeface="Calibri"/>
              </a:rPr>
              <a:t>ustomer</a:t>
            </a:r>
            <a:endParaRPr b="0" sz="1050" strike="noStrike">
              <a:latin typeface="Arial"/>
              <a:ea typeface="Arial"/>
              <a:cs typeface="Arial"/>
              <a:sym typeface="Arial"/>
            </a:endParaRPr>
          </a:p>
        </p:txBody>
      </p:sp>
      <p:sp>
        <p:nvSpPr>
          <p:cNvPr id="455" name="Google Shape;455;p75"/>
          <p:cNvSpPr/>
          <p:nvPr/>
        </p:nvSpPr>
        <p:spPr>
          <a:xfrm>
            <a:off x="6305400" y="1823040"/>
            <a:ext cx="1146600" cy="387360"/>
          </a:xfrm>
          <a:custGeom>
            <a:rect b="b" l="l" r="r" t="t"/>
            <a:pathLst>
              <a:path extrusionOk="0" h="516889" w="1292225">
                <a:moveTo>
                  <a:pt x="0" y="516763"/>
                </a:moveTo>
                <a:lnTo>
                  <a:pt x="1291971" y="516763"/>
                </a:lnTo>
                <a:lnTo>
                  <a:pt x="1291971" y="0"/>
                </a:lnTo>
                <a:lnTo>
                  <a:pt x="0" y="0"/>
                </a:lnTo>
                <a:lnTo>
                  <a:pt x="0" y="516763"/>
                </a:lnTo>
                <a:close/>
              </a:path>
            </a:pathLst>
          </a:custGeom>
          <a:noFill/>
          <a:ln cap="flat" cmpd="sng" w="25550">
            <a:solidFill>
              <a:srgbClr val="F79546"/>
            </a:solidFill>
            <a:prstDash val="solid"/>
            <a:round/>
            <a:headEnd len="sm" w="sm" type="none"/>
            <a:tailEnd len="sm" w="sm" type="none"/>
          </a:ln>
        </p:spPr>
      </p:sp>
      <p:sp>
        <p:nvSpPr>
          <p:cNvPr id="456" name="Google Shape;456;p75"/>
          <p:cNvSpPr/>
          <p:nvPr/>
        </p:nvSpPr>
        <p:spPr>
          <a:xfrm>
            <a:off x="6305400" y="2210760"/>
            <a:ext cx="1146600" cy="1877400"/>
          </a:xfrm>
          <a:custGeom>
            <a:rect b="b" l="l" r="r" t="t"/>
            <a:pathLst>
              <a:path extrusionOk="0" h="2503804" w="1292225">
                <a:moveTo>
                  <a:pt x="1291971" y="0"/>
                </a:moveTo>
                <a:lnTo>
                  <a:pt x="0" y="0"/>
                </a:lnTo>
                <a:lnTo>
                  <a:pt x="0" y="2503424"/>
                </a:lnTo>
                <a:lnTo>
                  <a:pt x="1291971" y="2503424"/>
                </a:lnTo>
                <a:lnTo>
                  <a:pt x="1291971" y="0"/>
                </a:lnTo>
                <a:close/>
              </a:path>
            </a:pathLst>
          </a:custGeom>
          <a:solidFill>
            <a:srgbClr val="F1F1F1"/>
          </a:solidFill>
          <a:ln>
            <a:noFill/>
          </a:ln>
        </p:spPr>
        <p:txBody>
          <a:bodyPr anchorCtr="0" anchor="t" bIns="0" lIns="0" spcFirstLastPara="1" rIns="0" wrap="square" tIns="0">
            <a:noAutofit/>
          </a:bodyPr>
          <a:lstStyle/>
          <a:p>
            <a:pPr indent="0" lvl="0" marL="45720" marR="0" rtl="0" algn="l">
              <a:lnSpc>
                <a:spcPct val="100000"/>
              </a:lnSpc>
              <a:spcBef>
                <a:spcPts val="0"/>
              </a:spcBef>
              <a:spcAft>
                <a:spcPts val="0"/>
              </a:spcAft>
              <a:buNone/>
            </a:pPr>
            <a:r>
              <a:rPr b="0" lang="en-US" sz="900" strike="noStrike">
                <a:solidFill>
                  <a:srgbClr val="1F487C"/>
                </a:solidFill>
                <a:latin typeface="Calibri"/>
                <a:ea typeface="Calibri"/>
                <a:cs typeface="Calibri"/>
                <a:sym typeface="Calibri"/>
              </a:rPr>
              <a:t>Internal Services must address the Desired Outcomes for:</a:t>
            </a:r>
            <a:endParaRPr b="0" sz="900" strike="noStrike">
              <a:latin typeface="Arial"/>
              <a:ea typeface="Arial"/>
              <a:cs typeface="Arial"/>
              <a:sym typeface="Arial"/>
            </a:endParaRPr>
          </a:p>
          <a:p>
            <a:pPr indent="0" lvl="0" marL="45720" marR="0" rtl="0" algn="l">
              <a:lnSpc>
                <a:spcPct val="100000"/>
              </a:lnSpc>
              <a:spcBef>
                <a:spcPts val="0"/>
              </a:spcBef>
              <a:spcAft>
                <a:spcPts val="0"/>
              </a:spcAft>
              <a:buNone/>
            </a:pPr>
            <a:r>
              <a:t/>
            </a:r>
            <a:endParaRPr b="0" sz="900" strike="noStrike">
              <a:latin typeface="Arial"/>
              <a:ea typeface="Arial"/>
              <a:cs typeface="Arial"/>
              <a:sym typeface="Arial"/>
            </a:endParaRPr>
          </a:p>
          <a:p>
            <a:pPr indent="-171000" lvl="0" marL="217080" marR="0" rtl="0" algn="l">
              <a:lnSpc>
                <a:spcPct val="100000"/>
              </a:lnSpc>
              <a:spcBef>
                <a:spcPts val="0"/>
              </a:spcBef>
              <a:spcAft>
                <a:spcPts val="0"/>
              </a:spcAft>
              <a:buClr>
                <a:srgbClr val="000000"/>
              </a:buClr>
              <a:buSzPts val="900"/>
              <a:buFont typeface="Arial"/>
              <a:buChar char="•"/>
            </a:pPr>
            <a:r>
              <a:rPr b="0" lang="en-US" sz="900" strike="noStrike">
                <a:solidFill>
                  <a:srgbClr val="1F487C"/>
                </a:solidFill>
                <a:latin typeface="Calibri"/>
                <a:ea typeface="Calibri"/>
                <a:cs typeface="Calibri"/>
                <a:sym typeface="Calibri"/>
              </a:rPr>
              <a:t>Consumers Compliance</a:t>
            </a:r>
            <a:endParaRPr b="0" sz="900" strike="noStrike">
              <a:latin typeface="Arial"/>
              <a:ea typeface="Arial"/>
              <a:cs typeface="Arial"/>
              <a:sym typeface="Arial"/>
            </a:endParaRPr>
          </a:p>
          <a:p>
            <a:pPr indent="-171000" lvl="0" marL="217080" marR="0" rtl="0" algn="l">
              <a:lnSpc>
                <a:spcPct val="100000"/>
              </a:lnSpc>
              <a:spcBef>
                <a:spcPts val="0"/>
              </a:spcBef>
              <a:spcAft>
                <a:spcPts val="0"/>
              </a:spcAft>
              <a:buClr>
                <a:srgbClr val="000000"/>
              </a:buClr>
              <a:buSzPts val="900"/>
              <a:buFont typeface="Arial"/>
              <a:buChar char="•"/>
            </a:pPr>
            <a:r>
              <a:rPr b="0" lang="en-US" sz="900" strike="noStrike">
                <a:solidFill>
                  <a:srgbClr val="1F487C"/>
                </a:solidFill>
                <a:latin typeface="Calibri"/>
                <a:ea typeface="Calibri"/>
                <a:cs typeface="Calibri"/>
                <a:sym typeface="Calibri"/>
              </a:rPr>
              <a:t>Corporate</a:t>
            </a:r>
            <a:endParaRPr b="0" sz="900" strike="noStrike">
              <a:latin typeface="Arial"/>
              <a:ea typeface="Arial"/>
              <a:cs typeface="Arial"/>
              <a:sym typeface="Arial"/>
            </a:endParaRPr>
          </a:p>
        </p:txBody>
      </p:sp>
      <p:sp>
        <p:nvSpPr>
          <p:cNvPr id="457" name="Google Shape;457;p75"/>
          <p:cNvSpPr/>
          <p:nvPr/>
        </p:nvSpPr>
        <p:spPr>
          <a:xfrm>
            <a:off x="516600" y="1014120"/>
            <a:ext cx="5901840" cy="420840"/>
          </a:xfrm>
          <a:prstGeom prst="rect">
            <a:avLst/>
          </a:prstGeom>
          <a:noFill/>
          <a:ln>
            <a:noFill/>
          </a:ln>
        </p:spPr>
        <p:txBody>
          <a:bodyPr anchorCtr="0" anchor="t" bIns="0" lIns="0" spcFirstLastPara="1" rIns="0" wrap="square" tIns="9350">
            <a:noAutofit/>
          </a:bodyPr>
          <a:lstStyle/>
          <a:p>
            <a:pPr indent="0" lvl="0" marL="9360" marR="0" rtl="0" algn="l">
              <a:lnSpc>
                <a:spcPct val="100000"/>
              </a:lnSpc>
              <a:spcBef>
                <a:spcPts val="0"/>
              </a:spcBef>
              <a:spcAft>
                <a:spcPts val="0"/>
              </a:spcAft>
              <a:buNone/>
            </a:pPr>
            <a:r>
              <a:rPr b="0" lang="en-US" sz="1350" strike="noStrike">
                <a:solidFill>
                  <a:srgbClr val="1F487C"/>
                </a:solidFill>
                <a:latin typeface="Calibri"/>
                <a:ea typeface="Calibri"/>
                <a:cs typeface="Calibri"/>
                <a:sym typeface="Calibri"/>
              </a:rPr>
              <a:t>We can extend the IPO process to become a SIPOC diagram. So for each</a:t>
            </a:r>
            <a:endParaRPr b="0" sz="1350" strike="noStrike">
              <a:latin typeface="Arial"/>
              <a:ea typeface="Arial"/>
              <a:cs typeface="Arial"/>
              <a:sym typeface="Arial"/>
            </a:endParaRPr>
          </a:p>
          <a:p>
            <a:pPr indent="0" lvl="0" marL="9360" marR="0" rtl="0" algn="l">
              <a:lnSpc>
                <a:spcPct val="100000"/>
              </a:lnSpc>
              <a:spcBef>
                <a:spcPts val="0"/>
              </a:spcBef>
              <a:spcAft>
                <a:spcPts val="0"/>
              </a:spcAft>
              <a:buNone/>
            </a:pPr>
            <a:r>
              <a:rPr b="0" lang="en-US" sz="1350" strike="noStrike">
                <a:solidFill>
                  <a:srgbClr val="1F487C"/>
                </a:solidFill>
                <a:latin typeface="Calibri"/>
                <a:ea typeface="Calibri"/>
                <a:cs typeface="Calibri"/>
                <a:sym typeface="Calibri"/>
              </a:rPr>
              <a:t>input we list its origins, and for each output its customer.</a:t>
            </a:r>
            <a:endParaRPr b="0" sz="1350" strike="noStrike">
              <a:latin typeface="Arial"/>
              <a:ea typeface="Arial"/>
              <a:cs typeface="Arial"/>
              <a:sym typeface="Arial"/>
            </a:endParaRPr>
          </a:p>
        </p:txBody>
      </p:sp>
      <p:sp>
        <p:nvSpPr>
          <p:cNvPr id="458" name="Google Shape;458;p75"/>
          <p:cNvSpPr/>
          <p:nvPr/>
        </p:nvSpPr>
        <p:spPr>
          <a:xfrm>
            <a:off x="1187640" y="4150800"/>
            <a:ext cx="5757120" cy="215280"/>
          </a:xfrm>
          <a:prstGeom prst="rect">
            <a:avLst/>
          </a:prstGeom>
          <a:noFill/>
          <a:ln>
            <a:noFill/>
          </a:ln>
        </p:spPr>
        <p:txBody>
          <a:bodyPr anchorCtr="0" anchor="t" bIns="0" lIns="0" spcFirstLastPara="1" rIns="0" wrap="square" tIns="9350">
            <a:noAutofit/>
          </a:bodyPr>
          <a:lstStyle/>
          <a:p>
            <a:pPr indent="0" lvl="0" marL="9360" marR="0" rtl="0" algn="ctr">
              <a:lnSpc>
                <a:spcPct val="100000"/>
              </a:lnSpc>
              <a:spcBef>
                <a:spcPts val="0"/>
              </a:spcBef>
              <a:spcAft>
                <a:spcPts val="0"/>
              </a:spcAft>
              <a:buNone/>
            </a:pPr>
            <a:r>
              <a:rPr b="0" lang="en-US" sz="1350" strike="noStrike">
                <a:solidFill>
                  <a:srgbClr val="1F487C"/>
                </a:solidFill>
                <a:latin typeface="Calibri"/>
                <a:ea typeface="Calibri"/>
                <a:cs typeface="Calibri"/>
                <a:sym typeface="Calibri"/>
              </a:rPr>
              <a:t>Delivering the Right Outcomes the Right Way</a:t>
            </a:r>
            <a:endParaRPr b="0" sz="1350" strike="noStrike">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p:nvPr/>
        </p:nvSpPr>
        <p:spPr>
          <a:xfrm>
            <a:off x="4214520" y="2405160"/>
            <a:ext cx="2489040" cy="1873080"/>
          </a:xfrm>
          <a:custGeom>
            <a:rect b="b" l="l" r="r" t="t"/>
            <a:pathLst>
              <a:path extrusionOk="0" h="2745104" w="2743200">
                <a:moveTo>
                  <a:pt x="353567" y="1989709"/>
                </a:moveTo>
                <a:lnTo>
                  <a:pt x="165226" y="1989709"/>
                </a:lnTo>
                <a:lnTo>
                  <a:pt x="165226" y="2326640"/>
                </a:lnTo>
                <a:lnTo>
                  <a:pt x="168041" y="2375439"/>
                </a:lnTo>
                <a:lnTo>
                  <a:pt x="176277" y="2422584"/>
                </a:lnTo>
                <a:lnTo>
                  <a:pt x="189619" y="2467762"/>
                </a:lnTo>
                <a:lnTo>
                  <a:pt x="207755" y="2510658"/>
                </a:lnTo>
                <a:lnTo>
                  <a:pt x="230370" y="2550958"/>
                </a:lnTo>
                <a:lnTo>
                  <a:pt x="257150" y="2588349"/>
                </a:lnTo>
                <a:lnTo>
                  <a:pt x="287782" y="2622516"/>
                </a:lnTo>
                <a:lnTo>
                  <a:pt x="321951" y="2653146"/>
                </a:lnTo>
                <a:lnTo>
                  <a:pt x="359345" y="2679925"/>
                </a:lnTo>
                <a:lnTo>
                  <a:pt x="399649" y="2702539"/>
                </a:lnTo>
                <a:lnTo>
                  <a:pt x="442549" y="2720674"/>
                </a:lnTo>
                <a:lnTo>
                  <a:pt x="487732" y="2734016"/>
                </a:lnTo>
                <a:lnTo>
                  <a:pt x="534884" y="2742251"/>
                </a:lnTo>
                <a:lnTo>
                  <a:pt x="583691" y="2745066"/>
                </a:lnTo>
                <a:lnTo>
                  <a:pt x="2324861" y="2745066"/>
                </a:lnTo>
                <a:lnTo>
                  <a:pt x="2373643" y="2742251"/>
                </a:lnTo>
                <a:lnTo>
                  <a:pt x="2420774" y="2734016"/>
                </a:lnTo>
                <a:lnTo>
                  <a:pt x="2465938" y="2720674"/>
                </a:lnTo>
                <a:lnTo>
                  <a:pt x="2508823" y="2702539"/>
                </a:lnTo>
                <a:lnTo>
                  <a:pt x="2549115" y="2679925"/>
                </a:lnTo>
                <a:lnTo>
                  <a:pt x="2586499" y="2653146"/>
                </a:lnTo>
                <a:lnTo>
                  <a:pt x="2620660" y="2622516"/>
                </a:lnTo>
                <a:lnTo>
                  <a:pt x="2651286" y="2588349"/>
                </a:lnTo>
                <a:lnTo>
                  <a:pt x="2673914" y="2556751"/>
                </a:lnTo>
                <a:lnTo>
                  <a:pt x="583691" y="2556751"/>
                </a:lnTo>
                <a:lnTo>
                  <a:pt x="537304" y="2552077"/>
                </a:lnTo>
                <a:lnTo>
                  <a:pt x="494103" y="2538673"/>
                </a:lnTo>
                <a:lnTo>
                  <a:pt x="455012" y="2517462"/>
                </a:lnTo>
                <a:lnTo>
                  <a:pt x="420957" y="2489368"/>
                </a:lnTo>
                <a:lnTo>
                  <a:pt x="392860" y="2455315"/>
                </a:lnTo>
                <a:lnTo>
                  <a:pt x="371647" y="2416226"/>
                </a:lnTo>
                <a:lnTo>
                  <a:pt x="358241" y="2373026"/>
                </a:lnTo>
                <a:lnTo>
                  <a:pt x="353567" y="2326640"/>
                </a:lnTo>
                <a:lnTo>
                  <a:pt x="353567" y="1989709"/>
                </a:lnTo>
                <a:close/>
                <a:moveTo>
                  <a:pt x="2743200" y="0"/>
                </a:moveTo>
                <a:lnTo>
                  <a:pt x="2554858" y="0"/>
                </a:lnTo>
                <a:lnTo>
                  <a:pt x="2554858" y="2326640"/>
                </a:lnTo>
                <a:lnTo>
                  <a:pt x="2550185" y="2373026"/>
                </a:lnTo>
                <a:lnTo>
                  <a:pt x="2536781" y="2416226"/>
                </a:lnTo>
                <a:lnTo>
                  <a:pt x="2515572" y="2455315"/>
                </a:lnTo>
                <a:lnTo>
                  <a:pt x="2487485" y="2489368"/>
                </a:lnTo>
                <a:lnTo>
                  <a:pt x="2453445" y="2517462"/>
                </a:lnTo>
                <a:lnTo>
                  <a:pt x="2414377" y="2538673"/>
                </a:lnTo>
                <a:lnTo>
                  <a:pt x="2371207" y="2552077"/>
                </a:lnTo>
                <a:lnTo>
                  <a:pt x="2324861" y="2556751"/>
                </a:lnTo>
                <a:lnTo>
                  <a:pt x="2673914" y="2556751"/>
                </a:lnTo>
                <a:lnTo>
                  <a:pt x="2700674" y="2510658"/>
                </a:lnTo>
                <a:lnTo>
                  <a:pt x="2718808" y="2467762"/>
                </a:lnTo>
                <a:lnTo>
                  <a:pt x="2732149" y="2422584"/>
                </a:lnTo>
                <a:lnTo>
                  <a:pt x="2740385" y="2375439"/>
                </a:lnTo>
                <a:lnTo>
                  <a:pt x="2743200" y="2326640"/>
                </a:lnTo>
                <a:lnTo>
                  <a:pt x="2743200" y="0"/>
                </a:lnTo>
                <a:close/>
                <a:moveTo>
                  <a:pt x="259460" y="1531239"/>
                </a:moveTo>
                <a:lnTo>
                  <a:pt x="0" y="1989709"/>
                </a:lnTo>
                <a:lnTo>
                  <a:pt x="518794" y="1989709"/>
                </a:lnTo>
                <a:lnTo>
                  <a:pt x="259460" y="1531239"/>
                </a:lnTo>
                <a:close/>
              </a:path>
            </a:pathLst>
          </a:custGeom>
          <a:solidFill>
            <a:srgbClr val="A5A5A5"/>
          </a:solidFill>
          <a:ln>
            <a:noFill/>
          </a:ln>
        </p:spPr>
      </p:sp>
      <p:sp>
        <p:nvSpPr>
          <p:cNvPr id="464" name="Google Shape;464;p76"/>
          <p:cNvSpPr/>
          <p:nvPr/>
        </p:nvSpPr>
        <p:spPr>
          <a:xfrm>
            <a:off x="4999680" y="3624480"/>
            <a:ext cx="1141200" cy="489240"/>
          </a:xfrm>
          <a:prstGeom prst="rect">
            <a:avLst/>
          </a:prstGeom>
          <a:noFill/>
          <a:ln>
            <a:noFill/>
          </a:ln>
        </p:spPr>
        <p:txBody>
          <a:bodyPr anchorCtr="0" anchor="t" bIns="0" lIns="0" spcFirstLastPara="1" rIns="0" wrap="square" tIns="9350">
            <a:noAutofit/>
          </a:bodyPr>
          <a:lstStyle/>
          <a:p>
            <a:pPr indent="360" lvl="0" marL="9360" marR="0" rtl="0" algn="ctr">
              <a:lnSpc>
                <a:spcPct val="100000"/>
              </a:lnSpc>
              <a:spcBef>
                <a:spcPts val="0"/>
              </a:spcBef>
              <a:spcAft>
                <a:spcPts val="0"/>
              </a:spcAft>
              <a:buNone/>
            </a:pPr>
            <a:r>
              <a:rPr b="1" lang="en-US" sz="1050" strike="noStrike">
                <a:solidFill>
                  <a:srgbClr val="1F487C"/>
                </a:solidFill>
                <a:latin typeface="Calibri"/>
                <a:ea typeface="Calibri"/>
                <a:cs typeface="Calibri"/>
                <a:sym typeface="Calibri"/>
              </a:rPr>
              <a:t>Feedback from  Customers to the  Operation</a:t>
            </a:r>
            <a:endParaRPr b="0" sz="1050" strike="noStrike">
              <a:latin typeface="Arial"/>
              <a:ea typeface="Arial"/>
              <a:cs typeface="Arial"/>
              <a:sym typeface="Arial"/>
            </a:endParaRPr>
          </a:p>
        </p:txBody>
      </p:sp>
      <p:sp>
        <p:nvSpPr>
          <p:cNvPr id="465" name="Google Shape;465;p76"/>
          <p:cNvSpPr/>
          <p:nvPr/>
        </p:nvSpPr>
        <p:spPr>
          <a:xfrm>
            <a:off x="1521720" y="2226600"/>
            <a:ext cx="2489040" cy="2054160"/>
          </a:xfrm>
          <a:custGeom>
            <a:rect b="b" l="l" r="r" t="t"/>
            <a:pathLst>
              <a:path extrusionOk="0" h="2739390" w="2743200">
                <a:moveTo>
                  <a:pt x="353060" y="1969643"/>
                </a:moveTo>
                <a:lnTo>
                  <a:pt x="165100" y="1969643"/>
                </a:lnTo>
                <a:lnTo>
                  <a:pt x="165100" y="2321560"/>
                </a:lnTo>
                <a:lnTo>
                  <a:pt x="167911" y="2370279"/>
                </a:lnTo>
                <a:lnTo>
                  <a:pt x="176135" y="2417349"/>
                </a:lnTo>
                <a:lnTo>
                  <a:pt x="189459" y="2462456"/>
                </a:lnTo>
                <a:lnTo>
                  <a:pt x="207569" y="2505285"/>
                </a:lnTo>
                <a:lnTo>
                  <a:pt x="230151" y="2545524"/>
                </a:lnTo>
                <a:lnTo>
                  <a:pt x="256893" y="2582859"/>
                </a:lnTo>
                <a:lnTo>
                  <a:pt x="287480" y="2616976"/>
                </a:lnTo>
                <a:lnTo>
                  <a:pt x="321599" y="2647561"/>
                </a:lnTo>
                <a:lnTo>
                  <a:pt x="358937" y="2674302"/>
                </a:lnTo>
                <a:lnTo>
                  <a:pt x="399179" y="2696883"/>
                </a:lnTo>
                <a:lnTo>
                  <a:pt x="442014" y="2714993"/>
                </a:lnTo>
                <a:lnTo>
                  <a:pt x="487126" y="2728316"/>
                </a:lnTo>
                <a:lnTo>
                  <a:pt x="534202" y="2736540"/>
                </a:lnTo>
                <a:lnTo>
                  <a:pt x="582930" y="2739351"/>
                </a:lnTo>
                <a:lnTo>
                  <a:pt x="2325370" y="2739351"/>
                </a:lnTo>
                <a:lnTo>
                  <a:pt x="2374097" y="2736540"/>
                </a:lnTo>
                <a:lnTo>
                  <a:pt x="2421173" y="2728316"/>
                </a:lnTo>
                <a:lnTo>
                  <a:pt x="2466285" y="2714993"/>
                </a:lnTo>
                <a:lnTo>
                  <a:pt x="2509120" y="2696883"/>
                </a:lnTo>
                <a:lnTo>
                  <a:pt x="2549362" y="2674302"/>
                </a:lnTo>
                <a:lnTo>
                  <a:pt x="2586700" y="2647561"/>
                </a:lnTo>
                <a:lnTo>
                  <a:pt x="2620819" y="2616976"/>
                </a:lnTo>
                <a:lnTo>
                  <a:pt x="2651406" y="2582859"/>
                </a:lnTo>
                <a:lnTo>
                  <a:pt x="2674009" y="2551303"/>
                </a:lnTo>
                <a:lnTo>
                  <a:pt x="582803" y="2551290"/>
                </a:lnTo>
                <a:lnTo>
                  <a:pt x="536550" y="2546622"/>
                </a:lnTo>
                <a:lnTo>
                  <a:pt x="493414" y="2533236"/>
                </a:lnTo>
                <a:lnTo>
                  <a:pt x="454376" y="2512055"/>
                </a:lnTo>
                <a:lnTo>
                  <a:pt x="420364" y="2484002"/>
                </a:lnTo>
                <a:lnTo>
                  <a:pt x="392303" y="2450002"/>
                </a:lnTo>
                <a:lnTo>
                  <a:pt x="371117" y="2410979"/>
                </a:lnTo>
                <a:lnTo>
                  <a:pt x="357728" y="2367857"/>
                </a:lnTo>
                <a:lnTo>
                  <a:pt x="353060" y="2321560"/>
                </a:lnTo>
                <a:lnTo>
                  <a:pt x="353060" y="1969643"/>
                </a:lnTo>
                <a:close/>
                <a:moveTo>
                  <a:pt x="2743200" y="0"/>
                </a:moveTo>
                <a:lnTo>
                  <a:pt x="2555240" y="0"/>
                </a:lnTo>
                <a:lnTo>
                  <a:pt x="2555240" y="2321560"/>
                </a:lnTo>
                <a:lnTo>
                  <a:pt x="2550571" y="2367858"/>
                </a:lnTo>
                <a:lnTo>
                  <a:pt x="2537181" y="2410981"/>
                </a:lnTo>
                <a:lnTo>
                  <a:pt x="2515990" y="2450006"/>
                </a:lnTo>
                <a:lnTo>
                  <a:pt x="2487922" y="2484008"/>
                </a:lnTo>
                <a:lnTo>
                  <a:pt x="2453896" y="2512063"/>
                </a:lnTo>
                <a:lnTo>
                  <a:pt x="2414830" y="2533247"/>
                </a:lnTo>
                <a:lnTo>
                  <a:pt x="2371710" y="2546622"/>
                </a:lnTo>
                <a:lnTo>
                  <a:pt x="2325370" y="2551290"/>
                </a:lnTo>
                <a:lnTo>
                  <a:pt x="582930" y="2551303"/>
                </a:lnTo>
                <a:lnTo>
                  <a:pt x="2674018" y="2551290"/>
                </a:lnTo>
                <a:lnTo>
                  <a:pt x="2700730" y="2505285"/>
                </a:lnTo>
                <a:lnTo>
                  <a:pt x="2718840" y="2462456"/>
                </a:lnTo>
                <a:lnTo>
                  <a:pt x="2732164" y="2417349"/>
                </a:lnTo>
                <a:lnTo>
                  <a:pt x="2740388" y="2370279"/>
                </a:lnTo>
                <a:lnTo>
                  <a:pt x="2743200" y="2321560"/>
                </a:lnTo>
                <a:lnTo>
                  <a:pt x="2743200" y="0"/>
                </a:lnTo>
                <a:close/>
                <a:moveTo>
                  <a:pt x="259080" y="1511935"/>
                </a:moveTo>
                <a:lnTo>
                  <a:pt x="0" y="1969643"/>
                </a:lnTo>
                <a:lnTo>
                  <a:pt x="518160" y="1969643"/>
                </a:lnTo>
                <a:lnTo>
                  <a:pt x="259080" y="1511935"/>
                </a:lnTo>
                <a:close/>
              </a:path>
            </a:pathLst>
          </a:custGeom>
          <a:solidFill>
            <a:srgbClr val="A5A5A5"/>
          </a:solidFill>
          <a:ln>
            <a:noFill/>
          </a:ln>
        </p:spPr>
      </p:sp>
      <p:sp>
        <p:nvSpPr>
          <p:cNvPr id="466" name="Google Shape;466;p76"/>
          <p:cNvSpPr/>
          <p:nvPr/>
        </p:nvSpPr>
        <p:spPr>
          <a:xfrm>
            <a:off x="2276280" y="3571920"/>
            <a:ext cx="1238040" cy="489240"/>
          </a:xfrm>
          <a:prstGeom prst="rect">
            <a:avLst/>
          </a:prstGeom>
          <a:noFill/>
          <a:ln>
            <a:noFill/>
          </a:ln>
        </p:spPr>
        <p:txBody>
          <a:bodyPr anchorCtr="0" anchor="t" bIns="0" lIns="0" spcFirstLastPara="1" rIns="0" wrap="square" tIns="9350">
            <a:noAutofit/>
          </a:bodyPr>
          <a:lstStyle/>
          <a:p>
            <a:pPr indent="0" lvl="0" marL="9360" marR="0" rtl="0" algn="ctr">
              <a:lnSpc>
                <a:spcPct val="100000"/>
              </a:lnSpc>
              <a:spcBef>
                <a:spcPts val="0"/>
              </a:spcBef>
              <a:spcAft>
                <a:spcPts val="0"/>
              </a:spcAft>
              <a:buNone/>
            </a:pPr>
            <a:r>
              <a:rPr b="1" lang="en-US" sz="1050" strike="noStrike">
                <a:solidFill>
                  <a:srgbClr val="1F487C"/>
                </a:solidFill>
                <a:latin typeface="Calibri"/>
                <a:ea typeface="Calibri"/>
                <a:cs typeface="Calibri"/>
                <a:sym typeface="Calibri"/>
              </a:rPr>
              <a:t>Feedback to the  Suppliers from the  Operation</a:t>
            </a:r>
            <a:endParaRPr b="0" sz="1050" strike="noStrike">
              <a:latin typeface="Arial"/>
              <a:ea typeface="Arial"/>
              <a:cs typeface="Arial"/>
              <a:sym typeface="Arial"/>
            </a:endParaRPr>
          </a:p>
        </p:txBody>
      </p:sp>
      <p:sp>
        <p:nvSpPr>
          <p:cNvPr id="467" name="Google Shape;467;p76"/>
          <p:cNvSpPr/>
          <p:nvPr/>
        </p:nvSpPr>
        <p:spPr>
          <a:xfrm>
            <a:off x="2223720" y="1704240"/>
            <a:ext cx="4033440" cy="268920"/>
          </a:xfrm>
          <a:prstGeom prst="rect">
            <a:avLst/>
          </a:prstGeom>
          <a:noFill/>
          <a:ln>
            <a:noFill/>
          </a:ln>
        </p:spPr>
        <p:txBody>
          <a:bodyPr anchorCtr="0" anchor="t" bIns="0" lIns="0" spcFirstLastPara="1" rIns="0" wrap="square" tIns="25200">
            <a:noAutofit/>
          </a:bodyPr>
          <a:lstStyle/>
          <a:p>
            <a:pPr indent="0" lvl="0" marL="230040" marR="0" rtl="0" algn="ctr">
              <a:lnSpc>
                <a:spcPct val="100000"/>
              </a:lnSpc>
              <a:spcBef>
                <a:spcPts val="0"/>
              </a:spcBef>
              <a:spcAft>
                <a:spcPts val="0"/>
              </a:spcAft>
              <a:buNone/>
            </a:pPr>
            <a:r>
              <a:rPr b="0" lang="en-US" sz="1600" strike="noStrike">
                <a:solidFill>
                  <a:srgbClr val="1F487C"/>
                </a:solidFill>
                <a:latin typeface="Calibri"/>
                <a:ea typeface="Calibri"/>
                <a:cs typeface="Calibri"/>
                <a:sym typeface="Calibri"/>
              </a:rPr>
              <a:t>Operating Model</a:t>
            </a:r>
            <a:endParaRPr b="0" sz="1600" strike="noStrike">
              <a:latin typeface="Arial"/>
              <a:ea typeface="Arial"/>
              <a:cs typeface="Arial"/>
              <a:sym typeface="Arial"/>
            </a:endParaRPr>
          </a:p>
        </p:txBody>
      </p:sp>
      <p:sp>
        <p:nvSpPr>
          <p:cNvPr id="468" name="Google Shape;468;p76"/>
          <p:cNvSpPr txBox="1"/>
          <p:nvPr/>
        </p:nvSpPr>
        <p:spPr>
          <a:xfrm>
            <a:off x="457200" y="544680"/>
            <a:ext cx="8229240" cy="868320"/>
          </a:xfrm>
          <a:prstGeom prst="rect">
            <a:avLst/>
          </a:prstGeom>
          <a:noFill/>
          <a:ln>
            <a:noFill/>
          </a:ln>
        </p:spPr>
        <p:txBody>
          <a:bodyPr anchorCtr="0" anchor="t" bIns="0" lIns="0" spcFirstLastPara="1" rIns="0" wrap="square" tIns="9350">
            <a:noAutofit/>
          </a:bodyPr>
          <a:lstStyle/>
          <a:p>
            <a:pPr indent="0" lvl="0" marL="9360" marR="0" rtl="0" algn="l">
              <a:lnSpc>
                <a:spcPct val="100000"/>
              </a:lnSpc>
              <a:spcBef>
                <a:spcPts val="0"/>
              </a:spcBef>
              <a:spcAft>
                <a:spcPts val="0"/>
              </a:spcAft>
              <a:buNone/>
            </a:pPr>
            <a:r>
              <a:rPr b="1" lang="en-US" sz="2400" strike="noStrike">
                <a:solidFill>
                  <a:srgbClr val="000000"/>
                </a:solidFill>
                <a:latin typeface="Arial"/>
                <a:ea typeface="Arial"/>
                <a:cs typeface="Arial"/>
                <a:sym typeface="Arial"/>
              </a:rPr>
              <a:t>Step 2 – Identify  Feedback Loops</a:t>
            </a:r>
            <a:endParaRPr b="0" sz="2400" strike="noStrike">
              <a:solidFill>
                <a:srgbClr val="000000"/>
              </a:solidFill>
              <a:latin typeface="Arial"/>
              <a:ea typeface="Arial"/>
              <a:cs typeface="Arial"/>
              <a:sym typeface="Arial"/>
            </a:endParaRPr>
          </a:p>
        </p:txBody>
      </p:sp>
      <p:sp>
        <p:nvSpPr>
          <p:cNvPr id="469" name="Google Shape;469;p76"/>
          <p:cNvSpPr/>
          <p:nvPr/>
        </p:nvSpPr>
        <p:spPr>
          <a:xfrm>
            <a:off x="447840" y="960120"/>
            <a:ext cx="7502040" cy="420840"/>
          </a:xfrm>
          <a:prstGeom prst="rect">
            <a:avLst/>
          </a:prstGeom>
          <a:noFill/>
          <a:ln>
            <a:noFill/>
          </a:ln>
        </p:spPr>
        <p:txBody>
          <a:bodyPr anchorCtr="0" anchor="t" bIns="0" lIns="0" spcFirstLastPara="1" rIns="0" wrap="square" tIns="9350">
            <a:noAutofit/>
          </a:bodyPr>
          <a:lstStyle/>
          <a:p>
            <a:pPr indent="0" lvl="0" marL="9360" marR="0" rtl="0" algn="l">
              <a:lnSpc>
                <a:spcPct val="100000"/>
              </a:lnSpc>
              <a:spcBef>
                <a:spcPts val="0"/>
              </a:spcBef>
              <a:spcAft>
                <a:spcPts val="0"/>
              </a:spcAft>
              <a:buNone/>
            </a:pPr>
            <a:r>
              <a:rPr b="0" lang="en-US" sz="1350" strike="noStrike">
                <a:solidFill>
                  <a:srgbClr val="1F487C"/>
                </a:solidFill>
                <a:latin typeface="Calibri"/>
                <a:ea typeface="Calibri"/>
                <a:cs typeface="Calibri"/>
                <a:sym typeface="Calibri"/>
              </a:rPr>
              <a:t>Information from feedback loops are used to control the process, by  adjusting the timing, quantity, quality or cost of input resources and optimizing the processes that are used to achieve desired outcomes.</a:t>
            </a:r>
            <a:endParaRPr b="0" sz="1350" strike="noStrike">
              <a:latin typeface="Arial"/>
              <a:ea typeface="Arial"/>
              <a:cs typeface="Arial"/>
              <a:sym typeface="Arial"/>
            </a:endParaRPr>
          </a:p>
        </p:txBody>
      </p:sp>
      <p:sp>
        <p:nvSpPr>
          <p:cNvPr id="470" name="Google Shape;470;p76"/>
          <p:cNvSpPr/>
          <p:nvPr/>
        </p:nvSpPr>
        <p:spPr>
          <a:xfrm>
            <a:off x="923040" y="1684800"/>
            <a:ext cx="7179120" cy="1671840"/>
          </a:xfrm>
          <a:prstGeom prst="rightArrow">
            <a:avLst>
              <a:gd fmla="val 50000" name="adj1"/>
              <a:gd fmla="val 50000" name="adj2"/>
            </a:avLst>
          </a:prstGeom>
          <a:solidFill>
            <a:srgbClr val="A5A5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76"/>
          <p:cNvSpPr/>
          <p:nvPr/>
        </p:nvSpPr>
        <p:spPr>
          <a:xfrm>
            <a:off x="1076400" y="2321640"/>
            <a:ext cx="1146600" cy="387360"/>
          </a:xfrm>
          <a:custGeom>
            <a:rect b="b" l="l" r="r" t="t"/>
            <a:pathLst>
              <a:path extrusionOk="0" h="516889" w="1292225">
                <a:moveTo>
                  <a:pt x="1291970" y="0"/>
                </a:moveTo>
                <a:lnTo>
                  <a:pt x="0" y="0"/>
                </a:lnTo>
                <a:lnTo>
                  <a:pt x="0" y="516763"/>
                </a:lnTo>
                <a:lnTo>
                  <a:pt x="1291970" y="516763"/>
                </a:lnTo>
                <a:lnTo>
                  <a:pt x="1291970" y="0"/>
                </a:lnTo>
                <a:close/>
              </a:path>
            </a:pathLst>
          </a:custGeom>
          <a:solidFill>
            <a:srgbClr val="F7954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500" strike="noStrike">
                <a:solidFill>
                  <a:srgbClr val="FFFFFF"/>
                </a:solidFill>
                <a:latin typeface="Calibri"/>
                <a:ea typeface="Calibri"/>
                <a:cs typeface="Calibri"/>
                <a:sym typeface="Calibri"/>
              </a:rPr>
              <a:t>S</a:t>
            </a:r>
            <a:r>
              <a:rPr b="1" lang="en-US" sz="1050" strike="noStrike">
                <a:solidFill>
                  <a:srgbClr val="FFFFFF"/>
                </a:solidFill>
                <a:latin typeface="Calibri"/>
                <a:ea typeface="Calibri"/>
                <a:cs typeface="Calibri"/>
                <a:sym typeface="Calibri"/>
              </a:rPr>
              <a:t>uppliers</a:t>
            </a:r>
            <a:endParaRPr b="0" sz="1050" strike="noStrike">
              <a:latin typeface="Arial"/>
              <a:ea typeface="Arial"/>
              <a:cs typeface="Arial"/>
              <a:sym typeface="Arial"/>
            </a:endParaRPr>
          </a:p>
        </p:txBody>
      </p:sp>
      <p:sp>
        <p:nvSpPr>
          <p:cNvPr id="472" name="Google Shape;472;p76"/>
          <p:cNvSpPr/>
          <p:nvPr/>
        </p:nvSpPr>
        <p:spPr>
          <a:xfrm>
            <a:off x="1076400" y="2321640"/>
            <a:ext cx="1146600" cy="387360"/>
          </a:xfrm>
          <a:custGeom>
            <a:rect b="b" l="l" r="r" t="t"/>
            <a:pathLst>
              <a:path extrusionOk="0" h="516889" w="1292225">
                <a:moveTo>
                  <a:pt x="0" y="516763"/>
                </a:moveTo>
                <a:lnTo>
                  <a:pt x="1291970" y="516763"/>
                </a:lnTo>
                <a:lnTo>
                  <a:pt x="1291970" y="0"/>
                </a:lnTo>
                <a:lnTo>
                  <a:pt x="0" y="0"/>
                </a:lnTo>
                <a:lnTo>
                  <a:pt x="0" y="516763"/>
                </a:lnTo>
                <a:close/>
              </a:path>
            </a:pathLst>
          </a:custGeom>
          <a:noFill/>
          <a:ln cap="flat" cmpd="sng" w="25200">
            <a:solidFill>
              <a:srgbClr val="F79546"/>
            </a:solidFill>
            <a:prstDash val="solid"/>
            <a:round/>
            <a:headEnd len="sm" w="sm" type="none"/>
            <a:tailEnd len="sm" w="sm" type="none"/>
          </a:ln>
        </p:spPr>
      </p:sp>
      <p:sp>
        <p:nvSpPr>
          <p:cNvPr id="473" name="Google Shape;473;p76"/>
          <p:cNvSpPr/>
          <p:nvPr/>
        </p:nvSpPr>
        <p:spPr>
          <a:xfrm>
            <a:off x="2384280" y="2330280"/>
            <a:ext cx="1146600" cy="387360"/>
          </a:xfrm>
          <a:custGeom>
            <a:rect b="b" l="l" r="r" t="t"/>
            <a:pathLst>
              <a:path extrusionOk="0" h="516889" w="1292225">
                <a:moveTo>
                  <a:pt x="1291970" y="0"/>
                </a:moveTo>
                <a:lnTo>
                  <a:pt x="0" y="0"/>
                </a:lnTo>
                <a:lnTo>
                  <a:pt x="0" y="516763"/>
                </a:lnTo>
                <a:lnTo>
                  <a:pt x="1291970" y="516763"/>
                </a:lnTo>
                <a:lnTo>
                  <a:pt x="1291970" y="0"/>
                </a:lnTo>
                <a:close/>
              </a:path>
            </a:pathLst>
          </a:custGeom>
          <a:solidFill>
            <a:srgbClr val="1F487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500" strike="noStrike">
                <a:solidFill>
                  <a:srgbClr val="FFFFFF"/>
                </a:solidFill>
                <a:latin typeface="Calibri"/>
                <a:ea typeface="Calibri"/>
                <a:cs typeface="Calibri"/>
                <a:sym typeface="Calibri"/>
              </a:rPr>
              <a:t>I</a:t>
            </a:r>
            <a:r>
              <a:rPr b="1" lang="en-US" sz="1050" strike="noStrike">
                <a:solidFill>
                  <a:srgbClr val="FFFFFF"/>
                </a:solidFill>
                <a:latin typeface="Calibri"/>
                <a:ea typeface="Calibri"/>
                <a:cs typeface="Calibri"/>
                <a:sym typeface="Calibri"/>
              </a:rPr>
              <a:t>nputs</a:t>
            </a:r>
            <a:endParaRPr b="0" sz="1050" strike="noStrike">
              <a:latin typeface="Arial"/>
              <a:ea typeface="Arial"/>
              <a:cs typeface="Arial"/>
              <a:sym typeface="Arial"/>
            </a:endParaRPr>
          </a:p>
        </p:txBody>
      </p:sp>
      <p:sp>
        <p:nvSpPr>
          <p:cNvPr id="474" name="Google Shape;474;p76"/>
          <p:cNvSpPr/>
          <p:nvPr/>
        </p:nvSpPr>
        <p:spPr>
          <a:xfrm>
            <a:off x="2384280" y="2330280"/>
            <a:ext cx="1146600" cy="387360"/>
          </a:xfrm>
          <a:custGeom>
            <a:rect b="b" l="l" r="r" t="t"/>
            <a:pathLst>
              <a:path extrusionOk="0" h="516889" w="1292225">
                <a:moveTo>
                  <a:pt x="0" y="516763"/>
                </a:moveTo>
                <a:lnTo>
                  <a:pt x="1291970" y="516763"/>
                </a:lnTo>
                <a:lnTo>
                  <a:pt x="1291970" y="0"/>
                </a:lnTo>
                <a:lnTo>
                  <a:pt x="0" y="0"/>
                </a:lnTo>
                <a:lnTo>
                  <a:pt x="0" y="516763"/>
                </a:lnTo>
                <a:close/>
              </a:path>
            </a:pathLst>
          </a:custGeom>
          <a:noFill/>
          <a:ln cap="flat" cmpd="sng" w="25200">
            <a:solidFill>
              <a:srgbClr val="DCE6F1"/>
            </a:solidFill>
            <a:prstDash val="solid"/>
            <a:round/>
            <a:headEnd len="sm" w="sm" type="none"/>
            <a:tailEnd len="sm" w="sm" type="none"/>
          </a:ln>
        </p:spPr>
      </p:sp>
      <p:sp>
        <p:nvSpPr>
          <p:cNvPr id="475" name="Google Shape;475;p76"/>
          <p:cNvSpPr/>
          <p:nvPr/>
        </p:nvSpPr>
        <p:spPr>
          <a:xfrm>
            <a:off x="3691800" y="2345400"/>
            <a:ext cx="1146600" cy="387360"/>
          </a:xfrm>
          <a:custGeom>
            <a:rect b="b" l="l" r="r" t="t"/>
            <a:pathLst>
              <a:path extrusionOk="0" h="516889" w="1292225">
                <a:moveTo>
                  <a:pt x="1291971" y="0"/>
                </a:moveTo>
                <a:lnTo>
                  <a:pt x="0" y="0"/>
                </a:lnTo>
                <a:lnTo>
                  <a:pt x="0" y="516763"/>
                </a:lnTo>
                <a:lnTo>
                  <a:pt x="1291971" y="516763"/>
                </a:lnTo>
                <a:lnTo>
                  <a:pt x="1291971" y="0"/>
                </a:lnTo>
                <a:close/>
              </a:path>
            </a:pathLst>
          </a:custGeom>
          <a:solidFill>
            <a:srgbClr val="1F487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500" strike="noStrike">
                <a:solidFill>
                  <a:srgbClr val="FFFFFF"/>
                </a:solidFill>
                <a:latin typeface="Calibri"/>
                <a:ea typeface="Calibri"/>
                <a:cs typeface="Calibri"/>
                <a:sym typeface="Calibri"/>
              </a:rPr>
              <a:t>P</a:t>
            </a:r>
            <a:r>
              <a:rPr b="1" lang="en-US" sz="1050" strike="noStrike">
                <a:solidFill>
                  <a:srgbClr val="FFFFFF"/>
                </a:solidFill>
                <a:latin typeface="Calibri"/>
                <a:ea typeface="Calibri"/>
                <a:cs typeface="Calibri"/>
                <a:sym typeface="Calibri"/>
              </a:rPr>
              <a:t>rocess</a:t>
            </a:r>
            <a:endParaRPr b="0" sz="1050" strike="noStrike">
              <a:latin typeface="Arial"/>
              <a:ea typeface="Arial"/>
              <a:cs typeface="Arial"/>
              <a:sym typeface="Arial"/>
            </a:endParaRPr>
          </a:p>
        </p:txBody>
      </p:sp>
      <p:sp>
        <p:nvSpPr>
          <p:cNvPr id="476" name="Google Shape;476;p76"/>
          <p:cNvSpPr/>
          <p:nvPr/>
        </p:nvSpPr>
        <p:spPr>
          <a:xfrm>
            <a:off x="3691800" y="2330280"/>
            <a:ext cx="1146600" cy="387360"/>
          </a:xfrm>
          <a:custGeom>
            <a:rect b="b" l="l" r="r" t="t"/>
            <a:pathLst>
              <a:path extrusionOk="0" h="516889" w="1292225">
                <a:moveTo>
                  <a:pt x="0" y="516763"/>
                </a:moveTo>
                <a:lnTo>
                  <a:pt x="1291971" y="516763"/>
                </a:lnTo>
                <a:lnTo>
                  <a:pt x="1291971" y="0"/>
                </a:lnTo>
                <a:lnTo>
                  <a:pt x="0" y="0"/>
                </a:lnTo>
                <a:lnTo>
                  <a:pt x="0" y="516763"/>
                </a:lnTo>
                <a:close/>
              </a:path>
            </a:pathLst>
          </a:custGeom>
          <a:noFill/>
          <a:ln cap="flat" cmpd="sng" w="25550">
            <a:solidFill>
              <a:srgbClr val="DCE6F1"/>
            </a:solidFill>
            <a:prstDash val="solid"/>
            <a:round/>
            <a:headEnd len="sm" w="sm" type="none"/>
            <a:tailEnd len="sm" w="sm" type="none"/>
          </a:ln>
        </p:spPr>
      </p:sp>
      <p:sp>
        <p:nvSpPr>
          <p:cNvPr id="477" name="Google Shape;477;p76"/>
          <p:cNvSpPr/>
          <p:nvPr/>
        </p:nvSpPr>
        <p:spPr>
          <a:xfrm>
            <a:off x="4999680" y="2330280"/>
            <a:ext cx="1146600" cy="387360"/>
          </a:xfrm>
          <a:custGeom>
            <a:rect b="b" l="l" r="r" t="t"/>
            <a:pathLst>
              <a:path extrusionOk="0" h="516889" w="1292225">
                <a:moveTo>
                  <a:pt x="1291970" y="0"/>
                </a:moveTo>
                <a:lnTo>
                  <a:pt x="0" y="0"/>
                </a:lnTo>
                <a:lnTo>
                  <a:pt x="0" y="516763"/>
                </a:lnTo>
                <a:lnTo>
                  <a:pt x="1291970" y="516763"/>
                </a:lnTo>
                <a:lnTo>
                  <a:pt x="1291970" y="0"/>
                </a:lnTo>
                <a:close/>
              </a:path>
            </a:pathLst>
          </a:custGeom>
          <a:solidFill>
            <a:srgbClr val="1F487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500" strike="noStrike">
                <a:solidFill>
                  <a:srgbClr val="FFFFFF"/>
                </a:solidFill>
                <a:latin typeface="Calibri"/>
                <a:ea typeface="Calibri"/>
                <a:cs typeface="Calibri"/>
                <a:sym typeface="Calibri"/>
              </a:rPr>
              <a:t>O</a:t>
            </a:r>
            <a:r>
              <a:rPr b="1" lang="en-US" sz="1050" strike="noStrike">
                <a:solidFill>
                  <a:srgbClr val="FFFFFF"/>
                </a:solidFill>
                <a:latin typeface="Calibri"/>
                <a:ea typeface="Calibri"/>
                <a:cs typeface="Calibri"/>
                <a:sym typeface="Calibri"/>
              </a:rPr>
              <a:t>utputs</a:t>
            </a:r>
            <a:endParaRPr b="0" sz="1050" strike="noStrike">
              <a:latin typeface="Arial"/>
              <a:ea typeface="Arial"/>
              <a:cs typeface="Arial"/>
              <a:sym typeface="Arial"/>
            </a:endParaRPr>
          </a:p>
        </p:txBody>
      </p:sp>
      <p:sp>
        <p:nvSpPr>
          <p:cNvPr id="478" name="Google Shape;478;p76"/>
          <p:cNvSpPr/>
          <p:nvPr/>
        </p:nvSpPr>
        <p:spPr>
          <a:xfrm>
            <a:off x="4999680" y="2330280"/>
            <a:ext cx="1146600" cy="387360"/>
          </a:xfrm>
          <a:custGeom>
            <a:rect b="b" l="l" r="r" t="t"/>
            <a:pathLst>
              <a:path extrusionOk="0" h="516889" w="1292225">
                <a:moveTo>
                  <a:pt x="0" y="516763"/>
                </a:moveTo>
                <a:lnTo>
                  <a:pt x="1291970" y="516763"/>
                </a:lnTo>
                <a:lnTo>
                  <a:pt x="1291970" y="0"/>
                </a:lnTo>
                <a:lnTo>
                  <a:pt x="0" y="0"/>
                </a:lnTo>
                <a:lnTo>
                  <a:pt x="0" y="516763"/>
                </a:lnTo>
                <a:close/>
              </a:path>
            </a:pathLst>
          </a:custGeom>
          <a:noFill/>
          <a:ln cap="flat" cmpd="sng" w="25550">
            <a:solidFill>
              <a:srgbClr val="DCE6F1"/>
            </a:solidFill>
            <a:prstDash val="solid"/>
            <a:round/>
            <a:headEnd len="sm" w="sm" type="none"/>
            <a:tailEnd len="sm" w="sm" type="none"/>
          </a:ln>
        </p:spPr>
      </p:sp>
      <p:sp>
        <p:nvSpPr>
          <p:cNvPr id="479" name="Google Shape;479;p76"/>
          <p:cNvSpPr/>
          <p:nvPr/>
        </p:nvSpPr>
        <p:spPr>
          <a:xfrm>
            <a:off x="6257520" y="2303640"/>
            <a:ext cx="1245960" cy="47052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76"/>
          <p:cNvSpPr/>
          <p:nvPr/>
        </p:nvSpPr>
        <p:spPr>
          <a:xfrm>
            <a:off x="6307200" y="2330280"/>
            <a:ext cx="1146600" cy="387360"/>
          </a:xfrm>
          <a:custGeom>
            <a:rect b="b" l="l" r="r" t="t"/>
            <a:pathLst>
              <a:path extrusionOk="0" h="516889" w="1292225">
                <a:moveTo>
                  <a:pt x="1291971" y="0"/>
                </a:moveTo>
                <a:lnTo>
                  <a:pt x="0" y="0"/>
                </a:lnTo>
                <a:lnTo>
                  <a:pt x="0" y="516763"/>
                </a:lnTo>
                <a:lnTo>
                  <a:pt x="1291971" y="516763"/>
                </a:lnTo>
                <a:lnTo>
                  <a:pt x="1291971" y="0"/>
                </a:lnTo>
                <a:close/>
              </a:path>
            </a:pathLst>
          </a:custGeom>
          <a:solidFill>
            <a:srgbClr val="F7954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500" strike="noStrike">
                <a:solidFill>
                  <a:srgbClr val="FFFFFF"/>
                </a:solidFill>
                <a:latin typeface="Calibri"/>
                <a:ea typeface="Calibri"/>
                <a:cs typeface="Calibri"/>
                <a:sym typeface="Calibri"/>
              </a:rPr>
              <a:t>C</a:t>
            </a:r>
            <a:r>
              <a:rPr b="1" lang="en-US" sz="1050" strike="noStrike">
                <a:solidFill>
                  <a:srgbClr val="FFFFFF"/>
                </a:solidFill>
                <a:latin typeface="Calibri"/>
                <a:ea typeface="Calibri"/>
                <a:cs typeface="Calibri"/>
                <a:sym typeface="Calibri"/>
              </a:rPr>
              <a:t>ustomer</a:t>
            </a:r>
            <a:endParaRPr b="0" sz="1050" strike="noStrike">
              <a:latin typeface="Arial"/>
              <a:ea typeface="Arial"/>
              <a:cs typeface="Arial"/>
              <a:sym typeface="Arial"/>
            </a:endParaRPr>
          </a:p>
        </p:txBody>
      </p:sp>
      <p:sp>
        <p:nvSpPr>
          <p:cNvPr id="481" name="Google Shape;481;p76"/>
          <p:cNvSpPr/>
          <p:nvPr/>
        </p:nvSpPr>
        <p:spPr>
          <a:xfrm>
            <a:off x="6307200" y="2330280"/>
            <a:ext cx="1146600" cy="387360"/>
          </a:xfrm>
          <a:custGeom>
            <a:rect b="b" l="l" r="r" t="t"/>
            <a:pathLst>
              <a:path extrusionOk="0" h="516889" w="1292225">
                <a:moveTo>
                  <a:pt x="0" y="516763"/>
                </a:moveTo>
                <a:lnTo>
                  <a:pt x="1291971" y="516763"/>
                </a:lnTo>
                <a:lnTo>
                  <a:pt x="1291971" y="0"/>
                </a:lnTo>
                <a:lnTo>
                  <a:pt x="0" y="0"/>
                </a:lnTo>
                <a:lnTo>
                  <a:pt x="0" y="516763"/>
                </a:lnTo>
                <a:close/>
              </a:path>
            </a:pathLst>
          </a:custGeom>
          <a:noFill/>
          <a:ln cap="flat" cmpd="sng" w="25550">
            <a:solidFill>
              <a:srgbClr val="F79546"/>
            </a:solidFill>
            <a:prstDash val="solid"/>
            <a:round/>
            <a:headEnd len="sm" w="sm" type="none"/>
            <a:tailEnd len="sm" w="sm" type="none"/>
          </a:ln>
        </p:spPr>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77"/>
          <p:cNvSpPr txBox="1"/>
          <p:nvPr/>
        </p:nvSpPr>
        <p:spPr>
          <a:xfrm>
            <a:off x="457200" y="544680"/>
            <a:ext cx="8229240" cy="868320"/>
          </a:xfrm>
          <a:prstGeom prst="rect">
            <a:avLst/>
          </a:prstGeom>
          <a:noFill/>
          <a:ln>
            <a:noFill/>
          </a:ln>
        </p:spPr>
        <p:txBody>
          <a:bodyPr anchorCtr="0" anchor="t" bIns="0" lIns="0" spcFirstLastPara="1" rIns="0" wrap="square" tIns="9350">
            <a:noAutofit/>
          </a:bodyPr>
          <a:lstStyle/>
          <a:p>
            <a:pPr indent="0" lvl="0" marL="9360" marR="0" rtl="0" algn="l">
              <a:lnSpc>
                <a:spcPct val="100000"/>
              </a:lnSpc>
              <a:spcBef>
                <a:spcPts val="0"/>
              </a:spcBef>
              <a:spcAft>
                <a:spcPts val="0"/>
              </a:spcAft>
              <a:buNone/>
            </a:pPr>
            <a:r>
              <a:rPr b="1" lang="en-US" sz="2400" strike="noStrike">
                <a:solidFill>
                  <a:srgbClr val="000000"/>
                </a:solidFill>
                <a:latin typeface="Arial"/>
                <a:ea typeface="Arial"/>
                <a:cs typeface="Arial"/>
                <a:sym typeface="Arial"/>
              </a:rPr>
              <a:t>Step 3 – Document the Inputs, Process Steps &amp; Outputs</a:t>
            </a:r>
            <a:endParaRPr b="0" sz="2400" strike="noStrike">
              <a:solidFill>
                <a:srgbClr val="000000"/>
              </a:solidFill>
              <a:latin typeface="Arial"/>
              <a:ea typeface="Arial"/>
              <a:cs typeface="Arial"/>
              <a:sym typeface="Arial"/>
            </a:endParaRPr>
          </a:p>
        </p:txBody>
      </p:sp>
      <p:sp>
        <p:nvSpPr>
          <p:cNvPr id="487" name="Google Shape;487;p77"/>
          <p:cNvSpPr/>
          <p:nvPr/>
        </p:nvSpPr>
        <p:spPr>
          <a:xfrm>
            <a:off x="1250280" y="1343160"/>
            <a:ext cx="7342200" cy="2707920"/>
          </a:xfrm>
          <a:prstGeom prst="rect">
            <a:avLst/>
          </a:prstGeom>
          <a:noFill/>
          <a:ln>
            <a:noFill/>
          </a:ln>
        </p:spPr>
        <p:txBody>
          <a:bodyPr anchorCtr="0" anchor="t" bIns="0" lIns="0" spcFirstLastPara="1" rIns="0" wrap="square" tIns="9350">
            <a:noAutofit/>
          </a:bodyPr>
          <a:lstStyle/>
          <a:p>
            <a:pPr indent="0" lvl="0" marL="9360" marR="0" rtl="0" algn="l">
              <a:lnSpc>
                <a:spcPct val="100000"/>
              </a:lnSpc>
              <a:spcBef>
                <a:spcPts val="0"/>
              </a:spcBef>
              <a:spcAft>
                <a:spcPts val="0"/>
              </a:spcAft>
              <a:buNone/>
            </a:pPr>
            <a:r>
              <a:rPr b="0" lang="en-US" sz="1800" strike="noStrike">
                <a:solidFill>
                  <a:srgbClr val="1F487C"/>
                </a:solidFill>
                <a:latin typeface="Calibri"/>
                <a:ea typeface="Calibri"/>
                <a:cs typeface="Calibri"/>
                <a:sym typeface="Calibri"/>
              </a:rPr>
              <a:t>Review the SIPOC framework you have drawn and fill in the following information:</a:t>
            </a:r>
            <a:endParaRPr b="0" sz="1800" strike="noStrike">
              <a:latin typeface="Arial"/>
              <a:ea typeface="Arial"/>
              <a:cs typeface="Arial"/>
              <a:sym typeface="Arial"/>
            </a:endParaRPr>
          </a:p>
          <a:p>
            <a:pPr indent="-196200" lvl="0" marL="205920" marR="0" rtl="0" algn="l">
              <a:lnSpc>
                <a:spcPct val="100000"/>
              </a:lnSpc>
              <a:spcBef>
                <a:spcPts val="451"/>
              </a:spcBef>
              <a:spcAft>
                <a:spcPts val="0"/>
              </a:spcAft>
              <a:buClr>
                <a:srgbClr val="000000"/>
              </a:buClr>
              <a:buSzPts val="1800"/>
              <a:buFont typeface="Courier New"/>
              <a:buChar char="o"/>
            </a:pPr>
            <a:r>
              <a:rPr b="0" lang="en-US" sz="1800" strike="noStrike">
                <a:solidFill>
                  <a:srgbClr val="1F487C"/>
                </a:solidFill>
                <a:latin typeface="Calibri"/>
                <a:ea typeface="Calibri"/>
                <a:cs typeface="Calibri"/>
                <a:sym typeface="Calibri"/>
              </a:rPr>
              <a:t>Add the </a:t>
            </a:r>
            <a:r>
              <a:rPr b="1" lang="en-US" sz="1800" strike="noStrike">
                <a:solidFill>
                  <a:srgbClr val="1F487C"/>
                </a:solidFill>
                <a:latin typeface="Calibri"/>
                <a:ea typeface="Calibri"/>
                <a:cs typeface="Calibri"/>
                <a:sym typeface="Calibri"/>
              </a:rPr>
              <a:t>name of the process (sub-service)</a:t>
            </a:r>
            <a:r>
              <a:rPr b="0" lang="en-US" sz="1800" strike="noStrike">
                <a:solidFill>
                  <a:srgbClr val="1F487C"/>
                </a:solidFill>
                <a:latin typeface="Calibri"/>
                <a:ea typeface="Calibri"/>
                <a:cs typeface="Calibri"/>
                <a:sym typeface="Calibri"/>
              </a:rPr>
              <a:t>, and the name of the service owner</a:t>
            </a:r>
            <a:r>
              <a:rPr b="1" lang="en-US" sz="1800" strike="noStrike">
                <a:solidFill>
                  <a:srgbClr val="1F487C"/>
                </a:solidFill>
                <a:latin typeface="Calibri"/>
                <a:ea typeface="Calibri"/>
                <a:cs typeface="Calibri"/>
                <a:sym typeface="Calibri"/>
              </a:rPr>
              <a:t> of  the process (sub-service).</a:t>
            </a:r>
            <a:endParaRPr b="0" sz="1800" strike="noStrike">
              <a:latin typeface="Arial"/>
              <a:ea typeface="Arial"/>
              <a:cs typeface="Arial"/>
              <a:sym typeface="Arial"/>
            </a:endParaRPr>
          </a:p>
          <a:p>
            <a:pPr indent="-196200" lvl="0" marL="205920" marR="0" rtl="0" algn="l">
              <a:lnSpc>
                <a:spcPct val="100000"/>
              </a:lnSpc>
              <a:spcBef>
                <a:spcPts val="451"/>
              </a:spcBef>
              <a:spcAft>
                <a:spcPts val="0"/>
              </a:spcAft>
              <a:buClr>
                <a:srgbClr val="000000"/>
              </a:buClr>
              <a:buSzPts val="1800"/>
              <a:buFont typeface="Courier New"/>
              <a:buChar char="o"/>
            </a:pPr>
            <a:r>
              <a:rPr b="0" lang="en-US" sz="1800" strike="noStrike">
                <a:solidFill>
                  <a:srgbClr val="1F487C"/>
                </a:solidFill>
                <a:latin typeface="Calibri"/>
                <a:ea typeface="Calibri"/>
                <a:cs typeface="Calibri"/>
                <a:sym typeface="Calibri"/>
              </a:rPr>
              <a:t>Determine the scope of the process you are studying. Agree the process </a:t>
            </a:r>
            <a:r>
              <a:rPr b="1" lang="en-US" sz="1800" strike="noStrike">
                <a:solidFill>
                  <a:srgbClr val="1F487C"/>
                </a:solidFill>
                <a:latin typeface="Calibri"/>
                <a:ea typeface="Calibri"/>
                <a:cs typeface="Calibri"/>
                <a:sym typeface="Calibri"/>
              </a:rPr>
              <a:t>starting point (trigger, process step, or event)</a:t>
            </a:r>
            <a:endParaRPr b="0" sz="1800" strike="noStrike">
              <a:latin typeface="Arial"/>
              <a:ea typeface="Arial"/>
              <a:cs typeface="Arial"/>
              <a:sym typeface="Arial"/>
            </a:endParaRPr>
          </a:p>
          <a:p>
            <a:pPr indent="-196200" lvl="0" marL="205920" marR="0" rtl="0" algn="l">
              <a:lnSpc>
                <a:spcPct val="100000"/>
              </a:lnSpc>
              <a:spcBef>
                <a:spcPts val="454"/>
              </a:spcBef>
              <a:spcAft>
                <a:spcPts val="0"/>
              </a:spcAft>
              <a:buClr>
                <a:srgbClr val="000000"/>
              </a:buClr>
              <a:buSzPts val="1800"/>
              <a:buFont typeface="Courier New"/>
              <a:buChar char="o"/>
            </a:pPr>
            <a:r>
              <a:rPr b="0" lang="en-US" sz="1800" strike="noStrike">
                <a:solidFill>
                  <a:srgbClr val="1F487C"/>
                </a:solidFill>
                <a:latin typeface="Calibri"/>
                <a:ea typeface="Calibri"/>
                <a:cs typeface="Calibri"/>
                <a:sym typeface="Calibri"/>
              </a:rPr>
              <a:t>The process will also end somewhere. Agree the process </a:t>
            </a:r>
            <a:r>
              <a:rPr b="1" lang="en-US" sz="1800" strike="noStrike">
                <a:solidFill>
                  <a:srgbClr val="1F487C"/>
                </a:solidFill>
                <a:latin typeface="Calibri"/>
                <a:ea typeface="Calibri"/>
                <a:cs typeface="Calibri"/>
                <a:sym typeface="Calibri"/>
              </a:rPr>
              <a:t>end point</a:t>
            </a:r>
            <a:endParaRPr b="0" sz="1800" strike="noStrike">
              <a:latin typeface="Arial"/>
              <a:ea typeface="Arial"/>
              <a:cs typeface="Arial"/>
              <a:sym typeface="Arial"/>
            </a:endParaRPr>
          </a:p>
          <a:p>
            <a:pPr indent="0" lvl="0" marL="205920" marR="0" rtl="0" algn="l">
              <a:lnSpc>
                <a:spcPct val="100000"/>
              </a:lnSpc>
              <a:spcBef>
                <a:spcPts val="0"/>
              </a:spcBef>
              <a:spcAft>
                <a:spcPts val="0"/>
              </a:spcAft>
              <a:buNone/>
            </a:pPr>
            <a:r>
              <a:rPr b="1" lang="en-US" sz="1800" strike="noStrike">
                <a:solidFill>
                  <a:srgbClr val="1F487C"/>
                </a:solidFill>
                <a:latin typeface="Calibri"/>
                <a:ea typeface="Calibri"/>
                <a:cs typeface="Calibri"/>
                <a:sym typeface="Calibri"/>
              </a:rPr>
              <a:t>(trigger, process step or event)</a:t>
            </a:r>
            <a:endParaRPr b="0" sz="1800" strike="noStrike">
              <a:latin typeface="Arial"/>
              <a:ea typeface="Arial"/>
              <a:cs typeface="Arial"/>
              <a:sym typeface="Arial"/>
            </a:endParaRPr>
          </a:p>
          <a:p>
            <a:pPr indent="-196200" lvl="0" marL="205920" marR="0" rtl="0" algn="l">
              <a:lnSpc>
                <a:spcPct val="100000"/>
              </a:lnSpc>
              <a:spcBef>
                <a:spcPts val="451"/>
              </a:spcBef>
              <a:spcAft>
                <a:spcPts val="0"/>
              </a:spcAft>
              <a:buClr>
                <a:srgbClr val="000000"/>
              </a:buClr>
              <a:buSzPts val="1800"/>
              <a:buFont typeface="Courier New"/>
              <a:buChar char="o"/>
            </a:pPr>
            <a:r>
              <a:rPr b="0" lang="en-US" sz="1800" strike="noStrike">
                <a:solidFill>
                  <a:srgbClr val="1F487C"/>
                </a:solidFill>
                <a:latin typeface="Calibri"/>
                <a:ea typeface="Calibri"/>
                <a:cs typeface="Calibri"/>
                <a:sym typeface="Calibri"/>
              </a:rPr>
              <a:t>Agree and list separately any known process </a:t>
            </a:r>
            <a:r>
              <a:rPr b="1" lang="en-US" sz="1800" strike="noStrike">
                <a:solidFill>
                  <a:srgbClr val="1F487C"/>
                </a:solidFill>
                <a:latin typeface="Calibri"/>
                <a:ea typeface="Calibri"/>
                <a:cs typeface="Calibri"/>
                <a:sym typeface="Calibri"/>
              </a:rPr>
              <a:t>assumptions or constraints.</a:t>
            </a:r>
            <a:endParaRPr b="0" sz="1800" strike="noStrike">
              <a:latin typeface="Arial"/>
              <a:ea typeface="Arial"/>
              <a:cs typeface="Arial"/>
              <a:sym typeface="Arial"/>
            </a:endParaRPr>
          </a:p>
        </p:txBody>
      </p:sp>
      <p:grpSp>
        <p:nvGrpSpPr>
          <p:cNvPr id="488" name="Google Shape;488;p77"/>
          <p:cNvGrpSpPr/>
          <p:nvPr/>
        </p:nvGrpSpPr>
        <p:grpSpPr>
          <a:xfrm>
            <a:off x="546840" y="1343160"/>
            <a:ext cx="554040" cy="550800"/>
            <a:chOff x="546840" y="1343160"/>
            <a:chExt cx="554040" cy="550800"/>
          </a:xfrm>
        </p:grpSpPr>
        <p:sp>
          <p:nvSpPr>
            <p:cNvPr id="489" name="Google Shape;489;p77"/>
            <p:cNvSpPr/>
            <p:nvPr/>
          </p:nvSpPr>
          <p:spPr>
            <a:xfrm>
              <a:off x="546840" y="1343160"/>
              <a:ext cx="554040" cy="55080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77"/>
            <p:cNvSpPr/>
            <p:nvPr/>
          </p:nvSpPr>
          <p:spPr>
            <a:xfrm>
              <a:off x="551520" y="1346760"/>
              <a:ext cx="546120" cy="463680"/>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77"/>
            <p:cNvSpPr/>
            <p:nvPr/>
          </p:nvSpPr>
          <p:spPr>
            <a:xfrm>
              <a:off x="593280" y="1374120"/>
              <a:ext cx="462240" cy="458640"/>
            </a:xfrm>
            <a:custGeom>
              <a:rect b="b" l="l" r="r" t="t"/>
              <a:pathLst>
                <a:path extrusionOk="0" h="612139" w="616585">
                  <a:moveTo>
                    <a:pt x="616026" y="0"/>
                  </a:moveTo>
                  <a:lnTo>
                    <a:pt x="308013" y="0"/>
                  </a:lnTo>
                  <a:lnTo>
                    <a:pt x="262495" y="3318"/>
                  </a:lnTo>
                  <a:lnTo>
                    <a:pt x="219052" y="12958"/>
                  </a:lnTo>
                  <a:lnTo>
                    <a:pt x="178160" y="28447"/>
                  </a:lnTo>
                  <a:lnTo>
                    <a:pt x="140294" y="49309"/>
                  </a:lnTo>
                  <a:lnTo>
                    <a:pt x="105931" y="75074"/>
                  </a:lnTo>
                  <a:lnTo>
                    <a:pt x="75548" y="105265"/>
                  </a:lnTo>
                  <a:lnTo>
                    <a:pt x="49621" y="139412"/>
                  </a:lnTo>
                  <a:lnTo>
                    <a:pt x="28626" y="177038"/>
                  </a:lnTo>
                  <a:lnTo>
                    <a:pt x="13040" y="217673"/>
                  </a:lnTo>
                  <a:lnTo>
                    <a:pt x="3339" y="260841"/>
                  </a:lnTo>
                  <a:lnTo>
                    <a:pt x="0" y="306070"/>
                  </a:lnTo>
                  <a:lnTo>
                    <a:pt x="3339" y="351267"/>
                  </a:lnTo>
                  <a:lnTo>
                    <a:pt x="13040" y="394409"/>
                  </a:lnTo>
                  <a:lnTo>
                    <a:pt x="28626" y="435022"/>
                  </a:lnTo>
                  <a:lnTo>
                    <a:pt x="49621" y="472633"/>
                  </a:lnTo>
                  <a:lnTo>
                    <a:pt x="75548" y="506767"/>
                  </a:lnTo>
                  <a:lnTo>
                    <a:pt x="105931" y="536950"/>
                  </a:lnTo>
                  <a:lnTo>
                    <a:pt x="140294" y="562709"/>
                  </a:lnTo>
                  <a:lnTo>
                    <a:pt x="178160" y="583568"/>
                  </a:lnTo>
                  <a:lnTo>
                    <a:pt x="219052" y="599054"/>
                  </a:lnTo>
                  <a:lnTo>
                    <a:pt x="262495" y="608694"/>
                  </a:lnTo>
                  <a:lnTo>
                    <a:pt x="308013" y="612013"/>
                  </a:lnTo>
                  <a:lnTo>
                    <a:pt x="353527" y="608694"/>
                  </a:lnTo>
                  <a:lnTo>
                    <a:pt x="396968" y="599054"/>
                  </a:lnTo>
                  <a:lnTo>
                    <a:pt x="437860" y="583568"/>
                  </a:lnTo>
                  <a:lnTo>
                    <a:pt x="475726" y="562709"/>
                  </a:lnTo>
                  <a:lnTo>
                    <a:pt x="510089" y="536950"/>
                  </a:lnTo>
                  <a:lnTo>
                    <a:pt x="540473" y="506767"/>
                  </a:lnTo>
                  <a:lnTo>
                    <a:pt x="566401" y="472633"/>
                  </a:lnTo>
                  <a:lnTo>
                    <a:pt x="587397" y="435022"/>
                  </a:lnTo>
                  <a:lnTo>
                    <a:pt x="602984" y="394409"/>
                  </a:lnTo>
                  <a:lnTo>
                    <a:pt x="612686" y="351267"/>
                  </a:lnTo>
                  <a:lnTo>
                    <a:pt x="616026" y="306070"/>
                  </a:lnTo>
                  <a:lnTo>
                    <a:pt x="616026" y="0"/>
                  </a:lnTo>
                  <a:close/>
                </a:path>
              </a:pathLst>
            </a:custGeom>
            <a:solidFill>
              <a:srgbClr val="D8DAD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600" strike="noStrike">
                  <a:solidFill>
                    <a:srgbClr val="000000"/>
                  </a:solidFill>
                  <a:latin typeface="Arial"/>
                  <a:ea typeface="Arial"/>
                  <a:cs typeface="Arial"/>
                  <a:sym typeface="Arial"/>
                </a:rPr>
                <a:t>1</a:t>
              </a:r>
              <a:endParaRPr b="0" sz="1600" strike="noStrike">
                <a:latin typeface="Arial"/>
                <a:ea typeface="Arial"/>
                <a:cs typeface="Arial"/>
                <a:sym typeface="Arial"/>
              </a:endParaRPr>
            </a:p>
          </p:txBody>
        </p:sp>
        <p:sp>
          <p:nvSpPr>
            <p:cNvPr id="492" name="Google Shape;492;p77"/>
            <p:cNvSpPr/>
            <p:nvPr/>
          </p:nvSpPr>
          <p:spPr>
            <a:xfrm>
              <a:off x="593280" y="1374120"/>
              <a:ext cx="462240" cy="458640"/>
            </a:xfrm>
            <a:custGeom>
              <a:rect b="b" l="l" r="r" t="t"/>
              <a:pathLst>
                <a:path extrusionOk="0" h="612139" w="616585">
                  <a:moveTo>
                    <a:pt x="0" y="306070"/>
                  </a:moveTo>
                  <a:lnTo>
                    <a:pt x="3339" y="260841"/>
                  </a:lnTo>
                  <a:lnTo>
                    <a:pt x="13040" y="217673"/>
                  </a:lnTo>
                  <a:lnTo>
                    <a:pt x="28626" y="177038"/>
                  </a:lnTo>
                  <a:lnTo>
                    <a:pt x="49621" y="139412"/>
                  </a:lnTo>
                  <a:lnTo>
                    <a:pt x="75548" y="105265"/>
                  </a:lnTo>
                  <a:lnTo>
                    <a:pt x="105931" y="75074"/>
                  </a:lnTo>
                  <a:lnTo>
                    <a:pt x="140294" y="49309"/>
                  </a:lnTo>
                  <a:lnTo>
                    <a:pt x="178160" y="28447"/>
                  </a:lnTo>
                  <a:lnTo>
                    <a:pt x="219052" y="12958"/>
                  </a:lnTo>
                  <a:lnTo>
                    <a:pt x="262495" y="3318"/>
                  </a:lnTo>
                  <a:lnTo>
                    <a:pt x="308013" y="0"/>
                  </a:lnTo>
                  <a:lnTo>
                    <a:pt x="359346" y="0"/>
                  </a:lnTo>
                  <a:lnTo>
                    <a:pt x="616026" y="0"/>
                  </a:lnTo>
                  <a:lnTo>
                    <a:pt x="616026" y="50999"/>
                  </a:lnTo>
                  <a:lnTo>
                    <a:pt x="616026" y="102013"/>
                  </a:lnTo>
                  <a:lnTo>
                    <a:pt x="616026" y="153035"/>
                  </a:lnTo>
                  <a:lnTo>
                    <a:pt x="616026" y="204056"/>
                  </a:lnTo>
                  <a:lnTo>
                    <a:pt x="616026" y="255070"/>
                  </a:lnTo>
                  <a:lnTo>
                    <a:pt x="616026" y="306070"/>
                  </a:lnTo>
                  <a:lnTo>
                    <a:pt x="612686" y="351267"/>
                  </a:lnTo>
                  <a:lnTo>
                    <a:pt x="602984" y="394409"/>
                  </a:lnTo>
                  <a:lnTo>
                    <a:pt x="587397" y="435022"/>
                  </a:lnTo>
                  <a:lnTo>
                    <a:pt x="566401" y="472633"/>
                  </a:lnTo>
                  <a:lnTo>
                    <a:pt x="540473" y="506767"/>
                  </a:lnTo>
                  <a:lnTo>
                    <a:pt x="510089" y="536950"/>
                  </a:lnTo>
                  <a:lnTo>
                    <a:pt x="475726" y="562709"/>
                  </a:lnTo>
                  <a:lnTo>
                    <a:pt x="437860" y="583568"/>
                  </a:lnTo>
                  <a:lnTo>
                    <a:pt x="396968" y="599054"/>
                  </a:lnTo>
                  <a:lnTo>
                    <a:pt x="353527" y="608694"/>
                  </a:lnTo>
                  <a:lnTo>
                    <a:pt x="308013" y="612013"/>
                  </a:lnTo>
                  <a:lnTo>
                    <a:pt x="262495" y="608694"/>
                  </a:lnTo>
                  <a:lnTo>
                    <a:pt x="219052" y="599054"/>
                  </a:lnTo>
                  <a:lnTo>
                    <a:pt x="178160" y="583568"/>
                  </a:lnTo>
                  <a:lnTo>
                    <a:pt x="140294" y="562709"/>
                  </a:lnTo>
                  <a:lnTo>
                    <a:pt x="105931" y="536950"/>
                  </a:lnTo>
                  <a:lnTo>
                    <a:pt x="75548" y="506767"/>
                  </a:lnTo>
                  <a:lnTo>
                    <a:pt x="49621" y="472633"/>
                  </a:lnTo>
                  <a:lnTo>
                    <a:pt x="28626" y="435022"/>
                  </a:lnTo>
                  <a:lnTo>
                    <a:pt x="13040" y="394409"/>
                  </a:lnTo>
                  <a:lnTo>
                    <a:pt x="3339" y="351267"/>
                  </a:lnTo>
                  <a:lnTo>
                    <a:pt x="0" y="306070"/>
                  </a:lnTo>
                  <a:close/>
                </a:path>
              </a:pathLst>
            </a:custGeom>
            <a:noFill/>
            <a:ln cap="flat" cmpd="sng" w="38150">
              <a:solidFill>
                <a:srgbClr val="FFFFFF"/>
              </a:solidFill>
              <a:prstDash val="solid"/>
              <a:round/>
              <a:headEnd len="sm" w="sm" type="none"/>
              <a:tailEnd len="sm" w="sm" type="none"/>
            </a:ln>
          </p:spPr>
        </p:sp>
      </p:grpSp>
      <p:sp>
        <p:nvSpPr>
          <p:cNvPr id="493" name="Google Shape;493;p77"/>
          <p:cNvSpPr/>
          <p:nvPr/>
        </p:nvSpPr>
        <p:spPr>
          <a:xfrm>
            <a:off x="1580040" y="808920"/>
            <a:ext cx="181440" cy="329400"/>
          </a:xfrm>
          <a:prstGeom prst="rect">
            <a:avLst/>
          </a:prstGeom>
          <a:noFill/>
          <a:ln>
            <a:noFill/>
          </a:ln>
        </p:spPr>
        <p:txBody>
          <a:bodyPr anchorCtr="0" anchor="t" bIns="0" lIns="0" spcFirstLastPara="1" rIns="0" wrap="square" tIns="9000">
            <a:noAutofit/>
          </a:bodyPr>
          <a:lstStyle/>
          <a:p>
            <a:pPr indent="0" lvl="0" marL="9360" marR="0" rtl="0" algn="l">
              <a:lnSpc>
                <a:spcPct val="100000"/>
              </a:lnSpc>
              <a:spcBef>
                <a:spcPts val="0"/>
              </a:spcBef>
              <a:spcAft>
                <a:spcPts val="0"/>
              </a:spcAft>
              <a:buNone/>
            </a:pPr>
            <a:r>
              <a:rPr b="0" lang="en-US" sz="2100" strike="noStrike">
                <a:solidFill>
                  <a:srgbClr val="FFFFFF"/>
                </a:solidFill>
                <a:latin typeface="Comic Sans MS"/>
                <a:ea typeface="Comic Sans MS"/>
                <a:cs typeface="Comic Sans MS"/>
                <a:sym typeface="Comic Sans MS"/>
              </a:rPr>
              <a:t>1</a:t>
            </a:r>
            <a:endParaRPr b="0" sz="2100" strike="noStrike">
              <a:latin typeface="Arial"/>
              <a:ea typeface="Arial"/>
              <a:cs typeface="Arial"/>
              <a:sym typeface="Arial"/>
            </a:endParaRPr>
          </a:p>
        </p:txBody>
      </p:sp>
      <p:sp>
        <p:nvSpPr>
          <p:cNvPr id="494" name="Google Shape;494;p77"/>
          <p:cNvSpPr/>
          <p:nvPr/>
        </p:nvSpPr>
        <p:spPr>
          <a:xfrm>
            <a:off x="5195880" y="4230360"/>
            <a:ext cx="1483200" cy="291240"/>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77"/>
          <p:cNvSpPr/>
          <p:nvPr/>
        </p:nvSpPr>
        <p:spPr>
          <a:xfrm>
            <a:off x="5427000" y="4230360"/>
            <a:ext cx="2607120" cy="417600"/>
          </a:xfrm>
          <a:prstGeom prst="rightArrow">
            <a:avLst>
              <a:gd fmla="val 50000" name="adj1"/>
              <a:gd fmla="val 50000" name="adj2"/>
            </a:avLst>
          </a:prstGeom>
          <a:solidFill>
            <a:srgbClr val="D8DA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lang="en-US" sz="1400" strike="noStrike">
                <a:solidFill>
                  <a:srgbClr val="1F487C"/>
                </a:solidFill>
                <a:latin typeface="Comic Sans MS"/>
                <a:ea typeface="Comic Sans MS"/>
                <a:cs typeface="Comic Sans MS"/>
                <a:sym typeface="Comic Sans MS"/>
              </a:rPr>
              <a:t>Next step……………</a:t>
            </a:r>
            <a:endParaRPr b="0" sz="1400" strike="noStrike">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78"/>
          <p:cNvSpPr txBox="1"/>
          <p:nvPr/>
        </p:nvSpPr>
        <p:spPr>
          <a:xfrm>
            <a:off x="457200" y="544680"/>
            <a:ext cx="8229240" cy="868320"/>
          </a:xfrm>
          <a:prstGeom prst="rect">
            <a:avLst/>
          </a:prstGeom>
          <a:noFill/>
          <a:ln>
            <a:noFill/>
          </a:ln>
        </p:spPr>
        <p:txBody>
          <a:bodyPr anchorCtr="0" anchor="t" bIns="0" lIns="0" spcFirstLastPara="1" rIns="0" wrap="square" tIns="9350">
            <a:noAutofit/>
          </a:bodyPr>
          <a:lstStyle/>
          <a:p>
            <a:pPr indent="0" lvl="0" marL="9360" marR="0" rtl="0" algn="l">
              <a:lnSpc>
                <a:spcPct val="100000"/>
              </a:lnSpc>
              <a:spcBef>
                <a:spcPts val="0"/>
              </a:spcBef>
              <a:spcAft>
                <a:spcPts val="0"/>
              </a:spcAft>
              <a:buNone/>
            </a:pPr>
            <a:r>
              <a:rPr b="1" lang="en-US" sz="2400" strike="noStrike">
                <a:solidFill>
                  <a:srgbClr val="000000"/>
                </a:solidFill>
                <a:latin typeface="Arial"/>
                <a:ea typeface="Arial"/>
                <a:cs typeface="Arial"/>
                <a:sym typeface="Arial"/>
              </a:rPr>
              <a:t>Step 3 – Document the Inputs, Process Steps &amp; Outputs</a:t>
            </a:r>
            <a:endParaRPr b="0" sz="2400" strike="noStrike">
              <a:solidFill>
                <a:srgbClr val="000000"/>
              </a:solidFill>
              <a:latin typeface="Arial"/>
              <a:ea typeface="Arial"/>
              <a:cs typeface="Arial"/>
              <a:sym typeface="Arial"/>
            </a:endParaRPr>
          </a:p>
        </p:txBody>
      </p:sp>
      <p:grpSp>
        <p:nvGrpSpPr>
          <p:cNvPr id="501" name="Google Shape;501;p78"/>
          <p:cNvGrpSpPr/>
          <p:nvPr/>
        </p:nvGrpSpPr>
        <p:grpSpPr>
          <a:xfrm>
            <a:off x="546840" y="1343160"/>
            <a:ext cx="554040" cy="550800"/>
            <a:chOff x="546840" y="1343160"/>
            <a:chExt cx="554040" cy="550800"/>
          </a:xfrm>
        </p:grpSpPr>
        <p:sp>
          <p:nvSpPr>
            <p:cNvPr id="502" name="Google Shape;502;p78"/>
            <p:cNvSpPr/>
            <p:nvPr/>
          </p:nvSpPr>
          <p:spPr>
            <a:xfrm>
              <a:off x="546840" y="1343160"/>
              <a:ext cx="554040" cy="55080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78"/>
            <p:cNvSpPr/>
            <p:nvPr/>
          </p:nvSpPr>
          <p:spPr>
            <a:xfrm>
              <a:off x="551520" y="1346760"/>
              <a:ext cx="546120" cy="463680"/>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78"/>
            <p:cNvSpPr/>
            <p:nvPr/>
          </p:nvSpPr>
          <p:spPr>
            <a:xfrm>
              <a:off x="593280" y="1374120"/>
              <a:ext cx="462240" cy="458640"/>
            </a:xfrm>
            <a:custGeom>
              <a:rect b="b" l="l" r="r" t="t"/>
              <a:pathLst>
                <a:path extrusionOk="0" h="612139" w="616585">
                  <a:moveTo>
                    <a:pt x="616026" y="0"/>
                  </a:moveTo>
                  <a:lnTo>
                    <a:pt x="308013" y="0"/>
                  </a:lnTo>
                  <a:lnTo>
                    <a:pt x="262495" y="3318"/>
                  </a:lnTo>
                  <a:lnTo>
                    <a:pt x="219052" y="12958"/>
                  </a:lnTo>
                  <a:lnTo>
                    <a:pt x="178160" y="28447"/>
                  </a:lnTo>
                  <a:lnTo>
                    <a:pt x="140294" y="49309"/>
                  </a:lnTo>
                  <a:lnTo>
                    <a:pt x="105931" y="75074"/>
                  </a:lnTo>
                  <a:lnTo>
                    <a:pt x="75548" y="105265"/>
                  </a:lnTo>
                  <a:lnTo>
                    <a:pt x="49621" y="139412"/>
                  </a:lnTo>
                  <a:lnTo>
                    <a:pt x="28626" y="177038"/>
                  </a:lnTo>
                  <a:lnTo>
                    <a:pt x="13040" y="217673"/>
                  </a:lnTo>
                  <a:lnTo>
                    <a:pt x="3339" y="260841"/>
                  </a:lnTo>
                  <a:lnTo>
                    <a:pt x="0" y="306070"/>
                  </a:lnTo>
                  <a:lnTo>
                    <a:pt x="3339" y="351267"/>
                  </a:lnTo>
                  <a:lnTo>
                    <a:pt x="13040" y="394409"/>
                  </a:lnTo>
                  <a:lnTo>
                    <a:pt x="28626" y="435022"/>
                  </a:lnTo>
                  <a:lnTo>
                    <a:pt x="49621" y="472633"/>
                  </a:lnTo>
                  <a:lnTo>
                    <a:pt x="75548" y="506767"/>
                  </a:lnTo>
                  <a:lnTo>
                    <a:pt x="105931" y="536950"/>
                  </a:lnTo>
                  <a:lnTo>
                    <a:pt x="140294" y="562709"/>
                  </a:lnTo>
                  <a:lnTo>
                    <a:pt x="178160" y="583568"/>
                  </a:lnTo>
                  <a:lnTo>
                    <a:pt x="219052" y="599054"/>
                  </a:lnTo>
                  <a:lnTo>
                    <a:pt x="262495" y="608694"/>
                  </a:lnTo>
                  <a:lnTo>
                    <a:pt x="308013" y="612013"/>
                  </a:lnTo>
                  <a:lnTo>
                    <a:pt x="353527" y="608694"/>
                  </a:lnTo>
                  <a:lnTo>
                    <a:pt x="396968" y="599054"/>
                  </a:lnTo>
                  <a:lnTo>
                    <a:pt x="437860" y="583568"/>
                  </a:lnTo>
                  <a:lnTo>
                    <a:pt x="475726" y="562709"/>
                  </a:lnTo>
                  <a:lnTo>
                    <a:pt x="510089" y="536950"/>
                  </a:lnTo>
                  <a:lnTo>
                    <a:pt x="540473" y="506767"/>
                  </a:lnTo>
                  <a:lnTo>
                    <a:pt x="566401" y="472633"/>
                  </a:lnTo>
                  <a:lnTo>
                    <a:pt x="587397" y="435022"/>
                  </a:lnTo>
                  <a:lnTo>
                    <a:pt x="602984" y="394409"/>
                  </a:lnTo>
                  <a:lnTo>
                    <a:pt x="612686" y="351267"/>
                  </a:lnTo>
                  <a:lnTo>
                    <a:pt x="616026" y="306070"/>
                  </a:lnTo>
                  <a:lnTo>
                    <a:pt x="616026" y="0"/>
                  </a:lnTo>
                  <a:close/>
                </a:path>
              </a:pathLst>
            </a:custGeom>
            <a:solidFill>
              <a:srgbClr val="D8DAD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600" strike="noStrike">
                  <a:solidFill>
                    <a:srgbClr val="000000"/>
                  </a:solidFill>
                  <a:latin typeface="Arial"/>
                  <a:ea typeface="Arial"/>
                  <a:cs typeface="Arial"/>
                  <a:sym typeface="Arial"/>
                </a:rPr>
                <a:t>2</a:t>
              </a:r>
              <a:endParaRPr b="0" sz="1600" strike="noStrike">
                <a:latin typeface="Arial"/>
                <a:ea typeface="Arial"/>
                <a:cs typeface="Arial"/>
                <a:sym typeface="Arial"/>
              </a:endParaRPr>
            </a:p>
          </p:txBody>
        </p:sp>
        <p:sp>
          <p:nvSpPr>
            <p:cNvPr id="505" name="Google Shape;505;p78"/>
            <p:cNvSpPr/>
            <p:nvPr/>
          </p:nvSpPr>
          <p:spPr>
            <a:xfrm>
              <a:off x="593280" y="1374120"/>
              <a:ext cx="462240" cy="458640"/>
            </a:xfrm>
            <a:custGeom>
              <a:rect b="b" l="l" r="r" t="t"/>
              <a:pathLst>
                <a:path extrusionOk="0" h="612139" w="616585">
                  <a:moveTo>
                    <a:pt x="0" y="306070"/>
                  </a:moveTo>
                  <a:lnTo>
                    <a:pt x="3339" y="260841"/>
                  </a:lnTo>
                  <a:lnTo>
                    <a:pt x="13040" y="217673"/>
                  </a:lnTo>
                  <a:lnTo>
                    <a:pt x="28626" y="177038"/>
                  </a:lnTo>
                  <a:lnTo>
                    <a:pt x="49621" y="139412"/>
                  </a:lnTo>
                  <a:lnTo>
                    <a:pt x="75548" y="105265"/>
                  </a:lnTo>
                  <a:lnTo>
                    <a:pt x="105931" y="75074"/>
                  </a:lnTo>
                  <a:lnTo>
                    <a:pt x="140294" y="49309"/>
                  </a:lnTo>
                  <a:lnTo>
                    <a:pt x="178160" y="28447"/>
                  </a:lnTo>
                  <a:lnTo>
                    <a:pt x="219052" y="12958"/>
                  </a:lnTo>
                  <a:lnTo>
                    <a:pt x="262495" y="3318"/>
                  </a:lnTo>
                  <a:lnTo>
                    <a:pt x="308013" y="0"/>
                  </a:lnTo>
                  <a:lnTo>
                    <a:pt x="359346" y="0"/>
                  </a:lnTo>
                  <a:lnTo>
                    <a:pt x="616026" y="0"/>
                  </a:lnTo>
                  <a:lnTo>
                    <a:pt x="616026" y="50999"/>
                  </a:lnTo>
                  <a:lnTo>
                    <a:pt x="616026" y="102013"/>
                  </a:lnTo>
                  <a:lnTo>
                    <a:pt x="616026" y="153035"/>
                  </a:lnTo>
                  <a:lnTo>
                    <a:pt x="616026" y="204056"/>
                  </a:lnTo>
                  <a:lnTo>
                    <a:pt x="616026" y="255070"/>
                  </a:lnTo>
                  <a:lnTo>
                    <a:pt x="616026" y="306070"/>
                  </a:lnTo>
                  <a:lnTo>
                    <a:pt x="612686" y="351267"/>
                  </a:lnTo>
                  <a:lnTo>
                    <a:pt x="602984" y="394409"/>
                  </a:lnTo>
                  <a:lnTo>
                    <a:pt x="587397" y="435022"/>
                  </a:lnTo>
                  <a:lnTo>
                    <a:pt x="566401" y="472633"/>
                  </a:lnTo>
                  <a:lnTo>
                    <a:pt x="540473" y="506767"/>
                  </a:lnTo>
                  <a:lnTo>
                    <a:pt x="510089" y="536950"/>
                  </a:lnTo>
                  <a:lnTo>
                    <a:pt x="475726" y="562709"/>
                  </a:lnTo>
                  <a:lnTo>
                    <a:pt x="437860" y="583568"/>
                  </a:lnTo>
                  <a:lnTo>
                    <a:pt x="396968" y="599054"/>
                  </a:lnTo>
                  <a:lnTo>
                    <a:pt x="353527" y="608694"/>
                  </a:lnTo>
                  <a:lnTo>
                    <a:pt x="308013" y="612013"/>
                  </a:lnTo>
                  <a:lnTo>
                    <a:pt x="262495" y="608694"/>
                  </a:lnTo>
                  <a:lnTo>
                    <a:pt x="219052" y="599054"/>
                  </a:lnTo>
                  <a:lnTo>
                    <a:pt x="178160" y="583568"/>
                  </a:lnTo>
                  <a:lnTo>
                    <a:pt x="140294" y="562709"/>
                  </a:lnTo>
                  <a:lnTo>
                    <a:pt x="105931" y="536950"/>
                  </a:lnTo>
                  <a:lnTo>
                    <a:pt x="75548" y="506767"/>
                  </a:lnTo>
                  <a:lnTo>
                    <a:pt x="49621" y="472633"/>
                  </a:lnTo>
                  <a:lnTo>
                    <a:pt x="28626" y="435022"/>
                  </a:lnTo>
                  <a:lnTo>
                    <a:pt x="13040" y="394409"/>
                  </a:lnTo>
                  <a:lnTo>
                    <a:pt x="3339" y="351267"/>
                  </a:lnTo>
                  <a:lnTo>
                    <a:pt x="0" y="306070"/>
                  </a:lnTo>
                  <a:close/>
                </a:path>
              </a:pathLst>
            </a:custGeom>
            <a:noFill/>
            <a:ln cap="flat" cmpd="sng" w="38150">
              <a:solidFill>
                <a:srgbClr val="FFFFFF"/>
              </a:solidFill>
              <a:prstDash val="solid"/>
              <a:round/>
              <a:headEnd len="sm" w="sm" type="none"/>
              <a:tailEnd len="sm" w="sm" type="none"/>
            </a:ln>
          </p:spPr>
        </p:sp>
      </p:grpSp>
      <p:sp>
        <p:nvSpPr>
          <p:cNvPr id="506" name="Google Shape;506;p78"/>
          <p:cNvSpPr/>
          <p:nvPr/>
        </p:nvSpPr>
        <p:spPr>
          <a:xfrm>
            <a:off x="1580040" y="808920"/>
            <a:ext cx="181440" cy="329400"/>
          </a:xfrm>
          <a:prstGeom prst="rect">
            <a:avLst/>
          </a:prstGeom>
          <a:noFill/>
          <a:ln>
            <a:noFill/>
          </a:ln>
        </p:spPr>
        <p:txBody>
          <a:bodyPr anchorCtr="0" anchor="t" bIns="0" lIns="0" spcFirstLastPara="1" rIns="0" wrap="square" tIns="9000">
            <a:noAutofit/>
          </a:bodyPr>
          <a:lstStyle/>
          <a:p>
            <a:pPr indent="0" lvl="0" marL="9360" marR="0" rtl="0" algn="l">
              <a:lnSpc>
                <a:spcPct val="100000"/>
              </a:lnSpc>
              <a:spcBef>
                <a:spcPts val="0"/>
              </a:spcBef>
              <a:spcAft>
                <a:spcPts val="0"/>
              </a:spcAft>
              <a:buNone/>
            </a:pPr>
            <a:r>
              <a:rPr b="0" lang="en-US" sz="2100" strike="noStrike">
                <a:solidFill>
                  <a:srgbClr val="FFFFFF"/>
                </a:solidFill>
                <a:latin typeface="Comic Sans MS"/>
                <a:ea typeface="Comic Sans MS"/>
                <a:cs typeface="Comic Sans MS"/>
                <a:sym typeface="Comic Sans MS"/>
              </a:rPr>
              <a:t>1</a:t>
            </a:r>
            <a:endParaRPr b="0" sz="2100" strike="noStrike">
              <a:latin typeface="Arial"/>
              <a:ea typeface="Arial"/>
              <a:cs typeface="Arial"/>
              <a:sym typeface="Arial"/>
            </a:endParaRPr>
          </a:p>
        </p:txBody>
      </p:sp>
      <p:sp>
        <p:nvSpPr>
          <p:cNvPr id="507" name="Google Shape;507;p78"/>
          <p:cNvSpPr/>
          <p:nvPr/>
        </p:nvSpPr>
        <p:spPr>
          <a:xfrm>
            <a:off x="5195880" y="4230360"/>
            <a:ext cx="1483200" cy="291240"/>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78"/>
          <p:cNvSpPr/>
          <p:nvPr/>
        </p:nvSpPr>
        <p:spPr>
          <a:xfrm>
            <a:off x="5427000" y="4230360"/>
            <a:ext cx="2607120" cy="417600"/>
          </a:xfrm>
          <a:prstGeom prst="rightArrow">
            <a:avLst>
              <a:gd fmla="val 50000" name="adj1"/>
              <a:gd fmla="val 50000" name="adj2"/>
            </a:avLst>
          </a:prstGeom>
          <a:solidFill>
            <a:srgbClr val="D8DA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lang="en-US" sz="1400" strike="noStrike">
                <a:solidFill>
                  <a:srgbClr val="1F487C"/>
                </a:solidFill>
                <a:latin typeface="Comic Sans MS"/>
                <a:ea typeface="Comic Sans MS"/>
                <a:cs typeface="Comic Sans MS"/>
                <a:sym typeface="Comic Sans MS"/>
              </a:rPr>
              <a:t>Next step……………</a:t>
            </a:r>
            <a:endParaRPr b="0" sz="1400" strike="noStrike">
              <a:latin typeface="Arial"/>
              <a:ea typeface="Arial"/>
              <a:cs typeface="Arial"/>
              <a:sym typeface="Arial"/>
            </a:endParaRPr>
          </a:p>
        </p:txBody>
      </p:sp>
      <p:sp>
        <p:nvSpPr>
          <p:cNvPr id="509" name="Google Shape;509;p78"/>
          <p:cNvSpPr/>
          <p:nvPr/>
        </p:nvSpPr>
        <p:spPr>
          <a:xfrm>
            <a:off x="1147320" y="1015200"/>
            <a:ext cx="7166520" cy="3124080"/>
          </a:xfrm>
          <a:prstGeom prst="rect">
            <a:avLst/>
          </a:prstGeom>
          <a:noFill/>
          <a:ln>
            <a:noFill/>
          </a:ln>
        </p:spPr>
        <p:txBody>
          <a:bodyPr anchorCtr="0" anchor="t" bIns="0" lIns="0" spcFirstLastPara="1" rIns="0" wrap="square" tIns="66600">
            <a:noAutofit/>
          </a:bodyPr>
          <a:lstStyle/>
          <a:p>
            <a:pPr indent="0" lvl="0" marL="9360" marR="0" rtl="0" algn="l">
              <a:lnSpc>
                <a:spcPct val="100000"/>
              </a:lnSpc>
              <a:spcBef>
                <a:spcPts val="0"/>
              </a:spcBef>
              <a:spcAft>
                <a:spcPts val="0"/>
              </a:spcAft>
              <a:buNone/>
            </a:pPr>
            <a:r>
              <a:rPr b="0" lang="en-US" sz="1400" strike="noStrike">
                <a:solidFill>
                  <a:srgbClr val="1F487C"/>
                </a:solidFill>
                <a:latin typeface="Calibri"/>
                <a:ea typeface="Calibri"/>
                <a:cs typeface="Calibri"/>
                <a:sym typeface="Calibri"/>
              </a:rPr>
              <a:t>Now complete the SIPOC chart with the group.</a:t>
            </a:r>
            <a:endParaRPr b="0" sz="1400" strike="noStrike">
              <a:latin typeface="Arial"/>
              <a:ea typeface="Arial"/>
              <a:cs typeface="Arial"/>
              <a:sym typeface="Arial"/>
            </a:endParaRPr>
          </a:p>
          <a:p>
            <a:pPr indent="-196200" lvl="0" marL="205920" marR="0" rtl="0" algn="l">
              <a:lnSpc>
                <a:spcPct val="100000"/>
              </a:lnSpc>
              <a:spcBef>
                <a:spcPts val="451"/>
              </a:spcBef>
              <a:spcAft>
                <a:spcPts val="0"/>
              </a:spcAft>
              <a:buClr>
                <a:srgbClr val="000000"/>
              </a:buClr>
              <a:buSzPts val="1400"/>
              <a:buFont typeface="Courier New"/>
              <a:buChar char="o"/>
            </a:pPr>
            <a:r>
              <a:rPr b="1" lang="en-US" sz="1400" strike="noStrike">
                <a:solidFill>
                  <a:srgbClr val="1F487C"/>
                </a:solidFill>
                <a:latin typeface="Calibri"/>
                <a:ea typeface="Calibri"/>
                <a:cs typeface="Calibri"/>
                <a:sym typeface="Calibri"/>
              </a:rPr>
              <a:t>Resist the urge to start on the left of your chart </a:t>
            </a:r>
            <a:r>
              <a:rPr b="0" lang="en-US" sz="1400" strike="noStrike">
                <a:solidFill>
                  <a:srgbClr val="1F487C"/>
                </a:solidFill>
                <a:latin typeface="Calibri"/>
                <a:ea typeface="Calibri"/>
                <a:cs typeface="Calibri"/>
                <a:sym typeface="Calibri"/>
              </a:rPr>
              <a:t>with</a:t>
            </a:r>
            <a:endParaRPr b="0" sz="1400" strike="noStrike">
              <a:latin typeface="Arial"/>
              <a:ea typeface="Arial"/>
              <a:cs typeface="Arial"/>
              <a:sym typeface="Arial"/>
            </a:endParaRPr>
          </a:p>
          <a:p>
            <a:pPr indent="0" lvl="0" marL="205920" marR="0" rtl="0" algn="l">
              <a:lnSpc>
                <a:spcPct val="100000"/>
              </a:lnSpc>
              <a:spcBef>
                <a:spcPts val="0"/>
              </a:spcBef>
              <a:spcAft>
                <a:spcPts val="0"/>
              </a:spcAft>
              <a:buNone/>
            </a:pPr>
            <a:r>
              <a:rPr b="0" lang="en-US" sz="1400" strike="noStrike">
                <a:solidFill>
                  <a:srgbClr val="1F487C"/>
                </a:solidFill>
                <a:latin typeface="Calibri"/>
                <a:ea typeface="Calibri"/>
                <a:cs typeface="Calibri"/>
                <a:sym typeface="Calibri"/>
              </a:rPr>
              <a:t>your suppliers.</a:t>
            </a:r>
            <a:endParaRPr b="0" sz="1400" strike="noStrike">
              <a:latin typeface="Arial"/>
              <a:ea typeface="Arial"/>
              <a:cs typeface="Arial"/>
              <a:sym typeface="Arial"/>
            </a:endParaRPr>
          </a:p>
          <a:p>
            <a:pPr indent="-196200" lvl="0" marL="205920" marR="0" rtl="0" algn="l">
              <a:lnSpc>
                <a:spcPct val="100000"/>
              </a:lnSpc>
              <a:spcBef>
                <a:spcPts val="451"/>
              </a:spcBef>
              <a:spcAft>
                <a:spcPts val="0"/>
              </a:spcAft>
              <a:buClr>
                <a:srgbClr val="000000"/>
              </a:buClr>
              <a:buSzPts val="1400"/>
              <a:buFont typeface="Courier New"/>
              <a:buChar char="o"/>
            </a:pPr>
            <a:r>
              <a:rPr b="0" lang="en-US" sz="1400" strike="noStrike">
                <a:solidFill>
                  <a:srgbClr val="1F487C"/>
                </a:solidFill>
                <a:latin typeface="Calibri"/>
                <a:ea typeface="Calibri"/>
                <a:cs typeface="Calibri"/>
                <a:sym typeface="Calibri"/>
              </a:rPr>
              <a:t>Instead, </a:t>
            </a:r>
            <a:r>
              <a:rPr b="1" lang="en-US" sz="1400" strike="noStrike">
                <a:solidFill>
                  <a:srgbClr val="1F487C"/>
                </a:solidFill>
                <a:latin typeface="Calibri"/>
                <a:ea typeface="Calibri"/>
                <a:cs typeface="Calibri"/>
                <a:sym typeface="Calibri"/>
              </a:rPr>
              <a:t>start with the process first</a:t>
            </a:r>
            <a:r>
              <a:rPr b="0" lang="en-US" sz="1400" strike="noStrike">
                <a:solidFill>
                  <a:srgbClr val="1F487C"/>
                </a:solidFill>
                <a:latin typeface="Calibri"/>
                <a:ea typeface="Calibri"/>
                <a:cs typeface="Calibri"/>
                <a:sym typeface="Calibri"/>
              </a:rPr>
              <a:t>. Use post-it notes to  create a high-level list of steps, sticking to no more than 5-10  steps.</a:t>
            </a:r>
            <a:endParaRPr b="0" sz="1400" strike="noStrike">
              <a:latin typeface="Arial"/>
              <a:ea typeface="Arial"/>
              <a:cs typeface="Arial"/>
              <a:sym typeface="Arial"/>
            </a:endParaRPr>
          </a:p>
          <a:p>
            <a:pPr indent="-196200" lvl="0" marL="205920" marR="0" rtl="0" algn="just">
              <a:lnSpc>
                <a:spcPct val="100000"/>
              </a:lnSpc>
              <a:spcBef>
                <a:spcPts val="454"/>
              </a:spcBef>
              <a:spcAft>
                <a:spcPts val="0"/>
              </a:spcAft>
              <a:buClr>
                <a:srgbClr val="1F487C"/>
              </a:buClr>
              <a:buSzPts val="1100"/>
              <a:buFont typeface="Courier New"/>
              <a:buChar char="o"/>
            </a:pPr>
            <a:r>
              <a:rPr b="0" lang="en-US" sz="1100" strike="noStrike">
                <a:solidFill>
                  <a:srgbClr val="000000"/>
                </a:solidFill>
                <a:latin typeface="Calibri"/>
                <a:ea typeface="Calibri"/>
                <a:cs typeface="Calibri"/>
                <a:sym typeface="Calibri"/>
              </a:rPr>
              <a:t>	</a:t>
            </a:r>
            <a:r>
              <a:rPr b="0" lang="en-US" sz="1400" strike="noStrike">
                <a:solidFill>
                  <a:srgbClr val="1F487C"/>
                </a:solidFill>
                <a:latin typeface="Calibri"/>
                <a:ea typeface="Calibri"/>
                <a:cs typeface="Calibri"/>
                <a:sym typeface="Calibri"/>
              </a:rPr>
              <a:t>List </a:t>
            </a:r>
            <a:r>
              <a:rPr b="1" lang="en-US" sz="1400" strike="noStrike">
                <a:solidFill>
                  <a:srgbClr val="1F487C"/>
                </a:solidFill>
                <a:latin typeface="Calibri"/>
                <a:ea typeface="Calibri"/>
                <a:cs typeface="Calibri"/>
                <a:sym typeface="Calibri"/>
              </a:rPr>
              <a:t>the outputs of each step of the process</a:t>
            </a:r>
            <a:r>
              <a:rPr b="0" lang="en-US" sz="1400" strike="noStrike">
                <a:solidFill>
                  <a:srgbClr val="1F487C"/>
                </a:solidFill>
                <a:latin typeface="Calibri"/>
                <a:ea typeface="Calibri"/>
                <a:cs typeface="Calibri"/>
                <a:sym typeface="Calibri"/>
              </a:rPr>
              <a:t>. List all of  the key requirements of each output from the customer’s  view.</a:t>
            </a:r>
            <a:endParaRPr b="0" sz="1400" strike="noStrike">
              <a:latin typeface="Arial"/>
              <a:ea typeface="Arial"/>
              <a:cs typeface="Arial"/>
              <a:sym typeface="Arial"/>
            </a:endParaRPr>
          </a:p>
          <a:p>
            <a:pPr indent="0" lvl="0" marL="205920" marR="0" rtl="0" algn="l">
              <a:lnSpc>
                <a:spcPct val="100000"/>
              </a:lnSpc>
              <a:spcBef>
                <a:spcPts val="451"/>
              </a:spcBef>
              <a:spcAft>
                <a:spcPts val="0"/>
              </a:spcAft>
              <a:buNone/>
            </a:pPr>
            <a:r>
              <a:rPr b="0" lang="en-US" sz="1400" strike="noStrike">
                <a:solidFill>
                  <a:srgbClr val="1F487C"/>
                </a:solidFill>
                <a:latin typeface="Calibri"/>
                <a:ea typeface="Calibri"/>
                <a:cs typeface="Calibri"/>
                <a:sym typeface="Calibri"/>
              </a:rPr>
              <a:t>Outputs of the process </a:t>
            </a:r>
            <a:r>
              <a:rPr b="1" lang="en-US" sz="1400" strike="noStrike">
                <a:solidFill>
                  <a:srgbClr val="1F487C"/>
                </a:solidFill>
                <a:latin typeface="Calibri"/>
                <a:ea typeface="Calibri"/>
                <a:cs typeface="Calibri"/>
                <a:sym typeface="Calibri"/>
              </a:rPr>
              <a:t>don't just include the product or  service you are delivering</a:t>
            </a:r>
            <a:r>
              <a:rPr b="0" lang="en-US" sz="1400" strike="noStrike">
                <a:solidFill>
                  <a:srgbClr val="1F487C"/>
                </a:solidFill>
                <a:latin typeface="Calibri"/>
                <a:ea typeface="Calibri"/>
                <a:cs typeface="Calibri"/>
                <a:sym typeface="Calibri"/>
              </a:rPr>
              <a:t>, and not all are desirable. They can  include paperwork, approvals, scrap, and just about anything  else you can think of that results from your process.</a:t>
            </a:r>
            <a:endParaRPr b="0" sz="1400" strike="noStrike">
              <a:latin typeface="Arial"/>
              <a:ea typeface="Arial"/>
              <a:cs typeface="Arial"/>
              <a:sym typeface="Arial"/>
            </a:endParaRPr>
          </a:p>
          <a:p>
            <a:pPr indent="-196200" lvl="0" marL="205920" marR="0" rtl="0" algn="l">
              <a:lnSpc>
                <a:spcPct val="100000"/>
              </a:lnSpc>
              <a:spcBef>
                <a:spcPts val="451"/>
              </a:spcBef>
              <a:spcAft>
                <a:spcPts val="0"/>
              </a:spcAft>
              <a:buClr>
                <a:srgbClr val="000000"/>
              </a:buClr>
              <a:buSzPts val="1400"/>
              <a:buFont typeface="Courier New"/>
              <a:buChar char="o"/>
            </a:pPr>
            <a:r>
              <a:rPr b="1" lang="en-US" sz="1400" strike="noStrike">
                <a:solidFill>
                  <a:srgbClr val="1F487C"/>
                </a:solidFill>
                <a:latin typeface="Calibri"/>
                <a:ea typeface="Calibri"/>
                <a:cs typeface="Calibri"/>
                <a:sym typeface="Calibri"/>
              </a:rPr>
              <a:t>Now add the names of the customers </a:t>
            </a:r>
            <a:r>
              <a:rPr b="0" lang="en-US" sz="1400" strike="noStrike">
                <a:solidFill>
                  <a:srgbClr val="1F487C"/>
                </a:solidFill>
                <a:latin typeface="Calibri"/>
                <a:ea typeface="Calibri"/>
                <a:cs typeface="Calibri"/>
                <a:sym typeface="Calibri"/>
              </a:rPr>
              <a:t>(if there are more  than one). Do they have the same requirements? Think about  where each output goes and that you know who the customer is for your process</a:t>
            </a:r>
            <a:endParaRPr b="0" sz="1400" strike="noStrike">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79"/>
          <p:cNvSpPr txBox="1"/>
          <p:nvPr/>
        </p:nvSpPr>
        <p:spPr>
          <a:xfrm>
            <a:off x="457200" y="544680"/>
            <a:ext cx="8229240" cy="868320"/>
          </a:xfrm>
          <a:prstGeom prst="rect">
            <a:avLst/>
          </a:prstGeom>
          <a:noFill/>
          <a:ln>
            <a:noFill/>
          </a:ln>
        </p:spPr>
        <p:txBody>
          <a:bodyPr anchorCtr="0" anchor="t" bIns="0" lIns="0" spcFirstLastPara="1" rIns="0" wrap="square" tIns="9350">
            <a:noAutofit/>
          </a:bodyPr>
          <a:lstStyle/>
          <a:p>
            <a:pPr indent="0" lvl="0" marL="9360" marR="0" rtl="0" algn="l">
              <a:lnSpc>
                <a:spcPct val="100000"/>
              </a:lnSpc>
              <a:spcBef>
                <a:spcPts val="0"/>
              </a:spcBef>
              <a:spcAft>
                <a:spcPts val="0"/>
              </a:spcAft>
              <a:buNone/>
            </a:pPr>
            <a:r>
              <a:rPr b="1" lang="en-US" sz="2400" strike="noStrike">
                <a:solidFill>
                  <a:srgbClr val="000000"/>
                </a:solidFill>
                <a:latin typeface="Arial"/>
                <a:ea typeface="Arial"/>
                <a:cs typeface="Arial"/>
                <a:sym typeface="Arial"/>
              </a:rPr>
              <a:t>Step 3 – Document the Inputs, Process Steps &amp; Outputs</a:t>
            </a:r>
            <a:endParaRPr b="0" sz="2400" strike="noStrike">
              <a:solidFill>
                <a:srgbClr val="000000"/>
              </a:solidFill>
              <a:latin typeface="Arial"/>
              <a:ea typeface="Arial"/>
              <a:cs typeface="Arial"/>
              <a:sym typeface="Arial"/>
            </a:endParaRPr>
          </a:p>
        </p:txBody>
      </p:sp>
      <p:grpSp>
        <p:nvGrpSpPr>
          <p:cNvPr id="515" name="Google Shape;515;p79"/>
          <p:cNvGrpSpPr/>
          <p:nvPr/>
        </p:nvGrpSpPr>
        <p:grpSpPr>
          <a:xfrm>
            <a:off x="546840" y="1343160"/>
            <a:ext cx="554040" cy="550800"/>
            <a:chOff x="546840" y="1343160"/>
            <a:chExt cx="554040" cy="550800"/>
          </a:xfrm>
        </p:grpSpPr>
        <p:sp>
          <p:nvSpPr>
            <p:cNvPr id="516" name="Google Shape;516;p79"/>
            <p:cNvSpPr/>
            <p:nvPr/>
          </p:nvSpPr>
          <p:spPr>
            <a:xfrm>
              <a:off x="546840" y="1343160"/>
              <a:ext cx="554040" cy="55080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79"/>
            <p:cNvSpPr/>
            <p:nvPr/>
          </p:nvSpPr>
          <p:spPr>
            <a:xfrm>
              <a:off x="551520" y="1346760"/>
              <a:ext cx="546120" cy="463680"/>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79"/>
            <p:cNvSpPr/>
            <p:nvPr/>
          </p:nvSpPr>
          <p:spPr>
            <a:xfrm>
              <a:off x="593280" y="1374120"/>
              <a:ext cx="462240" cy="458640"/>
            </a:xfrm>
            <a:custGeom>
              <a:rect b="b" l="l" r="r" t="t"/>
              <a:pathLst>
                <a:path extrusionOk="0" h="612139" w="616585">
                  <a:moveTo>
                    <a:pt x="616026" y="0"/>
                  </a:moveTo>
                  <a:lnTo>
                    <a:pt x="308013" y="0"/>
                  </a:lnTo>
                  <a:lnTo>
                    <a:pt x="262495" y="3318"/>
                  </a:lnTo>
                  <a:lnTo>
                    <a:pt x="219052" y="12958"/>
                  </a:lnTo>
                  <a:lnTo>
                    <a:pt x="178160" y="28447"/>
                  </a:lnTo>
                  <a:lnTo>
                    <a:pt x="140294" y="49309"/>
                  </a:lnTo>
                  <a:lnTo>
                    <a:pt x="105931" y="75074"/>
                  </a:lnTo>
                  <a:lnTo>
                    <a:pt x="75548" y="105265"/>
                  </a:lnTo>
                  <a:lnTo>
                    <a:pt x="49621" y="139412"/>
                  </a:lnTo>
                  <a:lnTo>
                    <a:pt x="28626" y="177038"/>
                  </a:lnTo>
                  <a:lnTo>
                    <a:pt x="13040" y="217673"/>
                  </a:lnTo>
                  <a:lnTo>
                    <a:pt x="3339" y="260841"/>
                  </a:lnTo>
                  <a:lnTo>
                    <a:pt x="0" y="306070"/>
                  </a:lnTo>
                  <a:lnTo>
                    <a:pt x="3339" y="351267"/>
                  </a:lnTo>
                  <a:lnTo>
                    <a:pt x="13040" y="394409"/>
                  </a:lnTo>
                  <a:lnTo>
                    <a:pt x="28626" y="435022"/>
                  </a:lnTo>
                  <a:lnTo>
                    <a:pt x="49621" y="472633"/>
                  </a:lnTo>
                  <a:lnTo>
                    <a:pt x="75548" y="506767"/>
                  </a:lnTo>
                  <a:lnTo>
                    <a:pt x="105931" y="536950"/>
                  </a:lnTo>
                  <a:lnTo>
                    <a:pt x="140294" y="562709"/>
                  </a:lnTo>
                  <a:lnTo>
                    <a:pt x="178160" y="583568"/>
                  </a:lnTo>
                  <a:lnTo>
                    <a:pt x="219052" y="599054"/>
                  </a:lnTo>
                  <a:lnTo>
                    <a:pt x="262495" y="608694"/>
                  </a:lnTo>
                  <a:lnTo>
                    <a:pt x="308013" y="612013"/>
                  </a:lnTo>
                  <a:lnTo>
                    <a:pt x="353527" y="608694"/>
                  </a:lnTo>
                  <a:lnTo>
                    <a:pt x="396968" y="599054"/>
                  </a:lnTo>
                  <a:lnTo>
                    <a:pt x="437860" y="583568"/>
                  </a:lnTo>
                  <a:lnTo>
                    <a:pt x="475726" y="562709"/>
                  </a:lnTo>
                  <a:lnTo>
                    <a:pt x="510089" y="536950"/>
                  </a:lnTo>
                  <a:lnTo>
                    <a:pt x="540473" y="506767"/>
                  </a:lnTo>
                  <a:lnTo>
                    <a:pt x="566401" y="472633"/>
                  </a:lnTo>
                  <a:lnTo>
                    <a:pt x="587397" y="435022"/>
                  </a:lnTo>
                  <a:lnTo>
                    <a:pt x="602984" y="394409"/>
                  </a:lnTo>
                  <a:lnTo>
                    <a:pt x="612686" y="351267"/>
                  </a:lnTo>
                  <a:lnTo>
                    <a:pt x="616026" y="306070"/>
                  </a:lnTo>
                  <a:lnTo>
                    <a:pt x="616026" y="0"/>
                  </a:lnTo>
                  <a:close/>
                </a:path>
              </a:pathLst>
            </a:custGeom>
            <a:solidFill>
              <a:srgbClr val="D8DAD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600" strike="noStrike">
                  <a:solidFill>
                    <a:srgbClr val="000000"/>
                  </a:solidFill>
                  <a:latin typeface="Arial"/>
                  <a:ea typeface="Arial"/>
                  <a:cs typeface="Arial"/>
                  <a:sym typeface="Arial"/>
                </a:rPr>
                <a:t>3</a:t>
              </a:r>
              <a:endParaRPr b="0" sz="1600" strike="noStrike">
                <a:latin typeface="Arial"/>
                <a:ea typeface="Arial"/>
                <a:cs typeface="Arial"/>
                <a:sym typeface="Arial"/>
              </a:endParaRPr>
            </a:p>
          </p:txBody>
        </p:sp>
        <p:sp>
          <p:nvSpPr>
            <p:cNvPr id="519" name="Google Shape;519;p79"/>
            <p:cNvSpPr/>
            <p:nvPr/>
          </p:nvSpPr>
          <p:spPr>
            <a:xfrm>
              <a:off x="593280" y="1374120"/>
              <a:ext cx="462240" cy="458640"/>
            </a:xfrm>
            <a:custGeom>
              <a:rect b="b" l="l" r="r" t="t"/>
              <a:pathLst>
                <a:path extrusionOk="0" h="612139" w="616585">
                  <a:moveTo>
                    <a:pt x="0" y="306070"/>
                  </a:moveTo>
                  <a:lnTo>
                    <a:pt x="3339" y="260841"/>
                  </a:lnTo>
                  <a:lnTo>
                    <a:pt x="13040" y="217673"/>
                  </a:lnTo>
                  <a:lnTo>
                    <a:pt x="28626" y="177038"/>
                  </a:lnTo>
                  <a:lnTo>
                    <a:pt x="49621" y="139412"/>
                  </a:lnTo>
                  <a:lnTo>
                    <a:pt x="75548" y="105265"/>
                  </a:lnTo>
                  <a:lnTo>
                    <a:pt x="105931" y="75074"/>
                  </a:lnTo>
                  <a:lnTo>
                    <a:pt x="140294" y="49309"/>
                  </a:lnTo>
                  <a:lnTo>
                    <a:pt x="178160" y="28447"/>
                  </a:lnTo>
                  <a:lnTo>
                    <a:pt x="219052" y="12958"/>
                  </a:lnTo>
                  <a:lnTo>
                    <a:pt x="262495" y="3318"/>
                  </a:lnTo>
                  <a:lnTo>
                    <a:pt x="308013" y="0"/>
                  </a:lnTo>
                  <a:lnTo>
                    <a:pt x="359346" y="0"/>
                  </a:lnTo>
                  <a:lnTo>
                    <a:pt x="616026" y="0"/>
                  </a:lnTo>
                  <a:lnTo>
                    <a:pt x="616026" y="50999"/>
                  </a:lnTo>
                  <a:lnTo>
                    <a:pt x="616026" y="102013"/>
                  </a:lnTo>
                  <a:lnTo>
                    <a:pt x="616026" y="153035"/>
                  </a:lnTo>
                  <a:lnTo>
                    <a:pt x="616026" y="204056"/>
                  </a:lnTo>
                  <a:lnTo>
                    <a:pt x="616026" y="255070"/>
                  </a:lnTo>
                  <a:lnTo>
                    <a:pt x="616026" y="306070"/>
                  </a:lnTo>
                  <a:lnTo>
                    <a:pt x="612686" y="351267"/>
                  </a:lnTo>
                  <a:lnTo>
                    <a:pt x="602984" y="394409"/>
                  </a:lnTo>
                  <a:lnTo>
                    <a:pt x="587397" y="435022"/>
                  </a:lnTo>
                  <a:lnTo>
                    <a:pt x="566401" y="472633"/>
                  </a:lnTo>
                  <a:lnTo>
                    <a:pt x="540473" y="506767"/>
                  </a:lnTo>
                  <a:lnTo>
                    <a:pt x="510089" y="536950"/>
                  </a:lnTo>
                  <a:lnTo>
                    <a:pt x="475726" y="562709"/>
                  </a:lnTo>
                  <a:lnTo>
                    <a:pt x="437860" y="583568"/>
                  </a:lnTo>
                  <a:lnTo>
                    <a:pt x="396968" y="599054"/>
                  </a:lnTo>
                  <a:lnTo>
                    <a:pt x="353527" y="608694"/>
                  </a:lnTo>
                  <a:lnTo>
                    <a:pt x="308013" y="612013"/>
                  </a:lnTo>
                  <a:lnTo>
                    <a:pt x="262495" y="608694"/>
                  </a:lnTo>
                  <a:lnTo>
                    <a:pt x="219052" y="599054"/>
                  </a:lnTo>
                  <a:lnTo>
                    <a:pt x="178160" y="583568"/>
                  </a:lnTo>
                  <a:lnTo>
                    <a:pt x="140294" y="562709"/>
                  </a:lnTo>
                  <a:lnTo>
                    <a:pt x="105931" y="536950"/>
                  </a:lnTo>
                  <a:lnTo>
                    <a:pt x="75548" y="506767"/>
                  </a:lnTo>
                  <a:lnTo>
                    <a:pt x="49621" y="472633"/>
                  </a:lnTo>
                  <a:lnTo>
                    <a:pt x="28626" y="435022"/>
                  </a:lnTo>
                  <a:lnTo>
                    <a:pt x="13040" y="394409"/>
                  </a:lnTo>
                  <a:lnTo>
                    <a:pt x="3339" y="351267"/>
                  </a:lnTo>
                  <a:lnTo>
                    <a:pt x="0" y="306070"/>
                  </a:lnTo>
                  <a:close/>
                </a:path>
              </a:pathLst>
            </a:custGeom>
            <a:noFill/>
            <a:ln cap="flat" cmpd="sng" w="38150">
              <a:solidFill>
                <a:srgbClr val="FFFFFF"/>
              </a:solidFill>
              <a:prstDash val="solid"/>
              <a:round/>
              <a:headEnd len="sm" w="sm" type="none"/>
              <a:tailEnd len="sm" w="sm" type="none"/>
            </a:ln>
          </p:spPr>
        </p:sp>
      </p:grpSp>
      <p:sp>
        <p:nvSpPr>
          <p:cNvPr id="520" name="Google Shape;520;p79"/>
          <p:cNvSpPr/>
          <p:nvPr/>
        </p:nvSpPr>
        <p:spPr>
          <a:xfrm>
            <a:off x="1580040" y="808920"/>
            <a:ext cx="181440" cy="329400"/>
          </a:xfrm>
          <a:prstGeom prst="rect">
            <a:avLst/>
          </a:prstGeom>
          <a:noFill/>
          <a:ln>
            <a:noFill/>
          </a:ln>
        </p:spPr>
        <p:txBody>
          <a:bodyPr anchorCtr="0" anchor="t" bIns="0" lIns="0" spcFirstLastPara="1" rIns="0" wrap="square" tIns="9000">
            <a:noAutofit/>
          </a:bodyPr>
          <a:lstStyle/>
          <a:p>
            <a:pPr indent="0" lvl="0" marL="9360" marR="0" rtl="0" algn="l">
              <a:lnSpc>
                <a:spcPct val="100000"/>
              </a:lnSpc>
              <a:spcBef>
                <a:spcPts val="0"/>
              </a:spcBef>
              <a:spcAft>
                <a:spcPts val="0"/>
              </a:spcAft>
              <a:buNone/>
            </a:pPr>
            <a:r>
              <a:rPr b="0" lang="en-US" sz="2100" strike="noStrike">
                <a:solidFill>
                  <a:srgbClr val="FFFFFF"/>
                </a:solidFill>
                <a:latin typeface="Comic Sans MS"/>
                <a:ea typeface="Comic Sans MS"/>
                <a:cs typeface="Comic Sans MS"/>
                <a:sym typeface="Comic Sans MS"/>
              </a:rPr>
              <a:t>1</a:t>
            </a:r>
            <a:endParaRPr b="0" sz="2100" strike="noStrike">
              <a:latin typeface="Arial"/>
              <a:ea typeface="Arial"/>
              <a:cs typeface="Arial"/>
              <a:sym typeface="Arial"/>
            </a:endParaRPr>
          </a:p>
        </p:txBody>
      </p:sp>
      <p:sp>
        <p:nvSpPr>
          <p:cNvPr id="521" name="Google Shape;521;p79"/>
          <p:cNvSpPr/>
          <p:nvPr/>
        </p:nvSpPr>
        <p:spPr>
          <a:xfrm>
            <a:off x="5195880" y="4230360"/>
            <a:ext cx="1483200" cy="291240"/>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79"/>
          <p:cNvSpPr/>
          <p:nvPr/>
        </p:nvSpPr>
        <p:spPr>
          <a:xfrm>
            <a:off x="5427000" y="4230360"/>
            <a:ext cx="2607120" cy="417600"/>
          </a:xfrm>
          <a:prstGeom prst="rightArrow">
            <a:avLst>
              <a:gd fmla="val 50000" name="adj1"/>
              <a:gd fmla="val 50000" name="adj2"/>
            </a:avLst>
          </a:prstGeom>
          <a:solidFill>
            <a:srgbClr val="D8DA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lang="en-US" sz="1400" strike="noStrike">
                <a:solidFill>
                  <a:srgbClr val="1F487C"/>
                </a:solidFill>
                <a:latin typeface="Comic Sans MS"/>
                <a:ea typeface="Comic Sans MS"/>
                <a:cs typeface="Comic Sans MS"/>
                <a:sym typeface="Comic Sans MS"/>
              </a:rPr>
              <a:t>Next step……………</a:t>
            </a:r>
            <a:endParaRPr b="0" sz="1400" strike="noStrike">
              <a:latin typeface="Arial"/>
              <a:ea typeface="Arial"/>
              <a:cs typeface="Arial"/>
              <a:sym typeface="Arial"/>
            </a:endParaRPr>
          </a:p>
        </p:txBody>
      </p:sp>
      <p:sp>
        <p:nvSpPr>
          <p:cNvPr id="523" name="Google Shape;523;p79"/>
          <p:cNvSpPr/>
          <p:nvPr/>
        </p:nvSpPr>
        <p:spPr>
          <a:xfrm>
            <a:off x="1147320" y="1015200"/>
            <a:ext cx="7166520" cy="2968200"/>
          </a:xfrm>
          <a:prstGeom prst="rect">
            <a:avLst/>
          </a:prstGeom>
          <a:noFill/>
          <a:ln>
            <a:noFill/>
          </a:ln>
        </p:spPr>
        <p:txBody>
          <a:bodyPr anchorCtr="0" anchor="t" bIns="0" lIns="0" spcFirstLastPara="1" rIns="0" wrap="square" tIns="66600">
            <a:noAutofit/>
          </a:bodyPr>
          <a:lstStyle/>
          <a:p>
            <a:pPr indent="0" lvl="0" marL="9360" marR="0" rtl="0" algn="l">
              <a:lnSpc>
                <a:spcPct val="100000"/>
              </a:lnSpc>
              <a:spcBef>
                <a:spcPts val="0"/>
              </a:spcBef>
              <a:spcAft>
                <a:spcPts val="0"/>
              </a:spcAft>
              <a:buNone/>
            </a:pPr>
            <a:r>
              <a:rPr b="0" lang="en-US" sz="1400" strike="noStrike">
                <a:solidFill>
                  <a:srgbClr val="1F487C"/>
                </a:solidFill>
                <a:latin typeface="Calibri"/>
                <a:ea typeface="Calibri"/>
                <a:cs typeface="Calibri"/>
                <a:sym typeface="Calibri"/>
              </a:rPr>
              <a:t>Complete the “Inputs” side of the SIPOC diagram:</a:t>
            </a:r>
            <a:endParaRPr b="0" sz="1400" strike="noStrike">
              <a:latin typeface="Arial"/>
              <a:ea typeface="Arial"/>
              <a:cs typeface="Arial"/>
              <a:sym typeface="Arial"/>
            </a:endParaRPr>
          </a:p>
          <a:p>
            <a:pPr indent="-196920" lvl="0" marL="206280" marR="0" rtl="0" algn="l">
              <a:lnSpc>
                <a:spcPct val="100000"/>
              </a:lnSpc>
              <a:spcBef>
                <a:spcPts val="451"/>
              </a:spcBef>
              <a:spcAft>
                <a:spcPts val="0"/>
              </a:spcAft>
              <a:buClr>
                <a:srgbClr val="000000"/>
              </a:buClr>
              <a:buSzPts val="1400"/>
              <a:buFont typeface="Courier New"/>
              <a:buChar char="o"/>
            </a:pPr>
            <a:r>
              <a:rPr b="0" lang="en-US" sz="1400" strike="noStrike">
                <a:solidFill>
                  <a:srgbClr val="1F487C"/>
                </a:solidFill>
                <a:latin typeface="Calibri"/>
                <a:ea typeface="Calibri"/>
                <a:cs typeface="Calibri"/>
                <a:sym typeface="Calibri"/>
              </a:rPr>
              <a:t>List the </a:t>
            </a:r>
            <a:r>
              <a:rPr b="1" lang="en-US" sz="1400" strike="noStrike">
                <a:solidFill>
                  <a:srgbClr val="1F487C"/>
                </a:solidFill>
                <a:latin typeface="Calibri"/>
                <a:ea typeface="Calibri"/>
                <a:cs typeface="Calibri"/>
                <a:sym typeface="Calibri"/>
              </a:rPr>
              <a:t>inputs into each step of the process</a:t>
            </a:r>
            <a:r>
              <a:rPr b="0" lang="en-US" sz="1400" strike="noStrike">
                <a:solidFill>
                  <a:srgbClr val="1F487C"/>
                </a:solidFill>
                <a:latin typeface="Calibri"/>
                <a:ea typeface="Calibri"/>
                <a:cs typeface="Calibri"/>
                <a:sym typeface="Calibri"/>
              </a:rPr>
              <a:t>, and the  </a:t>
            </a:r>
            <a:r>
              <a:rPr b="1" lang="en-US" sz="1400" strike="noStrike">
                <a:solidFill>
                  <a:srgbClr val="1F487C"/>
                </a:solidFill>
                <a:latin typeface="Calibri"/>
                <a:ea typeface="Calibri"/>
                <a:cs typeface="Calibri"/>
                <a:sym typeface="Calibri"/>
              </a:rPr>
              <a:t>requirements </a:t>
            </a:r>
            <a:r>
              <a:rPr b="0" lang="en-US" sz="1400" strike="noStrike">
                <a:solidFill>
                  <a:srgbClr val="1F487C"/>
                </a:solidFill>
                <a:latin typeface="Calibri"/>
                <a:ea typeface="Calibri"/>
                <a:cs typeface="Calibri"/>
                <a:sym typeface="Calibri"/>
              </a:rPr>
              <a:t>of each input (in your view – the person doing the  work).</a:t>
            </a:r>
            <a:endParaRPr b="0" sz="1400" strike="noStrike">
              <a:latin typeface="Arial"/>
              <a:ea typeface="Arial"/>
              <a:cs typeface="Arial"/>
              <a:sym typeface="Arial"/>
            </a:endParaRPr>
          </a:p>
          <a:p>
            <a:pPr indent="0" lvl="0" marL="206280" marR="0" rtl="0" algn="l">
              <a:lnSpc>
                <a:spcPct val="100000"/>
              </a:lnSpc>
              <a:spcBef>
                <a:spcPts val="451"/>
              </a:spcBef>
              <a:spcAft>
                <a:spcPts val="0"/>
              </a:spcAft>
              <a:buNone/>
            </a:pPr>
            <a:r>
              <a:rPr b="0" lang="en-US" sz="1400" strike="noStrike">
                <a:solidFill>
                  <a:srgbClr val="1F487C"/>
                </a:solidFill>
                <a:latin typeface="Calibri"/>
                <a:ea typeface="Calibri"/>
                <a:cs typeface="Calibri"/>
                <a:sym typeface="Calibri"/>
              </a:rPr>
              <a:t>Review </a:t>
            </a:r>
            <a:r>
              <a:rPr b="1" lang="en-US" sz="1400" strike="noStrike">
                <a:solidFill>
                  <a:srgbClr val="1F487C"/>
                </a:solidFill>
                <a:latin typeface="Calibri"/>
                <a:ea typeface="Calibri"/>
                <a:cs typeface="Calibri"/>
                <a:sym typeface="Calibri"/>
              </a:rPr>
              <a:t>each step of the process </a:t>
            </a:r>
            <a:r>
              <a:rPr b="0" lang="en-US" sz="1400" strike="noStrike">
                <a:solidFill>
                  <a:srgbClr val="1F487C"/>
                </a:solidFill>
                <a:latin typeface="Calibri"/>
                <a:ea typeface="Calibri"/>
                <a:cs typeface="Calibri"/>
                <a:sym typeface="Calibri"/>
              </a:rPr>
              <a:t>to determine what is necessary  to complete each one.</a:t>
            </a:r>
            <a:endParaRPr b="0" sz="1400" strike="noStrike">
              <a:latin typeface="Arial"/>
              <a:ea typeface="Arial"/>
              <a:cs typeface="Arial"/>
              <a:sym typeface="Arial"/>
            </a:endParaRPr>
          </a:p>
          <a:p>
            <a:pPr indent="-196920" lvl="0" marL="206280" marR="0" rtl="0" algn="l">
              <a:lnSpc>
                <a:spcPct val="100000"/>
              </a:lnSpc>
              <a:spcBef>
                <a:spcPts val="451"/>
              </a:spcBef>
              <a:spcAft>
                <a:spcPts val="0"/>
              </a:spcAft>
              <a:buClr>
                <a:srgbClr val="000000"/>
              </a:buClr>
              <a:buSzPts val="1400"/>
              <a:buFont typeface="Courier New"/>
              <a:buChar char="o"/>
            </a:pPr>
            <a:r>
              <a:rPr b="0" lang="en-US" sz="1400" strike="noStrike">
                <a:solidFill>
                  <a:srgbClr val="1F487C"/>
                </a:solidFill>
                <a:latin typeface="Calibri"/>
                <a:ea typeface="Calibri"/>
                <a:cs typeface="Calibri"/>
                <a:sym typeface="Calibri"/>
              </a:rPr>
              <a:t>Inputs can include </a:t>
            </a:r>
            <a:r>
              <a:rPr b="1" lang="en-US" sz="1400" strike="noStrike">
                <a:solidFill>
                  <a:srgbClr val="1F487C"/>
                </a:solidFill>
                <a:latin typeface="Calibri"/>
                <a:ea typeface="Calibri"/>
                <a:cs typeface="Calibri"/>
                <a:sym typeface="Calibri"/>
              </a:rPr>
              <a:t>materials, people, machines, systems,  information, or anything </a:t>
            </a:r>
            <a:r>
              <a:rPr b="0" lang="en-US" sz="1400" strike="noStrike">
                <a:solidFill>
                  <a:srgbClr val="1F487C"/>
                </a:solidFill>
                <a:latin typeface="Calibri"/>
                <a:ea typeface="Calibri"/>
                <a:cs typeface="Calibri"/>
                <a:sym typeface="Calibri"/>
              </a:rPr>
              <a:t>else that is necessary for the process.</a:t>
            </a:r>
            <a:endParaRPr b="0" sz="1400" strike="noStrike">
              <a:latin typeface="Arial"/>
              <a:ea typeface="Arial"/>
              <a:cs typeface="Arial"/>
              <a:sym typeface="Arial"/>
            </a:endParaRPr>
          </a:p>
          <a:p>
            <a:pPr indent="-196920" lvl="0" marL="206280" marR="0" rtl="0" algn="l">
              <a:lnSpc>
                <a:spcPct val="100000"/>
              </a:lnSpc>
              <a:spcBef>
                <a:spcPts val="454"/>
              </a:spcBef>
              <a:spcAft>
                <a:spcPts val="0"/>
              </a:spcAft>
              <a:buClr>
                <a:srgbClr val="000000"/>
              </a:buClr>
              <a:buSzPts val="1400"/>
              <a:buFont typeface="Courier New"/>
              <a:buChar char="o"/>
            </a:pPr>
            <a:r>
              <a:rPr b="0" lang="en-US" sz="1400" strike="noStrike">
                <a:solidFill>
                  <a:srgbClr val="1F487C"/>
                </a:solidFill>
                <a:latin typeface="Calibri"/>
                <a:ea typeface="Calibri"/>
                <a:cs typeface="Calibri"/>
                <a:sym typeface="Calibri"/>
              </a:rPr>
              <a:t>Take some extra time with the inputs and write down everything</a:t>
            </a:r>
            <a:endParaRPr b="0" sz="1400" strike="noStrike">
              <a:latin typeface="Arial"/>
              <a:ea typeface="Arial"/>
              <a:cs typeface="Arial"/>
              <a:sym typeface="Arial"/>
            </a:endParaRPr>
          </a:p>
          <a:p>
            <a:pPr indent="0" lvl="0" marL="206280" marR="0" rtl="0" algn="l">
              <a:lnSpc>
                <a:spcPct val="100000"/>
              </a:lnSpc>
              <a:spcBef>
                <a:spcPts val="0"/>
              </a:spcBef>
              <a:spcAft>
                <a:spcPts val="0"/>
              </a:spcAft>
              <a:buNone/>
            </a:pPr>
            <a:r>
              <a:rPr b="0" lang="en-US" sz="1400" strike="noStrike">
                <a:solidFill>
                  <a:srgbClr val="1F487C"/>
                </a:solidFill>
                <a:latin typeface="Calibri"/>
                <a:ea typeface="Calibri"/>
                <a:cs typeface="Calibri"/>
                <a:sym typeface="Calibri"/>
              </a:rPr>
              <a:t>you can think of.</a:t>
            </a:r>
            <a:endParaRPr b="0" sz="1400" strike="noStrike">
              <a:latin typeface="Arial"/>
              <a:ea typeface="Arial"/>
              <a:cs typeface="Arial"/>
              <a:sym typeface="Arial"/>
            </a:endParaRPr>
          </a:p>
          <a:p>
            <a:pPr indent="-196920" lvl="0" marL="206280" marR="0" rtl="0" algn="l">
              <a:lnSpc>
                <a:spcPct val="100000"/>
              </a:lnSpc>
              <a:spcBef>
                <a:spcPts val="451"/>
              </a:spcBef>
              <a:spcAft>
                <a:spcPts val="0"/>
              </a:spcAft>
              <a:buClr>
                <a:srgbClr val="000000"/>
              </a:buClr>
              <a:buSzPts val="1400"/>
              <a:buFont typeface="Courier New"/>
              <a:buChar char="o"/>
            </a:pPr>
            <a:r>
              <a:rPr b="0" lang="en-US" sz="1400" strike="noStrike">
                <a:solidFill>
                  <a:srgbClr val="1F487C"/>
                </a:solidFill>
                <a:latin typeface="Calibri"/>
                <a:ea typeface="Calibri"/>
                <a:cs typeface="Calibri"/>
                <a:sym typeface="Calibri"/>
              </a:rPr>
              <a:t>In this final step, list all of the </a:t>
            </a:r>
            <a:r>
              <a:rPr b="1" lang="en-US" sz="1400" strike="noStrike">
                <a:solidFill>
                  <a:srgbClr val="1F487C"/>
                </a:solidFill>
                <a:latin typeface="Calibri"/>
                <a:ea typeface="Calibri"/>
                <a:cs typeface="Calibri"/>
                <a:sym typeface="Calibri"/>
              </a:rPr>
              <a:t>suppliers who provide your inputs</a:t>
            </a:r>
            <a:r>
              <a:rPr b="0" lang="en-US" sz="1400" strike="noStrike">
                <a:solidFill>
                  <a:srgbClr val="1F487C"/>
                </a:solidFill>
                <a:latin typeface="Calibri"/>
                <a:ea typeface="Calibri"/>
                <a:cs typeface="Calibri"/>
                <a:sym typeface="Calibri"/>
              </a:rPr>
              <a:t>.  These might include the company that supplies you, the team that  performed previous steps, or an internal department that passes a  product or customer to you.</a:t>
            </a:r>
            <a:endParaRPr b="0" sz="1400" strike="noStrike">
              <a:latin typeface="Arial"/>
              <a:ea typeface="Arial"/>
              <a:cs typeface="Arial"/>
              <a:sym typeface="Arial"/>
            </a:endParaRPr>
          </a:p>
          <a:p>
            <a:pPr indent="-196920" lvl="0" marL="206280" marR="0" rtl="0" algn="l">
              <a:lnSpc>
                <a:spcPct val="100000"/>
              </a:lnSpc>
              <a:spcBef>
                <a:spcPts val="451"/>
              </a:spcBef>
              <a:spcAft>
                <a:spcPts val="0"/>
              </a:spcAft>
              <a:buClr>
                <a:srgbClr val="000000"/>
              </a:buClr>
              <a:buSzPts val="1400"/>
              <a:buFont typeface="Courier New"/>
              <a:buChar char="o"/>
            </a:pPr>
            <a:r>
              <a:rPr b="0" lang="en-US" sz="1400" strike="noStrike">
                <a:solidFill>
                  <a:srgbClr val="1F487C"/>
                </a:solidFill>
                <a:latin typeface="Calibri"/>
                <a:ea typeface="Calibri"/>
                <a:cs typeface="Calibri"/>
                <a:sym typeface="Calibri"/>
              </a:rPr>
              <a:t>List the </a:t>
            </a:r>
            <a:r>
              <a:rPr b="1" lang="en-US" sz="1400" strike="noStrike">
                <a:solidFill>
                  <a:srgbClr val="1F487C"/>
                </a:solidFill>
                <a:latin typeface="Calibri"/>
                <a:ea typeface="Calibri"/>
                <a:cs typeface="Calibri"/>
                <a:sym typeface="Calibri"/>
              </a:rPr>
              <a:t>suppliers </a:t>
            </a:r>
            <a:r>
              <a:rPr b="0" lang="en-US" sz="1400" strike="noStrike">
                <a:solidFill>
                  <a:srgbClr val="1F487C"/>
                </a:solidFill>
                <a:latin typeface="Calibri"/>
                <a:ea typeface="Calibri"/>
                <a:cs typeface="Calibri"/>
                <a:sym typeface="Calibri"/>
              </a:rPr>
              <a:t>on the extreme left side of the chart.</a:t>
            </a:r>
            <a:endParaRPr b="0" sz="1400" strike="noStrike">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0"/>
          <p:cNvSpPr/>
          <p:nvPr/>
        </p:nvSpPr>
        <p:spPr>
          <a:xfrm>
            <a:off x="3999240" y="1237320"/>
            <a:ext cx="610920" cy="215280"/>
          </a:xfrm>
          <a:prstGeom prst="rect">
            <a:avLst/>
          </a:prstGeom>
          <a:noFill/>
          <a:ln>
            <a:noFill/>
          </a:ln>
        </p:spPr>
        <p:txBody>
          <a:bodyPr anchorCtr="0" anchor="t" bIns="0" lIns="0" spcFirstLastPara="1" rIns="0" wrap="square" tIns="9350">
            <a:noAutofit/>
          </a:bodyPr>
          <a:lstStyle/>
          <a:p>
            <a:pPr indent="0" lvl="0" marL="9360" marR="0" rtl="0" algn="l">
              <a:lnSpc>
                <a:spcPct val="100000"/>
              </a:lnSpc>
              <a:spcBef>
                <a:spcPts val="0"/>
              </a:spcBef>
              <a:spcAft>
                <a:spcPts val="0"/>
              </a:spcAft>
              <a:buNone/>
            </a:pPr>
            <a:r>
              <a:rPr b="0" lang="en-US" sz="1350" strike="noStrike">
                <a:solidFill>
                  <a:srgbClr val="E36C09"/>
                </a:solidFill>
                <a:latin typeface="Comic Sans MS"/>
                <a:ea typeface="Comic Sans MS"/>
                <a:cs typeface="Comic Sans MS"/>
                <a:sym typeface="Comic Sans MS"/>
              </a:rPr>
              <a:t>Quality</a:t>
            </a:r>
            <a:endParaRPr b="0" sz="1350" strike="noStrike">
              <a:latin typeface="Arial"/>
              <a:ea typeface="Arial"/>
              <a:cs typeface="Arial"/>
              <a:sym typeface="Arial"/>
            </a:endParaRPr>
          </a:p>
        </p:txBody>
      </p:sp>
      <p:sp>
        <p:nvSpPr>
          <p:cNvPr id="529" name="Google Shape;529;p80"/>
          <p:cNvSpPr/>
          <p:nvPr/>
        </p:nvSpPr>
        <p:spPr>
          <a:xfrm>
            <a:off x="2517120" y="2082240"/>
            <a:ext cx="754560" cy="215280"/>
          </a:xfrm>
          <a:prstGeom prst="rect">
            <a:avLst/>
          </a:prstGeom>
          <a:noFill/>
          <a:ln>
            <a:noFill/>
          </a:ln>
        </p:spPr>
        <p:txBody>
          <a:bodyPr anchorCtr="0" anchor="t" bIns="0" lIns="0" spcFirstLastPara="1" rIns="0" wrap="square" tIns="9350">
            <a:noAutofit/>
          </a:bodyPr>
          <a:lstStyle/>
          <a:p>
            <a:pPr indent="0" lvl="0" marL="9360" marR="0" rtl="0" algn="ctr">
              <a:lnSpc>
                <a:spcPct val="100000"/>
              </a:lnSpc>
              <a:spcBef>
                <a:spcPts val="0"/>
              </a:spcBef>
              <a:spcAft>
                <a:spcPts val="0"/>
              </a:spcAft>
              <a:buNone/>
            </a:pPr>
            <a:r>
              <a:rPr b="0" lang="en-US" sz="1350" strike="noStrike">
                <a:solidFill>
                  <a:srgbClr val="E36C09"/>
                </a:solidFill>
                <a:latin typeface="Comic Sans MS"/>
                <a:ea typeface="Comic Sans MS"/>
                <a:cs typeface="Comic Sans MS"/>
                <a:sym typeface="Comic Sans MS"/>
              </a:rPr>
              <a:t>Agility</a:t>
            </a:r>
            <a:endParaRPr b="0" sz="1350" strike="noStrike">
              <a:latin typeface="Arial"/>
              <a:ea typeface="Arial"/>
              <a:cs typeface="Arial"/>
              <a:sym typeface="Arial"/>
            </a:endParaRPr>
          </a:p>
        </p:txBody>
      </p:sp>
      <p:sp>
        <p:nvSpPr>
          <p:cNvPr id="530" name="Google Shape;530;p80"/>
          <p:cNvSpPr/>
          <p:nvPr/>
        </p:nvSpPr>
        <p:spPr>
          <a:xfrm>
            <a:off x="3304440" y="1468800"/>
            <a:ext cx="1941840" cy="1883160"/>
          </a:xfrm>
          <a:custGeom>
            <a:rect b="b" l="l" r="r" t="t"/>
            <a:pathLst>
              <a:path extrusionOk="0" h="2511425" w="2589529">
                <a:moveTo>
                  <a:pt x="2589149" y="987425"/>
                </a:moveTo>
                <a:lnTo>
                  <a:pt x="2463165" y="966216"/>
                </a:lnTo>
                <a:lnTo>
                  <a:pt x="2474290" y="1002652"/>
                </a:lnTo>
                <a:lnTo>
                  <a:pt x="1357160" y="1344066"/>
                </a:lnTo>
                <a:lnTo>
                  <a:pt x="1348054" y="1332725"/>
                </a:lnTo>
                <a:lnTo>
                  <a:pt x="1331976" y="1323924"/>
                </a:lnTo>
                <a:lnTo>
                  <a:pt x="1334846" y="114350"/>
                </a:lnTo>
                <a:lnTo>
                  <a:pt x="1372870" y="114427"/>
                </a:lnTo>
                <a:lnTo>
                  <a:pt x="1363332" y="95250"/>
                </a:lnTo>
                <a:lnTo>
                  <a:pt x="1315974" y="0"/>
                </a:lnTo>
                <a:lnTo>
                  <a:pt x="1258570" y="114173"/>
                </a:lnTo>
                <a:lnTo>
                  <a:pt x="1296746" y="114261"/>
                </a:lnTo>
                <a:lnTo>
                  <a:pt x="1293888" y="1323035"/>
                </a:lnTo>
                <a:lnTo>
                  <a:pt x="1284643" y="1325816"/>
                </a:lnTo>
                <a:lnTo>
                  <a:pt x="1267561" y="1339570"/>
                </a:lnTo>
                <a:lnTo>
                  <a:pt x="1265961" y="1342491"/>
                </a:lnTo>
                <a:lnTo>
                  <a:pt x="114782" y="985685"/>
                </a:lnTo>
                <a:lnTo>
                  <a:pt x="116522" y="980059"/>
                </a:lnTo>
                <a:lnTo>
                  <a:pt x="126111" y="949198"/>
                </a:lnTo>
                <a:lnTo>
                  <a:pt x="0" y="970026"/>
                </a:lnTo>
                <a:lnTo>
                  <a:pt x="92202" y="1058418"/>
                </a:lnTo>
                <a:lnTo>
                  <a:pt x="103505" y="1022019"/>
                </a:lnTo>
                <a:lnTo>
                  <a:pt x="1254671" y="1378826"/>
                </a:lnTo>
                <a:lnTo>
                  <a:pt x="1254340" y="1382090"/>
                </a:lnTo>
                <a:lnTo>
                  <a:pt x="1260665" y="1403057"/>
                </a:lnTo>
                <a:lnTo>
                  <a:pt x="1265110" y="1408595"/>
                </a:lnTo>
                <a:lnTo>
                  <a:pt x="580720" y="2406485"/>
                </a:lnTo>
                <a:lnTo>
                  <a:pt x="549275" y="2384933"/>
                </a:lnTo>
                <a:lnTo>
                  <a:pt x="531749" y="2511425"/>
                </a:lnTo>
                <a:lnTo>
                  <a:pt x="643636" y="2449576"/>
                </a:lnTo>
                <a:lnTo>
                  <a:pt x="635101" y="2443734"/>
                </a:lnTo>
                <a:lnTo>
                  <a:pt x="612127" y="2427998"/>
                </a:lnTo>
                <a:lnTo>
                  <a:pt x="1295908" y="1431201"/>
                </a:lnTo>
                <a:lnTo>
                  <a:pt x="1316926" y="1433296"/>
                </a:lnTo>
                <a:lnTo>
                  <a:pt x="1325333" y="1430756"/>
                </a:lnTo>
                <a:lnTo>
                  <a:pt x="2020709" y="2423972"/>
                </a:lnTo>
                <a:lnTo>
                  <a:pt x="1989455" y="2445893"/>
                </a:lnTo>
                <a:lnTo>
                  <a:pt x="2101850" y="2506726"/>
                </a:lnTo>
                <a:lnTo>
                  <a:pt x="2091855" y="2439543"/>
                </a:lnTo>
                <a:lnTo>
                  <a:pt x="2083054" y="2380234"/>
                </a:lnTo>
                <a:lnTo>
                  <a:pt x="2051913" y="2402078"/>
                </a:lnTo>
                <a:lnTo>
                  <a:pt x="1356995" y="1409522"/>
                </a:lnTo>
                <a:lnTo>
                  <a:pt x="1365186" y="1394587"/>
                </a:lnTo>
                <a:lnTo>
                  <a:pt x="1365885" y="1393317"/>
                </a:lnTo>
                <a:lnTo>
                  <a:pt x="1367116" y="1380896"/>
                </a:lnTo>
                <a:lnTo>
                  <a:pt x="2485428" y="1039114"/>
                </a:lnTo>
                <a:lnTo>
                  <a:pt x="2496566" y="1075563"/>
                </a:lnTo>
                <a:lnTo>
                  <a:pt x="2579001" y="997077"/>
                </a:lnTo>
                <a:lnTo>
                  <a:pt x="2589149" y="987425"/>
                </a:lnTo>
                <a:close/>
              </a:path>
            </a:pathLst>
          </a:custGeom>
          <a:solidFill>
            <a:srgbClr val="1F487C"/>
          </a:solidFill>
          <a:ln>
            <a:noFill/>
          </a:ln>
        </p:spPr>
      </p:sp>
      <p:sp>
        <p:nvSpPr>
          <p:cNvPr id="531" name="Google Shape;531;p80"/>
          <p:cNvSpPr/>
          <p:nvPr/>
        </p:nvSpPr>
        <p:spPr>
          <a:xfrm>
            <a:off x="806400" y="1755360"/>
            <a:ext cx="1710720" cy="861840"/>
          </a:xfrm>
          <a:prstGeom prst="rect">
            <a:avLst/>
          </a:prstGeom>
          <a:noFill/>
          <a:ln>
            <a:noFill/>
          </a:ln>
        </p:spPr>
        <p:txBody>
          <a:bodyPr anchorCtr="0" anchor="t" bIns="0" lIns="0" spcFirstLastPara="1" rIns="0" wrap="square" tIns="9000">
            <a:noAutofit/>
          </a:bodyPr>
          <a:lstStyle/>
          <a:p>
            <a:pPr indent="0" lvl="0" marL="0" marR="0" rtl="0" algn="l">
              <a:lnSpc>
                <a:spcPct val="100000"/>
              </a:lnSpc>
              <a:spcBef>
                <a:spcPts val="0"/>
              </a:spcBef>
              <a:spcAft>
                <a:spcPts val="0"/>
              </a:spcAft>
              <a:buNone/>
            </a:pPr>
            <a:r>
              <a:rPr b="0" lang="en-US" sz="1400" strike="noStrike">
                <a:solidFill>
                  <a:srgbClr val="7F7F7F"/>
                </a:solidFill>
                <a:latin typeface="Calibri"/>
                <a:ea typeface="Calibri"/>
                <a:cs typeface="Calibri"/>
                <a:sym typeface="Calibri"/>
              </a:rPr>
              <a:t>The time between customer requesting the product or service  and getting it</a:t>
            </a:r>
            <a:endParaRPr b="0" sz="1400" strike="noStrike">
              <a:latin typeface="Arial"/>
              <a:ea typeface="Arial"/>
              <a:cs typeface="Arial"/>
              <a:sym typeface="Arial"/>
            </a:endParaRPr>
          </a:p>
        </p:txBody>
      </p:sp>
      <p:sp>
        <p:nvSpPr>
          <p:cNvPr id="532" name="Google Shape;532;p80"/>
          <p:cNvSpPr/>
          <p:nvPr/>
        </p:nvSpPr>
        <p:spPr>
          <a:xfrm>
            <a:off x="2754360" y="3371400"/>
            <a:ext cx="1396800" cy="215280"/>
          </a:xfrm>
          <a:prstGeom prst="rect">
            <a:avLst/>
          </a:prstGeom>
          <a:noFill/>
          <a:ln>
            <a:noFill/>
          </a:ln>
        </p:spPr>
        <p:txBody>
          <a:bodyPr anchorCtr="0" anchor="t" bIns="0" lIns="0" spcFirstLastPara="1" rIns="0" wrap="square" tIns="9350">
            <a:noAutofit/>
          </a:bodyPr>
          <a:lstStyle/>
          <a:p>
            <a:pPr indent="0" lvl="0" marL="117360" marR="0" rtl="0" algn="ctr">
              <a:lnSpc>
                <a:spcPct val="100000"/>
              </a:lnSpc>
              <a:spcBef>
                <a:spcPts val="0"/>
              </a:spcBef>
              <a:spcAft>
                <a:spcPts val="0"/>
              </a:spcAft>
              <a:buNone/>
            </a:pPr>
            <a:r>
              <a:rPr b="0" lang="en-US" sz="1350" strike="noStrike">
                <a:solidFill>
                  <a:srgbClr val="E36C09"/>
                </a:solidFill>
                <a:latin typeface="Comic Sans MS"/>
                <a:ea typeface="Comic Sans MS"/>
                <a:cs typeface="Comic Sans MS"/>
                <a:sym typeface="Comic Sans MS"/>
              </a:rPr>
              <a:t>Flexibility</a:t>
            </a:r>
            <a:endParaRPr b="0" sz="1350" strike="noStrike">
              <a:latin typeface="Arial"/>
              <a:ea typeface="Arial"/>
              <a:cs typeface="Arial"/>
              <a:sym typeface="Arial"/>
            </a:endParaRPr>
          </a:p>
        </p:txBody>
      </p:sp>
      <p:sp>
        <p:nvSpPr>
          <p:cNvPr id="533" name="Google Shape;533;p80"/>
          <p:cNvSpPr txBox="1"/>
          <p:nvPr/>
        </p:nvSpPr>
        <p:spPr>
          <a:xfrm>
            <a:off x="457200" y="544680"/>
            <a:ext cx="8229240" cy="868320"/>
          </a:xfrm>
          <a:prstGeom prst="rect">
            <a:avLst/>
          </a:prstGeom>
          <a:noFill/>
          <a:ln>
            <a:noFill/>
          </a:ln>
        </p:spPr>
        <p:txBody>
          <a:bodyPr anchorCtr="0" anchor="t" bIns="0" lIns="0" spcFirstLastPara="1" rIns="0" wrap="square" tIns="9350">
            <a:noAutofit/>
          </a:bodyPr>
          <a:lstStyle/>
          <a:p>
            <a:pPr indent="0" lvl="0" marL="9360" marR="0" rtl="0" algn="l">
              <a:lnSpc>
                <a:spcPct val="100000"/>
              </a:lnSpc>
              <a:spcBef>
                <a:spcPts val="0"/>
              </a:spcBef>
              <a:spcAft>
                <a:spcPts val="0"/>
              </a:spcAft>
              <a:buNone/>
            </a:pPr>
            <a:r>
              <a:rPr b="1" lang="en-US" sz="2400" strike="noStrike">
                <a:solidFill>
                  <a:srgbClr val="000000"/>
                </a:solidFill>
                <a:latin typeface="Arial"/>
                <a:ea typeface="Arial"/>
                <a:cs typeface="Arial"/>
                <a:sym typeface="Arial"/>
              </a:rPr>
              <a:t>Step 4 – Define the 5 Key Measures</a:t>
            </a:r>
            <a:endParaRPr b="0" sz="2400" strike="noStrike">
              <a:solidFill>
                <a:srgbClr val="000000"/>
              </a:solidFill>
              <a:latin typeface="Arial"/>
              <a:ea typeface="Arial"/>
              <a:cs typeface="Arial"/>
              <a:sym typeface="Arial"/>
            </a:endParaRPr>
          </a:p>
        </p:txBody>
      </p:sp>
      <p:sp>
        <p:nvSpPr>
          <p:cNvPr id="534" name="Google Shape;534;p80"/>
          <p:cNvSpPr/>
          <p:nvPr/>
        </p:nvSpPr>
        <p:spPr>
          <a:xfrm>
            <a:off x="1492200" y="3641040"/>
            <a:ext cx="2287440" cy="7311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lang="en-US" sz="1400" strike="noStrike">
                <a:solidFill>
                  <a:srgbClr val="7F7F7F"/>
                </a:solidFill>
                <a:latin typeface="Calibri"/>
                <a:ea typeface="Calibri"/>
                <a:cs typeface="Calibri"/>
                <a:sym typeface="Calibri"/>
              </a:rPr>
              <a:t>How quickly the product or service can be adapted to changing customer needs</a:t>
            </a:r>
            <a:endParaRPr b="0" sz="1400" strike="noStrike">
              <a:latin typeface="Arial"/>
              <a:ea typeface="Arial"/>
              <a:cs typeface="Arial"/>
              <a:sym typeface="Arial"/>
            </a:endParaRPr>
          </a:p>
        </p:txBody>
      </p:sp>
      <p:sp>
        <p:nvSpPr>
          <p:cNvPr id="535" name="Google Shape;535;p80"/>
          <p:cNvSpPr/>
          <p:nvPr/>
        </p:nvSpPr>
        <p:spPr>
          <a:xfrm>
            <a:off x="4816800" y="1036800"/>
            <a:ext cx="2201760" cy="648720"/>
          </a:xfrm>
          <a:prstGeom prst="rect">
            <a:avLst/>
          </a:prstGeom>
          <a:noFill/>
          <a:ln>
            <a:noFill/>
          </a:ln>
        </p:spPr>
        <p:txBody>
          <a:bodyPr anchorCtr="0" anchor="t" bIns="0" lIns="0" spcFirstLastPara="1" rIns="0" wrap="square" tIns="9000">
            <a:noAutofit/>
          </a:bodyPr>
          <a:lstStyle/>
          <a:p>
            <a:pPr indent="0" lvl="0" marL="0" marR="0" rtl="0" algn="l">
              <a:lnSpc>
                <a:spcPct val="100000"/>
              </a:lnSpc>
              <a:spcBef>
                <a:spcPts val="0"/>
              </a:spcBef>
              <a:spcAft>
                <a:spcPts val="0"/>
              </a:spcAft>
              <a:buNone/>
            </a:pPr>
            <a:r>
              <a:rPr b="0" lang="en-US" sz="1400" strike="noStrike">
                <a:solidFill>
                  <a:srgbClr val="7F7F7F"/>
                </a:solidFill>
                <a:latin typeface="Calibri"/>
                <a:ea typeface="Calibri"/>
                <a:cs typeface="Calibri"/>
                <a:sym typeface="Calibri"/>
              </a:rPr>
              <a:t>How the product or service  conforms to specifications and complies with controls </a:t>
            </a:r>
            <a:endParaRPr b="0" sz="1400" strike="noStrike">
              <a:latin typeface="Arial"/>
              <a:ea typeface="Arial"/>
              <a:cs typeface="Arial"/>
              <a:sym typeface="Arial"/>
            </a:endParaRPr>
          </a:p>
        </p:txBody>
      </p:sp>
      <p:sp>
        <p:nvSpPr>
          <p:cNvPr id="536" name="Google Shape;536;p80"/>
          <p:cNvSpPr/>
          <p:nvPr/>
        </p:nvSpPr>
        <p:spPr>
          <a:xfrm>
            <a:off x="6097680" y="2277720"/>
            <a:ext cx="1710720" cy="648720"/>
          </a:xfrm>
          <a:prstGeom prst="rect">
            <a:avLst/>
          </a:prstGeom>
          <a:noFill/>
          <a:ln>
            <a:noFill/>
          </a:ln>
        </p:spPr>
        <p:txBody>
          <a:bodyPr anchorCtr="0" anchor="t" bIns="0" lIns="0" spcFirstLastPara="1" rIns="0" wrap="square" tIns="9000">
            <a:noAutofit/>
          </a:bodyPr>
          <a:lstStyle/>
          <a:p>
            <a:pPr indent="0" lvl="0" marL="0" marR="0" rtl="0" algn="l">
              <a:lnSpc>
                <a:spcPct val="100000"/>
              </a:lnSpc>
              <a:spcBef>
                <a:spcPts val="0"/>
              </a:spcBef>
              <a:spcAft>
                <a:spcPts val="0"/>
              </a:spcAft>
              <a:buNone/>
            </a:pPr>
            <a:r>
              <a:rPr b="0" lang="en-US" sz="1400" strike="noStrike">
                <a:solidFill>
                  <a:srgbClr val="7F7F7F"/>
                </a:solidFill>
                <a:latin typeface="Calibri"/>
                <a:ea typeface="Calibri"/>
                <a:cs typeface="Calibri"/>
                <a:sym typeface="Calibri"/>
              </a:rPr>
              <a:t>Cost of making the  product or operating  the service</a:t>
            </a:r>
            <a:endParaRPr b="0" sz="1400" strike="noStrike">
              <a:latin typeface="Arial"/>
              <a:ea typeface="Arial"/>
              <a:cs typeface="Arial"/>
              <a:sym typeface="Arial"/>
            </a:endParaRPr>
          </a:p>
        </p:txBody>
      </p:sp>
      <p:sp>
        <p:nvSpPr>
          <p:cNvPr id="537" name="Google Shape;537;p80"/>
          <p:cNvSpPr/>
          <p:nvPr/>
        </p:nvSpPr>
        <p:spPr>
          <a:xfrm>
            <a:off x="5553720" y="3639240"/>
            <a:ext cx="1710720" cy="648720"/>
          </a:xfrm>
          <a:prstGeom prst="rect">
            <a:avLst/>
          </a:prstGeom>
          <a:noFill/>
          <a:ln>
            <a:noFill/>
          </a:ln>
        </p:spPr>
        <p:txBody>
          <a:bodyPr anchorCtr="0" anchor="t" bIns="0" lIns="0" spcFirstLastPara="1" rIns="0" wrap="square" tIns="9000">
            <a:noAutofit/>
          </a:bodyPr>
          <a:lstStyle/>
          <a:p>
            <a:pPr indent="0" lvl="0" marL="0" marR="0" rtl="0" algn="l">
              <a:lnSpc>
                <a:spcPct val="100000"/>
              </a:lnSpc>
              <a:spcBef>
                <a:spcPts val="0"/>
              </a:spcBef>
              <a:spcAft>
                <a:spcPts val="0"/>
              </a:spcAft>
              <a:buNone/>
            </a:pPr>
            <a:r>
              <a:rPr b="0" lang="en-US" sz="1400" strike="noStrike">
                <a:solidFill>
                  <a:srgbClr val="7F7F7F"/>
                </a:solidFill>
                <a:latin typeface="Calibri"/>
                <a:ea typeface="Calibri"/>
                <a:cs typeface="Calibri"/>
                <a:sym typeface="Calibri"/>
              </a:rPr>
              <a:t>How reliably the product or service is  provided</a:t>
            </a:r>
            <a:endParaRPr b="0" sz="1400" strike="noStrike">
              <a:latin typeface="Arial"/>
              <a:ea typeface="Arial"/>
              <a:cs typeface="Arial"/>
              <a:sym typeface="Arial"/>
            </a:endParaRPr>
          </a:p>
        </p:txBody>
      </p:sp>
      <p:sp>
        <p:nvSpPr>
          <p:cNvPr id="538" name="Google Shape;538;p80"/>
          <p:cNvSpPr/>
          <p:nvPr/>
        </p:nvSpPr>
        <p:spPr>
          <a:xfrm>
            <a:off x="5279400" y="2045160"/>
            <a:ext cx="1129320" cy="215280"/>
          </a:xfrm>
          <a:prstGeom prst="rect">
            <a:avLst/>
          </a:prstGeom>
          <a:noFill/>
          <a:ln>
            <a:noFill/>
          </a:ln>
        </p:spPr>
        <p:txBody>
          <a:bodyPr anchorCtr="0" anchor="t" bIns="0" lIns="0" spcFirstLastPara="1" rIns="0" wrap="square" tIns="9350">
            <a:noAutofit/>
          </a:bodyPr>
          <a:lstStyle/>
          <a:p>
            <a:pPr indent="0" lvl="0" marL="9360" marR="0" rtl="0" algn="l">
              <a:lnSpc>
                <a:spcPct val="100000"/>
              </a:lnSpc>
              <a:spcBef>
                <a:spcPts val="0"/>
              </a:spcBef>
              <a:spcAft>
                <a:spcPts val="0"/>
              </a:spcAft>
              <a:buNone/>
            </a:pPr>
            <a:r>
              <a:rPr b="0" lang="en-US" sz="1350" strike="noStrike">
                <a:solidFill>
                  <a:srgbClr val="E36C09"/>
                </a:solidFill>
                <a:latin typeface="Comic Sans MS"/>
                <a:ea typeface="Comic Sans MS"/>
                <a:cs typeface="Comic Sans MS"/>
                <a:sym typeface="Comic Sans MS"/>
              </a:rPr>
              <a:t>Affordability</a:t>
            </a:r>
            <a:endParaRPr b="0" sz="1350" strike="noStrike">
              <a:latin typeface="Arial"/>
              <a:ea typeface="Arial"/>
              <a:cs typeface="Arial"/>
              <a:sym typeface="Arial"/>
            </a:endParaRPr>
          </a:p>
        </p:txBody>
      </p:sp>
      <p:sp>
        <p:nvSpPr>
          <p:cNvPr id="539" name="Google Shape;539;p80"/>
          <p:cNvSpPr/>
          <p:nvPr/>
        </p:nvSpPr>
        <p:spPr>
          <a:xfrm>
            <a:off x="4805280" y="3387240"/>
            <a:ext cx="1129320" cy="215280"/>
          </a:xfrm>
          <a:prstGeom prst="rect">
            <a:avLst/>
          </a:prstGeom>
          <a:noFill/>
          <a:ln>
            <a:noFill/>
          </a:ln>
        </p:spPr>
        <p:txBody>
          <a:bodyPr anchorCtr="0" anchor="t" bIns="0" lIns="0" spcFirstLastPara="1" rIns="0" wrap="square" tIns="9350">
            <a:noAutofit/>
          </a:bodyPr>
          <a:lstStyle/>
          <a:p>
            <a:pPr indent="0" lvl="0" marL="9360" marR="0" rtl="0" algn="l">
              <a:lnSpc>
                <a:spcPct val="100000"/>
              </a:lnSpc>
              <a:spcBef>
                <a:spcPts val="0"/>
              </a:spcBef>
              <a:spcAft>
                <a:spcPts val="0"/>
              </a:spcAft>
              <a:buNone/>
            </a:pPr>
            <a:r>
              <a:rPr b="0" lang="en-US" sz="1350" strike="noStrike">
                <a:solidFill>
                  <a:srgbClr val="E36C09"/>
                </a:solidFill>
                <a:latin typeface="Comic Sans MS"/>
                <a:ea typeface="Comic Sans MS"/>
                <a:cs typeface="Comic Sans MS"/>
                <a:sym typeface="Comic Sans MS"/>
              </a:rPr>
              <a:t>Dependability</a:t>
            </a:r>
            <a:endParaRPr b="0" sz="1350" strike="noStrike">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81"/>
          <p:cNvSpPr txBox="1"/>
          <p:nvPr/>
        </p:nvSpPr>
        <p:spPr>
          <a:xfrm>
            <a:off x="457200" y="544680"/>
            <a:ext cx="8229240" cy="868320"/>
          </a:xfrm>
          <a:prstGeom prst="rect">
            <a:avLst/>
          </a:prstGeom>
          <a:noFill/>
          <a:ln>
            <a:noFill/>
          </a:ln>
        </p:spPr>
        <p:txBody>
          <a:bodyPr anchorCtr="0" anchor="t" bIns="0" lIns="0" spcFirstLastPara="1" rIns="0" wrap="square" tIns="9350">
            <a:noAutofit/>
          </a:bodyPr>
          <a:lstStyle/>
          <a:p>
            <a:pPr indent="0" lvl="0" marL="9360" marR="0" rtl="0" algn="l">
              <a:lnSpc>
                <a:spcPct val="100000"/>
              </a:lnSpc>
              <a:spcBef>
                <a:spcPts val="0"/>
              </a:spcBef>
              <a:spcAft>
                <a:spcPts val="0"/>
              </a:spcAft>
              <a:buNone/>
            </a:pPr>
            <a:r>
              <a:rPr b="1" lang="en-US" sz="2400" strike="noStrike">
                <a:solidFill>
                  <a:srgbClr val="000000"/>
                </a:solidFill>
                <a:latin typeface="Arial"/>
                <a:ea typeface="Arial"/>
                <a:cs typeface="Arial"/>
                <a:sym typeface="Arial"/>
              </a:rPr>
              <a:t>Step 5 - Setting Performance Objectives</a:t>
            </a:r>
            <a:endParaRPr b="0" sz="2400" strike="noStrike">
              <a:solidFill>
                <a:srgbClr val="000000"/>
              </a:solidFill>
              <a:latin typeface="Arial"/>
              <a:ea typeface="Arial"/>
              <a:cs typeface="Arial"/>
              <a:sym typeface="Arial"/>
            </a:endParaRPr>
          </a:p>
        </p:txBody>
      </p:sp>
      <p:sp>
        <p:nvSpPr>
          <p:cNvPr id="545" name="Google Shape;545;p81"/>
          <p:cNvSpPr/>
          <p:nvPr/>
        </p:nvSpPr>
        <p:spPr>
          <a:xfrm>
            <a:off x="516600" y="1014120"/>
            <a:ext cx="7836840" cy="420840"/>
          </a:xfrm>
          <a:prstGeom prst="rect">
            <a:avLst/>
          </a:prstGeom>
          <a:noFill/>
          <a:ln>
            <a:noFill/>
          </a:ln>
        </p:spPr>
        <p:txBody>
          <a:bodyPr anchorCtr="0" anchor="t" bIns="0" lIns="0" spcFirstLastPara="1" rIns="0" wrap="square" tIns="9350">
            <a:noAutofit/>
          </a:bodyPr>
          <a:lstStyle/>
          <a:p>
            <a:pPr indent="0" lvl="0" marL="9360" marR="0" rtl="0" algn="l">
              <a:lnSpc>
                <a:spcPct val="100000"/>
              </a:lnSpc>
              <a:spcBef>
                <a:spcPts val="0"/>
              </a:spcBef>
              <a:spcAft>
                <a:spcPts val="0"/>
              </a:spcAft>
              <a:buNone/>
            </a:pPr>
            <a:r>
              <a:rPr b="0" lang="en-US" sz="1350" strike="noStrike">
                <a:solidFill>
                  <a:srgbClr val="1F487C"/>
                </a:solidFill>
                <a:latin typeface="Calibri"/>
                <a:ea typeface="Calibri"/>
                <a:cs typeface="Calibri"/>
                <a:sym typeface="Calibri"/>
              </a:rPr>
              <a:t>Start out with achievable goals and gradually raise the bar as you stabilize the new processes, technologies, and operating model across your “mini” supply chain.</a:t>
            </a:r>
            <a:endParaRPr b="0" sz="1350" strike="noStrike">
              <a:latin typeface="Arial"/>
              <a:ea typeface="Arial"/>
              <a:cs typeface="Arial"/>
              <a:sym typeface="Arial"/>
            </a:endParaRPr>
          </a:p>
        </p:txBody>
      </p:sp>
      <p:sp>
        <p:nvSpPr>
          <p:cNvPr id="546" name="Google Shape;546;p81"/>
          <p:cNvSpPr/>
          <p:nvPr/>
        </p:nvSpPr>
        <p:spPr>
          <a:xfrm>
            <a:off x="339840" y="2056320"/>
            <a:ext cx="1498320" cy="33732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lang="en-US" sz="1600" strike="noStrike">
                <a:solidFill>
                  <a:srgbClr val="E06666"/>
                </a:solidFill>
                <a:latin typeface="Arial"/>
                <a:ea typeface="Arial"/>
                <a:cs typeface="Arial"/>
                <a:sym typeface="Arial"/>
              </a:rPr>
              <a:t>Example ⇒</a:t>
            </a:r>
            <a:endParaRPr b="0" sz="1600" strike="noStrike">
              <a:latin typeface="Arial"/>
              <a:ea typeface="Arial"/>
              <a:cs typeface="Arial"/>
              <a:sym typeface="Arial"/>
            </a:endParaRPr>
          </a:p>
        </p:txBody>
      </p:sp>
      <p:graphicFrame>
        <p:nvGraphicFramePr>
          <p:cNvPr id="547" name="Google Shape;547;p81"/>
          <p:cNvGraphicFramePr/>
          <p:nvPr/>
        </p:nvGraphicFramePr>
        <p:xfrm>
          <a:off x="1934640" y="1738440"/>
          <a:ext cx="3000000" cy="3000000"/>
        </p:xfrm>
        <a:graphic>
          <a:graphicData uri="http://schemas.openxmlformats.org/drawingml/2006/table">
            <a:tbl>
              <a:tblPr>
                <a:noFill/>
                <a:tableStyleId>{E34AD780-778F-4BAB-B470-55AEC7FC2E41}</a:tableStyleId>
              </a:tblPr>
              <a:tblGrid>
                <a:gridCol w="866150"/>
                <a:gridCol w="1652050"/>
                <a:gridCol w="1668250"/>
                <a:gridCol w="513000"/>
                <a:gridCol w="545400"/>
                <a:gridCol w="1258550"/>
              </a:tblGrid>
              <a:tr h="236150">
                <a:tc gridSpan="6">
                  <a:txBody>
                    <a:bodyPr/>
                    <a:lstStyle/>
                    <a:p>
                      <a:pPr indent="0" lvl="0" marL="0" marR="0" rtl="0" algn="ctr">
                        <a:lnSpc>
                          <a:spcPct val="100000"/>
                        </a:lnSpc>
                        <a:spcBef>
                          <a:spcPts val="0"/>
                        </a:spcBef>
                        <a:spcAft>
                          <a:spcPts val="0"/>
                        </a:spcAft>
                        <a:buNone/>
                      </a:pPr>
                      <a:r>
                        <a:rPr b="1" lang="en-US" sz="1100" u="none" cap="none" strike="noStrike">
                          <a:solidFill>
                            <a:srgbClr val="000000"/>
                          </a:solidFill>
                          <a:latin typeface="Calibri"/>
                          <a:ea typeface="Calibri"/>
                          <a:cs typeface="Calibri"/>
                          <a:sym typeface="Calibri"/>
                        </a:rPr>
                        <a:t>Service Level Expectations</a:t>
                      </a:r>
                      <a:endParaRPr b="0" sz="1100" u="none" cap="none" strike="noStrike">
                        <a:latin typeface="Arial"/>
                        <a:ea typeface="Arial"/>
                        <a:cs typeface="Arial"/>
                        <a:sym typeface="Arial"/>
                      </a:endParaRPr>
                    </a:p>
                  </a:txBody>
                  <a:tcPr marT="45725" marB="45725" marR="34200" marL="34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FBFBF"/>
                    </a:solidFill>
                  </a:tcPr>
                </a:tc>
                <a:tc hMerge="1"/>
                <a:tc hMerge="1"/>
                <a:tc hMerge="1"/>
                <a:tc hMerge="1"/>
                <a:tc hMerge="1"/>
              </a:tr>
              <a:tr h="221050">
                <a:tc gridSpan="6">
                  <a:txBody>
                    <a:bodyPr/>
                    <a:lstStyle/>
                    <a:p>
                      <a:pPr indent="0" lvl="0" marL="0" marR="0" rtl="0" algn="ctr">
                        <a:lnSpc>
                          <a:spcPct val="100000"/>
                        </a:lnSpc>
                        <a:spcBef>
                          <a:spcPts val="0"/>
                        </a:spcBef>
                        <a:spcAft>
                          <a:spcPts val="0"/>
                        </a:spcAft>
                        <a:buNone/>
                      </a:pPr>
                      <a:r>
                        <a:rPr b="1" lang="en-US" sz="1000" u="none" cap="none" strike="noStrike">
                          <a:solidFill>
                            <a:srgbClr val="FFFFFF"/>
                          </a:solidFill>
                          <a:latin typeface="Calibri"/>
                          <a:ea typeface="Calibri"/>
                          <a:cs typeface="Calibri"/>
                          <a:sym typeface="Calibri"/>
                        </a:rPr>
                        <a:t>Service Provider (Policy Management)</a:t>
                      </a:r>
                      <a:endParaRPr b="0" sz="1000" u="none" cap="none" strike="noStrike">
                        <a:latin typeface="Arial"/>
                        <a:ea typeface="Arial"/>
                        <a:cs typeface="Arial"/>
                        <a:sym typeface="Arial"/>
                      </a:endParaRPr>
                    </a:p>
                  </a:txBody>
                  <a:tcPr marT="45725" marB="45725" marR="34200" marL="34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FBFBF"/>
                    </a:solidFill>
                  </a:tcPr>
                </a:tc>
                <a:tc hMerge="1"/>
                <a:tc hMerge="1"/>
                <a:tc hMerge="1"/>
                <a:tc hMerge="1"/>
                <a:tc hMerge="1"/>
              </a:tr>
              <a:tr h="312125">
                <a:tc>
                  <a:txBody>
                    <a:bodyPr/>
                    <a:lstStyle/>
                    <a:p>
                      <a:pPr indent="0" lvl="0" marL="0" marR="0" rtl="0" algn="ctr">
                        <a:lnSpc>
                          <a:spcPct val="100000"/>
                        </a:lnSpc>
                        <a:spcBef>
                          <a:spcPts val="0"/>
                        </a:spcBef>
                        <a:spcAft>
                          <a:spcPts val="0"/>
                        </a:spcAft>
                        <a:buNone/>
                      </a:pPr>
                      <a:r>
                        <a:rPr b="1" lang="en-US" sz="800" u="none" cap="none" strike="noStrike">
                          <a:solidFill>
                            <a:srgbClr val="000000"/>
                          </a:solidFill>
                          <a:latin typeface="Calibri"/>
                          <a:ea typeface="Calibri"/>
                          <a:cs typeface="Calibri"/>
                          <a:sym typeface="Calibri"/>
                        </a:rPr>
                        <a:t>Service</a:t>
                      </a:r>
                      <a:endParaRPr b="0" sz="800" u="none" cap="none" strike="noStrike">
                        <a:latin typeface="Arial"/>
                        <a:ea typeface="Arial"/>
                        <a:cs typeface="Arial"/>
                        <a:sym typeface="Arial"/>
                      </a:endParaRPr>
                    </a:p>
                  </a:txBody>
                  <a:tcPr marT="45725" marB="45725" marR="34200" marL="34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None/>
                      </a:pPr>
                      <a:r>
                        <a:rPr b="1" lang="en-US" sz="800" u="none" cap="none" strike="noStrike">
                          <a:solidFill>
                            <a:srgbClr val="000000"/>
                          </a:solidFill>
                          <a:latin typeface="Calibri"/>
                          <a:ea typeface="Calibri"/>
                          <a:cs typeface="Calibri"/>
                          <a:sym typeface="Calibri"/>
                        </a:rPr>
                        <a:t>Process</a:t>
                      </a:r>
                      <a:endParaRPr b="0" sz="800" u="none" cap="none" strike="noStrike">
                        <a:latin typeface="Arial"/>
                        <a:ea typeface="Arial"/>
                        <a:cs typeface="Arial"/>
                        <a:sym typeface="Arial"/>
                      </a:endParaRPr>
                    </a:p>
                  </a:txBody>
                  <a:tcPr marT="45725" marB="45725" marR="34200" marL="34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None/>
                      </a:pPr>
                      <a:r>
                        <a:rPr b="1" lang="en-US" sz="800" u="none" cap="none" strike="noStrike">
                          <a:solidFill>
                            <a:srgbClr val="000000"/>
                          </a:solidFill>
                          <a:latin typeface="Calibri"/>
                          <a:ea typeface="Calibri"/>
                          <a:cs typeface="Calibri"/>
                          <a:sym typeface="Calibri"/>
                        </a:rPr>
                        <a:t>Expectations</a:t>
                      </a:r>
                      <a:endParaRPr b="0" sz="800" u="none" cap="none" strike="noStrike">
                        <a:latin typeface="Arial"/>
                        <a:ea typeface="Arial"/>
                        <a:cs typeface="Arial"/>
                        <a:sym typeface="Arial"/>
                      </a:endParaRPr>
                    </a:p>
                  </a:txBody>
                  <a:tcPr marT="45725" marB="45725" marR="34200" marL="34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None/>
                      </a:pPr>
                      <a:r>
                        <a:rPr b="1" lang="en-US" sz="800" u="none" cap="none" strike="noStrike">
                          <a:solidFill>
                            <a:srgbClr val="000000"/>
                          </a:solidFill>
                          <a:latin typeface="Calibri"/>
                          <a:ea typeface="Calibri"/>
                          <a:cs typeface="Calibri"/>
                          <a:sym typeface="Calibri"/>
                        </a:rPr>
                        <a:t>ETC</a:t>
                      </a:r>
                      <a:endParaRPr b="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lang="en-US" sz="800" u="none" cap="none" strike="noStrike">
                          <a:solidFill>
                            <a:srgbClr val="000000"/>
                          </a:solidFill>
                          <a:latin typeface="Calibri"/>
                          <a:ea typeface="Calibri"/>
                          <a:cs typeface="Calibri"/>
                          <a:sym typeface="Calibri"/>
                        </a:rPr>
                        <a:t>(Days)</a:t>
                      </a:r>
                      <a:endParaRPr b="0" sz="800" u="none" cap="none" strike="noStrike">
                        <a:latin typeface="Arial"/>
                        <a:ea typeface="Arial"/>
                        <a:cs typeface="Arial"/>
                        <a:sym typeface="Arial"/>
                      </a:endParaRPr>
                    </a:p>
                  </a:txBody>
                  <a:tcPr marT="45725" marB="45725" marR="34200" marL="34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None/>
                      </a:pPr>
                      <a:r>
                        <a:rPr b="1" lang="en-US" sz="800" u="none" cap="none" strike="noStrike">
                          <a:solidFill>
                            <a:srgbClr val="000000"/>
                          </a:solidFill>
                          <a:latin typeface="Calibri"/>
                          <a:ea typeface="Calibri"/>
                          <a:cs typeface="Calibri"/>
                          <a:sym typeface="Calibri"/>
                        </a:rPr>
                        <a:t>Quality</a:t>
                      </a:r>
                      <a:endParaRPr b="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lang="en-US" sz="800" u="none" cap="none" strike="noStrike">
                          <a:solidFill>
                            <a:srgbClr val="000000"/>
                          </a:solidFill>
                          <a:latin typeface="Calibri"/>
                          <a:ea typeface="Calibri"/>
                          <a:cs typeface="Calibri"/>
                          <a:sym typeface="Calibri"/>
                        </a:rPr>
                        <a:t>(# Defects)</a:t>
                      </a:r>
                      <a:endParaRPr b="0" sz="800" u="none" cap="none" strike="noStrike">
                        <a:latin typeface="Arial"/>
                        <a:ea typeface="Arial"/>
                        <a:cs typeface="Arial"/>
                        <a:sym typeface="Arial"/>
                      </a:endParaRPr>
                    </a:p>
                  </a:txBody>
                  <a:tcPr marT="45725" marB="45725" marR="34200" marL="34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None/>
                      </a:pPr>
                      <a:r>
                        <a:rPr b="1" lang="en-US" sz="800" u="none" cap="none" strike="noStrike">
                          <a:solidFill>
                            <a:srgbClr val="000000"/>
                          </a:solidFill>
                          <a:latin typeface="Calibri"/>
                          <a:ea typeface="Calibri"/>
                          <a:cs typeface="Calibri"/>
                          <a:sym typeface="Calibri"/>
                        </a:rPr>
                        <a:t>Performance</a:t>
                      </a:r>
                      <a:endParaRPr b="0" sz="800" u="none" cap="none" strike="noStrike">
                        <a:latin typeface="Arial"/>
                        <a:ea typeface="Arial"/>
                        <a:cs typeface="Arial"/>
                        <a:sym typeface="Arial"/>
                      </a:endParaRPr>
                    </a:p>
                  </a:txBody>
                  <a:tcPr marT="45725" marB="45725" marR="34200" marL="34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FBFBF"/>
                    </a:solidFill>
                  </a:tcPr>
                </a:tc>
              </a:tr>
              <a:tr h="798850">
                <a:tc>
                  <a:txBody>
                    <a:bodyPr/>
                    <a:lstStyle/>
                    <a:p>
                      <a:pPr indent="0" lvl="0" marL="0" marR="0" rtl="0" algn="l">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Policy Definition Management</a:t>
                      </a:r>
                      <a:endParaRPr b="0" sz="800" u="none" cap="none" strike="noStrike">
                        <a:latin typeface="Arial"/>
                        <a:ea typeface="Arial"/>
                        <a:cs typeface="Arial"/>
                        <a:sym typeface="Arial"/>
                      </a:endParaRPr>
                    </a:p>
                  </a:txBody>
                  <a:tcPr marT="45725" marB="45725" marR="34200" marL="34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Define Policy Needs (Privacy, Security, Legal, Risk, sGDM)</a:t>
                      </a:r>
                      <a:endParaRPr b="0" sz="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Define Persona Profiles &amp; Needs (DT)</a:t>
                      </a:r>
                      <a:endParaRPr b="0" sz="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Define Control Patterns</a:t>
                      </a:r>
                      <a:endParaRPr b="0" sz="800" u="none" cap="none" strike="noStrike">
                        <a:latin typeface="Arial"/>
                        <a:ea typeface="Arial"/>
                        <a:cs typeface="Arial"/>
                        <a:sym typeface="Arial"/>
                      </a:endParaRPr>
                    </a:p>
                  </a:txBody>
                  <a:tcPr marT="45725" marB="45725" marR="34200" marL="34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Policy needs documented and approved </a:t>
                      </a:r>
                      <a:endParaRPr b="0" sz="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Policy control patterns documented</a:t>
                      </a:r>
                      <a:endParaRPr b="0" sz="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Persona Profiles documented and X-Ref against Policy controls to assess impact</a:t>
                      </a:r>
                      <a:endParaRPr b="0" sz="800" u="none" cap="none" strike="noStrike">
                        <a:latin typeface="Arial"/>
                        <a:ea typeface="Arial"/>
                        <a:cs typeface="Arial"/>
                        <a:sym typeface="Arial"/>
                      </a:endParaRPr>
                    </a:p>
                  </a:txBody>
                  <a:tcPr marT="45725" marB="45725" marR="34200" marL="34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45</a:t>
                      </a:r>
                      <a:endParaRPr b="0" sz="800" u="none" cap="none" strike="noStrike">
                        <a:latin typeface="Arial"/>
                        <a:ea typeface="Arial"/>
                        <a:cs typeface="Arial"/>
                        <a:sym typeface="Arial"/>
                      </a:endParaRPr>
                    </a:p>
                  </a:txBody>
                  <a:tcPr marT="45725" marB="45725" marR="34200" marL="34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3</a:t>
                      </a:r>
                      <a:endParaRPr b="0" sz="800" u="none" cap="none" strike="noStrike">
                        <a:latin typeface="Arial"/>
                        <a:ea typeface="Arial"/>
                        <a:cs typeface="Arial"/>
                        <a:sym typeface="Arial"/>
                      </a:endParaRPr>
                    </a:p>
                  </a:txBody>
                  <a:tcPr marT="45725" marB="45725" marR="34200" marL="34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75% (2022 – Q1)</a:t>
                      </a:r>
                      <a:endParaRPr b="0" sz="800" u="none" cap="none" strike="noStrike">
                        <a:latin typeface="Arial"/>
                        <a:ea typeface="Arial"/>
                        <a:cs typeface="Arial"/>
                        <a:sym typeface="Arial"/>
                      </a:endParaRPr>
                    </a:p>
                  </a:txBody>
                  <a:tcPr marT="45725" marB="45725" marR="34200" marL="34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r>
              <a:tr h="190450">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30</a:t>
                      </a:r>
                      <a:endParaRPr b="0" sz="800" u="none" cap="none" strike="noStrike">
                        <a:latin typeface="Arial"/>
                        <a:ea typeface="Arial"/>
                        <a:cs typeface="Arial"/>
                        <a:sym typeface="Arial"/>
                      </a:endParaRPr>
                    </a:p>
                  </a:txBody>
                  <a:tcPr marT="45725" marB="45725" marR="34200" marL="34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3</a:t>
                      </a:r>
                      <a:endParaRPr b="0" sz="800" u="none" cap="none" strike="noStrike">
                        <a:latin typeface="Arial"/>
                        <a:ea typeface="Arial"/>
                        <a:cs typeface="Arial"/>
                        <a:sym typeface="Arial"/>
                      </a:endParaRPr>
                    </a:p>
                  </a:txBody>
                  <a:tcPr marT="45725" marB="45725" marR="34200" marL="34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75% (2022 – Q1)</a:t>
                      </a:r>
                      <a:endParaRPr b="0" sz="800" u="none" cap="none" strike="noStrike">
                        <a:latin typeface="Arial"/>
                        <a:ea typeface="Arial"/>
                        <a:cs typeface="Arial"/>
                        <a:sym typeface="Arial"/>
                      </a:endParaRPr>
                    </a:p>
                  </a:txBody>
                  <a:tcPr marT="45725" marB="45725" marR="34200" marL="34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r>
              <a:tr h="190450">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20</a:t>
                      </a:r>
                      <a:endParaRPr b="0" sz="800" u="none" cap="none" strike="noStrike">
                        <a:latin typeface="Arial"/>
                        <a:ea typeface="Arial"/>
                        <a:cs typeface="Arial"/>
                        <a:sym typeface="Arial"/>
                      </a:endParaRPr>
                    </a:p>
                  </a:txBody>
                  <a:tcPr marT="45725" marB="45725" marR="34200" marL="34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2</a:t>
                      </a:r>
                      <a:endParaRPr b="0" sz="800" u="none" cap="none" strike="noStrike">
                        <a:latin typeface="Arial"/>
                        <a:ea typeface="Arial"/>
                        <a:cs typeface="Arial"/>
                        <a:sym typeface="Arial"/>
                      </a:endParaRPr>
                    </a:p>
                  </a:txBody>
                  <a:tcPr marT="45725" marB="45725" marR="34200" marL="34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en-US" sz="800" u="none" cap="none" strike="noStrike">
                          <a:solidFill>
                            <a:srgbClr val="000000"/>
                          </a:solidFill>
                          <a:latin typeface="Calibri"/>
                          <a:ea typeface="Calibri"/>
                          <a:cs typeface="Calibri"/>
                          <a:sym typeface="Calibri"/>
                        </a:rPr>
                        <a:t>85% (2022 – Q3)</a:t>
                      </a:r>
                      <a:endParaRPr b="0" sz="800" u="none" cap="none" strike="noStrike">
                        <a:latin typeface="Arial"/>
                        <a:ea typeface="Arial"/>
                        <a:cs typeface="Arial"/>
                        <a:sym typeface="Arial"/>
                      </a:endParaRPr>
                    </a:p>
                  </a:txBody>
                  <a:tcPr marT="45725" marB="45725" marR="34200" marL="34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