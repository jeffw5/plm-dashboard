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4" r:id="rId3"/>
    <p:sldMasterId id="2147483685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5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6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6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7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idx="1"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2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2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2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"/>
          <p:cNvSpPr txBox="1"/>
          <p:nvPr>
            <p:ph idx="1"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5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5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6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6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6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7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9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9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9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9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9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9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9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415440" y="593280"/>
            <a:ext cx="1136052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415440" y="1536480"/>
            <a:ext cx="11360520" cy="455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11296440" y="621756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7" name="Google Shape;117;p27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8" name="Google Shape;118;p27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2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0"/>
          <p:cNvSpPr/>
          <p:nvPr/>
        </p:nvSpPr>
        <p:spPr>
          <a:xfrm>
            <a:off x="646920" y="640080"/>
            <a:ext cx="10919880" cy="557748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C8CACA"/>
            </a:solidFill>
            <a:prstDash val="solid"/>
            <a:miter lim="8000"/>
            <a:headEnd len="sm" w="sm" type="none"/>
            <a:tailEnd len="sm" w="sm" type="none"/>
          </a:ln>
          <a:effectLst>
            <a:outerShdw dir="5400000" dist="1908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0"/>
          <p:cNvSpPr/>
          <p:nvPr/>
        </p:nvSpPr>
        <p:spPr>
          <a:xfrm>
            <a:off x="968040" y="960120"/>
            <a:ext cx="10277640" cy="49374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0"/>
          <p:cNvSpPr txBox="1"/>
          <p:nvPr/>
        </p:nvSpPr>
        <p:spPr>
          <a:xfrm>
            <a:off x="1523880" y="1376280"/>
            <a:ext cx="9143640" cy="2521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 Driven</a:t>
            </a:r>
            <a:br>
              <a:rPr b="0" i="0" lang="en-US" sz="1800" u="none" cap="none" strike="noStrike"/>
            </a:br>
            <a:r>
              <a:rPr b="0" i="0" lang="en-US" sz="7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Services Management</a:t>
            </a:r>
            <a:endParaRPr b="0" i="0" sz="7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0"/>
          <p:cNvSpPr txBox="1"/>
          <p:nvPr/>
        </p:nvSpPr>
        <p:spPr>
          <a:xfrm>
            <a:off x="1523880" y="4617720"/>
            <a:ext cx="9143640" cy="943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Extending Integration &amp; DAG’s Operational Model using KGs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0"/>
          <p:cNvSpPr/>
          <p:nvPr/>
        </p:nvSpPr>
        <p:spPr>
          <a:xfrm>
            <a:off x="3352680" y="4479120"/>
            <a:ext cx="548604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7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9" name="Google Shape;179;p40"/>
          <p:cNvSpPr/>
          <p:nvPr/>
        </p:nvSpPr>
        <p:spPr>
          <a:xfrm>
            <a:off x="646920" y="640080"/>
            <a:ext cx="1515960" cy="1030320"/>
          </a:xfrm>
          <a:prstGeom prst="diagStripe">
            <a:avLst>
              <a:gd fmla="val 1773" name="adj"/>
            </a:avLst>
          </a:prstGeom>
          <a:solidFill>
            <a:srgbClr val="FFC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0"/>
          <p:cNvSpPr/>
          <p:nvPr/>
        </p:nvSpPr>
        <p:spPr>
          <a:xfrm rot="-1802400">
            <a:off x="580320" y="729000"/>
            <a:ext cx="987120" cy="609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Future State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1"/>
          <p:cNvSpPr/>
          <p:nvPr/>
        </p:nvSpPr>
        <p:spPr>
          <a:xfrm>
            <a:off x="7701480" y="4218480"/>
            <a:ext cx="1425600" cy="1247400"/>
          </a:xfrm>
          <a:prstGeom prst="ellipse">
            <a:avLst/>
          </a:prstGeom>
          <a:gradFill>
            <a:gsLst>
              <a:gs pos="0">
                <a:srgbClr val="B4D4A5"/>
              </a:gs>
              <a:gs pos="100000">
                <a:srgbClr val="A8CD97"/>
              </a:gs>
            </a:gsLst>
            <a:lin ang="5400000" scaled="0"/>
          </a:gradFill>
          <a:ln cap="flat" cmpd="sng" w="9525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Demand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1"/>
          <p:cNvSpPr/>
          <p:nvPr/>
        </p:nvSpPr>
        <p:spPr>
          <a:xfrm>
            <a:off x="1401480" y="961560"/>
            <a:ext cx="1425600" cy="1247400"/>
          </a:xfrm>
          <a:prstGeom prst="ellipse">
            <a:avLst/>
          </a:prstGeom>
          <a:gradFill>
            <a:gsLst>
              <a:gs pos="0">
                <a:srgbClr val="B4D4A5"/>
              </a:gs>
              <a:gs pos="100000">
                <a:srgbClr val="A8CD97"/>
              </a:gs>
            </a:gsLst>
            <a:lin ang="5400000" scaled="0"/>
          </a:gradFill>
          <a:ln cap="flat" cmpd="sng" w="9525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Initiative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1"/>
          <p:cNvSpPr/>
          <p:nvPr/>
        </p:nvSpPr>
        <p:spPr>
          <a:xfrm>
            <a:off x="8352000" y="1349640"/>
            <a:ext cx="1608840" cy="1247400"/>
          </a:xfrm>
          <a:prstGeom prst="ellipse">
            <a:avLst/>
          </a:prstGeom>
          <a:gradFill>
            <a:gsLst>
              <a:gs pos="0">
                <a:srgbClr val="B4D4A5"/>
              </a:gs>
              <a:gs pos="100000">
                <a:srgbClr val="A8CD97"/>
              </a:gs>
            </a:gsLst>
            <a:lin ang="5400000" scaled="0"/>
          </a:gradFill>
          <a:ln cap="flat" cmpd="sng" w="9525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Capability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1"/>
          <p:cNvSpPr/>
          <p:nvPr/>
        </p:nvSpPr>
        <p:spPr>
          <a:xfrm>
            <a:off x="6756120" y="132480"/>
            <a:ext cx="1608840" cy="1247400"/>
          </a:xfrm>
          <a:prstGeom prst="ellipse">
            <a:avLst/>
          </a:prstGeom>
          <a:gradFill>
            <a:gsLst>
              <a:gs pos="0">
                <a:srgbClr val="B4D4A5"/>
              </a:gs>
              <a:gs pos="100000">
                <a:srgbClr val="A8CD97"/>
              </a:gs>
            </a:gsLst>
            <a:lin ang="5400000" scaled="0"/>
          </a:gradFill>
          <a:ln cap="flat" cmpd="sng" w="9525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1"/>
          <p:cNvSpPr/>
          <p:nvPr/>
        </p:nvSpPr>
        <p:spPr>
          <a:xfrm>
            <a:off x="2117160" y="3371400"/>
            <a:ext cx="2136600" cy="1247400"/>
          </a:xfrm>
          <a:prstGeom prst="ellipse">
            <a:avLst/>
          </a:prstGeom>
          <a:gradFill>
            <a:gsLst>
              <a:gs pos="0">
                <a:srgbClr val="B0CAE9"/>
              </a:gs>
              <a:gs pos="100000">
                <a:srgbClr val="A1C1E4"/>
              </a:gs>
            </a:gsLst>
            <a:lin ang="5400000" scaled="0"/>
          </a:gradFill>
          <a:ln cap="flat" cmpd="sng" w="9525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1"/>
          <p:cNvSpPr/>
          <p:nvPr/>
        </p:nvSpPr>
        <p:spPr>
          <a:xfrm>
            <a:off x="1901160" y="5243040"/>
            <a:ext cx="1425600" cy="1247400"/>
          </a:xfrm>
          <a:prstGeom prst="ellipse">
            <a:avLst/>
          </a:prstGeom>
          <a:gradFill>
            <a:gsLst>
              <a:gs pos="0">
                <a:srgbClr val="B0CAE9"/>
              </a:gs>
              <a:gs pos="100000">
                <a:srgbClr val="A1C1E4"/>
              </a:gs>
            </a:gsLst>
            <a:lin ang="5400000" scaled="0"/>
          </a:gradFill>
          <a:ln cap="flat" cmpd="sng" w="9525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1"/>
          <p:cNvSpPr/>
          <p:nvPr/>
        </p:nvSpPr>
        <p:spPr>
          <a:xfrm>
            <a:off x="4138920" y="5014440"/>
            <a:ext cx="1425600" cy="1247400"/>
          </a:xfrm>
          <a:prstGeom prst="ellipse">
            <a:avLst/>
          </a:prstGeom>
          <a:gradFill>
            <a:gsLst>
              <a:gs pos="0">
                <a:srgbClr val="B0CAE9"/>
              </a:gs>
              <a:gs pos="100000">
                <a:srgbClr val="A1C1E4"/>
              </a:gs>
            </a:gsLst>
            <a:lin ang="5400000" scaled="0"/>
          </a:gradFill>
          <a:ln cap="flat" cmpd="sng" w="9525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Story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(Agile)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41"/>
          <p:cNvCxnSpPr/>
          <p:nvPr/>
        </p:nvCxnSpPr>
        <p:spPr>
          <a:xfrm flipH="1">
            <a:off x="3327060" y="5638320"/>
            <a:ext cx="811500" cy="2280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3" name="Google Shape;193;p41"/>
          <p:cNvCxnSpPr/>
          <p:nvPr/>
        </p:nvCxnSpPr>
        <p:spPr>
          <a:xfrm flipH="1">
            <a:off x="4252440" y="3916440"/>
            <a:ext cx="1024800" cy="786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" name="Google Shape;194;p41"/>
          <p:cNvSpPr/>
          <p:nvPr/>
        </p:nvSpPr>
        <p:spPr>
          <a:xfrm>
            <a:off x="5279400" y="3292560"/>
            <a:ext cx="2136600" cy="1247400"/>
          </a:xfrm>
          <a:prstGeom prst="ellipse">
            <a:avLst/>
          </a:prstGeom>
          <a:gradFill>
            <a:gsLst>
              <a:gs pos="0">
                <a:srgbClr val="B0CAE9"/>
              </a:gs>
              <a:gs pos="100000">
                <a:srgbClr val="A1C1E4"/>
              </a:gs>
            </a:gsLst>
            <a:lin ang="5400000" scaled="0"/>
          </a:gradFill>
          <a:ln cap="flat" cmpd="sng" w="9525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Stakeholder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1"/>
          <p:cNvSpPr/>
          <p:nvPr/>
        </p:nvSpPr>
        <p:spPr>
          <a:xfrm>
            <a:off x="3550680" y="2026440"/>
            <a:ext cx="1425600" cy="1247400"/>
          </a:xfrm>
          <a:prstGeom prst="ellipse">
            <a:avLst/>
          </a:prstGeom>
          <a:gradFill>
            <a:gsLst>
              <a:gs pos="0">
                <a:srgbClr val="B0CAE9"/>
              </a:gs>
              <a:gs pos="100000">
                <a:srgbClr val="A1C1E4"/>
              </a:gs>
            </a:gsLst>
            <a:lin ang="5400000" scaled="0"/>
          </a:gradFill>
          <a:ln cap="flat" cmpd="sng" w="9525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41"/>
          <p:cNvCxnSpPr/>
          <p:nvPr/>
        </p:nvCxnSpPr>
        <p:spPr>
          <a:xfrm rot="10800000">
            <a:off x="2827320" y="1585920"/>
            <a:ext cx="931800" cy="623400"/>
          </a:xfrm>
          <a:prstGeom prst="curvedConnector2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" name="Google Shape;197;p41"/>
          <p:cNvCxnSpPr/>
          <p:nvPr/>
        </p:nvCxnSpPr>
        <p:spPr>
          <a:xfrm flipH="1">
            <a:off x="2114760" y="315000"/>
            <a:ext cx="4876800" cy="6462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8" name="Google Shape;198;p41"/>
          <p:cNvCxnSpPr/>
          <p:nvPr/>
        </p:nvCxnSpPr>
        <p:spPr>
          <a:xfrm rot="10800000">
            <a:off x="2618880" y="1144920"/>
            <a:ext cx="1945200" cy="322800"/>
          </a:xfrm>
          <a:prstGeom prst="curvedConnector4">
            <a:avLst>
              <a:gd fmla="val 44631" name="adj1"/>
              <a:gd fmla="val 170718" name="adj2"/>
            </a:avLst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9" name="Google Shape;199;p41"/>
          <p:cNvCxnSpPr/>
          <p:nvPr/>
        </p:nvCxnSpPr>
        <p:spPr>
          <a:xfrm flipH="1" rot="5400000">
            <a:off x="2067540" y="2255100"/>
            <a:ext cx="1161600" cy="10710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" name="Google Shape;200;p41"/>
          <p:cNvCxnSpPr/>
          <p:nvPr/>
        </p:nvCxnSpPr>
        <p:spPr>
          <a:xfrm rot="10800000">
            <a:off x="3939420" y="4436640"/>
            <a:ext cx="910500" cy="5778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" name="Google Shape;201;p41"/>
          <p:cNvCxnSpPr/>
          <p:nvPr/>
        </p:nvCxnSpPr>
        <p:spPr>
          <a:xfrm rot="-5400000">
            <a:off x="2587680" y="4645560"/>
            <a:ext cx="623400" cy="5712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" name="Google Shape;202;p41"/>
          <p:cNvCxnSpPr/>
          <p:nvPr/>
        </p:nvCxnSpPr>
        <p:spPr>
          <a:xfrm rot="5400000">
            <a:off x="5407530" y="4697610"/>
            <a:ext cx="1098000" cy="782700"/>
          </a:xfrm>
          <a:prstGeom prst="curvedConnector2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41"/>
          <p:cNvSpPr/>
          <p:nvPr/>
        </p:nvSpPr>
        <p:spPr>
          <a:xfrm>
            <a:off x="9366120" y="2818080"/>
            <a:ext cx="2136600" cy="1247400"/>
          </a:xfrm>
          <a:prstGeom prst="ellipse">
            <a:avLst/>
          </a:prstGeom>
          <a:gradFill>
            <a:gsLst>
              <a:gs pos="0">
                <a:srgbClr val="B4D4A5"/>
              </a:gs>
              <a:gs pos="100000">
                <a:srgbClr val="A8CD97"/>
              </a:gs>
            </a:gsLst>
            <a:lin ang="5400000" scaled="0"/>
          </a:gradFill>
          <a:ln cap="flat" cmpd="sng" w="9525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(Services)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41"/>
          <p:cNvCxnSpPr/>
          <p:nvPr/>
        </p:nvCxnSpPr>
        <p:spPr>
          <a:xfrm rot="10800000">
            <a:off x="8365380" y="755940"/>
            <a:ext cx="2824500" cy="2244300"/>
          </a:xfrm>
          <a:prstGeom prst="curvedConnector2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5" name="Google Shape;205;p41"/>
          <p:cNvSpPr/>
          <p:nvPr/>
        </p:nvSpPr>
        <p:spPr>
          <a:xfrm>
            <a:off x="4564080" y="843840"/>
            <a:ext cx="1950120" cy="1247400"/>
          </a:xfrm>
          <a:prstGeom prst="ellipse">
            <a:avLst/>
          </a:prstGeom>
          <a:gradFill>
            <a:gsLst>
              <a:gs pos="0">
                <a:srgbClr val="B4D4A5"/>
              </a:gs>
              <a:gs pos="100000">
                <a:srgbClr val="A8CD97"/>
              </a:gs>
            </a:gsLst>
            <a:lin ang="5400000" scaled="0"/>
          </a:gradFill>
          <a:ln cap="flat" cmpd="sng" w="9525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Prioritization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41"/>
          <p:cNvCxnSpPr/>
          <p:nvPr/>
        </p:nvCxnSpPr>
        <p:spPr>
          <a:xfrm flipH="1">
            <a:off x="5537820" y="756000"/>
            <a:ext cx="1216500" cy="87000"/>
          </a:xfrm>
          <a:prstGeom prst="curvedConnector2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" name="Google Shape;207;p41"/>
          <p:cNvCxnSpPr/>
          <p:nvPr/>
        </p:nvCxnSpPr>
        <p:spPr>
          <a:xfrm rot="10800000">
            <a:off x="6514620" y="1467960"/>
            <a:ext cx="2851500" cy="1974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" name="Google Shape;208;p41"/>
          <p:cNvCxnSpPr/>
          <p:nvPr/>
        </p:nvCxnSpPr>
        <p:spPr>
          <a:xfrm flipH="1" rot="5400000">
            <a:off x="9775410" y="2159250"/>
            <a:ext cx="844200" cy="473100"/>
          </a:xfrm>
          <a:prstGeom prst="curvedConnector2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9" name="Google Shape;209;p41"/>
          <p:cNvCxnSpPr/>
          <p:nvPr/>
        </p:nvCxnSpPr>
        <p:spPr>
          <a:xfrm rot="-5400000">
            <a:off x="5998080" y="1730160"/>
            <a:ext cx="1912200" cy="1212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" name="Google Shape;210;p41"/>
          <p:cNvSpPr/>
          <p:nvPr/>
        </p:nvSpPr>
        <p:spPr>
          <a:xfrm>
            <a:off x="2901960" y="536400"/>
            <a:ext cx="1542600" cy="790200"/>
          </a:xfrm>
          <a:prstGeom prst="flowChartAlternateProcess">
            <a:avLst/>
          </a:prstGeom>
          <a:gradFill>
            <a:gsLst>
              <a:gs pos="0">
                <a:srgbClr val="D1D1D1"/>
              </a:gs>
              <a:gs pos="100000">
                <a:srgbClr val="C7C7C7"/>
              </a:gs>
            </a:gsLst>
            <a:lin ang="5400000" scaled="0"/>
          </a:gra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 Creation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41"/>
          <p:cNvCxnSpPr/>
          <p:nvPr/>
        </p:nvCxnSpPr>
        <p:spPr>
          <a:xfrm>
            <a:off x="7103520" y="4357440"/>
            <a:ext cx="598200" cy="484500"/>
          </a:xfrm>
          <a:prstGeom prst="curvedConnector2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" name="Google Shape;212;p41"/>
          <p:cNvSpPr/>
          <p:nvPr/>
        </p:nvSpPr>
        <p:spPr>
          <a:xfrm>
            <a:off x="9366120" y="365400"/>
            <a:ext cx="1542600" cy="790200"/>
          </a:xfrm>
          <a:prstGeom prst="flowChartAlternateProcess">
            <a:avLst/>
          </a:prstGeom>
          <a:gradFill>
            <a:gsLst>
              <a:gs pos="0">
                <a:srgbClr val="D1D1D1"/>
              </a:gs>
              <a:gs pos="100000">
                <a:srgbClr val="C7C7C7"/>
              </a:gs>
            </a:gsLst>
            <a:lin ang="5400000" scaled="0"/>
          </a:gra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 Planning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41"/>
          <p:cNvCxnSpPr/>
          <p:nvPr/>
        </p:nvCxnSpPr>
        <p:spPr>
          <a:xfrm flipH="1">
            <a:off x="3118620" y="4065300"/>
            <a:ext cx="7315800" cy="22416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41"/>
          <p:cNvSpPr/>
          <p:nvPr/>
        </p:nvSpPr>
        <p:spPr>
          <a:xfrm>
            <a:off x="9445680" y="4675680"/>
            <a:ext cx="1542600" cy="790200"/>
          </a:xfrm>
          <a:prstGeom prst="flowChartAlternateProcess">
            <a:avLst/>
          </a:prstGeom>
          <a:gradFill>
            <a:gsLst>
              <a:gs pos="0">
                <a:srgbClr val="D1D1D1"/>
              </a:gs>
              <a:gs pos="100000">
                <a:srgbClr val="C7C7C7"/>
              </a:gs>
            </a:gsLst>
            <a:lin ang="5400000" scaled="0"/>
          </a:gra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 Delivery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1"/>
          <p:cNvSpPr/>
          <p:nvPr/>
        </p:nvSpPr>
        <p:spPr>
          <a:xfrm>
            <a:off x="9059760" y="6093720"/>
            <a:ext cx="2735280" cy="479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Value Planning Model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1"/>
          <p:cNvSpPr/>
          <p:nvPr/>
        </p:nvSpPr>
        <p:spPr>
          <a:xfrm>
            <a:off x="274680" y="2341440"/>
            <a:ext cx="1425600" cy="1247400"/>
          </a:xfrm>
          <a:prstGeom prst="ellipse">
            <a:avLst/>
          </a:prstGeom>
          <a:gradFill>
            <a:gsLst>
              <a:gs pos="0">
                <a:srgbClr val="B0CAE9"/>
              </a:gs>
              <a:gs pos="100000">
                <a:srgbClr val="A1C1E4"/>
              </a:gs>
            </a:gsLst>
            <a:lin ang="5400000" scaled="0"/>
          </a:gradFill>
          <a:ln cap="flat" cmpd="sng" w="9525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41"/>
          <p:cNvCxnSpPr/>
          <p:nvPr/>
        </p:nvCxnSpPr>
        <p:spPr>
          <a:xfrm rot="-5400000">
            <a:off x="816510" y="1756710"/>
            <a:ext cx="755700" cy="413400"/>
          </a:xfrm>
          <a:prstGeom prst="curvedConnector2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" name="Google Shape;218;p41"/>
          <p:cNvCxnSpPr/>
          <p:nvPr/>
        </p:nvCxnSpPr>
        <p:spPr>
          <a:xfrm flipH="1">
            <a:off x="8918760" y="3882960"/>
            <a:ext cx="760200" cy="5178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" name="Google Shape;219;p41"/>
          <p:cNvCxnSpPr/>
          <p:nvPr/>
        </p:nvCxnSpPr>
        <p:spPr>
          <a:xfrm flipH="1" rot="5400000">
            <a:off x="7853100" y="1474620"/>
            <a:ext cx="775800" cy="222000"/>
          </a:xfrm>
          <a:prstGeom prst="curvedConnector2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" name="Google Shape;220;p41"/>
          <p:cNvCxnSpPr/>
          <p:nvPr/>
        </p:nvCxnSpPr>
        <p:spPr>
          <a:xfrm flipH="1" rot="5400000">
            <a:off x="5341680" y="2288160"/>
            <a:ext cx="1200600" cy="8082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1" name="Google Shape;221;p41"/>
          <p:cNvCxnSpPr/>
          <p:nvPr/>
        </p:nvCxnSpPr>
        <p:spPr>
          <a:xfrm>
            <a:off x="987660" y="3589020"/>
            <a:ext cx="1128900" cy="405600"/>
          </a:xfrm>
          <a:prstGeom prst="curvedConnector2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" name="Google Shape;222;p41"/>
          <p:cNvCxnSpPr/>
          <p:nvPr/>
        </p:nvCxnSpPr>
        <p:spPr>
          <a:xfrm flipH="1" rot="-5400000">
            <a:off x="-38640" y="3927720"/>
            <a:ext cx="2460000" cy="1417200"/>
          </a:xfrm>
          <a:prstGeom prst="curvedConnector2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" name="Google Shape;223;p41"/>
          <p:cNvCxnSpPr/>
          <p:nvPr/>
        </p:nvCxnSpPr>
        <p:spPr>
          <a:xfrm flipH="1" rot="5400000">
            <a:off x="4870410" y="2755050"/>
            <a:ext cx="824400" cy="615300"/>
          </a:xfrm>
          <a:prstGeom prst="curvedConnector2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" name="Google Shape;224;p41"/>
          <p:cNvSpPr/>
          <p:nvPr/>
        </p:nvSpPr>
        <p:spPr>
          <a:xfrm>
            <a:off x="614520" y="4366440"/>
            <a:ext cx="1644120" cy="790200"/>
          </a:xfrm>
          <a:prstGeom prst="flowChartAlternateProcess">
            <a:avLst/>
          </a:prstGeom>
          <a:gradFill>
            <a:gsLst>
              <a:gs pos="0">
                <a:srgbClr val="D1D1D1"/>
              </a:gs>
              <a:gs pos="100000">
                <a:srgbClr val="C7C7C7"/>
              </a:gs>
            </a:gsLst>
            <a:lin ang="5400000" scaled="0"/>
          </a:gra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 Measurement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41"/>
          <p:cNvCxnSpPr/>
          <p:nvPr/>
        </p:nvCxnSpPr>
        <p:spPr>
          <a:xfrm flipH="1">
            <a:off x="7471260" y="5466060"/>
            <a:ext cx="943200" cy="464100"/>
          </a:xfrm>
          <a:prstGeom prst="curvedConnector2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" name="Google Shape;226;p41"/>
          <p:cNvSpPr/>
          <p:nvPr/>
        </p:nvSpPr>
        <p:spPr>
          <a:xfrm>
            <a:off x="7153200" y="5767200"/>
            <a:ext cx="317880" cy="32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60000" y="16139"/>
                </a:moveTo>
                <a:lnTo>
                  <a:pt x="60000" y="16139"/>
                </a:lnTo>
                <a:cubicBezTo>
                  <a:pt x="84853" y="16139"/>
                  <a:pt x="105000" y="35776"/>
                  <a:pt x="105000" y="60000"/>
                </a:cubicBezTo>
                <a:cubicBezTo>
                  <a:pt x="105000" y="84224"/>
                  <a:pt x="84853" y="103861"/>
                  <a:pt x="60000" y="103861"/>
                </a:cubicBezTo>
                <a:cubicBezTo>
                  <a:pt x="35147" y="103861"/>
                  <a:pt x="15000" y="84224"/>
                  <a:pt x="15000" y="60000"/>
                </a:cubicBezTo>
                <a:cubicBezTo>
                  <a:pt x="15000" y="35776"/>
                  <a:pt x="35147" y="16139"/>
                  <a:pt x="60000" y="16139"/>
                </a:cubicBezTo>
                <a:close/>
                <a:moveTo>
                  <a:pt x="60000" y="16139"/>
                </a:moveTo>
                <a:lnTo>
                  <a:pt x="60000" y="16139"/>
                </a:lnTo>
                <a:cubicBezTo>
                  <a:pt x="84853" y="16139"/>
                  <a:pt x="105000" y="35776"/>
                  <a:pt x="105000" y="60000"/>
                </a:cubicBezTo>
                <a:cubicBezTo>
                  <a:pt x="105000" y="84224"/>
                  <a:pt x="84853" y="103861"/>
                  <a:pt x="60000" y="103861"/>
                </a:cubicBezTo>
                <a:cubicBezTo>
                  <a:pt x="35147" y="103861"/>
                  <a:pt x="15000" y="84224"/>
                  <a:pt x="15000" y="60000"/>
                </a:cubicBezTo>
                <a:cubicBezTo>
                  <a:pt x="15000" y="35776"/>
                  <a:pt x="35147" y="16139"/>
                  <a:pt x="60000" y="16139"/>
                </a:cubicBezTo>
                <a:close/>
                <a:moveTo>
                  <a:pt x="60000" y="18880"/>
                </a:moveTo>
                <a:cubicBezTo>
                  <a:pt x="64660" y="18880"/>
                  <a:pt x="68438" y="22562"/>
                  <a:pt x="68438" y="27104"/>
                </a:cubicBezTo>
                <a:cubicBezTo>
                  <a:pt x="68438" y="31646"/>
                  <a:pt x="64660" y="35328"/>
                  <a:pt x="60000" y="35328"/>
                </a:cubicBezTo>
                <a:cubicBezTo>
                  <a:pt x="55340" y="35328"/>
                  <a:pt x="51563" y="31646"/>
                  <a:pt x="51563" y="27104"/>
                </a:cubicBezTo>
                <a:cubicBezTo>
                  <a:pt x="51563" y="22562"/>
                  <a:pt x="55340" y="18880"/>
                  <a:pt x="60000" y="18880"/>
                </a:cubicBezTo>
                <a:moveTo>
                  <a:pt x="43125" y="43552"/>
                </a:moveTo>
                <a:lnTo>
                  <a:pt x="43125" y="49035"/>
                </a:lnTo>
                <a:lnTo>
                  <a:pt x="51563" y="49035"/>
                </a:lnTo>
                <a:lnTo>
                  <a:pt x="51563" y="87413"/>
                </a:lnTo>
                <a:lnTo>
                  <a:pt x="43125" y="87413"/>
                </a:lnTo>
                <a:lnTo>
                  <a:pt x="43125" y="92896"/>
                </a:lnTo>
                <a:lnTo>
                  <a:pt x="76875" y="92896"/>
                </a:lnTo>
                <a:lnTo>
                  <a:pt x="76875" y="87413"/>
                </a:lnTo>
                <a:lnTo>
                  <a:pt x="68438" y="87413"/>
                </a:lnTo>
                <a:lnTo>
                  <a:pt x="68438" y="43552"/>
                </a:lnTo>
                <a:close/>
                <a:moveTo>
                  <a:pt x="60000" y="18880"/>
                </a:moveTo>
                <a:cubicBezTo>
                  <a:pt x="64660" y="18880"/>
                  <a:pt x="68438" y="22562"/>
                  <a:pt x="68438" y="27104"/>
                </a:cubicBezTo>
                <a:cubicBezTo>
                  <a:pt x="68438" y="31646"/>
                  <a:pt x="64660" y="35328"/>
                  <a:pt x="60000" y="35328"/>
                </a:cubicBezTo>
                <a:cubicBezTo>
                  <a:pt x="55340" y="35328"/>
                  <a:pt x="51563" y="31646"/>
                  <a:pt x="51563" y="27104"/>
                </a:cubicBezTo>
                <a:cubicBezTo>
                  <a:pt x="51563" y="22562"/>
                  <a:pt x="55340" y="18880"/>
                  <a:pt x="60000" y="18880"/>
                </a:cubicBezTo>
                <a:moveTo>
                  <a:pt x="43125" y="43552"/>
                </a:moveTo>
                <a:lnTo>
                  <a:pt x="68438" y="43552"/>
                </a:lnTo>
                <a:lnTo>
                  <a:pt x="68438" y="87413"/>
                </a:lnTo>
                <a:lnTo>
                  <a:pt x="76875" y="87413"/>
                </a:lnTo>
                <a:lnTo>
                  <a:pt x="76875" y="92896"/>
                </a:lnTo>
                <a:lnTo>
                  <a:pt x="43125" y="92896"/>
                </a:lnTo>
                <a:lnTo>
                  <a:pt x="43125" y="87413"/>
                </a:lnTo>
                <a:lnTo>
                  <a:pt x="51563" y="87413"/>
                </a:lnTo>
                <a:lnTo>
                  <a:pt x="51563" y="49035"/>
                </a:lnTo>
                <a:lnTo>
                  <a:pt x="43125" y="49035"/>
                </a:lnTo>
                <a:close/>
                <a:moveTo>
                  <a:pt x="60000" y="16139"/>
                </a:moveTo>
                <a:lnTo>
                  <a:pt x="60000" y="16139"/>
                </a:lnTo>
                <a:cubicBezTo>
                  <a:pt x="84853" y="16139"/>
                  <a:pt x="105000" y="35776"/>
                  <a:pt x="105000" y="60000"/>
                </a:cubicBezTo>
                <a:cubicBezTo>
                  <a:pt x="105000" y="84224"/>
                  <a:pt x="84853" y="103861"/>
                  <a:pt x="60000" y="103861"/>
                </a:cubicBezTo>
                <a:cubicBezTo>
                  <a:pt x="35147" y="103861"/>
                  <a:pt x="15000" y="84224"/>
                  <a:pt x="15000" y="60000"/>
                </a:cubicBezTo>
                <a:cubicBezTo>
                  <a:pt x="15000" y="35776"/>
                  <a:pt x="35147" y="16139"/>
                  <a:pt x="60000" y="16139"/>
                </a:cubicBezTo>
                <a:close/>
                <a:moveTo>
                  <a:pt x="60000" y="18880"/>
                </a:moveTo>
                <a:cubicBezTo>
                  <a:pt x="64660" y="18880"/>
                  <a:pt x="68438" y="22562"/>
                  <a:pt x="68438" y="27104"/>
                </a:cubicBezTo>
                <a:cubicBezTo>
                  <a:pt x="68438" y="31646"/>
                  <a:pt x="64660" y="35328"/>
                  <a:pt x="60000" y="35328"/>
                </a:cubicBezTo>
                <a:cubicBezTo>
                  <a:pt x="55340" y="35328"/>
                  <a:pt x="51563" y="31646"/>
                  <a:pt x="51563" y="27104"/>
                </a:cubicBezTo>
                <a:cubicBezTo>
                  <a:pt x="51563" y="22562"/>
                  <a:pt x="55340" y="18880"/>
                  <a:pt x="60000" y="18880"/>
                </a:cubicBezTo>
                <a:moveTo>
                  <a:pt x="43125" y="43552"/>
                </a:moveTo>
                <a:lnTo>
                  <a:pt x="68438" y="43552"/>
                </a:lnTo>
                <a:lnTo>
                  <a:pt x="68438" y="87413"/>
                </a:lnTo>
                <a:lnTo>
                  <a:pt x="76875" y="87413"/>
                </a:lnTo>
                <a:lnTo>
                  <a:pt x="76875" y="92896"/>
                </a:lnTo>
                <a:lnTo>
                  <a:pt x="43125" y="92896"/>
                </a:lnTo>
                <a:lnTo>
                  <a:pt x="43125" y="87413"/>
                </a:lnTo>
                <a:lnTo>
                  <a:pt x="51563" y="87413"/>
                </a:lnTo>
                <a:lnTo>
                  <a:pt x="51563" y="49035"/>
                </a:lnTo>
                <a:lnTo>
                  <a:pt x="43125" y="49035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FFDC9B"/>
              </a:gs>
              <a:gs pos="100000">
                <a:srgbClr val="FFD68D"/>
              </a:gs>
            </a:gsLst>
            <a:lin ang="5400000" scaled="0"/>
          </a:gradFill>
          <a:ln cap="flat" cmpd="sng" w="9525">
            <a:solidFill>
              <a:srgbClr val="FFC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1"/>
          <p:cNvSpPr/>
          <p:nvPr/>
        </p:nvSpPr>
        <p:spPr>
          <a:xfrm>
            <a:off x="579600" y="1197360"/>
            <a:ext cx="317880" cy="32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60000" y="16139"/>
                </a:moveTo>
                <a:lnTo>
                  <a:pt x="60000" y="16139"/>
                </a:lnTo>
                <a:cubicBezTo>
                  <a:pt x="84853" y="16139"/>
                  <a:pt x="105000" y="35776"/>
                  <a:pt x="105000" y="60000"/>
                </a:cubicBezTo>
                <a:cubicBezTo>
                  <a:pt x="105000" y="84224"/>
                  <a:pt x="84853" y="103861"/>
                  <a:pt x="60000" y="103861"/>
                </a:cubicBezTo>
                <a:cubicBezTo>
                  <a:pt x="35147" y="103861"/>
                  <a:pt x="15000" y="84224"/>
                  <a:pt x="15000" y="60000"/>
                </a:cubicBezTo>
                <a:cubicBezTo>
                  <a:pt x="15000" y="35776"/>
                  <a:pt x="35147" y="16139"/>
                  <a:pt x="60000" y="16139"/>
                </a:cubicBezTo>
                <a:close/>
                <a:moveTo>
                  <a:pt x="60000" y="16139"/>
                </a:moveTo>
                <a:lnTo>
                  <a:pt x="60000" y="16139"/>
                </a:lnTo>
                <a:cubicBezTo>
                  <a:pt x="84853" y="16139"/>
                  <a:pt x="105000" y="35776"/>
                  <a:pt x="105000" y="60000"/>
                </a:cubicBezTo>
                <a:cubicBezTo>
                  <a:pt x="105000" y="84224"/>
                  <a:pt x="84853" y="103861"/>
                  <a:pt x="60000" y="103861"/>
                </a:cubicBezTo>
                <a:cubicBezTo>
                  <a:pt x="35147" y="103861"/>
                  <a:pt x="15000" y="84224"/>
                  <a:pt x="15000" y="60000"/>
                </a:cubicBezTo>
                <a:cubicBezTo>
                  <a:pt x="15000" y="35776"/>
                  <a:pt x="35147" y="16139"/>
                  <a:pt x="60000" y="16139"/>
                </a:cubicBezTo>
                <a:close/>
                <a:moveTo>
                  <a:pt x="60000" y="18880"/>
                </a:moveTo>
                <a:cubicBezTo>
                  <a:pt x="64660" y="18880"/>
                  <a:pt x="68438" y="22562"/>
                  <a:pt x="68438" y="27104"/>
                </a:cubicBezTo>
                <a:cubicBezTo>
                  <a:pt x="68438" y="31646"/>
                  <a:pt x="64660" y="35328"/>
                  <a:pt x="60000" y="35328"/>
                </a:cubicBezTo>
                <a:cubicBezTo>
                  <a:pt x="55340" y="35328"/>
                  <a:pt x="51563" y="31646"/>
                  <a:pt x="51563" y="27104"/>
                </a:cubicBezTo>
                <a:cubicBezTo>
                  <a:pt x="51563" y="22562"/>
                  <a:pt x="55340" y="18880"/>
                  <a:pt x="60000" y="18880"/>
                </a:cubicBezTo>
                <a:moveTo>
                  <a:pt x="43125" y="43552"/>
                </a:moveTo>
                <a:lnTo>
                  <a:pt x="43125" y="49035"/>
                </a:lnTo>
                <a:lnTo>
                  <a:pt x="51563" y="49035"/>
                </a:lnTo>
                <a:lnTo>
                  <a:pt x="51563" y="87413"/>
                </a:lnTo>
                <a:lnTo>
                  <a:pt x="43125" y="87413"/>
                </a:lnTo>
                <a:lnTo>
                  <a:pt x="43125" y="92896"/>
                </a:lnTo>
                <a:lnTo>
                  <a:pt x="76875" y="92896"/>
                </a:lnTo>
                <a:lnTo>
                  <a:pt x="76875" y="87413"/>
                </a:lnTo>
                <a:lnTo>
                  <a:pt x="68438" y="87413"/>
                </a:lnTo>
                <a:lnTo>
                  <a:pt x="68438" y="43552"/>
                </a:lnTo>
                <a:close/>
                <a:moveTo>
                  <a:pt x="60000" y="18880"/>
                </a:moveTo>
                <a:cubicBezTo>
                  <a:pt x="64660" y="18880"/>
                  <a:pt x="68438" y="22562"/>
                  <a:pt x="68438" y="27104"/>
                </a:cubicBezTo>
                <a:cubicBezTo>
                  <a:pt x="68438" y="31646"/>
                  <a:pt x="64660" y="35328"/>
                  <a:pt x="60000" y="35328"/>
                </a:cubicBezTo>
                <a:cubicBezTo>
                  <a:pt x="55340" y="35328"/>
                  <a:pt x="51563" y="31646"/>
                  <a:pt x="51563" y="27104"/>
                </a:cubicBezTo>
                <a:cubicBezTo>
                  <a:pt x="51563" y="22562"/>
                  <a:pt x="55340" y="18880"/>
                  <a:pt x="60000" y="18880"/>
                </a:cubicBezTo>
                <a:moveTo>
                  <a:pt x="43125" y="43552"/>
                </a:moveTo>
                <a:lnTo>
                  <a:pt x="68438" y="43552"/>
                </a:lnTo>
                <a:lnTo>
                  <a:pt x="68438" y="87413"/>
                </a:lnTo>
                <a:lnTo>
                  <a:pt x="76875" y="87413"/>
                </a:lnTo>
                <a:lnTo>
                  <a:pt x="76875" y="92896"/>
                </a:lnTo>
                <a:lnTo>
                  <a:pt x="43125" y="92896"/>
                </a:lnTo>
                <a:lnTo>
                  <a:pt x="43125" y="87413"/>
                </a:lnTo>
                <a:lnTo>
                  <a:pt x="51563" y="87413"/>
                </a:lnTo>
                <a:lnTo>
                  <a:pt x="51563" y="49035"/>
                </a:lnTo>
                <a:lnTo>
                  <a:pt x="43125" y="49035"/>
                </a:lnTo>
                <a:close/>
                <a:moveTo>
                  <a:pt x="60000" y="16139"/>
                </a:moveTo>
                <a:lnTo>
                  <a:pt x="60000" y="16139"/>
                </a:lnTo>
                <a:cubicBezTo>
                  <a:pt x="84853" y="16139"/>
                  <a:pt x="105000" y="35776"/>
                  <a:pt x="105000" y="60000"/>
                </a:cubicBezTo>
                <a:cubicBezTo>
                  <a:pt x="105000" y="84224"/>
                  <a:pt x="84853" y="103861"/>
                  <a:pt x="60000" y="103861"/>
                </a:cubicBezTo>
                <a:cubicBezTo>
                  <a:pt x="35147" y="103861"/>
                  <a:pt x="15000" y="84224"/>
                  <a:pt x="15000" y="60000"/>
                </a:cubicBezTo>
                <a:cubicBezTo>
                  <a:pt x="15000" y="35776"/>
                  <a:pt x="35147" y="16139"/>
                  <a:pt x="60000" y="16139"/>
                </a:cubicBezTo>
                <a:close/>
                <a:moveTo>
                  <a:pt x="60000" y="18880"/>
                </a:moveTo>
                <a:cubicBezTo>
                  <a:pt x="64660" y="18880"/>
                  <a:pt x="68438" y="22562"/>
                  <a:pt x="68438" y="27104"/>
                </a:cubicBezTo>
                <a:cubicBezTo>
                  <a:pt x="68438" y="31646"/>
                  <a:pt x="64660" y="35328"/>
                  <a:pt x="60000" y="35328"/>
                </a:cubicBezTo>
                <a:cubicBezTo>
                  <a:pt x="55340" y="35328"/>
                  <a:pt x="51563" y="31646"/>
                  <a:pt x="51563" y="27104"/>
                </a:cubicBezTo>
                <a:cubicBezTo>
                  <a:pt x="51563" y="22562"/>
                  <a:pt x="55340" y="18880"/>
                  <a:pt x="60000" y="18880"/>
                </a:cubicBezTo>
                <a:moveTo>
                  <a:pt x="43125" y="43552"/>
                </a:moveTo>
                <a:lnTo>
                  <a:pt x="68438" y="43552"/>
                </a:lnTo>
                <a:lnTo>
                  <a:pt x="68438" y="87413"/>
                </a:lnTo>
                <a:lnTo>
                  <a:pt x="76875" y="87413"/>
                </a:lnTo>
                <a:lnTo>
                  <a:pt x="76875" y="92896"/>
                </a:lnTo>
                <a:lnTo>
                  <a:pt x="43125" y="92896"/>
                </a:lnTo>
                <a:lnTo>
                  <a:pt x="43125" y="87413"/>
                </a:lnTo>
                <a:lnTo>
                  <a:pt x="51563" y="87413"/>
                </a:lnTo>
                <a:lnTo>
                  <a:pt x="51563" y="49035"/>
                </a:lnTo>
                <a:lnTo>
                  <a:pt x="43125" y="49035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FFDC9B"/>
              </a:gs>
              <a:gs pos="100000">
                <a:srgbClr val="FFD68D"/>
              </a:gs>
            </a:gsLst>
            <a:lin ang="5400000" scaled="0"/>
          </a:gradFill>
          <a:ln cap="flat" cmpd="sng" w="9525">
            <a:solidFill>
              <a:srgbClr val="FFC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8" name="Google Shape;228;p41"/>
          <p:cNvCxnSpPr/>
          <p:nvPr/>
        </p:nvCxnSpPr>
        <p:spPr>
          <a:xfrm>
            <a:off x="897840" y="1360440"/>
            <a:ext cx="503400" cy="224700"/>
          </a:xfrm>
          <a:prstGeom prst="curvedConnector3">
            <a:avLst>
              <a:gd fmla="val 49976" name="adj1"/>
            </a:avLst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/>
          <p:nvPr/>
        </p:nvSpPr>
        <p:spPr>
          <a:xfrm>
            <a:off x="2008800" y="876600"/>
            <a:ext cx="2072520" cy="365400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FFBDA5"/>
              </a:gs>
              <a:gs pos="100000">
                <a:srgbClr val="FFE4DA"/>
              </a:gs>
            </a:gsLst>
            <a:lin ang="16200000" scaled="0"/>
          </a:gradFill>
          <a:ln cap="flat" cmpd="sng" w="9525">
            <a:solidFill>
              <a:srgbClr val="EC6C00"/>
            </a:solidFill>
            <a:prstDash val="solid"/>
            <a:round/>
            <a:headEnd len="sm" w="sm" type="none"/>
            <a:tailEnd len="sm" w="sm" type="none"/>
          </a:ln>
          <a:effectLst>
            <a:outerShdw dir="5400000" dist="20160">
              <a:srgbClr val="000000">
                <a:alpha val="38039"/>
              </a:srgbClr>
            </a:outerShdw>
          </a:effectLst>
        </p:spPr>
        <p:txBody>
          <a:bodyPr anchorCtr="0" anchor="ctr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Inspect Transmission Tower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2"/>
          <p:cNvSpPr/>
          <p:nvPr/>
        </p:nvSpPr>
        <p:spPr>
          <a:xfrm>
            <a:off x="2008800" y="1358640"/>
            <a:ext cx="2072520" cy="903240"/>
          </a:xfrm>
          <a:prstGeom prst="homePlate">
            <a:avLst>
              <a:gd fmla="val 17438" name="adj"/>
            </a:avLst>
          </a:prstGeom>
          <a:gradFill>
            <a:gsLst>
              <a:gs pos="0">
                <a:srgbClr val="B9FBBF"/>
              </a:gs>
              <a:gs pos="100000">
                <a:srgbClr val="E3FFE6"/>
              </a:gs>
            </a:gsLst>
            <a:lin ang="16200000" scaled="0"/>
          </a:gradFill>
          <a:ln cap="flat" cmpd="sng" w="9525">
            <a:solidFill>
              <a:srgbClr val="00AC3A"/>
            </a:solidFill>
            <a:prstDash val="solid"/>
            <a:round/>
            <a:headEnd len="sm" w="sm" type="none"/>
            <a:tailEnd len="sm" w="sm" type="none"/>
          </a:ln>
          <a:effectLst>
            <a:outerShdw dir="5400000" dist="20160">
              <a:srgbClr val="000000">
                <a:alpha val="38039"/>
              </a:srgbClr>
            </a:outerShdw>
          </a:effectLst>
        </p:spPr>
        <p:txBody>
          <a:bodyPr anchorCtr="0" anchor="t" bIns="60825" lIns="122025" spcFirstLastPara="1" rIns="122025" wrap="square" tIns="60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Tower Inspection (L3)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OPS Maintenance (L2)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OPS Support (L1)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2"/>
          <p:cNvSpPr/>
          <p:nvPr/>
        </p:nvSpPr>
        <p:spPr>
          <a:xfrm>
            <a:off x="2008800" y="2367720"/>
            <a:ext cx="1924560" cy="735120"/>
          </a:xfrm>
          <a:prstGeom prst="rect">
            <a:avLst/>
          </a:prstGeom>
          <a:gradFill>
            <a:gsLst>
              <a:gs pos="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dir="5400000" dist="20160">
              <a:srgbClr val="000000">
                <a:alpha val="38039"/>
              </a:srgbClr>
            </a:outerShdw>
          </a:effectLst>
        </p:spPr>
        <p:txBody>
          <a:bodyPr anchorCtr="0" anchor="t" bIns="60825" lIns="122025" spcFirstLastPara="1" rIns="122025" wrap="square" tIns="60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Asset Ref Model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&amp; Parts Assembly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Issue / Defect 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Stakeholders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2"/>
          <p:cNvSpPr/>
          <p:nvPr/>
        </p:nvSpPr>
        <p:spPr>
          <a:xfrm>
            <a:off x="2008800" y="3203280"/>
            <a:ext cx="1924560" cy="735120"/>
          </a:xfrm>
          <a:prstGeom prst="rect">
            <a:avLst/>
          </a:prstGeom>
          <a:gradFill>
            <a:gsLst>
              <a:gs pos="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dir="5400000" dist="20160">
              <a:srgbClr val="000000">
                <a:alpha val="38039"/>
              </a:srgbClr>
            </a:outerShdw>
          </a:effectLst>
        </p:spPr>
        <p:txBody>
          <a:bodyPr anchorCtr="0" anchor="t" bIns="60825" lIns="122025" spcFirstLastPara="1" rIns="122025" wrap="square" tIns="60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Policy (numerous…)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Maintenance Manuals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/ Task Tickets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 &amp; Projects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2"/>
          <p:cNvSpPr/>
          <p:nvPr/>
        </p:nvSpPr>
        <p:spPr>
          <a:xfrm>
            <a:off x="2008800" y="4038840"/>
            <a:ext cx="1924560" cy="735120"/>
          </a:xfrm>
          <a:prstGeom prst="rect">
            <a:avLst/>
          </a:prstGeom>
          <a:gradFill>
            <a:gsLst>
              <a:gs pos="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dir="5400000" dist="20160">
              <a:srgbClr val="000000">
                <a:alpha val="38039"/>
              </a:srgbClr>
            </a:outerShdw>
          </a:effectLst>
        </p:spPr>
        <p:txBody>
          <a:bodyPr anchorCtr="0" anchor="t" bIns="60825" lIns="122025" spcFirstLastPara="1" rIns="122025" wrap="square" tIns="60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Commitments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Scheduling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Impact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Upsell Opportunities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2"/>
          <p:cNvSpPr/>
          <p:nvPr/>
        </p:nvSpPr>
        <p:spPr>
          <a:xfrm>
            <a:off x="2008800" y="4874400"/>
            <a:ext cx="1924560" cy="735120"/>
          </a:xfrm>
          <a:prstGeom prst="rect">
            <a:avLst/>
          </a:prstGeom>
          <a:gradFill>
            <a:gsLst>
              <a:gs pos="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dir="5400000" dist="20160">
              <a:srgbClr val="000000">
                <a:alpha val="38039"/>
              </a:srgbClr>
            </a:outerShdw>
          </a:effectLst>
        </p:spPr>
        <p:txBody>
          <a:bodyPr anchorCtr="0" anchor="t" bIns="60825" lIns="122025" spcFirstLastPara="1" rIns="122025" wrap="square" tIns="60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Predictive Failure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Repair / Replace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Capacity Optimization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Resource Utilization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2"/>
          <p:cNvSpPr/>
          <p:nvPr/>
        </p:nvSpPr>
        <p:spPr>
          <a:xfrm>
            <a:off x="378000" y="883800"/>
            <a:ext cx="1292040" cy="3654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Value Chain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2"/>
          <p:cNvSpPr/>
          <p:nvPr/>
        </p:nvSpPr>
        <p:spPr>
          <a:xfrm>
            <a:off x="378000" y="1372320"/>
            <a:ext cx="1292040" cy="88992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Capabilities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2"/>
          <p:cNvSpPr/>
          <p:nvPr/>
        </p:nvSpPr>
        <p:spPr>
          <a:xfrm>
            <a:off x="378000" y="2373120"/>
            <a:ext cx="1292040" cy="727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Objects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2"/>
          <p:cNvSpPr/>
          <p:nvPr/>
        </p:nvSpPr>
        <p:spPr>
          <a:xfrm>
            <a:off x="378000" y="3203280"/>
            <a:ext cx="1292040" cy="727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Objects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2"/>
          <p:cNvSpPr/>
          <p:nvPr/>
        </p:nvSpPr>
        <p:spPr>
          <a:xfrm>
            <a:off x="378720" y="4047120"/>
            <a:ext cx="1292040" cy="727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2"/>
          <p:cNvSpPr/>
          <p:nvPr/>
        </p:nvSpPr>
        <p:spPr>
          <a:xfrm>
            <a:off x="379800" y="4874400"/>
            <a:ext cx="1292040" cy="727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2"/>
          <p:cNvSpPr/>
          <p:nvPr/>
        </p:nvSpPr>
        <p:spPr>
          <a:xfrm>
            <a:off x="2008800" y="5702040"/>
            <a:ext cx="1924560" cy="735120"/>
          </a:xfrm>
          <a:prstGeom prst="rect">
            <a:avLst/>
          </a:prstGeom>
          <a:gradFill>
            <a:gsLst>
              <a:gs pos="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dir="5400000" dist="20160">
              <a:srgbClr val="000000">
                <a:alpha val="38039"/>
              </a:srgbClr>
            </a:outerShdw>
          </a:effectLst>
        </p:spPr>
        <p:txBody>
          <a:bodyPr anchorCtr="0" anchor="t" bIns="60825" lIns="122025" spcFirstLastPara="1" rIns="122025" wrap="square" tIns="60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 Main. slot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 Maint. resources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Stakeholder Info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Update Service info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2"/>
          <p:cNvSpPr/>
          <p:nvPr/>
        </p:nvSpPr>
        <p:spPr>
          <a:xfrm>
            <a:off x="379800" y="5702040"/>
            <a:ext cx="1292040" cy="727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Processes &amp; Rules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0280" y="1372320"/>
            <a:ext cx="4590720" cy="358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2"/>
          <p:cNvSpPr/>
          <p:nvPr/>
        </p:nvSpPr>
        <p:spPr>
          <a:xfrm>
            <a:off x="4851360" y="876600"/>
            <a:ext cx="5771520" cy="3654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Impacted Services &amp; Capabilities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2"/>
          <p:cNvSpPr/>
          <p:nvPr/>
        </p:nvSpPr>
        <p:spPr>
          <a:xfrm>
            <a:off x="4757760" y="5118120"/>
            <a:ext cx="1292040" cy="3564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Objects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2"/>
          <p:cNvSpPr/>
          <p:nvPr/>
        </p:nvSpPr>
        <p:spPr>
          <a:xfrm>
            <a:off x="6230520" y="5124240"/>
            <a:ext cx="1292040" cy="3564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Biz Objects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2"/>
          <p:cNvSpPr/>
          <p:nvPr/>
        </p:nvSpPr>
        <p:spPr>
          <a:xfrm>
            <a:off x="7776000" y="5114160"/>
            <a:ext cx="1292040" cy="3564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2"/>
          <p:cNvSpPr/>
          <p:nvPr/>
        </p:nvSpPr>
        <p:spPr>
          <a:xfrm>
            <a:off x="9331200" y="5124240"/>
            <a:ext cx="1292040" cy="3564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2"/>
          <p:cNvSpPr/>
          <p:nvPr/>
        </p:nvSpPr>
        <p:spPr>
          <a:xfrm rot="5400000">
            <a:off x="7413840" y="2547360"/>
            <a:ext cx="647280" cy="6197400"/>
          </a:xfrm>
          <a:prstGeom prst="rightBrace">
            <a:avLst>
              <a:gd fmla="val 20098" name="adj1"/>
              <a:gd fmla="val 51230" name="adj2"/>
            </a:avLst>
          </a:prstGeom>
          <a:noFill/>
          <a:ln cap="flat" cmpd="sng" w="255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  <a:effectLst>
            <a:outerShdw dir="5400000" dist="20160">
              <a:srgbClr val="000000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2"/>
          <p:cNvSpPr/>
          <p:nvPr/>
        </p:nvSpPr>
        <p:spPr>
          <a:xfrm>
            <a:off x="5022720" y="6041160"/>
            <a:ext cx="5335920" cy="292320"/>
          </a:xfrm>
          <a:prstGeom prst="rect">
            <a:avLst/>
          </a:prstGeom>
          <a:solidFill>
            <a:srgbClr val="E6E8E8"/>
          </a:solidFill>
          <a:ln cap="flat" cmpd="sng" w="9525">
            <a:solidFill>
              <a:srgbClr val="D2D4D4"/>
            </a:solidFill>
            <a:prstDash val="solid"/>
            <a:round/>
            <a:headEnd len="sm" w="sm" type="none"/>
            <a:tailEnd len="sm" w="sm" type="none"/>
          </a:ln>
          <a:effectLst>
            <a:outerShdw dir="5400000" dist="20160">
              <a:srgbClr val="000000">
                <a:alpha val="38039"/>
              </a:srgbClr>
            </a:outerShdw>
          </a:effectLst>
        </p:spPr>
        <p:txBody>
          <a:bodyPr anchorCtr="0" anchor="t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Scope of Work for Initiative Planning and Execution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2"/>
          <p:cNvSpPr/>
          <p:nvPr/>
        </p:nvSpPr>
        <p:spPr>
          <a:xfrm>
            <a:off x="10359000" y="2482920"/>
            <a:ext cx="1612440" cy="11106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Mapping impact across Strategy, Operations, &amp; Execution (PPM)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2"/>
          <p:cNvSpPr txBox="1"/>
          <p:nvPr/>
        </p:nvSpPr>
        <p:spPr>
          <a:xfrm>
            <a:off x="378000" y="294120"/>
            <a:ext cx="9448560" cy="39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 Planning Model (Future State)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/>
          <p:nvPr/>
        </p:nvSpPr>
        <p:spPr>
          <a:xfrm>
            <a:off x="649440" y="557640"/>
            <a:ext cx="3505320" cy="1550520"/>
          </a:xfrm>
          <a:prstGeom prst="rect">
            <a:avLst/>
          </a:prstGeom>
          <a:gradFill>
            <a:gsLst>
              <a:gs pos="0">
                <a:srgbClr val="B0D7FF"/>
              </a:gs>
              <a:gs pos="100000">
                <a:srgbClr val="DFF0FF"/>
              </a:gs>
            </a:gsLst>
            <a:lin ang="16200000" scaled="0"/>
          </a:gradFill>
          <a:ln cap="flat" cmpd="sng" w="9525">
            <a:solidFill>
              <a:srgbClr val="0085CE"/>
            </a:solidFill>
            <a:prstDash val="solid"/>
            <a:round/>
            <a:headEnd len="sm" w="sm" type="none"/>
            <a:tailEnd len="sm" w="sm" type="none"/>
          </a:ln>
          <a:effectLst>
            <a:outerShdw dir="5400000" dist="20160">
              <a:srgbClr val="000000">
                <a:alpha val="3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Structures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160" lvl="0" marL="457200" marR="0" rtl="0" algn="l">
              <a:lnSpc>
                <a:spcPct val="8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Ontologies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16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Concepts, Content, Change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16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Context, Relationships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16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Taxonomies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16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Glossary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3"/>
          <p:cNvSpPr/>
          <p:nvPr/>
        </p:nvSpPr>
        <p:spPr>
          <a:xfrm>
            <a:off x="5123520" y="557640"/>
            <a:ext cx="6583680" cy="573912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00669A"/>
            </a:solidFill>
            <a:prstDash val="solid"/>
            <a:round/>
            <a:headEnd len="sm" w="sm" type="none"/>
            <a:tailEnd len="sm" w="sm" type="none"/>
          </a:ln>
          <a:effectLst>
            <a:outerShdw dir="5400000" dist="1908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43"/>
          <p:cNvPicPr preferRelativeResize="0"/>
          <p:nvPr/>
        </p:nvPicPr>
        <p:blipFill rotWithShape="1">
          <a:blip r:embed="rId3">
            <a:alphaModFix/>
          </a:blip>
          <a:srcRect b="1366" l="0" r="0" t="3790"/>
          <a:stretch/>
        </p:blipFill>
        <p:spPr>
          <a:xfrm>
            <a:off x="5405760" y="1200960"/>
            <a:ext cx="6018840" cy="4452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3"/>
          <p:cNvSpPr/>
          <p:nvPr/>
        </p:nvSpPr>
        <p:spPr>
          <a:xfrm>
            <a:off x="5236560" y="5342400"/>
            <a:ext cx="3910680" cy="954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669A"/>
                </a:solidFill>
                <a:latin typeface="Arial"/>
                <a:ea typeface="Arial"/>
                <a:cs typeface="Arial"/>
                <a:sym typeface="Arial"/>
              </a:rPr>
              <a:t>Future goal is to capture and align all content &amp; context while preserving meaning, perspective, and state of change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3"/>
          <p:cNvSpPr/>
          <p:nvPr/>
        </p:nvSpPr>
        <p:spPr>
          <a:xfrm>
            <a:off x="649440" y="2237760"/>
            <a:ext cx="3505320" cy="2129760"/>
          </a:xfrm>
          <a:prstGeom prst="rect">
            <a:avLst/>
          </a:prstGeom>
          <a:gradFill>
            <a:gsLst>
              <a:gs pos="0">
                <a:srgbClr val="B0D7FF"/>
              </a:gs>
              <a:gs pos="100000">
                <a:srgbClr val="DFF0FF"/>
              </a:gs>
            </a:gsLst>
            <a:lin ang="16200000" scaled="0"/>
          </a:gradFill>
          <a:ln cap="flat" cmpd="sng" w="9525">
            <a:solidFill>
              <a:srgbClr val="0085CE"/>
            </a:solidFill>
            <a:prstDash val="solid"/>
            <a:round/>
            <a:headEnd len="sm" w="sm" type="none"/>
            <a:tailEnd len="sm" w="sm" type="none"/>
          </a:ln>
          <a:effectLst>
            <a:outerShdw dir="5400000" dist="20160">
              <a:srgbClr val="000000">
                <a:alpha val="3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0680" lvl="0" marL="457200" marR="0" rtl="0" algn="l">
              <a:lnSpc>
                <a:spcPct val="8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Scenarios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068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068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○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Relationships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068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○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068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○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Lifecycle (change)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068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○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Lineage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068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Semantics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068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Glossaries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3"/>
          <p:cNvSpPr/>
          <p:nvPr/>
        </p:nvSpPr>
        <p:spPr>
          <a:xfrm rot="-5400000">
            <a:off x="-409320" y="1137960"/>
            <a:ext cx="17244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20000"/>
                </a:solidFill>
                <a:latin typeface="Arial"/>
                <a:ea typeface="Arial"/>
                <a:cs typeface="Arial"/>
                <a:sym typeface="Arial"/>
              </a:rPr>
              <a:t>Enterprise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3"/>
          <p:cNvSpPr/>
          <p:nvPr/>
        </p:nvSpPr>
        <p:spPr>
          <a:xfrm rot="-5400000">
            <a:off x="-638280" y="3091680"/>
            <a:ext cx="218232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20000"/>
                </a:solidFill>
                <a:latin typeface="Arial"/>
                <a:ea typeface="Arial"/>
                <a:cs typeface="Arial"/>
                <a:sym typeface="Arial"/>
              </a:rPr>
              <a:t>Domain-Specific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3"/>
          <p:cNvSpPr/>
          <p:nvPr/>
        </p:nvSpPr>
        <p:spPr>
          <a:xfrm>
            <a:off x="4154760" y="1333080"/>
            <a:ext cx="968400" cy="1657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38150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sp>
      <p:sp>
        <p:nvSpPr>
          <p:cNvPr id="269" name="Google Shape;269;p43"/>
          <p:cNvSpPr/>
          <p:nvPr/>
        </p:nvSpPr>
        <p:spPr>
          <a:xfrm flipH="1" rot="10800000">
            <a:off x="4155120" y="3302640"/>
            <a:ext cx="968400" cy="3117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38150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sp>
      <p:sp>
        <p:nvSpPr>
          <p:cNvPr id="270" name="Google Shape;270;p43"/>
          <p:cNvSpPr/>
          <p:nvPr/>
        </p:nvSpPr>
        <p:spPr>
          <a:xfrm>
            <a:off x="637200" y="4490640"/>
            <a:ext cx="3505320" cy="2254320"/>
          </a:xfrm>
          <a:prstGeom prst="rect">
            <a:avLst/>
          </a:prstGeom>
          <a:gradFill>
            <a:gsLst>
              <a:gs pos="0">
                <a:srgbClr val="B0D7FF"/>
              </a:gs>
              <a:gs pos="100000">
                <a:srgbClr val="DFF0FF"/>
              </a:gs>
            </a:gsLst>
            <a:lin ang="16200000" scaled="0"/>
          </a:gradFill>
          <a:ln cap="flat" cmpd="sng" w="9525">
            <a:solidFill>
              <a:srgbClr val="0085CE"/>
            </a:solidFill>
            <a:prstDash val="solid"/>
            <a:round/>
            <a:headEnd len="sm" w="sm" type="none"/>
            <a:tailEnd len="sm" w="sm" type="none"/>
          </a:ln>
          <a:effectLst>
            <a:outerShdw dir="5400000" dist="20160">
              <a:srgbClr val="000000">
                <a:alpha val="3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160" lvl="0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Integration &amp; Sourcing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16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Search (Boolean, NLP)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16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Analytics (Quality, Insights)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16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Visualization (Navigation)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16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Integrity &amp; Security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16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Publishing (APIs, Data Sets)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716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Auditing &amp; Utilization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3"/>
          <p:cNvSpPr/>
          <p:nvPr/>
        </p:nvSpPr>
        <p:spPr>
          <a:xfrm rot="-5400000">
            <a:off x="-519840" y="5416920"/>
            <a:ext cx="192096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2025" spcFirstLastPara="1" rIns="122025" wrap="square" tIns="6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20000"/>
                </a:solidFill>
                <a:latin typeface="Arial"/>
                <a:ea typeface="Arial"/>
                <a:cs typeface="Arial"/>
                <a:sym typeface="Arial"/>
              </a:rPr>
              <a:t>Shared Services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3"/>
          <p:cNvSpPr txBox="1"/>
          <p:nvPr/>
        </p:nvSpPr>
        <p:spPr>
          <a:xfrm>
            <a:off x="681480" y="81720"/>
            <a:ext cx="9448560" cy="39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Governance Framework for Service Delivery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4"/>
          <p:cNvPicPr preferRelativeResize="0"/>
          <p:nvPr/>
        </p:nvPicPr>
        <p:blipFill rotWithShape="1">
          <a:blip r:embed="rId3">
            <a:alphaModFix/>
          </a:blip>
          <a:srcRect b="1366" l="0" r="0" t="3790"/>
          <a:stretch/>
        </p:blipFill>
        <p:spPr>
          <a:xfrm>
            <a:off x="3334680" y="282240"/>
            <a:ext cx="5722560" cy="25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0320" y="3089520"/>
            <a:ext cx="9611280" cy="3638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4"/>
          <p:cNvSpPr/>
          <p:nvPr/>
        </p:nvSpPr>
        <p:spPr>
          <a:xfrm>
            <a:off x="5860800" y="2320200"/>
            <a:ext cx="670320" cy="101952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4"/>
          <p:cNvSpPr/>
          <p:nvPr/>
        </p:nvSpPr>
        <p:spPr>
          <a:xfrm>
            <a:off x="276480" y="1694880"/>
            <a:ext cx="2668320" cy="1143360"/>
          </a:xfrm>
          <a:prstGeom prst="rect">
            <a:avLst/>
          </a:prstGeom>
          <a:solidFill>
            <a:srgbClr val="E6E8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Knowledge Graphs provide a scaffolding that sits atop existing systems. 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00000" y="763200"/>
            <a:ext cx="970560" cy="101916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4"/>
          <p:cNvSpPr/>
          <p:nvPr/>
        </p:nvSpPr>
        <p:spPr>
          <a:xfrm rot="5400000">
            <a:off x="9869400" y="933120"/>
            <a:ext cx="498960" cy="79416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4"/>
          <p:cNvSpPr/>
          <p:nvPr/>
        </p:nvSpPr>
        <p:spPr>
          <a:xfrm>
            <a:off x="0" y="45720"/>
            <a:ext cx="328032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20000"/>
                </a:solidFill>
                <a:latin typeface="Calibri"/>
                <a:ea typeface="Calibri"/>
                <a:cs typeface="Calibri"/>
                <a:sym typeface="Calibri"/>
              </a:rPr>
              <a:t>Organic Solution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20000"/>
                </a:solidFill>
                <a:latin typeface="Calibri"/>
                <a:ea typeface="Calibri"/>
                <a:cs typeface="Calibri"/>
                <a:sym typeface="Calibri"/>
              </a:rPr>
              <a:t>(Simplifying Search, Discovery, &amp; Insights)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/>
          <p:nvPr/>
        </p:nvSpPr>
        <p:spPr>
          <a:xfrm>
            <a:off x="326880" y="408240"/>
            <a:ext cx="5474520" cy="415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20000"/>
                </a:solidFill>
                <a:latin typeface="Calibri"/>
                <a:ea typeface="Calibri"/>
                <a:cs typeface="Calibri"/>
                <a:sym typeface="Calibri"/>
              </a:rPr>
              <a:t>Knowledge-Driven Governance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8880" y="1011240"/>
            <a:ext cx="9460440" cy="5405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5"/>
          <p:cNvSpPr/>
          <p:nvPr/>
        </p:nvSpPr>
        <p:spPr>
          <a:xfrm>
            <a:off x="397800" y="1011240"/>
            <a:ext cx="2630160" cy="3082320"/>
          </a:xfrm>
          <a:prstGeom prst="rect">
            <a:avLst/>
          </a:prstGeom>
          <a:noFill/>
          <a:ln cap="flat" cmpd="sng" w="28425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now we can “link” changes to any artifact (</a:t>
            </a:r>
            <a:r>
              <a:rPr b="1" i="1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doc, code, service, outcome, feature, use case, design specification, SOP</a:t>
            </a:r>
            <a:r>
              <a:rPr b="1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) to any other artifact within IT, across our data, across the business.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Understanding the impact of change is the first step towards managing and responding to change at the speed of business. 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6"/>
          <p:cNvSpPr txBox="1"/>
          <p:nvPr/>
        </p:nvSpPr>
        <p:spPr>
          <a:xfrm>
            <a:off x="415440" y="593280"/>
            <a:ext cx="1136052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Key Benefits of KG adoption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6"/>
          <p:cNvSpPr txBox="1"/>
          <p:nvPr/>
        </p:nvSpPr>
        <p:spPr>
          <a:xfrm>
            <a:off x="415440" y="1536480"/>
            <a:ext cx="11360520" cy="455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-380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Combines Conceptual &amp; Logical Views of data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Preserves enterprise and community perspectives of “truth”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Shifts spend on fixing existing problems so we can solve new ones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Increases adaptability and resiliency for consumers of data &amp; information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unlimited scale to manage volume and complexity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Integrates the lifecycle and operational management (systems, products, services, data, analytics)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a foundation for designing and managing Digital Twins while improving AI and leveraging ML for knowledge capture &amp; consumption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5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Accelerates innovation and cycle time delivery for new products &amp; services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7"/>
          <p:cNvSpPr/>
          <p:nvPr/>
        </p:nvSpPr>
        <p:spPr>
          <a:xfrm>
            <a:off x="0" y="0"/>
            <a:ext cx="2013120" cy="68576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7"/>
          <p:cNvSpPr txBox="1"/>
          <p:nvPr/>
        </p:nvSpPr>
        <p:spPr>
          <a:xfrm>
            <a:off x="640080" y="2074320"/>
            <a:ext cx="2752200" cy="2709000"/>
          </a:xfrm>
          <a:prstGeom prst="rect">
            <a:avLst/>
          </a:prstGeom>
          <a:solidFill>
            <a:srgbClr val="262626"/>
          </a:solidFill>
          <a:ln cap="flat" cmpd="sng" w="1746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Shift from app-centric to </a:t>
            </a:r>
            <a:br>
              <a:rPr b="0" i="0" lang="en-US" sz="1800" u="none" cap="none" strike="noStrike"/>
            </a:br>
            <a:r>
              <a:rPr b="0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data-centric value delivery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47"/>
          <p:cNvGrpSpPr/>
          <p:nvPr/>
        </p:nvGrpSpPr>
        <p:grpSpPr>
          <a:xfrm>
            <a:off x="7230600" y="2647440"/>
            <a:ext cx="4774680" cy="3422160"/>
            <a:chOff x="7230600" y="2647440"/>
            <a:chExt cx="4774680" cy="3422160"/>
          </a:xfrm>
        </p:grpSpPr>
        <p:pic>
          <p:nvPicPr>
            <p:cNvPr id="307" name="Google Shape;307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30600" y="2958480"/>
              <a:ext cx="4774680" cy="3111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53200" y="2647440"/>
              <a:ext cx="320040" cy="310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488160" y="2647440"/>
              <a:ext cx="320040" cy="310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870200" y="2647440"/>
              <a:ext cx="320040" cy="310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1" name="Google Shape;311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32360" y="600480"/>
            <a:ext cx="3903120" cy="243072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7"/>
          <p:cNvSpPr/>
          <p:nvPr/>
        </p:nvSpPr>
        <p:spPr>
          <a:xfrm>
            <a:off x="4717440" y="4622400"/>
            <a:ext cx="2196720" cy="956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Services built  around business need &amp; semantics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7"/>
          <p:cNvSpPr/>
          <p:nvPr/>
        </p:nvSpPr>
        <p:spPr>
          <a:xfrm>
            <a:off x="8449560" y="1213200"/>
            <a:ext cx="3185280" cy="1066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0AD47"/>
                </a:solidFill>
                <a:latin typeface="Arial"/>
                <a:ea typeface="Arial"/>
                <a:cs typeface="Arial"/>
                <a:sym typeface="Arial"/>
              </a:rPr>
              <a:t>Services built around application data using fixed perspectives &amp; semantics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8"/>
          <p:cNvSpPr/>
          <p:nvPr/>
        </p:nvSpPr>
        <p:spPr>
          <a:xfrm>
            <a:off x="673200" y="620280"/>
            <a:ext cx="3747600" cy="5504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0D7FF"/>
              </a:gs>
              <a:gs pos="100000">
                <a:srgbClr val="DFF0FF"/>
              </a:gs>
            </a:gsLst>
            <a:lin ang="16200000" scaled="0"/>
          </a:gradFill>
          <a:ln cap="flat" cmpd="sng" w="9525">
            <a:solidFill>
              <a:srgbClr val="0085CE"/>
            </a:solidFill>
            <a:prstDash val="solid"/>
            <a:round/>
            <a:headEnd len="sm" w="sm" type="none"/>
            <a:tailEnd len="sm" w="sm" type="none"/>
          </a:ln>
          <a:effectLst>
            <a:outerShdw dir="5400000" dist="20160">
              <a:srgbClr val="000000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8"/>
          <p:cNvSpPr txBox="1"/>
          <p:nvPr/>
        </p:nvSpPr>
        <p:spPr>
          <a:xfrm>
            <a:off x="432000" y="557280"/>
            <a:ext cx="3987360" cy="556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 of embracing KGs</a:t>
            </a:r>
            <a:br>
              <a:rPr b="0" i="0" lang="en-US" sz="1800" u="none" cap="none" strike="noStrike"/>
            </a:br>
            <a:br>
              <a:rPr b="0" i="0" lang="en-US" sz="1800" u="none" cap="none" strike="noStrike"/>
            </a:b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4Ds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8"/>
          <p:cNvSpPr/>
          <p:nvPr/>
        </p:nvSpPr>
        <p:spPr>
          <a:xfrm>
            <a:off x="5245560" y="620280"/>
            <a:ext cx="6564960" cy="550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-10000" y="0"/>
                </a:moveTo>
                <a:lnTo>
                  <a:pt x="-10000" y="120000"/>
                </a:lnTo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1" anchor="ctr" bIns="60825" lIns="122025" spcFirstLastPara="1" rIns="122025" wrap="square" tIns="60825">
            <a:noAutofit/>
          </a:bodyPr>
          <a:lstStyle/>
          <a:p>
            <a:pPr indent="-152280" lvl="1" marL="15228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De-Silo</a:t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51920" lvl="2" marL="304920" marR="0" rtl="0" algn="l">
              <a:lnSpc>
                <a:spcPct val="75000"/>
              </a:lnSpc>
              <a:spcBef>
                <a:spcPts val="2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all the relevant sources in a declarative fashion that enables reuse, cross-enterprise scalability, and continuous refinement.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7800" lvl="0" marL="152280" marR="0" rtl="0" algn="l">
              <a:lnSpc>
                <a:spcPct val="75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52280" lvl="1" marL="152280" marR="0" rtl="0" algn="l">
              <a:lnSpc>
                <a:spcPct val="75000"/>
              </a:lnSpc>
              <a:spcBef>
                <a:spcPts val="201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Disambiguate</a:t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51920" lvl="2" marL="304920" marR="0" rtl="0" algn="l">
              <a:lnSpc>
                <a:spcPct val="75000"/>
              </a:lnSpc>
              <a:spcBef>
                <a:spcPts val="2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Disambiguate: Triangulate using set theory and linguistic description logic in addition to statistical methods, enabling precise  entity resolution.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7800" lvl="0" marL="152280" marR="0" rtl="0" algn="l">
              <a:lnSpc>
                <a:spcPct val="75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52280" lvl="1" marL="152280" marR="0" rtl="0" algn="l">
              <a:lnSpc>
                <a:spcPct val="75000"/>
              </a:lnSpc>
              <a:spcBef>
                <a:spcPts val="201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51920" lvl="2" marL="304920" marR="0" rtl="0" algn="l">
              <a:lnSpc>
                <a:spcPct val="75000"/>
              </a:lnSpc>
              <a:spcBef>
                <a:spcPts val="2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Detect: Uncover weaker signals by articulating the most relevant and distant relationships between entities, via richer contextualization.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7800" lvl="0" marL="152280" marR="0" rtl="0" algn="l">
              <a:lnSpc>
                <a:spcPct val="75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52280" lvl="1" marL="152280" marR="0" rtl="0" algn="l">
              <a:lnSpc>
                <a:spcPct val="75000"/>
              </a:lnSpc>
              <a:spcBef>
                <a:spcPts val="201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Discover</a:t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51920" lvl="2" marL="304920" marR="0" rtl="0" algn="l">
              <a:lnSpc>
                <a:spcPct val="75000"/>
              </a:lnSpc>
              <a:spcBef>
                <a:spcPts val="2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Discover: Radically expand the ability to discover insights, moving beyond keywords to concepts.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"/>
          <p:cNvSpPr txBox="1"/>
          <p:nvPr/>
        </p:nvSpPr>
        <p:spPr>
          <a:xfrm>
            <a:off x="368280" y="322200"/>
            <a:ext cx="9448560" cy="39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Towards a Future State of Self Sufficiency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9"/>
          <p:cNvSpPr txBox="1"/>
          <p:nvPr/>
        </p:nvSpPr>
        <p:spPr>
          <a:xfrm>
            <a:off x="11480760" y="8475120"/>
            <a:ext cx="3657240" cy="486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49"/>
          <p:cNvSpPr txBox="1"/>
          <p:nvPr/>
        </p:nvSpPr>
        <p:spPr>
          <a:xfrm>
            <a:off x="368280" y="982800"/>
            <a:ext cx="7291800" cy="52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12600" lvl="0" marL="76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Self sufficient process automation built atop a set of published libraries: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8254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(Activity) Components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8254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Services </a:t>
            </a:r>
            <a:r>
              <a:rPr b="0" i="0" lang="en-US" sz="20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(1)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8254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Integration Services </a:t>
            </a:r>
            <a:r>
              <a:rPr b="0" i="0" lang="en-US" sz="20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(2)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8254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Event Management Services</a:t>
            </a:r>
            <a:r>
              <a:rPr b="0" i="0" lang="en-US" sz="20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(3)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8254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Deployment Services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2" marL="8254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Reporting &amp; Analytic Services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840" lvl="0" marL="8254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6840" lvl="2" marL="93996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AutoNum type="arabicParenR"/>
            </a:pPr>
            <a:r>
              <a:rPr b="0" i="0" lang="en-US" sz="15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Data management, data quality, data transforms, semantic matching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6840" lvl="2" marL="93996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AutoNum type="arabicParenR"/>
            </a:pPr>
            <a:r>
              <a:rPr b="0" i="0" lang="en-US" sz="15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Data and Process integration with loose coupling, highly available, with ability to deliver QoS to address scale &amp; quality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6840" lvl="2" marL="93996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AutoNum type="arabicParenR"/>
            </a:pPr>
            <a:r>
              <a:rPr b="0" i="0" lang="en-US" sz="15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Manually triggered workflow, timed events, and automatically triggered activities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0800" y="1508040"/>
            <a:ext cx="3679560" cy="279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