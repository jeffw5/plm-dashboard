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tooling request, but the real subject is the architecture it accelerates. The keel is our deterministic semantic foundation; the North Star is where it takes the enterprise. Claude.ai and RDF Studio are design-time tools for engineering both, under the same governance we apply to human work. The HR Advisory 360 agent is the bounded proving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ask so the board knows what it is deciding. This does not change who owns production, platforms or standards. Emphasize the third card: an accelerator inside existing controls, not a new path to production, and a clean stop if the pilot misses the criteria we agree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keel metaphor: a keel does not steer, it resists being pushed sideways so the vessel can hold a heading. Our materialized ontologies play that role. The hull, our virtualized mediation layer, displaces the drift so consumers stay dry. Governance is the ballast: without it, a bigger ship just capsizes faster. Claude accelerates building every part of this vessel, but it never replaces the ballast.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is the heading, not the destination. Four outcomes follow from it; the fourth comes from the KDA case: knowledge treated as a business-owned asset. The horizons show sequencing: H1, the HR Advisory 360 pilot, is the only commitment in this request; H2 and H3 are the direction the keel lets us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KDA case, Figure 1. The business decides what is true and so sets the heading. Enterprise Analytics turns intent and rules into governed models: it builds the keel. IT Services receives governed models and runs them: it sails the ship. Architecture provides guardrails at every step, not only a gate at the end. Answers and refinement requests flow back to the business, closing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bottom to top: Workday, ServiceNow and the lakehouse keep exposing data through the REST endpoints and SQL views IT already manages. The virtualized graph layer binds them to canonical IRIs in the materialized graphs, rather than building another physical warehouse. Consumers such as the HR Advisory 360 agent only ever see canonical semantics. The design-time workbench feeds drafts into both layers; governance is the gate every change passes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RDF Studio is where the keel is laid out and inspected; Claude.ai drafts the parts. Example of Claude's role: an analyst states "Senior Advisory roles require Grade 12+ and jurisdictional licensing in California"; Claude drafts the matching SHACL shape; the shape is validated in RDF Studio with logged results for every test scenario. Claude also reads external frameworks such as O*NET alongside corporate job descriptions and proposes alignment candidates for analysts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KDA case, Figure 2. The business starts the change, Enterprise Analytics shapes and validates it, Architecture engages twice (up front to set standards, and before promotion to confirm conformance), and IT promotes and runs it through processes it already owns. Everything left of the dashed line happens in the design-time sandbox; nothing crosses into IT-owned production without CI/CD, regression testing and peer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hull doing its job. Step 2 is the only step Claude owns, and it produces a draft. Steps 3 and 4 are deterministic gates and human judgment. The consumer-facing contract, the canonical IRIs, never moves. In the pilot we test this directly by simulating quarterly SaaS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KDA case, Figure 4. Claude.ai and RDF Studio stay in the Enterprise Analytics sandbox and work only with metadata and synthetic data. Every model crosses the same shared promotion gate as any other code. What this asks of IT: a sandbox and read-only metadata access. What IT gets back: tested, reviewed semantic assets and fewer business-rule changes landing in pipelines. This is the invariant that keeps ungated inference from ever being laundered into production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KDA case, Figure 3. Read across the Enterprise Analytics column: it is responsible for the semantic work in between, but accountability for business meaning, architecture standards and production stays with the teams who own them today. This is the answer to "is this a shadow platform?"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to 75 percent authoring figure comes from the Semantic Fabric business case; the 70 percent time-to-insight figure comes from the KDA case. Neither is a measured result. Present both as hypotheses the pilot will confirm or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will ask about data residency and retention; have the enterprise terms ready. The data-handling rule is the strongest control: we work on models and synthetic test sets, not production data. Existing data classification and privacy rules apply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involvement: conventions working session in weeks 1–3, optional check-in in weeks 4–7, conformance review in weeks 8–10, co-present at readout. IT involvement: SSO/RBAC and sandbox, read-only metadata access, CI/CD onboarding guidance, co-present at readout. The readout goes to IT Services, the ARB and the HR Technology Steering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commitment: we build on the standards and processes Architecture and IT already own, keep all work in the design-time sandbox, and make every decision about production jointly. The keel is already being built; this request makes it faster to build and safer to maintain, while the North Star stays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379710"/>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812230"/>
            <a:ext cx="10566400" cy="423297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379710"/>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812800" y="1812230"/>
            <a:ext cx="10566400" cy="423297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Gold five-point star">    </p:cNvPr>
          <p:cNvPicPr>
            <a:picLocks noChangeAspect="1"/>
          </p:cNvPicPr>
          <p:nvPr/>
        </p:nvPicPr>
        <p:blipFill>
          <a:blip r:embed="rId1"/>
          <a:srcRect l="0" r="0" t="0" b="0"/>
          <a:stretch/>
        </p:blipFill>
        <p:spPr>
          <a:xfrm>
            <a:off x="10617200" y="812800"/>
            <a:ext cx="762000" cy="762000"/>
          </a:xfrm>
          <a:prstGeom prst="rect">
            <a:avLst/>
          </a:prstGeom>
        </p:spPr>
      </p:pic>
      <p:sp>
        <p:nvSpPr>
          <p:cNvPr id="3" name="Text 0"/>
          <p:cNvSpPr/>
          <p:nvPr/>
        </p:nvSpPr>
        <p:spPr>
          <a:xfrm>
            <a:off x="812800" y="187503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27"/>
                </a:solidFill>
                <a:latin typeface="IBM Plex Sans" pitchFamily="34" charset="0"/>
                <a:ea typeface="IBM Plex Sans" pitchFamily="34" charset="-122"/>
                <a:cs typeface="IBM Plex Sans" pitchFamily="34" charset="-120"/>
              </a:rPr>
              <a:t>KNOWLEDGE-DRIVEN ANALYTICS · ARCHITECTURE &amp; IT PARTNERSHIP</a:t>
            </a:r>
            <a:endParaRPr lang="en-US" sz="1200" dirty="0"/>
          </a:p>
        </p:txBody>
      </p:sp>
      <p:sp>
        <p:nvSpPr>
          <p:cNvPr id="4" name="Text 1"/>
          <p:cNvSpPr/>
          <p:nvPr>
            <p:ph type="title"/>
          </p:nvPr>
        </p:nvSpPr>
        <p:spPr>
          <a:xfrm>
            <a:off x="812800" y="2342356"/>
            <a:ext cx="9810750" cy="2164953"/>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6F4EE"/>
                </a:solidFill>
                <a:latin typeface="Source Serif 4" pitchFamily="18" charset="0"/>
                <a:ea typeface="Source Serif 4" pitchFamily="18" charset="-122"/>
                <a:cs typeface="Source Serif 4" pitchFamily="18" charset="-120"/>
              </a:rPr>
              <a:t>Holding course: the keel and North Star of the enterprise Semantic Fabric</a:t>
            </a:r>
            <a:endParaRPr lang="en-US" sz="5200" dirty="0"/>
          </a:p>
        </p:txBody>
      </p:sp>
      <p:sp>
        <p:nvSpPr>
          <p:cNvPr id="5" name="Text 2"/>
          <p:cNvSpPr/>
          <p:nvPr/>
        </p:nvSpPr>
        <p:spPr>
          <a:xfrm>
            <a:off x="812800" y="4735909"/>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Enterprise access to Claude.ai and RDF Studio for ontology engineering, semantic mediation and governance, proven on the HR Advisory 360 pilot</a:t>
            </a:r>
            <a:endParaRPr lang="en-US" sz="1600" dirty="0"/>
          </a:p>
        </p:txBody>
      </p:sp>
      <p:pic>
        <p:nvPicPr>
          <p:cNvPr id="6" name="Image 1" descr="line">    </p:cNvPr>
          <p:cNvPicPr>
            <a:picLocks noChangeAspect="1"/>
          </p:cNvPicPr>
          <p:nvPr/>
        </p:nvPicPr>
        <p:blipFill>
          <a:blip r:embed="rId2"/>
          <a:srcRect l="0" r="0" t="0" b="0"/>
          <a:stretch/>
        </p:blipFill>
        <p:spPr>
          <a:xfrm>
            <a:off x="812800" y="5558830"/>
            <a:ext cx="1016000" cy="19050"/>
          </a:xfrm>
          <a:prstGeom prst="rect">
            <a:avLst/>
          </a:prstGeom>
        </p:spPr>
      </p:pic>
      <p:sp>
        <p:nvSpPr>
          <p:cNvPr id="7"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Executive review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DECISION</a:t>
            </a:r>
            <a:endParaRPr lang="en-US" sz="1200" dirty="0"/>
          </a:p>
        </p:txBody>
      </p:sp>
      <p:sp>
        <p:nvSpPr>
          <p:cNvPr id="3" name="Text 1"/>
          <p:cNvSpPr/>
          <p:nvPr>
            <p:ph type="title"/>
          </p:nvPr>
        </p:nvSpPr>
        <p:spPr>
          <a:xfrm>
            <a:off x="812800" y="1127720"/>
            <a:ext cx="10464800"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Approve a 90-day, design-time proof of capability for the Semantic Fabric workbench</a:t>
            </a:r>
            <a:endParaRPr lang="en-US" sz="2800" dirty="0"/>
          </a:p>
        </p:txBody>
      </p:sp>
      <p:sp>
        <p:nvSpPr>
          <p:cNvPr id="4" name="Shape 2"/>
          <p:cNvSpPr/>
          <p:nvPr/>
        </p:nvSpPr>
        <p:spPr>
          <a:xfrm>
            <a:off x="815975" y="2253555"/>
            <a:ext cx="3380284" cy="2056606"/>
          </a:xfrm>
          <a:prstGeom prst="roundRect">
            <a:avLst>
              <a:gd name="adj" fmla="val 3551"/>
            </a:avLst>
          </a:prstGeom>
          <a:solidFill>
            <a:srgbClr val="FDFCF8"/>
          </a:solidFill>
          <a:ln w="6350">
            <a:solidFill>
              <a:srgbClr val="DAD6CB"/>
            </a:solidFill>
            <a:prstDash val="solid"/>
          </a:ln>
        </p:spPr>
      </p:sp>
      <p:sp>
        <p:nvSpPr>
          <p:cNvPr id="5" name="Text 3"/>
          <p:cNvSpPr/>
          <p:nvPr/>
        </p:nvSpPr>
        <p:spPr>
          <a:xfrm>
            <a:off x="1073150" y="2510730"/>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we ask</a:t>
            </a:r>
            <a:endParaRPr lang="en-US" sz="1600" dirty="0"/>
          </a:p>
        </p:txBody>
      </p:sp>
      <p:sp>
        <p:nvSpPr>
          <p:cNvPr id="6" name="Text 4"/>
          <p:cNvSpPr/>
          <p:nvPr/>
        </p:nvSpPr>
        <p:spPr>
          <a:xfrm>
            <a:off x="1073150" y="2856161"/>
            <a:ext cx="2951912"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Claude.ai Enterprise and RDF Studio for 3–5 modelers: a 90-day, design-time evaluation proven on the HR Advisory 360 agent.</a:t>
            </a:r>
            <a:endParaRPr lang="en-US" sz="1300" dirty="0"/>
          </a:p>
        </p:txBody>
      </p:sp>
      <p:sp>
        <p:nvSpPr>
          <p:cNvPr id="7" name="Shape 5"/>
          <p:cNvSpPr/>
          <p:nvPr/>
        </p:nvSpPr>
        <p:spPr>
          <a:xfrm>
            <a:off x="4405809" y="2253555"/>
            <a:ext cx="3380333" cy="2056606"/>
          </a:xfrm>
          <a:prstGeom prst="roundRect">
            <a:avLst>
              <a:gd name="adj" fmla="val 3551"/>
            </a:avLst>
          </a:prstGeom>
          <a:solidFill>
            <a:srgbClr val="FDFCF8"/>
          </a:solidFill>
          <a:ln w="6350">
            <a:solidFill>
              <a:srgbClr val="DAD6CB"/>
            </a:solidFill>
            <a:prstDash val="solid"/>
          </a:ln>
        </p:spPr>
      </p:sp>
      <p:sp>
        <p:nvSpPr>
          <p:cNvPr id="8" name="Text 6"/>
          <p:cNvSpPr/>
          <p:nvPr/>
        </p:nvSpPr>
        <p:spPr>
          <a:xfrm>
            <a:off x="4662984" y="2510730"/>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it accelerates</a:t>
            </a:r>
            <a:endParaRPr lang="en-US" sz="1600" dirty="0"/>
          </a:p>
        </p:txBody>
      </p:sp>
      <p:sp>
        <p:nvSpPr>
          <p:cNvPr id="9" name="Text 7"/>
          <p:cNvSpPr/>
          <p:nvPr/>
        </p:nvSpPr>
        <p:spPr>
          <a:xfrm>
            <a:off x="4662984" y="2856161"/>
            <a:ext cx="2951963"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Policy-to-axiom drafting, ontology authoring, mapping maintenance under schema drift, and SHACL quality rules with impact simulation.</a:t>
            </a:r>
            <a:endParaRPr lang="en-US" sz="1300" dirty="0"/>
          </a:p>
        </p:txBody>
      </p:sp>
      <p:sp>
        <p:nvSpPr>
          <p:cNvPr id="10" name="Shape 8"/>
          <p:cNvSpPr/>
          <p:nvPr/>
        </p:nvSpPr>
        <p:spPr>
          <a:xfrm>
            <a:off x="7995692" y="2253555"/>
            <a:ext cx="3380333" cy="2056606"/>
          </a:xfrm>
          <a:prstGeom prst="roundRect">
            <a:avLst>
              <a:gd name="adj" fmla="val 3551"/>
            </a:avLst>
          </a:prstGeom>
          <a:solidFill>
            <a:srgbClr val="FDFCF8"/>
          </a:solidFill>
          <a:ln w="6350">
            <a:solidFill>
              <a:srgbClr val="DAD6CB"/>
            </a:solidFill>
            <a:prstDash val="solid"/>
          </a:ln>
        </p:spPr>
      </p:sp>
      <p:sp>
        <p:nvSpPr>
          <p:cNvPr id="11" name="Text 9"/>
          <p:cNvSpPr/>
          <p:nvPr/>
        </p:nvSpPr>
        <p:spPr>
          <a:xfrm>
            <a:off x="8252867" y="2510730"/>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stays the same</a:t>
            </a:r>
            <a:endParaRPr lang="en-US" sz="1600" dirty="0"/>
          </a:p>
        </p:txBody>
      </p:sp>
      <p:sp>
        <p:nvSpPr>
          <p:cNvPr id="12" name="Text 10"/>
          <p:cNvSpPr/>
          <p:nvPr/>
        </p:nvSpPr>
        <p:spPr>
          <a:xfrm>
            <a:off x="8252867" y="2856161"/>
            <a:ext cx="2951963"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Architecture sets standards, IT owns production, CI/CD and data governance are unchanged. Miss the criteria and we stop, with nothing to unwind.</a:t>
            </a:r>
            <a:endParaRPr lang="en-US" sz="1300" dirty="0"/>
          </a:p>
        </p:txBody>
      </p:sp>
      <p:sp>
        <p:nvSpPr>
          <p:cNvPr id="13" name="Text 11"/>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14" name="Text 1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pic>
        <p:nvPicPr>
          <p:cNvPr id="2" name="Image 0" descr="Sailing vessel cross-section: superstructure above a wavy waterline, a navy hull below it, a keel fin descending to a gold ballast bulb, and a dashed bearing line from the mast to a gold star">    </p:cNvPr>
          <p:cNvPicPr>
            <a:picLocks noChangeAspect="1"/>
          </p:cNvPicPr>
          <p:nvPr/>
        </p:nvPicPr>
        <p:blipFill>
          <a:blip r:embed="rId1"/>
          <a:srcRect l="0" r="0" t="0" b="0"/>
          <a:stretch/>
        </p:blipFill>
        <p:spPr>
          <a:xfrm>
            <a:off x="812800" y="1778000"/>
            <a:ext cx="5715000" cy="3937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KEEL</a:t>
            </a:r>
            <a:endParaRPr lang="en-US" sz="1200" dirty="0"/>
          </a:p>
        </p:txBody>
      </p:sp>
      <p:sp>
        <p:nvSpPr>
          <p:cNvPr id="4" name="Text 1"/>
          <p:cNvSpPr/>
          <p:nvPr>
            <p:ph type="title"/>
          </p:nvPr>
        </p:nvSpPr>
        <p:spPr>
          <a:xfrm>
            <a:off x="812800" y="1127720"/>
            <a:ext cx="108833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Deterministic semantics keep the fabric upright as the sea moves</a:t>
            </a:r>
            <a:endParaRPr lang="en-US" sz="2800" dirty="0"/>
          </a:p>
        </p:txBody>
      </p:sp>
      <p:sp>
        <p:nvSpPr>
          <p:cNvPr id="5" name="Text 2"/>
          <p:cNvSpPr/>
          <p:nvPr/>
        </p:nvSpPr>
        <p:spPr>
          <a:xfrm>
            <a:off x="952500" y="2362200"/>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2"/>
                </a:solidFill>
                <a:latin typeface="IBM Plex Sans" pitchFamily="34" charset="0"/>
                <a:ea typeface="IBM Plex Sans" pitchFamily="34" charset="-122"/>
                <a:cs typeface="IBM Plex Sans" pitchFamily="34" charset="-120"/>
              </a:rPr>
              <a:t>North Star</a:t>
            </a:r>
            <a:endParaRPr lang="en-US" sz="1200" dirty="0"/>
          </a:p>
        </p:txBody>
      </p:sp>
      <p:pic>
        <p:nvPicPr>
          <p:cNvPr id="6" name="Image 1" descr="connector">    </p:cNvPr>
          <p:cNvPicPr>
            <a:picLocks noChangeAspect="1"/>
          </p:cNvPicPr>
          <p:nvPr/>
        </p:nvPicPr>
        <p:blipFill>
          <a:blip r:embed="rId2"/>
          <a:srcRect l="0" r="0" t="0" b="0"/>
          <a:stretch/>
        </p:blipFill>
        <p:spPr>
          <a:xfrm>
            <a:off x="4902200" y="1943100"/>
            <a:ext cx="1993900" cy="762000"/>
          </a:xfrm>
          <a:prstGeom prst="rect">
            <a:avLst/>
          </a:prstGeom>
        </p:spPr>
      </p:pic>
      <p:pic>
        <p:nvPicPr>
          <p:cNvPr id="7" name="Image 2" descr="connector">    </p:cNvPr>
          <p:cNvPicPr>
            <a:picLocks noChangeAspect="1"/>
          </p:cNvPicPr>
          <p:nvPr/>
        </p:nvPicPr>
        <p:blipFill>
          <a:blip r:embed="rId3"/>
          <a:srcRect l="0" r="0" t="0" b="0"/>
          <a:stretch/>
        </p:blipFill>
        <p:spPr>
          <a:xfrm>
            <a:off x="6489700" y="2705100"/>
            <a:ext cx="406400" cy="584200"/>
          </a:xfrm>
          <a:prstGeom prst="rect">
            <a:avLst/>
          </a:prstGeom>
        </p:spPr>
      </p:pic>
      <p:pic>
        <p:nvPicPr>
          <p:cNvPr id="8" name="Image 3" descr="connector">    </p:cNvPr>
          <p:cNvPicPr>
            <a:picLocks noChangeAspect="1"/>
          </p:cNvPicPr>
          <p:nvPr/>
        </p:nvPicPr>
        <p:blipFill>
          <a:blip r:embed="rId4"/>
          <a:srcRect l="0" r="0" t="0" b="0"/>
          <a:stretch/>
        </p:blipFill>
        <p:spPr>
          <a:xfrm>
            <a:off x="5251450" y="3467100"/>
            <a:ext cx="1644650" cy="254000"/>
          </a:xfrm>
          <a:prstGeom prst="rect">
            <a:avLst/>
          </a:prstGeom>
        </p:spPr>
      </p:pic>
      <p:pic>
        <p:nvPicPr>
          <p:cNvPr id="9" name="Image 4" descr="connector">    </p:cNvPr>
          <p:cNvPicPr>
            <a:picLocks noChangeAspect="1"/>
          </p:cNvPicPr>
          <p:nvPr/>
        </p:nvPicPr>
        <p:blipFill>
          <a:blip r:embed="rId5"/>
          <a:srcRect l="0" r="0" t="0" b="0"/>
          <a:stretch/>
        </p:blipFill>
        <p:spPr>
          <a:xfrm>
            <a:off x="3771900" y="4229100"/>
            <a:ext cx="3124200" cy="635000"/>
          </a:xfrm>
          <a:prstGeom prst="rect">
            <a:avLst/>
          </a:prstGeom>
        </p:spPr>
      </p:pic>
      <p:pic>
        <p:nvPicPr>
          <p:cNvPr id="10" name="Image 5" descr="connector">    </p:cNvPr>
          <p:cNvPicPr>
            <a:picLocks noChangeAspect="1"/>
          </p:cNvPicPr>
          <p:nvPr/>
        </p:nvPicPr>
        <p:blipFill>
          <a:blip r:embed="rId6"/>
          <a:srcRect l="0" r="0" t="0" b="0"/>
          <a:stretch/>
        </p:blipFill>
        <p:spPr>
          <a:xfrm>
            <a:off x="4203700" y="4991100"/>
            <a:ext cx="2692400" cy="476250"/>
          </a:xfrm>
          <a:prstGeom prst="rect">
            <a:avLst/>
          </a:prstGeom>
        </p:spPr>
      </p:pic>
      <p:sp>
        <p:nvSpPr>
          <p:cNvPr id="11" name="Text 3"/>
          <p:cNvSpPr/>
          <p:nvPr/>
        </p:nvSpPr>
        <p:spPr>
          <a:xfrm>
            <a:off x="6985000" y="1841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Superstructure · consumers</a:t>
            </a:r>
            <a:endParaRPr lang="en-US" sz="1400" dirty="0"/>
          </a:p>
        </p:txBody>
      </p:sp>
      <p:sp>
        <p:nvSpPr>
          <p:cNvPr id="12" name="Text 4"/>
          <p:cNvSpPr/>
          <p:nvPr/>
        </p:nvSpPr>
        <p:spPr>
          <a:xfrm>
            <a:off x="6985000" y="2092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AI agents, analytics and applications ride high and dry, above all change.</a:t>
            </a:r>
            <a:endParaRPr lang="en-US" sz="1200" dirty="0"/>
          </a:p>
        </p:txBody>
      </p:sp>
      <p:sp>
        <p:nvSpPr>
          <p:cNvPr id="13" name="Text 5"/>
          <p:cNvSpPr/>
          <p:nvPr/>
        </p:nvSpPr>
        <p:spPr>
          <a:xfrm>
            <a:off x="6985000" y="2603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Waterline · drift</a:t>
            </a:r>
            <a:endParaRPr lang="en-US" sz="1400" dirty="0"/>
          </a:p>
        </p:txBody>
      </p:sp>
      <p:sp>
        <p:nvSpPr>
          <p:cNvPr id="14" name="Text 6"/>
          <p:cNvSpPr/>
          <p:nvPr/>
        </p:nvSpPr>
        <p:spPr>
          <a:xfrm>
            <a:off x="6985000" y="2854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 schemas and external ontologies change constantly. That is the sea state.</a:t>
            </a:r>
            <a:endParaRPr lang="en-US" sz="1200" dirty="0"/>
          </a:p>
        </p:txBody>
      </p:sp>
      <p:sp>
        <p:nvSpPr>
          <p:cNvPr id="15" name="Text 7"/>
          <p:cNvSpPr/>
          <p:nvPr/>
        </p:nvSpPr>
        <p:spPr>
          <a:xfrm>
            <a:off x="6985000" y="3365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Hull · virtualized mediation</a:t>
            </a:r>
            <a:endParaRPr lang="en-US" sz="1400" dirty="0"/>
          </a:p>
        </p:txBody>
      </p:sp>
      <p:sp>
        <p:nvSpPr>
          <p:cNvPr id="16" name="Text 8"/>
          <p:cNvSpPr/>
          <p:nvPr/>
        </p:nvSpPr>
        <p:spPr>
          <a:xfrm>
            <a:off x="6985000" y="3616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Mapping agents and microservices absorb drift so consumers never feel it.</a:t>
            </a:r>
            <a:endParaRPr lang="en-US" sz="1200" dirty="0"/>
          </a:p>
        </p:txBody>
      </p:sp>
      <p:sp>
        <p:nvSpPr>
          <p:cNvPr id="17" name="Text 9"/>
          <p:cNvSpPr/>
          <p:nvPr/>
        </p:nvSpPr>
        <p:spPr>
          <a:xfrm>
            <a:off x="6985000" y="4127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Keel · materialized graphs</a:t>
            </a:r>
            <a:endParaRPr lang="en-US" sz="1400" dirty="0"/>
          </a:p>
        </p:txBody>
      </p:sp>
      <p:sp>
        <p:nvSpPr>
          <p:cNvPr id="18" name="Text 10"/>
          <p:cNvSpPr/>
          <p:nvPr/>
        </p:nvSpPr>
        <p:spPr>
          <a:xfrm>
            <a:off x="6985000" y="4378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Federated domain ontologies reconciled to one upper ontology: deterministic meaning.</a:t>
            </a:r>
            <a:endParaRPr lang="en-US" sz="1200" dirty="0"/>
          </a:p>
        </p:txBody>
      </p:sp>
      <p:sp>
        <p:nvSpPr>
          <p:cNvPr id="19" name="Text 11"/>
          <p:cNvSpPr/>
          <p:nvPr/>
        </p:nvSpPr>
        <p:spPr>
          <a:xfrm>
            <a:off x="6985000" y="4889500"/>
            <a:ext cx="45260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A6A12"/>
                </a:solidFill>
                <a:latin typeface="IBM Plex Sans" pitchFamily="34" charset="0"/>
                <a:ea typeface="IBM Plex Sans" pitchFamily="34" charset="-122"/>
                <a:cs typeface="IBM Plex Sans" pitchFamily="34" charset="-120"/>
              </a:rPr>
              <a:t>Ballast · semantic governance</a:t>
            </a:r>
            <a:endParaRPr lang="en-US" sz="1400" dirty="0"/>
          </a:p>
        </p:txBody>
      </p:sp>
      <p:sp>
        <p:nvSpPr>
          <p:cNvPr id="20" name="Text 12"/>
          <p:cNvSpPr/>
          <p:nvPr/>
        </p:nvSpPr>
        <p:spPr>
          <a:xfrm>
            <a:off x="6985000" y="5140920"/>
            <a:ext cx="4526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SHACL, reasoners, lineage and versioning: the weight that keeps the keel honest.</a:t>
            </a:r>
            <a:endParaRPr lang="en-US" sz="1200" dirty="0"/>
          </a:p>
        </p:txBody>
      </p:sp>
      <p:sp>
        <p:nvSpPr>
          <p:cNvPr id="21" name="Text 13"/>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2" name="Text 14"/>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27"/>
                </a:solidFill>
                <a:latin typeface="IBM Plex Sans" pitchFamily="34" charset="0"/>
                <a:ea typeface="IBM Plex Sans" pitchFamily="34" charset="-122"/>
                <a:cs typeface="IBM Plex Sans" pitchFamily="34" charset="-120"/>
              </a:rPr>
              <a:t>THE NORTH STAR</a:t>
            </a:r>
            <a:endParaRPr lang="en-US" sz="1200" dirty="0"/>
          </a:p>
        </p:txBody>
      </p:sp>
      <p:sp>
        <p:nvSpPr>
          <p:cNvPr id="3" name="Text 1"/>
          <p:cNvSpPr/>
          <p:nvPr>
            <p:ph type="title"/>
          </p:nvPr>
        </p:nvSpPr>
        <p:spPr>
          <a:xfrm>
            <a:off x="812800" y="1127720"/>
            <a:ext cx="10464800" cy="78482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F6F4EE"/>
                </a:solidFill>
                <a:latin typeface="Source Serif 4" pitchFamily="18" charset="0"/>
                <a:ea typeface="Source Serif 4" pitchFamily="18" charset="-122"/>
                <a:cs typeface="Source Serif 4" pitchFamily="18" charset="-120"/>
              </a:rPr>
              <a:t>Every enterprise decision and AI answer rests on governed, traceable, unambiguous meaning</a:t>
            </a:r>
            <a:endParaRPr lang="en-US" sz="2600" dirty="0"/>
          </a:p>
        </p:txBody>
      </p:sp>
      <p:pic>
        <p:nvPicPr>
          <p:cNvPr id="4" name="Image 0" descr="Gold North Star">    </p:cNvPr>
          <p:cNvPicPr>
            <a:picLocks noChangeAspect="1"/>
          </p:cNvPicPr>
          <p:nvPr/>
        </p:nvPicPr>
        <p:blipFill>
          <a:blip r:embed="rId1"/>
          <a:srcRect l="0" r="0" t="0" b="0"/>
          <a:stretch/>
        </p:blipFill>
        <p:spPr>
          <a:xfrm>
            <a:off x="5683250" y="2019300"/>
            <a:ext cx="825500" cy="825500"/>
          </a:xfrm>
          <a:prstGeom prst="rect">
            <a:avLst/>
          </a:prstGeom>
        </p:spPr>
      </p:pic>
      <p:pic>
        <p:nvPicPr>
          <p:cNvPr id="5" name="Image 1" descr="connector">    </p:cNvPr>
          <p:cNvPicPr>
            <a:picLocks noChangeAspect="1"/>
          </p:cNvPicPr>
          <p:nvPr/>
        </p:nvPicPr>
        <p:blipFill>
          <a:blip r:embed="rId2"/>
          <a:srcRect l="0" r="0" t="0" b="0"/>
          <a:stretch/>
        </p:blipFill>
        <p:spPr>
          <a:xfrm>
            <a:off x="2000250" y="2832100"/>
            <a:ext cx="4133850" cy="508000"/>
          </a:xfrm>
          <a:prstGeom prst="rect">
            <a:avLst/>
          </a:prstGeom>
        </p:spPr>
      </p:pic>
      <p:pic>
        <p:nvPicPr>
          <p:cNvPr id="6" name="Image 2" descr="connector">    </p:cNvPr>
          <p:cNvPicPr>
            <a:picLocks noChangeAspect="1"/>
          </p:cNvPicPr>
          <p:nvPr/>
        </p:nvPicPr>
        <p:blipFill>
          <a:blip r:embed="rId3"/>
          <a:srcRect l="0" r="0" t="0" b="0"/>
          <a:stretch/>
        </p:blipFill>
        <p:spPr>
          <a:xfrm>
            <a:off x="4705350" y="2832100"/>
            <a:ext cx="1428750" cy="508000"/>
          </a:xfrm>
          <a:prstGeom prst="rect">
            <a:avLst/>
          </a:prstGeom>
        </p:spPr>
      </p:pic>
      <p:pic>
        <p:nvPicPr>
          <p:cNvPr id="7" name="Image 3" descr="connector">    </p:cNvPr>
          <p:cNvPicPr>
            <a:picLocks noChangeAspect="1"/>
          </p:cNvPicPr>
          <p:nvPr/>
        </p:nvPicPr>
        <p:blipFill>
          <a:blip r:embed="rId4"/>
          <a:srcRect l="0" r="0" t="0" b="0"/>
          <a:stretch/>
        </p:blipFill>
        <p:spPr>
          <a:xfrm>
            <a:off x="6057900" y="2832100"/>
            <a:ext cx="1428750" cy="508000"/>
          </a:xfrm>
          <a:prstGeom prst="rect">
            <a:avLst/>
          </a:prstGeom>
        </p:spPr>
      </p:pic>
      <p:pic>
        <p:nvPicPr>
          <p:cNvPr id="8" name="Image 4" descr="connector">    </p:cNvPr>
          <p:cNvPicPr>
            <a:picLocks noChangeAspect="1"/>
          </p:cNvPicPr>
          <p:nvPr/>
        </p:nvPicPr>
        <p:blipFill>
          <a:blip r:embed="rId5"/>
          <a:srcRect l="0" r="0" t="0" b="0"/>
          <a:stretch/>
        </p:blipFill>
        <p:spPr>
          <a:xfrm>
            <a:off x="6057900" y="2832100"/>
            <a:ext cx="4133850" cy="508000"/>
          </a:xfrm>
          <a:prstGeom prst="rect">
            <a:avLst/>
          </a:prstGeom>
        </p:spPr>
      </p:pic>
      <p:sp>
        <p:nvSpPr>
          <p:cNvPr id="9" name="Shape 2"/>
          <p:cNvSpPr/>
          <p:nvPr/>
        </p:nvSpPr>
        <p:spPr>
          <a:xfrm>
            <a:off x="815975" y="3305175"/>
            <a:ext cx="2444750" cy="1294011"/>
          </a:xfrm>
          <a:prstGeom prst="roundRect">
            <a:avLst>
              <a:gd name="adj" fmla="val 5643"/>
            </a:avLst>
          </a:prstGeom>
          <a:solidFill>
            <a:srgbClr val="1E2C4D"/>
          </a:solidFill>
          <a:ln w="6350">
            <a:solidFill>
              <a:srgbClr val="33436A"/>
            </a:solidFill>
            <a:prstDash val="solid"/>
          </a:ln>
        </p:spPr>
      </p:sp>
      <p:sp>
        <p:nvSpPr>
          <p:cNvPr id="10" name="Text 3"/>
          <p:cNvSpPr/>
          <p:nvPr/>
        </p:nvSpPr>
        <p:spPr>
          <a:xfrm>
            <a:off x="9969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Trustworthy AI</a:t>
            </a:r>
            <a:endParaRPr lang="en-US" sz="1500" dirty="0"/>
          </a:p>
        </p:txBody>
      </p:sp>
      <p:sp>
        <p:nvSpPr>
          <p:cNvPr id="11" name="Text 4"/>
          <p:cNvSpPr/>
          <p:nvPr/>
        </p:nvSpPr>
        <p:spPr>
          <a:xfrm>
            <a:off x="9969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Agents answer from governed semantics; ungated inference never propagates as fact.</a:t>
            </a:r>
            <a:endParaRPr lang="en-US" sz="1200" dirty="0"/>
          </a:p>
        </p:txBody>
      </p:sp>
      <p:sp>
        <p:nvSpPr>
          <p:cNvPr id="12" name="Shape 5"/>
          <p:cNvSpPr/>
          <p:nvPr/>
        </p:nvSpPr>
        <p:spPr>
          <a:xfrm>
            <a:off x="3521075" y="3305175"/>
            <a:ext cx="2444750" cy="1294011"/>
          </a:xfrm>
          <a:prstGeom prst="roundRect">
            <a:avLst>
              <a:gd name="adj" fmla="val 5643"/>
            </a:avLst>
          </a:prstGeom>
          <a:solidFill>
            <a:srgbClr val="1E2C4D"/>
          </a:solidFill>
          <a:ln w="6350">
            <a:solidFill>
              <a:srgbClr val="33436A"/>
            </a:solidFill>
            <a:prstDash val="solid"/>
          </a:ln>
        </p:spPr>
      </p:sp>
      <p:sp>
        <p:nvSpPr>
          <p:cNvPr id="13" name="Text 6"/>
          <p:cNvSpPr/>
          <p:nvPr/>
        </p:nvSpPr>
        <p:spPr>
          <a:xfrm>
            <a:off x="37020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Drift-proof integration</a:t>
            </a:r>
            <a:endParaRPr lang="en-US" sz="1500" dirty="0"/>
          </a:p>
        </p:txBody>
      </p:sp>
      <p:sp>
        <p:nvSpPr>
          <p:cNvPr id="14" name="Text 7"/>
          <p:cNvSpPr/>
          <p:nvPr/>
        </p:nvSpPr>
        <p:spPr>
          <a:xfrm>
            <a:off x="37020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Source changes are absorbed in the mediation layer, not in production consumers.</a:t>
            </a:r>
            <a:endParaRPr lang="en-US" sz="1200" dirty="0"/>
          </a:p>
        </p:txBody>
      </p:sp>
      <p:sp>
        <p:nvSpPr>
          <p:cNvPr id="15" name="Shape 8"/>
          <p:cNvSpPr/>
          <p:nvPr/>
        </p:nvSpPr>
        <p:spPr>
          <a:xfrm>
            <a:off x="6226175" y="3305175"/>
            <a:ext cx="2444750" cy="1294011"/>
          </a:xfrm>
          <a:prstGeom prst="roundRect">
            <a:avLst>
              <a:gd name="adj" fmla="val 5643"/>
            </a:avLst>
          </a:prstGeom>
          <a:solidFill>
            <a:srgbClr val="1E2C4D"/>
          </a:solidFill>
          <a:ln w="6350">
            <a:solidFill>
              <a:srgbClr val="33436A"/>
            </a:solidFill>
            <a:prstDash val="solid"/>
          </a:ln>
        </p:spPr>
      </p:sp>
      <p:sp>
        <p:nvSpPr>
          <p:cNvPr id="16" name="Text 9"/>
          <p:cNvSpPr/>
          <p:nvPr/>
        </p:nvSpPr>
        <p:spPr>
          <a:xfrm>
            <a:off x="6407150" y="3486150"/>
            <a:ext cx="21452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Audit-grade lineage</a:t>
            </a:r>
            <a:endParaRPr lang="en-US" sz="1500" dirty="0"/>
          </a:p>
        </p:txBody>
      </p:sp>
      <p:sp>
        <p:nvSpPr>
          <p:cNvPr id="17" name="Text 10"/>
          <p:cNvSpPr/>
          <p:nvPr/>
        </p:nvSpPr>
        <p:spPr>
          <a:xfrm>
            <a:off x="6407150" y="37782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Every axiom, mapping and answer carries PROV-O provenance and a change log.</a:t>
            </a:r>
            <a:endParaRPr lang="en-US" sz="1200" dirty="0"/>
          </a:p>
        </p:txBody>
      </p:sp>
      <p:sp>
        <p:nvSpPr>
          <p:cNvPr id="18" name="Shape 11"/>
          <p:cNvSpPr/>
          <p:nvPr/>
        </p:nvSpPr>
        <p:spPr>
          <a:xfrm>
            <a:off x="8931275" y="3305175"/>
            <a:ext cx="2444750" cy="1522611"/>
          </a:xfrm>
          <a:prstGeom prst="roundRect">
            <a:avLst>
              <a:gd name="adj" fmla="val 4796"/>
            </a:avLst>
          </a:prstGeom>
          <a:solidFill>
            <a:srgbClr val="1E2C4D"/>
          </a:solidFill>
          <a:ln w="6350">
            <a:solidFill>
              <a:srgbClr val="33436A"/>
            </a:solidFill>
            <a:prstDash val="solid"/>
          </a:ln>
        </p:spPr>
      </p:sp>
      <p:sp>
        <p:nvSpPr>
          <p:cNvPr id="19" name="Text 12"/>
          <p:cNvSpPr/>
          <p:nvPr/>
        </p:nvSpPr>
        <p:spPr>
          <a:xfrm>
            <a:off x="9112250" y="3486150"/>
            <a:ext cx="2145284"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Business-owned meaning</a:t>
            </a:r>
            <a:endParaRPr lang="en-US" sz="1500" dirty="0"/>
          </a:p>
        </p:txBody>
      </p:sp>
      <p:sp>
        <p:nvSpPr>
          <p:cNvPr id="20" name="Text 13"/>
          <p:cNvSpPr/>
          <p:nvPr/>
        </p:nvSpPr>
        <p:spPr>
          <a:xfrm>
            <a:off x="9112250" y="4006850"/>
            <a:ext cx="21452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Policy changes land in governed models, not on IT's pipeline backlog.</a:t>
            </a:r>
            <a:endParaRPr lang="en-US" sz="1200" dirty="0"/>
          </a:p>
        </p:txBody>
      </p:sp>
      <p:sp>
        <p:nvSpPr>
          <p:cNvPr id="21" name="Text 14"/>
          <p:cNvSpPr/>
          <p:nvPr/>
        </p:nvSpPr>
        <p:spPr>
          <a:xfrm>
            <a:off x="812800" y="5029200"/>
            <a:ext cx="3149600" cy="416520"/>
          </a:xfrm>
          <a:prstGeom prst="roundRect">
            <a:avLst>
              <a:gd name="adj" fmla="val 50000"/>
            </a:avLst>
          </a:prstGeom>
          <a:solidFill>
            <a:srgbClr val="C9A227"/>
          </a:solidFill>
          <a:ln/>
        </p:spPr>
        <p:txBody>
          <a:bodyPr wrap="square" lIns="48731" tIns="40603" rIns="48731" bIns="15203" rtlCol="0" anchor="t">
            <a:normAutofit/>
          </a:bodyPr>
          <a:lstStyle/>
          <a:p>
            <a:pPr algn="ct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H1 · HR Advisory 360 pilot</a:t>
            </a:r>
            <a:endParaRPr lang="en-US" sz="1200" dirty="0"/>
          </a:p>
        </p:txBody>
      </p:sp>
      <p:pic>
        <p:nvPicPr>
          <p:cNvPr id="22" name="Image 5" descr="arrow-right">    </p:cNvPr>
          <p:cNvPicPr>
            <a:picLocks noChangeAspect="1"/>
          </p:cNvPicPr>
          <p:nvPr/>
        </p:nvPicPr>
        <p:blipFill>
          <a:blip r:embed="rId6"/>
          <a:srcRect l="0" r="0" t="0" b="0"/>
          <a:stretch/>
        </p:blipFill>
        <p:spPr>
          <a:xfrm>
            <a:off x="4089400" y="5161260"/>
            <a:ext cx="304800" cy="152400"/>
          </a:xfrm>
          <a:prstGeom prst="rect">
            <a:avLst/>
          </a:prstGeom>
        </p:spPr>
      </p:pic>
      <p:sp>
        <p:nvSpPr>
          <p:cNvPr id="23" name="Text 15"/>
          <p:cNvSpPr/>
          <p:nvPr/>
        </p:nvSpPr>
        <p:spPr>
          <a:xfrm>
            <a:off x="4527550" y="5035550"/>
            <a:ext cx="3136900" cy="403820"/>
          </a:xfrm>
          <a:prstGeom prst="roundRect">
            <a:avLst>
              <a:gd name="adj" fmla="val 50000"/>
            </a:avLst>
          </a:prstGeom>
          <a:noFill/>
          <a:ln w="12700">
            <a:solidFill>
              <a:srgbClr val="C9A227"/>
            </a:solidFill>
            <a:prstDash val="solid"/>
          </a:ln>
        </p:spPr>
        <p:txBody>
          <a:bodyPr wrap="square" lIns="57322" tIns="36113" rIns="57322" bIns="10713" rtlCol="0" anchor="t">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H2 · federated domains at scale</a:t>
            </a:r>
            <a:endParaRPr lang="en-US" sz="1200" dirty="0"/>
          </a:p>
        </p:txBody>
      </p:sp>
      <p:pic>
        <p:nvPicPr>
          <p:cNvPr id="24" name="Image 6" descr="arrow-right">    </p:cNvPr>
          <p:cNvPicPr>
            <a:picLocks noChangeAspect="1"/>
          </p:cNvPicPr>
          <p:nvPr/>
        </p:nvPicPr>
        <p:blipFill>
          <a:blip r:embed="rId7"/>
          <a:srcRect l="0" r="0" t="0" b="0"/>
          <a:stretch/>
        </p:blipFill>
        <p:spPr>
          <a:xfrm>
            <a:off x="7797800" y="5161260"/>
            <a:ext cx="304800" cy="152400"/>
          </a:xfrm>
          <a:prstGeom prst="rect">
            <a:avLst/>
          </a:prstGeom>
        </p:spPr>
      </p:pic>
      <p:sp>
        <p:nvSpPr>
          <p:cNvPr id="25" name="Text 16"/>
          <p:cNvSpPr/>
          <p:nvPr/>
        </p:nvSpPr>
        <p:spPr>
          <a:xfrm>
            <a:off x="8235950" y="5035550"/>
            <a:ext cx="3136900" cy="403820"/>
          </a:xfrm>
          <a:prstGeom prst="roundRect">
            <a:avLst>
              <a:gd name="adj" fmla="val 50000"/>
            </a:avLst>
          </a:prstGeom>
          <a:noFill/>
          <a:ln w="12700">
            <a:solidFill>
              <a:srgbClr val="C9A227"/>
            </a:solidFill>
            <a:prstDash val="dash"/>
          </a:ln>
        </p:spPr>
        <p:txBody>
          <a:bodyPr wrap="square" lIns="57322" tIns="36113" rIns="57322" bIns="10713" rtlCol="0" anchor="t">
            <a:normAutofit/>
          </a:bodyPr>
          <a:lstStyle/>
          <a:p>
            <a:pPr algn="ct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H3 · self-correcting semantic fabric</a:t>
            </a:r>
            <a:endParaRPr lang="en-US" sz="1200" dirty="0"/>
          </a:p>
        </p:txBody>
      </p:sp>
      <p:sp>
        <p:nvSpPr>
          <p:cNvPr id="26" name="Text 17"/>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E"/>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7" name="Text 1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8BE"/>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OPERATING MODEL · WHO STEERS</a:t>
            </a:r>
            <a:endParaRPr lang="en-US" sz="1200" dirty="0"/>
          </a:p>
        </p:txBody>
      </p:sp>
      <p:sp>
        <p:nvSpPr>
          <p:cNvPr id="3" name="Text 1"/>
          <p:cNvSpPr/>
          <p:nvPr>
            <p:ph type="title"/>
          </p:nvPr>
        </p:nvSpPr>
        <p:spPr>
          <a:xfrm>
            <a:off x="812800" y="1102320"/>
            <a:ext cx="10883392"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4213D"/>
                </a:solidFill>
                <a:latin typeface="Source Serif 4" pitchFamily="18" charset="0"/>
                <a:ea typeface="Source Serif 4" pitchFamily="18" charset="-122"/>
                <a:cs typeface="Source Serif 4" pitchFamily="18" charset="-120"/>
              </a:rPr>
              <a:t>Business first. Architecture and IT as partners.</a:t>
            </a:r>
            <a:endParaRPr lang="en-US" sz="2400" dirty="0"/>
          </a:p>
        </p:txBody>
      </p:sp>
      <p:sp>
        <p:nvSpPr>
          <p:cNvPr id="4" name="Text 2"/>
          <p:cNvSpPr/>
          <p:nvPr/>
        </p:nvSpPr>
        <p:spPr>
          <a:xfrm>
            <a:off x="3479800" y="1765300"/>
            <a:ext cx="5232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E6F73"/>
                </a:solidFill>
                <a:latin typeface="IBM Plex Sans" pitchFamily="34" charset="0"/>
                <a:ea typeface="IBM Plex Sans" pitchFamily="34" charset="-122"/>
                <a:cs typeface="IBM Plex Sans" pitchFamily="34" charset="-120"/>
              </a:rPr>
              <a:t>Insights, answers and refinement requests flow back to the business</a:t>
            </a:r>
            <a:endParaRPr lang="en-US" sz="1200" dirty="0"/>
          </a:p>
        </p:txBody>
      </p:sp>
      <p:pic>
        <p:nvPicPr>
          <p:cNvPr id="5" name="Image 0" descr="connector">    </p:cNvPr>
          <p:cNvPicPr>
            <a:picLocks noChangeAspect="1"/>
          </p:cNvPicPr>
          <p:nvPr/>
        </p:nvPicPr>
        <p:blipFill>
          <a:blip r:embed="rId1"/>
          <a:srcRect l="0" r="0" t="0" b="0"/>
          <a:stretch/>
        </p:blipFill>
        <p:spPr>
          <a:xfrm>
            <a:off x="9721850" y="2032000"/>
            <a:ext cx="76200" cy="406400"/>
          </a:xfrm>
          <a:prstGeom prst="rect">
            <a:avLst/>
          </a:prstGeom>
        </p:spPr>
      </p:pic>
      <p:pic>
        <p:nvPicPr>
          <p:cNvPr id="6" name="Image 1" descr="connector">    </p:cNvPr>
          <p:cNvPicPr>
            <a:picLocks noChangeAspect="1"/>
          </p:cNvPicPr>
          <p:nvPr/>
        </p:nvPicPr>
        <p:blipFill>
          <a:blip r:embed="rId2"/>
          <a:srcRect l="0" r="0" t="0" b="0"/>
          <a:stretch/>
        </p:blipFill>
        <p:spPr>
          <a:xfrm>
            <a:off x="2381250" y="2032000"/>
            <a:ext cx="7416800" cy="76200"/>
          </a:xfrm>
          <a:prstGeom prst="rect">
            <a:avLst/>
          </a:prstGeom>
        </p:spPr>
      </p:pic>
      <p:pic>
        <p:nvPicPr>
          <p:cNvPr id="7" name="Image 2" descr="connector">    </p:cNvPr>
          <p:cNvPicPr>
            <a:picLocks noChangeAspect="1"/>
          </p:cNvPicPr>
          <p:nvPr/>
        </p:nvPicPr>
        <p:blipFill>
          <a:blip r:embed="rId3"/>
          <a:srcRect l="0" r="0" t="0" b="0"/>
          <a:stretch/>
        </p:blipFill>
        <p:spPr>
          <a:xfrm>
            <a:off x="2381250" y="2032000"/>
            <a:ext cx="76200" cy="406400"/>
          </a:xfrm>
          <a:prstGeom prst="rect">
            <a:avLst/>
          </a:prstGeom>
        </p:spPr>
      </p:pic>
      <p:sp>
        <p:nvSpPr>
          <p:cNvPr id="8" name="Shape 3"/>
          <p:cNvSpPr/>
          <p:nvPr/>
        </p:nvSpPr>
        <p:spPr>
          <a:xfrm>
            <a:off x="819150" y="2406650"/>
            <a:ext cx="3200400" cy="1854002"/>
          </a:xfrm>
          <a:prstGeom prst="roundRect">
            <a:avLst>
              <a:gd name="adj" fmla="val 3768"/>
            </a:avLst>
          </a:prstGeom>
          <a:solidFill>
            <a:srgbClr val="E3EFEE"/>
          </a:solidFill>
          <a:ln w="12700">
            <a:solidFill>
              <a:srgbClr val="2E6F73"/>
            </a:solidFill>
            <a:prstDash val="solid"/>
          </a:ln>
        </p:spPr>
      </p:sp>
      <p:sp>
        <p:nvSpPr>
          <p:cNvPr id="9" name="Text 4"/>
          <p:cNvSpPr/>
          <p:nvPr/>
        </p:nvSpPr>
        <p:spPr>
          <a:xfrm>
            <a:off x="1003300" y="2590800"/>
            <a:ext cx="29170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6F73"/>
                </a:solidFill>
                <a:latin typeface="IBM Plex Sans" pitchFamily="34" charset="0"/>
                <a:ea typeface="IBM Plex Sans" pitchFamily="34" charset="-122"/>
                <a:cs typeface="IBM Plex Sans" pitchFamily="34" charset="-120"/>
              </a:rPr>
              <a:t>STEP 1 · BUSINESS</a:t>
            </a:r>
            <a:endParaRPr lang="en-US" sz="1200" dirty="0"/>
          </a:p>
        </p:txBody>
      </p:sp>
      <p:sp>
        <p:nvSpPr>
          <p:cNvPr id="10" name="Text 5"/>
          <p:cNvSpPr/>
          <p:nvPr/>
        </p:nvSpPr>
        <p:spPr>
          <a:xfrm>
            <a:off x="1003300" y="2867620"/>
            <a:ext cx="291706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Owns the meaning</a:t>
            </a:r>
            <a:endParaRPr lang="en-US" sz="1500" dirty="0"/>
          </a:p>
        </p:txBody>
      </p:sp>
      <p:sp>
        <p:nvSpPr>
          <p:cNvPr id="11" name="Text 6"/>
          <p:cNvSpPr/>
          <p:nvPr/>
        </p:nvSpPr>
        <p:spPr>
          <a:xfrm>
            <a:off x="1003300" y="3159720"/>
            <a:ext cx="2917063"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Job architectures &amp; leveling</a:t>
            </a:r>
            <a:endParaRPr lang="en-US" sz="1200" dirty="0"/>
          </a:p>
          <a:p>
            <a:pPr algn="l" marL="182880"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Pay, leave &amp; sabbatical rules</a:t>
            </a:r>
            <a:endParaRPr lang="en-US" sz="1200" dirty="0"/>
          </a:p>
          <a:p>
            <a:pPr algn="l" marL="182880"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Definitions of record</a:t>
            </a:r>
            <a:endParaRPr lang="en-US" sz="1200" dirty="0"/>
          </a:p>
        </p:txBody>
      </p:sp>
      <p:sp>
        <p:nvSpPr>
          <p:cNvPr id="12" name="Text 7"/>
          <p:cNvSpPr/>
          <p:nvPr/>
        </p:nvSpPr>
        <p:spPr>
          <a:xfrm>
            <a:off x="1003300" y="3863181"/>
            <a:ext cx="2917063" cy="238720"/>
          </a:xfrm>
          <a:prstGeom prst="rect">
            <a:avLst/>
          </a:prstGeom>
          <a:noFill/>
          <a:ln/>
        </p:spPr>
        <p:txBody>
          <a:bodyPr wrap="square" lIns="0" tIns="0" rIns="0" bIns="0" rtlCol="0" anchor="t">
            <a:normAutofit/>
          </a:bodyPr>
          <a:lstStyle/>
          <a:p>
            <a:pPr algn="l" indent="0" marL="0">
              <a:lnSpc>
                <a:spcPts val="1680"/>
              </a:lnSpc>
              <a:buNone/>
            </a:pPr>
            <a:r>
              <a:rPr lang="en-US" sz="1200" b="1" i="1" dirty="0">
                <a:solidFill>
                  <a:srgbClr val="2E6F73"/>
                </a:solidFill>
                <a:latin typeface="IBM Plex Sans" pitchFamily="34" charset="0"/>
                <a:ea typeface="IBM Plex Sans" pitchFamily="34" charset="-122"/>
                <a:cs typeface="IBM Plex Sans" pitchFamily="34" charset="-120"/>
              </a:rPr>
              <a:t>Sets the North Star</a:t>
            </a:r>
            <a:endParaRPr lang="en-US" sz="1200" dirty="0"/>
          </a:p>
        </p:txBody>
      </p:sp>
      <p:sp>
        <p:nvSpPr>
          <p:cNvPr id="13" name="Shape 8"/>
          <p:cNvSpPr/>
          <p:nvPr/>
        </p:nvSpPr>
        <p:spPr>
          <a:xfrm>
            <a:off x="4483100" y="2400300"/>
            <a:ext cx="3213100" cy="1841302"/>
          </a:xfrm>
          <a:prstGeom prst="roundRect">
            <a:avLst>
              <a:gd name="adj" fmla="val 4138"/>
            </a:avLst>
          </a:prstGeom>
          <a:solidFill>
            <a:srgbClr val="14213D"/>
          </a:solidFill>
          <a:ln/>
        </p:spPr>
      </p:sp>
      <p:sp>
        <p:nvSpPr>
          <p:cNvPr id="14" name="Text 9"/>
          <p:cNvSpPr/>
          <p:nvPr/>
        </p:nvSpPr>
        <p:spPr>
          <a:xfrm>
            <a:off x="4660900" y="2578100"/>
            <a:ext cx="30353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A227"/>
                </a:solidFill>
                <a:latin typeface="IBM Plex Sans" pitchFamily="34" charset="0"/>
                <a:ea typeface="IBM Plex Sans" pitchFamily="34" charset="-122"/>
                <a:cs typeface="IBM Plex Sans" pitchFamily="34" charset="-120"/>
              </a:rPr>
              <a:t>STEP 2 · ENTERPRISE ANALYTICS</a:t>
            </a:r>
            <a:endParaRPr lang="en-US" sz="1200" dirty="0"/>
          </a:p>
        </p:txBody>
      </p:sp>
      <p:sp>
        <p:nvSpPr>
          <p:cNvPr id="15" name="Text 10"/>
          <p:cNvSpPr/>
          <p:nvPr/>
        </p:nvSpPr>
        <p:spPr>
          <a:xfrm>
            <a:off x="4660900" y="2854920"/>
            <a:ext cx="29432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4EE"/>
                </a:solidFill>
                <a:latin typeface="IBM Plex Sans" pitchFamily="34" charset="0"/>
                <a:ea typeface="IBM Plex Sans" pitchFamily="34" charset="-122"/>
                <a:cs typeface="IBM Plex Sans" pitchFamily="34" charset="-120"/>
              </a:rPr>
              <a:t>Makes meaning computable</a:t>
            </a:r>
            <a:endParaRPr lang="en-US" sz="1500" dirty="0"/>
          </a:p>
        </p:txBody>
      </p:sp>
      <p:sp>
        <p:nvSpPr>
          <p:cNvPr id="16" name="Text 11"/>
          <p:cNvSpPr/>
          <p:nvPr/>
        </p:nvSpPr>
        <p:spPr>
          <a:xfrm>
            <a:off x="4660900" y="3147020"/>
            <a:ext cx="2943225"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C9D3E0"/>
                </a:solidFill>
                <a:latin typeface="IBM Plex Sans" pitchFamily="34" charset="0"/>
                <a:ea typeface="IBM Plex Sans" pitchFamily="34" charset="-122"/>
                <a:cs typeface="IBM Plex Sans" pitchFamily="34" charset="-120"/>
              </a:rPr>
              <a:t>Taxonomies in RDF Studio</a:t>
            </a:r>
            <a:endParaRPr lang="en-US" sz="1200" dirty="0"/>
          </a:p>
          <a:p>
            <a:pPr algn="l" marL="182880" indent="-155194">
              <a:lnSpc>
                <a:spcPts val="1680"/>
              </a:lnSpc>
              <a:buSzPct val="100000"/>
              <a:buChar char="•"/>
            </a:pPr>
            <a:r>
              <a:rPr lang="en-US" sz="1200" dirty="0">
                <a:solidFill>
                  <a:srgbClr val="C9D3E0"/>
                </a:solidFill>
                <a:latin typeface="IBM Plex Sans" pitchFamily="34" charset="0"/>
                <a:ea typeface="IBM Plex Sans" pitchFamily="34" charset="-122"/>
                <a:cs typeface="IBM Plex Sans" pitchFamily="34" charset="-120"/>
              </a:rPr>
              <a:t>Axiom drafts in Claude.ai</a:t>
            </a:r>
            <a:endParaRPr lang="en-US" sz="1200" dirty="0"/>
          </a:p>
          <a:p>
            <a:pPr algn="l" marL="182880" indent="-155194">
              <a:lnSpc>
                <a:spcPts val="1680"/>
              </a:lnSpc>
              <a:buSzPct val="100000"/>
              <a:buChar char="•"/>
            </a:pPr>
            <a:r>
              <a:rPr lang="en-US" sz="1200" dirty="0">
                <a:solidFill>
                  <a:srgbClr val="C9D3E0"/>
                </a:solidFill>
                <a:latin typeface="IBM Plex Sans" pitchFamily="34" charset="0"/>
                <a:ea typeface="IBM Plex Sans" pitchFamily="34" charset="-122"/>
                <a:cs typeface="IBM Plex Sans" pitchFamily="34" charset="-120"/>
              </a:rPr>
              <a:t>Mappings, SHACL, impact sims</a:t>
            </a:r>
            <a:endParaRPr lang="en-US" sz="1200" dirty="0"/>
          </a:p>
        </p:txBody>
      </p:sp>
      <p:sp>
        <p:nvSpPr>
          <p:cNvPr id="17" name="Text 12"/>
          <p:cNvSpPr/>
          <p:nvPr/>
        </p:nvSpPr>
        <p:spPr>
          <a:xfrm>
            <a:off x="4660900" y="3850481"/>
            <a:ext cx="2943225" cy="238720"/>
          </a:xfrm>
          <a:prstGeom prst="rect">
            <a:avLst/>
          </a:prstGeom>
          <a:noFill/>
          <a:ln/>
        </p:spPr>
        <p:txBody>
          <a:bodyPr wrap="square" lIns="0" tIns="0" rIns="0" bIns="0" rtlCol="0" anchor="t">
            <a:normAutofit/>
          </a:bodyPr>
          <a:lstStyle/>
          <a:p>
            <a:pPr algn="l" indent="0" marL="0">
              <a:lnSpc>
                <a:spcPts val="1680"/>
              </a:lnSpc>
              <a:buNone/>
            </a:pPr>
            <a:r>
              <a:rPr lang="en-US" sz="1200" b="1" i="1" dirty="0">
                <a:solidFill>
                  <a:srgbClr val="F2D675"/>
                </a:solidFill>
                <a:latin typeface="IBM Plex Sans" pitchFamily="34" charset="0"/>
                <a:ea typeface="IBM Plex Sans" pitchFamily="34" charset="-122"/>
                <a:cs typeface="IBM Plex Sans" pitchFamily="34" charset="-120"/>
              </a:rPr>
              <a:t>Builds the keel</a:t>
            </a:r>
            <a:endParaRPr lang="en-US" sz="1200" dirty="0"/>
          </a:p>
        </p:txBody>
      </p:sp>
      <p:sp>
        <p:nvSpPr>
          <p:cNvPr id="18" name="Shape 13"/>
          <p:cNvSpPr/>
          <p:nvPr/>
        </p:nvSpPr>
        <p:spPr>
          <a:xfrm>
            <a:off x="8159750" y="2406650"/>
            <a:ext cx="3213100" cy="1854002"/>
          </a:xfrm>
          <a:prstGeom prst="roundRect">
            <a:avLst>
              <a:gd name="adj" fmla="val 3768"/>
            </a:avLst>
          </a:prstGeom>
          <a:solidFill>
            <a:srgbClr val="ECEBE6"/>
          </a:solidFill>
          <a:ln w="12700">
            <a:solidFill>
              <a:srgbClr val="6B7385"/>
            </a:solidFill>
            <a:prstDash val="solid"/>
          </a:ln>
        </p:spPr>
      </p:sp>
      <p:sp>
        <p:nvSpPr>
          <p:cNvPr id="19" name="Text 14"/>
          <p:cNvSpPr/>
          <p:nvPr/>
        </p:nvSpPr>
        <p:spPr>
          <a:xfrm>
            <a:off x="8343900" y="2590800"/>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STEP 3 · IT SERVICES</a:t>
            </a:r>
            <a:endParaRPr lang="en-US" sz="1200" dirty="0"/>
          </a:p>
        </p:txBody>
      </p:sp>
      <p:sp>
        <p:nvSpPr>
          <p:cNvPr id="20" name="Text 15"/>
          <p:cNvSpPr/>
          <p:nvPr/>
        </p:nvSpPr>
        <p:spPr>
          <a:xfrm>
            <a:off x="8343900" y="2867620"/>
            <a:ext cx="293014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Runs it reliably at scale</a:t>
            </a:r>
            <a:endParaRPr lang="en-US" sz="1500" dirty="0"/>
          </a:p>
        </p:txBody>
      </p:sp>
      <p:sp>
        <p:nvSpPr>
          <p:cNvPr id="21" name="Text 16"/>
          <p:cNvSpPr/>
          <p:nvPr/>
        </p:nvSpPr>
        <p:spPr>
          <a:xfrm>
            <a:off x="8343900" y="3159720"/>
            <a:ext cx="2930144" cy="665361"/>
          </a:xfrm>
          <a:prstGeom prst="rect">
            <a:avLst/>
          </a:prstGeom>
          <a:noFill/>
          <a:ln/>
        </p:spPr>
        <p:txBody>
          <a:bodyPr wrap="square" lIns="0" tIns="0" rIns="0" bIns="0" rtlCol="0" anchor="t">
            <a:normAutofit/>
          </a:bodyPr>
          <a:lstStyle/>
          <a:p>
            <a:pPr algn="l" marL="182880"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Workday, ServiceNow, lakehouse</a:t>
            </a:r>
            <a:endParaRPr lang="en-US" sz="1200" dirty="0"/>
          </a:p>
          <a:p>
            <a:pPr algn="l" marL="182880"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Stable IRI-grounded endpoints</a:t>
            </a:r>
            <a:endParaRPr lang="en-US" sz="1200" dirty="0"/>
          </a:p>
          <a:p>
            <a:pPr algn="l" marL="182880" indent="-155194">
              <a:lnSpc>
                <a:spcPts val="1680"/>
              </a:lnSpc>
              <a:buSzPct val="100000"/>
              <a:buChar char="•"/>
            </a:pPr>
            <a:r>
              <a:rPr lang="en-US" sz="1200" dirty="0">
                <a:solidFill>
                  <a:srgbClr val="4A5568"/>
                </a:solidFill>
                <a:latin typeface="IBM Plex Sans" pitchFamily="34" charset="0"/>
                <a:ea typeface="IBM Plex Sans" pitchFamily="34" charset="-122"/>
                <a:cs typeface="IBM Plex Sans" pitchFamily="34" charset="-120"/>
              </a:rPr>
              <a:t>CI/CD, security, SSO</a:t>
            </a:r>
            <a:endParaRPr lang="en-US" sz="1200" dirty="0"/>
          </a:p>
        </p:txBody>
      </p:sp>
      <p:sp>
        <p:nvSpPr>
          <p:cNvPr id="22" name="Text 17"/>
          <p:cNvSpPr/>
          <p:nvPr/>
        </p:nvSpPr>
        <p:spPr>
          <a:xfrm>
            <a:off x="8343900" y="386318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i="1" dirty="0">
                <a:solidFill>
                  <a:srgbClr val="4A5568"/>
                </a:solidFill>
                <a:latin typeface="IBM Plex Sans" pitchFamily="34" charset="0"/>
                <a:ea typeface="IBM Plex Sans" pitchFamily="34" charset="-122"/>
                <a:cs typeface="IBM Plex Sans" pitchFamily="34" charset="-120"/>
              </a:rPr>
              <a:t>Sails the ship</a:t>
            </a:r>
            <a:endParaRPr lang="en-US" sz="1200" dirty="0"/>
          </a:p>
        </p:txBody>
      </p:sp>
      <p:pic>
        <p:nvPicPr>
          <p:cNvPr id="23" name="Image 3" descr="connector">    </p:cNvPr>
          <p:cNvPicPr>
            <a:picLocks noChangeAspect="1"/>
          </p:cNvPicPr>
          <p:nvPr/>
        </p:nvPicPr>
        <p:blipFill>
          <a:blip r:embed="rId4"/>
          <a:srcRect l="0" r="0" t="0" b="0"/>
          <a:stretch/>
        </p:blipFill>
        <p:spPr>
          <a:xfrm>
            <a:off x="3975100" y="3314700"/>
            <a:ext cx="558800" cy="101600"/>
          </a:xfrm>
          <a:prstGeom prst="rect">
            <a:avLst/>
          </a:prstGeom>
        </p:spPr>
      </p:pic>
      <p:pic>
        <p:nvPicPr>
          <p:cNvPr id="24" name="Image 4" descr="connector">    </p:cNvPr>
          <p:cNvPicPr>
            <a:picLocks noChangeAspect="1"/>
          </p:cNvPicPr>
          <p:nvPr/>
        </p:nvPicPr>
        <p:blipFill>
          <a:blip r:embed="rId5"/>
          <a:srcRect l="0" r="0" t="0" b="0"/>
          <a:stretch/>
        </p:blipFill>
        <p:spPr>
          <a:xfrm>
            <a:off x="7645400" y="3314700"/>
            <a:ext cx="558800" cy="101600"/>
          </a:xfrm>
          <a:prstGeom prst="rect">
            <a:avLst/>
          </a:prstGeom>
        </p:spPr>
      </p:pic>
      <p:pic>
        <p:nvPicPr>
          <p:cNvPr id="25" name="Image 5" descr="connector">    </p:cNvPr>
          <p:cNvPicPr>
            <a:picLocks noChangeAspect="1"/>
          </p:cNvPicPr>
          <p:nvPr/>
        </p:nvPicPr>
        <p:blipFill>
          <a:blip r:embed="rId6"/>
          <a:srcRect l="0" r="0" t="0" b="0"/>
          <a:stretch/>
        </p:blipFill>
        <p:spPr>
          <a:xfrm>
            <a:off x="2381250" y="4445000"/>
            <a:ext cx="76200" cy="368300"/>
          </a:xfrm>
          <a:prstGeom prst="rect">
            <a:avLst/>
          </a:prstGeom>
        </p:spPr>
      </p:pic>
      <p:pic>
        <p:nvPicPr>
          <p:cNvPr id="26" name="Image 6" descr="connector">    </p:cNvPr>
          <p:cNvPicPr>
            <a:picLocks noChangeAspect="1"/>
          </p:cNvPicPr>
          <p:nvPr/>
        </p:nvPicPr>
        <p:blipFill>
          <a:blip r:embed="rId7"/>
          <a:srcRect l="0" r="0" t="0" b="0"/>
          <a:stretch/>
        </p:blipFill>
        <p:spPr>
          <a:xfrm>
            <a:off x="6051550" y="4445000"/>
            <a:ext cx="76200" cy="368300"/>
          </a:xfrm>
          <a:prstGeom prst="rect">
            <a:avLst/>
          </a:prstGeom>
        </p:spPr>
      </p:pic>
      <p:pic>
        <p:nvPicPr>
          <p:cNvPr id="27" name="Image 7" descr="connector">    </p:cNvPr>
          <p:cNvPicPr>
            <a:picLocks noChangeAspect="1"/>
          </p:cNvPicPr>
          <p:nvPr/>
        </p:nvPicPr>
        <p:blipFill>
          <a:blip r:embed="rId8"/>
          <a:srcRect l="0" r="0" t="0" b="0"/>
          <a:stretch/>
        </p:blipFill>
        <p:spPr>
          <a:xfrm>
            <a:off x="9721850" y="4445000"/>
            <a:ext cx="76200" cy="368300"/>
          </a:xfrm>
          <a:prstGeom prst="rect">
            <a:avLst/>
          </a:prstGeom>
        </p:spPr>
      </p:pic>
      <p:sp>
        <p:nvSpPr>
          <p:cNvPr id="28" name="Shape 18"/>
          <p:cNvSpPr/>
          <p:nvPr/>
        </p:nvSpPr>
        <p:spPr>
          <a:xfrm>
            <a:off x="812800" y="4775200"/>
            <a:ext cx="10566400" cy="960041"/>
          </a:xfrm>
          <a:prstGeom prst="roundRect">
            <a:avLst>
              <a:gd name="adj" fmla="val 7937"/>
            </a:avLst>
          </a:prstGeom>
          <a:solidFill>
            <a:srgbClr val="E6E9F0"/>
          </a:solidFill>
          <a:ln/>
        </p:spPr>
      </p:sp>
      <p:sp>
        <p:nvSpPr>
          <p:cNvPr id="29" name="Text 19"/>
          <p:cNvSpPr/>
          <p:nvPr/>
        </p:nvSpPr>
        <p:spPr>
          <a:xfrm>
            <a:off x="990600" y="4927600"/>
            <a:ext cx="105171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B4C6E"/>
                </a:solidFill>
                <a:latin typeface="IBM Plex Sans" pitchFamily="34" charset="0"/>
                <a:ea typeface="IBM Plex Sans" pitchFamily="34" charset="-122"/>
                <a:cs typeface="IBM Plex Sans" pitchFamily="34" charset="-120"/>
              </a:rPr>
              <a:t>ARCHITECTURE · GUARDRAILS AT EVERY STEP, NOT JUST A GATE AT THE END</a:t>
            </a:r>
            <a:endParaRPr lang="en-US" sz="1200" dirty="0"/>
          </a:p>
        </p:txBody>
      </p:sp>
      <p:sp>
        <p:nvSpPr>
          <p:cNvPr id="30" name="Text 20"/>
          <p:cNvSpPr/>
          <p:nvPr/>
        </p:nvSpPr>
        <p:spPr>
          <a:xfrm>
            <a:off x="993775" y="5232995"/>
            <a:ext cx="2451100" cy="346670"/>
          </a:xfrm>
          <a:prstGeom prst="roundRect">
            <a:avLst>
              <a:gd name="adj" fmla="val 13738"/>
            </a:avLst>
          </a:prstGeom>
          <a:solidFill>
            <a:srgbClr val="FDFCF8"/>
          </a:solidFill>
          <a:ln w="6350">
            <a:solidFill>
              <a:srgbClr val="B8C0CE"/>
            </a:solidFill>
            <a:prstDash val="solid"/>
          </a:ln>
        </p:spPr>
        <p:txBody>
          <a:bodyPr wrap="square" lIns="57203" tIns="52726" rIns="57203" bIns="2732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IRI &amp; naming conventions</a:t>
            </a:r>
            <a:endParaRPr lang="en-US" sz="1200" dirty="0"/>
          </a:p>
        </p:txBody>
      </p:sp>
      <p:sp>
        <p:nvSpPr>
          <p:cNvPr id="31" name="Text 21"/>
          <p:cNvSpPr/>
          <p:nvPr/>
        </p:nvSpPr>
        <p:spPr>
          <a:xfrm>
            <a:off x="3578225" y="5232995"/>
            <a:ext cx="2451100" cy="346670"/>
          </a:xfrm>
          <a:prstGeom prst="roundRect">
            <a:avLst>
              <a:gd name="adj" fmla="val 13738"/>
            </a:avLst>
          </a:prstGeom>
          <a:solidFill>
            <a:srgbClr val="FDFCF8"/>
          </a:solidFill>
          <a:ln w="6350">
            <a:solidFill>
              <a:srgbClr val="B8C0CE"/>
            </a:solidFill>
            <a:prstDash val="solid"/>
          </a:ln>
        </p:spPr>
        <p:txBody>
          <a:bodyPr wrap="square" lIns="57203" tIns="52726" rIns="57203" bIns="2732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Reference patterns</a:t>
            </a:r>
            <a:endParaRPr lang="en-US" sz="1200" dirty="0"/>
          </a:p>
        </p:txBody>
      </p:sp>
      <p:sp>
        <p:nvSpPr>
          <p:cNvPr id="32" name="Text 22"/>
          <p:cNvSpPr/>
          <p:nvPr/>
        </p:nvSpPr>
        <p:spPr>
          <a:xfrm>
            <a:off x="6162675" y="5232995"/>
            <a:ext cx="2451100" cy="346670"/>
          </a:xfrm>
          <a:prstGeom prst="roundRect">
            <a:avLst>
              <a:gd name="adj" fmla="val 13738"/>
            </a:avLst>
          </a:prstGeom>
          <a:solidFill>
            <a:srgbClr val="FDFCF8"/>
          </a:solidFill>
          <a:ln w="6350">
            <a:solidFill>
              <a:srgbClr val="B8C0CE"/>
            </a:solidFill>
            <a:prstDash val="solid"/>
          </a:ln>
        </p:spPr>
        <p:txBody>
          <a:bodyPr wrap="square" lIns="57203" tIns="52726" rIns="57203" bIns="2732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ARB checkpoints</a:t>
            </a:r>
            <a:endParaRPr lang="en-US" sz="1200" dirty="0"/>
          </a:p>
        </p:txBody>
      </p:sp>
      <p:sp>
        <p:nvSpPr>
          <p:cNvPr id="33" name="Text 23"/>
          <p:cNvSpPr/>
          <p:nvPr/>
        </p:nvSpPr>
        <p:spPr>
          <a:xfrm>
            <a:off x="8747125" y="5232995"/>
            <a:ext cx="2451100" cy="346670"/>
          </a:xfrm>
          <a:prstGeom prst="roundRect">
            <a:avLst>
              <a:gd name="adj" fmla="val 13738"/>
            </a:avLst>
          </a:prstGeom>
          <a:solidFill>
            <a:srgbClr val="FDFCF8"/>
          </a:solidFill>
          <a:ln w="6350">
            <a:solidFill>
              <a:srgbClr val="B8C0CE"/>
            </a:solidFill>
            <a:prstDash val="solid"/>
          </a:ln>
        </p:spPr>
        <p:txBody>
          <a:bodyPr wrap="square" lIns="57203" tIns="52726" rIns="57203" bIns="27326" rtlCol="0" anchor="t">
            <a:normAutofit/>
          </a:bodyPr>
          <a:lstStyle/>
          <a:p>
            <a:pPr algn="ct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Security &amp; SSO</a:t>
            </a:r>
            <a:endParaRPr lang="en-US" sz="1200" dirty="0"/>
          </a:p>
        </p:txBody>
      </p:sp>
      <p:sp>
        <p:nvSpPr>
          <p:cNvPr id="34" name="Text 24"/>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35" name="Text 2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127720"/>
            <a:ext cx="10883392"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4213D"/>
                </a:solidFill>
                <a:latin typeface="Source Serif 4" pitchFamily="18" charset="0"/>
                <a:ea typeface="Source Serif 4" pitchFamily="18" charset="-122"/>
                <a:cs typeface="Source Serif 4" pitchFamily="18" charset="-120"/>
              </a:rPr>
              <a:t>Three layers, one governance spine, one design-time workbench</a:t>
            </a:r>
            <a:endParaRPr lang="en-US" sz="2400" dirty="0"/>
          </a:p>
        </p:txBody>
      </p:sp>
      <p:sp>
        <p:nvSpPr>
          <p:cNvPr id="4" name="Text 2"/>
          <p:cNvSpPr/>
          <p:nvPr/>
        </p:nvSpPr>
        <p:spPr>
          <a:xfrm>
            <a:off x="3048000" y="1714500"/>
            <a:ext cx="6096000" cy="508000"/>
          </a:xfrm>
          <a:prstGeom prst="roundRect">
            <a:avLst>
              <a:gd name="adj" fmla="val 12500"/>
            </a:avLst>
          </a:prstGeom>
          <a:solidFill>
            <a:srgbClr val="E6E2D6"/>
          </a:solidFill>
          <a:ln/>
        </p:spPr>
        <p:txBody>
          <a:bodyPr wrap="square" lIns="0" tIns="0" rIns="0" bIns="0" rtlCol="0" anchor="ctr">
            <a:normAutofit/>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Consumers · HR Advisory 360 · analytics · apps</a:t>
            </a:r>
            <a:endParaRPr lang="en-US" sz="1300" dirty="0"/>
          </a:p>
        </p:txBody>
      </p:sp>
      <p:sp>
        <p:nvSpPr>
          <p:cNvPr id="5" name="Shape 3"/>
          <p:cNvSpPr/>
          <p:nvPr/>
        </p:nvSpPr>
        <p:spPr>
          <a:xfrm>
            <a:off x="3048000" y="2349500"/>
            <a:ext cx="6096000" cy="1206500"/>
          </a:xfrm>
          <a:prstGeom prst="roundRect">
            <a:avLst>
              <a:gd name="adj" fmla="val 5263"/>
            </a:avLst>
          </a:prstGeom>
          <a:solidFill>
            <a:srgbClr val="3B4C6E"/>
          </a:solidFill>
          <a:ln/>
        </p:spPr>
      </p:sp>
      <p:sp>
        <p:nvSpPr>
          <p:cNvPr id="6" name="Text 4"/>
          <p:cNvSpPr/>
          <p:nvPr/>
        </p:nvSpPr>
        <p:spPr>
          <a:xfrm>
            <a:off x="3225800" y="2527300"/>
            <a:ext cx="591261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IBM Plex Sans" pitchFamily="34" charset="0"/>
                <a:ea typeface="IBM Plex Sans" pitchFamily="34" charset="-122"/>
                <a:cs typeface="IBM Plex Sans" pitchFamily="34" charset="-120"/>
              </a:rPr>
              <a:t>Virtualized graph &amp; mediation layer</a:t>
            </a:r>
            <a:endParaRPr lang="en-US" sz="1400" dirty="0"/>
          </a:p>
        </p:txBody>
      </p:sp>
      <p:sp>
        <p:nvSpPr>
          <p:cNvPr id="7" name="Text 5"/>
          <p:cNvSpPr/>
          <p:nvPr/>
        </p:nvSpPr>
        <p:spPr>
          <a:xfrm>
            <a:off x="3225800" y="2854920"/>
            <a:ext cx="1310531" cy="340320"/>
          </a:xfrm>
          <a:prstGeom prst="roundRect">
            <a:avLst>
              <a:gd name="adj" fmla="val 14927"/>
            </a:avLst>
          </a:prstGeom>
          <a:solidFill>
            <a:srgbClr val="51638A"/>
          </a:solidFill>
          <a:ln/>
        </p:spPr>
        <p:txBody>
          <a:bodyPr wrap="none" lIns="0" tIns="0" rIns="0" bIns="0" rtlCol="0" anchor="ctr">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Mapping agents</a:t>
            </a:r>
            <a:endParaRPr lang="en-US" sz="1200" dirty="0"/>
          </a:p>
        </p:txBody>
      </p:sp>
      <p:sp>
        <p:nvSpPr>
          <p:cNvPr id="8" name="Text 6"/>
          <p:cNvSpPr/>
          <p:nvPr/>
        </p:nvSpPr>
        <p:spPr>
          <a:xfrm>
            <a:off x="4637931" y="2854920"/>
            <a:ext cx="1856432" cy="340320"/>
          </a:xfrm>
          <a:prstGeom prst="roundRect">
            <a:avLst>
              <a:gd name="adj" fmla="val 14927"/>
            </a:avLst>
          </a:prstGeom>
          <a:solidFill>
            <a:srgbClr val="51638A"/>
          </a:solidFill>
          <a:ln/>
        </p:spPr>
        <p:txBody>
          <a:bodyPr wrap="none" lIns="0" tIns="0" rIns="0" bIns="0" rtlCol="0" anchor="ctr">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Semantic microservices</a:t>
            </a:r>
            <a:endParaRPr lang="en-US" sz="1200" dirty="0"/>
          </a:p>
        </p:txBody>
      </p:sp>
      <p:sp>
        <p:nvSpPr>
          <p:cNvPr id="9" name="Text 7"/>
          <p:cNvSpPr/>
          <p:nvPr/>
        </p:nvSpPr>
        <p:spPr>
          <a:xfrm>
            <a:off x="6595963" y="2854920"/>
            <a:ext cx="2098725" cy="340320"/>
          </a:xfrm>
          <a:prstGeom prst="roundRect">
            <a:avLst>
              <a:gd name="adj" fmla="val 14927"/>
            </a:avLst>
          </a:prstGeom>
          <a:solidFill>
            <a:srgbClr val="51638A"/>
          </a:solidFill>
          <a:ln/>
        </p:spPr>
        <p:txBody>
          <a:bodyPr wrap="none" lIns="0" tIns="0" rIns="0" bIns="0" rtlCol="0" anchor="ctr">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RML · SPARQL CONSTRUCT</a:t>
            </a:r>
            <a:endParaRPr lang="en-US" sz="1200" dirty="0"/>
          </a:p>
        </p:txBody>
      </p:sp>
      <p:sp>
        <p:nvSpPr>
          <p:cNvPr id="10" name="Shape 8"/>
          <p:cNvSpPr/>
          <p:nvPr/>
        </p:nvSpPr>
        <p:spPr>
          <a:xfrm>
            <a:off x="3048000" y="3683000"/>
            <a:ext cx="6096000" cy="1397000"/>
          </a:xfrm>
          <a:prstGeom prst="roundRect">
            <a:avLst>
              <a:gd name="adj" fmla="val 4545"/>
            </a:avLst>
          </a:prstGeom>
          <a:solidFill>
            <a:srgbClr val="14213D"/>
          </a:solidFill>
          <a:ln/>
        </p:spPr>
      </p:sp>
      <p:sp>
        <p:nvSpPr>
          <p:cNvPr id="11" name="Text 9"/>
          <p:cNvSpPr/>
          <p:nvPr/>
        </p:nvSpPr>
        <p:spPr>
          <a:xfrm>
            <a:off x="3225800" y="3860800"/>
            <a:ext cx="5912612" cy="237282"/>
          </a:xfrm>
          <a:prstGeom prst="rect">
            <a:avLst/>
          </a:prstGeom>
          <a:noFill/>
          <a:ln/>
        </p:spPr>
        <p:txBody>
          <a:bodyPr wrap="square" lIns="0" tIns="0" rIns="0" bIns="0" rtlCol="0" anchor="t">
            <a:normAutofit/>
          </a:bodyPr>
          <a:lstStyle/>
          <a:p>
            <a:pPr algn="l" indent="0" marL="0">
              <a:lnSpc>
                <a:spcPts val="1675"/>
              </a:lnSpc>
              <a:buNone/>
            </a:pPr>
            <a:r>
              <a:rPr lang="en-US" sz="1396" b="1" dirty="0">
                <a:solidFill>
                  <a:srgbClr val="F6F4EE"/>
                </a:solidFill>
                <a:latin typeface="IBM Plex Sans" pitchFamily="34" charset="0"/>
                <a:ea typeface="IBM Plex Sans" pitchFamily="34" charset="-122"/>
                <a:cs typeface="IBM Plex Sans" pitchFamily="34" charset="-120"/>
              </a:rPr>
              <a:t>Materialized knowledge graphs</a:t>
            </a:r>
            <a:endParaRPr lang="en-US" sz="1396" dirty="0"/>
          </a:p>
        </p:txBody>
      </p:sp>
      <p:sp>
        <p:nvSpPr>
          <p:cNvPr id="12" name="Text 10"/>
          <p:cNvSpPr/>
          <p:nvPr/>
        </p:nvSpPr>
        <p:spPr>
          <a:xfrm>
            <a:off x="3232150" y="4167932"/>
            <a:ext cx="5727700" cy="326182"/>
          </a:xfrm>
          <a:prstGeom prst="roundRect">
            <a:avLst>
              <a:gd name="adj" fmla="val 13627"/>
            </a:avLst>
          </a:prstGeom>
          <a:noFill/>
          <a:ln w="12700">
            <a:solidFill>
              <a:srgbClr val="C9A227"/>
            </a:solidFill>
            <a:prstDash val="solid"/>
          </a:ln>
        </p:spPr>
        <p:txBody>
          <a:bodyPr wrap="square" lIns="25335" tIns="44131" rIns="25335" bIns="18731" rtlCol="0" anchor="t">
            <a:normAutofit/>
          </a:bodyPr>
          <a:lstStyle/>
          <a:p>
            <a:pPr algn="ctr" indent="0" marL="0">
              <a:lnSpc>
                <a:spcPts val="1675"/>
              </a:lnSpc>
              <a:buNone/>
            </a:pPr>
            <a:r>
              <a:rPr lang="en-US" sz="1196" b="1" dirty="0">
                <a:solidFill>
                  <a:srgbClr val="F2D675"/>
                </a:solidFill>
                <a:latin typeface="IBM Plex Sans" pitchFamily="34" charset="0"/>
                <a:ea typeface="IBM Plex Sans" pitchFamily="34" charset="-122"/>
                <a:cs typeface="IBM Plex Sans" pitchFamily="34" charset="-120"/>
              </a:rPr>
              <a:t>Upper / unifying ontology</a:t>
            </a:r>
            <a:endParaRPr lang="en-US" sz="1196" dirty="0"/>
          </a:p>
        </p:txBody>
      </p:sp>
      <p:sp>
        <p:nvSpPr>
          <p:cNvPr id="13" name="Text 11"/>
          <p:cNvSpPr/>
          <p:nvPr/>
        </p:nvSpPr>
        <p:spPr>
          <a:xfrm>
            <a:off x="3225800" y="4589363"/>
            <a:ext cx="1845717" cy="312837"/>
          </a:xfrm>
          <a:prstGeom prst="roundRect">
            <a:avLst>
              <a:gd name="adj" fmla="val 16238"/>
            </a:avLst>
          </a:prstGeom>
          <a:solidFill>
            <a:srgbClr val="26365A"/>
          </a:solidFill>
          <a:ln/>
        </p:spPr>
        <p:txBody>
          <a:bodyPr wrap="square" lIns="74021" tIns="35921" rIns="74021" bIns="10521" rtlCol="0" anchor="t">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HR domain</a:t>
            </a:r>
            <a:endParaRPr lang="en-US" sz="1200" dirty="0"/>
          </a:p>
        </p:txBody>
      </p:sp>
      <p:sp>
        <p:nvSpPr>
          <p:cNvPr id="14" name="Text 12"/>
          <p:cNvSpPr/>
          <p:nvPr/>
        </p:nvSpPr>
        <p:spPr>
          <a:xfrm>
            <a:off x="5173117" y="4589363"/>
            <a:ext cx="1845766" cy="312837"/>
          </a:xfrm>
          <a:prstGeom prst="roundRect">
            <a:avLst>
              <a:gd name="adj" fmla="val 16238"/>
            </a:avLst>
          </a:prstGeom>
          <a:solidFill>
            <a:srgbClr val="26365A"/>
          </a:solidFill>
          <a:ln/>
        </p:spPr>
        <p:txBody>
          <a:bodyPr wrap="square" lIns="74021" tIns="35921" rIns="74021" bIns="10521" rtlCol="0" anchor="t">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Domain ontology</a:t>
            </a:r>
            <a:endParaRPr lang="en-US" sz="1200" dirty="0"/>
          </a:p>
        </p:txBody>
      </p:sp>
      <p:sp>
        <p:nvSpPr>
          <p:cNvPr id="15" name="Text 13"/>
          <p:cNvSpPr/>
          <p:nvPr/>
        </p:nvSpPr>
        <p:spPr>
          <a:xfrm>
            <a:off x="7120483" y="4589363"/>
            <a:ext cx="1845717" cy="312837"/>
          </a:xfrm>
          <a:prstGeom prst="roundRect">
            <a:avLst>
              <a:gd name="adj" fmla="val 16238"/>
            </a:avLst>
          </a:prstGeom>
          <a:solidFill>
            <a:srgbClr val="26365A"/>
          </a:solidFill>
          <a:ln/>
        </p:spPr>
        <p:txBody>
          <a:bodyPr wrap="square" lIns="74021" tIns="35921" rIns="74021" bIns="10521" rtlCol="0" anchor="t">
            <a:normAutofit/>
          </a:bodyPr>
          <a:lstStyle/>
          <a:p>
            <a:pPr algn="ctr"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Domain ontology</a:t>
            </a:r>
            <a:endParaRPr lang="en-US" sz="1200" dirty="0"/>
          </a:p>
        </p:txBody>
      </p:sp>
      <p:sp>
        <p:nvSpPr>
          <p:cNvPr id="16" name="Text 14"/>
          <p:cNvSpPr/>
          <p:nvPr/>
        </p:nvSpPr>
        <p:spPr>
          <a:xfrm>
            <a:off x="3054350" y="5213350"/>
            <a:ext cx="6083300" cy="495300"/>
          </a:xfrm>
          <a:prstGeom prst="roundRect">
            <a:avLst>
              <a:gd name="adj" fmla="val 11538"/>
            </a:avLst>
          </a:prstGeom>
          <a:noFill/>
          <a:ln w="12700">
            <a:solidFill>
              <a:srgbClr val="9AA3B2"/>
            </a:solidFill>
            <a:prstDash val="dash"/>
          </a:ln>
        </p:spPr>
        <p:txBody>
          <a:bodyPr wrap="square" lIns="0" tIns="0" rIns="0" bIns="0" rtlCol="0" anchor="ctr">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Workday · ServiceNow · lakehouse · external ontologies</a:t>
            </a:r>
            <a:endParaRPr lang="en-US" sz="1200" dirty="0"/>
          </a:p>
        </p:txBody>
      </p:sp>
      <p:sp>
        <p:nvSpPr>
          <p:cNvPr id="17" name="Shape 15"/>
          <p:cNvSpPr/>
          <p:nvPr/>
        </p:nvSpPr>
        <p:spPr>
          <a:xfrm>
            <a:off x="812800" y="2349500"/>
            <a:ext cx="1905000" cy="2730500"/>
          </a:xfrm>
          <a:prstGeom prst="roundRect">
            <a:avLst>
              <a:gd name="adj" fmla="val 4000"/>
            </a:avLst>
          </a:prstGeom>
          <a:solidFill>
            <a:srgbClr val="2E6F73"/>
          </a:solidFill>
          <a:ln/>
        </p:spPr>
      </p:sp>
      <p:sp>
        <p:nvSpPr>
          <p:cNvPr id="18" name="Text 16"/>
          <p:cNvSpPr/>
          <p:nvPr/>
        </p:nvSpPr>
        <p:spPr>
          <a:xfrm>
            <a:off x="990600" y="2527300"/>
            <a:ext cx="16002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AF9"/>
                </a:solidFill>
                <a:latin typeface="IBM Plex Sans" pitchFamily="34" charset="0"/>
                <a:ea typeface="IBM Plex Sans" pitchFamily="34" charset="-122"/>
                <a:cs typeface="IBM Plex Sans" pitchFamily="34" charset="-120"/>
              </a:rPr>
              <a:t>Design-time workbench</a:t>
            </a:r>
            <a:endParaRPr lang="en-US" sz="1500" dirty="0"/>
          </a:p>
        </p:txBody>
      </p:sp>
      <p:sp>
        <p:nvSpPr>
          <p:cNvPr id="19" name="Text 17"/>
          <p:cNvSpPr/>
          <p:nvPr/>
        </p:nvSpPr>
        <p:spPr>
          <a:xfrm>
            <a:off x="990600" y="3086100"/>
            <a:ext cx="16002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AF9"/>
                </a:solidFill>
                <a:latin typeface="IBM Plex Sans" pitchFamily="34" charset="0"/>
                <a:ea typeface="IBM Plex Sans" pitchFamily="34" charset="-122"/>
                <a:cs typeface="IBM Plex Sans" pitchFamily="34" charset="-120"/>
              </a:rPr>
              <a:t>RDF Studio models. Claude.ai drafts axioms, mappings and SHACL.</a:t>
            </a:r>
            <a:endParaRPr lang="en-US" sz="1200" dirty="0"/>
          </a:p>
        </p:txBody>
      </p:sp>
      <p:sp>
        <p:nvSpPr>
          <p:cNvPr id="20" name="Text 18"/>
          <p:cNvSpPr/>
          <p:nvPr/>
        </p:nvSpPr>
        <p:spPr>
          <a:xfrm>
            <a:off x="990600" y="4040981"/>
            <a:ext cx="16002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D675"/>
                </a:solidFill>
                <a:latin typeface="IBM Plex Sans" pitchFamily="34" charset="0"/>
                <a:ea typeface="IBM Plex Sans" pitchFamily="34" charset="-122"/>
                <a:cs typeface="IBM Plex Sans" pitchFamily="34" charset="-120"/>
              </a:rPr>
              <a:t>Proposes. Never publishes.</a:t>
            </a:r>
            <a:endParaRPr lang="en-US" sz="1200" dirty="0"/>
          </a:p>
        </p:txBody>
      </p:sp>
      <p:sp>
        <p:nvSpPr>
          <p:cNvPr id="21" name="Shape 19"/>
          <p:cNvSpPr/>
          <p:nvPr/>
        </p:nvSpPr>
        <p:spPr>
          <a:xfrm>
            <a:off x="9480550" y="2355850"/>
            <a:ext cx="1892300" cy="2717800"/>
          </a:xfrm>
          <a:prstGeom prst="roundRect">
            <a:avLst>
              <a:gd name="adj" fmla="val 3691"/>
            </a:avLst>
          </a:prstGeom>
          <a:solidFill>
            <a:srgbClr val="FDFCF8"/>
          </a:solidFill>
          <a:ln w="12700">
            <a:solidFill>
              <a:srgbClr val="C9A227"/>
            </a:solidFill>
            <a:prstDash val="solid"/>
          </a:ln>
        </p:spPr>
      </p:sp>
      <p:sp>
        <p:nvSpPr>
          <p:cNvPr id="22" name="Text 20"/>
          <p:cNvSpPr/>
          <p:nvPr/>
        </p:nvSpPr>
        <p:spPr>
          <a:xfrm>
            <a:off x="9664700" y="2540000"/>
            <a:ext cx="157480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A6A12"/>
                </a:solidFill>
                <a:latin typeface="IBM Plex Sans" pitchFamily="34" charset="0"/>
                <a:ea typeface="IBM Plex Sans" pitchFamily="34" charset="-122"/>
                <a:cs typeface="IBM Plex Sans" pitchFamily="34" charset="-120"/>
              </a:rPr>
              <a:t>Governance spine</a:t>
            </a:r>
            <a:endParaRPr lang="en-US" sz="1500" dirty="0"/>
          </a:p>
        </p:txBody>
      </p:sp>
      <p:sp>
        <p:nvSpPr>
          <p:cNvPr id="23" name="Text 21"/>
          <p:cNvSpPr/>
          <p:nvPr/>
        </p:nvSpPr>
        <p:spPr>
          <a:xfrm>
            <a:off x="9664700" y="3086100"/>
            <a:ext cx="1574800" cy="1054050"/>
          </a:xfrm>
          <a:prstGeom prst="rect">
            <a:avLst/>
          </a:prstGeom>
          <a:noFill/>
          <a:ln/>
        </p:spPr>
        <p:txBody>
          <a:bodyPr wrap="square" lIns="0" tIns="0" rIns="0" bIns="0" rtlCol="0" anchor="t">
            <a:normAutofit/>
          </a:bodyPr>
          <a:lstStyle/>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SHACL validation</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DL reasoner checks</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Impact simulation</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Peer review · CI/CD</a:t>
            </a:r>
            <a:endParaRPr lang="en-US" sz="1200" dirty="0"/>
          </a:p>
          <a:p>
            <a:pPr algn="l" marL="182880" indent="-155194">
              <a:lnSpc>
                <a:spcPts val="1620"/>
              </a:lnSpc>
              <a:buSzPct val="100000"/>
              <a:buChar char="•"/>
            </a:pPr>
            <a:r>
              <a:rPr lang="en-US" sz="1200" dirty="0">
                <a:solidFill>
                  <a:srgbClr val="14213D"/>
                </a:solidFill>
                <a:latin typeface="IBM Plex Sans" pitchFamily="34" charset="0"/>
                <a:ea typeface="IBM Plex Sans" pitchFamily="34" charset="-122"/>
                <a:cs typeface="IBM Plex Sans" pitchFamily="34" charset="-120"/>
              </a:rPr>
              <a:t>PROV-O lineage</a:t>
            </a:r>
            <a:endParaRPr lang="en-US" sz="1200" dirty="0"/>
          </a:p>
        </p:txBody>
      </p:sp>
      <p:pic>
        <p:nvPicPr>
          <p:cNvPr id="24" name="Image 0" descr="connector">    </p:cNvPr>
          <p:cNvPicPr>
            <a:picLocks noChangeAspect="1"/>
          </p:cNvPicPr>
          <p:nvPr/>
        </p:nvPicPr>
        <p:blipFill>
          <a:blip r:embed="rId1"/>
          <a:srcRect l="0" r="0" t="0" b="0"/>
          <a:stretch/>
        </p:blipFill>
        <p:spPr>
          <a:xfrm>
            <a:off x="2667000" y="2901950"/>
            <a:ext cx="431800" cy="101600"/>
          </a:xfrm>
          <a:prstGeom prst="rect">
            <a:avLst/>
          </a:prstGeom>
        </p:spPr>
      </p:pic>
      <p:pic>
        <p:nvPicPr>
          <p:cNvPr id="25" name="Image 1" descr="connector">    </p:cNvPr>
          <p:cNvPicPr>
            <a:picLocks noChangeAspect="1"/>
          </p:cNvPicPr>
          <p:nvPr/>
        </p:nvPicPr>
        <p:blipFill>
          <a:blip r:embed="rId2"/>
          <a:srcRect l="0" r="0" t="0" b="0"/>
          <a:stretch/>
        </p:blipFill>
        <p:spPr>
          <a:xfrm>
            <a:off x="2667000" y="4330700"/>
            <a:ext cx="431800" cy="101600"/>
          </a:xfrm>
          <a:prstGeom prst="rect">
            <a:avLst/>
          </a:prstGeom>
        </p:spPr>
      </p:pic>
      <p:pic>
        <p:nvPicPr>
          <p:cNvPr id="26" name="Image 2" descr="connector">    </p:cNvPr>
          <p:cNvPicPr>
            <a:picLocks noChangeAspect="1"/>
          </p:cNvPicPr>
          <p:nvPr/>
        </p:nvPicPr>
        <p:blipFill>
          <a:blip r:embed="rId3"/>
          <a:srcRect l="0" r="0" t="0" b="0"/>
          <a:stretch/>
        </p:blipFill>
        <p:spPr>
          <a:xfrm>
            <a:off x="9093200" y="2901950"/>
            <a:ext cx="431800" cy="101600"/>
          </a:xfrm>
          <a:prstGeom prst="rect">
            <a:avLst/>
          </a:prstGeom>
        </p:spPr>
      </p:pic>
      <p:pic>
        <p:nvPicPr>
          <p:cNvPr id="27" name="Image 3" descr="connector">    </p:cNvPr>
          <p:cNvPicPr>
            <a:picLocks noChangeAspect="1"/>
          </p:cNvPicPr>
          <p:nvPr/>
        </p:nvPicPr>
        <p:blipFill>
          <a:blip r:embed="rId4"/>
          <a:srcRect l="0" r="0" t="0" b="0"/>
          <a:stretch/>
        </p:blipFill>
        <p:spPr>
          <a:xfrm>
            <a:off x="9093200" y="4330700"/>
            <a:ext cx="431800" cy="101600"/>
          </a:xfrm>
          <a:prstGeom prst="rect">
            <a:avLst/>
          </a:prstGeom>
        </p:spPr>
      </p:pic>
      <p:sp>
        <p:nvSpPr>
          <p:cNvPr id="28" name="Text 22"/>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9" name="Text 23"/>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SHIPWRIGHT'S TOOLS</a:t>
            </a:r>
            <a:endParaRPr lang="en-US" sz="1200" dirty="0"/>
          </a:p>
        </p:txBody>
      </p:sp>
      <p:sp>
        <p:nvSpPr>
          <p:cNvPr id="3" name="Text 1"/>
          <p:cNvSpPr/>
          <p:nvPr>
            <p:ph type="title"/>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Source Serif 4" pitchFamily="18" charset="0"/>
                <a:ea typeface="Source Serif 4" pitchFamily="18" charset="-122"/>
                <a:cs typeface="Source Serif 4" pitchFamily="18" charset="-120"/>
              </a:rPr>
              <a:t>Two design-time tools with distinct, non-overlapping roles</a:t>
            </a:r>
            <a:endParaRPr lang="en-US" sz="2600" dirty="0"/>
          </a:p>
        </p:txBody>
      </p:sp>
      <p:sp>
        <p:nvSpPr>
          <p:cNvPr id="4" name="Shape 2"/>
          <p:cNvSpPr/>
          <p:nvPr/>
        </p:nvSpPr>
        <p:spPr>
          <a:xfrm>
            <a:off x="815975" y="1764605"/>
            <a:ext cx="5175250" cy="2412802"/>
          </a:xfrm>
          <a:prstGeom prst="roundRect">
            <a:avLst>
              <a:gd name="adj" fmla="val 3027"/>
            </a:avLst>
          </a:prstGeom>
          <a:solidFill>
            <a:srgbClr val="FDFCF8"/>
          </a:solidFill>
          <a:ln w="6350">
            <a:solidFill>
              <a:srgbClr val="DAD6CB"/>
            </a:solidFill>
            <a:prstDash val="solid"/>
          </a:ln>
        </p:spPr>
      </p:sp>
      <p:sp>
        <p:nvSpPr>
          <p:cNvPr id="5" name="Text 3"/>
          <p:cNvSpPr/>
          <p:nvPr/>
        </p:nvSpPr>
        <p:spPr>
          <a:xfrm>
            <a:off x="1073150" y="2021780"/>
            <a:ext cx="48007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RDF Studio · the canvas</a:t>
            </a:r>
            <a:endParaRPr lang="en-US" sz="1700" dirty="0"/>
          </a:p>
        </p:txBody>
      </p:sp>
      <p:sp>
        <p:nvSpPr>
          <p:cNvPr id="6" name="Text 4"/>
          <p:cNvSpPr/>
          <p:nvPr/>
        </p:nvSpPr>
        <p:spPr>
          <a:xfrm>
            <a:off x="1073150" y="2382441"/>
            <a:ext cx="4800727"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Where analysts and data stewards structure the domain together: jobs, locations, benefits, compliance classes.</a:t>
            </a:r>
            <a:endParaRPr lang="en-US" sz="1300" dirty="0"/>
          </a:p>
        </p:txBody>
      </p:sp>
      <p:sp>
        <p:nvSpPr>
          <p:cNvPr id="7" name="Text 5"/>
          <p:cNvSpPr/>
          <p:nvPr/>
        </p:nvSpPr>
        <p:spPr>
          <a:xfrm>
            <a:off x="1073150" y="2962771"/>
            <a:ext cx="4800727" cy="982861"/>
          </a:xfrm>
          <a:prstGeom prst="rect">
            <a:avLst/>
          </a:prstGeom>
          <a:noFill/>
          <a:ln/>
        </p:spPr>
        <p:txBody>
          <a:bodyPr wrap="square" lIns="0" tIns="0" rIns="0" bIns="0" rtlCol="0" anchor="t">
            <a:normAutofit/>
          </a:bodyPr>
          <a:lstStyle/>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Visual taxonomy and ontology design</a:t>
            </a:r>
            <a:endParaRPr lang="en-US" sz="1300" dirty="0"/>
          </a:p>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Graphical view of classes and relationships</a:t>
            </a:r>
            <a:endParaRPr lang="en-US" sz="1300" dirty="0"/>
          </a:p>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Central repository for enterprise vocabularies</a:t>
            </a:r>
            <a:endParaRPr lang="en-US" sz="1300" dirty="0"/>
          </a:p>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Canonical schema inspection and versioning</a:t>
            </a:r>
            <a:endParaRPr lang="en-US" sz="1300" dirty="0"/>
          </a:p>
        </p:txBody>
      </p:sp>
      <p:sp>
        <p:nvSpPr>
          <p:cNvPr id="8" name="Shape 6"/>
          <p:cNvSpPr/>
          <p:nvPr/>
        </p:nvSpPr>
        <p:spPr>
          <a:xfrm>
            <a:off x="6200775" y="1764605"/>
            <a:ext cx="5175250" cy="2412802"/>
          </a:xfrm>
          <a:prstGeom prst="roundRect">
            <a:avLst>
              <a:gd name="adj" fmla="val 3027"/>
            </a:avLst>
          </a:prstGeom>
          <a:solidFill>
            <a:srgbClr val="FDFCF8"/>
          </a:solidFill>
          <a:ln w="6350">
            <a:solidFill>
              <a:srgbClr val="DAD6CB"/>
            </a:solidFill>
            <a:prstDash val="solid"/>
          </a:ln>
        </p:spPr>
      </p:sp>
      <p:sp>
        <p:nvSpPr>
          <p:cNvPr id="9" name="Text 7"/>
          <p:cNvSpPr/>
          <p:nvPr/>
        </p:nvSpPr>
        <p:spPr>
          <a:xfrm>
            <a:off x="6457950" y="2021780"/>
            <a:ext cx="48007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Claude.ai · the co-pilot</a:t>
            </a:r>
            <a:endParaRPr lang="en-US" sz="1700" dirty="0"/>
          </a:p>
        </p:txBody>
      </p:sp>
      <p:sp>
        <p:nvSpPr>
          <p:cNvPr id="10" name="Text 8"/>
          <p:cNvSpPr/>
          <p:nvPr/>
        </p:nvSpPr>
        <p:spPr>
          <a:xfrm>
            <a:off x="6457950" y="2382441"/>
            <a:ext cx="4800727"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Removes syntax friction: turns policy manuals into candidate SKOS concepts, mappings and constraints.</a:t>
            </a:r>
            <a:endParaRPr lang="en-US" sz="1300" dirty="0"/>
          </a:p>
        </p:txBody>
      </p:sp>
      <p:sp>
        <p:nvSpPr>
          <p:cNvPr id="11" name="Text 9"/>
          <p:cNvSpPr/>
          <p:nvPr/>
        </p:nvSpPr>
        <p:spPr>
          <a:xfrm>
            <a:off x="6457950" y="2962771"/>
            <a:ext cx="4800727" cy="982861"/>
          </a:xfrm>
          <a:prstGeom prst="rect">
            <a:avLst/>
          </a:prstGeom>
          <a:noFill/>
          <a:ln/>
        </p:spPr>
        <p:txBody>
          <a:bodyPr wrap="square" lIns="0" tIns="0" rIns="0" bIns="0" rtlCol="0" anchor="t">
            <a:normAutofit/>
          </a:bodyPr>
          <a:lstStyle/>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Drafts OWL axioms from written policy</a:t>
            </a:r>
            <a:endParaRPr lang="en-US" sz="1300" dirty="0"/>
          </a:p>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Generates RML / SPARQL mapping drafts</a:t>
            </a:r>
            <a:endParaRPr lang="en-US" sz="1300" dirty="0"/>
          </a:p>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Produces SHACL shapes for data quality</a:t>
            </a:r>
            <a:endParaRPr lang="en-US" sz="1300" dirty="0"/>
          </a:p>
          <a:p>
            <a:pPr algn="l" marL="198120" indent="-168656">
              <a:lnSpc>
                <a:spcPts val="1885"/>
              </a:lnSpc>
              <a:buSzPct val="100000"/>
              <a:buChar char="•"/>
            </a:pPr>
            <a:r>
              <a:rPr lang="en-US" sz="1300" dirty="0">
                <a:solidFill>
                  <a:srgbClr val="14213D"/>
                </a:solidFill>
                <a:latin typeface="IBM Plex Sans" pitchFamily="34" charset="0"/>
                <a:ea typeface="IBM Plex Sans" pitchFamily="34" charset="-122"/>
                <a:cs typeface="IBM Plex Sans" pitchFamily="34" charset="-120"/>
              </a:rPr>
              <a:t>Simulates impact and flags breaking diffs</a:t>
            </a:r>
            <a:endParaRPr lang="en-US" sz="1300" dirty="0"/>
          </a:p>
        </p:txBody>
      </p:sp>
      <p:sp>
        <p:nvSpPr>
          <p:cNvPr id="12" name="Text 10"/>
          <p:cNvSpPr/>
          <p:nvPr/>
        </p:nvSpPr>
        <p:spPr>
          <a:xfrm>
            <a:off x="812800" y="4434582"/>
            <a:ext cx="10566400" cy="553690"/>
          </a:xfrm>
          <a:prstGeom prst="roundRect">
            <a:avLst>
              <a:gd name="adj" fmla="val 13762"/>
            </a:avLst>
          </a:prstGeom>
          <a:solidFill>
            <a:srgbClr val="14213D"/>
          </a:solidFill>
          <a:ln/>
        </p:spPr>
        <p:txBody>
          <a:bodyPr wrap="square" lIns="206282" tIns="130082" rIns="0" bIns="104682" rtlCol="0" anchor="t">
            <a:normAutofit/>
          </a:bodyPr>
          <a:lstStyle/>
          <a:p>
            <a:pPr algn="l" indent="0" marL="0">
              <a:lnSpc>
                <a:spcPts val="1960"/>
              </a:lnSpc>
              <a:buNone/>
            </a:pPr>
            <a:r>
              <a:rPr lang="en-US" sz="1400" dirty="0">
                <a:solidFill>
                  <a:srgbClr val="F2D675"/>
                </a:solidFill>
                <a:latin typeface="IBM Plex Sans" pitchFamily="34" charset="0"/>
                <a:ea typeface="IBM Plex Sans" pitchFamily="34" charset="-122"/>
                <a:cs typeface="IBM Plex Sans" pitchFamily="34" charset="-120"/>
              </a:rPr>
              <a:t>People review and approve every draft.</a:t>
            </a:r>
            <a:r>
              <a:rPr lang="en-US" sz="1400" dirty="0">
                <a:solidFill>
                  <a:srgbClr val="F6F4EE"/>
                </a:solidFill>
                <a:latin typeface="IBM Plex Sans" pitchFamily="34" charset="0"/>
                <a:ea typeface="IBM Plex Sans" pitchFamily="34" charset="-122"/>
                <a:cs typeface="IBM Plex Sans" pitchFamily="34" charset="-120"/>
              </a:rPr>
              <a:t> Neither tool writes to a shared repository or runs in production.</a:t>
            </a:r>
            <a:endParaRPr lang="en-US" sz="1400" dirty="0"/>
          </a:p>
        </p:txBody>
      </p:sp>
      <p:sp>
        <p:nvSpPr>
          <p:cNvPr id="13" name="Text 11"/>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14" name="Text 1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812800" y="1765300"/>
            <a:ext cx="10566400" cy="965200"/>
          </a:xfrm>
          <a:prstGeom prst="roundRect">
            <a:avLst>
              <a:gd name="adj" fmla="val 5263"/>
            </a:avLst>
          </a:prstGeom>
          <a:solidFill>
            <a:srgbClr val="E3EFEE"/>
          </a:solidFill>
          <a:ln/>
        </p:spPr>
      </p:sp>
      <p:sp>
        <p:nvSpPr>
          <p:cNvPr id="3" name="Shape 1"/>
          <p:cNvSpPr/>
          <p:nvPr/>
        </p:nvSpPr>
        <p:spPr>
          <a:xfrm>
            <a:off x="812800" y="2781300"/>
            <a:ext cx="10566400" cy="965200"/>
          </a:xfrm>
          <a:prstGeom prst="roundRect">
            <a:avLst>
              <a:gd name="adj" fmla="val 5263"/>
            </a:avLst>
          </a:prstGeom>
          <a:solidFill>
            <a:srgbClr val="DFE5EF"/>
          </a:solidFill>
          <a:ln/>
        </p:spPr>
      </p:sp>
      <p:sp>
        <p:nvSpPr>
          <p:cNvPr id="4" name="Shape 2"/>
          <p:cNvSpPr/>
          <p:nvPr/>
        </p:nvSpPr>
        <p:spPr>
          <a:xfrm>
            <a:off x="812800" y="3797300"/>
            <a:ext cx="10566400" cy="965200"/>
          </a:xfrm>
          <a:prstGeom prst="roundRect">
            <a:avLst>
              <a:gd name="adj" fmla="val 5263"/>
            </a:avLst>
          </a:prstGeom>
          <a:solidFill>
            <a:srgbClr val="ECEEF3"/>
          </a:solidFill>
          <a:ln/>
        </p:spPr>
      </p:sp>
      <p:sp>
        <p:nvSpPr>
          <p:cNvPr id="5" name="Shape 3"/>
          <p:cNvSpPr/>
          <p:nvPr/>
        </p:nvSpPr>
        <p:spPr>
          <a:xfrm>
            <a:off x="812800" y="4813300"/>
            <a:ext cx="10566400" cy="965200"/>
          </a:xfrm>
          <a:prstGeom prst="roundRect">
            <a:avLst>
              <a:gd name="adj" fmla="val 5263"/>
            </a:avLst>
          </a:prstGeom>
          <a:solidFill>
            <a:srgbClr val="EDEBE5"/>
          </a:solidFill>
          <a:ln/>
        </p:spPr>
      </p:sp>
      <p:sp>
        <p:nvSpPr>
          <p:cNvPr id="6" name="Text 4"/>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HOW WE DELIVER TOGETHER</a:t>
            </a:r>
            <a:endParaRPr lang="en-US" sz="1200" dirty="0"/>
          </a:p>
        </p:txBody>
      </p:sp>
      <p:sp>
        <p:nvSpPr>
          <p:cNvPr id="7" name="Text 5"/>
          <p:cNvSpPr/>
          <p:nvPr>
            <p:ph type="title"/>
          </p:nvPr>
        </p:nvSpPr>
        <p:spPr>
          <a:xfrm>
            <a:off x="812800" y="1102320"/>
            <a:ext cx="10883392" cy="346670"/>
          </a:xfrm>
          <a:prstGeom prst="rect">
            <a:avLst/>
          </a:prstGeom>
          <a:noFill/>
          <a:ln/>
        </p:spPr>
        <p:txBody>
          <a:bodyPr wrap="square" lIns="0" tIns="0" rIns="0" bIns="0" rtlCol="0" anchor="t">
            <a:normAutofit/>
          </a:bodyPr>
          <a:lstStyle/>
          <a:p>
            <a:pPr algn="l" indent="0" marL="0">
              <a:lnSpc>
                <a:spcPts val="2530"/>
              </a:lnSpc>
              <a:buNone/>
            </a:pPr>
            <a:r>
              <a:rPr lang="en-US" sz="2200" b="1" i="0" dirty="0">
                <a:solidFill>
                  <a:srgbClr val="14213D"/>
                </a:solidFill>
                <a:latin typeface="Source Serif 4" pitchFamily="18" charset="0"/>
                <a:ea typeface="Source Serif 4" pitchFamily="18" charset="-122"/>
                <a:cs typeface="Source Serif 4" pitchFamily="18" charset="-120"/>
              </a:rPr>
              <a:t>One change through the HR Advisory 360 lifecycle</a:t>
            </a:r>
            <a:endParaRPr lang="en-US" sz="2200" dirty="0"/>
          </a:p>
        </p:txBody>
      </p:sp>
      <p:sp>
        <p:nvSpPr>
          <p:cNvPr id="8" name="Text 6"/>
          <p:cNvSpPr/>
          <p:nvPr/>
        </p:nvSpPr>
        <p:spPr>
          <a:xfrm>
            <a:off x="2540000" y="1498600"/>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385"/>
                </a:solidFill>
                <a:latin typeface="IBM Plex Sans" pitchFamily="34" charset="0"/>
                <a:ea typeface="IBM Plex Sans" pitchFamily="34" charset="-122"/>
                <a:cs typeface="IBM Plex Sans" pitchFamily="34" charset="-120"/>
              </a:rPr>
              <a:t>DESIGN-TIME · ENTERPRISE ANALYTICS SANDBOX</a:t>
            </a:r>
            <a:endParaRPr lang="en-US" sz="1200" dirty="0"/>
          </a:p>
        </p:txBody>
      </p:sp>
      <p:sp>
        <p:nvSpPr>
          <p:cNvPr id="9" name="Text 7"/>
          <p:cNvSpPr/>
          <p:nvPr/>
        </p:nvSpPr>
        <p:spPr>
          <a:xfrm>
            <a:off x="8763000" y="1498600"/>
            <a:ext cx="269468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7385"/>
                </a:solidFill>
                <a:latin typeface="IBM Plex Sans" pitchFamily="34" charset="0"/>
                <a:ea typeface="IBM Plex Sans" pitchFamily="34" charset="-122"/>
                <a:cs typeface="IBM Plex Sans" pitchFamily="34" charset="-120"/>
              </a:rPr>
              <a:t>RUN-TIME · IT PRODUCTION</a:t>
            </a:r>
            <a:endParaRPr lang="en-US" sz="1200" dirty="0"/>
          </a:p>
        </p:txBody>
      </p:sp>
      <p:pic>
        <p:nvPicPr>
          <p:cNvPr id="10" name="Image 0" descr="connector">    </p:cNvPr>
          <p:cNvPicPr>
            <a:picLocks noChangeAspect="1"/>
          </p:cNvPicPr>
          <p:nvPr/>
        </p:nvPicPr>
        <p:blipFill>
          <a:blip r:embed="rId1"/>
          <a:srcRect l="0" r="0" t="0" b="0"/>
          <a:stretch/>
        </p:blipFill>
        <p:spPr>
          <a:xfrm>
            <a:off x="8153400" y="1460500"/>
            <a:ext cx="76200" cy="4356100"/>
          </a:xfrm>
          <a:prstGeom prst="rect">
            <a:avLst/>
          </a:prstGeom>
        </p:spPr>
      </p:pic>
      <p:sp>
        <p:nvSpPr>
          <p:cNvPr id="11" name="Text 8"/>
          <p:cNvSpPr/>
          <p:nvPr/>
        </p:nvSpPr>
        <p:spPr>
          <a:xfrm>
            <a:off x="939800" y="1905000"/>
            <a:ext cx="15113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2E6F73"/>
                </a:solidFill>
                <a:latin typeface="IBM Plex Sans" pitchFamily="34" charset="0"/>
                <a:ea typeface="IBM Plex Sans" pitchFamily="34" charset="-122"/>
                <a:cs typeface="IBM Plex Sans" pitchFamily="34" charset="-120"/>
              </a:rPr>
              <a:t>Business</a:t>
            </a:r>
            <a:endParaRPr lang="en-US" sz="1300" dirty="0"/>
          </a:p>
        </p:txBody>
      </p:sp>
      <p:sp>
        <p:nvSpPr>
          <p:cNvPr id="12" name="Text 9"/>
          <p:cNvSpPr/>
          <p:nvPr/>
        </p:nvSpPr>
        <p:spPr>
          <a:xfrm>
            <a:off x="939800" y="2128490"/>
            <a:ext cx="15113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HR policy owners</a:t>
            </a:r>
            <a:endParaRPr lang="en-US" sz="1200" dirty="0"/>
          </a:p>
        </p:txBody>
      </p:sp>
      <p:sp>
        <p:nvSpPr>
          <p:cNvPr id="13" name="Text 10"/>
          <p:cNvSpPr/>
          <p:nvPr/>
        </p:nvSpPr>
        <p:spPr>
          <a:xfrm>
            <a:off x="939800" y="2870200"/>
            <a:ext cx="1511300" cy="42158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13D"/>
                </a:solidFill>
                <a:latin typeface="IBM Plex Sans" pitchFamily="34" charset="0"/>
                <a:ea typeface="IBM Plex Sans" pitchFamily="34" charset="-122"/>
                <a:cs typeface="IBM Plex Sans" pitchFamily="34" charset="-120"/>
              </a:rPr>
              <a:t>Enterprise Analytics</a:t>
            </a:r>
            <a:endParaRPr lang="en-US" sz="1300" dirty="0"/>
          </a:p>
        </p:txBody>
      </p:sp>
      <p:sp>
        <p:nvSpPr>
          <p:cNvPr id="14" name="Text 11"/>
          <p:cNvSpPr/>
          <p:nvPr/>
        </p:nvSpPr>
        <p:spPr>
          <a:xfrm>
            <a:off x="939800" y="3291780"/>
            <a:ext cx="16002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Modelers &amp; stewards</a:t>
            </a:r>
            <a:endParaRPr lang="en-US" sz="1200" dirty="0"/>
          </a:p>
        </p:txBody>
      </p:sp>
      <p:sp>
        <p:nvSpPr>
          <p:cNvPr id="15" name="Text 12"/>
          <p:cNvSpPr/>
          <p:nvPr/>
        </p:nvSpPr>
        <p:spPr>
          <a:xfrm>
            <a:off x="939800" y="3937000"/>
            <a:ext cx="15113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3B4C6E"/>
                </a:solidFill>
                <a:latin typeface="IBM Plex Sans" pitchFamily="34" charset="0"/>
                <a:ea typeface="IBM Plex Sans" pitchFamily="34" charset="-122"/>
                <a:cs typeface="IBM Plex Sans" pitchFamily="34" charset="-120"/>
              </a:rPr>
              <a:t>Architecture</a:t>
            </a:r>
            <a:endParaRPr lang="en-US" sz="1300" dirty="0"/>
          </a:p>
        </p:txBody>
      </p:sp>
      <p:sp>
        <p:nvSpPr>
          <p:cNvPr id="16" name="Text 13"/>
          <p:cNvSpPr/>
          <p:nvPr/>
        </p:nvSpPr>
        <p:spPr>
          <a:xfrm>
            <a:off x="939800" y="4160490"/>
            <a:ext cx="15113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Standards &amp; review</a:t>
            </a:r>
            <a:endParaRPr lang="en-US" sz="1200" dirty="0"/>
          </a:p>
        </p:txBody>
      </p:sp>
      <p:sp>
        <p:nvSpPr>
          <p:cNvPr id="17" name="Text 14"/>
          <p:cNvSpPr/>
          <p:nvPr/>
        </p:nvSpPr>
        <p:spPr>
          <a:xfrm>
            <a:off x="939800" y="4953000"/>
            <a:ext cx="1511300"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4A5568"/>
                </a:solidFill>
                <a:latin typeface="IBM Plex Sans" pitchFamily="34" charset="0"/>
                <a:ea typeface="IBM Plex Sans" pitchFamily="34" charset="-122"/>
                <a:cs typeface="IBM Plex Sans" pitchFamily="34" charset="-120"/>
              </a:rPr>
              <a:t>IT Services</a:t>
            </a:r>
            <a:endParaRPr lang="en-US" sz="1300" dirty="0"/>
          </a:p>
        </p:txBody>
      </p:sp>
      <p:sp>
        <p:nvSpPr>
          <p:cNvPr id="18" name="Text 15"/>
          <p:cNvSpPr/>
          <p:nvPr/>
        </p:nvSpPr>
        <p:spPr>
          <a:xfrm>
            <a:off x="939800" y="5176490"/>
            <a:ext cx="15113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Platforms &amp; ops</a:t>
            </a:r>
            <a:endParaRPr lang="en-US" sz="1200" dirty="0"/>
          </a:p>
        </p:txBody>
      </p:sp>
      <p:sp>
        <p:nvSpPr>
          <p:cNvPr id="19" name="Shape 16"/>
          <p:cNvSpPr/>
          <p:nvPr/>
        </p:nvSpPr>
        <p:spPr>
          <a:xfrm>
            <a:off x="2546350" y="1841500"/>
            <a:ext cx="2273300" cy="812800"/>
          </a:xfrm>
          <a:prstGeom prst="roundRect">
            <a:avLst>
              <a:gd name="adj" fmla="val 7031"/>
            </a:avLst>
          </a:prstGeom>
          <a:solidFill>
            <a:srgbClr val="FDFCF8"/>
          </a:solidFill>
          <a:ln w="12700">
            <a:solidFill>
              <a:srgbClr val="2E6F73"/>
            </a:solidFill>
            <a:prstDash val="solid"/>
          </a:ln>
        </p:spPr>
      </p:sp>
      <p:sp>
        <p:nvSpPr>
          <p:cNvPr id="20" name="Text 17"/>
          <p:cNvSpPr/>
          <p:nvPr/>
        </p:nvSpPr>
        <p:spPr>
          <a:xfrm>
            <a:off x="2654300" y="1944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Raise the need</a:t>
            </a:r>
            <a:endParaRPr lang="en-US" sz="1200" dirty="0"/>
          </a:p>
        </p:txBody>
      </p:sp>
      <p:sp>
        <p:nvSpPr>
          <p:cNvPr id="21" name="Text 18"/>
          <p:cNvSpPr/>
          <p:nvPr/>
        </p:nvSpPr>
        <p:spPr>
          <a:xfrm>
            <a:off x="2654300" y="2155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Policy change or a new advisory question</a:t>
            </a:r>
            <a:endParaRPr lang="en-US" sz="1200" dirty="0"/>
          </a:p>
        </p:txBody>
      </p:sp>
      <p:sp>
        <p:nvSpPr>
          <p:cNvPr id="22" name="Shape 19"/>
          <p:cNvSpPr/>
          <p:nvPr/>
        </p:nvSpPr>
        <p:spPr>
          <a:xfrm>
            <a:off x="8769350" y="1841500"/>
            <a:ext cx="2273300" cy="812800"/>
          </a:xfrm>
          <a:prstGeom prst="roundRect">
            <a:avLst>
              <a:gd name="adj" fmla="val 7031"/>
            </a:avLst>
          </a:prstGeom>
          <a:solidFill>
            <a:srgbClr val="FDFCF8"/>
          </a:solidFill>
          <a:ln w="12700">
            <a:solidFill>
              <a:srgbClr val="2E6F73"/>
            </a:solidFill>
            <a:prstDash val="solid"/>
          </a:ln>
        </p:spPr>
      </p:sp>
      <p:sp>
        <p:nvSpPr>
          <p:cNvPr id="23" name="Text 20"/>
          <p:cNvSpPr/>
          <p:nvPr/>
        </p:nvSpPr>
        <p:spPr>
          <a:xfrm>
            <a:off x="8877300" y="1944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Use governed answers</a:t>
            </a:r>
            <a:endParaRPr lang="en-US" sz="1200" dirty="0"/>
          </a:p>
        </p:txBody>
      </p:sp>
      <p:sp>
        <p:nvSpPr>
          <p:cNvPr id="24" name="Text 21"/>
          <p:cNvSpPr/>
          <p:nvPr/>
        </p:nvSpPr>
        <p:spPr>
          <a:xfrm>
            <a:off x="8877300" y="2155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HR Advisory 360, audit-ready lineage</a:t>
            </a:r>
            <a:endParaRPr lang="en-US" sz="1200" dirty="0"/>
          </a:p>
        </p:txBody>
      </p:sp>
      <p:sp>
        <p:nvSpPr>
          <p:cNvPr id="25" name="Shape 22"/>
          <p:cNvSpPr/>
          <p:nvPr/>
        </p:nvSpPr>
        <p:spPr>
          <a:xfrm>
            <a:off x="2540000" y="2851150"/>
            <a:ext cx="2286000" cy="825500"/>
          </a:xfrm>
          <a:prstGeom prst="roundRect">
            <a:avLst>
              <a:gd name="adj" fmla="val 7692"/>
            </a:avLst>
          </a:prstGeom>
          <a:solidFill>
            <a:srgbClr val="14213D"/>
          </a:solidFill>
          <a:ln/>
        </p:spPr>
      </p:sp>
      <p:sp>
        <p:nvSpPr>
          <p:cNvPr id="26" name="Text 23"/>
          <p:cNvSpPr/>
          <p:nvPr/>
        </p:nvSpPr>
        <p:spPr>
          <a:xfrm>
            <a:off x="2641600" y="2960390"/>
            <a:ext cx="2145284"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6F4EE"/>
                </a:solidFill>
                <a:latin typeface="IBM Plex Sans" pitchFamily="34" charset="0"/>
                <a:ea typeface="IBM Plex Sans" pitchFamily="34" charset="-122"/>
                <a:cs typeface="IBM Plex Sans" pitchFamily="34" charset="-120"/>
              </a:rPr>
              <a:t>Model the meaning</a:t>
            </a:r>
            <a:endParaRPr lang="en-US" sz="1200" dirty="0"/>
          </a:p>
        </p:txBody>
      </p:sp>
      <p:sp>
        <p:nvSpPr>
          <p:cNvPr id="27" name="Text 24"/>
          <p:cNvSpPr/>
          <p:nvPr/>
        </p:nvSpPr>
        <p:spPr>
          <a:xfrm>
            <a:off x="2641600" y="3171180"/>
            <a:ext cx="214528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E0"/>
                </a:solidFill>
                <a:latin typeface="IBM Plex Sans" pitchFamily="34" charset="0"/>
                <a:ea typeface="IBM Plex Sans" pitchFamily="34" charset="-122"/>
                <a:cs typeface="IBM Plex Sans" pitchFamily="34" charset="-120"/>
              </a:rPr>
              <a:t>RDF Studio canvas; Claude.ai drafts</a:t>
            </a:r>
            <a:endParaRPr lang="en-US" sz="1200" dirty="0"/>
          </a:p>
        </p:txBody>
      </p:sp>
      <p:sp>
        <p:nvSpPr>
          <p:cNvPr id="28" name="Shape 25"/>
          <p:cNvSpPr/>
          <p:nvPr/>
        </p:nvSpPr>
        <p:spPr>
          <a:xfrm>
            <a:off x="5334000" y="2851150"/>
            <a:ext cx="2286000" cy="825500"/>
          </a:xfrm>
          <a:prstGeom prst="roundRect">
            <a:avLst>
              <a:gd name="adj" fmla="val 7692"/>
            </a:avLst>
          </a:prstGeom>
          <a:solidFill>
            <a:srgbClr val="14213D"/>
          </a:solidFill>
          <a:ln/>
        </p:spPr>
      </p:sp>
      <p:sp>
        <p:nvSpPr>
          <p:cNvPr id="29" name="Text 26"/>
          <p:cNvSpPr/>
          <p:nvPr/>
        </p:nvSpPr>
        <p:spPr>
          <a:xfrm>
            <a:off x="5435600" y="2960390"/>
            <a:ext cx="2145284"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6F4EE"/>
                </a:solidFill>
                <a:latin typeface="IBM Plex Sans" pitchFamily="34" charset="0"/>
                <a:ea typeface="IBM Plex Sans" pitchFamily="34" charset="-122"/>
                <a:cs typeface="IBM Plex Sans" pitchFamily="34" charset="-120"/>
              </a:rPr>
              <a:t>Validate the model</a:t>
            </a:r>
            <a:endParaRPr lang="en-US" sz="1200" dirty="0"/>
          </a:p>
        </p:txBody>
      </p:sp>
      <p:sp>
        <p:nvSpPr>
          <p:cNvPr id="30" name="Text 27"/>
          <p:cNvSpPr/>
          <p:nvPr/>
        </p:nvSpPr>
        <p:spPr>
          <a:xfrm>
            <a:off x="5435600" y="3171180"/>
            <a:ext cx="214528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E0"/>
                </a:solidFill>
                <a:latin typeface="IBM Plex Sans" pitchFamily="34" charset="0"/>
                <a:ea typeface="IBM Plex Sans" pitchFamily="34" charset="-122"/>
                <a:cs typeface="IBM Plex Sans" pitchFamily="34" charset="-120"/>
              </a:rPr>
              <a:t>SHACL rules, impact &amp; drift simulation</a:t>
            </a:r>
            <a:endParaRPr lang="en-US" sz="1200" dirty="0"/>
          </a:p>
        </p:txBody>
      </p:sp>
      <p:sp>
        <p:nvSpPr>
          <p:cNvPr id="31" name="Shape 28"/>
          <p:cNvSpPr/>
          <p:nvPr/>
        </p:nvSpPr>
        <p:spPr>
          <a:xfrm>
            <a:off x="2546350" y="3873500"/>
            <a:ext cx="2273300" cy="812800"/>
          </a:xfrm>
          <a:prstGeom prst="roundRect">
            <a:avLst>
              <a:gd name="adj" fmla="val 7031"/>
            </a:avLst>
          </a:prstGeom>
          <a:solidFill>
            <a:srgbClr val="FDFCF8"/>
          </a:solidFill>
          <a:ln w="12700">
            <a:solidFill>
              <a:srgbClr val="3B4C6E"/>
            </a:solidFill>
            <a:prstDash val="solid"/>
          </a:ln>
        </p:spPr>
      </p:sp>
      <p:sp>
        <p:nvSpPr>
          <p:cNvPr id="32" name="Text 29"/>
          <p:cNvSpPr/>
          <p:nvPr/>
        </p:nvSpPr>
        <p:spPr>
          <a:xfrm>
            <a:off x="2654300" y="3976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Set guardrails first</a:t>
            </a:r>
            <a:endParaRPr lang="en-US" sz="1200" dirty="0"/>
          </a:p>
        </p:txBody>
      </p:sp>
      <p:sp>
        <p:nvSpPr>
          <p:cNvPr id="33" name="Text 30"/>
          <p:cNvSpPr/>
          <p:nvPr/>
        </p:nvSpPr>
        <p:spPr>
          <a:xfrm>
            <a:off x="2654300" y="4187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IRI conventions &amp; reference patterns</a:t>
            </a:r>
            <a:endParaRPr lang="en-US" sz="1200" dirty="0"/>
          </a:p>
        </p:txBody>
      </p:sp>
      <p:sp>
        <p:nvSpPr>
          <p:cNvPr id="34" name="Shape 31"/>
          <p:cNvSpPr/>
          <p:nvPr/>
        </p:nvSpPr>
        <p:spPr>
          <a:xfrm>
            <a:off x="5340350" y="3873500"/>
            <a:ext cx="2273300" cy="812800"/>
          </a:xfrm>
          <a:prstGeom prst="roundRect">
            <a:avLst>
              <a:gd name="adj" fmla="val 7031"/>
            </a:avLst>
          </a:prstGeom>
          <a:solidFill>
            <a:srgbClr val="FDFCF8"/>
          </a:solidFill>
          <a:ln w="12700">
            <a:solidFill>
              <a:srgbClr val="3B4C6E"/>
            </a:solidFill>
            <a:prstDash val="solid"/>
          </a:ln>
        </p:spPr>
      </p:sp>
      <p:sp>
        <p:nvSpPr>
          <p:cNvPr id="35" name="Text 32"/>
          <p:cNvSpPr/>
          <p:nvPr/>
        </p:nvSpPr>
        <p:spPr>
          <a:xfrm>
            <a:off x="5448300" y="3976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Conformance review</a:t>
            </a:r>
            <a:endParaRPr lang="en-US" sz="1200" dirty="0"/>
          </a:p>
        </p:txBody>
      </p:sp>
      <p:sp>
        <p:nvSpPr>
          <p:cNvPr id="36" name="Text 33"/>
          <p:cNvSpPr/>
          <p:nvPr/>
        </p:nvSpPr>
        <p:spPr>
          <a:xfrm>
            <a:off x="5448300" y="4187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Patterns, security &amp; data classification</a:t>
            </a:r>
            <a:endParaRPr lang="en-US" sz="1200" dirty="0"/>
          </a:p>
        </p:txBody>
      </p:sp>
      <p:sp>
        <p:nvSpPr>
          <p:cNvPr id="37" name="Shape 34"/>
          <p:cNvSpPr/>
          <p:nvPr/>
        </p:nvSpPr>
        <p:spPr>
          <a:xfrm>
            <a:off x="2546350" y="4889500"/>
            <a:ext cx="2273300" cy="812800"/>
          </a:xfrm>
          <a:prstGeom prst="roundRect">
            <a:avLst>
              <a:gd name="adj" fmla="val 7031"/>
            </a:avLst>
          </a:prstGeom>
          <a:solidFill>
            <a:srgbClr val="FDFCF8"/>
          </a:solidFill>
          <a:ln w="12700">
            <a:solidFill>
              <a:srgbClr val="6B7385"/>
            </a:solidFill>
            <a:prstDash val="solid"/>
          </a:ln>
        </p:spPr>
      </p:sp>
      <p:sp>
        <p:nvSpPr>
          <p:cNvPr id="38" name="Text 35"/>
          <p:cNvSpPr/>
          <p:nvPr/>
        </p:nvSpPr>
        <p:spPr>
          <a:xfrm>
            <a:off x="2654300" y="4992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Enable the sandbox</a:t>
            </a:r>
            <a:endParaRPr lang="en-US" sz="1200" dirty="0"/>
          </a:p>
        </p:txBody>
      </p:sp>
      <p:sp>
        <p:nvSpPr>
          <p:cNvPr id="39" name="Text 36"/>
          <p:cNvSpPr/>
          <p:nvPr/>
        </p:nvSpPr>
        <p:spPr>
          <a:xfrm>
            <a:off x="2654300" y="5203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SSO / RBAC, read-only source views</a:t>
            </a:r>
            <a:endParaRPr lang="en-US" sz="1200" dirty="0"/>
          </a:p>
        </p:txBody>
      </p:sp>
      <p:sp>
        <p:nvSpPr>
          <p:cNvPr id="40" name="Shape 37"/>
          <p:cNvSpPr/>
          <p:nvPr/>
        </p:nvSpPr>
        <p:spPr>
          <a:xfrm>
            <a:off x="5340350" y="4889500"/>
            <a:ext cx="2273300" cy="812800"/>
          </a:xfrm>
          <a:prstGeom prst="roundRect">
            <a:avLst>
              <a:gd name="adj" fmla="val 7031"/>
            </a:avLst>
          </a:prstGeom>
          <a:solidFill>
            <a:srgbClr val="FDFCF8"/>
          </a:solidFill>
          <a:ln w="12700">
            <a:solidFill>
              <a:srgbClr val="6B7385"/>
            </a:solidFill>
            <a:prstDash val="solid"/>
          </a:ln>
        </p:spPr>
      </p:sp>
      <p:sp>
        <p:nvSpPr>
          <p:cNvPr id="41" name="Text 38"/>
          <p:cNvSpPr/>
          <p:nvPr/>
        </p:nvSpPr>
        <p:spPr>
          <a:xfrm>
            <a:off x="5448300" y="4992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Promote via CI/CD</a:t>
            </a:r>
            <a:endParaRPr lang="en-US" sz="1200" dirty="0"/>
          </a:p>
        </p:txBody>
      </p:sp>
      <p:sp>
        <p:nvSpPr>
          <p:cNvPr id="42" name="Text 39"/>
          <p:cNvSpPr/>
          <p:nvPr/>
        </p:nvSpPr>
        <p:spPr>
          <a:xfrm>
            <a:off x="5448300" y="5203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Regression tests &amp; Git peer review</a:t>
            </a:r>
            <a:endParaRPr lang="en-US" sz="1200" dirty="0"/>
          </a:p>
        </p:txBody>
      </p:sp>
      <p:sp>
        <p:nvSpPr>
          <p:cNvPr id="43" name="Shape 40"/>
          <p:cNvSpPr/>
          <p:nvPr/>
        </p:nvSpPr>
        <p:spPr>
          <a:xfrm>
            <a:off x="8769350" y="4889500"/>
            <a:ext cx="2273300" cy="812800"/>
          </a:xfrm>
          <a:prstGeom prst="roundRect">
            <a:avLst>
              <a:gd name="adj" fmla="val 7031"/>
            </a:avLst>
          </a:prstGeom>
          <a:solidFill>
            <a:srgbClr val="FDFCF8"/>
          </a:solidFill>
          <a:ln w="12700">
            <a:solidFill>
              <a:srgbClr val="6B7385"/>
            </a:solidFill>
            <a:prstDash val="solid"/>
          </a:ln>
        </p:spPr>
      </p:sp>
      <p:sp>
        <p:nvSpPr>
          <p:cNvPr id="44" name="Text 41"/>
          <p:cNvSpPr/>
          <p:nvPr/>
        </p:nvSpPr>
        <p:spPr>
          <a:xfrm>
            <a:off x="8877300" y="4992390"/>
            <a:ext cx="2119122"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Run &amp; publish</a:t>
            </a:r>
            <a:endParaRPr lang="en-US" sz="1200" dirty="0"/>
          </a:p>
        </p:txBody>
      </p:sp>
      <p:sp>
        <p:nvSpPr>
          <p:cNvPr id="45" name="Text 42"/>
          <p:cNvSpPr/>
          <p:nvPr/>
        </p:nvSpPr>
        <p:spPr>
          <a:xfrm>
            <a:off x="8877300" y="5203180"/>
            <a:ext cx="211912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Stable, IRI-grounded endpoints</a:t>
            </a:r>
            <a:endParaRPr lang="en-US" sz="1200" dirty="0"/>
          </a:p>
        </p:txBody>
      </p:sp>
      <p:pic>
        <p:nvPicPr>
          <p:cNvPr id="46" name="Image 1" descr="connector">    </p:cNvPr>
          <p:cNvPicPr>
            <a:picLocks noChangeAspect="1"/>
          </p:cNvPicPr>
          <p:nvPr/>
        </p:nvPicPr>
        <p:blipFill>
          <a:blip r:embed="rId2"/>
          <a:srcRect l="0" r="0" t="0" b="0"/>
          <a:stretch/>
        </p:blipFill>
        <p:spPr>
          <a:xfrm>
            <a:off x="3632200" y="2609850"/>
            <a:ext cx="101600" cy="292100"/>
          </a:xfrm>
          <a:prstGeom prst="rect">
            <a:avLst/>
          </a:prstGeom>
        </p:spPr>
      </p:pic>
      <p:pic>
        <p:nvPicPr>
          <p:cNvPr id="47" name="Image 2" descr="connector">    </p:cNvPr>
          <p:cNvPicPr>
            <a:picLocks noChangeAspect="1"/>
          </p:cNvPicPr>
          <p:nvPr/>
        </p:nvPicPr>
        <p:blipFill>
          <a:blip r:embed="rId3"/>
          <a:srcRect l="0" r="0" t="0" b="0"/>
          <a:stretch/>
        </p:blipFill>
        <p:spPr>
          <a:xfrm>
            <a:off x="3632200" y="3625850"/>
            <a:ext cx="101600" cy="292100"/>
          </a:xfrm>
          <a:prstGeom prst="rect">
            <a:avLst/>
          </a:prstGeom>
        </p:spPr>
      </p:pic>
      <p:pic>
        <p:nvPicPr>
          <p:cNvPr id="48" name="Image 3" descr="connector">    </p:cNvPr>
          <p:cNvPicPr>
            <a:picLocks noChangeAspect="1"/>
          </p:cNvPicPr>
          <p:nvPr/>
        </p:nvPicPr>
        <p:blipFill>
          <a:blip r:embed="rId4"/>
          <a:srcRect l="0" r="0" t="0" b="0"/>
          <a:stretch/>
        </p:blipFill>
        <p:spPr>
          <a:xfrm>
            <a:off x="4775200" y="3213100"/>
            <a:ext cx="609600" cy="101600"/>
          </a:xfrm>
          <a:prstGeom prst="rect">
            <a:avLst/>
          </a:prstGeom>
        </p:spPr>
      </p:pic>
      <p:pic>
        <p:nvPicPr>
          <p:cNvPr id="49" name="Image 4" descr="connector">    </p:cNvPr>
          <p:cNvPicPr>
            <a:picLocks noChangeAspect="1"/>
          </p:cNvPicPr>
          <p:nvPr/>
        </p:nvPicPr>
        <p:blipFill>
          <a:blip r:embed="rId5"/>
          <a:srcRect l="0" r="0" t="0" b="0"/>
          <a:stretch/>
        </p:blipFill>
        <p:spPr>
          <a:xfrm>
            <a:off x="6426200" y="3625850"/>
            <a:ext cx="101600" cy="292100"/>
          </a:xfrm>
          <a:prstGeom prst="rect">
            <a:avLst/>
          </a:prstGeom>
        </p:spPr>
      </p:pic>
      <p:pic>
        <p:nvPicPr>
          <p:cNvPr id="50" name="Image 5" descr="connector">    </p:cNvPr>
          <p:cNvPicPr>
            <a:picLocks noChangeAspect="1"/>
          </p:cNvPicPr>
          <p:nvPr/>
        </p:nvPicPr>
        <p:blipFill>
          <a:blip r:embed="rId6"/>
          <a:srcRect l="0" r="0" t="0" b="0"/>
          <a:stretch/>
        </p:blipFill>
        <p:spPr>
          <a:xfrm>
            <a:off x="6426200" y="4641850"/>
            <a:ext cx="101600" cy="292100"/>
          </a:xfrm>
          <a:prstGeom prst="rect">
            <a:avLst/>
          </a:prstGeom>
        </p:spPr>
      </p:pic>
      <p:pic>
        <p:nvPicPr>
          <p:cNvPr id="51" name="Image 6" descr="connector">    </p:cNvPr>
          <p:cNvPicPr>
            <a:picLocks noChangeAspect="1"/>
          </p:cNvPicPr>
          <p:nvPr/>
        </p:nvPicPr>
        <p:blipFill>
          <a:blip r:embed="rId7"/>
          <a:srcRect l="0" r="0" t="0" b="0"/>
          <a:stretch/>
        </p:blipFill>
        <p:spPr>
          <a:xfrm>
            <a:off x="7569200" y="5245100"/>
            <a:ext cx="1244600" cy="101600"/>
          </a:xfrm>
          <a:prstGeom prst="rect">
            <a:avLst/>
          </a:prstGeom>
        </p:spPr>
      </p:pic>
      <p:pic>
        <p:nvPicPr>
          <p:cNvPr id="52" name="Image 7" descr="connector">    </p:cNvPr>
          <p:cNvPicPr>
            <a:picLocks noChangeAspect="1"/>
          </p:cNvPicPr>
          <p:nvPr/>
        </p:nvPicPr>
        <p:blipFill>
          <a:blip r:embed="rId8"/>
          <a:srcRect l="0" r="0" t="0" b="0"/>
          <a:stretch/>
        </p:blipFill>
        <p:spPr>
          <a:xfrm>
            <a:off x="9855200" y="2609850"/>
            <a:ext cx="101600" cy="2324100"/>
          </a:xfrm>
          <a:prstGeom prst="rect">
            <a:avLst/>
          </a:prstGeom>
        </p:spPr>
      </p:pic>
      <p:pic>
        <p:nvPicPr>
          <p:cNvPr id="53" name="Image 8" descr="connector">    </p:cNvPr>
          <p:cNvPicPr>
            <a:picLocks noChangeAspect="1"/>
          </p:cNvPicPr>
          <p:nvPr/>
        </p:nvPicPr>
        <p:blipFill>
          <a:blip r:embed="rId9"/>
          <a:srcRect l="0" r="0" t="0" b="0"/>
          <a:stretch/>
        </p:blipFill>
        <p:spPr>
          <a:xfrm>
            <a:off x="4787900" y="2209800"/>
            <a:ext cx="4013200" cy="76200"/>
          </a:xfrm>
          <a:prstGeom prst="rect">
            <a:avLst/>
          </a:prstGeom>
        </p:spPr>
      </p:pic>
      <p:sp>
        <p:nvSpPr>
          <p:cNvPr id="54" name="Text 43"/>
          <p:cNvSpPr/>
          <p:nvPr/>
        </p:nvSpPr>
        <p:spPr>
          <a:xfrm>
            <a:off x="5420995" y="1917700"/>
            <a:ext cx="274701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2E6F73"/>
                </a:solidFill>
                <a:latin typeface="IBM Plex Sans" pitchFamily="34" charset="0"/>
                <a:ea typeface="IBM Plex Sans" pitchFamily="34" charset="-122"/>
                <a:cs typeface="IBM Plex Sans" pitchFamily="34" charset="-120"/>
              </a:rPr>
              <a:t>next question or refinement</a:t>
            </a:r>
            <a:endParaRPr lang="en-US" sz="1200" dirty="0"/>
          </a:p>
        </p:txBody>
      </p:sp>
      <p:sp>
        <p:nvSpPr>
          <p:cNvPr id="55" name="Text 44"/>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56" name="Text 4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DRIFT INSULATION</a:t>
            </a:r>
            <a:endParaRPr lang="en-US" sz="1200" dirty="0"/>
          </a:p>
        </p:txBody>
      </p:sp>
      <p:sp>
        <p:nvSpPr>
          <p:cNvPr id="3" name="Text 1"/>
          <p:cNvSpPr/>
          <p:nvPr>
            <p:ph type="title"/>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Source Serif 4" pitchFamily="18" charset="0"/>
                <a:ea typeface="Source Serif 4" pitchFamily="18" charset="-122"/>
                <a:cs typeface="Source Serif 4" pitchFamily="18" charset="-120"/>
              </a:rPr>
              <a:t>When a source schema changes, consumers never notice</a:t>
            </a:r>
            <a:endParaRPr lang="en-US" sz="2600" dirty="0"/>
          </a:p>
        </p:txBody>
      </p:sp>
      <p:sp>
        <p:nvSpPr>
          <p:cNvPr id="4" name="Shape 2"/>
          <p:cNvSpPr/>
          <p:nvPr/>
        </p:nvSpPr>
        <p:spPr>
          <a:xfrm>
            <a:off x="815975" y="1908175"/>
            <a:ext cx="1873250" cy="1479352"/>
          </a:xfrm>
          <a:prstGeom prst="roundRect">
            <a:avLst>
              <a:gd name="adj" fmla="val 4936"/>
            </a:avLst>
          </a:prstGeom>
          <a:solidFill>
            <a:srgbClr val="FDFCF8"/>
          </a:solidFill>
          <a:ln w="6350">
            <a:solidFill>
              <a:srgbClr val="DAD6CB"/>
            </a:solidFill>
            <a:prstDash val="solid"/>
          </a:ln>
        </p:spPr>
      </p:sp>
      <p:sp>
        <p:nvSpPr>
          <p:cNvPr id="5" name="Text 3"/>
          <p:cNvSpPr/>
          <p:nvPr/>
        </p:nvSpPr>
        <p:spPr>
          <a:xfrm>
            <a:off x="971550" y="2063750"/>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385"/>
                </a:solidFill>
                <a:latin typeface="IBM Plex Sans" pitchFamily="34" charset="0"/>
                <a:ea typeface="IBM Plex Sans" pitchFamily="34" charset="-122"/>
                <a:cs typeface="IBM Plex Sans" pitchFamily="34" charset="-120"/>
              </a:rPr>
              <a:t>01</a:t>
            </a:r>
            <a:endParaRPr lang="en-US" sz="1200" dirty="0"/>
          </a:p>
        </p:txBody>
      </p:sp>
      <p:sp>
        <p:nvSpPr>
          <p:cNvPr id="6" name="Text 4"/>
          <p:cNvSpPr/>
          <p:nvPr/>
        </p:nvSpPr>
        <p:spPr>
          <a:xfrm>
            <a:off x="971550" y="2327870"/>
            <a:ext cx="16129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Drift detected</a:t>
            </a:r>
            <a:endParaRPr lang="en-US" sz="1400" dirty="0"/>
          </a:p>
        </p:txBody>
      </p:sp>
      <p:sp>
        <p:nvSpPr>
          <p:cNvPr id="7" name="Text 5"/>
          <p:cNvSpPr/>
          <p:nvPr/>
        </p:nvSpPr>
        <p:spPr>
          <a:xfrm>
            <a:off x="971550" y="2591991"/>
            <a:ext cx="16129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Workday renames a field behind its REST endpoint or SQL view.</a:t>
            </a:r>
            <a:endParaRPr lang="en-US" sz="1200" dirty="0"/>
          </a:p>
        </p:txBody>
      </p:sp>
      <p:sp>
        <p:nvSpPr>
          <p:cNvPr id="8" name="Shape 6"/>
          <p:cNvSpPr/>
          <p:nvPr/>
        </p:nvSpPr>
        <p:spPr>
          <a:xfrm>
            <a:off x="2984500" y="1905000"/>
            <a:ext cx="1879600" cy="1899642"/>
          </a:xfrm>
          <a:prstGeom prst="roundRect">
            <a:avLst>
              <a:gd name="adj" fmla="val 4054"/>
            </a:avLst>
          </a:prstGeom>
          <a:solidFill>
            <a:srgbClr val="2E6F73"/>
          </a:solidFill>
          <a:ln/>
        </p:spPr>
      </p:sp>
      <p:sp>
        <p:nvSpPr>
          <p:cNvPr id="9" name="Text 7"/>
          <p:cNvSpPr/>
          <p:nvPr/>
        </p:nvSpPr>
        <p:spPr>
          <a:xfrm>
            <a:off x="3136900" y="2057400"/>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E5E3"/>
                </a:solidFill>
                <a:latin typeface="IBM Plex Sans" pitchFamily="34" charset="0"/>
                <a:ea typeface="IBM Plex Sans" pitchFamily="34" charset="-122"/>
                <a:cs typeface="IBM Plex Sans" pitchFamily="34" charset="-120"/>
              </a:rPr>
              <a:t>02</a:t>
            </a:r>
            <a:endParaRPr lang="en-US" sz="1200" dirty="0"/>
          </a:p>
        </p:txBody>
      </p:sp>
      <p:sp>
        <p:nvSpPr>
          <p:cNvPr id="10" name="Text 8"/>
          <p:cNvSpPr/>
          <p:nvPr/>
        </p:nvSpPr>
        <p:spPr>
          <a:xfrm>
            <a:off x="3136900" y="2321520"/>
            <a:ext cx="16256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AF9"/>
                </a:solidFill>
                <a:latin typeface="IBM Plex Sans" pitchFamily="34" charset="0"/>
                <a:ea typeface="IBM Plex Sans" pitchFamily="34" charset="-122"/>
                <a:cs typeface="IBM Plex Sans" pitchFamily="34" charset="-120"/>
              </a:rPr>
              <a:t>Claude.ai drafts the delta</a:t>
            </a:r>
            <a:endParaRPr lang="en-US" sz="1400" dirty="0"/>
          </a:p>
        </p:txBody>
      </p:sp>
      <p:sp>
        <p:nvSpPr>
          <p:cNvPr id="11" name="Text 9"/>
          <p:cNvSpPr/>
          <p:nvPr/>
        </p:nvSpPr>
        <p:spPr>
          <a:xfrm>
            <a:off x="3136900" y="2798961"/>
            <a:ext cx="16256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AF9"/>
                </a:solidFill>
                <a:latin typeface="IBM Plex Sans" pitchFamily="34" charset="0"/>
                <a:ea typeface="IBM Plex Sans" pitchFamily="34" charset="-122"/>
                <a:cs typeface="IBM Plex Sans" pitchFamily="34" charset="-120"/>
              </a:rPr>
              <a:t>Structural diff plus updated RML / SPARQL rules, with rationale.</a:t>
            </a:r>
            <a:endParaRPr lang="en-US" sz="1200" dirty="0"/>
          </a:p>
        </p:txBody>
      </p:sp>
      <p:sp>
        <p:nvSpPr>
          <p:cNvPr id="12" name="Shape 10"/>
          <p:cNvSpPr/>
          <p:nvPr/>
        </p:nvSpPr>
        <p:spPr>
          <a:xfrm>
            <a:off x="5165725" y="1914525"/>
            <a:ext cx="1860550" cy="1918692"/>
          </a:xfrm>
          <a:prstGeom prst="roundRect">
            <a:avLst>
              <a:gd name="adj" fmla="val 3584"/>
            </a:avLst>
          </a:prstGeom>
          <a:solidFill>
            <a:srgbClr val="FDFCF8"/>
          </a:solidFill>
          <a:ln w="19050">
            <a:solidFill>
              <a:srgbClr val="C9A227"/>
            </a:solidFill>
            <a:prstDash val="solid"/>
          </a:ln>
        </p:spPr>
      </p:sp>
      <p:sp>
        <p:nvSpPr>
          <p:cNvPr id="13" name="Text 11"/>
          <p:cNvSpPr/>
          <p:nvPr/>
        </p:nvSpPr>
        <p:spPr>
          <a:xfrm>
            <a:off x="5327650" y="2076450"/>
            <a:ext cx="1587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12"/>
                </a:solidFill>
                <a:latin typeface="IBM Plex Sans" pitchFamily="34" charset="0"/>
                <a:ea typeface="IBM Plex Sans" pitchFamily="34" charset="-122"/>
                <a:cs typeface="IBM Plex Sans" pitchFamily="34" charset="-120"/>
              </a:rPr>
              <a:t>03</a:t>
            </a:r>
            <a:endParaRPr lang="en-US" sz="1200" dirty="0"/>
          </a:p>
        </p:txBody>
      </p:sp>
      <p:sp>
        <p:nvSpPr>
          <p:cNvPr id="14" name="Text 12"/>
          <p:cNvSpPr/>
          <p:nvPr/>
        </p:nvSpPr>
        <p:spPr>
          <a:xfrm>
            <a:off x="5327650" y="2340570"/>
            <a:ext cx="15875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Deterministic gates</a:t>
            </a:r>
            <a:endParaRPr lang="en-US" sz="1400" dirty="0"/>
          </a:p>
        </p:txBody>
      </p:sp>
      <p:sp>
        <p:nvSpPr>
          <p:cNvPr id="15" name="Text 13"/>
          <p:cNvSpPr/>
          <p:nvPr/>
        </p:nvSpPr>
        <p:spPr>
          <a:xfrm>
            <a:off x="5327650" y="2818011"/>
            <a:ext cx="158750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SHACL shapes, reasoner consistency and regression SPARQL pass.</a:t>
            </a:r>
            <a:endParaRPr lang="en-US" sz="1200" dirty="0"/>
          </a:p>
        </p:txBody>
      </p:sp>
      <p:sp>
        <p:nvSpPr>
          <p:cNvPr id="16" name="Shape 14"/>
          <p:cNvSpPr/>
          <p:nvPr/>
        </p:nvSpPr>
        <p:spPr>
          <a:xfrm>
            <a:off x="7327900" y="1905000"/>
            <a:ext cx="1879600" cy="1473002"/>
          </a:xfrm>
          <a:prstGeom prst="roundRect">
            <a:avLst>
              <a:gd name="adj" fmla="val 5173"/>
            </a:avLst>
          </a:prstGeom>
          <a:solidFill>
            <a:srgbClr val="14213D"/>
          </a:solidFill>
          <a:ln/>
        </p:spPr>
      </p:sp>
      <p:sp>
        <p:nvSpPr>
          <p:cNvPr id="17" name="Text 15"/>
          <p:cNvSpPr/>
          <p:nvPr/>
        </p:nvSpPr>
        <p:spPr>
          <a:xfrm>
            <a:off x="7480300" y="2057400"/>
            <a:ext cx="1625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9D3E0"/>
                </a:solidFill>
                <a:latin typeface="IBM Plex Sans" pitchFamily="34" charset="0"/>
                <a:ea typeface="IBM Plex Sans" pitchFamily="34" charset="-122"/>
                <a:cs typeface="IBM Plex Sans" pitchFamily="34" charset="-120"/>
              </a:rPr>
              <a:t>04</a:t>
            </a:r>
            <a:endParaRPr lang="en-US" sz="1200" dirty="0"/>
          </a:p>
        </p:txBody>
      </p:sp>
      <p:sp>
        <p:nvSpPr>
          <p:cNvPr id="18" name="Text 16"/>
          <p:cNvSpPr/>
          <p:nvPr/>
        </p:nvSpPr>
        <p:spPr>
          <a:xfrm>
            <a:off x="7480300" y="2321520"/>
            <a:ext cx="17272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4EE"/>
                </a:solidFill>
                <a:latin typeface="IBM Plex Sans" pitchFamily="34" charset="0"/>
                <a:ea typeface="IBM Plex Sans" pitchFamily="34" charset="-122"/>
                <a:cs typeface="IBM Plex Sans" pitchFamily="34" charset="-120"/>
              </a:rPr>
              <a:t>Engineer approves</a:t>
            </a:r>
            <a:endParaRPr lang="en-US" sz="1400" dirty="0"/>
          </a:p>
        </p:txBody>
      </p:sp>
      <p:sp>
        <p:nvSpPr>
          <p:cNvPr id="19" name="Text 17"/>
          <p:cNvSpPr/>
          <p:nvPr/>
        </p:nvSpPr>
        <p:spPr>
          <a:xfrm>
            <a:off x="7480300" y="2585641"/>
            <a:ext cx="16256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Peer review in Git; nothing merges on model output alone.</a:t>
            </a:r>
            <a:endParaRPr lang="en-US" sz="1200" dirty="0"/>
          </a:p>
        </p:txBody>
      </p:sp>
      <p:sp>
        <p:nvSpPr>
          <p:cNvPr id="20" name="Shape 18"/>
          <p:cNvSpPr/>
          <p:nvPr/>
        </p:nvSpPr>
        <p:spPr>
          <a:xfrm>
            <a:off x="9502775" y="1908175"/>
            <a:ext cx="1873250" cy="1479352"/>
          </a:xfrm>
          <a:prstGeom prst="roundRect">
            <a:avLst>
              <a:gd name="adj" fmla="val 4936"/>
            </a:avLst>
          </a:prstGeom>
          <a:solidFill>
            <a:srgbClr val="FDFCF8"/>
          </a:solidFill>
          <a:ln w="6350">
            <a:solidFill>
              <a:srgbClr val="DAD6CB"/>
            </a:solidFill>
            <a:prstDash val="solid"/>
          </a:ln>
        </p:spPr>
      </p:sp>
      <p:sp>
        <p:nvSpPr>
          <p:cNvPr id="21" name="Text 19"/>
          <p:cNvSpPr/>
          <p:nvPr/>
        </p:nvSpPr>
        <p:spPr>
          <a:xfrm>
            <a:off x="9658350" y="2063750"/>
            <a:ext cx="16129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385"/>
                </a:solidFill>
                <a:latin typeface="IBM Plex Sans" pitchFamily="34" charset="0"/>
                <a:ea typeface="IBM Plex Sans" pitchFamily="34" charset="-122"/>
                <a:cs typeface="IBM Plex Sans" pitchFamily="34" charset="-120"/>
              </a:rPr>
              <a:t>05</a:t>
            </a:r>
            <a:endParaRPr lang="en-US" sz="1200" dirty="0"/>
          </a:p>
        </p:txBody>
      </p:sp>
      <p:sp>
        <p:nvSpPr>
          <p:cNvPr id="22" name="Text 20"/>
          <p:cNvSpPr/>
          <p:nvPr/>
        </p:nvSpPr>
        <p:spPr>
          <a:xfrm>
            <a:off x="9658350" y="2327870"/>
            <a:ext cx="17145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Registry publishes</a:t>
            </a:r>
            <a:endParaRPr lang="en-US" sz="1400" dirty="0"/>
          </a:p>
        </p:txBody>
      </p:sp>
      <p:sp>
        <p:nvSpPr>
          <p:cNvPr id="23" name="Text 21"/>
          <p:cNvSpPr/>
          <p:nvPr/>
        </p:nvSpPr>
        <p:spPr>
          <a:xfrm>
            <a:off x="9658350" y="2591991"/>
            <a:ext cx="16129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New mapping version with lineage; canonical IRIs unchanged.</a:t>
            </a:r>
            <a:endParaRPr lang="en-US" sz="1200" dirty="0"/>
          </a:p>
        </p:txBody>
      </p:sp>
      <p:pic>
        <p:nvPicPr>
          <p:cNvPr id="24" name="Image 0" descr="connector">    </p:cNvPr>
          <p:cNvPicPr>
            <a:picLocks noChangeAspect="1"/>
          </p:cNvPicPr>
          <p:nvPr/>
        </p:nvPicPr>
        <p:blipFill>
          <a:blip r:embed="rId1"/>
          <a:srcRect l="0" r="0" t="0" b="0"/>
          <a:stretch/>
        </p:blipFill>
        <p:spPr>
          <a:xfrm>
            <a:off x="2641600" y="2616200"/>
            <a:ext cx="393700" cy="101600"/>
          </a:xfrm>
          <a:prstGeom prst="rect">
            <a:avLst/>
          </a:prstGeom>
        </p:spPr>
      </p:pic>
      <p:pic>
        <p:nvPicPr>
          <p:cNvPr id="25" name="Image 1" descr="connector">    </p:cNvPr>
          <p:cNvPicPr>
            <a:picLocks noChangeAspect="1"/>
          </p:cNvPicPr>
          <p:nvPr/>
        </p:nvPicPr>
        <p:blipFill>
          <a:blip r:embed="rId2"/>
          <a:srcRect l="0" r="0" t="0" b="0"/>
          <a:stretch/>
        </p:blipFill>
        <p:spPr>
          <a:xfrm>
            <a:off x="4813300" y="2616200"/>
            <a:ext cx="393700" cy="101600"/>
          </a:xfrm>
          <a:prstGeom prst="rect">
            <a:avLst/>
          </a:prstGeom>
        </p:spPr>
      </p:pic>
      <p:pic>
        <p:nvPicPr>
          <p:cNvPr id="26" name="Image 2" descr="connector">    </p:cNvPr>
          <p:cNvPicPr>
            <a:picLocks noChangeAspect="1"/>
          </p:cNvPicPr>
          <p:nvPr/>
        </p:nvPicPr>
        <p:blipFill>
          <a:blip r:embed="rId3"/>
          <a:srcRect l="0" r="0" t="0" b="0"/>
          <a:stretch/>
        </p:blipFill>
        <p:spPr>
          <a:xfrm>
            <a:off x="6985000" y="2616200"/>
            <a:ext cx="393700" cy="101600"/>
          </a:xfrm>
          <a:prstGeom prst="rect">
            <a:avLst/>
          </a:prstGeom>
        </p:spPr>
      </p:pic>
      <p:pic>
        <p:nvPicPr>
          <p:cNvPr id="27" name="Image 3" descr="connector">    </p:cNvPr>
          <p:cNvPicPr>
            <a:picLocks noChangeAspect="1"/>
          </p:cNvPicPr>
          <p:nvPr/>
        </p:nvPicPr>
        <p:blipFill>
          <a:blip r:embed="rId4"/>
          <a:srcRect l="0" r="0" t="0" b="0"/>
          <a:stretch/>
        </p:blipFill>
        <p:spPr>
          <a:xfrm>
            <a:off x="9156700" y="2616200"/>
            <a:ext cx="393700" cy="101600"/>
          </a:xfrm>
          <a:prstGeom prst="rect">
            <a:avLst/>
          </a:prstGeom>
        </p:spPr>
      </p:pic>
      <p:sp>
        <p:nvSpPr>
          <p:cNvPr id="28" name="Shape 22"/>
          <p:cNvSpPr/>
          <p:nvPr/>
        </p:nvSpPr>
        <p:spPr>
          <a:xfrm>
            <a:off x="812800" y="4318000"/>
            <a:ext cx="5130800" cy="1059061"/>
          </a:xfrm>
          <a:prstGeom prst="roundRect">
            <a:avLst>
              <a:gd name="adj" fmla="val 4797"/>
            </a:avLst>
          </a:prstGeom>
          <a:solidFill>
            <a:srgbClr val="EFE9E4"/>
          </a:solidFill>
          <a:ln/>
        </p:spPr>
      </p:sp>
      <p:sp>
        <p:nvSpPr>
          <p:cNvPr id="29" name="Shape 23"/>
          <p:cNvSpPr/>
          <p:nvPr/>
        </p:nvSpPr>
        <p:spPr>
          <a:xfrm>
            <a:off x="812800" y="4318000"/>
            <a:ext cx="5130800" cy="1059061"/>
          </a:xfrm>
          <a:custGeom>
            <a:avLst/>
            <a:gdLst/>
            <a:ahLst/>
            <a:cxnLst/>
            <a:rect l="l" t="t" r="r" b="b"/>
            <a:pathLst>
              <a:path w="5130800" h="1059061">
                <a:moveTo>
                  <a:pt x="50800" y="1059061"/>
                </a:moveTo>
                <a:lnTo>
                  <a:pt x="50800" y="1059061"/>
                </a:lnTo>
                <a:arcTo hR="50800" wR="50800" stAng="5400000" swAng="5400000"/>
                <a:lnTo>
                  <a:pt x="0" y="50800"/>
                </a:lnTo>
                <a:arcTo hR="50800" wR="50800" stAng="10800000" swAng="5400000"/>
                <a:lnTo>
                  <a:pt x="50800" y="0"/>
                </a:lnTo>
                <a:arcTo hR="50800" wR="12700" stAng="16200000" swAng="-5400000"/>
                <a:lnTo>
                  <a:pt x="38100" y="1008261"/>
                </a:lnTo>
                <a:arcTo hR="50800" wR="12700" stAng="10800000" swAng="-5400000"/>
                <a:close/>
              </a:path>
            </a:pathLst>
          </a:custGeom>
          <a:solidFill>
            <a:srgbClr val="A34A28"/>
          </a:solidFill>
          <a:ln/>
        </p:spPr>
      </p:sp>
      <p:sp>
        <p:nvSpPr>
          <p:cNvPr id="30" name="Text 24"/>
          <p:cNvSpPr/>
          <p:nvPr/>
        </p:nvSpPr>
        <p:spPr>
          <a:xfrm>
            <a:off x="1028700" y="4495800"/>
            <a:ext cx="48792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Today · point-to-point ETL</a:t>
            </a:r>
            <a:endParaRPr lang="en-US" sz="1400" dirty="0"/>
          </a:p>
        </p:txBody>
      </p:sp>
      <p:sp>
        <p:nvSpPr>
          <p:cNvPr id="31" name="Text 25"/>
          <p:cNvSpPr/>
          <p:nvPr/>
        </p:nvSpPr>
        <p:spPr>
          <a:xfrm>
            <a:off x="1028700" y="4772620"/>
            <a:ext cx="48792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Vendor schema changes ripple into pipelines and dashboards, creating unplanned work for IT.</a:t>
            </a:r>
            <a:endParaRPr lang="en-US" sz="1200" dirty="0"/>
          </a:p>
        </p:txBody>
      </p:sp>
      <p:sp>
        <p:nvSpPr>
          <p:cNvPr id="32" name="Shape 26"/>
          <p:cNvSpPr/>
          <p:nvPr/>
        </p:nvSpPr>
        <p:spPr>
          <a:xfrm>
            <a:off x="6248400" y="4318000"/>
            <a:ext cx="5130800" cy="1059061"/>
          </a:xfrm>
          <a:prstGeom prst="roundRect">
            <a:avLst>
              <a:gd name="adj" fmla="val 4797"/>
            </a:avLst>
          </a:prstGeom>
          <a:solidFill>
            <a:srgbClr val="E3EFEE"/>
          </a:solidFill>
          <a:ln/>
        </p:spPr>
      </p:sp>
      <p:sp>
        <p:nvSpPr>
          <p:cNvPr id="33" name="Shape 27"/>
          <p:cNvSpPr/>
          <p:nvPr/>
        </p:nvSpPr>
        <p:spPr>
          <a:xfrm>
            <a:off x="6248400" y="4318000"/>
            <a:ext cx="5130800" cy="1059061"/>
          </a:xfrm>
          <a:custGeom>
            <a:avLst/>
            <a:gdLst/>
            <a:ahLst/>
            <a:cxnLst/>
            <a:rect l="l" t="t" r="r" b="b"/>
            <a:pathLst>
              <a:path w="5130800" h="1059061">
                <a:moveTo>
                  <a:pt x="50800" y="1059061"/>
                </a:moveTo>
                <a:lnTo>
                  <a:pt x="50800" y="1059061"/>
                </a:lnTo>
                <a:arcTo hR="50800" wR="50800" stAng="5400000" swAng="5400000"/>
                <a:lnTo>
                  <a:pt x="0" y="50800"/>
                </a:lnTo>
                <a:arcTo hR="50800" wR="50800" stAng="10800000" swAng="5400000"/>
                <a:lnTo>
                  <a:pt x="50800" y="0"/>
                </a:lnTo>
                <a:arcTo hR="50800" wR="12700" stAng="16200000" swAng="-5400000"/>
                <a:lnTo>
                  <a:pt x="38100" y="1008261"/>
                </a:lnTo>
                <a:arcTo hR="50800" wR="12700" stAng="10800000" swAng="-5400000"/>
                <a:close/>
              </a:path>
            </a:pathLst>
          </a:custGeom>
          <a:solidFill>
            <a:srgbClr val="2E6F73"/>
          </a:solidFill>
          <a:ln/>
        </p:spPr>
      </p:sp>
      <p:sp>
        <p:nvSpPr>
          <p:cNvPr id="34" name="Text 28"/>
          <p:cNvSpPr/>
          <p:nvPr/>
        </p:nvSpPr>
        <p:spPr>
          <a:xfrm>
            <a:off x="6464300" y="4495800"/>
            <a:ext cx="48792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Target · mediated fabric</a:t>
            </a:r>
            <a:endParaRPr lang="en-US" sz="1400" dirty="0"/>
          </a:p>
        </p:txBody>
      </p:sp>
      <p:sp>
        <p:nvSpPr>
          <p:cNvPr id="35" name="Text 29"/>
          <p:cNvSpPr/>
          <p:nvPr/>
        </p:nvSpPr>
        <p:spPr>
          <a:xfrm>
            <a:off x="6464300" y="4772620"/>
            <a:ext cx="487921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governed mapping update; reports and agent APIs keep querying the same canonical IRIs.</a:t>
            </a:r>
            <a:endParaRPr lang="en-US" sz="1200" dirty="0"/>
          </a:p>
        </p:txBody>
      </p:sp>
      <p:sp>
        <p:nvSpPr>
          <p:cNvPr id="36" name="Text 30"/>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37" name="Text 31"/>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BOUNDARY</a:t>
            </a:r>
            <a:endParaRPr lang="en-US" sz="1200" dirty="0"/>
          </a:p>
        </p:txBody>
      </p:sp>
      <p:sp>
        <p:nvSpPr>
          <p:cNvPr id="3" name="Text 1"/>
          <p:cNvSpPr/>
          <p:nvPr>
            <p:ph type="title"/>
          </p:nvPr>
        </p:nvSpPr>
        <p:spPr>
          <a:xfrm>
            <a:off x="812800" y="1102320"/>
            <a:ext cx="10883392"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14213D"/>
                </a:solidFill>
                <a:latin typeface="Source Serif 4" pitchFamily="18" charset="0"/>
                <a:ea typeface="Source Serif 4" pitchFamily="18" charset="-122"/>
                <a:cs typeface="Source Serif 4" pitchFamily="18" charset="-120"/>
              </a:rPr>
              <a:t>Design-time tools, run-time discipline</a:t>
            </a:r>
            <a:endParaRPr lang="en-US" sz="2400" dirty="0"/>
          </a:p>
        </p:txBody>
      </p:sp>
      <p:sp>
        <p:nvSpPr>
          <p:cNvPr id="4" name="Shape 2"/>
          <p:cNvSpPr/>
          <p:nvPr/>
        </p:nvSpPr>
        <p:spPr>
          <a:xfrm>
            <a:off x="812800" y="1651000"/>
            <a:ext cx="3429000" cy="3429000"/>
          </a:xfrm>
          <a:prstGeom prst="roundRect">
            <a:avLst>
              <a:gd name="adj" fmla="val 2222"/>
            </a:avLst>
          </a:prstGeom>
          <a:solidFill>
            <a:srgbClr val="DFE5EF"/>
          </a:solidFill>
          <a:ln/>
        </p:spPr>
      </p:sp>
      <p:sp>
        <p:nvSpPr>
          <p:cNvPr id="5" name="Text 3"/>
          <p:cNvSpPr/>
          <p:nvPr/>
        </p:nvSpPr>
        <p:spPr>
          <a:xfrm>
            <a:off x="990600" y="1828800"/>
            <a:ext cx="3165602" cy="422821"/>
          </a:xfrm>
          <a:prstGeom prst="rect">
            <a:avLst/>
          </a:prstGeom>
          <a:noFill/>
          <a:ln/>
        </p:spPr>
        <p:txBody>
          <a:bodyPr wrap="square" lIns="0" tIns="0" rIns="0" bIns="0" rtlCol="0" anchor="t">
            <a:normAutofit/>
          </a:bodyPr>
          <a:lstStyle/>
          <a:p>
            <a:pPr algn="l" indent="0" marL="0">
              <a:lnSpc>
                <a:spcPts val="1585"/>
              </a:lnSpc>
              <a:buNone/>
            </a:pPr>
            <a:r>
              <a:rPr lang="en-US" sz="1133" b="1" spc="100" kern="0" dirty="0">
                <a:solidFill>
                  <a:srgbClr val="3B4C6E"/>
                </a:solidFill>
                <a:latin typeface="IBM Plex Sans" pitchFamily="34" charset="0"/>
                <a:ea typeface="IBM Plex Sans" pitchFamily="34" charset="-122"/>
                <a:cs typeface="IBM Plex Sans" pitchFamily="34" charset="-120"/>
              </a:rPr>
              <a:t>DESIGN-TIME · ENTERPRISE ANALYTICS</a:t>
            </a:r>
            <a:endParaRPr lang="en-US" sz="1133" dirty="0"/>
          </a:p>
        </p:txBody>
      </p:sp>
      <p:sp>
        <p:nvSpPr>
          <p:cNvPr id="6" name="Text 4"/>
          <p:cNvSpPr/>
          <p:nvPr/>
        </p:nvSpPr>
        <p:spPr>
          <a:xfrm>
            <a:off x="990600" y="2327821"/>
            <a:ext cx="3073400" cy="561032"/>
          </a:xfrm>
          <a:prstGeom prst="roundRect">
            <a:avLst>
              <a:gd name="adj" fmla="val 9055"/>
            </a:avLst>
          </a:prstGeom>
          <a:solidFill>
            <a:srgbClr val="14213D"/>
          </a:solidFill>
          <a:ln/>
        </p:spPr>
        <p:txBody>
          <a:bodyPr wrap="square" lIns="99421" tIns="74021" rIns="14077" bIns="48621" rtlCol="0" anchor="t">
            <a:normAutofit/>
          </a:bodyPr>
          <a:lstStyle/>
          <a:p>
            <a:pPr algn="l" indent="0" marL="0">
              <a:lnSpc>
                <a:spcPts val="1509"/>
              </a:lnSpc>
              <a:buNone/>
            </a:pPr>
            <a:r>
              <a:rPr lang="en-US" sz="1118" b="1" dirty="0">
                <a:solidFill>
                  <a:srgbClr val="F6F4EE"/>
                </a:solidFill>
                <a:latin typeface="IBM Plex Sans" pitchFamily="34" charset="0"/>
                <a:ea typeface="IBM Plex Sans" pitchFamily="34" charset="-122"/>
                <a:cs typeface="IBM Plex Sans" pitchFamily="34" charset="-120"/>
              </a:rPr>
              <a:t>RDF Studio:</a:t>
            </a:r>
            <a:r>
              <a:rPr lang="en-US" sz="1118" dirty="0">
                <a:solidFill>
                  <a:srgbClr val="F6F4EE"/>
                </a:solidFill>
                <a:latin typeface="IBM Plex Sans" pitchFamily="34" charset="0"/>
                <a:ea typeface="IBM Plex Sans" pitchFamily="34" charset="-122"/>
                <a:cs typeface="IBM Plex Sans" pitchFamily="34" charset="-120"/>
              </a:rPr>
              <a:t> visual ontology and SKOS modeling, versioning</a:t>
            </a:r>
            <a:endParaRPr lang="en-US" sz="1118" dirty="0"/>
          </a:p>
        </p:txBody>
      </p:sp>
      <p:sp>
        <p:nvSpPr>
          <p:cNvPr id="7" name="Text 5"/>
          <p:cNvSpPr/>
          <p:nvPr/>
        </p:nvSpPr>
        <p:spPr>
          <a:xfrm>
            <a:off x="990600" y="2990453"/>
            <a:ext cx="3073400" cy="561082"/>
          </a:xfrm>
          <a:prstGeom prst="roundRect">
            <a:avLst>
              <a:gd name="adj" fmla="val 9054"/>
            </a:avLst>
          </a:prstGeom>
          <a:solidFill>
            <a:srgbClr val="14213D"/>
          </a:solidFill>
          <a:ln/>
        </p:spPr>
        <p:txBody>
          <a:bodyPr wrap="square" lIns="99421" tIns="74021" rIns="14077" bIns="48621" rtlCol="0" anchor="t">
            <a:normAutofit/>
          </a:bodyPr>
          <a:lstStyle/>
          <a:p>
            <a:pPr algn="l" indent="0" marL="0">
              <a:lnSpc>
                <a:spcPts val="1509"/>
              </a:lnSpc>
              <a:buNone/>
            </a:pPr>
            <a:r>
              <a:rPr lang="en-US" sz="1118" b="1" dirty="0">
                <a:solidFill>
                  <a:srgbClr val="F6F4EE"/>
                </a:solidFill>
                <a:latin typeface="IBM Plex Sans" pitchFamily="34" charset="0"/>
                <a:ea typeface="IBM Plex Sans" pitchFamily="34" charset="-122"/>
                <a:cs typeface="IBM Plex Sans" pitchFamily="34" charset="-120"/>
              </a:rPr>
              <a:t>Claude.ai:</a:t>
            </a:r>
            <a:r>
              <a:rPr lang="en-US" sz="1118" dirty="0">
                <a:solidFill>
                  <a:srgbClr val="F6F4EE"/>
                </a:solidFill>
                <a:latin typeface="IBM Plex Sans" pitchFamily="34" charset="0"/>
                <a:ea typeface="IBM Plex Sans" pitchFamily="34" charset="-122"/>
                <a:cs typeface="IBM Plex Sans" pitchFamily="34" charset="-120"/>
              </a:rPr>
              <a:t> drafts axioms, mappings and SHACL; simulates impact</a:t>
            </a:r>
            <a:endParaRPr lang="en-US" sz="1118" dirty="0"/>
          </a:p>
        </p:txBody>
      </p:sp>
      <p:sp>
        <p:nvSpPr>
          <p:cNvPr id="8" name="Text 6"/>
          <p:cNvSpPr/>
          <p:nvPr/>
        </p:nvSpPr>
        <p:spPr>
          <a:xfrm>
            <a:off x="993775" y="3656310"/>
            <a:ext cx="3067050" cy="567382"/>
          </a:xfrm>
          <a:prstGeom prst="roundRect">
            <a:avLst>
              <a:gd name="adj" fmla="val 8394"/>
            </a:avLst>
          </a:prstGeom>
          <a:solidFill>
            <a:srgbClr val="FDFCF8"/>
          </a:solidFill>
          <a:ln w="6350">
            <a:solidFill>
              <a:srgbClr val="B8C0CE"/>
            </a:solidFill>
            <a:prstDash val="solid"/>
          </a:ln>
        </p:spPr>
        <p:txBody>
          <a:bodyPr wrap="square" lIns="103526" tIns="78126" rIns="18563" bIns="52726" rtlCol="0" anchor="t">
            <a:normAutofit/>
          </a:bodyPr>
          <a:lstStyle/>
          <a:p>
            <a:pPr algn="l" indent="0" marL="0">
              <a:lnSpc>
                <a:spcPts val="1509"/>
              </a:lnSpc>
              <a:buNone/>
            </a:pPr>
            <a:r>
              <a:rPr lang="en-US" sz="1118" b="1" dirty="0">
                <a:solidFill>
                  <a:srgbClr val="14213D"/>
                </a:solidFill>
                <a:latin typeface="IBM Plex Sans" pitchFamily="34" charset="0"/>
                <a:ea typeface="IBM Plex Sans" pitchFamily="34" charset="-122"/>
                <a:cs typeface="IBM Plex Sans" pitchFamily="34" charset="-120"/>
              </a:rPr>
              <a:t>In:</a:t>
            </a:r>
            <a:r>
              <a:rPr lang="en-US" sz="1118" dirty="0">
                <a:solidFill>
                  <a:srgbClr val="14213D"/>
                </a:solidFill>
                <a:latin typeface="IBM Plex Sans" pitchFamily="34" charset="0"/>
                <a:ea typeface="IBM Plex Sans" pitchFamily="34" charset="-122"/>
                <a:cs typeface="IBM Plex Sans" pitchFamily="34" charset="-120"/>
              </a:rPr>
              <a:t> metadata, conceptual schemas, synthetic test sets</a:t>
            </a:r>
            <a:endParaRPr lang="en-US" sz="1118" dirty="0"/>
          </a:p>
        </p:txBody>
      </p:sp>
      <p:sp>
        <p:nvSpPr>
          <p:cNvPr id="9" name="Text 7"/>
          <p:cNvSpPr/>
          <p:nvPr/>
        </p:nvSpPr>
        <p:spPr>
          <a:xfrm>
            <a:off x="993775" y="4331643"/>
            <a:ext cx="3067050" cy="567382"/>
          </a:xfrm>
          <a:prstGeom prst="roundRect">
            <a:avLst>
              <a:gd name="adj" fmla="val 8394"/>
            </a:avLst>
          </a:prstGeom>
          <a:solidFill>
            <a:srgbClr val="FDFCF8"/>
          </a:solidFill>
          <a:ln w="6350">
            <a:solidFill>
              <a:srgbClr val="B8C0CE"/>
            </a:solidFill>
            <a:prstDash val="solid"/>
          </a:ln>
        </p:spPr>
        <p:txBody>
          <a:bodyPr wrap="square" lIns="103526" tIns="78126" rIns="18563" bIns="52726" rtlCol="0" anchor="t">
            <a:normAutofit/>
          </a:bodyPr>
          <a:lstStyle/>
          <a:p>
            <a:pPr algn="l" indent="0" marL="0">
              <a:lnSpc>
                <a:spcPts val="1509"/>
              </a:lnSpc>
              <a:buNone/>
            </a:pPr>
            <a:r>
              <a:rPr lang="en-US" sz="1118" b="1" dirty="0">
                <a:solidFill>
                  <a:srgbClr val="14213D"/>
                </a:solidFill>
                <a:latin typeface="IBM Plex Sans" pitchFamily="34" charset="0"/>
                <a:ea typeface="IBM Plex Sans" pitchFamily="34" charset="-122"/>
                <a:cs typeface="IBM Plex Sans" pitchFamily="34" charset="-120"/>
              </a:rPr>
              <a:t>Out:</a:t>
            </a:r>
            <a:r>
              <a:rPr lang="en-US" sz="1118" dirty="0">
                <a:solidFill>
                  <a:srgbClr val="14213D"/>
                </a:solidFill>
                <a:latin typeface="IBM Plex Sans" pitchFamily="34" charset="0"/>
                <a:ea typeface="IBM Plex Sans" pitchFamily="34" charset="-122"/>
                <a:cs typeface="IBM Plex Sans" pitchFamily="34" charset="-120"/>
              </a:rPr>
              <a:t> versioned models and SHACL suites in Git</a:t>
            </a:r>
            <a:endParaRPr lang="en-US" sz="1118" dirty="0"/>
          </a:p>
        </p:txBody>
      </p:sp>
      <p:sp>
        <p:nvSpPr>
          <p:cNvPr id="10" name="Shape 8"/>
          <p:cNvSpPr/>
          <p:nvPr/>
        </p:nvSpPr>
        <p:spPr>
          <a:xfrm>
            <a:off x="4756150" y="1657350"/>
            <a:ext cx="2679700" cy="3416300"/>
          </a:xfrm>
          <a:prstGeom prst="roundRect">
            <a:avLst>
              <a:gd name="adj" fmla="val 2607"/>
            </a:avLst>
          </a:prstGeom>
          <a:solidFill>
            <a:srgbClr val="F7EFD9"/>
          </a:solidFill>
          <a:ln w="12700">
            <a:solidFill>
              <a:srgbClr val="B08A1E"/>
            </a:solidFill>
            <a:prstDash val="dash"/>
          </a:ln>
        </p:spPr>
      </p:sp>
      <p:sp>
        <p:nvSpPr>
          <p:cNvPr id="11" name="Text 9"/>
          <p:cNvSpPr/>
          <p:nvPr/>
        </p:nvSpPr>
        <p:spPr>
          <a:xfrm>
            <a:off x="4940300" y="1841500"/>
            <a:ext cx="238074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6A12"/>
                </a:solidFill>
                <a:latin typeface="IBM Plex Sans" pitchFamily="34" charset="0"/>
                <a:ea typeface="IBM Plex Sans" pitchFamily="34" charset="-122"/>
                <a:cs typeface="IBM Plex Sans" pitchFamily="34" charset="-120"/>
              </a:rPr>
              <a:t>SHARED PROMOTION GATE</a:t>
            </a:r>
            <a:endParaRPr lang="en-US" sz="1200" dirty="0"/>
          </a:p>
        </p:txBody>
      </p:sp>
      <p:sp>
        <p:nvSpPr>
          <p:cNvPr id="12" name="Shape 10"/>
          <p:cNvSpPr/>
          <p:nvPr/>
        </p:nvSpPr>
        <p:spPr>
          <a:xfrm>
            <a:off x="4946650" y="2124670"/>
            <a:ext cx="2298700" cy="561280"/>
          </a:xfrm>
          <a:prstGeom prst="roundRect">
            <a:avLst>
              <a:gd name="adj" fmla="val 7919"/>
            </a:avLst>
          </a:prstGeom>
          <a:solidFill>
            <a:srgbClr val="FDFCF8"/>
          </a:solidFill>
          <a:ln w="12700">
            <a:solidFill>
              <a:srgbClr val="C9A227"/>
            </a:solidFill>
            <a:prstDash val="solid"/>
          </a:ln>
        </p:spPr>
      </p:sp>
      <p:sp>
        <p:nvSpPr>
          <p:cNvPr id="13" name="Text 11"/>
          <p:cNvSpPr/>
          <p:nvPr/>
        </p:nvSpPr>
        <p:spPr>
          <a:xfrm>
            <a:off x="5054600" y="2207220"/>
            <a:ext cx="2145284"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Git peer review</a:t>
            </a:r>
            <a:endParaRPr lang="en-US" sz="1200" dirty="0"/>
          </a:p>
        </p:txBody>
      </p:sp>
      <p:sp>
        <p:nvSpPr>
          <p:cNvPr id="14" name="Text 12"/>
          <p:cNvSpPr/>
          <p:nvPr/>
        </p:nvSpPr>
        <p:spPr>
          <a:xfrm>
            <a:off x="5054600" y="2405311"/>
            <a:ext cx="21844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Human review of each change</a:t>
            </a:r>
            <a:endParaRPr lang="en-US" sz="1200" dirty="0"/>
          </a:p>
        </p:txBody>
      </p:sp>
      <p:pic>
        <p:nvPicPr>
          <p:cNvPr id="15" name="Image 0" descr="arrow-down">    </p:cNvPr>
          <p:cNvPicPr>
            <a:picLocks noChangeAspect="1"/>
          </p:cNvPicPr>
          <p:nvPr/>
        </p:nvPicPr>
        <p:blipFill>
          <a:blip r:embed="rId1"/>
          <a:srcRect l="0" r="0" t="0" b="0"/>
          <a:stretch/>
        </p:blipFill>
        <p:spPr>
          <a:xfrm>
            <a:off x="6007100" y="2755801"/>
            <a:ext cx="177800" cy="254000"/>
          </a:xfrm>
          <a:prstGeom prst="rect">
            <a:avLst/>
          </a:prstGeom>
        </p:spPr>
      </p:pic>
      <p:sp>
        <p:nvSpPr>
          <p:cNvPr id="16" name="Shape 13"/>
          <p:cNvSpPr/>
          <p:nvPr/>
        </p:nvSpPr>
        <p:spPr>
          <a:xfrm>
            <a:off x="4946650" y="3079651"/>
            <a:ext cx="2298700" cy="561280"/>
          </a:xfrm>
          <a:prstGeom prst="roundRect">
            <a:avLst>
              <a:gd name="adj" fmla="val 7919"/>
            </a:avLst>
          </a:prstGeom>
          <a:solidFill>
            <a:srgbClr val="FDFCF8"/>
          </a:solidFill>
          <a:ln w="12700">
            <a:solidFill>
              <a:srgbClr val="C9A227"/>
            </a:solidFill>
            <a:prstDash val="solid"/>
          </a:ln>
        </p:spPr>
      </p:sp>
      <p:sp>
        <p:nvSpPr>
          <p:cNvPr id="17" name="Text 14"/>
          <p:cNvSpPr/>
          <p:nvPr/>
        </p:nvSpPr>
        <p:spPr>
          <a:xfrm>
            <a:off x="5054600" y="3162201"/>
            <a:ext cx="2145284"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ARB conformance</a:t>
            </a:r>
            <a:endParaRPr lang="en-US" sz="1200" dirty="0"/>
          </a:p>
        </p:txBody>
      </p:sp>
      <p:sp>
        <p:nvSpPr>
          <p:cNvPr id="18" name="Text 15"/>
          <p:cNvSpPr/>
          <p:nvPr/>
        </p:nvSpPr>
        <p:spPr>
          <a:xfrm>
            <a:off x="5054600" y="3360291"/>
            <a:ext cx="214528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Architecture checkpoint</a:t>
            </a:r>
            <a:endParaRPr lang="en-US" sz="1200" dirty="0"/>
          </a:p>
        </p:txBody>
      </p:sp>
      <p:pic>
        <p:nvPicPr>
          <p:cNvPr id="19" name="Image 1" descr="arrow-down">    </p:cNvPr>
          <p:cNvPicPr>
            <a:picLocks noChangeAspect="1"/>
          </p:cNvPicPr>
          <p:nvPr/>
        </p:nvPicPr>
        <p:blipFill>
          <a:blip r:embed="rId2"/>
          <a:srcRect l="0" r="0" t="0" b="0"/>
          <a:stretch/>
        </p:blipFill>
        <p:spPr>
          <a:xfrm>
            <a:off x="6007100" y="3710781"/>
            <a:ext cx="177800" cy="254000"/>
          </a:xfrm>
          <a:prstGeom prst="rect">
            <a:avLst/>
          </a:prstGeom>
        </p:spPr>
      </p:pic>
      <p:sp>
        <p:nvSpPr>
          <p:cNvPr id="20" name="Shape 16"/>
          <p:cNvSpPr/>
          <p:nvPr/>
        </p:nvSpPr>
        <p:spPr>
          <a:xfrm>
            <a:off x="4946650" y="4034631"/>
            <a:ext cx="2298700" cy="561280"/>
          </a:xfrm>
          <a:prstGeom prst="roundRect">
            <a:avLst>
              <a:gd name="adj" fmla="val 7919"/>
            </a:avLst>
          </a:prstGeom>
          <a:solidFill>
            <a:srgbClr val="FDFCF8"/>
          </a:solidFill>
          <a:ln w="12700">
            <a:solidFill>
              <a:srgbClr val="C9A227"/>
            </a:solidFill>
            <a:prstDash val="solid"/>
          </a:ln>
        </p:spPr>
      </p:sp>
      <p:sp>
        <p:nvSpPr>
          <p:cNvPr id="21" name="Text 17"/>
          <p:cNvSpPr/>
          <p:nvPr/>
        </p:nvSpPr>
        <p:spPr>
          <a:xfrm>
            <a:off x="5054600" y="4117181"/>
            <a:ext cx="2145284"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CI/CD regression</a:t>
            </a:r>
            <a:endParaRPr lang="en-US" sz="1200" dirty="0"/>
          </a:p>
        </p:txBody>
      </p:sp>
      <p:sp>
        <p:nvSpPr>
          <p:cNvPr id="22" name="Text 18"/>
          <p:cNvSpPr/>
          <p:nvPr/>
        </p:nvSpPr>
        <p:spPr>
          <a:xfrm>
            <a:off x="5054600" y="4315271"/>
            <a:ext cx="2145284"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IT-owned pipeline</a:t>
            </a:r>
            <a:endParaRPr lang="en-US" sz="1200" dirty="0"/>
          </a:p>
        </p:txBody>
      </p:sp>
      <p:sp>
        <p:nvSpPr>
          <p:cNvPr id="23" name="Shape 19"/>
          <p:cNvSpPr/>
          <p:nvPr/>
        </p:nvSpPr>
        <p:spPr>
          <a:xfrm>
            <a:off x="7950200" y="1651000"/>
            <a:ext cx="3429000" cy="3429000"/>
          </a:xfrm>
          <a:prstGeom prst="roundRect">
            <a:avLst>
              <a:gd name="adj" fmla="val 2222"/>
            </a:avLst>
          </a:prstGeom>
          <a:solidFill>
            <a:srgbClr val="ECEBE6"/>
          </a:solidFill>
          <a:ln/>
        </p:spPr>
      </p:sp>
      <p:sp>
        <p:nvSpPr>
          <p:cNvPr id="24" name="Text 20"/>
          <p:cNvSpPr/>
          <p:nvPr/>
        </p:nvSpPr>
        <p:spPr>
          <a:xfrm>
            <a:off x="8128000" y="1828800"/>
            <a:ext cx="31656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RUN-TIME · IT SERVICES</a:t>
            </a:r>
            <a:endParaRPr lang="en-US" sz="1200" dirty="0"/>
          </a:p>
        </p:txBody>
      </p:sp>
      <p:sp>
        <p:nvSpPr>
          <p:cNvPr id="25" name="Text 21"/>
          <p:cNvSpPr/>
          <p:nvPr/>
        </p:nvSpPr>
        <p:spPr>
          <a:xfrm>
            <a:off x="8134350" y="2111970"/>
            <a:ext cx="3060700" cy="576560"/>
          </a:xfrm>
          <a:prstGeom prst="roundRect">
            <a:avLst>
              <a:gd name="adj" fmla="val 7710"/>
            </a:avLst>
          </a:prstGeom>
          <a:solidFill>
            <a:srgbClr val="FDFCF8"/>
          </a:solidFill>
          <a:ln w="12700">
            <a:solidFill>
              <a:srgbClr val="14213D"/>
            </a:solidFill>
            <a:prstDash val="solid"/>
          </a:ln>
        </p:spPr>
        <p:txBody>
          <a:bodyPr wrap="square" lIns="107631" tIns="69531" rIns="23049" bIns="44131"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HR Advisory 360 agent:</a:t>
            </a:r>
            <a:r>
              <a:rPr lang="en-US" sz="1200" dirty="0">
                <a:solidFill>
                  <a:srgbClr val="14213D"/>
                </a:solidFill>
                <a:latin typeface="IBM Plex Sans" pitchFamily="34" charset="0"/>
                <a:ea typeface="IBM Plex Sans" pitchFamily="34" charset="-122"/>
                <a:cs typeface="IBM Plex Sans" pitchFamily="34" charset="-120"/>
              </a:rPr>
              <a:t> governed answers</a:t>
            </a:r>
            <a:endParaRPr lang="en-US" sz="1200" dirty="0"/>
          </a:p>
        </p:txBody>
      </p:sp>
      <p:pic>
        <p:nvPicPr>
          <p:cNvPr id="26" name="Image 2" descr="arrow-up">    </p:cNvPr>
          <p:cNvPicPr>
            <a:picLocks noChangeAspect="1"/>
          </p:cNvPicPr>
          <p:nvPr/>
        </p:nvPicPr>
        <p:blipFill>
          <a:blip r:embed="rId3"/>
          <a:srcRect l="0" r="0" t="0" b="0"/>
          <a:stretch/>
        </p:blipFill>
        <p:spPr>
          <a:xfrm>
            <a:off x="9588500" y="2758380"/>
            <a:ext cx="152400" cy="203200"/>
          </a:xfrm>
          <a:prstGeom prst="rect">
            <a:avLst/>
          </a:prstGeom>
        </p:spPr>
      </p:pic>
      <p:sp>
        <p:nvSpPr>
          <p:cNvPr id="27" name="Text 22"/>
          <p:cNvSpPr/>
          <p:nvPr/>
        </p:nvSpPr>
        <p:spPr>
          <a:xfrm>
            <a:off x="8131175" y="3028255"/>
            <a:ext cx="3067050" cy="364480"/>
          </a:xfrm>
          <a:prstGeom prst="roundRect">
            <a:avLst>
              <a:gd name="adj" fmla="val 13067"/>
            </a:avLst>
          </a:prstGeom>
          <a:solidFill>
            <a:srgbClr val="FDFCF8"/>
          </a:solidFill>
          <a:ln w="6350">
            <a:solidFill>
              <a:srgbClr val="B8C0CE"/>
            </a:solidFill>
            <a:prstDash val="solid"/>
          </a:ln>
        </p:spPr>
        <p:txBody>
          <a:bodyPr wrap="square" lIns="103526" tIns="65426" rIns="18563" bIns="40026"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Stable IRI-grounded endpoints</a:t>
            </a:r>
            <a:endParaRPr lang="en-US" sz="1200" dirty="0"/>
          </a:p>
        </p:txBody>
      </p:sp>
      <p:pic>
        <p:nvPicPr>
          <p:cNvPr id="28" name="Image 3" descr="arrow-up">    </p:cNvPr>
          <p:cNvPicPr>
            <a:picLocks noChangeAspect="1"/>
          </p:cNvPicPr>
          <p:nvPr/>
        </p:nvPicPr>
        <p:blipFill>
          <a:blip r:embed="rId4"/>
          <a:srcRect l="0" r="0" t="0" b="0"/>
          <a:stretch/>
        </p:blipFill>
        <p:spPr>
          <a:xfrm>
            <a:off x="9588500" y="3459411"/>
            <a:ext cx="152400" cy="203200"/>
          </a:xfrm>
          <a:prstGeom prst="rect">
            <a:avLst/>
          </a:prstGeom>
        </p:spPr>
      </p:pic>
      <p:sp>
        <p:nvSpPr>
          <p:cNvPr id="29" name="Text 23"/>
          <p:cNvSpPr/>
          <p:nvPr/>
        </p:nvSpPr>
        <p:spPr>
          <a:xfrm>
            <a:off x="8131175" y="3729286"/>
            <a:ext cx="3067050" cy="364480"/>
          </a:xfrm>
          <a:prstGeom prst="roundRect">
            <a:avLst>
              <a:gd name="adj" fmla="val 13067"/>
            </a:avLst>
          </a:prstGeom>
          <a:solidFill>
            <a:srgbClr val="FDFCF8"/>
          </a:solidFill>
          <a:ln w="6350">
            <a:solidFill>
              <a:srgbClr val="B8C0CE"/>
            </a:solidFill>
            <a:prstDash val="solid"/>
          </a:ln>
        </p:spPr>
        <p:txBody>
          <a:bodyPr wrap="square" lIns="103526" tIns="65426" rIns="18563" bIns="40026"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Virtualized graph layer:</a:t>
            </a:r>
            <a:r>
              <a:rPr lang="en-US" sz="1200" dirty="0">
                <a:solidFill>
                  <a:srgbClr val="14213D"/>
                </a:solidFill>
                <a:latin typeface="IBM Plex Sans" pitchFamily="34" charset="0"/>
                <a:ea typeface="IBM Plex Sans" pitchFamily="34" charset="-122"/>
                <a:cs typeface="IBM Plex Sans" pitchFamily="34" charset="-120"/>
              </a:rPr>
              <a:t> RML / SPARQL</a:t>
            </a:r>
            <a:endParaRPr lang="en-US" sz="1200" dirty="0"/>
          </a:p>
        </p:txBody>
      </p:sp>
      <p:pic>
        <p:nvPicPr>
          <p:cNvPr id="30" name="Image 4" descr="arrow-up">    </p:cNvPr>
          <p:cNvPicPr>
            <a:picLocks noChangeAspect="1"/>
          </p:cNvPicPr>
          <p:nvPr/>
        </p:nvPicPr>
        <p:blipFill>
          <a:blip r:embed="rId5"/>
          <a:srcRect l="0" r="0" t="0" b="0"/>
          <a:stretch/>
        </p:blipFill>
        <p:spPr>
          <a:xfrm>
            <a:off x="9588500" y="4160441"/>
            <a:ext cx="152400" cy="203200"/>
          </a:xfrm>
          <a:prstGeom prst="rect">
            <a:avLst/>
          </a:prstGeom>
        </p:spPr>
      </p:pic>
      <p:sp>
        <p:nvSpPr>
          <p:cNvPr id="31" name="Text 24"/>
          <p:cNvSpPr/>
          <p:nvPr/>
        </p:nvSpPr>
        <p:spPr>
          <a:xfrm>
            <a:off x="8131175" y="4430316"/>
            <a:ext cx="3067050" cy="364480"/>
          </a:xfrm>
          <a:prstGeom prst="roundRect">
            <a:avLst>
              <a:gd name="adj" fmla="val 13067"/>
            </a:avLst>
          </a:prstGeom>
          <a:solidFill>
            <a:srgbClr val="FDFCF8"/>
          </a:solidFill>
          <a:ln w="6350">
            <a:solidFill>
              <a:srgbClr val="B8C0CE"/>
            </a:solidFill>
            <a:prstDash val="solid"/>
          </a:ln>
        </p:spPr>
        <p:txBody>
          <a:bodyPr wrap="square" lIns="103526" tIns="65426" rIns="18563" bIns="40026" rtlCol="0" anchor="t">
            <a:normAutofit/>
          </a:bodyPr>
          <a:lstStyle/>
          <a:p>
            <a:pPr algn="l" indent="0" marL="0">
              <a:lnSpc>
                <a:spcPts val="1620"/>
              </a:lnSpc>
              <a:buNone/>
            </a:pPr>
            <a:r>
              <a:rPr lang="en-US" sz="1200" b="1" dirty="0">
                <a:solidFill>
                  <a:srgbClr val="14213D"/>
                </a:solidFill>
                <a:latin typeface="IBM Plex Sans" pitchFamily="34" charset="0"/>
                <a:ea typeface="IBM Plex Sans" pitchFamily="34" charset="-122"/>
                <a:cs typeface="IBM Plex Sans" pitchFamily="34" charset="-120"/>
              </a:rPr>
              <a:t>Workday · ServiceNow · lakehouse</a:t>
            </a:r>
            <a:endParaRPr lang="en-US" sz="1200" dirty="0"/>
          </a:p>
        </p:txBody>
      </p:sp>
      <p:pic>
        <p:nvPicPr>
          <p:cNvPr id="32" name="Image 5" descr="connector">    </p:cNvPr>
          <p:cNvPicPr>
            <a:picLocks noChangeAspect="1"/>
          </p:cNvPicPr>
          <p:nvPr/>
        </p:nvPicPr>
        <p:blipFill>
          <a:blip r:embed="rId6"/>
          <a:srcRect l="0" r="0" t="0" b="0"/>
          <a:stretch/>
        </p:blipFill>
        <p:spPr>
          <a:xfrm>
            <a:off x="4191000" y="3314700"/>
            <a:ext cx="609600" cy="101600"/>
          </a:xfrm>
          <a:prstGeom prst="rect">
            <a:avLst/>
          </a:prstGeom>
        </p:spPr>
      </p:pic>
      <p:pic>
        <p:nvPicPr>
          <p:cNvPr id="33" name="Image 6" descr="connector">    </p:cNvPr>
          <p:cNvPicPr>
            <a:picLocks noChangeAspect="1"/>
          </p:cNvPicPr>
          <p:nvPr/>
        </p:nvPicPr>
        <p:blipFill>
          <a:blip r:embed="rId7"/>
          <a:srcRect l="0" r="0" t="0" b="0"/>
          <a:stretch/>
        </p:blipFill>
        <p:spPr>
          <a:xfrm>
            <a:off x="7391400" y="3314700"/>
            <a:ext cx="609600" cy="101600"/>
          </a:xfrm>
          <a:prstGeom prst="rect">
            <a:avLst/>
          </a:prstGeom>
        </p:spPr>
      </p:pic>
      <p:sp>
        <p:nvSpPr>
          <p:cNvPr id="34" name="Text 25"/>
          <p:cNvSpPr/>
          <p:nvPr/>
        </p:nvSpPr>
        <p:spPr>
          <a:xfrm>
            <a:off x="812800" y="5207000"/>
            <a:ext cx="353187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No production PII/PHI</a:t>
            </a:r>
            <a:r>
              <a:rPr lang="en-US" sz="1200" dirty="0">
                <a:solidFill>
                  <a:srgbClr val="4A5568"/>
                </a:solidFill>
                <a:latin typeface="IBM Plex Sans" pitchFamily="34" charset="0"/>
                <a:ea typeface="IBM Plex Sans" pitchFamily="34" charset="-122"/>
                <a:cs typeface="IBM Plex Sans" pitchFamily="34" charset="-120"/>
              </a:rPr>
              <a:t> ever enters the modeling environment.</a:t>
            </a:r>
            <a:endParaRPr lang="en-US" sz="1200" dirty="0"/>
          </a:p>
        </p:txBody>
      </p:sp>
      <p:sp>
        <p:nvSpPr>
          <p:cNvPr id="35" name="Text 26"/>
          <p:cNvSpPr/>
          <p:nvPr/>
        </p:nvSpPr>
        <p:spPr>
          <a:xfrm>
            <a:off x="4749800" y="5207000"/>
            <a:ext cx="277317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No bypass:</a:t>
            </a:r>
            <a:r>
              <a:rPr lang="en-US" sz="1200" dirty="0">
                <a:solidFill>
                  <a:srgbClr val="4A5568"/>
                </a:solidFill>
                <a:latin typeface="IBM Plex Sans" pitchFamily="34" charset="0"/>
                <a:ea typeface="IBM Plex Sans" pitchFamily="34" charset="-122"/>
                <a:cs typeface="IBM Plex Sans" pitchFamily="34" charset="-120"/>
              </a:rPr>
              <a:t> generated code gets the same scrutiny.</a:t>
            </a:r>
            <a:endParaRPr lang="en-US" sz="1200" dirty="0"/>
          </a:p>
        </p:txBody>
      </p:sp>
      <p:sp>
        <p:nvSpPr>
          <p:cNvPr id="36" name="Text 27"/>
          <p:cNvSpPr/>
          <p:nvPr/>
        </p:nvSpPr>
        <p:spPr>
          <a:xfrm>
            <a:off x="7950200" y="5207000"/>
            <a:ext cx="353187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IT owns production change;</a:t>
            </a:r>
            <a:r>
              <a:rPr lang="en-US" sz="1200" dirty="0">
                <a:solidFill>
                  <a:srgbClr val="4A5568"/>
                </a:solidFill>
                <a:latin typeface="IBM Plex Sans" pitchFamily="34" charset="0"/>
                <a:ea typeface="IBM Plex Sans" pitchFamily="34" charset="-122"/>
                <a:cs typeface="IBM Plex Sans" pitchFamily="34" charset="-120"/>
              </a:rPr>
              <a:t> schema shifts stop at the mapping layer.</a:t>
            </a:r>
            <a:endParaRPr lang="en-US" sz="1200" dirty="0"/>
          </a:p>
        </p:txBody>
      </p:sp>
      <p:sp>
        <p:nvSpPr>
          <p:cNvPr id="37" name="Text 28"/>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38" name="Text 2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WHO DOES WHAT</a:t>
            </a:r>
            <a:endParaRPr lang="en-US" sz="1200" dirty="0"/>
          </a:p>
        </p:txBody>
      </p:sp>
      <p:sp>
        <p:nvSpPr>
          <p:cNvPr id="3" name="Text 1"/>
          <p:cNvSpPr/>
          <p:nvPr>
            <p:ph type="title"/>
          </p:nvPr>
        </p:nvSpPr>
        <p:spPr>
          <a:xfrm>
            <a:off x="812800" y="1127720"/>
            <a:ext cx="10883392" cy="405061"/>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Source Serif 4" pitchFamily="18" charset="0"/>
                <a:ea typeface="Source Serif 4" pitchFamily="18" charset="-122"/>
                <a:cs typeface="Source Serif 4" pitchFamily="18" charset="-120"/>
              </a:rPr>
              <a:t>Accountability stays where it lives today</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7881"/>
          <a:ext cx="10553700" cy="3539728"/>
        </p:xfrm>
        <a:graphic>
          <a:graphicData uri="http://schemas.openxmlformats.org/drawingml/2006/table">
            <a:tbl>
              <a:tblPr/>
              <a:tblGrid>
                <a:gridCol w="4221480"/>
                <a:gridCol w="1583055"/>
                <a:gridCol w="1583055"/>
                <a:gridCol w="1583055"/>
                <a:gridCol w="1583055"/>
              </a:tblGrid>
              <a:tr h="545306">
                <a:tc>
                  <a:txBody>
                    <a:bodyPr/>
                    <a:lstStyle/>
                    <a:p>
                      <a:pPr indent="0" marL="0">
                        <a:lnSpc>
                          <a:spcPts val="1675"/>
                        </a:lnSpc>
                        <a:buNone/>
                      </a:pPr>
                      <a:r>
                        <a:rPr lang="en-US" sz="1196" b="1" dirty="0">
                          <a:solidFill>
                            <a:srgbClr val="F6F4EE"/>
                          </a:solidFill>
                          <a:latin typeface="IBM Plex Sans" pitchFamily="34" charset="0"/>
                          <a:ea typeface="IBM Plex Sans" pitchFamily="34" charset="-122"/>
                          <a:cs typeface="IBM Plex Sans" pitchFamily="34" charset="-120"/>
                        </a:rPr>
                        <a:t>Activity</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ctr" indent="0" marL="0">
                        <a:lnSpc>
                          <a:spcPts val="1675"/>
                        </a:lnSpc>
                        <a:buNone/>
                      </a:pPr>
                      <a:r>
                        <a:rPr lang="en-US" sz="1196" b="1" dirty="0">
                          <a:solidFill>
                            <a:srgbClr val="F6F4EE"/>
                          </a:solidFill>
                          <a:latin typeface="IBM Plex Sans" pitchFamily="34" charset="0"/>
                          <a:ea typeface="IBM Plex Sans" pitchFamily="34" charset="-122"/>
                          <a:cs typeface="IBM Plex Sans" pitchFamily="34" charset="-120"/>
                        </a:rPr>
                        <a:t>Business</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ctr" indent="0" marL="0">
                        <a:lnSpc>
                          <a:spcPts val="1675"/>
                        </a:lnSpc>
                        <a:buNone/>
                      </a:pPr>
                      <a:r>
                        <a:rPr lang="en-US" sz="1196" b="1" dirty="0">
                          <a:solidFill>
                            <a:srgbClr val="F2D675"/>
                          </a:solidFill>
                          <a:latin typeface="IBM Plex Sans" pitchFamily="34" charset="0"/>
                          <a:ea typeface="IBM Plex Sans" pitchFamily="34" charset="-122"/>
                          <a:cs typeface="IBM Plex Sans" pitchFamily="34" charset="-120"/>
                        </a:rPr>
                        <a:t>Enterprise Analytics</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ctr" indent="0" marL="0">
                        <a:lnSpc>
                          <a:spcPts val="1675"/>
                        </a:lnSpc>
                        <a:buNone/>
                      </a:pPr>
                      <a:r>
                        <a:rPr lang="en-US" sz="1196" b="1" dirty="0">
                          <a:solidFill>
                            <a:srgbClr val="F6F4EE"/>
                          </a:solidFill>
                          <a:latin typeface="IBM Plex Sans" pitchFamily="34" charset="0"/>
                          <a:ea typeface="IBM Plex Sans" pitchFamily="34" charset="-122"/>
                          <a:cs typeface="IBM Plex Sans" pitchFamily="34" charset="-120"/>
                        </a:rPr>
                        <a:t>Architecture</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ctr" indent="0" marL="0">
                        <a:lnSpc>
                          <a:spcPts val="1675"/>
                        </a:lnSpc>
                        <a:buNone/>
                      </a:pPr>
                      <a:r>
                        <a:rPr lang="en-US" sz="1196" b="1" dirty="0">
                          <a:solidFill>
                            <a:srgbClr val="F6F4EE"/>
                          </a:solidFill>
                          <a:latin typeface="IBM Plex Sans" pitchFamily="34" charset="0"/>
                          <a:ea typeface="IBM Plex Sans" pitchFamily="34" charset="-122"/>
                          <a:cs typeface="IBM Plex Sans" pitchFamily="34" charset="-120"/>
                        </a:rPr>
                        <a:t>IT Services</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68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Define business terms, policies &amp; rules</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 / 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33268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Model taxonomies &amp; ontologies in RDF Studio</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 / 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r h="33268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Draft axioms, mappings &amp; SHACL with Claude.ai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 / 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33273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Set IRI, prefix &amp; reference-pattern standards</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 / 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r h="33273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Validate quality &amp; simulate change impact</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 / 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33273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Architecture conformance review (ARB)</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2E6F73"/>
                          </a:solidFill>
                          <a:latin typeface="IBM Plex Sans" pitchFamily="34" charset="0"/>
                          <a:ea typeface="IBM Plex Sans" pitchFamily="34" charset="-122"/>
                          <a:cs typeface="IBM Plex Sans" pitchFamily="34" charset="-120"/>
                        </a:rPr>
                        <a:t>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r h="33273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Promote via CI/CD, regression &amp; peer review</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2E6F73"/>
                          </a:solidFill>
                          <a:latin typeface="IBM Plex Sans" pitchFamily="34" charset="0"/>
                          <a:ea typeface="IBM Plex Sans" pitchFamily="34" charset="-122"/>
                          <a:cs typeface="IBM Plex Sans" pitchFamily="34" charset="-120"/>
                        </a:rPr>
                        <a:t>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33273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Operate endpoints, security, SSO &amp; access</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C</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 / 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r h="332730">
                <a:tc>
                  <a:txBody>
                    <a:bodyPr/>
                    <a:lstStyle/>
                    <a:p>
                      <a:pP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Accept the business outcome</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14213D"/>
                          </a:solidFill>
                          <a:latin typeface="IBM Plex Sans" pitchFamily="34" charset="0"/>
                          <a:ea typeface="IBM Plex Sans" pitchFamily="34" charset="-122"/>
                          <a:cs typeface="IBM Plex Sans" pitchFamily="34" charset="-120"/>
                        </a:rPr>
                        <a:t>A</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2E6F73"/>
                          </a:solidFill>
                          <a:latin typeface="IBM Plex Sans" pitchFamily="34" charset="0"/>
                          <a:ea typeface="IBM Plex Sans" pitchFamily="34" charset="-122"/>
                          <a:cs typeface="IBM Plex Sans" pitchFamily="34" charset="-120"/>
                        </a:rPr>
                        <a:t>R</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algn="ctr" indent="0" marL="0">
                        <a:lnSpc>
                          <a:spcPts val="1675"/>
                        </a:lnSpc>
                        <a:buNone/>
                      </a:pPr>
                      <a:r>
                        <a:rPr lang="en-US" sz="1196" dirty="0">
                          <a:solidFill>
                            <a:srgbClr val="6B7385"/>
                          </a:solidFill>
                          <a:latin typeface="IBM Plex Sans" pitchFamily="34" charset="0"/>
                          <a:ea typeface="IBM Plex Sans" pitchFamily="34" charset="-122"/>
                          <a:cs typeface="IBM Plex Sans" pitchFamily="34" charset="-120"/>
                        </a:rPr>
                        <a:t>I</a:t>
                      </a:r>
                      <a:endParaRPr lang="en-US" sz="1196" dirty="0">
                        <a:latin typeface="IBM Plex Sans" charset="0"/>
                        <a:ea typeface="IBM Plex Sans" charset="0"/>
                        <a:cs typeface="IBM Plex Sans" charset="0"/>
                      </a:endParaRPr>
                    </a:p>
                  </a:txBody>
                  <a:tcPr marL="53173" marR="53173" marT="53173" marB="53173"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bl>
          </a:graphicData>
        </a:graphic>
      </p:graphicFrame>
      <p:sp>
        <p:nvSpPr>
          <p:cNvPr id="5" name="Text 2"/>
          <p:cNvSpPr/>
          <p:nvPr/>
        </p:nvSpPr>
        <p:spPr>
          <a:xfrm>
            <a:off x="812800" y="5415409"/>
            <a:ext cx="10883392" cy="45199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A</a:t>
            </a:r>
            <a:r>
              <a:rPr lang="en-US" sz="1200" dirty="0">
                <a:solidFill>
                  <a:srgbClr val="4A5568"/>
                </a:solidFill>
                <a:latin typeface="IBM Plex Sans" pitchFamily="34" charset="0"/>
                <a:ea typeface="IBM Plex Sans" pitchFamily="34" charset="-122"/>
                <a:cs typeface="IBM Plex Sans" pitchFamily="34" charset="-120"/>
              </a:rPr>
              <a:t> accountable · </a:t>
            </a:r>
            <a:r>
              <a:rPr lang="en-US" sz="1200" b="1" dirty="0">
                <a:solidFill>
                  <a:srgbClr val="4A5568"/>
                </a:solidFill>
                <a:latin typeface="IBM Plex Sans" pitchFamily="34" charset="0"/>
                <a:ea typeface="IBM Plex Sans" pitchFamily="34" charset="-122"/>
                <a:cs typeface="IBM Plex Sans" pitchFamily="34" charset="-120"/>
              </a:rPr>
              <a:t>R</a:t>
            </a:r>
            <a:r>
              <a:rPr lang="en-US" sz="1200" dirty="0">
                <a:solidFill>
                  <a:srgbClr val="4A5568"/>
                </a:solidFill>
                <a:latin typeface="IBM Plex Sans" pitchFamily="34" charset="0"/>
                <a:ea typeface="IBM Plex Sans" pitchFamily="34" charset="-122"/>
                <a:cs typeface="IBM Plex Sans" pitchFamily="34" charset="-120"/>
              </a:rPr>
              <a:t> responsible · </a:t>
            </a:r>
            <a:r>
              <a:rPr lang="en-US" sz="1200" b="1" dirty="0">
                <a:solidFill>
                  <a:srgbClr val="4A5568"/>
                </a:solidFill>
                <a:latin typeface="IBM Plex Sans" pitchFamily="34" charset="0"/>
                <a:ea typeface="IBM Plex Sans" pitchFamily="34" charset="-122"/>
                <a:cs typeface="IBM Plex Sans" pitchFamily="34" charset="-120"/>
              </a:rPr>
              <a:t>C</a:t>
            </a:r>
            <a:r>
              <a:rPr lang="en-US" sz="1200" dirty="0">
                <a:solidFill>
                  <a:srgbClr val="4A5568"/>
                </a:solidFill>
                <a:latin typeface="IBM Plex Sans" pitchFamily="34" charset="0"/>
                <a:ea typeface="IBM Plex Sans" pitchFamily="34" charset="-122"/>
                <a:cs typeface="IBM Plex Sans" pitchFamily="34" charset="-120"/>
              </a:rPr>
              <a:t> consulted · </a:t>
            </a:r>
            <a:r>
              <a:rPr lang="en-US" sz="1200" b="1" dirty="0">
                <a:solidFill>
                  <a:srgbClr val="4A5568"/>
                </a:solidFill>
                <a:latin typeface="IBM Plex Sans" pitchFamily="34" charset="0"/>
                <a:ea typeface="IBM Plex Sans" pitchFamily="34" charset="-122"/>
                <a:cs typeface="IBM Plex Sans" pitchFamily="34" charset="-120"/>
              </a:rPr>
              <a:t>I</a:t>
            </a:r>
            <a:r>
              <a:rPr lang="en-US" sz="1200" dirty="0">
                <a:solidFill>
                  <a:srgbClr val="4A5568"/>
                </a:solidFill>
                <a:latin typeface="IBM Plex Sans" pitchFamily="34" charset="0"/>
                <a:ea typeface="IBM Plex Sans" pitchFamily="34" charset="-122"/>
                <a:cs typeface="IBM Plex Sans" pitchFamily="34" charset="-120"/>
              </a:rPr>
              <a:t> informed. Enterprise Analytics does the semantic work but never holds accountability for business meaning, standards or production.</a:t>
            </a:r>
            <a:endParaRPr lang="en-US" sz="1200" dirty="0"/>
          </a:p>
        </p:txBody>
      </p:sp>
      <p:sp>
        <p:nvSpPr>
          <p:cNvPr id="6" name="Text 3"/>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7" name="Text 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VALUE</a:t>
            </a:r>
            <a:endParaRPr lang="en-US" sz="1200" dirty="0"/>
          </a:p>
        </p:txBody>
      </p:sp>
      <p:sp>
        <p:nvSpPr>
          <p:cNvPr id="3" name="Text 1"/>
          <p:cNvSpPr/>
          <p:nvPr>
            <p:ph type="title"/>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Source Serif 4" pitchFamily="18" charset="0"/>
                <a:ea typeface="Source Serif 4" pitchFamily="18" charset="-122"/>
                <a:cs typeface="Source Serif 4" pitchFamily="18" charset="-120"/>
              </a:rPr>
              <a:t>Pilot hypotheses: what changes, and how we will measure it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48730"/>
          <a:ext cx="10553700" cy="2516684"/>
        </p:xfrm>
        <a:graphic>
          <a:graphicData uri="http://schemas.openxmlformats.org/drawingml/2006/table">
            <a:tbl>
              <a:tblPr/>
              <a:tblGrid>
                <a:gridCol w="1688592"/>
                <a:gridCol w="2955036"/>
                <a:gridCol w="2955036"/>
                <a:gridCol w="2955036"/>
              </a:tblGrid>
              <a:tr h="332680">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Dimension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Semantic Fabric approach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2D675"/>
                          </a:solidFill>
                          <a:latin typeface="IBM Plex Sans" pitchFamily="34" charset="0"/>
                          <a:ea typeface="IBM Plex Sans" pitchFamily="34" charset="-122"/>
                          <a:cs typeface="IBM Plex Sans" pitchFamily="34" charset="-120"/>
                        </a:rPr>
                        <a:t>Pilot target (to measure)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Ontology authoring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Manual authoring bottlenecks domain federation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Claude.ai drafts SKOS / OWL; RDF Studio curates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60–75% shorter authoring and refactoring cycles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Cross-system analysis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Analysts reconcile Workday, ServiceNow and policies by hand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One semantic layer links profiles, rules and job frameworks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Up to 70% faster time-to-insight on complex HR questions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Absorbing schema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Vendor changes ripple into pipelines and dashboards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Virtualized mappings absorb change in one governed place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No report or agent changes for simulated SaaS upgrades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0BEB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8"/>
                    </a:solidFill>
                  </a:tcPr>
                </a:tc>
              </a:tr>
              <a:tr h="546001">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Compliance &amp; traceability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Hard to show why a policy path was recommended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PROV-O provenance traces every rule that fired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Audit-ready lineage for every pilot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EB8"/>
                      </a:solidFill>
                      <a:prstDash val="solid"/>
                      <a:round/>
                      <a:headEnd type="none" w="med" len="med"/>
                      <a:tailEnd type="none" w="med" len="med"/>
                    </a:lnL>
                    <a:lnR w="12700" cap="flat" cmpd="sng" algn="ctr">
                      <a:solidFill>
                        <a:srgbClr val="C0BE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0BEB8"/>
                      </a:solidFill>
                      <a:prstDash val="solid"/>
                      <a:round/>
                      <a:headEnd type="none" w="med" len="med"/>
                      <a:tailEnd type="none" w="med" len="med"/>
                    </a:lnB>
                    <a:solidFill>
                      <a:srgbClr val="F1EEE6"/>
                    </a:solidFill>
                  </a:tcPr>
                </a:tc>
              </a:tr>
            </a:tbl>
          </a:graphicData>
        </a:graphic>
      </p:graphicFrame>
      <p:sp>
        <p:nvSpPr>
          <p:cNvPr id="5" name="Text 2"/>
          <p:cNvSpPr/>
          <p:nvPr/>
        </p:nvSpPr>
        <p:spPr>
          <a:xfrm>
            <a:off x="812800" y="4494014"/>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All targets are hypotheses, baselined with IT and HR in weeks 1–3 and reported at the readout.</a:t>
            </a:r>
            <a:endParaRPr lang="en-US" sz="1300" dirty="0"/>
          </a:p>
        </p:txBody>
      </p:sp>
      <p:sp>
        <p:nvSpPr>
          <p:cNvPr id="6" name="Text 3"/>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7" name="Text 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WHAT STAYS THE SAME</a:t>
            </a:r>
            <a:endParaRPr lang="en-US" sz="1200" dirty="0"/>
          </a:p>
        </p:txBody>
      </p:sp>
      <p:sp>
        <p:nvSpPr>
          <p:cNvPr id="3" name="Text 1"/>
          <p:cNvSpPr/>
          <p:nvPr>
            <p:ph type="title"/>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Source Serif 4" pitchFamily="18" charset="0"/>
                <a:ea typeface="Source Serif 4" pitchFamily="18" charset="-122"/>
                <a:cs typeface="Source Serif 4" pitchFamily="18" charset="-120"/>
              </a:rPr>
              <a:t>Guardrails that hold regardless of who authors the change</a:t>
            </a:r>
            <a:endParaRPr lang="en-US" sz="2600" dirty="0"/>
          </a:p>
        </p:txBody>
      </p:sp>
      <p:sp>
        <p:nvSpPr>
          <p:cNvPr id="4" name="Shape 2"/>
          <p:cNvSpPr/>
          <p:nvPr/>
        </p:nvSpPr>
        <p:spPr>
          <a:xfrm>
            <a:off x="815975" y="1815405"/>
            <a:ext cx="2520950" cy="2412206"/>
          </a:xfrm>
          <a:prstGeom prst="roundRect">
            <a:avLst>
              <a:gd name="adj" fmla="val 3027"/>
            </a:avLst>
          </a:prstGeom>
          <a:solidFill>
            <a:srgbClr val="FDFCF8"/>
          </a:solidFill>
          <a:ln w="6350">
            <a:solidFill>
              <a:srgbClr val="DAD6CB"/>
            </a:solidFill>
            <a:prstDash val="solid"/>
          </a:ln>
        </p:spPr>
      </p:sp>
      <p:pic>
        <p:nvPicPr>
          <p:cNvPr id="5" name="Image 0" descr="Users">    </p:cNvPr>
          <p:cNvPicPr>
            <a:picLocks noChangeAspect="1"/>
          </p:cNvPicPr>
          <p:nvPr/>
        </p:nvPicPr>
        <p:blipFill>
          <a:blip r:embed="rId1"/>
          <a:srcRect l="0" r="0" t="0" b="0"/>
          <a:stretch/>
        </p:blipFill>
        <p:spPr>
          <a:xfrm>
            <a:off x="1022350" y="2021780"/>
            <a:ext cx="355600" cy="355600"/>
          </a:xfrm>
          <a:prstGeom prst="rect">
            <a:avLst/>
          </a:prstGeom>
        </p:spPr>
      </p:pic>
      <p:sp>
        <p:nvSpPr>
          <p:cNvPr id="6" name="Text 3"/>
          <p:cNvSpPr/>
          <p:nvPr/>
        </p:nvSpPr>
        <p:spPr>
          <a:xfrm>
            <a:off x="1022350" y="247898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Ownership</a:t>
            </a:r>
            <a:endParaRPr lang="en-US" sz="1600" dirty="0"/>
          </a:p>
        </p:txBody>
      </p:sp>
      <p:sp>
        <p:nvSpPr>
          <p:cNvPr id="7" name="Text 4"/>
          <p:cNvSpPr/>
          <p:nvPr/>
        </p:nvSpPr>
        <p:spPr>
          <a:xfrm>
            <a:off x="1022350" y="2824411"/>
            <a:ext cx="2171446"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Architecture remains the authority for IRI conventions and patterns. IT Services remains sole owner of production.</a:t>
            </a:r>
            <a:endParaRPr lang="en-US" sz="1300" dirty="0"/>
          </a:p>
        </p:txBody>
      </p:sp>
      <p:sp>
        <p:nvSpPr>
          <p:cNvPr id="8" name="Shape 5"/>
          <p:cNvSpPr/>
          <p:nvPr/>
        </p:nvSpPr>
        <p:spPr>
          <a:xfrm>
            <a:off x="3495675" y="1815405"/>
            <a:ext cx="2520950" cy="2412206"/>
          </a:xfrm>
          <a:prstGeom prst="roundRect">
            <a:avLst>
              <a:gd name="adj" fmla="val 3027"/>
            </a:avLst>
          </a:prstGeom>
          <a:solidFill>
            <a:srgbClr val="FDFCF8"/>
          </a:solidFill>
          <a:ln w="6350">
            <a:solidFill>
              <a:srgbClr val="DAD6CB"/>
            </a:solidFill>
            <a:prstDash val="solid"/>
          </a:ln>
        </p:spPr>
      </p:sp>
      <p:pic>
        <p:nvPicPr>
          <p:cNvPr id="9" name="Image 1" descr="Lock">    </p:cNvPr>
          <p:cNvPicPr>
            <a:picLocks noChangeAspect="1"/>
          </p:cNvPicPr>
          <p:nvPr/>
        </p:nvPicPr>
        <p:blipFill>
          <a:blip r:embed="rId2"/>
          <a:srcRect l="0" r="0" t="0" b="0"/>
          <a:stretch/>
        </p:blipFill>
        <p:spPr>
          <a:xfrm>
            <a:off x="3702050" y="2021780"/>
            <a:ext cx="355600" cy="355600"/>
          </a:xfrm>
          <a:prstGeom prst="rect">
            <a:avLst/>
          </a:prstGeom>
        </p:spPr>
      </p:pic>
      <p:sp>
        <p:nvSpPr>
          <p:cNvPr id="10" name="Text 6"/>
          <p:cNvSpPr/>
          <p:nvPr/>
        </p:nvSpPr>
        <p:spPr>
          <a:xfrm>
            <a:off x="3702050" y="247898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Access</a:t>
            </a:r>
            <a:endParaRPr lang="en-US" sz="1600" dirty="0"/>
          </a:p>
        </p:txBody>
      </p:sp>
      <p:sp>
        <p:nvSpPr>
          <p:cNvPr id="11" name="Text 7"/>
          <p:cNvSpPr/>
          <p:nvPr/>
        </p:nvSpPr>
        <p:spPr>
          <a:xfrm>
            <a:off x="3702050" y="2824411"/>
            <a:ext cx="2171446"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Claude.ai Enterprise via corporate Okta / SAML SSO and RBAC. Inputs and outputs not used for training.</a:t>
            </a:r>
            <a:endParaRPr lang="en-US" sz="1300" dirty="0"/>
          </a:p>
        </p:txBody>
      </p:sp>
      <p:sp>
        <p:nvSpPr>
          <p:cNvPr id="12" name="Shape 8"/>
          <p:cNvSpPr/>
          <p:nvPr/>
        </p:nvSpPr>
        <p:spPr>
          <a:xfrm>
            <a:off x="6175375" y="1815405"/>
            <a:ext cx="2520950" cy="2412206"/>
          </a:xfrm>
          <a:prstGeom prst="roundRect">
            <a:avLst>
              <a:gd name="adj" fmla="val 3027"/>
            </a:avLst>
          </a:prstGeom>
          <a:solidFill>
            <a:srgbClr val="FDFCF8"/>
          </a:solidFill>
          <a:ln w="6350">
            <a:solidFill>
              <a:srgbClr val="DAD6CB"/>
            </a:solidFill>
            <a:prstDash val="solid"/>
          </a:ln>
        </p:spPr>
      </p:sp>
      <p:pic>
        <p:nvPicPr>
          <p:cNvPr id="13" name="Image 2" descr="Database">    </p:cNvPr>
          <p:cNvPicPr>
            <a:picLocks noChangeAspect="1"/>
          </p:cNvPicPr>
          <p:nvPr/>
        </p:nvPicPr>
        <p:blipFill>
          <a:blip r:embed="rId3"/>
          <a:srcRect l="0" r="0" t="0" b="0"/>
          <a:stretch/>
        </p:blipFill>
        <p:spPr>
          <a:xfrm>
            <a:off x="6381750" y="2021780"/>
            <a:ext cx="355600" cy="355600"/>
          </a:xfrm>
          <a:prstGeom prst="rect">
            <a:avLst/>
          </a:prstGeom>
        </p:spPr>
      </p:pic>
      <p:sp>
        <p:nvSpPr>
          <p:cNvPr id="14" name="Text 9"/>
          <p:cNvSpPr/>
          <p:nvPr/>
        </p:nvSpPr>
        <p:spPr>
          <a:xfrm>
            <a:off x="6381750" y="247898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Data</a:t>
            </a:r>
            <a:endParaRPr lang="en-US" sz="1600" dirty="0"/>
          </a:p>
        </p:txBody>
      </p:sp>
      <p:sp>
        <p:nvSpPr>
          <p:cNvPr id="15" name="Text 10"/>
          <p:cNvSpPr/>
          <p:nvPr/>
        </p:nvSpPr>
        <p:spPr>
          <a:xfrm>
            <a:off x="6381750" y="2824411"/>
            <a:ext cx="2171446"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Conceptual schemas, metadata and anonymized synthetic test sets only. No production PII or PHI.</a:t>
            </a:r>
            <a:endParaRPr lang="en-US" sz="1300" dirty="0"/>
          </a:p>
        </p:txBody>
      </p:sp>
      <p:sp>
        <p:nvSpPr>
          <p:cNvPr id="16" name="Shape 11"/>
          <p:cNvSpPr/>
          <p:nvPr/>
        </p:nvSpPr>
        <p:spPr>
          <a:xfrm>
            <a:off x="8855075" y="1815405"/>
            <a:ext cx="2520950" cy="2412206"/>
          </a:xfrm>
          <a:prstGeom prst="roundRect">
            <a:avLst>
              <a:gd name="adj" fmla="val 3027"/>
            </a:avLst>
          </a:prstGeom>
          <a:solidFill>
            <a:srgbClr val="FDFCF8"/>
          </a:solidFill>
          <a:ln w="6350">
            <a:solidFill>
              <a:srgbClr val="DAD6CB"/>
            </a:solidFill>
            <a:prstDash val="solid"/>
          </a:ln>
        </p:spPr>
      </p:sp>
      <p:pic>
        <p:nvPicPr>
          <p:cNvPr id="17" name="Image 3" descr="Verified">    </p:cNvPr>
          <p:cNvPicPr>
            <a:picLocks noChangeAspect="1"/>
          </p:cNvPicPr>
          <p:nvPr/>
        </p:nvPicPr>
        <p:blipFill>
          <a:blip r:embed="rId4"/>
          <a:srcRect l="0" r="0" t="0" b="0"/>
          <a:stretch/>
        </p:blipFill>
        <p:spPr>
          <a:xfrm>
            <a:off x="9061450" y="2021780"/>
            <a:ext cx="355600" cy="355600"/>
          </a:xfrm>
          <a:prstGeom prst="rect">
            <a:avLst/>
          </a:prstGeom>
        </p:spPr>
      </p:pic>
      <p:sp>
        <p:nvSpPr>
          <p:cNvPr id="18" name="Text 12"/>
          <p:cNvSpPr/>
          <p:nvPr/>
        </p:nvSpPr>
        <p:spPr>
          <a:xfrm>
            <a:off x="9061450" y="2478980"/>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Review</a:t>
            </a:r>
            <a:endParaRPr lang="en-US" sz="1600" dirty="0"/>
          </a:p>
        </p:txBody>
      </p:sp>
      <p:sp>
        <p:nvSpPr>
          <p:cNvPr id="19" name="Text 13"/>
          <p:cNvSpPr/>
          <p:nvPr/>
        </p:nvSpPr>
        <p:spPr>
          <a:xfrm>
            <a:off x="9061450" y="2824411"/>
            <a:ext cx="2171446"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Every artifact passes CI/CD, regression tests and Git peer review. No exceptions for generated code.</a:t>
            </a:r>
            <a:endParaRPr lang="en-US" sz="1300" dirty="0"/>
          </a:p>
        </p:txBody>
      </p:sp>
      <p:sp>
        <p:nvSpPr>
          <p:cNvPr id="20" name="Text 14"/>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1" name="Text 1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A12"/>
                </a:solidFill>
                <a:latin typeface="IBM Plex Sans" pitchFamily="34" charset="0"/>
                <a:ea typeface="IBM Plex Sans" pitchFamily="34" charset="-122"/>
                <a:cs typeface="IBM Plex Sans" pitchFamily="34" charset="-120"/>
              </a:rPr>
              <a:t>THE 12-WEEK PILOT</a:t>
            </a:r>
            <a:endParaRPr lang="en-US" sz="1200" dirty="0"/>
          </a:p>
        </p:txBody>
      </p:sp>
      <p:sp>
        <p:nvSpPr>
          <p:cNvPr id="3" name="Text 1"/>
          <p:cNvSpPr/>
          <p:nvPr>
            <p:ph type="title"/>
          </p:nvPr>
        </p:nvSpPr>
        <p:spPr>
          <a:xfrm>
            <a:off x="812800" y="1127720"/>
            <a:ext cx="10883392" cy="405110"/>
          </a:xfrm>
          <a:prstGeom prst="rect">
            <a:avLst/>
          </a:prstGeom>
          <a:noFill/>
          <a:ln/>
        </p:spPr>
        <p:txBody>
          <a:bodyPr wrap="square" lIns="0" tIns="0" rIns="0" bIns="0" rtlCol="0" anchor="t">
            <a:normAutofit/>
          </a:bodyPr>
          <a:lstStyle/>
          <a:p>
            <a:pPr algn="l" indent="0" marL="0">
              <a:lnSpc>
                <a:spcPts val="2990"/>
              </a:lnSpc>
              <a:buNone/>
            </a:pPr>
            <a:r>
              <a:rPr lang="en-US" sz="2600" b="1" i="0" dirty="0">
                <a:solidFill>
                  <a:srgbClr val="14213D"/>
                </a:solidFill>
                <a:latin typeface="Source Serif 4" pitchFamily="18" charset="0"/>
                <a:ea typeface="Source Serif 4" pitchFamily="18" charset="-122"/>
                <a:cs typeface="Source Serif 4" pitchFamily="18" charset="-120"/>
              </a:rPr>
              <a:t>Four phases, five success criteria, one shared go / no-go</a:t>
            </a:r>
            <a:endParaRPr lang="en-US" sz="2600" dirty="0"/>
          </a:p>
        </p:txBody>
      </p:sp>
      <p:sp>
        <p:nvSpPr>
          <p:cNvPr id="4" name="Shape 2"/>
          <p:cNvSpPr/>
          <p:nvPr/>
        </p:nvSpPr>
        <p:spPr>
          <a:xfrm>
            <a:off x="812800" y="1841500"/>
            <a:ext cx="2641600" cy="629841"/>
          </a:xfrm>
          <a:custGeom>
            <a:avLst/>
            <a:gdLst/>
            <a:ahLst/>
            <a:cxnLst/>
            <a:rect l="l" t="t" r="r" b="b"/>
            <a:pathLst>
              <a:path w="2641600" h="629841">
                <a:moveTo>
                  <a:pt x="63500" y="0"/>
                </a:moveTo>
                <a:lnTo>
                  <a:pt x="2641600" y="0"/>
                </a:lnTo>
                <a:lnTo>
                  <a:pt x="2641600" y="629841"/>
                </a:lnTo>
                <a:lnTo>
                  <a:pt x="63500" y="629841"/>
                </a:lnTo>
                <a:arcTo hR="63500" wR="63500" stAng="5400000" swAng="5400000"/>
                <a:lnTo>
                  <a:pt x="0" y="63500"/>
                </a:lnTo>
                <a:arcTo hR="63500" wR="63500" stAng="10800000" swAng="5400000"/>
                <a:close/>
              </a:path>
            </a:pathLst>
          </a:custGeom>
          <a:solidFill>
            <a:srgbClr val="14213D"/>
          </a:solidFill>
          <a:ln/>
        </p:spPr>
      </p:sp>
      <p:sp>
        <p:nvSpPr>
          <p:cNvPr id="5" name="Text 3"/>
          <p:cNvSpPr/>
          <p:nvPr/>
        </p:nvSpPr>
        <p:spPr>
          <a:xfrm>
            <a:off x="965200" y="1943100"/>
            <a:ext cx="2406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Weeks 1–3</a:t>
            </a:r>
            <a:endParaRPr lang="en-US" sz="1200" dirty="0"/>
          </a:p>
        </p:txBody>
      </p:sp>
      <p:sp>
        <p:nvSpPr>
          <p:cNvPr id="6" name="Text 4"/>
          <p:cNvSpPr/>
          <p:nvPr/>
        </p:nvSpPr>
        <p:spPr>
          <a:xfrm>
            <a:off x="965200" y="2156420"/>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Environment &amp; setup</a:t>
            </a:r>
            <a:endParaRPr lang="en-US" sz="1200" dirty="0"/>
          </a:p>
        </p:txBody>
      </p:sp>
      <p:sp>
        <p:nvSpPr>
          <p:cNvPr id="7" name="Shape 5"/>
          <p:cNvSpPr/>
          <p:nvPr/>
        </p:nvSpPr>
        <p:spPr>
          <a:xfrm>
            <a:off x="3454400" y="1841500"/>
            <a:ext cx="3524250" cy="629841"/>
          </a:xfrm>
          <a:prstGeom prst="rect">
            <a:avLst/>
          </a:prstGeom>
          <a:solidFill>
            <a:srgbClr val="2E6F73"/>
          </a:solidFill>
          <a:ln/>
        </p:spPr>
      </p:sp>
      <p:sp>
        <p:nvSpPr>
          <p:cNvPr id="8" name="Text 6"/>
          <p:cNvSpPr/>
          <p:nvPr/>
        </p:nvSpPr>
        <p:spPr>
          <a:xfrm>
            <a:off x="3606800" y="1943100"/>
            <a:ext cx="33160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4FAF9"/>
                </a:solidFill>
                <a:latin typeface="IBM Plex Sans" pitchFamily="34" charset="0"/>
                <a:ea typeface="IBM Plex Sans" pitchFamily="34" charset="-122"/>
                <a:cs typeface="IBM Plex Sans" pitchFamily="34" charset="-120"/>
              </a:rPr>
              <a:t>Weeks 4–7</a:t>
            </a:r>
            <a:endParaRPr lang="en-US" sz="1200" dirty="0"/>
          </a:p>
        </p:txBody>
      </p:sp>
      <p:sp>
        <p:nvSpPr>
          <p:cNvPr id="9" name="Text 7"/>
          <p:cNvSpPr/>
          <p:nvPr/>
        </p:nvSpPr>
        <p:spPr>
          <a:xfrm>
            <a:off x="3606800" y="2156420"/>
            <a:ext cx="33160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AF9"/>
                </a:solidFill>
                <a:latin typeface="IBM Plex Sans" pitchFamily="34" charset="0"/>
                <a:ea typeface="IBM Plex Sans" pitchFamily="34" charset="-122"/>
                <a:cs typeface="IBM Plex Sans" pitchFamily="34" charset="-120"/>
              </a:rPr>
              <a:t>HR 360 semantic modeling</a:t>
            </a:r>
            <a:endParaRPr lang="en-US" sz="1200" dirty="0"/>
          </a:p>
        </p:txBody>
      </p:sp>
      <p:sp>
        <p:nvSpPr>
          <p:cNvPr id="10" name="Shape 8"/>
          <p:cNvSpPr/>
          <p:nvPr/>
        </p:nvSpPr>
        <p:spPr>
          <a:xfrm>
            <a:off x="6978650" y="1841500"/>
            <a:ext cx="2641600" cy="629841"/>
          </a:xfrm>
          <a:prstGeom prst="rect">
            <a:avLst/>
          </a:prstGeom>
          <a:solidFill>
            <a:srgbClr val="3B4C6E"/>
          </a:solidFill>
          <a:ln/>
        </p:spPr>
      </p:sp>
      <p:sp>
        <p:nvSpPr>
          <p:cNvPr id="11" name="Text 9"/>
          <p:cNvSpPr/>
          <p:nvPr/>
        </p:nvSpPr>
        <p:spPr>
          <a:xfrm>
            <a:off x="7131050" y="1943100"/>
            <a:ext cx="2406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Weeks 8–10</a:t>
            </a:r>
            <a:endParaRPr lang="en-US" sz="1200" dirty="0"/>
          </a:p>
        </p:txBody>
      </p:sp>
      <p:sp>
        <p:nvSpPr>
          <p:cNvPr id="12" name="Text 10"/>
          <p:cNvSpPr/>
          <p:nvPr/>
        </p:nvSpPr>
        <p:spPr>
          <a:xfrm>
            <a:off x="7131050" y="2156420"/>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E"/>
                </a:solidFill>
                <a:latin typeface="IBM Plex Sans" pitchFamily="34" charset="0"/>
                <a:ea typeface="IBM Plex Sans" pitchFamily="34" charset="-122"/>
                <a:cs typeface="IBM Plex Sans" pitchFamily="34" charset="-120"/>
              </a:rPr>
              <a:t>Validation &amp; agent tests</a:t>
            </a:r>
            <a:endParaRPr lang="en-US" sz="1200" dirty="0"/>
          </a:p>
        </p:txBody>
      </p:sp>
      <p:sp>
        <p:nvSpPr>
          <p:cNvPr id="13" name="Shape 11"/>
          <p:cNvSpPr/>
          <p:nvPr/>
        </p:nvSpPr>
        <p:spPr>
          <a:xfrm>
            <a:off x="9620250" y="1841500"/>
            <a:ext cx="1758950" cy="629841"/>
          </a:xfrm>
          <a:custGeom>
            <a:avLst/>
            <a:gdLst/>
            <a:ahLst/>
            <a:cxnLst/>
            <a:rect l="l" t="t" r="r" b="b"/>
            <a:pathLst>
              <a:path w="1758950" h="629841">
                <a:moveTo>
                  <a:pt x="0" y="0"/>
                </a:moveTo>
                <a:lnTo>
                  <a:pt x="1695450" y="0"/>
                </a:lnTo>
                <a:arcTo hR="63500" wR="63500" stAng="16200000" swAng="5400000"/>
                <a:lnTo>
                  <a:pt x="1758950" y="566341"/>
                </a:lnTo>
                <a:arcTo hR="63500" wR="63500" stAng="0" swAng="5400000"/>
                <a:lnTo>
                  <a:pt x="0" y="629841"/>
                </a:lnTo>
                <a:lnTo>
                  <a:pt x="0" y="0"/>
                </a:lnTo>
                <a:close/>
              </a:path>
            </a:pathLst>
          </a:custGeom>
          <a:solidFill>
            <a:srgbClr val="C9A227"/>
          </a:solidFill>
          <a:ln/>
        </p:spPr>
      </p:sp>
      <p:sp>
        <p:nvSpPr>
          <p:cNvPr id="14" name="Text 12"/>
          <p:cNvSpPr/>
          <p:nvPr/>
        </p:nvSpPr>
        <p:spPr>
          <a:xfrm>
            <a:off x="9772650" y="1943100"/>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Weeks 11–12</a:t>
            </a:r>
            <a:endParaRPr lang="en-US" sz="1200" dirty="0"/>
          </a:p>
        </p:txBody>
      </p:sp>
      <p:sp>
        <p:nvSpPr>
          <p:cNvPr id="15" name="Text 13"/>
          <p:cNvSpPr/>
          <p:nvPr/>
        </p:nvSpPr>
        <p:spPr>
          <a:xfrm>
            <a:off x="9772650" y="2156420"/>
            <a:ext cx="1504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Readout</a:t>
            </a:r>
            <a:endParaRPr lang="en-US" sz="1200" dirty="0"/>
          </a:p>
        </p:txBody>
      </p:sp>
      <p:sp>
        <p:nvSpPr>
          <p:cNvPr id="16" name="Text 14"/>
          <p:cNvSpPr/>
          <p:nvPr/>
        </p:nvSpPr>
        <p:spPr>
          <a:xfrm>
            <a:off x="812800" y="2603500"/>
            <a:ext cx="25638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3–5 seats, SSO / RBAC and sandbox; agree prefixes; baseline the measures</a:t>
            </a:r>
            <a:endParaRPr lang="en-US" sz="1200" dirty="0"/>
          </a:p>
        </p:txBody>
      </p:sp>
      <p:sp>
        <p:nvSpPr>
          <p:cNvPr id="17" name="Text 15"/>
          <p:cNvSpPr/>
          <p:nvPr/>
        </p:nvSpPr>
        <p:spPr>
          <a:xfrm>
            <a:off x="3454400" y="2603500"/>
            <a:ext cx="34730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Core HR taxonomy in RDF Studio; mappings and policy axioms drafted with Claude.ai, all peer-reviewed</a:t>
            </a:r>
            <a:endParaRPr lang="en-US" sz="1200" dirty="0"/>
          </a:p>
        </p:txBody>
      </p:sp>
      <p:sp>
        <p:nvSpPr>
          <p:cNvPr id="18" name="Text 16"/>
          <p:cNvSpPr/>
          <p:nvPr/>
        </p:nvSpPr>
        <p:spPr>
          <a:xfrm>
            <a:off x="6978650" y="2603500"/>
            <a:ext cx="256387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SHACL suites, drift and impact simulations against mock HR queries</a:t>
            </a:r>
            <a:endParaRPr lang="en-US" sz="1200" dirty="0"/>
          </a:p>
        </p:txBody>
      </p:sp>
      <p:sp>
        <p:nvSpPr>
          <p:cNvPr id="19" name="Text 17"/>
          <p:cNvSpPr/>
          <p:nvPr/>
        </p:nvSpPr>
        <p:spPr>
          <a:xfrm>
            <a:off x="9620250" y="2603500"/>
            <a:ext cx="1811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Joint readout; continue, adjust or stop</a:t>
            </a:r>
            <a:endParaRPr lang="en-US" sz="1200" dirty="0"/>
          </a:p>
        </p:txBody>
      </p:sp>
      <p:sp>
        <p:nvSpPr>
          <p:cNvPr id="20" name="Shape 18"/>
          <p:cNvSpPr/>
          <p:nvPr/>
        </p:nvSpPr>
        <p:spPr>
          <a:xfrm>
            <a:off x="815975" y="3813175"/>
            <a:ext cx="10560050" cy="1695400"/>
          </a:xfrm>
          <a:prstGeom prst="roundRect">
            <a:avLst>
              <a:gd name="adj" fmla="val 4307"/>
            </a:avLst>
          </a:prstGeom>
          <a:solidFill>
            <a:srgbClr val="FDFCF8"/>
          </a:solidFill>
          <a:ln w="6350">
            <a:solidFill>
              <a:srgbClr val="DAD6CB"/>
            </a:solidFill>
            <a:prstDash val="solid"/>
          </a:ln>
        </p:spPr>
      </p:sp>
      <p:sp>
        <p:nvSpPr>
          <p:cNvPr id="21" name="Text 19"/>
          <p:cNvSpPr/>
          <p:nvPr/>
        </p:nvSpPr>
        <p:spPr>
          <a:xfrm>
            <a:off x="1047750" y="3994150"/>
            <a:ext cx="1039939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Success criteria, confirmed jointly in weeks 1–3</a:t>
            </a:r>
            <a:endParaRPr lang="en-US" sz="1500" dirty="0"/>
          </a:p>
        </p:txBody>
      </p:sp>
      <p:sp>
        <p:nvSpPr>
          <p:cNvPr id="22" name="Text 20"/>
          <p:cNvSpPr/>
          <p:nvPr/>
        </p:nvSpPr>
        <p:spPr>
          <a:xfrm>
            <a:off x="1047750" y="4298950"/>
            <a:ext cx="10399395" cy="1054050"/>
          </a:xfrm>
          <a:prstGeom prst="rect">
            <a:avLst/>
          </a:prstGeom>
          <a:noFill/>
          <a:ln/>
        </p:spPr>
        <p:txBody>
          <a:bodyPr wrap="square" lIns="0" tIns="0" rIns="0" bIns="0" rtlCol="0" anchor="t">
            <a:normAutofit/>
          </a:bodyPr>
          <a:lstStyle/>
          <a:p>
            <a:pPr algn="l" marL="182880" indent="-155194">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Measured reduction in time-to-answer for an agreed set of complex HR policy questions</a:t>
            </a:r>
            <a:endParaRPr lang="en-US" sz="1200" dirty="0"/>
          </a:p>
          <a:p>
            <a:pPr algn="l" marL="182880" indent="-155194">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Simulated source schema changes absorbed in the mapping layer, with no downstream report or agent changes</a:t>
            </a:r>
            <a:endParaRPr lang="en-US" sz="1200" dirty="0"/>
          </a:p>
          <a:p>
            <a:pPr algn="l" marL="182880" indent="-155194">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100% of promoted artifacts pass CI/CD regression tests and Git peer review</a:t>
            </a:r>
            <a:endParaRPr lang="en-US" sz="1200" dirty="0"/>
          </a:p>
          <a:p>
            <a:pPr algn="l" marL="182880" indent="-155194">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Architecture conformance sign-off on pilot models and mappings</a:t>
            </a:r>
            <a:endParaRPr lang="en-US" sz="1200" dirty="0"/>
          </a:p>
          <a:p>
            <a:pPr algn="l" marL="182880" indent="-155194">
              <a:lnSpc>
                <a:spcPts val="1620"/>
              </a:lnSpc>
              <a:buSzPct val="100000"/>
              <a:buChar char="•"/>
            </a:pPr>
            <a:r>
              <a:rPr lang="en-US" sz="1200" dirty="0">
                <a:solidFill>
                  <a:srgbClr val="4A5568"/>
                </a:solidFill>
                <a:latin typeface="IBM Plex Sans" pitchFamily="34" charset="0"/>
                <a:ea typeface="IBM Plex Sans" pitchFamily="34" charset="-122"/>
                <a:cs typeface="IBM Plex Sans" pitchFamily="34" charset="-120"/>
              </a:rPr>
              <a:t>Zero production PII/PHI in the modeling environment for the duration of the pilot</a:t>
            </a:r>
            <a:endParaRPr lang="en-US" sz="1200" dirty="0"/>
          </a:p>
        </p:txBody>
      </p:sp>
      <p:sp>
        <p:nvSpPr>
          <p:cNvPr id="23" name="Text 21"/>
          <p:cNvSpPr/>
          <p:nvPr/>
        </p:nvSpPr>
        <p:spPr>
          <a:xfrm>
            <a:off x="812800" y="6238280"/>
            <a:ext cx="2883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Semantic Fabric · Keel &amp; North Star</a:t>
            </a:r>
            <a:endParaRPr lang="en-US" sz="1200" dirty="0"/>
          </a:p>
        </p:txBody>
      </p:sp>
      <p:sp>
        <p:nvSpPr>
          <p:cNvPr id="24" name="Text 22"/>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385"/>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pic>
        <p:nvPicPr>
          <p:cNvPr id="2" name="Image 0" descr="Gold North Star">    </p:cNvPr>
          <p:cNvPicPr>
            <a:picLocks noChangeAspect="1"/>
          </p:cNvPicPr>
          <p:nvPr/>
        </p:nvPicPr>
        <p:blipFill>
          <a:blip r:embed="rId1"/>
          <a:srcRect l="0" r="0" t="0" b="0"/>
          <a:stretch/>
        </p:blipFill>
        <p:spPr>
          <a:xfrm>
            <a:off x="10769600" y="812800"/>
            <a:ext cx="609600" cy="6096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227"/>
                </a:solidFill>
                <a:latin typeface="IBM Plex Sans" pitchFamily="34" charset="0"/>
                <a:ea typeface="IBM Plex Sans" pitchFamily="34" charset="-122"/>
                <a:cs typeface="IBM Plex Sans" pitchFamily="34" charset="-120"/>
              </a:rPr>
              <a:t>DECISION REQUESTED</a:t>
            </a:r>
            <a:endParaRPr lang="en-US" sz="1200" dirty="0"/>
          </a:p>
        </p:txBody>
      </p:sp>
      <p:sp>
        <p:nvSpPr>
          <p:cNvPr id="4"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Source Serif 4" pitchFamily="18" charset="0"/>
                <a:ea typeface="Source Serif 4" pitchFamily="18" charset="-122"/>
                <a:cs typeface="Source Serif 4" pitchFamily="18" charset="-120"/>
              </a:rPr>
              <a:t>What we ask of each partner</a:t>
            </a:r>
            <a:endParaRPr lang="en-US" sz="3200" dirty="0"/>
          </a:p>
        </p:txBody>
      </p:sp>
      <p:sp>
        <p:nvSpPr>
          <p:cNvPr id="5" name="Shape 2"/>
          <p:cNvSpPr/>
          <p:nvPr/>
        </p:nvSpPr>
        <p:spPr>
          <a:xfrm>
            <a:off x="815975" y="1852216"/>
            <a:ext cx="3397250" cy="1426170"/>
          </a:xfrm>
          <a:prstGeom prst="roundRect">
            <a:avLst>
              <a:gd name="adj" fmla="val 5120"/>
            </a:avLst>
          </a:prstGeom>
          <a:solidFill>
            <a:srgbClr val="1E2C4D"/>
          </a:solidFill>
          <a:ln w="6350">
            <a:solidFill>
              <a:srgbClr val="33436A"/>
            </a:solidFill>
            <a:prstDash val="solid"/>
          </a:ln>
        </p:spPr>
      </p:sp>
      <p:sp>
        <p:nvSpPr>
          <p:cNvPr id="6" name="Text 3"/>
          <p:cNvSpPr/>
          <p:nvPr/>
        </p:nvSpPr>
        <p:spPr>
          <a:xfrm>
            <a:off x="1022350" y="2058591"/>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Architecture</a:t>
            </a:r>
            <a:endParaRPr lang="en-US" sz="1600" dirty="0"/>
          </a:p>
        </p:txBody>
      </p:sp>
      <p:sp>
        <p:nvSpPr>
          <p:cNvPr id="7" name="Text 4"/>
          <p:cNvSpPr/>
          <p:nvPr/>
        </p:nvSpPr>
        <p:spPr>
          <a:xfrm>
            <a:off x="1022350" y="2378621"/>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Conventions session in weeks 1–3, conformance review in weeks 8–10, a shared voice at readout.</a:t>
            </a:r>
            <a:endParaRPr lang="en-US" sz="1300" dirty="0"/>
          </a:p>
        </p:txBody>
      </p:sp>
      <p:sp>
        <p:nvSpPr>
          <p:cNvPr id="8" name="Shape 5"/>
          <p:cNvSpPr/>
          <p:nvPr/>
        </p:nvSpPr>
        <p:spPr>
          <a:xfrm>
            <a:off x="4397375" y="1852216"/>
            <a:ext cx="3397250" cy="1426170"/>
          </a:xfrm>
          <a:prstGeom prst="roundRect">
            <a:avLst>
              <a:gd name="adj" fmla="val 5120"/>
            </a:avLst>
          </a:prstGeom>
          <a:solidFill>
            <a:srgbClr val="1E2C4D"/>
          </a:solidFill>
          <a:ln w="6350">
            <a:solidFill>
              <a:srgbClr val="33436A"/>
            </a:solidFill>
            <a:prstDash val="solid"/>
          </a:ln>
        </p:spPr>
      </p:sp>
      <p:sp>
        <p:nvSpPr>
          <p:cNvPr id="9" name="Text 6"/>
          <p:cNvSpPr/>
          <p:nvPr/>
        </p:nvSpPr>
        <p:spPr>
          <a:xfrm>
            <a:off x="4603750" y="2058591"/>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IT Services</a:t>
            </a:r>
            <a:endParaRPr lang="en-US" sz="1600" dirty="0"/>
          </a:p>
        </p:txBody>
      </p:sp>
      <p:sp>
        <p:nvSpPr>
          <p:cNvPr id="10" name="Text 7"/>
          <p:cNvSpPr/>
          <p:nvPr/>
        </p:nvSpPr>
        <p:spPr>
          <a:xfrm>
            <a:off x="4603750" y="2378621"/>
            <a:ext cx="30740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SSO / RBAC for 3–5 seats, a sandbox with read-only metadata access, CI/CD onboarding guidance.</a:t>
            </a:r>
            <a:endParaRPr lang="en-US" sz="1300" dirty="0"/>
          </a:p>
        </p:txBody>
      </p:sp>
      <p:sp>
        <p:nvSpPr>
          <p:cNvPr id="11" name="Shape 8"/>
          <p:cNvSpPr/>
          <p:nvPr/>
        </p:nvSpPr>
        <p:spPr>
          <a:xfrm>
            <a:off x="7978775" y="1852216"/>
            <a:ext cx="3397250" cy="1426170"/>
          </a:xfrm>
          <a:prstGeom prst="roundRect">
            <a:avLst>
              <a:gd name="adj" fmla="val 5120"/>
            </a:avLst>
          </a:prstGeom>
          <a:solidFill>
            <a:srgbClr val="1E2C4D"/>
          </a:solidFill>
          <a:ln w="6350">
            <a:solidFill>
              <a:srgbClr val="33436A"/>
            </a:solidFill>
            <a:prstDash val="solid"/>
          </a:ln>
        </p:spPr>
      </p:sp>
      <p:sp>
        <p:nvSpPr>
          <p:cNvPr id="12" name="Text 9"/>
          <p:cNvSpPr/>
          <p:nvPr/>
        </p:nvSpPr>
        <p:spPr>
          <a:xfrm>
            <a:off x="8185150" y="2058591"/>
            <a:ext cx="30740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Procurement</a:t>
            </a:r>
            <a:endParaRPr lang="en-US" sz="1600" dirty="0"/>
          </a:p>
        </p:txBody>
      </p:sp>
      <p:sp>
        <p:nvSpPr>
          <p:cNvPr id="13" name="Text 10"/>
          <p:cNvSpPr/>
          <p:nvPr/>
        </p:nvSpPr>
        <p:spPr>
          <a:xfrm>
            <a:off x="8185150" y="2378621"/>
            <a:ext cx="30740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90-day evaluation licensing for Claude.ai Enterprise and RDF Studio.</a:t>
            </a:r>
            <a:endParaRPr lang="en-US" sz="1300" dirty="0"/>
          </a:p>
        </p:txBody>
      </p:sp>
      <p:sp>
        <p:nvSpPr>
          <p:cNvPr id="14" name="Text 11"/>
          <p:cNvSpPr/>
          <p:nvPr/>
        </p:nvSpPr>
        <p:spPr>
          <a:xfrm>
            <a:off x="812800" y="3535561"/>
            <a:ext cx="108833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D675"/>
                </a:solidFill>
                <a:latin typeface="IBM Plex Sans" pitchFamily="34" charset="0"/>
                <a:ea typeface="IBM Plex Sans" pitchFamily="34" charset="-122"/>
                <a:cs typeface="IBM Plex Sans" pitchFamily="34" charset="-120"/>
              </a:rPr>
              <a:t>Open questions for your guidance</a:t>
            </a:r>
            <a:endParaRPr lang="en-US" sz="1500" dirty="0"/>
          </a:p>
        </p:txBody>
      </p:sp>
      <p:sp>
        <p:nvSpPr>
          <p:cNvPr id="15" name="Text 12"/>
          <p:cNvSpPr/>
          <p:nvPr/>
        </p:nvSpPr>
        <p:spPr>
          <a:xfrm>
            <a:off x="812800" y="3840361"/>
            <a:ext cx="10883392" cy="949920"/>
          </a:xfrm>
          <a:prstGeom prst="rect">
            <a:avLst/>
          </a:prstGeom>
          <a:noFill/>
          <a:ln/>
        </p:spPr>
        <p:txBody>
          <a:bodyPr wrap="square" lIns="0" tIns="0" rIns="0" bIns="0" rtlCol="0" anchor="t">
            <a:normAutofit/>
          </a:bodyPr>
          <a:lstStyle/>
          <a:p>
            <a:pPr algn="l" marL="198120" indent="-198120">
              <a:lnSpc>
                <a:spcPts val="1820"/>
              </a:lnSpc>
              <a:buSzPct val="100000"/>
              <a:buFontTx/>
              <a:buAutoNum type="arabicPeriod" startAt="1"/>
            </a:pPr>
            <a:r>
              <a:rPr lang="en-US" sz="1300" dirty="0">
                <a:solidFill>
                  <a:srgbClr val="C9D3E0"/>
                </a:solidFill>
                <a:latin typeface="IBM Plex Sans" pitchFamily="34" charset="0"/>
                <a:ea typeface="IBM Plex Sans" pitchFamily="34" charset="-122"/>
                <a:cs typeface="IBM Plex Sans" pitchFamily="34" charset="-120"/>
              </a:rPr>
              <a:t>Which IRI namespace and prefix conventions should the pilot adopt, or should we draft one for ARB review?</a:t>
            </a:r>
            <a:endParaRPr lang="en-US" sz="1300" dirty="0"/>
          </a:p>
          <a:p>
            <a:pPr algn="l" marL="198120" indent="-198120">
              <a:lnSpc>
                <a:spcPts val="1820"/>
              </a:lnSpc>
              <a:buSzPct val="100000"/>
              <a:buFontTx/>
              <a:buAutoNum type="arabicPeriod" startAt="1"/>
            </a:pPr>
            <a:r>
              <a:rPr lang="en-US" sz="1300" dirty="0">
                <a:solidFill>
                  <a:srgbClr val="C9D3E0"/>
                </a:solidFill>
                <a:latin typeface="IBM Plex Sans" pitchFamily="34" charset="0"/>
                <a:ea typeface="IBM Plex Sans" pitchFamily="34" charset="-122"/>
                <a:cs typeface="IBM Plex Sans" pitchFamily="34" charset="-120"/>
              </a:rPr>
              <a:t>What data classification applies to model metadata and synthetic test sets?</a:t>
            </a:r>
            <a:endParaRPr lang="en-US" sz="1300" dirty="0"/>
          </a:p>
          <a:p>
            <a:pPr algn="l" marL="198120" indent="-198120">
              <a:lnSpc>
                <a:spcPts val="1820"/>
              </a:lnSpc>
              <a:buSzPct val="100000"/>
              <a:buFontTx/>
              <a:buAutoNum type="arabicPeriod" startAt="1"/>
            </a:pPr>
            <a:r>
              <a:rPr lang="en-US" sz="1300" dirty="0">
                <a:solidFill>
                  <a:srgbClr val="C9D3E0"/>
                </a:solidFill>
                <a:latin typeface="IBM Plex Sans" pitchFamily="34" charset="0"/>
                <a:ea typeface="IBM Plex Sans" pitchFamily="34" charset="-122"/>
                <a:cs typeface="IBM Plex Sans" pitchFamily="34" charset="-120"/>
              </a:rPr>
              <a:t>Which repository and CI/CD pipeline should pilot artifacts use?</a:t>
            </a:r>
            <a:endParaRPr lang="en-US" sz="1300" dirty="0"/>
          </a:p>
          <a:p>
            <a:pPr algn="l" marL="198120" indent="-198120">
              <a:lnSpc>
                <a:spcPts val="1820"/>
              </a:lnSpc>
              <a:buSzPct val="100000"/>
              <a:buFontTx/>
              <a:buAutoNum type="arabicPeriod" startAt="1"/>
            </a:pPr>
            <a:r>
              <a:rPr lang="en-US" sz="1300" dirty="0">
                <a:solidFill>
                  <a:srgbClr val="C9D3E0"/>
                </a:solidFill>
                <a:latin typeface="IBM Plex Sans" pitchFamily="34" charset="0"/>
                <a:ea typeface="IBM Plex Sans" pitchFamily="34" charset="-122"/>
                <a:cs typeface="IBM Plex Sans" pitchFamily="34" charset="-120"/>
              </a:rPr>
              <a:t>Are there review points Architecture or IT would like added to the 12-week plan?</a:t>
            </a:r>
            <a:endParaRPr lang="en-US" sz="1300" dirty="0"/>
          </a:p>
        </p:txBody>
      </p:sp>
    </p:spTree>
  </p:cSld>
  <p:clrMapOvr>
    <a:masterClrMapping/>
  </p:clrMapOvr>
</p:sld>
</file>

<file path=ppt/theme/theme1.xml><?xml version="1.0" encoding="utf-8"?>
<a:theme xmlns:a="http://schemas.openxmlformats.org/drawingml/2006/main" name="Semantic Fabric: Keel &amp; North Star">
  <a:themeElements>
    <a:clrScheme name="Semantic Fabric: Keel &amp; North Star">
      <a:dk1>
        <a:srgbClr val="14213D"/>
      </a:dk1>
      <a:lt1>
        <a:srgbClr val="F6F4EE"/>
      </a:lt1>
      <a:dk2>
        <a:srgbClr val="4D5669"/>
      </a:dk2>
      <a:lt2>
        <a:srgbClr val="DFDFDC"/>
      </a:lt2>
      <a:accent1>
        <a:srgbClr val="8A6A12"/>
      </a:accent1>
      <a:accent2>
        <a:srgbClr val="2E6F73"/>
      </a:accent2>
      <a:accent3>
        <a:srgbClr val="C9A227"/>
      </a:accent3>
      <a:accent4>
        <a:srgbClr val="3B4C6E"/>
      </a:accent4>
      <a:accent5>
        <a:srgbClr val="F2D675"/>
      </a:accent5>
      <a:accent6>
        <a:srgbClr val="51638A"/>
      </a:accent6>
      <a:hlink>
        <a:srgbClr val="0563C1"/>
      </a:hlink>
      <a:folHlink>
        <a:srgbClr val="954F72"/>
      </a:folHlink>
    </a:clrScheme>
    <a:fontScheme name="Semantic Fabric: Keel &amp; North Star">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Fabric: Keel &amp; North Star</dc:title>
  <dc:subject/>
  <dc:creator/>
  <cp:lastModifiedBy/>
  <cp:revision>1</cp:revision>
  <dcterms:created xsi:type="dcterms:W3CDTF">2026-10-09T16:50:28Z</dcterms:created>
  <dcterms:modified xsi:type="dcterms:W3CDTF">2026-10-09T16:50:28Z</dcterms:modified>
</cp:coreProperties>
</file>