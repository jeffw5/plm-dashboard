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4.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posal" id="{713447e0-88b5-6244-96a9-d03b44864165}">
          <p14:sldIdLst>
            <p14:sldId id="256"/>
            <p14:sldId id="257"/>
            <p14:sldId id="258"/>
            <p14:sldId id="259"/>
            <p14:sldId id="260"/>
          </p14:sldIdLst>
        </p14:section>
        <p14:section name="Growth projections" id="{86c5ce44-ec2a-5a43-c9d0-1bc433769e07}">
          <p14:sldIdLst>
            <p14:sldId id="261"/>
            <p14:sldId id="262"/>
            <p14:sldId id="263"/>
            <p14:sldId id="264"/>
          </p14:sldIdLst>
        </p14:section>
        <p14:section name="Plan and decision" id="{76eb2f29-1d80-a739-7a9a-3a52dfd6af84}">
          <p14:sldIdLst>
            <p14:sldId id="265"/>
            <p14:sldId id="266"/>
            <p14:sldId id="267"/>
          </p14:sldIdLst>
        </p14:section>
        <p14:section name="Addendum: Keel and North Star" id="{dc9fa3a2-e732-6c0b-aa8d-5627c9062f3e}">
          <p14:sldIdLst>
            <p14:sldId id="268"/>
            <p14:sldId id="269"/>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E2A"/>
                </a:solidFill>
                <a:latin typeface="+mn-lt"/>
              </a:defRPr>
            </a:pPr>
            <a:r>
              <a:rPr sz="1400" b="0" i="0" u="none" strike="noStrike">
                <a:solidFill>
                  <a:srgbClr val="1B2E2A"/>
                </a:solidFill>
                <a:latin typeface="+mn-lt"/>
              </a:rPr>
              <a:t>New revenue by offer, base case ($M)</a:t>
            </a:r>
          </a:p>
        </c:rich>
      </c:tx>
      <c:layout/>
      <c:overlay val="0"/>
    </c:title>
    <c:autoTitleDeleted val="0"/>
    <c:plotArea>
      <c:layout/>
      <c:barChart>
        <c:barDir val="col"/>
        <c:grouping val="stacked"/>
        <c:varyColors val="0"/>
        <c:ser>
          <c:idx val="0"/>
          <c:order val="0"/>
          <c:tx>
            <c:strRef>
              <c:f>Sheet1!$B$1</c:f>
              <c:strCache>
                <c:ptCount val="1"/>
                <c:pt idx="0">
                  <c:v>Living Capital</c:v>
                </c:pt>
              </c:strCache>
            </c:strRef>
          </c:tx>
          <c:spPr>
            <a:solidFill>
              <a:srgbClr val="5E8C61"/>
            </a:solidFill>
            <a:effectLst/>
          </c:spPr>
          <c:invertIfNegative val="0"/>
          <c:dLbls>
            <c:numFmt formatCode="[&lt;3]&quot;&quot;;0.0" sourceLinked="0"/>
            <c:txPr>
              <a:bodyPr/>
              <a:lstStyle/>
              <a:p>
                <a:pPr>
                  <a:defRPr b="0"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Sheet1!$A$2:$A$6</c:f>
              <c:multiLvlStrCache>
                <c:ptCount val="5"/>
                <c:lvl>
                  <c:pt idx="0">
                    <c:v>Year 1</c:v>
                  </c:pt>
                  <c:pt idx="1">
                    <c:v>Year 2</c:v>
                  </c:pt>
                  <c:pt idx="2">
                    <c:v>Year 3</c:v>
                  </c:pt>
                  <c:pt idx="3">
                    <c:v>Year 4</c:v>
                  </c:pt>
                  <c:pt idx="4">
                    <c:v>Year 5</c:v>
                  </c:pt>
                </c:lvl>
              </c:multiLvlStrCache>
            </c:multiLvlStrRef>
          </c:cat>
          <c:val>
            <c:numRef>
              <c:f>Sheet1!$B$2:$B$6</c:f>
              <c:numCache>
                <c:formatCode>General</c:formatCode>
                <c:ptCount val="5"/>
                <c:pt idx="0">
                  <c:v>0.84</c:v>
                </c:pt>
                <c:pt idx="1">
                  <c:v>6.3</c:v>
                </c:pt>
                <c:pt idx="2">
                  <c:v>16.8</c:v>
                </c:pt>
                <c:pt idx="3">
                  <c:v>29.4</c:v>
                </c:pt>
                <c:pt idx="4">
                  <c:v>42</c:v>
                </c:pt>
              </c:numCache>
            </c:numRef>
          </c:val>
        </c:ser>
        <c:ser>
          <c:idx val="1"/>
          <c:order val="1"/>
          <c:tx>
            <c:strRef>
              <c:f>Sheet1!$C$1</c:f>
              <c:strCache>
                <c:ptCount val="1"/>
                <c:pt idx="0">
                  <c:v>AEO</c:v>
                </c:pt>
              </c:strCache>
            </c:strRef>
          </c:tx>
          <c:spPr>
            <a:solidFill>
              <a:srgbClr val="C98F2B"/>
            </a:solidFill>
            <a:effectLst/>
          </c:spPr>
          <c:invertIfNegative val="0"/>
          <c:dLbls>
            <c:numFmt formatCode="[&lt;3]&quot;&quot;;0.0" sourceLinked="0"/>
            <c:txPr>
              <a:bodyPr/>
              <a:lstStyle/>
              <a:p>
                <a:pPr>
                  <a:defRPr b="0"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Sheet1!$A$2:$A$6</c:f>
              <c:multiLvlStrCache>
                <c:ptCount val="5"/>
                <c:lvl>
                  <c:pt idx="0">
                    <c:v>Year 1</c:v>
                  </c:pt>
                  <c:pt idx="1">
                    <c:v>Year 2</c:v>
                  </c:pt>
                  <c:pt idx="2">
                    <c:v>Year 3</c:v>
                  </c:pt>
                  <c:pt idx="3">
                    <c:v>Year 4</c:v>
                  </c:pt>
                  <c:pt idx="4">
                    <c:v>Year 5</c:v>
                  </c:pt>
                </c:lvl>
              </c:multiLvlStrCache>
            </c:multiLvlStrRef>
          </c:cat>
          <c:val>
            <c:numRef>
              <c:f>Sheet1!$C$2:$C$6</c:f>
              <c:numCache>
                <c:formatCode>General</c:formatCode>
                <c:ptCount val="5"/>
                <c:pt idx="0">
                  <c:v>0.09</c:v>
                </c:pt>
                <c:pt idx="1">
                  <c:v>2.7</c:v>
                </c:pt>
                <c:pt idx="2">
                  <c:v>10.8</c:v>
                </c:pt>
                <c:pt idx="3">
                  <c:v>27</c:v>
                </c:pt>
                <c:pt idx="4">
                  <c:v>54</c:v>
                </c:pt>
              </c:numCache>
            </c:numRef>
          </c:val>
        </c:ser>
        <c:dLbls>
          <c:numFmt formatCode="[&lt;3]&quot;&quot;;0.0" sourceLinked="0"/>
          <c:txPr>
            <a:bodyPr/>
            <a:lstStyle/>
            <a:p>
              <a:pPr>
                <a:defRPr b="0" i="0" strike="noStrike" sz="1200" u="none">
                  <a:solidFill>
                    <a:srgbClr val="FFFFFF"/>
                  </a:solidFill>
                  <a:latin typeface="+mn-lt"/>
                </a:defRPr>
              </a:pPr>
            </a:p>
          </c:txPr>
          <c:dLblPos val="ctr"/>
          <c:showLegendKey val="0"/>
          <c:showVal val="1"/>
          <c:showCatName val="0"/>
          <c:showSerName val="0"/>
          <c:showPercent val="0"/>
          <c:showBubbleSize val="0"/>
          <c:showLeaderLines val="0"/>
        </c:dLbls>
        <c:gapWidth val="6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5A6763"/>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DCE3DC"/>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5A6763"/>
                </a:solidFill>
                <a:latin typeface="+mn-lt"/>
              </a:defRPr>
            </a:pPr>
            <a:endParaRPr lang="en-US"/>
          </a:p>
        </c:txPr>
        <c:crossAx val="2094734554"/>
        <c:crosses val="autoZero"/>
        <c:crossBetween val="between"/>
        <c:majorUnit val="20"/>
      </c:valAx>
      <c:spPr>
        <a:noFill/>
        <a:ln>
          <a:noFill/>
        </a:ln>
        <a:effectLst/>
      </c:spPr>
    </c:plotArea>
    <c:legend>
      <c:legendPos val="b"/>
      <c:overlay val="0"/>
      <c:txPr>
        <a:bodyPr/>
        <a:lstStyle/>
        <a:p>
          <a:pPr>
            <a:defRPr sz="1200">
              <a:solidFill>
                <a:srgbClr val="5A676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E2A"/>
                </a:solidFill>
                <a:latin typeface="+mn-lt"/>
              </a:defRPr>
            </a:pPr>
            <a:r>
              <a:rPr sz="1400" b="0" i="0" u="none" strike="noStrike">
                <a:solidFill>
                  <a:srgbClr val="1B2E2A"/>
                </a:solidFill>
                <a:latin typeface="+mn-lt"/>
              </a:rPr>
              <a:t>Employees on Living Capital (thousands)</a:t>
            </a:r>
          </a:p>
        </c:rich>
      </c:tx>
      <c:layout/>
      <c:overlay val="0"/>
    </c:title>
    <c:autoTitleDeleted val="0"/>
    <c:plotArea>
      <c:layout/>
      <c:barChart>
        <c:barDir val="col"/>
        <c:grouping val="clustered"/>
        <c:varyColors val="0"/>
        <c:ser>
          <c:idx val="0"/>
          <c:order val="0"/>
          <c:tx>
            <c:strRef>
              <c:f>Sheet1!$B$1</c:f>
              <c:strCache>
                <c:ptCount val="1"/>
                <c:pt idx="0">
                  <c:v>Employees</c:v>
                </c:pt>
              </c:strCache>
            </c:strRef>
          </c:tx>
          <c:spPr>
            <a:solidFill>
              <a:srgbClr val="5E8C61"/>
            </a:solidFill>
            <a:effectLst/>
          </c:spPr>
          <c:invertIfNegative val="0"/>
          <c:dLbls>
            <c:numFmt formatCode="0" sourceLinked="0"/>
            <c:txPr>
              <a:bodyPr/>
              <a:lstStyle/>
              <a:p>
                <a:pPr>
                  <a:defRPr b="0" i="0" strike="noStrike" sz="1200" u="none">
                    <a:solidFill>
                      <a:srgbClr val="1F2A26"/>
                    </a:solidFill>
                    <a:latin typeface="+mn-lt"/>
                  </a:defRPr>
                </a:pPr>
              </a:p>
            </c:txPr>
            <c:showLegendKey val="0"/>
            <c:showVal val="1"/>
            <c:showCatName val="0"/>
            <c:showSerName val="0"/>
            <c:showPercent val="0"/>
            <c:showBubbleSize val="0"/>
            <c:showLeaderLines val="0"/>
          </c:dLbls>
          <c:cat>
            <c:multiLvlStrRef>
              <c:f>Sheet1!$A$2:$A$6</c:f>
              <c:multiLvlStrCache>
                <c:ptCount val="5"/>
                <c:lvl>
                  <c:pt idx="0">
                    <c:v>Year 1</c:v>
                  </c:pt>
                  <c:pt idx="1">
                    <c:v>Year 2</c:v>
                  </c:pt>
                  <c:pt idx="2">
                    <c:v>Year 3</c:v>
                  </c:pt>
                  <c:pt idx="3">
                    <c:v>Year 4</c:v>
                  </c:pt>
                  <c:pt idx="4">
                    <c:v>Year 5</c:v>
                  </c:pt>
                </c:lvl>
              </c:multiLvlStrCache>
            </c:multiLvlStrRef>
          </c:cat>
          <c:val>
            <c:numRef>
              <c:f>Sheet1!$B$2:$B$6</c:f>
              <c:numCache>
                <c:formatCode>General</c:formatCode>
                <c:ptCount val="5"/>
                <c:pt idx="0">
                  <c:v>2</c:v>
                </c:pt>
                <c:pt idx="1">
                  <c:v>15</c:v>
                </c:pt>
                <c:pt idx="2">
                  <c:v>40</c:v>
                </c:pt>
                <c:pt idx="3">
                  <c:v>70</c:v>
                </c:pt>
                <c:pt idx="4">
                  <c:v>100</c:v>
                </c:pt>
              </c:numCache>
            </c:numRef>
          </c:val>
        </c:ser>
        <c:dLbls>
          <c:numFmt formatCode="0" sourceLinked="0"/>
          <c:txPr>
            <a:bodyPr/>
            <a:lstStyle/>
            <a:p>
              <a:pPr>
                <a:defRPr b="0" i="0" strike="noStrike" sz="1200" u="none">
                  <a:solidFill>
                    <a:srgbClr val="1F2A26"/>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5A6763"/>
                </a:solidFill>
                <a:latin typeface="+mn-lt"/>
              </a:defRPr>
            </a:pPr>
            <a:endParaRPr lang="en-US"/>
          </a:p>
        </c:txPr>
        <c:crossAx val="2094734552"/>
        <c:crosses val="autoZero"/>
        <c:auto val="1"/>
        <c:lblAlgn val="ctr"/>
        <c:noMultiLvlLbl val="1"/>
      </c:catAx>
      <c:valAx>
        <c:axId val="2094734552"/>
        <c:scaling>
          <c:orientation val="minMax"/>
          <c:max val="120"/>
          <c:min val="0"/>
        </c:scaling>
        <c:delete val="0"/>
        <c:axPos val="l"/>
        <c:majorGridlines>
          <c:spPr>
            <a:ln w="9525" cap="flat">
              <a:solidFill>
                <a:srgbClr val="DCE3DC"/>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5A6763"/>
                </a:solidFill>
                <a:latin typeface="+mn-lt"/>
              </a:defRPr>
            </a:pPr>
            <a:endParaRPr lang="en-US"/>
          </a:p>
        </c:txPr>
        <c:crossAx val="2094734554"/>
        <c:crosses val="autoZero"/>
        <c:crossBetween val="between"/>
        <c:majorUnit val="20"/>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E2A"/>
                </a:solidFill>
                <a:latin typeface="+mn-lt"/>
              </a:defRPr>
            </a:pPr>
            <a:r>
              <a:rPr sz="1400" b="0" i="0" u="none" strike="noStrike">
                <a:solidFill>
                  <a:srgbClr val="1B2E2A"/>
                </a:solidFill>
                <a:latin typeface="+mn-lt"/>
              </a:rPr>
              <a:t>Agents under the AEO (thousands)</a:t>
            </a:r>
          </a:p>
        </c:rich>
      </c:tx>
      <c:layout/>
      <c:overlay val="0"/>
    </c:title>
    <c:autoTitleDeleted val="0"/>
    <c:plotArea>
      <c:layout/>
      <c:barChart>
        <c:barDir val="col"/>
        <c:grouping val="clustered"/>
        <c:varyColors val="0"/>
        <c:ser>
          <c:idx val="0"/>
          <c:order val="0"/>
          <c:tx>
            <c:strRef>
              <c:f>Sheet1!$B$1</c:f>
              <c:strCache>
                <c:ptCount val="1"/>
                <c:pt idx="0">
                  <c:v>Agents</c:v>
                </c:pt>
              </c:strCache>
            </c:strRef>
          </c:tx>
          <c:spPr>
            <a:solidFill>
              <a:srgbClr val="C98F2B"/>
            </a:solidFill>
            <a:effectLst/>
          </c:spPr>
          <c:invertIfNegative val="0"/>
          <c:dLbls>
            <c:numFmt formatCode="0.0" sourceLinked="0"/>
            <c:txPr>
              <a:bodyPr/>
              <a:lstStyle/>
              <a:p>
                <a:pPr>
                  <a:defRPr b="0" i="0" strike="noStrike" sz="1200" u="none">
                    <a:solidFill>
                      <a:srgbClr val="1F2A26"/>
                    </a:solidFill>
                    <a:latin typeface="+mn-lt"/>
                  </a:defRPr>
                </a:pPr>
              </a:p>
            </c:txPr>
            <c:showLegendKey val="0"/>
            <c:showVal val="1"/>
            <c:showCatName val="0"/>
            <c:showSerName val="0"/>
            <c:showPercent val="0"/>
            <c:showBubbleSize val="0"/>
            <c:showLeaderLines val="0"/>
          </c:dLbls>
          <c:cat>
            <c:multiLvlStrRef>
              <c:f>Sheet1!$A$2:$A$6</c:f>
              <c:multiLvlStrCache>
                <c:ptCount val="5"/>
                <c:lvl>
                  <c:pt idx="0">
                    <c:v>Year 1</c:v>
                  </c:pt>
                  <c:pt idx="1">
                    <c:v>Year 2</c:v>
                  </c:pt>
                  <c:pt idx="2">
                    <c:v>Year 3</c:v>
                  </c:pt>
                  <c:pt idx="3">
                    <c:v>Year 4</c:v>
                  </c:pt>
                  <c:pt idx="4">
                    <c:v>Year 5</c:v>
                  </c:pt>
                </c:lvl>
              </c:multiLvlStrCache>
            </c:multiLvlStrRef>
          </c:cat>
          <c:val>
            <c:numRef>
              <c:f>Sheet1!$B$2:$B$6</c:f>
              <c:numCache>
                <c:formatCode>General</c:formatCode>
                <c:ptCount val="5"/>
                <c:pt idx="0">
                  <c:v>0.05</c:v>
                </c:pt>
                <c:pt idx="1">
                  <c:v>1.5</c:v>
                </c:pt>
                <c:pt idx="2">
                  <c:v>6</c:v>
                </c:pt>
                <c:pt idx="3">
                  <c:v>15</c:v>
                </c:pt>
                <c:pt idx="4">
                  <c:v>30</c:v>
                </c:pt>
              </c:numCache>
            </c:numRef>
          </c:val>
        </c:ser>
        <c:dLbls>
          <c:numFmt formatCode="0.0" sourceLinked="0"/>
          <c:txPr>
            <a:bodyPr/>
            <a:lstStyle/>
            <a:p>
              <a:pPr>
                <a:defRPr b="0" i="0" strike="noStrike" sz="1200" u="none">
                  <a:solidFill>
                    <a:srgbClr val="1F2A26"/>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5A6763"/>
                </a:solidFill>
                <a:latin typeface="+mn-lt"/>
              </a:defRPr>
            </a:pPr>
            <a:endParaRPr lang="en-US"/>
          </a:p>
        </c:txPr>
        <c:crossAx val="2094734552"/>
        <c:crosses val="autoZero"/>
        <c:auto val="1"/>
        <c:lblAlgn val="ctr"/>
        <c:noMultiLvlLbl val="1"/>
      </c:catAx>
      <c:valAx>
        <c:axId val="2094734552"/>
        <c:scaling>
          <c:orientation val="minMax"/>
          <c:max val="35"/>
          <c:min val="0"/>
        </c:scaling>
        <c:delete val="0"/>
        <c:axPos val="l"/>
        <c:majorGridlines>
          <c:spPr>
            <a:ln w="9525" cap="flat">
              <a:solidFill>
                <a:srgbClr val="DCE3DC"/>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5A6763"/>
                </a:solidFill>
                <a:latin typeface="+mn-lt"/>
              </a:defRPr>
            </a:pPr>
            <a:endParaRPr lang="en-US"/>
          </a:p>
        </c:txPr>
        <c:crossAx val="2094734554"/>
        <c:crosses val="autoZero"/>
        <c:crossBetween val="between"/>
        <c:majorUnit val="5"/>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E2A"/>
                </a:solidFill>
                <a:latin typeface="+mn-lt"/>
              </a:defRPr>
            </a:pPr>
            <a:r>
              <a:rPr sz="1400" b="0" i="0" u="none" strike="noStrike">
                <a:solidFill>
                  <a:srgbClr val="1B2E2A"/>
                </a:solidFill>
                <a:latin typeface="+mn-lt"/>
              </a:rPr>
              <a:t>Year-5 new revenue by scenario ($M)</a:t>
            </a:r>
          </a:p>
        </c:rich>
      </c:tx>
      <c:layout/>
      <c:overlay val="0"/>
    </c:title>
    <c:autoTitleDeleted val="0"/>
    <c:plotArea>
      <c:layout/>
      <c:barChart>
        <c:barDir val="bar"/>
        <c:grouping val="clustered"/>
        <c:varyColors val="0"/>
        <c:ser>
          <c:idx val="0"/>
          <c:order val="0"/>
          <c:tx>
            <c:strRef>
              <c:f>Sheet1!$B$1</c:f>
              <c:strCache>
                <c:ptCount val="1"/>
                <c:pt idx="0">
                  <c:v>Year-5 new revenue</c:v>
                </c:pt>
              </c:strCache>
            </c:strRef>
          </c:tx>
          <c:spPr>
            <a:solidFill>
              <a:srgbClr val="A9C4A6"/>
            </a:solidFill>
            <a:effectLst/>
          </c:spPr>
          <c:invertIfNegative val="0"/>
          <c:dLbls>
            <c:numFmt formatCode="$0" sourceLinked="0"/>
            <c:txPr>
              <a:bodyPr/>
              <a:lstStyle/>
              <a:p>
                <a:pPr>
                  <a:defRPr b="0" i="0" strike="noStrike" sz="1200" u="none">
                    <a:solidFill>
                      <a:srgbClr val="1F2A26"/>
                    </a:solidFill>
                    <a:latin typeface="+mn-lt"/>
                  </a:defRPr>
                </a:pPr>
              </a:p>
            </c:txPr>
            <c:showLegendKey val="0"/>
            <c:showVal val="1"/>
            <c:showCatName val="0"/>
            <c:showSerName val="0"/>
            <c:showPercent val="0"/>
            <c:showBubbleSize val="0"/>
            <c:showLeaderLines val="0"/>
          </c:dLbls>
          <c:dPt>
            <c:idx val="0"/>
            <c:invertIfNegative val="0"/>
            <c:bubble3D val="0"/>
            <c:spPr>
              <a:solidFill>
                <a:srgbClr val="A9C4A6"/>
              </a:solidFill>
              <a:effectLst/>
            </c:spPr>
          </c:dPt>
          <c:dPt>
            <c:idx val="1"/>
            <c:invertIfNegative val="0"/>
            <c:bubble3D val="0"/>
            <c:spPr>
              <a:solidFill>
                <a:srgbClr val="5E8C61"/>
              </a:solidFill>
              <a:effectLst/>
            </c:spPr>
          </c:dPt>
          <c:dPt>
            <c:idx val="2"/>
            <c:invertIfNegative val="0"/>
            <c:bubble3D val="0"/>
            <c:spPr>
              <a:solidFill>
                <a:srgbClr val="1B2E2A"/>
              </a:solidFill>
              <a:effectLst/>
            </c:spPr>
          </c:dPt>
          <c:cat>
            <c:multiLvlStrRef>
              <c:f>Sheet1!$A$2:$A$4</c:f>
              <c:multiLvlStrCache>
                <c:ptCount val="3"/>
                <c:lvl>
                  <c:pt idx="0">
                    <c:v>Low: half the adoption</c:v>
                  </c:pt>
                  <c:pt idx="1">
                    <c:v>Base</c:v>
                  </c:pt>
                  <c:pt idx="2">
                    <c:v>High: 1.5× the adoption</c:v>
                  </c:pt>
                </c:lvl>
              </c:multiLvlStrCache>
            </c:multiLvlStrRef>
          </c:cat>
          <c:val>
            <c:numRef>
              <c:f>Sheet1!$B$2:$B$4</c:f>
              <c:numCache>
                <c:formatCode>General</c:formatCode>
                <c:ptCount val="3"/>
                <c:pt idx="0">
                  <c:v>48</c:v>
                </c:pt>
                <c:pt idx="1">
                  <c:v>96</c:v>
                </c:pt>
                <c:pt idx="2">
                  <c:v>144</c:v>
                </c:pt>
              </c:numCache>
            </c:numRef>
          </c:val>
        </c:ser>
        <c:dLbls>
          <c:numFmt formatCode="$0" sourceLinked="0"/>
          <c:txPr>
            <a:bodyPr/>
            <a:lstStyle/>
            <a:p>
              <a:pPr>
                <a:defRPr b="0" i="0" strike="noStrike" sz="1200" u="none">
                  <a:solidFill>
                    <a:srgbClr val="1F2A26"/>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5A6763"/>
                </a:solidFill>
                <a:latin typeface="+mn-lt"/>
              </a:defRPr>
            </a:pPr>
            <a:endParaRPr lang="en-US"/>
          </a:p>
        </c:txPr>
        <c:crossAx val="2094734552"/>
        <c:crosses val="autoZero"/>
        <c:auto val="1"/>
        <c:lblAlgn val="ctr"/>
        <c:noMultiLvlLbl val="1"/>
      </c:catAx>
      <c:valAx>
        <c:axId val="2094734552"/>
        <c:scaling>
          <c:orientation val="minMax"/>
          <c:max val="175"/>
          <c:min val="0"/>
        </c:scaling>
        <c:delete val="0"/>
        <c:axPos val="b"/>
        <c:majorGridlines>
          <c:spPr>
            <a:ln w="9525" cap="flat">
              <a:solidFill>
                <a:srgbClr val="DCE3DC"/>
              </a:solidFill>
              <a:prstDash val="solid"/>
              <a:round/>
            </a:ln>
          </c:spPr>
        </c:majorGridlines>
        <c:numFmt formatCode="$0" sourceLinked="0"/>
        <c:majorTickMark val="out"/>
        <c:minorTickMark val="none"/>
        <c:tickLblPos val="low"/>
        <c:spPr>
          <a:ln w="12700" cap="flat">
            <a:noFill/>
            <a:prstDash val="solid"/>
            <a:round/>
          </a:ln>
        </c:spPr>
        <c:txPr>
          <a:bodyPr/>
          <a:lstStyle/>
          <a:p>
            <a:pPr>
              <a:defRPr sz="1100" b="0" i="0" u="none" strike="noStrike">
                <a:solidFill>
                  <a:srgbClr val="5A6763"/>
                </a:solidFill>
                <a:latin typeface="+mn-lt"/>
              </a:defRPr>
            </a:pPr>
            <a:endParaRPr lang="en-US"/>
          </a:p>
        </c:txPr>
        <c:crossAx val="2094734554"/>
        <c:crosses val="autoZero"/>
        <c:crossBetween val="between"/>
        <c:majorUnit val="25"/>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proposal, two new offers on top of co-employment, sold through one agreement. The ask comes on slide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PEO value is commoditizing; every major peer offers payroll, compliance and pooled benefits. These offers sit above that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number on the next three slides comes from this table. Change a driver here and the charts change with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gate that fails stops that offer, not the other. Living Capital can launch alone if the AEO liability schedule or carrier quote is not 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Keel holds Insperity's IP: the ontologies, mappings, rules and the gateway. North Star is the agent fabric and experience that guides clients and service teams. Both run on top of HRScale and the Microsoft stack through 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657600"/>
            <a:ext cx="9601200" cy="1280160"/>
          </a:xfrm>
          <a:prstGeom prst="rect">
            <a:avLst/>
          </a:prstGeom>
          <a:noFill/>
          <a:ln/>
        </p:spPr>
        <p:txBody>
          <a:bodyPr wrap="square" rtlCol="0"/>
          <a:lstStyle>
            <a:lvl1pPr indent="0" marL="0">
              <a:buNone/>
              <a:defRPr lang="en-US" sz="1800" dirty="0">
                <a:solidFill>
                  <a:schemeClr val="accent3"/>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377440"/>
            <a:ext cx="10698480" cy="118872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731520" y="3703320"/>
            <a:ext cx="9601200" cy="914400"/>
          </a:xfrm>
          <a:prstGeom prst="rect">
            <a:avLst/>
          </a:prstGeom>
          <a:noFill/>
          <a:ln/>
        </p:spPr>
        <p:txBody>
          <a:bodyPr wrap="square" rtlCol="0"/>
          <a:lstStyle>
            <a:lvl1pPr indent="0" marL="0">
              <a:buNone/>
              <a:defRPr lang="en-US" sz="1800" dirty="0">
                <a:solidFill>
                  <a:schemeClr val="accent3"/>
                </a:solidFill>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Only">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36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6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4"/>
                </a:solidFill>
              </a:rPr>
              <a:t>Future of Work Proposal  ·  Internal (C1)</a:t>
            </a:r>
            <a:endParaRPr lang="en-US" sz="10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4.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4.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4.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nchor="b"/>
          <a:lstStyle/>
          <a:p>
            <a:pPr algn="l" indent="0" marL="0">
              <a:buNone/>
            </a:pPr>
            <a:r>
              <a:rPr lang="en-US" sz="4400" b="1" dirty="0">
                <a:solidFill>
                  <a:schemeClr val="bg1"/>
                </a:solidFill>
                <a:latin typeface="Cambria" pitchFamily="34" charset="0"/>
                <a:ea typeface="Cambria" pitchFamily="34" charset="-122"/>
                <a:cs typeface="Cambria" pitchFamily="34" charset="-120"/>
              </a:rPr>
              <a:t>The Future of Work at Insperity</a:t>
            </a:r>
            <a:endParaRPr lang="en-US" sz="4400" dirty="0"/>
          </a:p>
        </p:txBody>
      </p:sp>
      <p:sp>
        <p:nvSpPr>
          <p:cNvPr id="3" name="Text 0"/>
          <p:cNvSpPr/>
          <p:nvPr>
            <p:ph idx="101" type="body" hasCustomPrompt="1"/>
          </p:nvPr>
        </p:nvSpPr>
        <p:spPr>
          <a:xfrm>
            <a:off x="731520" y="3657600"/>
            <a:ext cx="9601200" cy="1280160"/>
          </a:xfrm>
          <a:prstGeom prst="rect">
            <a:avLst/>
          </a:prstGeom>
          <a:noFill/>
          <a:ln/>
        </p:spPr>
        <p:txBody>
          <a:bodyPr wrap="square" rtlCol="0" anchor="t"/>
          <a:lstStyle/>
          <a:p>
            <a:pPr indent="0" marL="0">
              <a:buNone/>
            </a:pPr>
            <a:r>
              <a:rPr lang="en-US" sz="1800" dirty="0">
                <a:solidFill>
                  <a:schemeClr val="accent3"/>
                </a:solidFill>
              </a:rPr>
              <a:t>Living Capital, the Agent Employer Organization and a blended workforce: a proposal for a 12-month pilot</a:t>
            </a:r>
            <a:endParaRPr lang="en-US" sz="1800" dirty="0"/>
          </a:p>
        </p:txBody>
      </p:sp>
      <p:sp>
        <p:nvSpPr>
          <p:cNvPr id="4" name="Text 2"/>
          <p:cNvSpPr txBox="1"/>
          <p:nvPr/>
        </p:nvSpPr>
        <p:spPr>
          <a:xfrm>
            <a:off x="731520" y="5760720"/>
            <a:ext cx="8229600" cy="365760"/>
          </a:xfrm>
          <a:prstGeom prst="rect">
            <a:avLst/>
          </a:prstGeom>
          <a:noFill/>
          <a:ln/>
        </p:spPr>
        <p:txBody>
          <a:bodyPr wrap="square" lIns="0" tIns="0" rIns="0" bIns="0" rtlCol="0" anchor="t"/>
          <a:lstStyle/>
          <a:p>
            <a:pPr indent="0" marL="0">
              <a:buNone/>
            </a:pPr>
            <a:r>
              <a:rPr lang="en-US" sz="1400" dirty="0">
                <a:solidFill>
                  <a:schemeClr val="accent3"/>
                </a:solidFill>
              </a:rPr>
              <a:t>Jeffrey Wallk, Sr. Semantic Architect  ·  October 26,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Two offers, one agreement, one pilot</a:t>
            </a:r>
            <a:endParaRPr lang="en-US" sz="3600" dirty="0"/>
          </a:p>
        </p:txBody>
      </p:sp>
      <p:sp>
        <p:nvSpPr>
          <p:cNvPr id="3" name="Living Capital card"/>
          <p:cNvSpPr/>
          <p:nvPr/>
        </p:nvSpPr>
        <p:spPr>
          <a:xfrm>
            <a:off x="548640" y="1463040"/>
            <a:ext cx="3474720" cy="3017520"/>
          </a:xfrm>
          <a:prstGeom prst="roundRect">
            <a:avLst>
              <a:gd name="adj" fmla="val 3636"/>
            </a:avLst>
          </a:prstGeom>
          <a:solidFill>
            <a:schemeClr val="bg2"/>
          </a:solidFill>
          <a:ln/>
        </p:spPr>
      </p:sp>
      <p:sp>
        <p:nvSpPr>
          <p:cNvPr id="4" name="Living Capital circle"/>
          <p:cNvSpPr/>
          <p:nvPr/>
        </p:nvSpPr>
        <p:spPr>
          <a:xfrm>
            <a:off x="868680" y="1737360"/>
            <a:ext cx="731520" cy="731520"/>
          </a:xfrm>
          <a:prstGeom prst="ellipse">
            <a:avLst/>
          </a:prstGeom>
          <a:solidFill>
            <a:schemeClr val="accent1"/>
          </a:solidFill>
          <a:ln/>
        </p:spPr>
      </p:sp>
      <p:pic>
        <p:nvPicPr>
          <p:cNvPr id="5" name="Living Capital icon" descr="Living Capital">    </p:cNvPr>
          <p:cNvPicPr>
            <a:picLocks noChangeAspect="1"/>
          </p:cNvPicPr>
          <p:nvPr/>
        </p:nvPicPr>
        <p:blipFill>
          <a:blip r:embed="rId1"/>
          <a:stretch>
            <a:fillRect/>
          </a:stretch>
        </p:blipFill>
        <p:spPr>
          <a:xfrm>
            <a:off x="1051560" y="1920240"/>
            <a:ext cx="365760" cy="365760"/>
          </a:xfrm>
          <a:prstGeom prst="rect">
            <a:avLst/>
          </a:prstGeom>
        </p:spPr>
      </p:pic>
      <p:sp>
        <p:nvSpPr>
          <p:cNvPr id="6" name="Text 3"/>
          <p:cNvSpPr txBox="1"/>
          <p:nvPr/>
        </p:nvSpPr>
        <p:spPr>
          <a:xfrm>
            <a:off x="868680" y="2651760"/>
            <a:ext cx="2926080" cy="41148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Living Capital</a:t>
            </a:r>
            <a:endParaRPr lang="en-US" sz="2000" dirty="0"/>
          </a:p>
        </p:txBody>
      </p:sp>
      <p:sp>
        <p:nvSpPr>
          <p:cNvPr id="7" name="Text 4"/>
          <p:cNvSpPr txBox="1"/>
          <p:nvPr/>
        </p:nvSpPr>
        <p:spPr>
          <a:xfrm>
            <a:off x="868680" y="3108960"/>
            <a:ext cx="2880360" cy="914400"/>
          </a:xfrm>
          <a:prstGeom prst="rect">
            <a:avLst/>
          </a:prstGeom>
          <a:noFill/>
          <a:ln/>
        </p:spPr>
        <p:txBody>
          <a:bodyPr wrap="square" lIns="0" tIns="0" rIns="0" bIns="0" rtlCol="0" anchor="t"/>
          <a:lstStyle/>
          <a:p>
            <a:pPr indent="0" marL="0">
              <a:buNone/>
            </a:pPr>
            <a:r>
              <a:rPr lang="en-US" sz="1400" dirty="0">
                <a:solidFill>
                  <a:schemeClr val="tx1"/>
                </a:solidFill>
              </a:rPr>
              <a:t>A tier that renews people's energy, skills and trust, so they end each year stronger.</a:t>
            </a:r>
            <a:endParaRPr lang="en-US" sz="1400" dirty="0"/>
          </a:p>
        </p:txBody>
      </p:sp>
      <p:sp>
        <p:nvSpPr>
          <p:cNvPr id="8" name="Text 5"/>
          <p:cNvSpPr txBox="1"/>
          <p:nvPr/>
        </p:nvSpPr>
        <p:spPr>
          <a:xfrm>
            <a:off x="868680" y="4069080"/>
            <a:ext cx="2926080" cy="274320"/>
          </a:xfrm>
          <a:prstGeom prst="rect">
            <a:avLst/>
          </a:prstGeom>
          <a:noFill/>
          <a:ln/>
        </p:spPr>
        <p:txBody>
          <a:bodyPr wrap="square" lIns="0" tIns="0" rIns="0" bIns="0" rtlCol="0" anchor="t"/>
          <a:lstStyle/>
          <a:p>
            <a:pPr indent="0" marL="0">
              <a:buNone/>
            </a:pPr>
            <a:r>
              <a:rPr lang="en-US" sz="1200" b="1" dirty="0">
                <a:solidFill>
                  <a:schemeClr val="accent4"/>
                </a:solidFill>
              </a:rPr>
              <a:t>Per employee per month</a:t>
            </a:r>
            <a:endParaRPr lang="en-US" sz="1200" dirty="0"/>
          </a:p>
        </p:txBody>
      </p:sp>
      <p:sp>
        <p:nvSpPr>
          <p:cNvPr id="9" name="Agent Employer (AEO) card"/>
          <p:cNvSpPr/>
          <p:nvPr/>
        </p:nvSpPr>
        <p:spPr>
          <a:xfrm>
            <a:off x="4297680" y="1463040"/>
            <a:ext cx="3474720" cy="3017520"/>
          </a:xfrm>
          <a:prstGeom prst="roundRect">
            <a:avLst>
              <a:gd name="adj" fmla="val 3636"/>
            </a:avLst>
          </a:prstGeom>
          <a:solidFill>
            <a:schemeClr val="bg2"/>
          </a:solidFill>
          <a:ln/>
        </p:spPr>
      </p:sp>
      <p:sp>
        <p:nvSpPr>
          <p:cNvPr id="10" name="Agent Employer (AEO) circle"/>
          <p:cNvSpPr/>
          <p:nvPr/>
        </p:nvSpPr>
        <p:spPr>
          <a:xfrm>
            <a:off x="4617720" y="1737360"/>
            <a:ext cx="731520" cy="731520"/>
          </a:xfrm>
          <a:prstGeom prst="ellipse">
            <a:avLst/>
          </a:prstGeom>
          <a:solidFill>
            <a:schemeClr val="accent2"/>
          </a:solidFill>
          <a:ln/>
        </p:spPr>
      </p:sp>
      <p:pic>
        <p:nvPicPr>
          <p:cNvPr id="11" name="Agent Employer (AEO) icon" descr="Agent Employer (AEO)">    </p:cNvPr>
          <p:cNvPicPr>
            <a:picLocks noChangeAspect="1"/>
          </p:cNvPicPr>
          <p:nvPr/>
        </p:nvPicPr>
        <p:blipFill>
          <a:blip r:embed="rId2"/>
          <a:stretch>
            <a:fillRect/>
          </a:stretch>
        </p:blipFill>
        <p:spPr>
          <a:xfrm>
            <a:off x="4800600" y="1920240"/>
            <a:ext cx="365760" cy="365760"/>
          </a:xfrm>
          <a:prstGeom prst="rect">
            <a:avLst/>
          </a:prstGeom>
        </p:spPr>
      </p:pic>
      <p:sp>
        <p:nvSpPr>
          <p:cNvPr id="12" name="Text 8"/>
          <p:cNvSpPr txBox="1"/>
          <p:nvPr/>
        </p:nvSpPr>
        <p:spPr>
          <a:xfrm>
            <a:off x="4617720" y="2651760"/>
            <a:ext cx="2926080" cy="41148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Agent Employer (AEO)</a:t>
            </a:r>
            <a:endParaRPr lang="en-US" sz="2000" dirty="0"/>
          </a:p>
        </p:txBody>
      </p:sp>
      <p:sp>
        <p:nvSpPr>
          <p:cNvPr id="13" name="Text 9"/>
          <p:cNvSpPr txBox="1"/>
          <p:nvPr/>
        </p:nvSpPr>
        <p:spPr>
          <a:xfrm>
            <a:off x="4617720" y="3108960"/>
            <a:ext cx="2880360" cy="914400"/>
          </a:xfrm>
          <a:prstGeom prst="rect">
            <a:avLst/>
          </a:prstGeom>
          <a:noFill/>
          <a:ln/>
        </p:spPr>
        <p:txBody>
          <a:bodyPr wrap="square" lIns="0" tIns="0" rIns="0" bIns="0" rtlCol="0" anchor="t"/>
          <a:lstStyle/>
          <a:p>
            <a:pPr indent="0" marL="0">
              <a:buNone/>
            </a:pPr>
            <a:r>
              <a:rPr lang="en-US" sz="1400" dirty="0">
                <a:solidFill>
                  <a:schemeClr val="tx1"/>
                </a:solidFill>
              </a:rPr>
              <a:t>Co-deploys AI agents the way we co-employ people: identity, compliance and insurance.</a:t>
            </a:r>
            <a:endParaRPr lang="en-US" sz="1400" dirty="0"/>
          </a:p>
        </p:txBody>
      </p:sp>
      <p:sp>
        <p:nvSpPr>
          <p:cNvPr id="14" name="Text 10"/>
          <p:cNvSpPr txBox="1"/>
          <p:nvPr/>
        </p:nvSpPr>
        <p:spPr>
          <a:xfrm>
            <a:off x="4617720" y="4069080"/>
            <a:ext cx="2926080" cy="274320"/>
          </a:xfrm>
          <a:prstGeom prst="rect">
            <a:avLst/>
          </a:prstGeom>
          <a:noFill/>
          <a:ln/>
        </p:spPr>
        <p:txBody>
          <a:bodyPr wrap="square" lIns="0" tIns="0" rIns="0" bIns="0" rtlCol="0" anchor="t"/>
          <a:lstStyle/>
          <a:p>
            <a:pPr indent="0" marL="0">
              <a:buNone/>
            </a:pPr>
            <a:r>
              <a:rPr lang="en-US" sz="1200" b="1" dirty="0">
                <a:solidFill>
                  <a:schemeClr val="accent4"/>
                </a:solidFill>
              </a:rPr>
              <a:t>Per agent per month</a:t>
            </a:r>
            <a:endParaRPr lang="en-US" sz="1200" dirty="0"/>
          </a:p>
        </p:txBody>
      </p:sp>
      <p:sp>
        <p:nvSpPr>
          <p:cNvPr id="15" name="Blended workforce card"/>
          <p:cNvSpPr/>
          <p:nvPr/>
        </p:nvSpPr>
        <p:spPr>
          <a:xfrm>
            <a:off x="8046720" y="1463040"/>
            <a:ext cx="3474720" cy="3017520"/>
          </a:xfrm>
          <a:prstGeom prst="roundRect">
            <a:avLst>
              <a:gd name="adj" fmla="val 3636"/>
            </a:avLst>
          </a:prstGeom>
          <a:solidFill>
            <a:schemeClr val="bg2"/>
          </a:solidFill>
          <a:ln/>
        </p:spPr>
      </p:sp>
      <p:sp>
        <p:nvSpPr>
          <p:cNvPr id="16" name="Blended workforce circle"/>
          <p:cNvSpPr/>
          <p:nvPr/>
        </p:nvSpPr>
        <p:spPr>
          <a:xfrm>
            <a:off x="8366760" y="1737360"/>
            <a:ext cx="731520" cy="731520"/>
          </a:xfrm>
          <a:prstGeom prst="ellipse">
            <a:avLst/>
          </a:prstGeom>
          <a:solidFill>
            <a:schemeClr val="accent4"/>
          </a:solidFill>
          <a:ln/>
        </p:spPr>
      </p:sp>
      <p:pic>
        <p:nvPicPr>
          <p:cNvPr id="17" name="Blended workforce icon" descr="Blended workforce">    </p:cNvPr>
          <p:cNvPicPr>
            <a:picLocks noChangeAspect="1"/>
          </p:cNvPicPr>
          <p:nvPr/>
        </p:nvPicPr>
        <p:blipFill>
          <a:blip r:embed="rId3"/>
          <a:stretch>
            <a:fillRect/>
          </a:stretch>
        </p:blipFill>
        <p:spPr>
          <a:xfrm>
            <a:off x="8549640" y="1920240"/>
            <a:ext cx="365760" cy="365760"/>
          </a:xfrm>
          <a:prstGeom prst="rect">
            <a:avLst/>
          </a:prstGeom>
        </p:spPr>
      </p:pic>
      <p:sp>
        <p:nvSpPr>
          <p:cNvPr id="18" name="Text 13"/>
          <p:cNvSpPr txBox="1"/>
          <p:nvPr/>
        </p:nvSpPr>
        <p:spPr>
          <a:xfrm>
            <a:off x="8366760" y="2651760"/>
            <a:ext cx="2926080" cy="41148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Blended workforce</a:t>
            </a:r>
            <a:endParaRPr lang="en-US" sz="2000" dirty="0"/>
          </a:p>
        </p:txBody>
      </p:sp>
      <p:sp>
        <p:nvSpPr>
          <p:cNvPr id="19" name="Text 14"/>
          <p:cNvSpPr txBox="1"/>
          <p:nvPr/>
        </p:nvSpPr>
        <p:spPr>
          <a:xfrm>
            <a:off x="8366760" y="3108960"/>
            <a:ext cx="2880360" cy="914400"/>
          </a:xfrm>
          <a:prstGeom prst="rect">
            <a:avLst/>
          </a:prstGeom>
          <a:noFill/>
          <a:ln/>
        </p:spPr>
        <p:txBody>
          <a:bodyPr wrap="square" lIns="0" tIns="0" rIns="0" bIns="0" rtlCol="0" anchor="t"/>
          <a:lstStyle/>
          <a:p>
            <a:pPr indent="0" marL="0">
              <a:buNone/>
            </a:pPr>
            <a:r>
              <a:rPr lang="en-US" sz="1400" dirty="0">
                <a:solidFill>
                  <a:schemeClr val="tx1"/>
                </a:solidFill>
              </a:rPr>
              <a:t>One agreement and one allocation of duties for people and agents together.</a:t>
            </a:r>
            <a:endParaRPr lang="en-US" sz="1400" dirty="0"/>
          </a:p>
        </p:txBody>
      </p:sp>
      <p:sp>
        <p:nvSpPr>
          <p:cNvPr id="20" name="Text 15"/>
          <p:cNvSpPr txBox="1"/>
          <p:nvPr/>
        </p:nvSpPr>
        <p:spPr>
          <a:xfrm>
            <a:off x="8366760" y="4069080"/>
            <a:ext cx="2926080" cy="274320"/>
          </a:xfrm>
          <a:prstGeom prst="rect">
            <a:avLst/>
          </a:prstGeom>
          <a:noFill/>
          <a:ln/>
        </p:spPr>
        <p:txBody>
          <a:bodyPr wrap="square" lIns="0" tIns="0" rIns="0" bIns="0" rtlCol="0" anchor="t"/>
          <a:lstStyle/>
          <a:p>
            <a:pPr indent="0" marL="0">
              <a:buNone/>
            </a:pPr>
            <a:r>
              <a:rPr lang="en-US" sz="1200" b="1" dirty="0">
                <a:solidFill>
                  <a:schemeClr val="accent4"/>
                </a:solidFill>
              </a:rPr>
              <a:t>Built after both pilots</a:t>
            </a:r>
            <a:endParaRPr lang="en-US" sz="1200" dirty="0"/>
          </a:p>
        </p:txBody>
      </p:sp>
      <p:sp>
        <p:nvSpPr>
          <p:cNvPr id="21" name="Ask panel"/>
          <p:cNvSpPr/>
          <p:nvPr/>
        </p:nvSpPr>
        <p:spPr>
          <a:xfrm>
            <a:off x="548640" y="4800600"/>
            <a:ext cx="11064240" cy="1051560"/>
          </a:xfrm>
          <a:prstGeom prst="roundRect">
            <a:avLst>
              <a:gd name="adj" fmla="val 8696"/>
            </a:avLst>
          </a:prstGeom>
          <a:solidFill>
            <a:schemeClr val="tx2"/>
          </a:solidFill>
          <a:ln/>
        </p:spPr>
      </p:sp>
      <p:sp>
        <p:nvSpPr>
          <p:cNvPr id="22" name="Text 17"/>
          <p:cNvSpPr txBox="1"/>
          <p:nvPr/>
        </p:nvSpPr>
        <p:spPr>
          <a:xfrm>
            <a:off x="868680" y="4956048"/>
            <a:ext cx="10424160" cy="777240"/>
          </a:xfrm>
          <a:prstGeom prst="rect">
            <a:avLst/>
          </a:prstGeom>
          <a:noFill/>
          <a:ln/>
        </p:spPr>
        <p:txBody>
          <a:bodyPr wrap="square" lIns="0" tIns="0" rIns="0" bIns="0" rtlCol="0" anchor="ctr"/>
          <a:lstStyle/>
          <a:p>
            <a:pPr indent="0" marL="0">
              <a:buNone/>
            </a:pPr>
            <a:r>
              <a:rPr lang="en-US" sz="1600" b="1" dirty="0">
                <a:solidFill>
                  <a:schemeClr val="accent2"/>
                </a:solidFill>
              </a:rPr>
              <a:t>The ask  </a:t>
            </a:r>
            <a:pPr indent="0" marL="0">
              <a:buNone/>
            </a:pPr>
            <a:r>
              <a:rPr lang="en-US" sz="1600" dirty="0">
                <a:solidFill>
                  <a:schemeClr val="bg1"/>
                </a:solidFill>
              </a:rPr>
              <a:t>Approve a 12-month pilot: Living Capital with 20–30 HR360 clients, and AEO attest-and-insure with 5–10 clients already running agents. Each phase ends at a decision gate.</a:t>
            </a:r>
            <a:endParaRPr lang="en-US" sz="16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Clients face three new kinds of risk</a:t>
            </a:r>
            <a:endParaRPr lang="en-US" sz="3600" dirty="0"/>
          </a:p>
        </p:txBody>
      </p:sp>
      <p:sp>
        <p:nvSpPr>
          <p:cNvPr id="3" name="Text 1"/>
          <p:cNvSpPr txBox="1"/>
          <p:nvPr/>
        </p:nvSpPr>
        <p:spPr>
          <a:xfrm>
            <a:off x="1463040" y="1371600"/>
            <a:ext cx="2377440" cy="274320"/>
          </a:xfrm>
          <a:prstGeom prst="rect">
            <a:avLst/>
          </a:prstGeom>
          <a:noFill/>
          <a:ln/>
        </p:spPr>
        <p:txBody>
          <a:bodyPr wrap="square" lIns="0" tIns="0" rIns="0" bIns="0" rtlCol="0" anchor="t"/>
          <a:lstStyle/>
          <a:p>
            <a:pPr indent="0" marL="0">
              <a:buNone/>
            </a:pPr>
            <a:r>
              <a:rPr lang="en-US" sz="1100" b="1" spc="100" kern="0" dirty="0">
                <a:solidFill>
                  <a:schemeClr val="accent4"/>
                </a:solidFill>
              </a:rPr>
              <a:t>WHAT IS CHANGING</a:t>
            </a:r>
            <a:endParaRPr lang="en-US" sz="1100" dirty="0"/>
          </a:p>
        </p:txBody>
      </p:sp>
      <p:sp>
        <p:nvSpPr>
          <p:cNvPr id="4" name="Text 2"/>
          <p:cNvSpPr txBox="1"/>
          <p:nvPr/>
        </p:nvSpPr>
        <p:spPr>
          <a:xfrm>
            <a:off x="4114800" y="1371600"/>
            <a:ext cx="3474720" cy="274320"/>
          </a:xfrm>
          <a:prstGeom prst="rect">
            <a:avLst/>
          </a:prstGeom>
          <a:noFill/>
          <a:ln/>
        </p:spPr>
        <p:txBody>
          <a:bodyPr wrap="square" lIns="0" tIns="0" rIns="0" bIns="0" rtlCol="0" anchor="t"/>
          <a:lstStyle/>
          <a:p>
            <a:pPr indent="0" marL="0">
              <a:buNone/>
            </a:pPr>
            <a:r>
              <a:rPr lang="en-US" sz="1100" b="1" spc="100" kern="0" dirty="0">
                <a:solidFill>
                  <a:schemeClr val="accent4"/>
                </a:solidFill>
              </a:rPr>
              <a:t>WHAT CLIENTS FACE</a:t>
            </a:r>
            <a:endParaRPr lang="en-US" sz="1100" dirty="0"/>
          </a:p>
        </p:txBody>
      </p:sp>
      <p:sp>
        <p:nvSpPr>
          <p:cNvPr id="5" name="Text 3"/>
          <p:cNvSpPr txBox="1"/>
          <p:nvPr/>
        </p:nvSpPr>
        <p:spPr>
          <a:xfrm>
            <a:off x="8001000" y="1371600"/>
            <a:ext cx="3474720" cy="274320"/>
          </a:xfrm>
          <a:prstGeom prst="rect">
            <a:avLst/>
          </a:prstGeom>
          <a:noFill/>
          <a:ln/>
        </p:spPr>
        <p:txBody>
          <a:bodyPr wrap="square" lIns="0" tIns="0" rIns="0" bIns="0" rtlCol="0" anchor="t"/>
          <a:lstStyle/>
          <a:p>
            <a:pPr indent="0" marL="0">
              <a:buNone/>
            </a:pPr>
            <a:r>
              <a:rPr lang="en-US" sz="1100" b="1" spc="100" kern="0" dirty="0">
                <a:solidFill>
                  <a:schemeClr val="accent4"/>
                </a:solidFill>
              </a:rPr>
              <a:t>WHAT A PEO CAN DO THAT A CLIENT CANNOT</a:t>
            </a:r>
            <a:endParaRPr lang="en-US" sz="1100" dirty="0"/>
          </a:p>
        </p:txBody>
      </p:sp>
      <p:sp>
        <p:nvSpPr>
          <p:cNvPr id="6" name="AI agents do real work circle"/>
          <p:cNvSpPr/>
          <p:nvPr/>
        </p:nvSpPr>
        <p:spPr>
          <a:xfrm>
            <a:off x="548640" y="1920240"/>
            <a:ext cx="685800" cy="685800"/>
          </a:xfrm>
          <a:prstGeom prst="ellipse">
            <a:avLst/>
          </a:prstGeom>
          <a:solidFill>
            <a:schemeClr val="accent2"/>
          </a:solidFill>
          <a:ln/>
        </p:spPr>
      </p:sp>
      <p:pic>
        <p:nvPicPr>
          <p:cNvPr id="7" name="AI agents do real work icon" descr="AI agents do real work">    </p:cNvPr>
          <p:cNvPicPr>
            <a:picLocks noChangeAspect="1"/>
          </p:cNvPicPr>
          <p:nvPr/>
        </p:nvPicPr>
        <p:blipFill>
          <a:blip r:embed="rId1"/>
          <a:stretch>
            <a:fillRect/>
          </a:stretch>
        </p:blipFill>
        <p:spPr>
          <a:xfrm>
            <a:off x="720090" y="2091690"/>
            <a:ext cx="342900" cy="342900"/>
          </a:xfrm>
          <a:prstGeom prst="rect">
            <a:avLst/>
          </a:prstGeom>
        </p:spPr>
      </p:pic>
      <p:sp>
        <p:nvSpPr>
          <p:cNvPr id="8" name="Text 5"/>
          <p:cNvSpPr txBox="1"/>
          <p:nvPr/>
        </p:nvSpPr>
        <p:spPr>
          <a:xfrm>
            <a:off x="1463040" y="1965960"/>
            <a:ext cx="2377440" cy="73152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AI agents do real work</a:t>
            </a:r>
            <a:endParaRPr lang="en-US" sz="1800" dirty="0"/>
          </a:p>
        </p:txBody>
      </p:sp>
      <p:sp>
        <p:nvSpPr>
          <p:cNvPr id="9" name="Text 6"/>
          <p:cNvSpPr txBox="1"/>
          <p:nvPr/>
        </p:nvSpPr>
        <p:spPr>
          <a:xfrm>
            <a:off x="4114800" y="1965960"/>
            <a:ext cx="3566160" cy="914400"/>
          </a:xfrm>
          <a:prstGeom prst="rect">
            <a:avLst/>
          </a:prstGeom>
          <a:noFill/>
          <a:ln/>
        </p:spPr>
        <p:txBody>
          <a:bodyPr wrap="square" lIns="0" tIns="0" rIns="0" bIns="0" rtlCol="0" anchor="t"/>
          <a:lstStyle/>
          <a:p>
            <a:pPr indent="0" marL="0">
              <a:buNone/>
            </a:pPr>
            <a:r>
              <a:rPr lang="en-US" sz="1500" dirty="0">
                <a:solidFill>
                  <a:schemeClr val="tx1"/>
                </a:solidFill>
              </a:rPr>
              <a:t>Agents act on worker and client data with no identity, audit trail or insurance behind them.</a:t>
            </a:r>
            <a:endParaRPr lang="en-US" sz="1500" dirty="0"/>
          </a:p>
        </p:txBody>
      </p:sp>
      <p:sp>
        <p:nvSpPr>
          <p:cNvPr id="10" name="AI agents do real work PEO answer"/>
          <p:cNvSpPr/>
          <p:nvPr/>
        </p:nvSpPr>
        <p:spPr>
          <a:xfrm>
            <a:off x="7863840" y="1783080"/>
            <a:ext cx="3749040" cy="1188720"/>
          </a:xfrm>
          <a:prstGeom prst="roundRect">
            <a:avLst>
              <a:gd name="adj" fmla="val 7692"/>
            </a:avLst>
          </a:prstGeom>
          <a:solidFill>
            <a:schemeClr val="bg2"/>
          </a:solidFill>
          <a:ln/>
        </p:spPr>
      </p:sp>
      <p:sp>
        <p:nvSpPr>
          <p:cNvPr id="11" name="Text 8"/>
          <p:cNvSpPr txBox="1"/>
          <p:nvPr/>
        </p:nvSpPr>
        <p:spPr>
          <a:xfrm>
            <a:off x="8046720" y="1938528"/>
            <a:ext cx="3429000" cy="914400"/>
          </a:xfrm>
          <a:prstGeom prst="rect">
            <a:avLst/>
          </a:prstGeom>
          <a:noFill/>
          <a:ln/>
        </p:spPr>
        <p:txBody>
          <a:bodyPr wrap="square" lIns="0" tIns="0" rIns="0" bIns="0" rtlCol="0" anchor="t"/>
          <a:lstStyle/>
          <a:p>
            <a:pPr indent="0" marL="0">
              <a:buNone/>
            </a:pPr>
            <a:r>
              <a:rPr lang="en-US" sz="1500" dirty="0">
                <a:solidFill>
                  <a:schemeClr val="tx2"/>
                </a:solidFill>
              </a:rPr>
              <a:t>Certify, monitor and insure agents across thousands of clients, and price the risk on a pool.</a:t>
            </a:r>
            <a:endParaRPr lang="en-US" sz="1500" dirty="0"/>
          </a:p>
        </p:txBody>
      </p:sp>
      <p:sp>
        <p:nvSpPr>
          <p:cNvPr id="12" name="Burnout and turnover circle"/>
          <p:cNvSpPr/>
          <p:nvPr/>
        </p:nvSpPr>
        <p:spPr>
          <a:xfrm>
            <a:off x="548640" y="3291840"/>
            <a:ext cx="685800" cy="685800"/>
          </a:xfrm>
          <a:prstGeom prst="ellipse">
            <a:avLst/>
          </a:prstGeom>
          <a:solidFill>
            <a:schemeClr val="accent5"/>
          </a:solidFill>
          <a:ln/>
        </p:spPr>
      </p:sp>
      <p:pic>
        <p:nvPicPr>
          <p:cNvPr id="13" name="Burnout and turnover icon" descr="Burnout and turnover">    </p:cNvPr>
          <p:cNvPicPr>
            <a:picLocks noChangeAspect="1"/>
          </p:cNvPicPr>
          <p:nvPr/>
        </p:nvPicPr>
        <p:blipFill>
          <a:blip r:embed="rId2"/>
          <a:stretch>
            <a:fillRect/>
          </a:stretch>
        </p:blipFill>
        <p:spPr>
          <a:xfrm>
            <a:off x="720090" y="3463290"/>
            <a:ext cx="342900" cy="342900"/>
          </a:xfrm>
          <a:prstGeom prst="rect">
            <a:avLst/>
          </a:prstGeom>
        </p:spPr>
      </p:pic>
      <p:sp>
        <p:nvSpPr>
          <p:cNvPr id="14" name="Text 10"/>
          <p:cNvSpPr txBox="1"/>
          <p:nvPr/>
        </p:nvSpPr>
        <p:spPr>
          <a:xfrm>
            <a:off x="1463040" y="3337560"/>
            <a:ext cx="2377440" cy="73152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Burnout and turnover</a:t>
            </a:r>
            <a:endParaRPr lang="en-US" sz="1800" dirty="0"/>
          </a:p>
        </p:txBody>
      </p:sp>
      <p:sp>
        <p:nvSpPr>
          <p:cNvPr id="15" name="Text 11"/>
          <p:cNvSpPr txBox="1"/>
          <p:nvPr/>
        </p:nvSpPr>
        <p:spPr>
          <a:xfrm>
            <a:off x="4114800" y="3337560"/>
            <a:ext cx="3566160" cy="914400"/>
          </a:xfrm>
          <a:prstGeom prst="rect">
            <a:avLst/>
          </a:prstGeom>
          <a:noFill/>
          <a:ln/>
        </p:spPr>
        <p:txBody>
          <a:bodyPr wrap="square" lIns="0" tIns="0" rIns="0" bIns="0" rtlCol="0" anchor="t"/>
          <a:lstStyle/>
          <a:p>
            <a:pPr indent="0" marL="0">
              <a:buNone/>
            </a:pPr>
            <a:r>
              <a:rPr lang="en-US" sz="1500" dirty="0">
                <a:solidFill>
                  <a:schemeClr val="tx1"/>
                </a:solidFill>
              </a:rPr>
              <a:t>People run at full utilization; replacement hiring is the default fix.</a:t>
            </a:r>
            <a:endParaRPr lang="en-US" sz="1500" dirty="0"/>
          </a:p>
        </p:txBody>
      </p:sp>
      <p:sp>
        <p:nvSpPr>
          <p:cNvPr id="16" name="Burnout and turnover PEO answer"/>
          <p:cNvSpPr/>
          <p:nvPr/>
        </p:nvSpPr>
        <p:spPr>
          <a:xfrm>
            <a:off x="7863840" y="3154680"/>
            <a:ext cx="3749040" cy="1188720"/>
          </a:xfrm>
          <a:prstGeom prst="roundRect">
            <a:avLst>
              <a:gd name="adj" fmla="val 7692"/>
            </a:avLst>
          </a:prstGeom>
          <a:solidFill>
            <a:schemeClr val="bg2"/>
          </a:solidFill>
          <a:ln/>
        </p:spPr>
      </p:sp>
      <p:sp>
        <p:nvSpPr>
          <p:cNvPr id="17" name="Text 13"/>
          <p:cNvSpPr txBox="1"/>
          <p:nvPr/>
        </p:nvSpPr>
        <p:spPr>
          <a:xfrm>
            <a:off x="8046720" y="3310128"/>
            <a:ext cx="3429000" cy="914400"/>
          </a:xfrm>
          <a:prstGeom prst="rect">
            <a:avLst/>
          </a:prstGeom>
          <a:noFill/>
          <a:ln/>
        </p:spPr>
        <p:txBody>
          <a:bodyPr wrap="square" lIns="0" tIns="0" rIns="0" bIns="0" rtlCol="0" anchor="t"/>
          <a:lstStyle/>
          <a:p>
            <a:pPr indent="0" marL="0">
              <a:buNone/>
            </a:pPr>
            <a:r>
              <a:rPr lang="en-US" sz="1500" dirty="0">
                <a:solidFill>
                  <a:schemeClr val="tx2"/>
                </a:solidFill>
              </a:rPr>
              <a:t>Pool the cost of sabbaticals, leave and care; measure reserve with data we already hold.</a:t>
            </a:r>
            <a:endParaRPr lang="en-US" sz="1500" dirty="0"/>
          </a:p>
        </p:txBody>
      </p:sp>
      <p:sp>
        <p:nvSpPr>
          <p:cNvPr id="18" name="Downturn volatility circle"/>
          <p:cNvSpPr/>
          <p:nvPr/>
        </p:nvSpPr>
        <p:spPr>
          <a:xfrm>
            <a:off x="548640" y="4663440"/>
            <a:ext cx="685800" cy="685800"/>
          </a:xfrm>
          <a:prstGeom prst="ellipse">
            <a:avLst/>
          </a:prstGeom>
          <a:solidFill>
            <a:schemeClr val="accent1"/>
          </a:solidFill>
          <a:ln/>
        </p:spPr>
      </p:sp>
      <p:pic>
        <p:nvPicPr>
          <p:cNvPr id="19" name="Downturn volatility icon" descr="Downturn volatility">    </p:cNvPr>
          <p:cNvPicPr>
            <a:picLocks noChangeAspect="1"/>
          </p:cNvPicPr>
          <p:nvPr/>
        </p:nvPicPr>
        <p:blipFill>
          <a:blip r:embed="rId3"/>
          <a:stretch>
            <a:fillRect/>
          </a:stretch>
        </p:blipFill>
        <p:spPr>
          <a:xfrm>
            <a:off x="720090" y="4834890"/>
            <a:ext cx="342900" cy="342900"/>
          </a:xfrm>
          <a:prstGeom prst="rect">
            <a:avLst/>
          </a:prstGeom>
        </p:spPr>
      </p:pic>
      <p:sp>
        <p:nvSpPr>
          <p:cNvPr id="20" name="Text 15"/>
          <p:cNvSpPr txBox="1"/>
          <p:nvPr/>
        </p:nvSpPr>
        <p:spPr>
          <a:xfrm>
            <a:off x="1463040" y="4709160"/>
            <a:ext cx="2377440" cy="73152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Downturn volatility</a:t>
            </a:r>
            <a:endParaRPr lang="en-US" sz="1800" dirty="0"/>
          </a:p>
        </p:txBody>
      </p:sp>
      <p:sp>
        <p:nvSpPr>
          <p:cNvPr id="21" name="Text 16"/>
          <p:cNvSpPr txBox="1"/>
          <p:nvPr/>
        </p:nvSpPr>
        <p:spPr>
          <a:xfrm>
            <a:off x="4114800" y="4709160"/>
            <a:ext cx="3566160" cy="914400"/>
          </a:xfrm>
          <a:prstGeom prst="rect">
            <a:avLst/>
          </a:prstGeom>
          <a:noFill/>
          <a:ln/>
        </p:spPr>
        <p:txBody>
          <a:bodyPr wrap="square" lIns="0" tIns="0" rIns="0" bIns="0" rtlCol="0" anchor="t"/>
          <a:lstStyle/>
          <a:p>
            <a:pPr indent="0" marL="0">
              <a:buNone/>
            </a:pPr>
            <a:r>
              <a:rPr lang="en-US" sz="1500" dirty="0">
                <a:solidFill>
                  <a:schemeClr val="tx1"/>
                </a:solidFill>
              </a:rPr>
              <a:t>Layoffs are the only lever a 50-person firm has.</a:t>
            </a:r>
            <a:endParaRPr lang="en-US" sz="1500" dirty="0"/>
          </a:p>
        </p:txBody>
      </p:sp>
      <p:sp>
        <p:nvSpPr>
          <p:cNvPr id="22" name="Downturn volatility PEO answer"/>
          <p:cNvSpPr/>
          <p:nvPr/>
        </p:nvSpPr>
        <p:spPr>
          <a:xfrm>
            <a:off x="7863840" y="4526280"/>
            <a:ext cx="3749040" cy="1188720"/>
          </a:xfrm>
          <a:prstGeom prst="roundRect">
            <a:avLst>
              <a:gd name="adj" fmla="val 7692"/>
            </a:avLst>
          </a:prstGeom>
          <a:solidFill>
            <a:schemeClr val="bg2"/>
          </a:solidFill>
          <a:ln/>
        </p:spPr>
      </p:sp>
      <p:sp>
        <p:nvSpPr>
          <p:cNvPr id="23" name="Text 18"/>
          <p:cNvSpPr txBox="1"/>
          <p:nvPr/>
        </p:nvSpPr>
        <p:spPr>
          <a:xfrm>
            <a:off x="8046720" y="4681728"/>
            <a:ext cx="3429000" cy="914400"/>
          </a:xfrm>
          <a:prstGeom prst="rect">
            <a:avLst/>
          </a:prstGeom>
          <a:noFill/>
          <a:ln/>
        </p:spPr>
        <p:txBody>
          <a:bodyPr wrap="square" lIns="0" tIns="0" rIns="0" bIns="0" rtlCol="0" anchor="t"/>
          <a:lstStyle/>
          <a:p>
            <a:pPr indent="0" marL="0">
              <a:buNone/>
            </a:pPr>
            <a:r>
              <a:rPr lang="en-US" sz="1500" dirty="0">
                <a:solidFill>
                  <a:schemeClr val="tx2"/>
                </a:solidFill>
              </a:rPr>
              <a:t>Redeploy people across clients, file state work-share plans, run shared furloughs.</a:t>
            </a:r>
            <a:endParaRPr lang="en-US" sz="1500" dirty="0"/>
          </a:p>
        </p:txBody>
      </p:sp>
      <p:sp>
        <p:nvSpPr>
          <p:cNvPr id="24" name="Text 19"/>
          <p:cNvSpPr txBox="1"/>
          <p:nvPr/>
        </p:nvSpPr>
        <p:spPr>
          <a:xfrm>
            <a:off x="548640" y="5989320"/>
            <a:ext cx="11064240" cy="320040"/>
          </a:xfrm>
          <a:prstGeom prst="rect">
            <a:avLst/>
          </a:prstGeom>
          <a:noFill/>
          <a:ln/>
        </p:spPr>
        <p:txBody>
          <a:bodyPr wrap="square" lIns="0" tIns="0" rIns="0" bIns="0" rtlCol="0" anchor="t"/>
          <a:lstStyle/>
          <a:p>
            <a:pPr indent="0" marL="0">
              <a:buNone/>
            </a:pPr>
            <a:r>
              <a:rPr lang="en-US" sz="1100" i="1" dirty="0">
                <a:solidFill>
                  <a:schemeClr val="accent4"/>
                </a:solidFill>
              </a:rPr>
              <a:t>Every peer in the PEO Service Map now offers payroll, multi-state tax, workers' comp and compliance as core. Differentiation sits above that layer.</a:t>
            </a:r>
            <a:endParaRPr lang="en-US" sz="11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Insperity starts with scale and trust</a:t>
            </a:r>
            <a:endParaRPr lang="en-US" sz="3600" dirty="0"/>
          </a:p>
        </p:txBody>
      </p:sp>
      <p:sp>
        <p:nvSpPr>
          <p:cNvPr id="3" name="Text 1"/>
          <p:cNvSpPr txBox="1"/>
          <p:nvPr/>
        </p:nvSpPr>
        <p:spPr>
          <a:xfrm>
            <a:off x="548640" y="1463040"/>
            <a:ext cx="3840480" cy="68580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~300,000</a:t>
            </a:r>
            <a:endParaRPr lang="en-US" sz="4000" dirty="0"/>
          </a:p>
        </p:txBody>
      </p:sp>
      <p:sp>
        <p:nvSpPr>
          <p:cNvPr id="4" name="Text 2"/>
          <p:cNvSpPr txBox="1"/>
          <p:nvPr/>
        </p:nvSpPr>
        <p:spPr>
          <a:xfrm>
            <a:off x="548640" y="2176272"/>
            <a:ext cx="4206240" cy="640080"/>
          </a:xfrm>
          <a:prstGeom prst="rect">
            <a:avLst/>
          </a:prstGeom>
          <a:noFill/>
          <a:ln/>
        </p:spPr>
        <p:txBody>
          <a:bodyPr wrap="square" lIns="0" tIns="0" rIns="0" bIns="0" rtlCol="0" anchor="t"/>
          <a:lstStyle/>
          <a:p>
            <a:pPr indent="0" marL="0">
              <a:buNone/>
            </a:pPr>
            <a:r>
              <a:rPr lang="en-US" sz="1300" dirty="0">
                <a:solidFill>
                  <a:schemeClr val="accent4"/>
                </a:solidFill>
              </a:rPr>
              <a:t>worksite employees: the pool that makes leave funds and Agent Comp pricing work</a:t>
            </a:r>
            <a:endParaRPr lang="en-US" sz="1300" dirty="0"/>
          </a:p>
        </p:txBody>
      </p:sp>
      <p:sp>
        <p:nvSpPr>
          <p:cNvPr id="5" name="Text 3"/>
          <p:cNvSpPr txBox="1"/>
          <p:nvPr/>
        </p:nvSpPr>
        <p:spPr>
          <a:xfrm>
            <a:off x="548640" y="2926080"/>
            <a:ext cx="3840480" cy="68580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Since 2002</a:t>
            </a:r>
            <a:endParaRPr lang="en-US" sz="4000" dirty="0"/>
          </a:p>
        </p:txBody>
      </p:sp>
      <p:sp>
        <p:nvSpPr>
          <p:cNvPr id="6" name="Text 4"/>
          <p:cNvSpPr txBox="1"/>
          <p:nvPr/>
        </p:nvSpPr>
        <p:spPr>
          <a:xfrm>
            <a:off x="548640" y="3639312"/>
            <a:ext cx="4206240" cy="640080"/>
          </a:xfrm>
          <a:prstGeom prst="rect">
            <a:avLst/>
          </a:prstGeom>
          <a:noFill/>
          <a:ln/>
        </p:spPr>
        <p:txBody>
          <a:bodyPr wrap="square" lIns="0" tIns="0" rIns="0" bIns="0" rtlCol="0" anchor="t"/>
          <a:lstStyle/>
          <a:p>
            <a:pPr indent="0" marL="0">
              <a:buNone/>
            </a:pPr>
            <a:r>
              <a:rPr lang="en-US" sz="1300" dirty="0">
                <a:solidFill>
                  <a:schemeClr val="accent4"/>
                </a:solidFill>
              </a:rPr>
              <a:t>UnitedHealthcare master plan, extended through 2028: the template for a master agent policy</a:t>
            </a:r>
            <a:endParaRPr lang="en-US" sz="1300" dirty="0"/>
          </a:p>
        </p:txBody>
      </p:sp>
      <p:sp>
        <p:nvSpPr>
          <p:cNvPr id="7" name="Text 5"/>
          <p:cNvSpPr txBox="1"/>
          <p:nvPr/>
        </p:nvSpPr>
        <p:spPr>
          <a:xfrm>
            <a:off x="548640" y="4389120"/>
            <a:ext cx="3840480" cy="68580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Feb 2026</a:t>
            </a:r>
            <a:endParaRPr lang="en-US" sz="4000" dirty="0"/>
          </a:p>
        </p:txBody>
      </p:sp>
      <p:sp>
        <p:nvSpPr>
          <p:cNvPr id="8" name="Text 6"/>
          <p:cNvSpPr txBox="1"/>
          <p:nvPr/>
        </p:nvSpPr>
        <p:spPr>
          <a:xfrm>
            <a:off x="548640" y="5102352"/>
            <a:ext cx="4206240" cy="640080"/>
          </a:xfrm>
          <a:prstGeom prst="rect">
            <a:avLst/>
          </a:prstGeom>
          <a:noFill/>
          <a:ln/>
        </p:spPr>
        <p:txBody>
          <a:bodyPr wrap="square" lIns="0" tIns="0" rIns="0" bIns="0" rtlCol="0" anchor="t"/>
          <a:lstStyle/>
          <a:p>
            <a:pPr indent="0" marL="0">
              <a:buNone/>
            </a:pPr>
            <a:r>
              <a:rPr lang="en-US" sz="1300" dirty="0">
                <a:solidFill>
                  <a:schemeClr val="accent4"/>
                </a:solidFill>
              </a:rPr>
              <a:t>HRScale on Workday reached general availability: the host for enterprise lab entities</a:t>
            </a:r>
            <a:endParaRPr lang="en-US" sz="1300" dirty="0"/>
          </a:p>
        </p:txBody>
      </p:sp>
      <p:sp>
        <p:nvSpPr>
          <p:cNvPr id="9" name="Strengths card"/>
          <p:cNvSpPr/>
          <p:nvPr/>
        </p:nvSpPr>
        <p:spPr>
          <a:xfrm>
            <a:off x="5212080" y="1463040"/>
            <a:ext cx="3063240" cy="4297680"/>
          </a:xfrm>
          <a:prstGeom prst="roundRect">
            <a:avLst>
              <a:gd name="adj" fmla="val 2985"/>
            </a:avLst>
          </a:prstGeom>
          <a:solidFill>
            <a:schemeClr val="bg2"/>
          </a:solidFill>
          <a:ln/>
        </p:spPr>
      </p:sp>
      <p:sp>
        <p:nvSpPr>
          <p:cNvPr id="10" name="Text 8"/>
          <p:cNvSpPr txBox="1"/>
          <p:nvPr/>
        </p:nvSpPr>
        <p:spPr>
          <a:xfrm>
            <a:off x="5440680" y="1691640"/>
            <a:ext cx="2651760" cy="36576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Strengths to build on</a:t>
            </a:r>
            <a:endParaRPr lang="en-US" sz="1800" dirty="0"/>
          </a:p>
        </p:txBody>
      </p:sp>
      <p:sp>
        <p:nvSpPr>
          <p:cNvPr id="11" name="Text 9"/>
          <p:cNvSpPr txBox="1"/>
          <p:nvPr/>
        </p:nvSpPr>
        <p:spPr>
          <a:xfrm>
            <a:off x="5440680" y="2194560"/>
            <a:ext cx="2651760" cy="338328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1"/>
                </a:solidFill>
              </a:rPr>
              <a:t>Human advisory in the bundle: performance, training, org planning, recruiting</a:t>
            </a:r>
            <a:endParaRPr lang="en-US" sz="1400" dirty="0"/>
          </a:p>
          <a:p>
            <a:pPr marL="342900" indent="-342900">
              <a:spcAft>
                <a:spcPts val="1000"/>
              </a:spcAft>
              <a:buSzPct val="100000"/>
              <a:buChar char="•"/>
            </a:pPr>
            <a:r>
              <a:rPr lang="en-US" sz="1400" dirty="0">
                <a:solidFill>
                  <a:schemeClr val="tx1"/>
                </a:solidFill>
              </a:rPr>
              <a:t>A governed classification baseline: C0–C4, regime floors, cell size 5</a:t>
            </a:r>
            <a:endParaRPr lang="en-US" sz="1400" dirty="0"/>
          </a:p>
          <a:p>
            <a:pPr marL="342900" indent="-342900">
              <a:spcAft>
                <a:spcPts val="1000"/>
              </a:spcAft>
              <a:buSzPct val="100000"/>
              <a:buChar char="•"/>
            </a:pPr>
            <a:r>
              <a:rPr lang="en-US" sz="1400" dirty="0">
                <a:solidFill>
                  <a:schemeClr val="tx1"/>
                </a:solidFill>
              </a:rPr>
              <a:t>Enterprise path through HRScale</a:t>
            </a:r>
            <a:endParaRPr lang="en-US" sz="1400" dirty="0"/>
          </a:p>
        </p:txBody>
      </p:sp>
      <p:sp>
        <p:nvSpPr>
          <p:cNvPr id="12" name="Gaps card"/>
          <p:cNvSpPr/>
          <p:nvPr/>
        </p:nvSpPr>
        <p:spPr>
          <a:xfrm>
            <a:off x="8549640" y="1463040"/>
            <a:ext cx="3063240" cy="4297680"/>
          </a:xfrm>
          <a:prstGeom prst="roundRect">
            <a:avLst>
              <a:gd name="adj" fmla="val 2985"/>
            </a:avLst>
          </a:prstGeom>
          <a:solidFill>
            <a:srgbClr val="FFFFFF"/>
          </a:solidFill>
          <a:ln w="12700">
            <a:solidFill>
              <a:srgbClr val="A9C4A6"/>
            </a:solidFill>
            <a:prstDash val="solid"/>
          </a:ln>
        </p:spPr>
      </p:sp>
      <p:sp>
        <p:nvSpPr>
          <p:cNvPr id="13" name="Text 11"/>
          <p:cNvSpPr txBox="1"/>
          <p:nvPr/>
        </p:nvSpPr>
        <p:spPr>
          <a:xfrm>
            <a:off x="8778240" y="1691640"/>
            <a:ext cx="2651760" cy="365760"/>
          </a:xfrm>
          <a:prstGeom prst="rect">
            <a:avLst/>
          </a:prstGeom>
          <a:noFill/>
          <a:ln/>
        </p:spPr>
        <p:txBody>
          <a:bodyPr wrap="square" lIns="0" tIns="0" rIns="0" bIns="0" rtlCol="0" anchor="t"/>
          <a:lstStyle/>
          <a:p>
            <a:pPr indent="0" marL="0">
              <a:buNone/>
            </a:pPr>
            <a:r>
              <a:rPr lang="en-US" sz="1800" b="1" dirty="0">
                <a:solidFill>
                  <a:schemeClr val="accent5"/>
                </a:solidFill>
                <a:latin typeface="Cambria" pitchFamily="34" charset="0"/>
                <a:ea typeface="Cambria" pitchFamily="34" charset="-122"/>
                <a:cs typeface="Cambria" pitchFamily="34" charset="-120"/>
              </a:rPr>
              <a:t>Gaps these offers close</a:t>
            </a:r>
            <a:endParaRPr lang="en-US" sz="1800" dirty="0"/>
          </a:p>
        </p:txBody>
      </p:sp>
      <p:sp>
        <p:nvSpPr>
          <p:cNvPr id="14" name="Text 12"/>
          <p:cNvSpPr txBox="1"/>
          <p:nvPr/>
        </p:nvSpPr>
        <p:spPr>
          <a:xfrm>
            <a:off x="8778240" y="2194560"/>
            <a:ext cx="2651760" cy="338328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1"/>
                </a:solidFill>
              </a:rPr>
              <a:t>No governed AI story; Paychex leads with its WISE engine</a:t>
            </a:r>
            <a:endParaRPr lang="en-US" sz="1400" dirty="0"/>
          </a:p>
          <a:p>
            <a:pPr marL="342900" indent="-342900">
              <a:spcAft>
                <a:spcPts val="1000"/>
              </a:spcAft>
              <a:buSzPct val="100000"/>
              <a:buChar char="•"/>
            </a:pPr>
            <a:r>
              <a:rPr lang="en-US" sz="1400" dirty="0">
                <a:solidFill>
                  <a:schemeClr val="tx1"/>
                </a:solidFill>
              </a:rPr>
              <a:t>No ASO or EOR entry tier; AEO attest-and-insure is a lighter way in</a:t>
            </a:r>
            <a:endParaRPr lang="en-US" sz="1400" dirty="0"/>
          </a:p>
          <a:p>
            <a:pPr marL="342900" indent="-342900">
              <a:spcAft>
                <a:spcPts val="1000"/>
              </a:spcAft>
              <a:buSzPct val="100000"/>
              <a:buChar char="•"/>
            </a:pPr>
            <a:r>
              <a:rPr lang="en-US" sz="1400" dirty="0">
                <a:solidFill>
                  <a:schemeClr val="tx1"/>
                </a:solidFill>
              </a:rPr>
              <a:t>No packaged answer to burnout or downturn layoffs</a:t>
            </a:r>
            <a:endParaRPr lang="en-US" sz="1400" dirty="0"/>
          </a:p>
        </p:txBody>
      </p:sp>
      <p:sp>
        <p:nvSpPr>
          <p:cNvPr id="15" name="Text 13"/>
          <p:cNvSpPr txBox="1"/>
          <p:nvPr/>
        </p:nvSpPr>
        <p:spPr>
          <a:xfrm>
            <a:off x="548640" y="5989320"/>
            <a:ext cx="11064240" cy="320040"/>
          </a:xfrm>
          <a:prstGeom prst="rect">
            <a:avLst/>
          </a:prstGeom>
          <a:noFill/>
          <a:ln/>
        </p:spPr>
        <p:txBody>
          <a:bodyPr wrap="square" lIns="0" tIns="0" rIns="0" bIns="0" rtlCol="0" anchor="t"/>
          <a:lstStyle/>
          <a:p>
            <a:pPr indent="0" marL="0">
              <a:buNone/>
            </a:pPr>
            <a:r>
              <a:rPr lang="en-US" sz="1100" i="1" dirty="0">
                <a:solidFill>
                  <a:schemeClr val="accent4"/>
                </a:solidFill>
              </a:rPr>
              <a:t>Source: PEO Service Map, public sources as of October 23, 2026.</a:t>
            </a:r>
            <a:endParaRPr lang="en-US" sz="11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Three offers on one foundation</a:t>
            </a:r>
            <a:endParaRPr lang="en-US" sz="3600" dirty="0"/>
          </a:p>
        </p:txBody>
      </p:sp>
      <p:sp>
        <p:nvSpPr>
          <p:cNvPr id="3" name="Goal"/>
          <p:cNvSpPr/>
          <p:nvPr/>
        </p:nvSpPr>
        <p:spPr>
          <a:xfrm>
            <a:off x="548640" y="1371600"/>
            <a:ext cx="11064240" cy="640080"/>
          </a:xfrm>
          <a:prstGeom prst="roundRect">
            <a:avLst>
              <a:gd name="adj" fmla="val 14286"/>
            </a:avLst>
          </a:prstGeom>
          <a:solidFill>
            <a:schemeClr val="tx2"/>
          </a:solidFill>
          <a:ln/>
        </p:spPr>
      </p:sp>
      <p:sp>
        <p:nvSpPr>
          <p:cNvPr id="4" name="Text 2"/>
          <p:cNvSpPr txBox="1"/>
          <p:nvPr/>
        </p:nvSpPr>
        <p:spPr>
          <a:xfrm>
            <a:off x="548640" y="1371600"/>
            <a:ext cx="11064240" cy="640080"/>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Employer of record for the whole workforce, human and digital</a:t>
            </a:r>
            <a:endParaRPr lang="en-US" sz="2000" dirty="0"/>
          </a:p>
        </p:txBody>
      </p:sp>
      <p:sp>
        <p:nvSpPr>
          <p:cNvPr id="5" name="Living Capital pillar"/>
          <p:cNvSpPr/>
          <p:nvPr/>
        </p:nvSpPr>
        <p:spPr>
          <a:xfrm>
            <a:off x="548640" y="2194560"/>
            <a:ext cx="3566160" cy="2971800"/>
          </a:xfrm>
          <a:prstGeom prst="rect">
            <a:avLst/>
          </a:prstGeom>
          <a:solidFill>
            <a:srgbClr val="FFFFFF"/>
          </a:solidFill>
          <a:ln w="15875">
            <a:solidFill>
              <a:srgbClr val="A9C4A6"/>
            </a:solidFill>
            <a:prstDash val="solid"/>
          </a:ln>
        </p:spPr>
      </p:sp>
      <p:sp>
        <p:nvSpPr>
          <p:cNvPr id="6" name="Living Capital cap"/>
          <p:cNvSpPr/>
          <p:nvPr/>
        </p:nvSpPr>
        <p:spPr>
          <a:xfrm>
            <a:off x="548640" y="2194560"/>
            <a:ext cx="3566160" cy="548640"/>
          </a:xfrm>
          <a:prstGeom prst="rect">
            <a:avLst/>
          </a:prstGeom>
          <a:solidFill>
            <a:schemeClr val="accent1"/>
          </a:solidFill>
          <a:ln/>
        </p:spPr>
      </p:sp>
      <p:sp>
        <p:nvSpPr>
          <p:cNvPr id="7" name="Text 5"/>
          <p:cNvSpPr txBox="1"/>
          <p:nvPr/>
        </p:nvSpPr>
        <p:spPr>
          <a:xfrm>
            <a:off x="731520" y="2194560"/>
            <a:ext cx="3200400" cy="548640"/>
          </a:xfrm>
          <a:prstGeom prst="rect">
            <a:avLst/>
          </a:prstGeom>
          <a:noFill/>
          <a:ln/>
        </p:spPr>
        <p:txBody>
          <a:bodyPr wrap="square" lIns="0" tIns="0" rIns="0" bIns="0" rtlCol="0" anchor="ctr"/>
          <a:lstStyle/>
          <a:p>
            <a:pPr indent="0" marL="0">
              <a:buNone/>
            </a:pPr>
            <a:r>
              <a:rPr lang="en-US" sz="1800" b="1" dirty="0">
                <a:solidFill>
                  <a:schemeClr val="bg1"/>
                </a:solidFill>
                <a:latin typeface="Cambria" pitchFamily="34" charset="0"/>
                <a:ea typeface="Cambria" pitchFamily="34" charset="-122"/>
                <a:cs typeface="Cambria" pitchFamily="34" charset="-120"/>
              </a:rPr>
              <a:t>Living Capital</a:t>
            </a:r>
            <a:endParaRPr lang="en-US" sz="1800" dirty="0"/>
          </a:p>
        </p:txBody>
      </p:sp>
      <p:sp>
        <p:nvSpPr>
          <p:cNvPr id="8" name="Text 6"/>
          <p:cNvSpPr txBox="1"/>
          <p:nvPr/>
        </p:nvSpPr>
        <p:spPr>
          <a:xfrm>
            <a:off x="777240" y="2926080"/>
            <a:ext cx="3154680" cy="17373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Pooled leave and sabbaticals</a:t>
            </a:r>
            <a:endParaRPr lang="en-US" sz="1500" dirty="0"/>
          </a:p>
          <a:p>
            <a:pPr marL="342900" indent="-342900">
              <a:spcAft>
                <a:spcPts val="600"/>
              </a:spcAft>
              <a:buSzPct val="100000"/>
              <a:buChar char="•"/>
            </a:pPr>
            <a:r>
              <a:rPr lang="en-US" sz="1500" dirty="0">
                <a:solidFill>
                  <a:schemeClr val="tx1"/>
                </a:solidFill>
              </a:rPr>
              <a:t>80/20 capacity cap</a:t>
            </a:r>
            <a:endParaRPr lang="en-US" sz="1500" dirty="0"/>
          </a:p>
          <a:p>
            <a:pPr marL="342900" indent="-342900">
              <a:spcAft>
                <a:spcPts val="600"/>
              </a:spcAft>
              <a:buSzPct val="100000"/>
              <a:buChar char="•"/>
            </a:pPr>
            <a:r>
              <a:rPr lang="en-US" sz="1500" dirty="0">
                <a:solidFill>
                  <a:schemeClr val="tx1"/>
                </a:solidFill>
              </a:rPr>
              <a:t>Work-share and redeployment</a:t>
            </a:r>
            <a:endParaRPr lang="en-US" sz="1500" dirty="0"/>
          </a:p>
          <a:p>
            <a:pPr marL="342900" indent="-342900">
              <a:spcAft>
                <a:spcPts val="600"/>
              </a:spcAft>
              <a:buSzPct val="100000"/>
              <a:buChar char="•"/>
            </a:pPr>
            <a:r>
              <a:rPr lang="en-US" sz="1500" dirty="0">
                <a:solidFill>
                  <a:schemeClr val="tx1"/>
                </a:solidFill>
              </a:rPr>
              <a:t>Regeneration scorecard</a:t>
            </a:r>
            <a:endParaRPr lang="en-US" sz="1500" dirty="0"/>
          </a:p>
        </p:txBody>
      </p:sp>
      <p:sp>
        <p:nvSpPr>
          <p:cNvPr id="9" name="Text 7"/>
          <p:cNvSpPr txBox="1"/>
          <p:nvPr/>
        </p:nvSpPr>
        <p:spPr>
          <a:xfrm>
            <a:off x="777240" y="4754880"/>
            <a:ext cx="3108960" cy="274320"/>
          </a:xfrm>
          <a:prstGeom prst="rect">
            <a:avLst/>
          </a:prstGeom>
          <a:noFill/>
          <a:ln/>
        </p:spPr>
        <p:txBody>
          <a:bodyPr wrap="square" lIns="0" tIns="0" rIns="0" bIns="0" rtlCol="0" anchor="t"/>
          <a:lstStyle/>
          <a:p>
            <a:pPr indent="0" marL="0">
              <a:buNone/>
            </a:pPr>
            <a:r>
              <a:rPr lang="en-US" sz="1200" b="1" dirty="0">
                <a:solidFill>
                  <a:schemeClr val="accent4"/>
                </a:solidFill>
              </a:rPr>
              <a:t>46 services</a:t>
            </a:r>
            <a:endParaRPr lang="en-US" sz="1200" dirty="0"/>
          </a:p>
        </p:txBody>
      </p:sp>
      <p:sp>
        <p:nvSpPr>
          <p:cNvPr id="10" name="Agent Employer (AEO) pillar"/>
          <p:cNvSpPr/>
          <p:nvPr/>
        </p:nvSpPr>
        <p:spPr>
          <a:xfrm>
            <a:off x="4297680" y="2194560"/>
            <a:ext cx="3566160" cy="2971800"/>
          </a:xfrm>
          <a:prstGeom prst="rect">
            <a:avLst/>
          </a:prstGeom>
          <a:solidFill>
            <a:srgbClr val="FFFFFF"/>
          </a:solidFill>
          <a:ln w="15875">
            <a:solidFill>
              <a:srgbClr val="A9C4A6"/>
            </a:solidFill>
            <a:prstDash val="solid"/>
          </a:ln>
        </p:spPr>
      </p:sp>
      <p:sp>
        <p:nvSpPr>
          <p:cNvPr id="11" name="Agent Employer (AEO) cap"/>
          <p:cNvSpPr/>
          <p:nvPr/>
        </p:nvSpPr>
        <p:spPr>
          <a:xfrm>
            <a:off x="4297680" y="2194560"/>
            <a:ext cx="3566160" cy="548640"/>
          </a:xfrm>
          <a:prstGeom prst="rect">
            <a:avLst/>
          </a:prstGeom>
          <a:solidFill>
            <a:schemeClr val="accent2"/>
          </a:solidFill>
          <a:ln/>
        </p:spPr>
      </p:sp>
      <p:sp>
        <p:nvSpPr>
          <p:cNvPr id="12" name="Text 10"/>
          <p:cNvSpPr txBox="1"/>
          <p:nvPr/>
        </p:nvSpPr>
        <p:spPr>
          <a:xfrm>
            <a:off x="4480560" y="2194560"/>
            <a:ext cx="3200400" cy="548640"/>
          </a:xfrm>
          <a:prstGeom prst="rect">
            <a:avLst/>
          </a:prstGeom>
          <a:noFill/>
          <a:ln/>
        </p:spPr>
        <p:txBody>
          <a:bodyPr wrap="square" lIns="0" tIns="0" rIns="0" bIns="0" rtlCol="0" anchor="ctr"/>
          <a:lstStyle/>
          <a:p>
            <a:pPr indent="0" marL="0">
              <a:buNone/>
            </a:pPr>
            <a:r>
              <a:rPr lang="en-US" sz="1800" b="1" dirty="0">
                <a:solidFill>
                  <a:schemeClr val="bg1"/>
                </a:solidFill>
                <a:latin typeface="Cambria" pitchFamily="34" charset="0"/>
                <a:ea typeface="Cambria" pitchFamily="34" charset="-122"/>
                <a:cs typeface="Cambria" pitchFamily="34" charset="-120"/>
              </a:rPr>
              <a:t>Agent Employer (AEO)</a:t>
            </a:r>
            <a:endParaRPr lang="en-US" sz="1800" dirty="0"/>
          </a:p>
        </p:txBody>
      </p:sp>
      <p:sp>
        <p:nvSpPr>
          <p:cNvPr id="13" name="Text 11"/>
          <p:cNvSpPr txBox="1"/>
          <p:nvPr/>
        </p:nvSpPr>
        <p:spPr>
          <a:xfrm>
            <a:off x="4526280" y="2926080"/>
            <a:ext cx="3154680" cy="17373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Agent identity and attestation</a:t>
            </a:r>
            <a:endParaRPr lang="en-US" sz="1500" dirty="0"/>
          </a:p>
          <a:p>
            <a:pPr marL="342900" indent="-342900">
              <a:spcAft>
                <a:spcPts val="600"/>
              </a:spcAft>
              <a:buSzPct val="100000"/>
              <a:buChar char="•"/>
            </a:pPr>
            <a:r>
              <a:rPr lang="en-US" sz="1500" dirty="0">
                <a:solidFill>
                  <a:schemeClr val="tx1"/>
                </a:solidFill>
              </a:rPr>
              <a:t>Agent Comp insurance</a:t>
            </a:r>
            <a:endParaRPr lang="en-US" sz="1500" dirty="0"/>
          </a:p>
          <a:p>
            <a:pPr marL="342900" indent="-342900">
              <a:spcAft>
                <a:spcPts val="600"/>
              </a:spcAft>
              <a:buSzPct val="100000"/>
              <a:buChar char="•"/>
            </a:pPr>
            <a:r>
              <a:rPr lang="en-US" sz="1500" dirty="0">
                <a:solidFill>
                  <a:schemeClr val="tx1"/>
                </a:solidFill>
              </a:rPr>
              <a:t>Circuit breakers, drift SLA</a:t>
            </a:r>
            <a:endParaRPr lang="en-US" sz="1500" dirty="0"/>
          </a:p>
          <a:p>
            <a:pPr marL="342900" indent="-342900">
              <a:spcAft>
                <a:spcPts val="600"/>
              </a:spcAft>
              <a:buSzPct val="100000"/>
              <a:buChar char="•"/>
            </a:pPr>
            <a:r>
              <a:rPr lang="en-US" sz="1500" dirty="0">
                <a:solidFill>
                  <a:schemeClr val="tx1"/>
                </a:solidFill>
              </a:rPr>
              <a:t>Clearance tiers C0–C4</a:t>
            </a:r>
            <a:endParaRPr lang="en-US" sz="1500" dirty="0"/>
          </a:p>
        </p:txBody>
      </p:sp>
      <p:sp>
        <p:nvSpPr>
          <p:cNvPr id="14" name="Text 12"/>
          <p:cNvSpPr txBox="1"/>
          <p:nvPr/>
        </p:nvSpPr>
        <p:spPr>
          <a:xfrm>
            <a:off x="4526280" y="4754880"/>
            <a:ext cx="3108960" cy="274320"/>
          </a:xfrm>
          <a:prstGeom prst="rect">
            <a:avLst/>
          </a:prstGeom>
          <a:noFill/>
          <a:ln/>
        </p:spPr>
        <p:txBody>
          <a:bodyPr wrap="square" lIns="0" tIns="0" rIns="0" bIns="0" rtlCol="0" anchor="t"/>
          <a:lstStyle/>
          <a:p>
            <a:pPr indent="0" marL="0">
              <a:buNone/>
            </a:pPr>
            <a:r>
              <a:rPr lang="en-US" sz="1200" b="1" dirty="0">
                <a:solidFill>
                  <a:schemeClr val="accent4"/>
                </a:solidFill>
              </a:rPr>
              <a:t>49 services</a:t>
            </a:r>
            <a:endParaRPr lang="en-US" sz="1200" dirty="0"/>
          </a:p>
        </p:txBody>
      </p:sp>
      <p:sp>
        <p:nvSpPr>
          <p:cNvPr id="15" name="Blended workforce pillar"/>
          <p:cNvSpPr/>
          <p:nvPr/>
        </p:nvSpPr>
        <p:spPr>
          <a:xfrm>
            <a:off x="8046720" y="2194560"/>
            <a:ext cx="3566160" cy="2971800"/>
          </a:xfrm>
          <a:prstGeom prst="rect">
            <a:avLst/>
          </a:prstGeom>
          <a:solidFill>
            <a:srgbClr val="FFFFFF"/>
          </a:solidFill>
          <a:ln w="15875">
            <a:solidFill>
              <a:srgbClr val="A9C4A6"/>
            </a:solidFill>
            <a:prstDash val="solid"/>
          </a:ln>
        </p:spPr>
      </p:sp>
      <p:sp>
        <p:nvSpPr>
          <p:cNvPr id="16" name="Blended workforce cap"/>
          <p:cNvSpPr/>
          <p:nvPr/>
        </p:nvSpPr>
        <p:spPr>
          <a:xfrm>
            <a:off x="8046720" y="2194560"/>
            <a:ext cx="3566160" cy="548640"/>
          </a:xfrm>
          <a:prstGeom prst="rect">
            <a:avLst/>
          </a:prstGeom>
          <a:solidFill>
            <a:schemeClr val="accent4"/>
          </a:solidFill>
          <a:ln/>
        </p:spPr>
      </p:sp>
      <p:sp>
        <p:nvSpPr>
          <p:cNvPr id="17" name="Text 15"/>
          <p:cNvSpPr txBox="1"/>
          <p:nvPr/>
        </p:nvSpPr>
        <p:spPr>
          <a:xfrm>
            <a:off x="8229600" y="2194560"/>
            <a:ext cx="3200400" cy="548640"/>
          </a:xfrm>
          <a:prstGeom prst="rect">
            <a:avLst/>
          </a:prstGeom>
          <a:noFill/>
          <a:ln/>
        </p:spPr>
        <p:txBody>
          <a:bodyPr wrap="square" lIns="0" tIns="0" rIns="0" bIns="0" rtlCol="0" anchor="ctr"/>
          <a:lstStyle/>
          <a:p>
            <a:pPr indent="0" marL="0">
              <a:buNone/>
            </a:pPr>
            <a:r>
              <a:rPr lang="en-US" sz="1800" b="1" dirty="0">
                <a:solidFill>
                  <a:schemeClr val="bg1"/>
                </a:solidFill>
                <a:latin typeface="Cambria" pitchFamily="34" charset="0"/>
                <a:ea typeface="Cambria" pitchFamily="34" charset="-122"/>
                <a:cs typeface="Cambria" pitchFamily="34" charset="-120"/>
              </a:rPr>
              <a:t>Blended workforce</a:t>
            </a:r>
            <a:endParaRPr lang="en-US" sz="1800" dirty="0"/>
          </a:p>
        </p:txBody>
      </p:sp>
      <p:sp>
        <p:nvSpPr>
          <p:cNvPr id="18" name="Text 16"/>
          <p:cNvSpPr txBox="1"/>
          <p:nvPr/>
        </p:nvSpPr>
        <p:spPr>
          <a:xfrm>
            <a:off x="8275320" y="2926080"/>
            <a:ext cx="3154680" cy="17373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One allocation schedule</a:t>
            </a:r>
            <a:endParaRPr lang="en-US" sz="1500" dirty="0"/>
          </a:p>
          <a:p>
            <a:pPr marL="342900" indent="-342900">
              <a:spcAft>
                <a:spcPts val="600"/>
              </a:spcAft>
              <a:buSzPct val="100000"/>
              <a:buChar char="•"/>
            </a:pPr>
            <a:r>
              <a:rPr lang="en-US" sz="1500" dirty="0">
                <a:solidFill>
                  <a:schemeClr val="tx1"/>
                </a:solidFill>
              </a:rPr>
              <a:t>People and agents, one team</a:t>
            </a:r>
            <a:endParaRPr lang="en-US" sz="1500" dirty="0"/>
          </a:p>
          <a:p>
            <a:pPr marL="342900" indent="-342900">
              <a:spcAft>
                <a:spcPts val="600"/>
              </a:spcAft>
              <a:buSzPct val="100000"/>
              <a:buChar char="•"/>
            </a:pPr>
            <a:r>
              <a:rPr lang="en-US" sz="1500" dirty="0">
                <a:solidFill>
                  <a:schemeClr val="tx1"/>
                </a:solidFill>
              </a:rPr>
              <a:t>Shared supervision console</a:t>
            </a:r>
            <a:endParaRPr lang="en-US" sz="1500" dirty="0"/>
          </a:p>
          <a:p>
            <a:pPr marL="342900" indent="-342900">
              <a:spcAft>
                <a:spcPts val="600"/>
              </a:spcAft>
              <a:buSzPct val="100000"/>
              <a:buChar char="•"/>
            </a:pPr>
            <a:r>
              <a:rPr lang="en-US" sz="1500" dirty="0">
                <a:solidFill>
                  <a:schemeClr val="tx1"/>
                </a:solidFill>
              </a:rPr>
              <a:t>Combined CSA and AEO MSA</a:t>
            </a:r>
            <a:endParaRPr lang="en-US" sz="1500" dirty="0"/>
          </a:p>
        </p:txBody>
      </p:sp>
      <p:sp>
        <p:nvSpPr>
          <p:cNvPr id="19" name="Text 17"/>
          <p:cNvSpPr txBox="1"/>
          <p:nvPr/>
        </p:nvSpPr>
        <p:spPr>
          <a:xfrm>
            <a:off x="8275320" y="4754880"/>
            <a:ext cx="3108960" cy="274320"/>
          </a:xfrm>
          <a:prstGeom prst="rect">
            <a:avLst/>
          </a:prstGeom>
          <a:noFill/>
          <a:ln/>
        </p:spPr>
        <p:txBody>
          <a:bodyPr wrap="square" lIns="0" tIns="0" rIns="0" bIns="0" rtlCol="0" anchor="t"/>
          <a:lstStyle/>
          <a:p>
            <a:pPr indent="0" marL="0">
              <a:buNone/>
            </a:pPr>
            <a:r>
              <a:rPr lang="en-US" sz="1200" b="1" dirty="0">
                <a:solidFill>
                  <a:schemeClr val="accent4"/>
                </a:solidFill>
              </a:rPr>
              <a:t>After both pilots</a:t>
            </a:r>
            <a:endParaRPr lang="en-US" sz="1200" dirty="0"/>
          </a:p>
        </p:txBody>
      </p:sp>
      <p:sp>
        <p:nvSpPr>
          <p:cNvPr id="20" name="Foundation"/>
          <p:cNvSpPr/>
          <p:nvPr/>
        </p:nvSpPr>
        <p:spPr>
          <a:xfrm>
            <a:off x="548640" y="5349240"/>
            <a:ext cx="11064240" cy="548640"/>
          </a:xfrm>
          <a:prstGeom prst="roundRect">
            <a:avLst>
              <a:gd name="adj" fmla="val 16667"/>
            </a:avLst>
          </a:prstGeom>
          <a:solidFill>
            <a:schemeClr val="bg2"/>
          </a:solidFill>
          <a:ln/>
        </p:spPr>
      </p:sp>
      <p:sp>
        <p:nvSpPr>
          <p:cNvPr id="21" name="Text 19"/>
          <p:cNvSpPr txBox="1"/>
          <p:nvPr/>
        </p:nvSpPr>
        <p:spPr>
          <a:xfrm>
            <a:off x="548640" y="5349240"/>
            <a:ext cx="11064240" cy="548640"/>
          </a:xfrm>
          <a:prstGeom prst="rect">
            <a:avLst/>
          </a:prstGeom>
          <a:noFill/>
          <a:ln/>
        </p:spPr>
        <p:txBody>
          <a:bodyPr wrap="square" lIns="0" tIns="0" rIns="0" bIns="0" rtlCol="0" anchor="ctr"/>
          <a:lstStyle/>
          <a:p>
            <a:pPr algn="ctr" indent="0" marL="0">
              <a:buNone/>
            </a:pPr>
            <a:r>
              <a:rPr lang="en-US" sz="1500" dirty="0">
                <a:solidFill>
                  <a:schemeClr val="tx2"/>
                </a:solidFill>
              </a:rPr>
              <a:t>Foundation: payroll, pooled benefits, compliance, and the Keel's classification baseline</a:t>
            </a:r>
            <a:endParaRPr 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How the projections are built</a:t>
            </a:r>
            <a:endParaRPr lang="en-US" sz="3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2651760"/>
                <a:gridCol w="960120"/>
                <a:gridCol w="960120"/>
                <a:gridCol w="960120"/>
                <a:gridCol w="960120"/>
                <a:gridCol w="960120"/>
                <a:gridCol w="3611880"/>
              </a:tblGrid>
              <a:tr h="50292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Driver</a:t>
                      </a:r>
                      <a:endParaRPr lang="en-US" sz="1300" dirty="0">
                        <a:latin typeface="Calibri" charset="0"/>
                        <a:ea typeface="Calibri" charset="0"/>
                        <a:cs typeface="Calibri" charset="0"/>
                      </a:endParaRPr>
                    </a:p>
                  </a:txBody>
                  <a:tcPr marL="91440" marR="91440" marT="45720" marB="45720" anchor="ctr">
                    <a:lnL w="9525" cap="flat" cmpd="sng" algn="ctr">
                      <a:solidFill>
                        <a:srgbClr val="DCE3DC"/>
                      </a:solidFill>
                      <a:prstDash val="solid"/>
                      <a:round/>
                      <a:headEnd type="none" w="med" len="med"/>
                      <a:tailEnd type="none" w="med" len="med"/>
                    </a:lnL>
                    <a:lnR w="9525" cap="flat" cmpd="sng" algn="ctr">
                      <a:solidFill>
                        <a:srgbClr val="DCE3DC"/>
                      </a:solidFill>
                      <a:prstDash val="solid"/>
                      <a:round/>
                      <a:headEnd type="none" w="med" len="med"/>
                      <a:tailEnd type="none" w="med" len="med"/>
                    </a:lnR>
                    <a:lnT w="9525" cap="flat" cmpd="sng" algn="ctr">
                      <a:solidFill>
                        <a:srgbClr val="DCE3DC"/>
                      </a:solidFill>
                      <a:prstDash val="solid"/>
                      <a:round/>
                      <a:headEnd type="none" w="med" len="med"/>
                      <a:tailEnd type="none" w="med" len="med"/>
                    </a:lnT>
                    <a:lnB w="9525" cap="flat" cmpd="sng" algn="ctr">
                      <a:solidFill>
                        <a:srgbClr val="DCE3DC"/>
                      </a:solidFill>
                      <a:prstDash val="solid"/>
                      <a:round/>
                      <a:headEnd type="none" w="med" len="med"/>
                      <a:tailEnd type="none" w="med" len="med"/>
                    </a:lnB>
                    <a:solidFill>
                      <a:srgbClr val="1B2E2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Year 1</a:t>
                      </a:r>
                      <a:endParaRPr lang="en-US" sz="1300" dirty="0">
                        <a:latin typeface="Calibri" charset="0"/>
                        <a:ea typeface="Calibri" charset="0"/>
                        <a:cs typeface="Calibri" charset="0"/>
                      </a:endParaRPr>
                    </a:p>
                  </a:txBody>
                  <a:tcPr marL="91440" marR="91440" marT="45720" marB="45720" anchor="ctr">
                    <a:lnL w="9525" cap="flat" cmpd="sng" algn="ctr">
                      <a:solidFill>
                        <a:srgbClr val="DCE3DC"/>
                      </a:solidFill>
                      <a:prstDash val="solid"/>
                      <a:round/>
                      <a:headEnd type="none" w="med" len="med"/>
                      <a:tailEnd type="none" w="med" len="med"/>
                    </a:lnL>
                    <a:lnR w="9525" cap="flat" cmpd="sng" algn="ctr">
                      <a:solidFill>
                        <a:srgbClr val="DCE3DC"/>
                      </a:solidFill>
                      <a:prstDash val="solid"/>
                      <a:round/>
                      <a:headEnd type="none" w="med" len="med"/>
                      <a:tailEnd type="none" w="med" len="med"/>
                    </a:lnR>
                    <a:lnT w="9525" cap="flat" cmpd="sng" algn="ctr">
                      <a:solidFill>
                        <a:srgbClr val="DCE3DC"/>
                      </a:solidFill>
                      <a:prstDash val="solid"/>
                      <a:round/>
                      <a:headEnd type="none" w="med" len="med"/>
                      <a:tailEnd type="none" w="med" len="med"/>
                    </a:lnT>
                    <a:lnB w="9525" cap="flat" cmpd="sng" algn="ctr">
                      <a:solidFill>
                        <a:srgbClr val="DCE3DC"/>
                      </a:solidFill>
                      <a:prstDash val="solid"/>
                      <a:round/>
                      <a:headEnd type="none" w="med" len="med"/>
                      <a:tailEnd type="none" w="med" len="med"/>
                    </a:lnB>
                    <a:solidFill>
                      <a:srgbClr val="1B2E2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Year 2</a:t>
                      </a:r>
                      <a:endParaRPr lang="en-US" sz="1300" dirty="0">
                        <a:latin typeface="Calibri" charset="0"/>
                        <a:ea typeface="Calibri" charset="0"/>
                        <a:cs typeface="Calibri" charset="0"/>
                      </a:endParaRPr>
                    </a:p>
                  </a:txBody>
                  <a:tcPr marL="91440" marR="91440" marT="45720" marB="45720" anchor="ctr">
                    <a:lnL w="9525" cap="flat" cmpd="sng" algn="ctr">
                      <a:solidFill>
                        <a:srgbClr val="DCE3DC"/>
                      </a:solidFill>
                      <a:prstDash val="solid"/>
                      <a:round/>
                      <a:headEnd type="none" w="med" len="med"/>
                      <a:tailEnd type="none" w="med" len="med"/>
                    </a:lnL>
                    <a:lnR w="9525" cap="flat" cmpd="sng" algn="ctr">
                      <a:solidFill>
                        <a:srgbClr val="DCE3DC"/>
                      </a:solidFill>
                      <a:prstDash val="solid"/>
                      <a:round/>
                      <a:headEnd type="none" w="med" len="med"/>
                      <a:tailEnd type="none" w="med" len="med"/>
                    </a:lnR>
                    <a:lnT w="9525" cap="flat" cmpd="sng" algn="ctr">
                      <a:solidFill>
                        <a:srgbClr val="DCE3DC"/>
                      </a:solidFill>
                      <a:prstDash val="solid"/>
                      <a:round/>
                      <a:headEnd type="none" w="med" len="med"/>
                      <a:tailEnd type="none" w="med" len="med"/>
                    </a:lnT>
                    <a:lnB w="9525" cap="flat" cmpd="sng" algn="ctr">
                      <a:solidFill>
                        <a:srgbClr val="DCE3DC"/>
                      </a:solidFill>
                      <a:prstDash val="solid"/>
                      <a:round/>
                      <a:headEnd type="none" w="med" len="med"/>
                      <a:tailEnd type="none" w="med" len="med"/>
                    </a:lnB>
                    <a:solidFill>
                      <a:srgbClr val="1B2E2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Year 3</a:t>
                      </a:r>
                      <a:endParaRPr lang="en-US" sz="1300" dirty="0">
                        <a:latin typeface="Calibri" charset="0"/>
                        <a:ea typeface="Calibri" charset="0"/>
                        <a:cs typeface="Calibri" charset="0"/>
                      </a:endParaRPr>
                    </a:p>
                  </a:txBody>
                  <a:tcPr marL="91440" marR="91440" marT="45720" marB="45720" anchor="ctr">
                    <a:lnL w="9525" cap="flat" cmpd="sng" algn="ctr">
                      <a:solidFill>
                        <a:srgbClr val="DCE3DC"/>
                      </a:solidFill>
                      <a:prstDash val="solid"/>
                      <a:round/>
                      <a:headEnd type="none" w="med" len="med"/>
                      <a:tailEnd type="none" w="med" len="med"/>
                    </a:lnL>
                    <a:lnR w="9525" cap="flat" cmpd="sng" algn="ctr">
                      <a:solidFill>
                        <a:srgbClr val="DCE3DC"/>
                      </a:solidFill>
                      <a:prstDash val="solid"/>
                      <a:round/>
                      <a:headEnd type="none" w="med" len="med"/>
                      <a:tailEnd type="none" w="med" len="med"/>
                    </a:lnR>
                    <a:lnT w="9525" cap="flat" cmpd="sng" algn="ctr">
                      <a:solidFill>
                        <a:srgbClr val="DCE3DC"/>
                      </a:solidFill>
                      <a:prstDash val="solid"/>
                      <a:round/>
                      <a:headEnd type="none" w="med" len="med"/>
                      <a:tailEnd type="none" w="med" len="med"/>
                    </a:lnT>
                    <a:lnB w="9525" cap="flat" cmpd="sng" algn="ctr">
                      <a:solidFill>
                        <a:srgbClr val="DCE3DC"/>
                      </a:solidFill>
                      <a:prstDash val="solid"/>
                      <a:round/>
                      <a:headEnd type="none" w="med" len="med"/>
                      <a:tailEnd type="none" w="med" len="med"/>
                    </a:lnB>
                    <a:solidFill>
                      <a:srgbClr val="1B2E2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Year 4</a:t>
                      </a:r>
                      <a:endParaRPr lang="en-US" sz="1300" dirty="0">
                        <a:latin typeface="Calibri" charset="0"/>
                        <a:ea typeface="Calibri" charset="0"/>
                        <a:cs typeface="Calibri" charset="0"/>
                      </a:endParaRPr>
                    </a:p>
                  </a:txBody>
                  <a:tcPr marL="91440" marR="91440" marT="45720" marB="45720" anchor="ctr">
                    <a:lnL w="9525" cap="flat" cmpd="sng" algn="ctr">
                      <a:solidFill>
                        <a:srgbClr val="DCE3DC"/>
                      </a:solidFill>
                      <a:prstDash val="solid"/>
                      <a:round/>
                      <a:headEnd type="none" w="med" len="med"/>
                      <a:tailEnd type="none" w="med" len="med"/>
                    </a:lnL>
                    <a:lnR w="9525" cap="flat" cmpd="sng" algn="ctr">
                      <a:solidFill>
                        <a:srgbClr val="DCE3DC"/>
                      </a:solidFill>
                      <a:prstDash val="solid"/>
                      <a:round/>
                      <a:headEnd type="none" w="med" len="med"/>
                      <a:tailEnd type="none" w="med" len="med"/>
                    </a:lnR>
                    <a:lnT w="9525" cap="flat" cmpd="sng" algn="ctr">
                      <a:solidFill>
                        <a:srgbClr val="DCE3DC"/>
                      </a:solidFill>
                      <a:prstDash val="solid"/>
                      <a:round/>
                      <a:headEnd type="none" w="med" len="med"/>
                      <a:tailEnd type="none" w="med" len="med"/>
                    </a:lnT>
                    <a:lnB w="9525" cap="flat" cmpd="sng" algn="ctr">
                      <a:solidFill>
                        <a:srgbClr val="DCE3DC"/>
                      </a:solidFill>
                      <a:prstDash val="solid"/>
                      <a:round/>
                      <a:headEnd type="none" w="med" len="med"/>
                      <a:tailEnd type="none" w="med" len="med"/>
                    </a:lnB>
                    <a:solidFill>
                      <a:srgbClr val="1B2E2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Year 5</a:t>
                      </a:r>
                      <a:endParaRPr lang="en-US" sz="1300" dirty="0">
                        <a:latin typeface="Calibri" charset="0"/>
                        <a:ea typeface="Calibri" charset="0"/>
                        <a:cs typeface="Calibri" charset="0"/>
                      </a:endParaRPr>
                    </a:p>
                  </a:txBody>
                  <a:tcPr marL="91440" marR="91440" marT="45720" marB="45720" anchor="ctr">
                    <a:lnL w="9525" cap="flat" cmpd="sng" algn="ctr">
                      <a:solidFill>
                        <a:srgbClr val="DCE3DC"/>
                      </a:solidFill>
                      <a:prstDash val="solid"/>
                      <a:round/>
                      <a:headEnd type="none" w="med" len="med"/>
                      <a:tailEnd type="none" w="med" len="med"/>
                    </a:lnL>
                    <a:lnR w="9525" cap="flat" cmpd="sng" algn="ctr">
                      <a:solidFill>
                        <a:srgbClr val="DCE3DC"/>
                      </a:solidFill>
                      <a:prstDash val="solid"/>
                      <a:round/>
                      <a:headEnd type="none" w="med" len="med"/>
                      <a:tailEnd type="none" w="med" len="med"/>
                    </a:lnR>
                    <a:lnT w="9525" cap="flat" cmpd="sng" algn="ctr">
                      <a:solidFill>
                        <a:srgbClr val="DCE3DC"/>
                      </a:solidFill>
                      <a:prstDash val="solid"/>
                      <a:round/>
                      <a:headEnd type="none" w="med" len="med"/>
                      <a:tailEnd type="none" w="med" len="med"/>
                    </a:lnT>
                    <a:lnB w="9525" cap="flat" cmpd="sng" algn="ctr">
                      <a:solidFill>
                        <a:srgbClr val="DCE3DC"/>
                      </a:solidFill>
                      <a:prstDash val="solid"/>
                      <a:round/>
                      <a:headEnd type="none" w="med" len="med"/>
                      <a:tailEnd type="none" w="med" len="med"/>
                    </a:lnB>
                    <a:solidFill>
                      <a:srgbClr val="1B2E2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Basis</a:t>
                      </a:r>
                      <a:endParaRPr lang="en-US" sz="1300" dirty="0">
                        <a:latin typeface="Calibri" charset="0"/>
                        <a:ea typeface="Calibri" charset="0"/>
                        <a:cs typeface="Calibri" charset="0"/>
                      </a:endParaRPr>
                    </a:p>
                  </a:txBody>
                  <a:tcPr marL="91440" marR="91440" marT="45720" marB="45720" anchor="ctr">
                    <a:lnL w="9525" cap="flat" cmpd="sng" algn="ctr">
                      <a:solidFill>
                        <a:srgbClr val="DCE3DC"/>
                      </a:solidFill>
                      <a:prstDash val="solid"/>
                      <a:round/>
                      <a:headEnd type="none" w="med" len="med"/>
                      <a:tailEnd type="none" w="med" len="med"/>
                    </a:lnL>
                    <a:lnR w="9525" cap="flat" cmpd="sng" algn="ctr">
                      <a:solidFill>
                        <a:srgbClr val="DCE3DC"/>
                      </a:solidFill>
                      <a:prstDash val="solid"/>
                      <a:round/>
                      <a:headEnd type="none" w="med" len="med"/>
                      <a:tailEnd type="none" w="med" len="med"/>
                    </a:lnR>
                    <a:lnT w="9525" cap="flat" cmpd="sng" algn="ctr">
                      <a:solidFill>
                        <a:srgbClr val="DCE3DC"/>
                      </a:solidFill>
                      <a:prstDash val="solid"/>
                      <a:round/>
                      <a:headEnd type="none" w="med" len="med"/>
                      <a:tailEnd type="none" w="med" len="med"/>
                    </a:lnT>
                    <a:lnB w="9525" cap="flat" cmpd="sng" algn="ctr">
                      <a:solidFill>
                        <a:srgbClr val="DCE3DC"/>
                      </a:solidFill>
                      <a:prstDash val="solid"/>
                      <a:round/>
                      <a:headEnd type="none" w="med" len="med"/>
                      <a:tailEnd type="none" w="med" len="med"/>
                    </a:lnB>
                    <a:solidFill>
                      <a:srgbClr val="1B2E2A"/>
                    </a:solidFill>
                  </a:tcPr>
                </a:tc>
              </a:tr>
              <a:tr h="502920">
                <a:tc>
                  <a:txBody>
                    <a:bodyPr/>
                    <a:lstStyle/>
                    <a:p>
                      <a:pPr indent="0" marL="0">
                        <a:buNone/>
                      </a:pPr>
                      <a:r>
                        <a:rPr lang="en-US" sz="1300" b="1" dirty="0">
                          <a:solidFill>
                            <a:srgbClr val="1F2A26"/>
                          </a:solidFill>
                          <a:latin typeface="Calibri" pitchFamily="34" charset="0"/>
                          <a:ea typeface="Calibri" pitchFamily="34" charset="-122"/>
                          <a:cs typeface="Calibri" pitchFamily="34" charset="-120"/>
                        </a:rPr>
                        <a:t>Employees on Living Capital (avg)</a:t>
                      </a:r>
                      <a:endParaRPr lang="en-US" sz="1300" dirty="0">
                        <a:latin typeface="Calibri" charset="0"/>
                        <a:ea typeface="Calibri" charset="0"/>
                        <a:cs typeface="Calibri" charset="0"/>
                      </a:endParaRPr>
                    </a:p>
                  </a:txBody>
                  <a:tcPr marL="91440" marR="91440" marT="45720" marB="45720" anchor="ctr">
                    <a:lnL w="9525" cap="flat" cmpd="sng" algn="ctr">
                      <a:solidFill>
                        <a:srgbClr val="DCE3DC"/>
                      </a:solidFill>
                      <a:prstDash val="solid"/>
                      <a:round/>
                      <a:headEnd type="none" w="med" len="med"/>
                      <a:tailEnd type="none" w="med" len="med"/>
                    </a:lnL>
                    <a:lnR w="9525" cap="flat" cmpd="sng" algn="ctr">
                      <a:solidFill>
                        <a:srgbClr val="DCE3DC"/>
                      </a:solidFill>
                      <a:prstDash val="solid"/>
                      <a:round/>
                      <a:headEnd type="none" w="med" len="med"/>
                      <a:tailEnd type="none" w="med" len="med"/>
                    </a:lnR>
                    <a:lnT w="9525" cap="flat" cmpd="sng" algn="ctr">
                      <a:solidFill>
                        <a:srgbClr val="DCE3DC"/>
                      </a:solidFill>
                      <a:prstDash val="solid"/>
                      <a:round/>
                      <a:headEnd type="none" w="med" len="med"/>
                      <a:tailEnd type="none" w="med" len="med"/>
                    </a:lnT>
                    <a:lnB w="9525" cap="flat" cmpd="sng" algn="ctr">
                      <a:solidFill>
                        <a:srgbClr val="DCE3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F2A26"/>
                          </a:solidFill>
                          <a:latin typeface="Calibri" pitchFamily="34" charset="0"/>
                          <a:ea typeface="Calibri" pitchFamily="34" charset="-122"/>
                          <a:cs typeface="Calibri" pitchFamily="34" charset="-120"/>
                        </a:rPr>
                        <a:t>2,000</a:t>
                      </a:r>
                      <a:endParaRPr lang="en-US" sz="1300" dirty="0">
                        <a:latin typeface="Calibri" charset="0"/>
                        <a:ea typeface="Calibri" charset="0"/>
                        <a:cs typeface="Calibri" charset="0"/>
                      </a:endParaRPr>
                    </a:p>
                  </a:txBody>
                  <a:tcPr marL="91440" marR="91440" marT="45720" marB="45720" anchor="ctr">
                    <a:lnL w="9525" cap="flat" cmpd="sng" algn="ctr">
                      <a:solidFill>
                        <a:srgbClr val="DCE3DC"/>
                      </a:solidFill>
                      <a:prstDash val="solid"/>
                      <a:round/>
                      <a:headEnd type="none" w="med" len="med"/>
                      <a:tailEnd type="none" w="med" len="med"/>
                    </a:lnL>
                    <a:lnR w="9525" cap="flat" cmpd="sng" algn="ctr">
                      <a:solidFill>
                        <a:srgbClr val="DCE3DC"/>
                      </a:solidFill>
                      <a:prstDash val="solid"/>
                      <a:round/>
                      <a:headEnd type="none" w="med" len="med"/>
                      <a:tailEnd type="none" w="med" len="med"/>
                    </a:lnR>
                    <a:lnT w="9525" cap="flat" cmpd="sng" algn="ctr">
                      <a:solidFill>
                        <a:srgbClr val="DCE3DC"/>
                      </a:solidFill>
                      <a:prstDash val="solid"/>
                      <a:round/>
                      <a:headEnd type="none" w="med" len="med"/>
                      <a:tailEnd type="none" w="med" len="med"/>
                    </a:lnT>
                    <a:lnB w="9525" cap="flat" cmpd="sng" algn="ctr">
                      <a:solidFill>
                        <a:srgbClr val="DCE3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F2A26"/>
                          </a:solidFill>
                          <a:latin typeface="Calibri" pitchFamily="34" charset="0"/>
                          <a:ea typeface="Calibri" pitchFamily="34" charset="-122"/>
                          <a:cs typeface="Calibri" pitchFamily="34" charset="-120"/>
                        </a:rPr>
                        <a:t>15,000</a:t>
                      </a:r>
                      <a:endParaRPr lang="en-US" sz="1300" dirty="0">
                        <a:latin typeface="Calibri" charset="0"/>
                        <a:ea typeface="Calibri" charset="0"/>
                        <a:cs typeface="Calibri" charset="0"/>
                      </a:endParaRPr>
                    </a:p>
                  </a:txBody>
                  <a:tcPr marL="91440" marR="91440" marT="45720" marB="45720" anchor="ctr">
                    <a:lnL w="9525" cap="flat" cmpd="sng" algn="ctr">
                      <a:solidFill>
                        <a:srgbClr val="DCE3DC"/>
                      </a:solidFill>
                      <a:prstDash val="solid"/>
                      <a:round/>
                      <a:headEnd type="none" w="med" len="med"/>
                      <a:tailEnd type="none" w="med" len="med"/>
                    </a:lnL>
                    <a:lnR w="9525" cap="flat" cmpd="sng" algn="ctr">
                      <a:solidFill>
                        <a:srgbClr val="DCE3DC"/>
                      </a:solidFill>
                      <a:prstDash val="solid"/>
                      <a:round/>
                      <a:headEnd type="none" w="med" len="med"/>
                      <a:tailEnd type="none" w="med" len="med"/>
                    </a:lnR>
                    <a:lnT w="9525" cap="flat" cmpd="sng" algn="ctr">
                      <a:solidFill>
                        <a:srgbClr val="DCE3DC"/>
                      </a:solidFill>
                      <a:prstDash val="solid"/>
                      <a:round/>
                      <a:headEnd type="none" w="med" len="med"/>
                      <a:tailEnd type="none" w="med" len="med"/>
                    </a:lnT>
                    <a:lnB w="9525" cap="flat" cmpd="sng" algn="ctr">
                      <a:solidFill>
                        <a:srgbClr val="DCE3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F2A26"/>
                          </a:solidFill>
                          <a:latin typeface="Calibri" pitchFamily="34" charset="0"/>
                          <a:ea typeface="Calibri" pitchFamily="34" charset="-122"/>
                          <a:cs typeface="Calibri" pitchFamily="34" charset="-120"/>
                        </a:rPr>
                        <a:t>40,000</a:t>
                      </a:r>
                      <a:endParaRPr lang="en-US" sz="1300" dirty="0">
                        <a:latin typeface="Calibri" charset="0"/>
                        <a:ea typeface="Calibri" charset="0"/>
                        <a:cs typeface="Calibri" charset="0"/>
                      </a:endParaRPr>
                    </a:p>
                  </a:txBody>
                  <a:tcPr marL="91440" marR="91440" marT="45720" marB="45720" anchor="ctr">
                    <a:lnL w="9525" cap="flat" cmpd="sng" algn="ctr">
                      <a:solidFill>
                        <a:srgbClr val="DCE3DC"/>
                      </a:solidFill>
                      <a:prstDash val="solid"/>
                      <a:round/>
                      <a:headEnd type="none" w="med" len="med"/>
                      <a:tailEnd type="none" w="med" len="med"/>
                    </a:lnL>
                    <a:lnR w="9525" cap="flat" cmpd="sng" algn="ctr">
                      <a:solidFill>
                        <a:srgbClr val="DCE3DC"/>
                      </a:solidFill>
                      <a:prstDash val="solid"/>
                      <a:round/>
                      <a:headEnd type="none" w="med" len="med"/>
                      <a:tailEnd type="none" w="med" len="med"/>
                    </a:lnR>
                    <a:lnT w="9525" cap="flat" cmpd="sng" algn="ctr">
                      <a:solidFill>
                        <a:srgbClr val="DCE3DC"/>
                      </a:solidFill>
                      <a:prstDash val="solid"/>
                      <a:round/>
                      <a:headEnd type="none" w="med" len="med"/>
                      <a:tailEnd type="none" w="med" len="med"/>
                    </a:lnT>
                    <a:lnB w="9525" cap="flat" cmpd="sng" algn="ctr">
                      <a:solidFill>
                        <a:srgbClr val="DCE3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F2A26"/>
                          </a:solidFill>
                          <a:latin typeface="Calibri" pitchFamily="34" charset="0"/>
                          <a:ea typeface="Calibri" pitchFamily="34" charset="-122"/>
                          <a:cs typeface="Calibri" pitchFamily="34" charset="-120"/>
                        </a:rPr>
                        <a:t>70,000</a:t>
                      </a:r>
                      <a:endParaRPr lang="en-US" sz="1300" dirty="0">
                        <a:latin typeface="Calibri" charset="0"/>
                        <a:ea typeface="Calibri" charset="0"/>
                        <a:cs typeface="Calibri" charset="0"/>
                      </a:endParaRPr>
                    </a:p>
                  </a:txBody>
                  <a:tcPr marL="91440" marR="91440" marT="45720" marB="45720" anchor="ctr">
                    <a:lnL w="9525" cap="flat" cmpd="sng" algn="ctr">
                      <a:solidFill>
                        <a:srgbClr val="DCE3DC"/>
                      </a:solidFill>
                      <a:prstDash val="solid"/>
                      <a:round/>
                      <a:headEnd type="none" w="med" len="med"/>
                      <a:tailEnd type="none" w="med" len="med"/>
                    </a:lnL>
                    <a:lnR w="9525" cap="flat" cmpd="sng" algn="ctr">
                      <a:solidFill>
                        <a:srgbClr val="DCE3DC"/>
                      </a:solidFill>
                      <a:prstDash val="solid"/>
                      <a:round/>
                      <a:headEnd type="none" w="med" len="med"/>
                      <a:tailEnd type="none" w="med" len="med"/>
                    </a:lnR>
                    <a:lnT w="9525" cap="flat" cmpd="sng" algn="ctr">
                      <a:solidFill>
                        <a:srgbClr val="DCE3DC"/>
                      </a:solidFill>
                      <a:prstDash val="solid"/>
                      <a:round/>
                      <a:headEnd type="none" w="med" len="med"/>
                      <a:tailEnd type="none" w="med" len="med"/>
                    </a:lnT>
                    <a:lnB w="9525" cap="flat" cmpd="sng" algn="ctr">
                      <a:solidFill>
                        <a:srgbClr val="DCE3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F2A26"/>
                          </a:solidFill>
                          <a:latin typeface="Calibri" pitchFamily="34" charset="0"/>
                          <a:ea typeface="Calibri" pitchFamily="34" charset="-122"/>
                          <a:cs typeface="Calibri" pitchFamily="34" charset="-120"/>
                        </a:rPr>
                        <a:t>100,000</a:t>
                      </a:r>
                      <a:endParaRPr lang="en-US" sz="1300" dirty="0">
                        <a:latin typeface="Calibri" charset="0"/>
                        <a:ea typeface="Calibri" charset="0"/>
                        <a:cs typeface="Calibri" charset="0"/>
                      </a:endParaRPr>
                    </a:p>
                  </a:txBody>
                  <a:tcPr marL="91440" marR="91440" marT="45720" marB="45720" anchor="ctr">
                    <a:lnL w="9525" cap="flat" cmpd="sng" algn="ctr">
                      <a:solidFill>
                        <a:srgbClr val="DCE3DC"/>
                      </a:solidFill>
                      <a:prstDash val="solid"/>
                      <a:round/>
                      <a:headEnd type="none" w="med" len="med"/>
                      <a:tailEnd type="none" w="med" len="med"/>
                    </a:lnL>
                    <a:lnR w="9525" cap="flat" cmpd="sng" algn="ctr">
                      <a:solidFill>
                        <a:srgbClr val="DCE3DC"/>
                      </a:solidFill>
                      <a:prstDash val="solid"/>
                      <a:round/>
                      <a:headEnd type="none" w="med" len="med"/>
                      <a:tailEnd type="none" w="med" len="med"/>
                    </a:lnR>
                    <a:lnT w="9525" cap="flat" cmpd="sng" algn="ctr">
                      <a:solidFill>
                        <a:srgbClr val="DCE3DC"/>
                      </a:solidFill>
                      <a:prstDash val="solid"/>
                      <a:round/>
                      <a:headEnd type="none" w="med" len="med"/>
                      <a:tailEnd type="none" w="med" len="med"/>
                    </a:lnT>
                    <a:lnB w="9525" cap="flat" cmpd="sng" algn="ctr">
                      <a:solidFill>
                        <a:srgbClr val="DCE3DC"/>
                      </a:solidFill>
                      <a:prstDash val="solid"/>
                      <a:round/>
                      <a:headEnd type="none" w="med" len="med"/>
                      <a:tailEnd type="none" w="med" len="med"/>
                    </a:lnB>
                    <a:solidFill>
                      <a:srgbClr val="FFFFFF"/>
                    </a:solidFill>
                  </a:tcPr>
                </a:tc>
                <a:tc>
                  <a:txBody>
                    <a:bodyPr/>
                    <a:lstStyle/>
                    <a:p>
                      <a:pPr indent="0" marL="0">
                        <a:buNone/>
                      </a:pPr>
                      <a:r>
                        <a:rPr lang="en-US" sz="1200" dirty="0">
                          <a:solidFill>
                            <a:srgbClr val="5A6763"/>
                          </a:solidFill>
                          <a:latin typeface="Calibri" pitchFamily="34" charset="0"/>
                          <a:ea typeface="Calibri" pitchFamily="34" charset="-122"/>
                          <a:cs typeface="Calibri" pitchFamily="34" charset="-120"/>
                        </a:rPr>
                        <a:t>Year 1 = 20–30 pilot clients; year 5 ≈ one-third of today's base</a:t>
                      </a:r>
                      <a:endParaRPr lang="en-US" sz="1200" dirty="0">
                        <a:latin typeface="Calibri" charset="0"/>
                        <a:ea typeface="Calibri" charset="0"/>
                        <a:cs typeface="Calibri" charset="0"/>
                      </a:endParaRPr>
                    </a:p>
                  </a:txBody>
                  <a:tcPr marL="91440" marR="91440" marT="45720" marB="45720" anchor="ctr">
                    <a:lnL w="9525" cap="flat" cmpd="sng" algn="ctr">
                      <a:solidFill>
                        <a:srgbClr val="DCE3DC"/>
                      </a:solidFill>
                      <a:prstDash val="solid"/>
                      <a:round/>
                      <a:headEnd type="none" w="med" len="med"/>
                      <a:tailEnd type="none" w="med" len="med"/>
                    </a:lnL>
                    <a:lnR w="9525" cap="flat" cmpd="sng" algn="ctr">
                      <a:solidFill>
                        <a:srgbClr val="DCE3DC"/>
                      </a:solidFill>
                      <a:prstDash val="solid"/>
                      <a:round/>
                      <a:headEnd type="none" w="med" len="med"/>
                      <a:tailEnd type="none" w="med" len="med"/>
                    </a:lnR>
                    <a:lnT w="9525" cap="flat" cmpd="sng" algn="ctr">
                      <a:solidFill>
                        <a:srgbClr val="DCE3DC"/>
                      </a:solidFill>
                      <a:prstDash val="solid"/>
                      <a:round/>
                      <a:headEnd type="none" w="med" len="med"/>
                      <a:tailEnd type="none" w="med" len="med"/>
                    </a:lnT>
                    <a:lnB w="9525" cap="flat" cmpd="sng" algn="ctr">
                      <a:solidFill>
                        <a:srgbClr val="DCE3DC"/>
                      </a:solidFill>
                      <a:prstDash val="solid"/>
                      <a:round/>
                      <a:headEnd type="none" w="med" len="med"/>
                      <a:tailEnd type="none" w="med" len="med"/>
                    </a:lnB>
                    <a:solidFill>
                      <a:srgbClr val="FFFFFF"/>
                    </a:solidFill>
                  </a:tcPr>
                </a:tc>
              </a:tr>
              <a:tr h="502920">
                <a:tc>
                  <a:txBody>
                    <a:bodyPr/>
                    <a:lstStyle/>
                    <a:p>
                      <a:pPr indent="0" marL="0">
                        <a:buNone/>
                      </a:pPr>
                      <a:r>
                        <a:rPr lang="en-US" sz="1300" b="1" dirty="0">
                          <a:solidFill>
                            <a:srgbClr val="1F2A26"/>
                          </a:solidFill>
                          <a:latin typeface="Calibri" pitchFamily="34" charset="0"/>
                          <a:ea typeface="Calibri" pitchFamily="34" charset="-122"/>
                          <a:cs typeface="Calibri" pitchFamily="34" charset="-120"/>
                        </a:rPr>
                        <a:t>Living Capital fee ($ PEPM, added)</a:t>
                      </a:r>
                      <a:endParaRPr lang="en-US" sz="1300" dirty="0">
                        <a:latin typeface="Calibri" charset="0"/>
                        <a:ea typeface="Calibri" charset="0"/>
                        <a:cs typeface="Calibri" charset="0"/>
                      </a:endParaRPr>
                    </a:p>
                  </a:txBody>
                  <a:tcPr marL="91440" marR="91440" marT="45720" marB="45720" anchor="ctr">
                    <a:lnL w="9525" cap="flat" cmpd="sng" algn="ctr">
                      <a:solidFill>
                        <a:srgbClr val="DCE3DC"/>
                      </a:solidFill>
                      <a:prstDash val="solid"/>
                      <a:round/>
                      <a:headEnd type="none" w="med" len="med"/>
                      <a:tailEnd type="none" w="med" len="med"/>
                    </a:lnL>
                    <a:lnR w="9525" cap="flat" cmpd="sng" algn="ctr">
                      <a:solidFill>
                        <a:srgbClr val="DCE3DC"/>
                      </a:solidFill>
                      <a:prstDash val="solid"/>
                      <a:round/>
                      <a:headEnd type="none" w="med" len="med"/>
                      <a:tailEnd type="none" w="med" len="med"/>
                    </a:lnR>
                    <a:lnT w="9525" cap="flat" cmpd="sng" algn="ctr">
                      <a:solidFill>
                        <a:srgbClr val="DCE3DC"/>
                      </a:solidFill>
                      <a:prstDash val="solid"/>
                      <a:round/>
                      <a:headEnd type="none" w="med" len="med"/>
                      <a:tailEnd type="none" w="med" len="med"/>
                    </a:lnT>
                    <a:lnB w="9525" cap="flat" cmpd="sng" algn="ctr">
                      <a:solidFill>
                        <a:srgbClr val="DCE3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F2A26"/>
                          </a:solidFill>
                          <a:latin typeface="Calibri" pitchFamily="34" charset="0"/>
                          <a:ea typeface="Calibri" pitchFamily="34" charset="-122"/>
                          <a:cs typeface="Calibri" pitchFamily="34" charset="-120"/>
                        </a:rPr>
                        <a:t>$35</a:t>
                      </a:r>
                      <a:endParaRPr lang="en-US" sz="1300" dirty="0">
                        <a:latin typeface="Calibri" charset="0"/>
                        <a:ea typeface="Calibri" charset="0"/>
                        <a:cs typeface="Calibri" charset="0"/>
                      </a:endParaRPr>
                    </a:p>
                  </a:txBody>
                  <a:tcPr marL="91440" marR="91440" marT="45720" marB="45720" anchor="ctr">
                    <a:lnL w="9525" cap="flat" cmpd="sng" algn="ctr">
                      <a:solidFill>
                        <a:srgbClr val="DCE3DC"/>
                      </a:solidFill>
                      <a:prstDash val="solid"/>
                      <a:round/>
                      <a:headEnd type="none" w="med" len="med"/>
                      <a:tailEnd type="none" w="med" len="med"/>
                    </a:lnL>
                    <a:lnR w="9525" cap="flat" cmpd="sng" algn="ctr">
                      <a:solidFill>
                        <a:srgbClr val="DCE3DC"/>
                      </a:solidFill>
                      <a:prstDash val="solid"/>
                      <a:round/>
                      <a:headEnd type="none" w="med" len="med"/>
                      <a:tailEnd type="none" w="med" len="med"/>
                    </a:lnR>
                    <a:lnT w="9525" cap="flat" cmpd="sng" algn="ctr">
                      <a:solidFill>
                        <a:srgbClr val="DCE3DC"/>
                      </a:solidFill>
                      <a:prstDash val="solid"/>
                      <a:round/>
                      <a:headEnd type="none" w="med" len="med"/>
                      <a:tailEnd type="none" w="med" len="med"/>
                    </a:lnT>
                    <a:lnB w="9525" cap="flat" cmpd="sng" algn="ctr">
                      <a:solidFill>
                        <a:srgbClr val="DCE3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F2A26"/>
                          </a:solidFill>
                          <a:latin typeface="Calibri" pitchFamily="34" charset="0"/>
                          <a:ea typeface="Calibri" pitchFamily="34" charset="-122"/>
                          <a:cs typeface="Calibri" pitchFamily="34" charset="-120"/>
                        </a:rPr>
                        <a:t>$35</a:t>
                      </a:r>
                      <a:endParaRPr lang="en-US" sz="1300" dirty="0">
                        <a:latin typeface="Calibri" charset="0"/>
                        <a:ea typeface="Calibri" charset="0"/>
                        <a:cs typeface="Calibri" charset="0"/>
                      </a:endParaRPr>
                    </a:p>
                  </a:txBody>
                  <a:tcPr marL="91440" marR="91440" marT="45720" marB="45720" anchor="ctr">
                    <a:lnL w="9525" cap="flat" cmpd="sng" algn="ctr">
                      <a:solidFill>
                        <a:srgbClr val="DCE3DC"/>
                      </a:solidFill>
                      <a:prstDash val="solid"/>
                      <a:round/>
                      <a:headEnd type="none" w="med" len="med"/>
                      <a:tailEnd type="none" w="med" len="med"/>
                    </a:lnL>
                    <a:lnR w="9525" cap="flat" cmpd="sng" algn="ctr">
                      <a:solidFill>
                        <a:srgbClr val="DCE3DC"/>
                      </a:solidFill>
                      <a:prstDash val="solid"/>
                      <a:round/>
                      <a:headEnd type="none" w="med" len="med"/>
                      <a:tailEnd type="none" w="med" len="med"/>
                    </a:lnR>
                    <a:lnT w="9525" cap="flat" cmpd="sng" algn="ctr">
                      <a:solidFill>
                        <a:srgbClr val="DCE3DC"/>
                      </a:solidFill>
                      <a:prstDash val="solid"/>
                      <a:round/>
                      <a:headEnd type="none" w="med" len="med"/>
                      <a:tailEnd type="none" w="med" len="med"/>
                    </a:lnT>
                    <a:lnB w="9525" cap="flat" cmpd="sng" algn="ctr">
                      <a:solidFill>
                        <a:srgbClr val="DCE3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F2A26"/>
                          </a:solidFill>
                          <a:latin typeface="Calibri" pitchFamily="34" charset="0"/>
                          <a:ea typeface="Calibri" pitchFamily="34" charset="-122"/>
                          <a:cs typeface="Calibri" pitchFamily="34" charset="-120"/>
                        </a:rPr>
                        <a:t>$35</a:t>
                      </a:r>
                      <a:endParaRPr lang="en-US" sz="1300" dirty="0">
                        <a:latin typeface="Calibri" charset="0"/>
                        <a:ea typeface="Calibri" charset="0"/>
                        <a:cs typeface="Calibri" charset="0"/>
                      </a:endParaRPr>
                    </a:p>
                  </a:txBody>
                  <a:tcPr marL="91440" marR="91440" marT="45720" marB="45720" anchor="ctr">
                    <a:lnL w="9525" cap="flat" cmpd="sng" algn="ctr">
                      <a:solidFill>
                        <a:srgbClr val="DCE3DC"/>
                      </a:solidFill>
                      <a:prstDash val="solid"/>
                      <a:round/>
                      <a:headEnd type="none" w="med" len="med"/>
                      <a:tailEnd type="none" w="med" len="med"/>
                    </a:lnL>
                    <a:lnR w="9525" cap="flat" cmpd="sng" algn="ctr">
                      <a:solidFill>
                        <a:srgbClr val="DCE3DC"/>
                      </a:solidFill>
                      <a:prstDash val="solid"/>
                      <a:round/>
                      <a:headEnd type="none" w="med" len="med"/>
                      <a:tailEnd type="none" w="med" len="med"/>
                    </a:lnR>
                    <a:lnT w="9525" cap="flat" cmpd="sng" algn="ctr">
                      <a:solidFill>
                        <a:srgbClr val="DCE3DC"/>
                      </a:solidFill>
                      <a:prstDash val="solid"/>
                      <a:round/>
                      <a:headEnd type="none" w="med" len="med"/>
                      <a:tailEnd type="none" w="med" len="med"/>
                    </a:lnT>
                    <a:lnB w="9525" cap="flat" cmpd="sng" algn="ctr">
                      <a:solidFill>
                        <a:srgbClr val="DCE3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F2A26"/>
                          </a:solidFill>
                          <a:latin typeface="Calibri" pitchFamily="34" charset="0"/>
                          <a:ea typeface="Calibri" pitchFamily="34" charset="-122"/>
                          <a:cs typeface="Calibri" pitchFamily="34" charset="-120"/>
                        </a:rPr>
                        <a:t>$35</a:t>
                      </a:r>
                      <a:endParaRPr lang="en-US" sz="1300" dirty="0">
                        <a:latin typeface="Calibri" charset="0"/>
                        <a:ea typeface="Calibri" charset="0"/>
                        <a:cs typeface="Calibri" charset="0"/>
                      </a:endParaRPr>
                    </a:p>
                  </a:txBody>
                  <a:tcPr marL="91440" marR="91440" marT="45720" marB="45720" anchor="ctr">
                    <a:lnL w="9525" cap="flat" cmpd="sng" algn="ctr">
                      <a:solidFill>
                        <a:srgbClr val="DCE3DC"/>
                      </a:solidFill>
                      <a:prstDash val="solid"/>
                      <a:round/>
                      <a:headEnd type="none" w="med" len="med"/>
                      <a:tailEnd type="none" w="med" len="med"/>
                    </a:lnL>
                    <a:lnR w="9525" cap="flat" cmpd="sng" algn="ctr">
                      <a:solidFill>
                        <a:srgbClr val="DCE3DC"/>
                      </a:solidFill>
                      <a:prstDash val="solid"/>
                      <a:round/>
                      <a:headEnd type="none" w="med" len="med"/>
                      <a:tailEnd type="none" w="med" len="med"/>
                    </a:lnR>
                    <a:lnT w="9525" cap="flat" cmpd="sng" algn="ctr">
                      <a:solidFill>
                        <a:srgbClr val="DCE3DC"/>
                      </a:solidFill>
                      <a:prstDash val="solid"/>
                      <a:round/>
                      <a:headEnd type="none" w="med" len="med"/>
                      <a:tailEnd type="none" w="med" len="med"/>
                    </a:lnT>
                    <a:lnB w="9525" cap="flat" cmpd="sng" algn="ctr">
                      <a:solidFill>
                        <a:srgbClr val="DCE3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F2A26"/>
                          </a:solidFill>
                          <a:latin typeface="Calibri" pitchFamily="34" charset="0"/>
                          <a:ea typeface="Calibri" pitchFamily="34" charset="-122"/>
                          <a:cs typeface="Calibri" pitchFamily="34" charset="-120"/>
                        </a:rPr>
                        <a:t>$35</a:t>
                      </a:r>
                      <a:endParaRPr lang="en-US" sz="1300" dirty="0">
                        <a:latin typeface="Calibri" charset="0"/>
                        <a:ea typeface="Calibri" charset="0"/>
                        <a:cs typeface="Calibri" charset="0"/>
                      </a:endParaRPr>
                    </a:p>
                  </a:txBody>
                  <a:tcPr marL="91440" marR="91440" marT="45720" marB="45720" anchor="ctr">
                    <a:lnL w="9525" cap="flat" cmpd="sng" algn="ctr">
                      <a:solidFill>
                        <a:srgbClr val="DCE3DC"/>
                      </a:solidFill>
                      <a:prstDash val="solid"/>
                      <a:round/>
                      <a:headEnd type="none" w="med" len="med"/>
                      <a:tailEnd type="none" w="med" len="med"/>
                    </a:lnL>
                    <a:lnR w="9525" cap="flat" cmpd="sng" algn="ctr">
                      <a:solidFill>
                        <a:srgbClr val="DCE3DC"/>
                      </a:solidFill>
                      <a:prstDash val="solid"/>
                      <a:round/>
                      <a:headEnd type="none" w="med" len="med"/>
                      <a:tailEnd type="none" w="med" len="med"/>
                    </a:lnR>
                    <a:lnT w="9525" cap="flat" cmpd="sng" algn="ctr">
                      <a:solidFill>
                        <a:srgbClr val="DCE3DC"/>
                      </a:solidFill>
                      <a:prstDash val="solid"/>
                      <a:round/>
                      <a:headEnd type="none" w="med" len="med"/>
                      <a:tailEnd type="none" w="med" len="med"/>
                    </a:lnT>
                    <a:lnB w="9525" cap="flat" cmpd="sng" algn="ctr">
                      <a:solidFill>
                        <a:srgbClr val="DCE3DC"/>
                      </a:solidFill>
                      <a:prstDash val="solid"/>
                      <a:round/>
                      <a:headEnd type="none" w="med" len="med"/>
                      <a:tailEnd type="none" w="med" len="med"/>
                    </a:lnB>
                    <a:solidFill>
                      <a:srgbClr val="FFFFFF"/>
                    </a:solidFill>
                  </a:tcPr>
                </a:tc>
                <a:tc>
                  <a:txBody>
                    <a:bodyPr/>
                    <a:lstStyle/>
                    <a:p>
                      <a:pPr indent="0" marL="0">
                        <a:buNone/>
                      </a:pPr>
                      <a:r>
                        <a:rPr lang="en-US" sz="1200" dirty="0">
                          <a:solidFill>
                            <a:srgbClr val="5A6763"/>
                          </a:solidFill>
                          <a:latin typeface="Calibri" pitchFamily="34" charset="0"/>
                          <a:ea typeface="Calibri" pitchFamily="34" charset="-122"/>
                          <a:cs typeface="Calibri" pitchFamily="34" charset="-120"/>
                        </a:rPr>
                        <a:t>Placeholder; the pilot sets price</a:t>
                      </a:r>
                      <a:endParaRPr lang="en-US" sz="1200" dirty="0">
                        <a:latin typeface="Calibri" charset="0"/>
                        <a:ea typeface="Calibri" charset="0"/>
                        <a:cs typeface="Calibri" charset="0"/>
                      </a:endParaRPr>
                    </a:p>
                  </a:txBody>
                  <a:tcPr marL="91440" marR="91440" marT="45720" marB="45720" anchor="ctr">
                    <a:lnL w="9525" cap="flat" cmpd="sng" algn="ctr">
                      <a:solidFill>
                        <a:srgbClr val="DCE3DC"/>
                      </a:solidFill>
                      <a:prstDash val="solid"/>
                      <a:round/>
                      <a:headEnd type="none" w="med" len="med"/>
                      <a:tailEnd type="none" w="med" len="med"/>
                    </a:lnL>
                    <a:lnR w="9525" cap="flat" cmpd="sng" algn="ctr">
                      <a:solidFill>
                        <a:srgbClr val="DCE3DC"/>
                      </a:solidFill>
                      <a:prstDash val="solid"/>
                      <a:round/>
                      <a:headEnd type="none" w="med" len="med"/>
                      <a:tailEnd type="none" w="med" len="med"/>
                    </a:lnR>
                    <a:lnT w="9525" cap="flat" cmpd="sng" algn="ctr">
                      <a:solidFill>
                        <a:srgbClr val="DCE3DC"/>
                      </a:solidFill>
                      <a:prstDash val="solid"/>
                      <a:round/>
                      <a:headEnd type="none" w="med" len="med"/>
                      <a:tailEnd type="none" w="med" len="med"/>
                    </a:lnT>
                    <a:lnB w="9525" cap="flat" cmpd="sng" algn="ctr">
                      <a:solidFill>
                        <a:srgbClr val="DCE3DC"/>
                      </a:solidFill>
                      <a:prstDash val="solid"/>
                      <a:round/>
                      <a:headEnd type="none" w="med" len="med"/>
                      <a:tailEnd type="none" w="med" len="med"/>
                    </a:lnB>
                    <a:solidFill>
                      <a:srgbClr val="FFFFFF"/>
                    </a:solidFill>
                  </a:tcPr>
                </a:tc>
              </a:tr>
              <a:tr h="502920">
                <a:tc>
                  <a:txBody>
                    <a:bodyPr/>
                    <a:lstStyle/>
                    <a:p>
                      <a:pPr indent="0" marL="0">
                        <a:buNone/>
                      </a:pPr>
                      <a:r>
                        <a:rPr lang="en-US" sz="1300" b="1" dirty="0">
                          <a:solidFill>
                            <a:srgbClr val="1F2A26"/>
                          </a:solidFill>
                          <a:latin typeface="Calibri" pitchFamily="34" charset="0"/>
                          <a:ea typeface="Calibri" pitchFamily="34" charset="-122"/>
                          <a:cs typeface="Calibri" pitchFamily="34" charset="-120"/>
                        </a:rPr>
                        <a:t>Agents under the AEO (avg)</a:t>
                      </a:r>
                      <a:endParaRPr lang="en-US" sz="1300" dirty="0">
                        <a:latin typeface="Calibri" charset="0"/>
                        <a:ea typeface="Calibri" charset="0"/>
                        <a:cs typeface="Calibri" charset="0"/>
                      </a:endParaRPr>
                    </a:p>
                  </a:txBody>
                  <a:tcPr marL="91440" marR="91440" marT="45720" marB="45720" anchor="ctr">
                    <a:lnL w="9525" cap="flat" cmpd="sng" algn="ctr">
                      <a:solidFill>
                        <a:srgbClr val="DCE3DC"/>
                      </a:solidFill>
                      <a:prstDash val="solid"/>
                      <a:round/>
                      <a:headEnd type="none" w="med" len="med"/>
                      <a:tailEnd type="none" w="med" len="med"/>
                    </a:lnL>
                    <a:lnR w="9525" cap="flat" cmpd="sng" algn="ctr">
                      <a:solidFill>
                        <a:srgbClr val="DCE3DC"/>
                      </a:solidFill>
                      <a:prstDash val="solid"/>
                      <a:round/>
                      <a:headEnd type="none" w="med" len="med"/>
                      <a:tailEnd type="none" w="med" len="med"/>
                    </a:lnR>
                    <a:lnT w="9525" cap="flat" cmpd="sng" algn="ctr">
                      <a:solidFill>
                        <a:srgbClr val="DCE3DC"/>
                      </a:solidFill>
                      <a:prstDash val="solid"/>
                      <a:round/>
                      <a:headEnd type="none" w="med" len="med"/>
                      <a:tailEnd type="none" w="med" len="med"/>
                    </a:lnT>
                    <a:lnB w="9525" cap="flat" cmpd="sng" algn="ctr">
                      <a:solidFill>
                        <a:srgbClr val="DCE3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F2A26"/>
                          </a:solidFill>
                          <a:latin typeface="Calibri" pitchFamily="34" charset="0"/>
                          <a:ea typeface="Calibri" pitchFamily="34" charset="-122"/>
                          <a:cs typeface="Calibri" pitchFamily="34" charset="-120"/>
                        </a:rPr>
                        <a:t>50</a:t>
                      </a:r>
                      <a:endParaRPr lang="en-US" sz="1300" dirty="0">
                        <a:latin typeface="Calibri" charset="0"/>
                        <a:ea typeface="Calibri" charset="0"/>
                        <a:cs typeface="Calibri" charset="0"/>
                      </a:endParaRPr>
                    </a:p>
                  </a:txBody>
                  <a:tcPr marL="91440" marR="91440" marT="45720" marB="45720" anchor="ctr">
                    <a:lnL w="9525" cap="flat" cmpd="sng" algn="ctr">
                      <a:solidFill>
                        <a:srgbClr val="DCE3DC"/>
                      </a:solidFill>
                      <a:prstDash val="solid"/>
                      <a:round/>
                      <a:headEnd type="none" w="med" len="med"/>
                      <a:tailEnd type="none" w="med" len="med"/>
                    </a:lnL>
                    <a:lnR w="9525" cap="flat" cmpd="sng" algn="ctr">
                      <a:solidFill>
                        <a:srgbClr val="DCE3DC"/>
                      </a:solidFill>
                      <a:prstDash val="solid"/>
                      <a:round/>
                      <a:headEnd type="none" w="med" len="med"/>
                      <a:tailEnd type="none" w="med" len="med"/>
                    </a:lnR>
                    <a:lnT w="9525" cap="flat" cmpd="sng" algn="ctr">
                      <a:solidFill>
                        <a:srgbClr val="DCE3DC"/>
                      </a:solidFill>
                      <a:prstDash val="solid"/>
                      <a:round/>
                      <a:headEnd type="none" w="med" len="med"/>
                      <a:tailEnd type="none" w="med" len="med"/>
                    </a:lnT>
                    <a:lnB w="9525" cap="flat" cmpd="sng" algn="ctr">
                      <a:solidFill>
                        <a:srgbClr val="DCE3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F2A26"/>
                          </a:solidFill>
                          <a:latin typeface="Calibri" pitchFamily="34" charset="0"/>
                          <a:ea typeface="Calibri" pitchFamily="34" charset="-122"/>
                          <a:cs typeface="Calibri" pitchFamily="34" charset="-120"/>
                        </a:rPr>
                        <a:t>1,500</a:t>
                      </a:r>
                      <a:endParaRPr lang="en-US" sz="1300" dirty="0">
                        <a:latin typeface="Calibri" charset="0"/>
                        <a:ea typeface="Calibri" charset="0"/>
                        <a:cs typeface="Calibri" charset="0"/>
                      </a:endParaRPr>
                    </a:p>
                  </a:txBody>
                  <a:tcPr marL="91440" marR="91440" marT="45720" marB="45720" anchor="ctr">
                    <a:lnL w="9525" cap="flat" cmpd="sng" algn="ctr">
                      <a:solidFill>
                        <a:srgbClr val="DCE3DC"/>
                      </a:solidFill>
                      <a:prstDash val="solid"/>
                      <a:round/>
                      <a:headEnd type="none" w="med" len="med"/>
                      <a:tailEnd type="none" w="med" len="med"/>
                    </a:lnL>
                    <a:lnR w="9525" cap="flat" cmpd="sng" algn="ctr">
                      <a:solidFill>
                        <a:srgbClr val="DCE3DC"/>
                      </a:solidFill>
                      <a:prstDash val="solid"/>
                      <a:round/>
                      <a:headEnd type="none" w="med" len="med"/>
                      <a:tailEnd type="none" w="med" len="med"/>
                    </a:lnR>
                    <a:lnT w="9525" cap="flat" cmpd="sng" algn="ctr">
                      <a:solidFill>
                        <a:srgbClr val="DCE3DC"/>
                      </a:solidFill>
                      <a:prstDash val="solid"/>
                      <a:round/>
                      <a:headEnd type="none" w="med" len="med"/>
                      <a:tailEnd type="none" w="med" len="med"/>
                    </a:lnT>
                    <a:lnB w="9525" cap="flat" cmpd="sng" algn="ctr">
                      <a:solidFill>
                        <a:srgbClr val="DCE3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F2A26"/>
                          </a:solidFill>
                          <a:latin typeface="Calibri" pitchFamily="34" charset="0"/>
                          <a:ea typeface="Calibri" pitchFamily="34" charset="-122"/>
                          <a:cs typeface="Calibri" pitchFamily="34" charset="-120"/>
                        </a:rPr>
                        <a:t>6,000</a:t>
                      </a:r>
                      <a:endParaRPr lang="en-US" sz="1300" dirty="0">
                        <a:latin typeface="Calibri" charset="0"/>
                        <a:ea typeface="Calibri" charset="0"/>
                        <a:cs typeface="Calibri" charset="0"/>
                      </a:endParaRPr>
                    </a:p>
                  </a:txBody>
                  <a:tcPr marL="91440" marR="91440" marT="45720" marB="45720" anchor="ctr">
                    <a:lnL w="9525" cap="flat" cmpd="sng" algn="ctr">
                      <a:solidFill>
                        <a:srgbClr val="DCE3DC"/>
                      </a:solidFill>
                      <a:prstDash val="solid"/>
                      <a:round/>
                      <a:headEnd type="none" w="med" len="med"/>
                      <a:tailEnd type="none" w="med" len="med"/>
                    </a:lnL>
                    <a:lnR w="9525" cap="flat" cmpd="sng" algn="ctr">
                      <a:solidFill>
                        <a:srgbClr val="DCE3DC"/>
                      </a:solidFill>
                      <a:prstDash val="solid"/>
                      <a:round/>
                      <a:headEnd type="none" w="med" len="med"/>
                      <a:tailEnd type="none" w="med" len="med"/>
                    </a:lnR>
                    <a:lnT w="9525" cap="flat" cmpd="sng" algn="ctr">
                      <a:solidFill>
                        <a:srgbClr val="DCE3DC"/>
                      </a:solidFill>
                      <a:prstDash val="solid"/>
                      <a:round/>
                      <a:headEnd type="none" w="med" len="med"/>
                      <a:tailEnd type="none" w="med" len="med"/>
                    </a:lnT>
                    <a:lnB w="9525" cap="flat" cmpd="sng" algn="ctr">
                      <a:solidFill>
                        <a:srgbClr val="DCE3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F2A26"/>
                          </a:solidFill>
                          <a:latin typeface="Calibri" pitchFamily="34" charset="0"/>
                          <a:ea typeface="Calibri" pitchFamily="34" charset="-122"/>
                          <a:cs typeface="Calibri" pitchFamily="34" charset="-120"/>
                        </a:rPr>
                        <a:t>15,000</a:t>
                      </a:r>
                      <a:endParaRPr lang="en-US" sz="1300" dirty="0">
                        <a:latin typeface="Calibri" charset="0"/>
                        <a:ea typeface="Calibri" charset="0"/>
                        <a:cs typeface="Calibri" charset="0"/>
                      </a:endParaRPr>
                    </a:p>
                  </a:txBody>
                  <a:tcPr marL="91440" marR="91440" marT="45720" marB="45720" anchor="ctr">
                    <a:lnL w="9525" cap="flat" cmpd="sng" algn="ctr">
                      <a:solidFill>
                        <a:srgbClr val="DCE3DC"/>
                      </a:solidFill>
                      <a:prstDash val="solid"/>
                      <a:round/>
                      <a:headEnd type="none" w="med" len="med"/>
                      <a:tailEnd type="none" w="med" len="med"/>
                    </a:lnL>
                    <a:lnR w="9525" cap="flat" cmpd="sng" algn="ctr">
                      <a:solidFill>
                        <a:srgbClr val="DCE3DC"/>
                      </a:solidFill>
                      <a:prstDash val="solid"/>
                      <a:round/>
                      <a:headEnd type="none" w="med" len="med"/>
                      <a:tailEnd type="none" w="med" len="med"/>
                    </a:lnR>
                    <a:lnT w="9525" cap="flat" cmpd="sng" algn="ctr">
                      <a:solidFill>
                        <a:srgbClr val="DCE3DC"/>
                      </a:solidFill>
                      <a:prstDash val="solid"/>
                      <a:round/>
                      <a:headEnd type="none" w="med" len="med"/>
                      <a:tailEnd type="none" w="med" len="med"/>
                    </a:lnT>
                    <a:lnB w="9525" cap="flat" cmpd="sng" algn="ctr">
                      <a:solidFill>
                        <a:srgbClr val="DCE3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F2A26"/>
                          </a:solidFill>
                          <a:latin typeface="Calibri" pitchFamily="34" charset="0"/>
                          <a:ea typeface="Calibri" pitchFamily="34" charset="-122"/>
                          <a:cs typeface="Calibri" pitchFamily="34" charset="-120"/>
                        </a:rPr>
                        <a:t>30,000</a:t>
                      </a:r>
                      <a:endParaRPr lang="en-US" sz="1300" dirty="0">
                        <a:latin typeface="Calibri" charset="0"/>
                        <a:ea typeface="Calibri" charset="0"/>
                        <a:cs typeface="Calibri" charset="0"/>
                      </a:endParaRPr>
                    </a:p>
                  </a:txBody>
                  <a:tcPr marL="91440" marR="91440" marT="45720" marB="45720" anchor="ctr">
                    <a:lnL w="9525" cap="flat" cmpd="sng" algn="ctr">
                      <a:solidFill>
                        <a:srgbClr val="DCE3DC"/>
                      </a:solidFill>
                      <a:prstDash val="solid"/>
                      <a:round/>
                      <a:headEnd type="none" w="med" len="med"/>
                      <a:tailEnd type="none" w="med" len="med"/>
                    </a:lnL>
                    <a:lnR w="9525" cap="flat" cmpd="sng" algn="ctr">
                      <a:solidFill>
                        <a:srgbClr val="DCE3DC"/>
                      </a:solidFill>
                      <a:prstDash val="solid"/>
                      <a:round/>
                      <a:headEnd type="none" w="med" len="med"/>
                      <a:tailEnd type="none" w="med" len="med"/>
                    </a:lnR>
                    <a:lnT w="9525" cap="flat" cmpd="sng" algn="ctr">
                      <a:solidFill>
                        <a:srgbClr val="DCE3DC"/>
                      </a:solidFill>
                      <a:prstDash val="solid"/>
                      <a:round/>
                      <a:headEnd type="none" w="med" len="med"/>
                      <a:tailEnd type="none" w="med" len="med"/>
                    </a:lnT>
                    <a:lnB w="9525" cap="flat" cmpd="sng" algn="ctr">
                      <a:solidFill>
                        <a:srgbClr val="DCE3DC"/>
                      </a:solidFill>
                      <a:prstDash val="solid"/>
                      <a:round/>
                      <a:headEnd type="none" w="med" len="med"/>
                      <a:tailEnd type="none" w="med" len="med"/>
                    </a:lnB>
                    <a:solidFill>
                      <a:srgbClr val="FFFFFF"/>
                    </a:solidFill>
                  </a:tcPr>
                </a:tc>
                <a:tc>
                  <a:txBody>
                    <a:bodyPr/>
                    <a:lstStyle/>
                    <a:p>
                      <a:pPr indent="0" marL="0">
                        <a:buNone/>
                      </a:pPr>
                      <a:r>
                        <a:rPr lang="en-US" sz="1200" dirty="0">
                          <a:solidFill>
                            <a:srgbClr val="5A6763"/>
                          </a:solidFill>
                          <a:latin typeface="Calibri" pitchFamily="34" charset="0"/>
                          <a:ea typeface="Calibri" pitchFamily="34" charset="-122"/>
                          <a:cs typeface="Calibri" pitchFamily="34" charset="-120"/>
                        </a:rPr>
                        <a:t>Year 1 = 5–10 pilot clients; grows with client agent use</a:t>
                      </a:r>
                      <a:endParaRPr lang="en-US" sz="1200" dirty="0">
                        <a:latin typeface="Calibri" charset="0"/>
                        <a:ea typeface="Calibri" charset="0"/>
                        <a:cs typeface="Calibri" charset="0"/>
                      </a:endParaRPr>
                    </a:p>
                  </a:txBody>
                  <a:tcPr marL="91440" marR="91440" marT="45720" marB="45720" anchor="ctr">
                    <a:lnL w="9525" cap="flat" cmpd="sng" algn="ctr">
                      <a:solidFill>
                        <a:srgbClr val="DCE3DC"/>
                      </a:solidFill>
                      <a:prstDash val="solid"/>
                      <a:round/>
                      <a:headEnd type="none" w="med" len="med"/>
                      <a:tailEnd type="none" w="med" len="med"/>
                    </a:lnL>
                    <a:lnR w="9525" cap="flat" cmpd="sng" algn="ctr">
                      <a:solidFill>
                        <a:srgbClr val="DCE3DC"/>
                      </a:solidFill>
                      <a:prstDash val="solid"/>
                      <a:round/>
                      <a:headEnd type="none" w="med" len="med"/>
                      <a:tailEnd type="none" w="med" len="med"/>
                    </a:lnR>
                    <a:lnT w="9525" cap="flat" cmpd="sng" algn="ctr">
                      <a:solidFill>
                        <a:srgbClr val="DCE3DC"/>
                      </a:solidFill>
                      <a:prstDash val="solid"/>
                      <a:round/>
                      <a:headEnd type="none" w="med" len="med"/>
                      <a:tailEnd type="none" w="med" len="med"/>
                    </a:lnT>
                    <a:lnB w="9525" cap="flat" cmpd="sng" algn="ctr">
                      <a:solidFill>
                        <a:srgbClr val="DCE3DC"/>
                      </a:solidFill>
                      <a:prstDash val="solid"/>
                      <a:round/>
                      <a:headEnd type="none" w="med" len="med"/>
                      <a:tailEnd type="none" w="med" len="med"/>
                    </a:lnB>
                    <a:solidFill>
                      <a:srgbClr val="FFFFFF"/>
                    </a:solidFill>
                  </a:tcPr>
                </a:tc>
              </a:tr>
              <a:tr h="502920">
                <a:tc>
                  <a:txBody>
                    <a:bodyPr/>
                    <a:lstStyle/>
                    <a:p>
                      <a:pPr indent="0" marL="0">
                        <a:buNone/>
                      </a:pPr>
                      <a:r>
                        <a:rPr lang="en-US" sz="1300" b="1" dirty="0">
                          <a:solidFill>
                            <a:srgbClr val="1F2A26"/>
                          </a:solidFill>
                          <a:latin typeface="Calibri" pitchFamily="34" charset="0"/>
                          <a:ea typeface="Calibri" pitchFamily="34" charset="-122"/>
                          <a:cs typeface="Calibri" pitchFamily="34" charset="-120"/>
                        </a:rPr>
                        <a:t>AEO fee ($ per agent per month)</a:t>
                      </a:r>
                      <a:endParaRPr lang="en-US" sz="1300" dirty="0">
                        <a:latin typeface="Calibri" charset="0"/>
                        <a:ea typeface="Calibri" charset="0"/>
                        <a:cs typeface="Calibri" charset="0"/>
                      </a:endParaRPr>
                    </a:p>
                  </a:txBody>
                  <a:tcPr marL="91440" marR="91440" marT="45720" marB="45720" anchor="ctr">
                    <a:lnL w="9525" cap="flat" cmpd="sng" algn="ctr">
                      <a:solidFill>
                        <a:srgbClr val="DCE3DC"/>
                      </a:solidFill>
                      <a:prstDash val="solid"/>
                      <a:round/>
                      <a:headEnd type="none" w="med" len="med"/>
                      <a:tailEnd type="none" w="med" len="med"/>
                    </a:lnL>
                    <a:lnR w="9525" cap="flat" cmpd="sng" algn="ctr">
                      <a:solidFill>
                        <a:srgbClr val="DCE3DC"/>
                      </a:solidFill>
                      <a:prstDash val="solid"/>
                      <a:round/>
                      <a:headEnd type="none" w="med" len="med"/>
                      <a:tailEnd type="none" w="med" len="med"/>
                    </a:lnR>
                    <a:lnT w="9525" cap="flat" cmpd="sng" algn="ctr">
                      <a:solidFill>
                        <a:srgbClr val="DCE3DC"/>
                      </a:solidFill>
                      <a:prstDash val="solid"/>
                      <a:round/>
                      <a:headEnd type="none" w="med" len="med"/>
                      <a:tailEnd type="none" w="med" len="med"/>
                    </a:lnT>
                    <a:lnB w="9525" cap="flat" cmpd="sng" algn="ctr">
                      <a:solidFill>
                        <a:srgbClr val="DCE3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F2A26"/>
                          </a:solidFill>
                          <a:latin typeface="Calibri" pitchFamily="34" charset="0"/>
                          <a:ea typeface="Calibri" pitchFamily="34" charset="-122"/>
                          <a:cs typeface="Calibri" pitchFamily="34" charset="-120"/>
                        </a:rPr>
                        <a:t>$150</a:t>
                      </a:r>
                      <a:endParaRPr lang="en-US" sz="1300" dirty="0">
                        <a:latin typeface="Calibri" charset="0"/>
                        <a:ea typeface="Calibri" charset="0"/>
                        <a:cs typeface="Calibri" charset="0"/>
                      </a:endParaRPr>
                    </a:p>
                  </a:txBody>
                  <a:tcPr marL="91440" marR="91440" marT="45720" marB="45720" anchor="ctr">
                    <a:lnL w="9525" cap="flat" cmpd="sng" algn="ctr">
                      <a:solidFill>
                        <a:srgbClr val="DCE3DC"/>
                      </a:solidFill>
                      <a:prstDash val="solid"/>
                      <a:round/>
                      <a:headEnd type="none" w="med" len="med"/>
                      <a:tailEnd type="none" w="med" len="med"/>
                    </a:lnL>
                    <a:lnR w="9525" cap="flat" cmpd="sng" algn="ctr">
                      <a:solidFill>
                        <a:srgbClr val="DCE3DC"/>
                      </a:solidFill>
                      <a:prstDash val="solid"/>
                      <a:round/>
                      <a:headEnd type="none" w="med" len="med"/>
                      <a:tailEnd type="none" w="med" len="med"/>
                    </a:lnR>
                    <a:lnT w="9525" cap="flat" cmpd="sng" algn="ctr">
                      <a:solidFill>
                        <a:srgbClr val="DCE3DC"/>
                      </a:solidFill>
                      <a:prstDash val="solid"/>
                      <a:round/>
                      <a:headEnd type="none" w="med" len="med"/>
                      <a:tailEnd type="none" w="med" len="med"/>
                    </a:lnT>
                    <a:lnB w="9525" cap="flat" cmpd="sng" algn="ctr">
                      <a:solidFill>
                        <a:srgbClr val="DCE3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F2A26"/>
                          </a:solidFill>
                          <a:latin typeface="Calibri" pitchFamily="34" charset="0"/>
                          <a:ea typeface="Calibri" pitchFamily="34" charset="-122"/>
                          <a:cs typeface="Calibri" pitchFamily="34" charset="-120"/>
                        </a:rPr>
                        <a:t>$150</a:t>
                      </a:r>
                      <a:endParaRPr lang="en-US" sz="1300" dirty="0">
                        <a:latin typeface="Calibri" charset="0"/>
                        <a:ea typeface="Calibri" charset="0"/>
                        <a:cs typeface="Calibri" charset="0"/>
                      </a:endParaRPr>
                    </a:p>
                  </a:txBody>
                  <a:tcPr marL="91440" marR="91440" marT="45720" marB="45720" anchor="ctr">
                    <a:lnL w="9525" cap="flat" cmpd="sng" algn="ctr">
                      <a:solidFill>
                        <a:srgbClr val="DCE3DC"/>
                      </a:solidFill>
                      <a:prstDash val="solid"/>
                      <a:round/>
                      <a:headEnd type="none" w="med" len="med"/>
                      <a:tailEnd type="none" w="med" len="med"/>
                    </a:lnL>
                    <a:lnR w="9525" cap="flat" cmpd="sng" algn="ctr">
                      <a:solidFill>
                        <a:srgbClr val="DCE3DC"/>
                      </a:solidFill>
                      <a:prstDash val="solid"/>
                      <a:round/>
                      <a:headEnd type="none" w="med" len="med"/>
                      <a:tailEnd type="none" w="med" len="med"/>
                    </a:lnR>
                    <a:lnT w="9525" cap="flat" cmpd="sng" algn="ctr">
                      <a:solidFill>
                        <a:srgbClr val="DCE3DC"/>
                      </a:solidFill>
                      <a:prstDash val="solid"/>
                      <a:round/>
                      <a:headEnd type="none" w="med" len="med"/>
                      <a:tailEnd type="none" w="med" len="med"/>
                    </a:lnT>
                    <a:lnB w="9525" cap="flat" cmpd="sng" algn="ctr">
                      <a:solidFill>
                        <a:srgbClr val="DCE3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F2A26"/>
                          </a:solidFill>
                          <a:latin typeface="Calibri" pitchFamily="34" charset="0"/>
                          <a:ea typeface="Calibri" pitchFamily="34" charset="-122"/>
                          <a:cs typeface="Calibri" pitchFamily="34" charset="-120"/>
                        </a:rPr>
                        <a:t>$150</a:t>
                      </a:r>
                      <a:endParaRPr lang="en-US" sz="1300" dirty="0">
                        <a:latin typeface="Calibri" charset="0"/>
                        <a:ea typeface="Calibri" charset="0"/>
                        <a:cs typeface="Calibri" charset="0"/>
                      </a:endParaRPr>
                    </a:p>
                  </a:txBody>
                  <a:tcPr marL="91440" marR="91440" marT="45720" marB="45720" anchor="ctr">
                    <a:lnL w="9525" cap="flat" cmpd="sng" algn="ctr">
                      <a:solidFill>
                        <a:srgbClr val="DCE3DC"/>
                      </a:solidFill>
                      <a:prstDash val="solid"/>
                      <a:round/>
                      <a:headEnd type="none" w="med" len="med"/>
                      <a:tailEnd type="none" w="med" len="med"/>
                    </a:lnL>
                    <a:lnR w="9525" cap="flat" cmpd="sng" algn="ctr">
                      <a:solidFill>
                        <a:srgbClr val="DCE3DC"/>
                      </a:solidFill>
                      <a:prstDash val="solid"/>
                      <a:round/>
                      <a:headEnd type="none" w="med" len="med"/>
                      <a:tailEnd type="none" w="med" len="med"/>
                    </a:lnR>
                    <a:lnT w="9525" cap="flat" cmpd="sng" algn="ctr">
                      <a:solidFill>
                        <a:srgbClr val="DCE3DC"/>
                      </a:solidFill>
                      <a:prstDash val="solid"/>
                      <a:round/>
                      <a:headEnd type="none" w="med" len="med"/>
                      <a:tailEnd type="none" w="med" len="med"/>
                    </a:lnT>
                    <a:lnB w="9525" cap="flat" cmpd="sng" algn="ctr">
                      <a:solidFill>
                        <a:srgbClr val="DCE3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F2A26"/>
                          </a:solidFill>
                          <a:latin typeface="Calibri" pitchFamily="34" charset="0"/>
                          <a:ea typeface="Calibri" pitchFamily="34" charset="-122"/>
                          <a:cs typeface="Calibri" pitchFamily="34" charset="-120"/>
                        </a:rPr>
                        <a:t>$150</a:t>
                      </a:r>
                      <a:endParaRPr lang="en-US" sz="1300" dirty="0">
                        <a:latin typeface="Calibri" charset="0"/>
                        <a:ea typeface="Calibri" charset="0"/>
                        <a:cs typeface="Calibri" charset="0"/>
                      </a:endParaRPr>
                    </a:p>
                  </a:txBody>
                  <a:tcPr marL="91440" marR="91440" marT="45720" marB="45720" anchor="ctr">
                    <a:lnL w="9525" cap="flat" cmpd="sng" algn="ctr">
                      <a:solidFill>
                        <a:srgbClr val="DCE3DC"/>
                      </a:solidFill>
                      <a:prstDash val="solid"/>
                      <a:round/>
                      <a:headEnd type="none" w="med" len="med"/>
                      <a:tailEnd type="none" w="med" len="med"/>
                    </a:lnL>
                    <a:lnR w="9525" cap="flat" cmpd="sng" algn="ctr">
                      <a:solidFill>
                        <a:srgbClr val="DCE3DC"/>
                      </a:solidFill>
                      <a:prstDash val="solid"/>
                      <a:round/>
                      <a:headEnd type="none" w="med" len="med"/>
                      <a:tailEnd type="none" w="med" len="med"/>
                    </a:lnR>
                    <a:lnT w="9525" cap="flat" cmpd="sng" algn="ctr">
                      <a:solidFill>
                        <a:srgbClr val="DCE3DC"/>
                      </a:solidFill>
                      <a:prstDash val="solid"/>
                      <a:round/>
                      <a:headEnd type="none" w="med" len="med"/>
                      <a:tailEnd type="none" w="med" len="med"/>
                    </a:lnT>
                    <a:lnB w="9525" cap="flat" cmpd="sng" algn="ctr">
                      <a:solidFill>
                        <a:srgbClr val="DCE3DC"/>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F2A26"/>
                          </a:solidFill>
                          <a:latin typeface="Calibri" pitchFamily="34" charset="0"/>
                          <a:ea typeface="Calibri" pitchFamily="34" charset="-122"/>
                          <a:cs typeface="Calibri" pitchFamily="34" charset="-120"/>
                        </a:rPr>
                        <a:t>$150</a:t>
                      </a:r>
                      <a:endParaRPr lang="en-US" sz="1300" dirty="0">
                        <a:latin typeface="Calibri" charset="0"/>
                        <a:ea typeface="Calibri" charset="0"/>
                        <a:cs typeface="Calibri" charset="0"/>
                      </a:endParaRPr>
                    </a:p>
                  </a:txBody>
                  <a:tcPr marL="91440" marR="91440" marT="45720" marB="45720" anchor="ctr">
                    <a:lnL w="9525" cap="flat" cmpd="sng" algn="ctr">
                      <a:solidFill>
                        <a:srgbClr val="DCE3DC"/>
                      </a:solidFill>
                      <a:prstDash val="solid"/>
                      <a:round/>
                      <a:headEnd type="none" w="med" len="med"/>
                      <a:tailEnd type="none" w="med" len="med"/>
                    </a:lnL>
                    <a:lnR w="9525" cap="flat" cmpd="sng" algn="ctr">
                      <a:solidFill>
                        <a:srgbClr val="DCE3DC"/>
                      </a:solidFill>
                      <a:prstDash val="solid"/>
                      <a:round/>
                      <a:headEnd type="none" w="med" len="med"/>
                      <a:tailEnd type="none" w="med" len="med"/>
                    </a:lnR>
                    <a:lnT w="9525" cap="flat" cmpd="sng" algn="ctr">
                      <a:solidFill>
                        <a:srgbClr val="DCE3DC"/>
                      </a:solidFill>
                      <a:prstDash val="solid"/>
                      <a:round/>
                      <a:headEnd type="none" w="med" len="med"/>
                      <a:tailEnd type="none" w="med" len="med"/>
                    </a:lnT>
                    <a:lnB w="9525" cap="flat" cmpd="sng" algn="ctr">
                      <a:solidFill>
                        <a:srgbClr val="DCE3DC"/>
                      </a:solidFill>
                      <a:prstDash val="solid"/>
                      <a:round/>
                      <a:headEnd type="none" w="med" len="med"/>
                      <a:tailEnd type="none" w="med" len="med"/>
                    </a:lnB>
                    <a:solidFill>
                      <a:srgbClr val="FFFFFF"/>
                    </a:solidFill>
                  </a:tcPr>
                </a:tc>
                <a:tc>
                  <a:txBody>
                    <a:bodyPr/>
                    <a:lstStyle/>
                    <a:p>
                      <a:pPr indent="0" marL="0">
                        <a:buNone/>
                      </a:pPr>
                      <a:r>
                        <a:rPr lang="en-US" sz="1200" dirty="0">
                          <a:solidFill>
                            <a:srgbClr val="5A6763"/>
                          </a:solidFill>
                          <a:latin typeface="Calibri" pitchFamily="34" charset="0"/>
                          <a:ea typeface="Calibri" pitchFamily="34" charset="-122"/>
                          <a:cs typeface="Calibri" pitchFamily="34" charset="-120"/>
                        </a:rPr>
                        <a:t>Blend of attest-and-insure and full co-deployment</a:t>
                      </a:r>
                      <a:endParaRPr lang="en-US" sz="1200" dirty="0">
                        <a:latin typeface="Calibri" charset="0"/>
                        <a:ea typeface="Calibri" charset="0"/>
                        <a:cs typeface="Calibri" charset="0"/>
                      </a:endParaRPr>
                    </a:p>
                  </a:txBody>
                  <a:tcPr marL="91440" marR="91440" marT="45720" marB="45720" anchor="ctr">
                    <a:lnL w="9525" cap="flat" cmpd="sng" algn="ctr">
                      <a:solidFill>
                        <a:srgbClr val="DCE3DC"/>
                      </a:solidFill>
                      <a:prstDash val="solid"/>
                      <a:round/>
                      <a:headEnd type="none" w="med" len="med"/>
                      <a:tailEnd type="none" w="med" len="med"/>
                    </a:lnL>
                    <a:lnR w="9525" cap="flat" cmpd="sng" algn="ctr">
                      <a:solidFill>
                        <a:srgbClr val="DCE3DC"/>
                      </a:solidFill>
                      <a:prstDash val="solid"/>
                      <a:round/>
                      <a:headEnd type="none" w="med" len="med"/>
                      <a:tailEnd type="none" w="med" len="med"/>
                    </a:lnR>
                    <a:lnT w="9525" cap="flat" cmpd="sng" algn="ctr">
                      <a:solidFill>
                        <a:srgbClr val="DCE3DC"/>
                      </a:solidFill>
                      <a:prstDash val="solid"/>
                      <a:round/>
                      <a:headEnd type="none" w="med" len="med"/>
                      <a:tailEnd type="none" w="med" len="med"/>
                    </a:lnT>
                    <a:lnB w="9525" cap="flat" cmpd="sng" algn="ctr">
                      <a:solidFill>
                        <a:srgbClr val="DCE3DC"/>
                      </a:solidFill>
                      <a:prstDash val="solid"/>
                      <a:round/>
                      <a:headEnd type="none" w="med" len="med"/>
                      <a:tailEnd type="none" w="med" len="med"/>
                    </a:lnB>
                    <a:solidFill>
                      <a:srgbClr val="FFFFFF"/>
                    </a:solidFill>
                  </a:tcPr>
                </a:tc>
              </a:tr>
            </a:tbl>
          </a:graphicData>
        </a:graphic>
      </p:graphicFrame>
      <p:sp>
        <p:nvSpPr>
          <p:cNvPr id="4" name="Method note"/>
          <p:cNvSpPr/>
          <p:nvPr/>
        </p:nvSpPr>
        <p:spPr>
          <a:xfrm>
            <a:off x="548640" y="4343400"/>
            <a:ext cx="11064240" cy="1371600"/>
          </a:xfrm>
          <a:prstGeom prst="roundRect">
            <a:avLst>
              <a:gd name="adj" fmla="val 6667"/>
            </a:avLst>
          </a:prstGeom>
          <a:solidFill>
            <a:schemeClr val="bg2"/>
          </a:solidFill>
          <a:ln/>
        </p:spPr>
      </p:sp>
      <p:sp>
        <p:nvSpPr>
          <p:cNvPr id="5" name="Text 2"/>
          <p:cNvSpPr txBox="1"/>
          <p:nvPr/>
        </p:nvSpPr>
        <p:spPr>
          <a:xfrm>
            <a:off x="822960" y="4526280"/>
            <a:ext cx="10515600" cy="1005840"/>
          </a:xfrm>
          <a:prstGeom prst="rect">
            <a:avLst/>
          </a:prstGeom>
          <a:noFill/>
          <a:ln/>
        </p:spPr>
        <p:txBody>
          <a:bodyPr wrap="square" lIns="0" tIns="0" rIns="0" bIns="0" rtlCol="0" anchor="ctr"/>
          <a:lstStyle/>
          <a:p>
            <a:pPr indent="0" marL="0">
              <a:buNone/>
            </a:pPr>
            <a:r>
              <a:rPr lang="en-US" sz="1500" b="1" dirty="0">
                <a:solidFill>
                  <a:schemeClr val="tx2"/>
                </a:solidFill>
              </a:rPr>
              <a:t>Revenue = units × monthly fee × 12. </a:t>
            </a:r>
            <a:pPr indent="0" marL="0">
              <a:buNone/>
            </a:pPr>
            <a:r>
              <a:rPr lang="en-US" sz="1500" dirty="0">
                <a:solidFill>
                  <a:schemeClr val="tx1"/>
                </a:solidFill>
              </a:rPr>
              <a:t>Not modeled: retention lift on the core PEO fee, Agent Comp premium margin, delivery cost and carrier share. These are illustrative planning assumptions, not a forecast; every input is an open question the pilot answers.</a:t>
            </a:r>
            <a:endParaRPr lang="en-US" sz="15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Base case reaches about $96M in year 5</a:t>
            </a:r>
            <a:endParaRPr lang="en-US" sz="3600" dirty="0"/>
          </a:p>
        </p:txBody>
      </p:sp>
      <p:graphicFrame>
        <p:nvGraphicFramePr>
          <p:cNvPr id="3" name="Chart 0" descr=""/>
          <p:cNvGraphicFramePr/>
          <p:nvPr/>
        </p:nvGraphicFramePr>
        <p:xfrm>
          <a:off x="548640" y="1371600"/>
          <a:ext cx="7498080" cy="44805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8503920" y="1554480"/>
            <a:ext cx="3108960" cy="640080"/>
          </a:xfrm>
          <a:prstGeom prst="rect">
            <a:avLst/>
          </a:prstGeom>
          <a:noFill/>
          <a:ln/>
        </p:spPr>
        <p:txBody>
          <a:bodyPr wrap="square" lIns="0" tIns="0" rIns="0" bIns="0" rtlCol="0" anchor="t"/>
          <a:lstStyle/>
          <a:p>
            <a:pPr indent="0" marL="0">
              <a:buNone/>
            </a:pPr>
            <a:r>
              <a:rPr lang="en-US" sz="3600" b="1" dirty="0">
                <a:solidFill>
                  <a:schemeClr val="accent1"/>
                </a:solidFill>
                <a:latin typeface="Cambria" pitchFamily="34" charset="0"/>
                <a:ea typeface="Cambria" pitchFamily="34" charset="-122"/>
                <a:cs typeface="Cambria" pitchFamily="34" charset="-120"/>
              </a:rPr>
              <a:t>$96M</a:t>
            </a:r>
            <a:endParaRPr lang="en-US" sz="3600" dirty="0"/>
          </a:p>
        </p:txBody>
      </p:sp>
      <p:sp>
        <p:nvSpPr>
          <p:cNvPr id="5" name="Text 2"/>
          <p:cNvSpPr txBox="1"/>
          <p:nvPr/>
        </p:nvSpPr>
        <p:spPr>
          <a:xfrm>
            <a:off x="8503920" y="2212848"/>
            <a:ext cx="3108960" cy="548640"/>
          </a:xfrm>
          <a:prstGeom prst="rect">
            <a:avLst/>
          </a:prstGeom>
          <a:noFill/>
          <a:ln/>
        </p:spPr>
        <p:txBody>
          <a:bodyPr wrap="square" lIns="0" tIns="0" rIns="0" bIns="0" rtlCol="0" anchor="t"/>
          <a:lstStyle/>
          <a:p>
            <a:pPr indent="0" marL="0">
              <a:buNone/>
            </a:pPr>
            <a:r>
              <a:rPr lang="en-US" sz="1400" dirty="0">
                <a:solidFill>
                  <a:schemeClr val="accent4"/>
                </a:solidFill>
              </a:rPr>
              <a:t>base-case new revenue in year 5</a:t>
            </a:r>
            <a:endParaRPr lang="en-US" sz="1400" dirty="0"/>
          </a:p>
        </p:txBody>
      </p:sp>
      <p:sp>
        <p:nvSpPr>
          <p:cNvPr id="6" name="Text 3"/>
          <p:cNvSpPr txBox="1"/>
          <p:nvPr/>
        </p:nvSpPr>
        <p:spPr>
          <a:xfrm>
            <a:off x="8503920" y="2971800"/>
            <a:ext cx="3108960" cy="640080"/>
          </a:xfrm>
          <a:prstGeom prst="rect">
            <a:avLst/>
          </a:prstGeom>
          <a:noFill/>
          <a:ln/>
        </p:spPr>
        <p:txBody>
          <a:bodyPr wrap="square" lIns="0" tIns="0" rIns="0" bIns="0" rtlCol="0" anchor="t"/>
          <a:lstStyle/>
          <a:p>
            <a:pPr indent="0" marL="0">
              <a:buNone/>
            </a:pPr>
            <a:r>
              <a:rPr lang="en-US" sz="3600" b="1" dirty="0">
                <a:solidFill>
                  <a:schemeClr val="accent2"/>
                </a:solidFill>
                <a:latin typeface="Cambria" pitchFamily="34" charset="0"/>
                <a:ea typeface="Cambria" pitchFamily="34" charset="-122"/>
                <a:cs typeface="Cambria" pitchFamily="34" charset="-120"/>
              </a:rPr>
              <a:t>56%</a:t>
            </a:r>
            <a:endParaRPr lang="en-US" sz="3600" dirty="0"/>
          </a:p>
        </p:txBody>
      </p:sp>
      <p:sp>
        <p:nvSpPr>
          <p:cNvPr id="7" name="Text 4"/>
          <p:cNvSpPr txBox="1"/>
          <p:nvPr/>
        </p:nvSpPr>
        <p:spPr>
          <a:xfrm>
            <a:off x="8503920" y="3630168"/>
            <a:ext cx="3108960" cy="548640"/>
          </a:xfrm>
          <a:prstGeom prst="rect">
            <a:avLst/>
          </a:prstGeom>
          <a:noFill/>
          <a:ln/>
        </p:spPr>
        <p:txBody>
          <a:bodyPr wrap="square" lIns="0" tIns="0" rIns="0" bIns="0" rtlCol="0" anchor="t"/>
          <a:lstStyle/>
          <a:p>
            <a:pPr indent="0" marL="0">
              <a:buNone/>
            </a:pPr>
            <a:r>
              <a:rPr lang="en-US" sz="1400" dirty="0">
                <a:solidFill>
                  <a:schemeClr val="accent4"/>
                </a:solidFill>
              </a:rPr>
              <a:t>of year-5 revenue from the AEO, from a near-zero start</a:t>
            </a:r>
            <a:endParaRPr lang="en-US" sz="1400" dirty="0"/>
          </a:p>
        </p:txBody>
      </p:sp>
      <p:sp>
        <p:nvSpPr>
          <p:cNvPr id="8" name="Text 5"/>
          <p:cNvSpPr txBox="1"/>
          <p:nvPr/>
        </p:nvSpPr>
        <p:spPr>
          <a:xfrm>
            <a:off x="8503920" y="4389120"/>
            <a:ext cx="3108960" cy="640080"/>
          </a:xfrm>
          <a:prstGeom prst="rect">
            <a:avLst/>
          </a:prstGeom>
          <a:noFill/>
          <a:ln/>
        </p:spPr>
        <p:txBody>
          <a:bodyPr wrap="square" lIns="0" tIns="0" rIns="0" bIns="0" rtlCol="0" anchor="t"/>
          <a:lstStyle/>
          <a:p>
            <a:pPr indent="0" marL="0">
              <a:buNone/>
            </a:pPr>
            <a:r>
              <a:rPr lang="en-US" sz="3600" b="1" dirty="0">
                <a:solidFill>
                  <a:schemeClr val="accent1"/>
                </a:solidFill>
                <a:latin typeface="Cambria" pitchFamily="34" charset="0"/>
                <a:ea typeface="Cambria" pitchFamily="34" charset="-122"/>
                <a:cs typeface="Cambria" pitchFamily="34" charset="-120"/>
              </a:rPr>
              <a:t>$9M</a:t>
            </a:r>
            <a:endParaRPr lang="en-US" sz="3600" dirty="0"/>
          </a:p>
        </p:txBody>
      </p:sp>
      <p:sp>
        <p:nvSpPr>
          <p:cNvPr id="9" name="Text 6"/>
          <p:cNvSpPr txBox="1"/>
          <p:nvPr/>
        </p:nvSpPr>
        <p:spPr>
          <a:xfrm>
            <a:off x="8503920" y="5047488"/>
            <a:ext cx="3108960" cy="548640"/>
          </a:xfrm>
          <a:prstGeom prst="rect">
            <a:avLst/>
          </a:prstGeom>
          <a:noFill/>
          <a:ln/>
        </p:spPr>
        <p:txBody>
          <a:bodyPr wrap="square" lIns="0" tIns="0" rIns="0" bIns="0" rtlCol="0" anchor="t"/>
          <a:lstStyle/>
          <a:p>
            <a:pPr indent="0" marL="0">
              <a:buNone/>
            </a:pPr>
            <a:r>
              <a:rPr lang="en-US" sz="1400" dirty="0">
                <a:solidFill>
                  <a:schemeClr val="accent4"/>
                </a:solidFill>
              </a:rPr>
              <a:t>in year 2, the first full year after the pilot</a:t>
            </a:r>
            <a:endParaRPr lang="en-US" sz="1400" dirty="0"/>
          </a:p>
        </p:txBody>
      </p:sp>
      <p:sp>
        <p:nvSpPr>
          <p:cNvPr id="10" name="Text 7"/>
          <p:cNvSpPr txBox="1"/>
          <p:nvPr/>
        </p:nvSpPr>
        <p:spPr>
          <a:xfrm>
            <a:off x="548640" y="5989320"/>
            <a:ext cx="11064240" cy="320040"/>
          </a:xfrm>
          <a:prstGeom prst="rect">
            <a:avLst/>
          </a:prstGeom>
          <a:noFill/>
          <a:ln/>
        </p:spPr>
        <p:txBody>
          <a:bodyPr wrap="square" lIns="0" tIns="0" rIns="0" bIns="0" rtlCol="0" anchor="t"/>
          <a:lstStyle/>
          <a:p>
            <a:pPr indent="0" marL="0">
              <a:buNone/>
            </a:pPr>
            <a:r>
              <a:rPr lang="en-US" sz="1100" i="1" dirty="0">
                <a:solidFill>
                  <a:schemeClr val="accent4"/>
                </a:solidFill>
              </a:rPr>
              <a:t>Illustrative planning assumptions, not a forecast. Year 1 is the pilot; inputs on the previous slide.</a:t>
            </a:r>
            <a:endParaRPr lang="en-US" sz="11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Adoption drives every number</a:t>
            </a:r>
            <a:endParaRPr lang="en-US" sz="3600" dirty="0"/>
          </a:p>
        </p:txBody>
      </p:sp>
      <p:graphicFrame>
        <p:nvGraphicFramePr>
          <p:cNvPr id="3" name="Chart 0" descr=""/>
          <p:cNvGraphicFramePr/>
          <p:nvPr/>
        </p:nvGraphicFramePr>
        <p:xfrm>
          <a:off x="548640" y="1371600"/>
          <a:ext cx="5394960" cy="420624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1" descr=""/>
          <p:cNvGraphicFramePr/>
          <p:nvPr/>
        </p:nvGraphicFramePr>
        <p:xfrm>
          <a:off x="6217920" y="1371600"/>
          <a:ext cx="5394960" cy="4206240"/>
        </p:xfrm>
        <a:graphic xmlns:a="http://schemas.openxmlformats.org/drawingml/2006/main">
          <a:graphicData uri="http://schemas.openxmlformats.org/drawingml/2006/chart">
            <c:chart xmlns:c="http://schemas.openxmlformats.org/drawingml/2006/chart" r:id="rId2"/>
          </a:graphicData>
        </a:graphic>
      </p:graphicFrame>
      <p:sp>
        <p:nvSpPr>
          <p:cNvPr id="5" name="Text 1"/>
          <p:cNvSpPr txBox="1"/>
          <p:nvPr/>
        </p:nvSpPr>
        <p:spPr>
          <a:xfrm>
            <a:off x="548640" y="5989320"/>
            <a:ext cx="11064240" cy="320040"/>
          </a:xfrm>
          <a:prstGeom prst="rect">
            <a:avLst/>
          </a:prstGeom>
          <a:noFill/>
          <a:ln/>
        </p:spPr>
        <p:txBody>
          <a:bodyPr wrap="square" lIns="0" tIns="0" rIns="0" bIns="0" rtlCol="0" anchor="t"/>
          <a:lstStyle/>
          <a:p>
            <a:pPr indent="0" marL="0">
              <a:buNone/>
            </a:pPr>
            <a:r>
              <a:rPr lang="en-US" sz="1100" i="1" dirty="0">
                <a:solidFill>
                  <a:schemeClr val="accent4"/>
                </a:solidFill>
              </a:rPr>
              <a:t>Living Capital reaches about one-third of today's ~300,000 worksite employees by year 5. AEO counts are averages across the year.</a:t>
            </a:r>
            <a:endParaRPr lang="en-US" sz="11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Year 5 lands between $48M and $144M</a:t>
            </a:r>
            <a:endParaRPr lang="en-US" sz="3600" dirty="0"/>
          </a:p>
        </p:txBody>
      </p:sp>
      <p:graphicFrame>
        <p:nvGraphicFramePr>
          <p:cNvPr id="3" name="Chart 0" descr=""/>
          <p:cNvGraphicFramePr/>
          <p:nvPr/>
        </p:nvGraphicFramePr>
        <p:xfrm>
          <a:off x="548640" y="1371600"/>
          <a:ext cx="6766560" cy="4389120"/>
        </p:xfrm>
        <a:graphic xmlns:a="http://schemas.openxmlformats.org/drawingml/2006/main">
          <a:graphicData uri="http://schemas.openxmlformats.org/drawingml/2006/chart">
            <c:chart xmlns:c="http://schemas.openxmlformats.org/drawingml/2006/chart" r:id="rId1"/>
          </a:graphicData>
        </a:graphic>
      </p:graphicFrame>
      <p:sp>
        <p:nvSpPr>
          <p:cNvPr id="4" name="Drivers card"/>
          <p:cNvSpPr/>
          <p:nvPr/>
        </p:nvSpPr>
        <p:spPr>
          <a:xfrm>
            <a:off x="7680960" y="1463040"/>
            <a:ext cx="3931920" cy="4206240"/>
          </a:xfrm>
          <a:prstGeom prst="roundRect">
            <a:avLst>
              <a:gd name="adj" fmla="val 2326"/>
            </a:avLst>
          </a:prstGeom>
          <a:solidFill>
            <a:schemeClr val="bg2"/>
          </a:solidFill>
          <a:ln/>
        </p:spPr>
      </p:sp>
      <p:sp>
        <p:nvSpPr>
          <p:cNvPr id="5" name="Text 2"/>
          <p:cNvSpPr txBox="1"/>
          <p:nvPr/>
        </p:nvSpPr>
        <p:spPr>
          <a:xfrm>
            <a:off x="7955280" y="1691640"/>
            <a:ext cx="3474720" cy="36576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What moves the range</a:t>
            </a:r>
            <a:endParaRPr lang="en-US" sz="1800" dirty="0"/>
          </a:p>
        </p:txBody>
      </p:sp>
      <p:sp>
        <p:nvSpPr>
          <p:cNvPr id="6" name="Text 3"/>
          <p:cNvSpPr txBox="1"/>
          <p:nvPr/>
        </p:nvSpPr>
        <p:spPr>
          <a:xfrm>
            <a:off x="7955280" y="2194560"/>
            <a:ext cx="3474720" cy="3291840"/>
          </a:xfrm>
          <a:prstGeom prst="rect">
            <a:avLst/>
          </a:prstGeom>
          <a:noFill/>
          <a:ln/>
        </p:spPr>
        <p:txBody>
          <a:bodyPr wrap="square" lIns="0" tIns="0" rIns="0" bIns="0" rtlCol="0" anchor="t"/>
          <a:lstStyle/>
          <a:p>
            <a:pPr marL="342900" indent="-342900">
              <a:spcAft>
                <a:spcPts val="900"/>
              </a:spcAft>
              <a:buSzPct val="100000"/>
              <a:buChar char="•"/>
            </a:pPr>
            <a:r>
              <a:rPr lang="en-US" sz="1400" dirty="0">
                <a:solidFill>
                  <a:schemeClr val="tx1"/>
                </a:solidFill>
              </a:rPr>
              <a:t>Carrier appetite for Agent Comp sets the AEO fee and the pace of adoption</a:t>
            </a:r>
            <a:endParaRPr lang="en-US" sz="1400" dirty="0"/>
          </a:p>
          <a:p>
            <a:pPr marL="342900" indent="-342900">
              <a:spcAft>
                <a:spcPts val="900"/>
              </a:spcAft>
              <a:buSzPct val="100000"/>
              <a:buChar char="•"/>
            </a:pPr>
            <a:r>
              <a:rPr lang="en-US" sz="1400" dirty="0">
                <a:solidFill>
                  <a:schemeClr val="tx1"/>
                </a:solidFill>
              </a:rPr>
              <a:t>Counsel's view of pooled leave funds decides whether Living Capital pools across clients</a:t>
            </a:r>
            <a:endParaRPr lang="en-US" sz="1400" dirty="0"/>
          </a:p>
          <a:p>
            <a:pPr marL="342900" indent="-342900">
              <a:spcAft>
                <a:spcPts val="900"/>
              </a:spcAft>
              <a:buSzPct val="100000"/>
              <a:buChar char="•"/>
            </a:pPr>
            <a:r>
              <a:rPr lang="en-US" sz="1400" dirty="0">
                <a:solidFill>
                  <a:schemeClr val="tx1"/>
                </a:solidFill>
              </a:rPr>
              <a:t>Pilot renewals set willingness to pay</a:t>
            </a:r>
            <a:endParaRPr lang="en-US" sz="1400" dirty="0"/>
          </a:p>
          <a:p>
            <a:pPr marL="342900" indent="-342900">
              <a:spcAft>
                <a:spcPts val="900"/>
              </a:spcAft>
              <a:buSzPct val="100000"/>
              <a:buChar char="•"/>
            </a:pPr>
            <a:r>
              <a:rPr lang="en-US" sz="1400" dirty="0">
                <a:solidFill>
                  <a:schemeClr val="tx1"/>
                </a:solidFill>
              </a:rPr>
              <a:t>Upside not shown: higher renewal of the core PEO fee</a:t>
            </a:r>
            <a:endParaRPr lang="en-US" sz="1400" dirty="0"/>
          </a:p>
        </p:txBody>
      </p:sp>
      <p:sp>
        <p:nvSpPr>
          <p:cNvPr id="7" name="Text 4"/>
          <p:cNvSpPr txBox="1"/>
          <p:nvPr/>
        </p:nvSpPr>
        <p:spPr>
          <a:xfrm>
            <a:off x="548640" y="5989320"/>
            <a:ext cx="11064240" cy="320040"/>
          </a:xfrm>
          <a:prstGeom prst="rect">
            <a:avLst/>
          </a:prstGeom>
          <a:noFill/>
          <a:ln/>
        </p:spPr>
        <p:txBody>
          <a:bodyPr wrap="square" lIns="0" tIns="0" rIns="0" bIns="0" rtlCol="0" anchor="t"/>
          <a:lstStyle/>
          <a:p>
            <a:pPr indent="0" marL="0">
              <a:buNone/>
            </a:pPr>
            <a:r>
              <a:rPr lang="en-US" sz="1100" i="1" dirty="0">
                <a:solidFill>
                  <a:schemeClr val="accent4"/>
                </a:solidFill>
              </a:rPr>
              <a:t>Scenarios scale adoption only; fees are held at the base-case placeholders.</a:t>
            </a:r>
            <a:endParaRPr lang="en-US" sz="11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Three gates stand before a year-two launch</a:t>
            </a:r>
            <a:endParaRPr lang="en-US" sz="3600" dirty="0"/>
          </a:p>
        </p:txBody>
      </p:sp>
      <p:sp>
        <p:nvSpPr>
          <p:cNvPr id="3" name="Set up phase"/>
          <p:cNvSpPr/>
          <p:nvPr/>
        </p:nvSpPr>
        <p:spPr>
          <a:xfrm>
            <a:off x="548640" y="1463040"/>
            <a:ext cx="2560320" cy="2926080"/>
          </a:xfrm>
          <a:prstGeom prst="roundRect">
            <a:avLst>
              <a:gd name="adj" fmla="val 3571"/>
            </a:avLst>
          </a:prstGeom>
          <a:solidFill>
            <a:schemeClr val="bg2"/>
          </a:solidFill>
          <a:ln/>
        </p:spPr>
      </p:sp>
      <p:sp>
        <p:nvSpPr>
          <p:cNvPr id="4" name="Text 2"/>
          <p:cNvSpPr txBox="1"/>
          <p:nvPr/>
        </p:nvSpPr>
        <p:spPr>
          <a:xfrm>
            <a:off x="777240" y="1645920"/>
            <a:ext cx="2103120" cy="41148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Set up</a:t>
            </a:r>
            <a:endParaRPr lang="en-US" sz="2000" dirty="0"/>
          </a:p>
        </p:txBody>
      </p:sp>
      <p:sp>
        <p:nvSpPr>
          <p:cNvPr id="5" name="Text 3"/>
          <p:cNvSpPr txBox="1"/>
          <p:nvPr/>
        </p:nvSpPr>
        <p:spPr>
          <a:xfrm>
            <a:off x="777240" y="2057400"/>
            <a:ext cx="2103120" cy="274320"/>
          </a:xfrm>
          <a:prstGeom prst="rect">
            <a:avLst/>
          </a:prstGeom>
          <a:noFill/>
          <a:ln/>
        </p:spPr>
        <p:txBody>
          <a:bodyPr wrap="square" lIns="0" tIns="0" rIns="0" bIns="0" rtlCol="0" anchor="t"/>
          <a:lstStyle/>
          <a:p>
            <a:pPr indent="0" marL="0">
              <a:buNone/>
            </a:pPr>
            <a:r>
              <a:rPr lang="en-US" sz="1300" dirty="0">
                <a:solidFill>
                  <a:schemeClr val="accent4"/>
                </a:solidFill>
              </a:rPr>
              <a:t>Months 1–3</a:t>
            </a:r>
            <a:endParaRPr lang="en-US" sz="1300" dirty="0"/>
          </a:p>
        </p:txBody>
      </p:sp>
      <p:sp>
        <p:nvSpPr>
          <p:cNvPr id="6" name="Text 4"/>
          <p:cNvSpPr txBox="1"/>
          <p:nvPr/>
        </p:nvSpPr>
        <p:spPr>
          <a:xfrm>
            <a:off x="777240" y="2514600"/>
            <a:ext cx="2194560" cy="173736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Counsel on liability</a:t>
            </a:r>
            <a:endParaRPr lang="en-US" sz="1400" dirty="0"/>
          </a:p>
          <a:p>
            <a:pPr marL="342900" indent="-342900">
              <a:spcAft>
                <a:spcPts val="500"/>
              </a:spcAft>
              <a:buSzPct val="100000"/>
              <a:buChar char="•"/>
            </a:pPr>
            <a:r>
              <a:rPr lang="en-US" sz="1400" dirty="0">
                <a:solidFill>
                  <a:schemeClr val="tx1"/>
                </a:solidFill>
              </a:rPr>
              <a:t>Carrier outreach</a:t>
            </a:r>
            <a:endParaRPr lang="en-US" sz="1400" dirty="0"/>
          </a:p>
          <a:p>
            <a:pPr marL="342900" indent="-342900">
              <a:spcAft>
                <a:spcPts val="500"/>
              </a:spcAft>
              <a:buSzPct val="100000"/>
              <a:buChar char="•"/>
            </a:pPr>
            <a:r>
              <a:rPr lang="en-US" sz="1400" dirty="0">
                <a:solidFill>
                  <a:schemeClr val="tx1"/>
                </a:solidFill>
              </a:rPr>
              <a:t>Sign pilot clients</a:t>
            </a:r>
            <a:endParaRPr lang="en-US" sz="1400" dirty="0"/>
          </a:p>
          <a:p>
            <a:pPr marL="342900" indent="-342900">
              <a:spcAft>
                <a:spcPts val="500"/>
              </a:spcAft>
              <a:buSzPct val="100000"/>
              <a:buChar char="•"/>
            </a:pPr>
            <a:r>
              <a:rPr lang="en-US" sz="1400" dirty="0">
                <a:solidFill>
                  <a:schemeClr val="tx1"/>
                </a:solidFill>
              </a:rPr>
              <a:t>Baseline scorecards</a:t>
            </a:r>
            <a:endParaRPr lang="en-US" sz="1400" dirty="0"/>
          </a:p>
        </p:txBody>
      </p:sp>
      <p:sp>
        <p:nvSpPr>
          <p:cNvPr id="7" name="Pilot phase"/>
          <p:cNvSpPr/>
          <p:nvPr/>
        </p:nvSpPr>
        <p:spPr>
          <a:xfrm>
            <a:off x="3383280" y="1463040"/>
            <a:ext cx="2560320" cy="2926080"/>
          </a:xfrm>
          <a:prstGeom prst="roundRect">
            <a:avLst>
              <a:gd name="adj" fmla="val 3571"/>
            </a:avLst>
          </a:prstGeom>
          <a:solidFill>
            <a:schemeClr val="bg2"/>
          </a:solidFill>
          <a:ln/>
        </p:spPr>
      </p:sp>
      <p:sp>
        <p:nvSpPr>
          <p:cNvPr id="8" name="Text 6"/>
          <p:cNvSpPr txBox="1"/>
          <p:nvPr/>
        </p:nvSpPr>
        <p:spPr>
          <a:xfrm>
            <a:off x="3611880" y="1645920"/>
            <a:ext cx="2103120" cy="41148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Pilot</a:t>
            </a:r>
            <a:endParaRPr lang="en-US" sz="2000" dirty="0"/>
          </a:p>
        </p:txBody>
      </p:sp>
      <p:sp>
        <p:nvSpPr>
          <p:cNvPr id="9" name="Text 7"/>
          <p:cNvSpPr txBox="1"/>
          <p:nvPr/>
        </p:nvSpPr>
        <p:spPr>
          <a:xfrm>
            <a:off x="3611880" y="2057400"/>
            <a:ext cx="2103120" cy="274320"/>
          </a:xfrm>
          <a:prstGeom prst="rect">
            <a:avLst/>
          </a:prstGeom>
          <a:noFill/>
          <a:ln/>
        </p:spPr>
        <p:txBody>
          <a:bodyPr wrap="square" lIns="0" tIns="0" rIns="0" bIns="0" rtlCol="0" anchor="t"/>
          <a:lstStyle/>
          <a:p>
            <a:pPr indent="0" marL="0">
              <a:buNone/>
            </a:pPr>
            <a:r>
              <a:rPr lang="en-US" sz="1300" dirty="0">
                <a:solidFill>
                  <a:schemeClr val="accent4"/>
                </a:solidFill>
              </a:rPr>
              <a:t>Months 4–9</a:t>
            </a:r>
            <a:endParaRPr lang="en-US" sz="1300" dirty="0"/>
          </a:p>
        </p:txBody>
      </p:sp>
      <p:sp>
        <p:nvSpPr>
          <p:cNvPr id="10" name="Text 8"/>
          <p:cNvSpPr txBox="1"/>
          <p:nvPr/>
        </p:nvSpPr>
        <p:spPr>
          <a:xfrm>
            <a:off x="3611880" y="2514600"/>
            <a:ext cx="2194560" cy="173736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Living Capital, 20–30 clients</a:t>
            </a:r>
            <a:endParaRPr lang="en-US" sz="1400" dirty="0"/>
          </a:p>
          <a:p>
            <a:pPr marL="342900" indent="-342900">
              <a:spcAft>
                <a:spcPts val="500"/>
              </a:spcAft>
              <a:buSzPct val="100000"/>
              <a:buChar char="•"/>
            </a:pPr>
            <a:r>
              <a:rPr lang="en-US" sz="1400" dirty="0">
                <a:solidFill>
                  <a:schemeClr val="tx1"/>
                </a:solidFill>
              </a:rPr>
              <a:t>AEO attest, 5–10 clients</a:t>
            </a:r>
            <a:endParaRPr lang="en-US" sz="1400" dirty="0"/>
          </a:p>
          <a:p>
            <a:pPr marL="342900" indent="-342900">
              <a:spcAft>
                <a:spcPts val="500"/>
              </a:spcAft>
              <a:buSzPct val="100000"/>
              <a:buChar char="•"/>
            </a:pPr>
            <a:r>
              <a:rPr lang="en-US" sz="1400" dirty="0">
                <a:solidFill>
                  <a:schemeClr val="tx1"/>
                </a:solidFill>
              </a:rPr>
              <a:t>Quarterly scorecards</a:t>
            </a:r>
            <a:endParaRPr lang="en-US" sz="1400" dirty="0"/>
          </a:p>
          <a:p>
            <a:pPr marL="342900" indent="-342900">
              <a:spcAft>
                <a:spcPts val="500"/>
              </a:spcAft>
              <a:buSzPct val="100000"/>
              <a:buChar char="•"/>
            </a:pPr>
            <a:r>
              <a:rPr lang="en-US" sz="1400" dirty="0">
                <a:solidFill>
                  <a:schemeClr val="tx1"/>
                </a:solidFill>
              </a:rPr>
              <a:t>Agent loss data</a:t>
            </a:r>
            <a:endParaRPr lang="en-US" sz="1400" dirty="0"/>
          </a:p>
        </p:txBody>
      </p:sp>
      <p:sp>
        <p:nvSpPr>
          <p:cNvPr id="11" name="Decide phase"/>
          <p:cNvSpPr/>
          <p:nvPr/>
        </p:nvSpPr>
        <p:spPr>
          <a:xfrm>
            <a:off x="6217920" y="1463040"/>
            <a:ext cx="2560320" cy="2926080"/>
          </a:xfrm>
          <a:prstGeom prst="roundRect">
            <a:avLst>
              <a:gd name="adj" fmla="val 3571"/>
            </a:avLst>
          </a:prstGeom>
          <a:solidFill>
            <a:schemeClr val="bg2"/>
          </a:solidFill>
          <a:ln/>
        </p:spPr>
      </p:sp>
      <p:sp>
        <p:nvSpPr>
          <p:cNvPr id="12" name="Text 10"/>
          <p:cNvSpPr txBox="1"/>
          <p:nvPr/>
        </p:nvSpPr>
        <p:spPr>
          <a:xfrm>
            <a:off x="6446520" y="1645920"/>
            <a:ext cx="2103120" cy="41148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Decide</a:t>
            </a:r>
            <a:endParaRPr lang="en-US" sz="2000" dirty="0"/>
          </a:p>
        </p:txBody>
      </p:sp>
      <p:sp>
        <p:nvSpPr>
          <p:cNvPr id="13" name="Text 11"/>
          <p:cNvSpPr txBox="1"/>
          <p:nvPr/>
        </p:nvSpPr>
        <p:spPr>
          <a:xfrm>
            <a:off x="6446520" y="2057400"/>
            <a:ext cx="2103120" cy="274320"/>
          </a:xfrm>
          <a:prstGeom prst="rect">
            <a:avLst/>
          </a:prstGeom>
          <a:noFill/>
          <a:ln/>
        </p:spPr>
        <p:txBody>
          <a:bodyPr wrap="square" lIns="0" tIns="0" rIns="0" bIns="0" rtlCol="0" anchor="t"/>
          <a:lstStyle/>
          <a:p>
            <a:pPr indent="0" marL="0">
              <a:buNone/>
            </a:pPr>
            <a:r>
              <a:rPr lang="en-US" sz="1300" dirty="0">
                <a:solidFill>
                  <a:schemeClr val="accent4"/>
                </a:solidFill>
              </a:rPr>
              <a:t>Months 10–12</a:t>
            </a:r>
            <a:endParaRPr lang="en-US" sz="1300" dirty="0"/>
          </a:p>
        </p:txBody>
      </p:sp>
      <p:sp>
        <p:nvSpPr>
          <p:cNvPr id="14" name="Text 12"/>
          <p:cNvSpPr txBox="1"/>
          <p:nvPr/>
        </p:nvSpPr>
        <p:spPr>
          <a:xfrm>
            <a:off x="6446520" y="2514600"/>
            <a:ext cx="2194560" cy="173736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Renewals vs. cohort</a:t>
            </a:r>
            <a:endParaRPr lang="en-US" sz="1400" dirty="0"/>
          </a:p>
          <a:p>
            <a:pPr marL="342900" indent="-342900">
              <a:spcAft>
                <a:spcPts val="500"/>
              </a:spcAft>
              <a:buSzPct val="100000"/>
              <a:buChar char="•"/>
            </a:pPr>
            <a:r>
              <a:rPr lang="en-US" sz="1400" dirty="0">
                <a:solidFill>
                  <a:schemeClr val="tx1"/>
                </a:solidFill>
              </a:rPr>
              <a:t>Set prices</a:t>
            </a:r>
            <a:endParaRPr lang="en-US" sz="1400" dirty="0"/>
          </a:p>
          <a:p>
            <a:pPr marL="342900" indent="-342900">
              <a:spcAft>
                <a:spcPts val="500"/>
              </a:spcAft>
              <a:buSzPct val="100000"/>
              <a:buChar char="•"/>
            </a:pPr>
            <a:r>
              <a:rPr lang="en-US" sz="1400" dirty="0">
                <a:solidFill>
                  <a:schemeClr val="tx1"/>
                </a:solidFill>
              </a:rPr>
              <a:t>Go or no-go</a:t>
            </a:r>
            <a:endParaRPr lang="en-US" sz="1400" dirty="0"/>
          </a:p>
          <a:p>
            <a:pPr marL="342900" indent="-342900">
              <a:spcAft>
                <a:spcPts val="500"/>
              </a:spcAft>
              <a:buSzPct val="100000"/>
              <a:buChar char="•"/>
            </a:pPr>
            <a:r>
              <a:rPr lang="en-US" sz="1400" dirty="0">
                <a:solidFill>
                  <a:schemeClr val="tx1"/>
                </a:solidFill>
              </a:rPr>
              <a:t>Design blended deal</a:t>
            </a:r>
            <a:endParaRPr lang="en-US" sz="1400" dirty="0"/>
          </a:p>
        </p:txBody>
      </p:sp>
      <p:sp>
        <p:nvSpPr>
          <p:cNvPr id="15" name="Scale phase"/>
          <p:cNvSpPr/>
          <p:nvPr/>
        </p:nvSpPr>
        <p:spPr>
          <a:xfrm>
            <a:off x="9052560" y="1463040"/>
            <a:ext cx="2560320" cy="2926080"/>
          </a:xfrm>
          <a:prstGeom prst="roundRect">
            <a:avLst>
              <a:gd name="adj" fmla="val 3571"/>
            </a:avLst>
          </a:prstGeom>
          <a:solidFill>
            <a:schemeClr val="tx2"/>
          </a:solidFill>
          <a:ln/>
        </p:spPr>
      </p:sp>
      <p:sp>
        <p:nvSpPr>
          <p:cNvPr id="16" name="Text 14"/>
          <p:cNvSpPr txBox="1"/>
          <p:nvPr/>
        </p:nvSpPr>
        <p:spPr>
          <a:xfrm>
            <a:off x="9281160" y="1645920"/>
            <a:ext cx="2103120" cy="411480"/>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Scale</a:t>
            </a:r>
            <a:endParaRPr lang="en-US" sz="2000" dirty="0"/>
          </a:p>
        </p:txBody>
      </p:sp>
      <p:sp>
        <p:nvSpPr>
          <p:cNvPr id="17" name="Text 15"/>
          <p:cNvSpPr txBox="1"/>
          <p:nvPr/>
        </p:nvSpPr>
        <p:spPr>
          <a:xfrm>
            <a:off x="9281160" y="2057400"/>
            <a:ext cx="2103120" cy="274320"/>
          </a:xfrm>
          <a:prstGeom prst="rect">
            <a:avLst/>
          </a:prstGeom>
          <a:noFill/>
          <a:ln/>
        </p:spPr>
        <p:txBody>
          <a:bodyPr wrap="square" lIns="0" tIns="0" rIns="0" bIns="0" rtlCol="0" anchor="t"/>
          <a:lstStyle/>
          <a:p>
            <a:pPr indent="0" marL="0">
              <a:buNone/>
            </a:pPr>
            <a:r>
              <a:rPr lang="en-US" sz="1300" dirty="0">
                <a:solidFill>
                  <a:schemeClr val="accent3"/>
                </a:solidFill>
              </a:rPr>
              <a:t>Year 2</a:t>
            </a:r>
            <a:endParaRPr lang="en-US" sz="1300" dirty="0"/>
          </a:p>
        </p:txBody>
      </p:sp>
      <p:sp>
        <p:nvSpPr>
          <p:cNvPr id="18" name="Text 16"/>
          <p:cNvSpPr txBox="1"/>
          <p:nvPr/>
        </p:nvSpPr>
        <p:spPr>
          <a:xfrm>
            <a:off x="9281160" y="2514600"/>
            <a:ext cx="2194560" cy="173736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bg1"/>
                </a:solidFill>
              </a:rPr>
              <a:t>Living Capital GA</a:t>
            </a:r>
            <a:endParaRPr lang="en-US" sz="1400" dirty="0"/>
          </a:p>
          <a:p>
            <a:pPr marL="342900" indent="-342900">
              <a:spcAft>
                <a:spcPts val="500"/>
              </a:spcAft>
              <a:buSzPct val="100000"/>
              <a:buChar char="•"/>
            </a:pPr>
            <a:r>
              <a:rPr lang="en-US" sz="1400" dirty="0">
                <a:solidFill>
                  <a:schemeClr val="bg1"/>
                </a:solidFill>
              </a:rPr>
              <a:t>Full AEO runtime</a:t>
            </a:r>
            <a:endParaRPr lang="en-US" sz="1400" dirty="0"/>
          </a:p>
          <a:p>
            <a:pPr marL="342900" indent="-342900">
              <a:spcAft>
                <a:spcPts val="500"/>
              </a:spcAft>
              <a:buSzPct val="100000"/>
              <a:buChar char="•"/>
            </a:pPr>
            <a:r>
              <a:rPr lang="en-US" sz="1400" dirty="0">
                <a:solidFill>
                  <a:schemeClr val="bg1"/>
                </a:solidFill>
              </a:rPr>
              <a:t>Blended agreement</a:t>
            </a:r>
            <a:endParaRPr lang="en-US" sz="1400" dirty="0"/>
          </a:p>
          <a:p>
            <a:pPr marL="342900" indent="-342900">
              <a:spcAft>
                <a:spcPts val="500"/>
              </a:spcAft>
              <a:buSzPct val="100000"/>
              <a:buChar char="•"/>
            </a:pPr>
            <a:r>
              <a:rPr lang="en-US" sz="1400" dirty="0">
                <a:solidFill>
                  <a:schemeClr val="bg1"/>
                </a:solidFill>
              </a:rPr>
              <a:t>Enterprise labs</a:t>
            </a:r>
            <a:endParaRPr lang="en-US" sz="1400" dirty="0"/>
          </a:p>
        </p:txBody>
      </p:sp>
      <p:sp>
        <p:nvSpPr>
          <p:cNvPr id="19" name="Gate line"/>
          <p:cNvSpPr/>
          <p:nvPr/>
        </p:nvSpPr>
        <p:spPr>
          <a:xfrm>
            <a:off x="548640" y="4846320"/>
            <a:ext cx="11064240" cy="0"/>
          </a:xfrm>
          <a:prstGeom prst="line">
            <a:avLst/>
          </a:prstGeom>
          <a:noFill/>
          <a:ln w="19050">
            <a:solidFill>
              <a:srgbClr val="A9C4A6"/>
            </a:solidFill>
            <a:prstDash val="solid"/>
          </a:ln>
        </p:spPr>
      </p:sp>
      <p:sp>
        <p:nvSpPr>
          <p:cNvPr id="20" name="Gate A marker"/>
          <p:cNvSpPr/>
          <p:nvPr/>
        </p:nvSpPr>
        <p:spPr>
          <a:xfrm>
            <a:off x="3090672" y="4690872"/>
            <a:ext cx="310896" cy="310896"/>
          </a:xfrm>
          <a:prstGeom prst="diamond">
            <a:avLst/>
          </a:prstGeom>
          <a:solidFill>
            <a:srgbClr val="FFFFFF"/>
          </a:solidFill>
          <a:ln w="15875">
            <a:solidFill>
              <a:srgbClr val="5A6763"/>
            </a:solidFill>
            <a:prstDash val="solid"/>
          </a:ln>
        </p:spPr>
      </p:sp>
      <p:sp>
        <p:nvSpPr>
          <p:cNvPr id="21" name="Text 19"/>
          <p:cNvSpPr txBox="1"/>
          <p:nvPr/>
        </p:nvSpPr>
        <p:spPr>
          <a:xfrm>
            <a:off x="2011680" y="5120640"/>
            <a:ext cx="2468880" cy="274320"/>
          </a:xfrm>
          <a:prstGeom prst="rect">
            <a:avLst/>
          </a:prstGeom>
          <a:noFill/>
          <a:ln/>
        </p:spPr>
        <p:txBody>
          <a:bodyPr wrap="square" lIns="0" tIns="0" rIns="0" bIns="0" rtlCol="0" anchor="t"/>
          <a:lstStyle/>
          <a:p>
            <a:pPr algn="ctr" indent="0" marL="0">
              <a:buNone/>
            </a:pPr>
            <a:r>
              <a:rPr lang="en-US" sz="1400" b="1" dirty="0">
                <a:solidFill>
                  <a:schemeClr val="tx2"/>
                </a:solidFill>
              </a:rPr>
              <a:t>Gate A</a:t>
            </a:r>
            <a:endParaRPr lang="en-US" sz="1400" dirty="0"/>
          </a:p>
        </p:txBody>
      </p:sp>
      <p:sp>
        <p:nvSpPr>
          <p:cNvPr id="22" name="Text 20"/>
          <p:cNvSpPr txBox="1"/>
          <p:nvPr/>
        </p:nvSpPr>
        <p:spPr>
          <a:xfrm>
            <a:off x="2011680" y="5394960"/>
            <a:ext cx="2468880" cy="548640"/>
          </a:xfrm>
          <a:prstGeom prst="rect">
            <a:avLst/>
          </a:prstGeom>
          <a:noFill/>
          <a:ln/>
        </p:spPr>
        <p:txBody>
          <a:bodyPr wrap="square" lIns="0" tIns="0" rIns="0" bIns="0" rtlCol="0" anchor="t"/>
          <a:lstStyle/>
          <a:p>
            <a:pPr algn="ctr" indent="0" marL="0">
              <a:buNone/>
            </a:pPr>
            <a:r>
              <a:rPr lang="en-US" sz="1200" dirty="0">
                <a:solidFill>
                  <a:schemeClr val="accent4"/>
                </a:solidFill>
              </a:rPr>
              <a:t>Counsel clears the schedule; 20+ clients signed</a:t>
            </a:r>
            <a:endParaRPr lang="en-US" sz="1200" dirty="0"/>
          </a:p>
        </p:txBody>
      </p:sp>
      <p:sp>
        <p:nvSpPr>
          <p:cNvPr id="23" name="Gate B marker"/>
          <p:cNvSpPr/>
          <p:nvPr/>
        </p:nvSpPr>
        <p:spPr>
          <a:xfrm>
            <a:off x="5925312" y="4690872"/>
            <a:ext cx="310896" cy="310896"/>
          </a:xfrm>
          <a:prstGeom prst="diamond">
            <a:avLst/>
          </a:prstGeom>
          <a:solidFill>
            <a:srgbClr val="FFFFFF"/>
          </a:solidFill>
          <a:ln w="15875">
            <a:solidFill>
              <a:srgbClr val="5A6763"/>
            </a:solidFill>
            <a:prstDash val="solid"/>
          </a:ln>
        </p:spPr>
      </p:sp>
      <p:sp>
        <p:nvSpPr>
          <p:cNvPr id="24" name="Text 22"/>
          <p:cNvSpPr txBox="1"/>
          <p:nvPr/>
        </p:nvSpPr>
        <p:spPr>
          <a:xfrm>
            <a:off x="4846320" y="5120640"/>
            <a:ext cx="2468880" cy="274320"/>
          </a:xfrm>
          <a:prstGeom prst="rect">
            <a:avLst/>
          </a:prstGeom>
          <a:noFill/>
          <a:ln/>
        </p:spPr>
        <p:txBody>
          <a:bodyPr wrap="square" lIns="0" tIns="0" rIns="0" bIns="0" rtlCol="0" anchor="t"/>
          <a:lstStyle/>
          <a:p>
            <a:pPr algn="ctr" indent="0" marL="0">
              <a:buNone/>
            </a:pPr>
            <a:r>
              <a:rPr lang="en-US" sz="1400" b="1" dirty="0">
                <a:solidFill>
                  <a:schemeClr val="tx2"/>
                </a:solidFill>
              </a:rPr>
              <a:t>Gate B</a:t>
            </a:r>
            <a:endParaRPr lang="en-US" sz="1400" dirty="0"/>
          </a:p>
        </p:txBody>
      </p:sp>
      <p:sp>
        <p:nvSpPr>
          <p:cNvPr id="25" name="Text 23"/>
          <p:cNvSpPr txBox="1"/>
          <p:nvPr/>
        </p:nvSpPr>
        <p:spPr>
          <a:xfrm>
            <a:off x="4846320" y="5394960"/>
            <a:ext cx="2468880" cy="548640"/>
          </a:xfrm>
          <a:prstGeom prst="rect">
            <a:avLst/>
          </a:prstGeom>
          <a:noFill/>
          <a:ln/>
        </p:spPr>
        <p:txBody>
          <a:bodyPr wrap="square" lIns="0" tIns="0" rIns="0" bIns="0" rtlCol="0" anchor="t"/>
          <a:lstStyle/>
          <a:p>
            <a:pPr algn="ctr" indent="0" marL="0">
              <a:buNone/>
            </a:pPr>
            <a:r>
              <a:rPr lang="en-US" sz="1200" dirty="0">
                <a:solidFill>
                  <a:schemeClr val="accent4"/>
                </a:solidFill>
              </a:rPr>
              <a:t>Carrier quote in hand; scorecard on track</a:t>
            </a:r>
            <a:endParaRPr lang="en-US" sz="1200" dirty="0"/>
          </a:p>
        </p:txBody>
      </p:sp>
      <p:sp>
        <p:nvSpPr>
          <p:cNvPr id="26" name="Gate C: launch marker"/>
          <p:cNvSpPr/>
          <p:nvPr/>
        </p:nvSpPr>
        <p:spPr>
          <a:xfrm>
            <a:off x="8759952" y="4690872"/>
            <a:ext cx="310896" cy="310896"/>
          </a:xfrm>
          <a:prstGeom prst="diamond">
            <a:avLst/>
          </a:prstGeom>
          <a:solidFill>
            <a:srgbClr val="C98F2B"/>
          </a:solidFill>
          <a:ln w="15875">
            <a:solidFill>
              <a:srgbClr val="C98F2B"/>
            </a:solidFill>
            <a:prstDash val="solid"/>
          </a:ln>
        </p:spPr>
      </p:sp>
      <p:sp>
        <p:nvSpPr>
          <p:cNvPr id="27" name="Text 25"/>
          <p:cNvSpPr txBox="1"/>
          <p:nvPr/>
        </p:nvSpPr>
        <p:spPr>
          <a:xfrm>
            <a:off x="7680960" y="5120640"/>
            <a:ext cx="2468880" cy="274320"/>
          </a:xfrm>
          <a:prstGeom prst="rect">
            <a:avLst/>
          </a:prstGeom>
          <a:noFill/>
          <a:ln/>
        </p:spPr>
        <p:txBody>
          <a:bodyPr wrap="square" lIns="0" tIns="0" rIns="0" bIns="0" rtlCol="0" anchor="t"/>
          <a:lstStyle/>
          <a:p>
            <a:pPr algn="ctr" indent="0" marL="0">
              <a:buNone/>
            </a:pPr>
            <a:r>
              <a:rPr lang="en-US" sz="1400" b="1" dirty="0">
                <a:solidFill>
                  <a:schemeClr val="tx2"/>
                </a:solidFill>
              </a:rPr>
              <a:t>Gate C: launch</a:t>
            </a:r>
            <a:endParaRPr lang="en-US" sz="1400" dirty="0"/>
          </a:p>
        </p:txBody>
      </p:sp>
      <p:sp>
        <p:nvSpPr>
          <p:cNvPr id="28" name="Text 26"/>
          <p:cNvSpPr txBox="1"/>
          <p:nvPr/>
        </p:nvSpPr>
        <p:spPr>
          <a:xfrm>
            <a:off x="7680960" y="5394960"/>
            <a:ext cx="2468880" cy="548640"/>
          </a:xfrm>
          <a:prstGeom prst="rect">
            <a:avLst/>
          </a:prstGeom>
          <a:noFill/>
          <a:ln/>
        </p:spPr>
        <p:txBody>
          <a:bodyPr wrap="square" lIns="0" tIns="0" rIns="0" bIns="0" rtlCol="0" anchor="t"/>
          <a:lstStyle/>
          <a:p>
            <a:pPr algn="ctr" indent="0" marL="0">
              <a:buNone/>
            </a:pPr>
            <a:r>
              <a:rPr lang="en-US" sz="1200" dirty="0">
                <a:solidFill>
                  <a:schemeClr val="accent4"/>
                </a:solidFill>
              </a:rPr>
              <a:t>Renewal lift of 5+ points; no unresolved loss</a:t>
            </a:r>
            <a:endParaRPr lang="en-US" sz="1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Legal risk outweighs technical risk</a:t>
            </a:r>
            <a:endParaRPr lang="en-US" sz="3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3291840"/>
                <a:gridCol w="3749040"/>
                <a:gridCol w="4023360"/>
              </a:tblGrid>
              <a:tr h="603504">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Risk</a:t>
                      </a:r>
                      <a:endParaRPr lang="en-US" sz="1300" dirty="0">
                        <a:latin typeface="Calibri" charset="0"/>
                        <a:ea typeface="Calibri" charset="0"/>
                        <a:cs typeface="Calibri" charset="0"/>
                      </a:endParaRPr>
                    </a:p>
                  </a:txBody>
                  <a:tcPr marL="91440" marR="91440" marT="45720" marB="45720" anchor="ctr">
                    <a:lnL w="9525" cap="flat" cmpd="sng" algn="ctr">
                      <a:solidFill>
                        <a:srgbClr val="DCE3DC"/>
                      </a:solidFill>
                      <a:prstDash val="solid"/>
                      <a:round/>
                      <a:headEnd type="none" w="med" len="med"/>
                      <a:tailEnd type="none" w="med" len="med"/>
                    </a:lnL>
                    <a:lnR w="9525" cap="flat" cmpd="sng" algn="ctr">
                      <a:solidFill>
                        <a:srgbClr val="DCE3DC"/>
                      </a:solidFill>
                      <a:prstDash val="solid"/>
                      <a:round/>
                      <a:headEnd type="none" w="med" len="med"/>
                      <a:tailEnd type="none" w="med" len="med"/>
                    </a:lnR>
                    <a:lnT w="9525" cap="flat" cmpd="sng" algn="ctr">
                      <a:solidFill>
                        <a:srgbClr val="DCE3DC"/>
                      </a:solidFill>
                      <a:prstDash val="solid"/>
                      <a:round/>
                      <a:headEnd type="none" w="med" len="med"/>
                      <a:tailEnd type="none" w="med" len="med"/>
                    </a:lnT>
                    <a:lnB w="9525" cap="flat" cmpd="sng" algn="ctr">
                      <a:solidFill>
                        <a:srgbClr val="DCE3DC"/>
                      </a:solidFill>
                      <a:prstDash val="solid"/>
                      <a:round/>
                      <a:headEnd type="none" w="med" len="med"/>
                      <a:tailEnd type="none" w="med" len="med"/>
                    </a:lnB>
                    <a:solidFill>
                      <a:srgbClr val="1B2E2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Why it matters</a:t>
                      </a:r>
                      <a:endParaRPr lang="en-US" sz="1300" dirty="0">
                        <a:latin typeface="Calibri" charset="0"/>
                        <a:ea typeface="Calibri" charset="0"/>
                        <a:cs typeface="Calibri" charset="0"/>
                      </a:endParaRPr>
                    </a:p>
                  </a:txBody>
                  <a:tcPr marL="91440" marR="91440" marT="45720" marB="45720" anchor="ctr">
                    <a:lnL w="9525" cap="flat" cmpd="sng" algn="ctr">
                      <a:solidFill>
                        <a:srgbClr val="DCE3DC"/>
                      </a:solidFill>
                      <a:prstDash val="solid"/>
                      <a:round/>
                      <a:headEnd type="none" w="med" len="med"/>
                      <a:tailEnd type="none" w="med" len="med"/>
                    </a:lnL>
                    <a:lnR w="9525" cap="flat" cmpd="sng" algn="ctr">
                      <a:solidFill>
                        <a:srgbClr val="DCE3DC"/>
                      </a:solidFill>
                      <a:prstDash val="solid"/>
                      <a:round/>
                      <a:headEnd type="none" w="med" len="med"/>
                      <a:tailEnd type="none" w="med" len="med"/>
                    </a:lnR>
                    <a:lnT w="9525" cap="flat" cmpd="sng" algn="ctr">
                      <a:solidFill>
                        <a:srgbClr val="DCE3DC"/>
                      </a:solidFill>
                      <a:prstDash val="solid"/>
                      <a:round/>
                      <a:headEnd type="none" w="med" len="med"/>
                      <a:tailEnd type="none" w="med" len="med"/>
                    </a:lnT>
                    <a:lnB w="9525" cap="flat" cmpd="sng" algn="ctr">
                      <a:solidFill>
                        <a:srgbClr val="DCE3DC"/>
                      </a:solidFill>
                      <a:prstDash val="solid"/>
                      <a:round/>
                      <a:headEnd type="none" w="med" len="med"/>
                      <a:tailEnd type="none" w="med" len="med"/>
                    </a:lnB>
                    <a:solidFill>
                      <a:srgbClr val="1B2E2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Mitigation</a:t>
                      </a:r>
                      <a:endParaRPr lang="en-US" sz="1300" dirty="0">
                        <a:latin typeface="Calibri" charset="0"/>
                        <a:ea typeface="Calibri" charset="0"/>
                        <a:cs typeface="Calibri" charset="0"/>
                      </a:endParaRPr>
                    </a:p>
                  </a:txBody>
                  <a:tcPr marL="91440" marR="91440" marT="45720" marB="45720" anchor="ctr">
                    <a:lnL w="9525" cap="flat" cmpd="sng" algn="ctr">
                      <a:solidFill>
                        <a:srgbClr val="DCE3DC"/>
                      </a:solidFill>
                      <a:prstDash val="solid"/>
                      <a:round/>
                      <a:headEnd type="none" w="med" len="med"/>
                      <a:tailEnd type="none" w="med" len="med"/>
                    </a:lnL>
                    <a:lnR w="9525" cap="flat" cmpd="sng" algn="ctr">
                      <a:solidFill>
                        <a:srgbClr val="DCE3DC"/>
                      </a:solidFill>
                      <a:prstDash val="solid"/>
                      <a:round/>
                      <a:headEnd type="none" w="med" len="med"/>
                      <a:tailEnd type="none" w="med" len="med"/>
                    </a:lnR>
                    <a:lnT w="9525" cap="flat" cmpd="sng" algn="ctr">
                      <a:solidFill>
                        <a:srgbClr val="DCE3DC"/>
                      </a:solidFill>
                      <a:prstDash val="solid"/>
                      <a:round/>
                      <a:headEnd type="none" w="med" len="med"/>
                      <a:tailEnd type="none" w="med" len="med"/>
                    </a:lnT>
                    <a:lnB w="9525" cap="flat" cmpd="sng" algn="ctr">
                      <a:solidFill>
                        <a:srgbClr val="DCE3DC"/>
                      </a:solidFill>
                      <a:prstDash val="solid"/>
                      <a:round/>
                      <a:headEnd type="none" w="med" len="med"/>
                      <a:tailEnd type="none" w="med" len="med"/>
                    </a:lnB>
                    <a:solidFill>
                      <a:srgbClr val="1B2E2A"/>
                    </a:solidFill>
                  </a:tcPr>
                </a:tc>
              </a:tr>
              <a:tr h="603504">
                <a:tc>
                  <a:txBody>
                    <a:bodyPr/>
                    <a:lstStyle/>
                    <a:p>
                      <a:pPr indent="0" marL="0">
                        <a:buNone/>
                      </a:pPr>
                      <a:r>
                        <a:rPr lang="en-US" sz="1300" b="1" dirty="0">
                          <a:solidFill>
                            <a:srgbClr val="1F2A26"/>
                          </a:solidFill>
                          <a:latin typeface="Calibri" pitchFamily="34" charset="0"/>
                          <a:ea typeface="Calibri" pitchFamily="34" charset="-122"/>
                          <a:cs typeface="Calibri" pitchFamily="34" charset="-120"/>
                        </a:rPr>
                        <a:t>Agent liability allocation is untested</a:t>
                      </a:r>
                      <a:endParaRPr lang="en-US" sz="1300" dirty="0">
                        <a:latin typeface="Calibri" charset="0"/>
                        <a:ea typeface="Calibri" charset="0"/>
                        <a:cs typeface="Calibri" charset="0"/>
                      </a:endParaRPr>
                    </a:p>
                  </a:txBody>
                  <a:tcPr marL="91440" marR="91440" marT="45720" marB="45720" anchor="ctr">
                    <a:lnL w="9525" cap="flat" cmpd="sng" algn="ctr">
                      <a:solidFill>
                        <a:srgbClr val="DCE3DC"/>
                      </a:solidFill>
                      <a:prstDash val="solid"/>
                      <a:round/>
                      <a:headEnd type="none" w="med" len="med"/>
                      <a:tailEnd type="none" w="med" len="med"/>
                    </a:lnL>
                    <a:lnR w="9525" cap="flat" cmpd="sng" algn="ctr">
                      <a:solidFill>
                        <a:srgbClr val="DCE3DC"/>
                      </a:solidFill>
                      <a:prstDash val="solid"/>
                      <a:round/>
                      <a:headEnd type="none" w="med" len="med"/>
                      <a:tailEnd type="none" w="med" len="med"/>
                    </a:lnR>
                    <a:lnT w="9525" cap="flat" cmpd="sng" algn="ctr">
                      <a:solidFill>
                        <a:srgbClr val="DCE3DC"/>
                      </a:solidFill>
                      <a:prstDash val="solid"/>
                      <a:round/>
                      <a:headEnd type="none" w="med" len="med"/>
                      <a:tailEnd type="none" w="med" len="med"/>
                    </a:lnT>
                    <a:lnB w="9525" cap="flat" cmpd="sng" algn="ctr">
                      <a:solidFill>
                        <a:srgbClr val="DCE3DC"/>
                      </a:solidFill>
                      <a:prstDash val="solid"/>
                      <a:round/>
                      <a:headEnd type="none" w="med" len="med"/>
                      <a:tailEnd type="none" w="med" len="med"/>
                    </a:lnB>
                    <a:solidFill>
                      <a:srgbClr val="FFFFFF"/>
                    </a:solidFill>
                  </a:tcPr>
                </a:tc>
                <a:tc>
                  <a:txBody>
                    <a:bodyPr/>
                    <a:lstStyle/>
                    <a:p>
                      <a:pPr indent="0" marL="0">
                        <a:buNone/>
                      </a:pPr>
                      <a:r>
                        <a:rPr lang="en-US" sz="1300" dirty="0">
                          <a:solidFill>
                            <a:srgbClr val="1F2A26"/>
                          </a:solidFill>
                          <a:latin typeface="Calibri" pitchFamily="34" charset="0"/>
                          <a:ea typeface="Calibri" pitchFamily="34" charset="-122"/>
                          <a:cs typeface="Calibri" pitchFamily="34" charset="-120"/>
                        </a:rPr>
                        <a:t>"Synthetic respondeat superior" is a contract construct no court has applied</a:t>
                      </a:r>
                      <a:endParaRPr lang="en-US" sz="1300" dirty="0">
                        <a:latin typeface="Calibri" charset="0"/>
                        <a:ea typeface="Calibri" charset="0"/>
                        <a:cs typeface="Calibri" charset="0"/>
                      </a:endParaRPr>
                    </a:p>
                  </a:txBody>
                  <a:tcPr marL="91440" marR="91440" marT="45720" marB="45720" anchor="ctr">
                    <a:lnL w="9525" cap="flat" cmpd="sng" algn="ctr">
                      <a:solidFill>
                        <a:srgbClr val="DCE3DC"/>
                      </a:solidFill>
                      <a:prstDash val="solid"/>
                      <a:round/>
                      <a:headEnd type="none" w="med" len="med"/>
                      <a:tailEnd type="none" w="med" len="med"/>
                    </a:lnL>
                    <a:lnR w="9525" cap="flat" cmpd="sng" algn="ctr">
                      <a:solidFill>
                        <a:srgbClr val="DCE3DC"/>
                      </a:solidFill>
                      <a:prstDash val="solid"/>
                      <a:round/>
                      <a:headEnd type="none" w="med" len="med"/>
                      <a:tailEnd type="none" w="med" len="med"/>
                    </a:lnR>
                    <a:lnT w="9525" cap="flat" cmpd="sng" algn="ctr">
                      <a:solidFill>
                        <a:srgbClr val="DCE3DC"/>
                      </a:solidFill>
                      <a:prstDash val="solid"/>
                      <a:round/>
                      <a:headEnd type="none" w="med" len="med"/>
                      <a:tailEnd type="none" w="med" len="med"/>
                    </a:lnT>
                    <a:lnB w="9525" cap="flat" cmpd="sng" algn="ctr">
                      <a:solidFill>
                        <a:srgbClr val="DCE3DC"/>
                      </a:solidFill>
                      <a:prstDash val="solid"/>
                      <a:round/>
                      <a:headEnd type="none" w="med" len="med"/>
                      <a:tailEnd type="none" w="med" len="med"/>
                    </a:lnB>
                    <a:solidFill>
                      <a:srgbClr val="FFFFFF"/>
                    </a:solidFill>
                  </a:tcPr>
                </a:tc>
                <a:tc>
                  <a:txBody>
                    <a:bodyPr/>
                    <a:lstStyle/>
                    <a:p>
                      <a:pPr indent="0" marL="0">
                        <a:buNone/>
                      </a:pPr>
                      <a:r>
                        <a:rPr lang="en-US" sz="1300" dirty="0">
                          <a:solidFill>
                            <a:srgbClr val="1F2A26"/>
                          </a:solidFill>
                          <a:latin typeface="Calibri" pitchFamily="34" charset="0"/>
                          <a:ea typeface="Calibri" pitchFamily="34" charset="-122"/>
                          <a:cs typeface="Calibri" pitchFamily="34" charset="-120"/>
                        </a:rPr>
                        <a:t>Counsel drafts the schedule; pilot clients sign it as a side letter</a:t>
                      </a:r>
                      <a:endParaRPr lang="en-US" sz="1300" dirty="0">
                        <a:latin typeface="Calibri" charset="0"/>
                        <a:ea typeface="Calibri" charset="0"/>
                        <a:cs typeface="Calibri" charset="0"/>
                      </a:endParaRPr>
                    </a:p>
                  </a:txBody>
                  <a:tcPr marL="91440" marR="91440" marT="45720" marB="45720" anchor="ctr">
                    <a:lnL w="9525" cap="flat" cmpd="sng" algn="ctr">
                      <a:solidFill>
                        <a:srgbClr val="DCE3DC"/>
                      </a:solidFill>
                      <a:prstDash val="solid"/>
                      <a:round/>
                      <a:headEnd type="none" w="med" len="med"/>
                      <a:tailEnd type="none" w="med" len="med"/>
                    </a:lnL>
                    <a:lnR w="9525" cap="flat" cmpd="sng" algn="ctr">
                      <a:solidFill>
                        <a:srgbClr val="DCE3DC"/>
                      </a:solidFill>
                      <a:prstDash val="solid"/>
                      <a:round/>
                      <a:headEnd type="none" w="med" len="med"/>
                      <a:tailEnd type="none" w="med" len="med"/>
                    </a:lnR>
                    <a:lnT w="9525" cap="flat" cmpd="sng" algn="ctr">
                      <a:solidFill>
                        <a:srgbClr val="DCE3DC"/>
                      </a:solidFill>
                      <a:prstDash val="solid"/>
                      <a:round/>
                      <a:headEnd type="none" w="med" len="med"/>
                      <a:tailEnd type="none" w="med" len="med"/>
                    </a:lnT>
                    <a:lnB w="9525" cap="flat" cmpd="sng" algn="ctr">
                      <a:solidFill>
                        <a:srgbClr val="DCE3DC"/>
                      </a:solidFill>
                      <a:prstDash val="solid"/>
                      <a:round/>
                      <a:headEnd type="none" w="med" len="med"/>
                      <a:tailEnd type="none" w="med" len="med"/>
                    </a:lnB>
                    <a:solidFill>
                      <a:srgbClr val="FFFFFF"/>
                    </a:solidFill>
                  </a:tcPr>
                </a:tc>
              </a:tr>
              <a:tr h="603504">
                <a:tc>
                  <a:txBody>
                    <a:bodyPr/>
                    <a:lstStyle/>
                    <a:p>
                      <a:pPr indent="0" marL="0">
                        <a:buNone/>
                      </a:pPr>
                      <a:r>
                        <a:rPr lang="en-US" sz="1300" b="1" dirty="0">
                          <a:solidFill>
                            <a:srgbClr val="1F2A26"/>
                          </a:solidFill>
                          <a:latin typeface="Calibri" pitchFamily="34" charset="0"/>
                          <a:ea typeface="Calibri" pitchFamily="34" charset="-122"/>
                          <a:cs typeface="Calibri" pitchFamily="34" charset="-120"/>
                        </a:rPr>
                        <a:t>No carrier appetite for Agent Comp</a:t>
                      </a:r>
                      <a:endParaRPr lang="en-US" sz="1300" dirty="0">
                        <a:latin typeface="Calibri" charset="0"/>
                        <a:ea typeface="Calibri" charset="0"/>
                        <a:cs typeface="Calibri" charset="0"/>
                      </a:endParaRPr>
                    </a:p>
                  </a:txBody>
                  <a:tcPr marL="91440" marR="91440" marT="45720" marB="45720" anchor="ctr">
                    <a:lnL w="9525" cap="flat" cmpd="sng" algn="ctr">
                      <a:solidFill>
                        <a:srgbClr val="DCE3DC"/>
                      </a:solidFill>
                      <a:prstDash val="solid"/>
                      <a:round/>
                      <a:headEnd type="none" w="med" len="med"/>
                      <a:tailEnd type="none" w="med" len="med"/>
                    </a:lnL>
                    <a:lnR w="9525" cap="flat" cmpd="sng" algn="ctr">
                      <a:solidFill>
                        <a:srgbClr val="DCE3DC"/>
                      </a:solidFill>
                      <a:prstDash val="solid"/>
                      <a:round/>
                      <a:headEnd type="none" w="med" len="med"/>
                      <a:tailEnd type="none" w="med" len="med"/>
                    </a:lnR>
                    <a:lnT w="9525" cap="flat" cmpd="sng" algn="ctr">
                      <a:solidFill>
                        <a:srgbClr val="DCE3DC"/>
                      </a:solidFill>
                      <a:prstDash val="solid"/>
                      <a:round/>
                      <a:headEnd type="none" w="med" len="med"/>
                      <a:tailEnd type="none" w="med" len="med"/>
                    </a:lnT>
                    <a:lnB w="9525" cap="flat" cmpd="sng" algn="ctr">
                      <a:solidFill>
                        <a:srgbClr val="DCE3DC"/>
                      </a:solidFill>
                      <a:prstDash val="solid"/>
                      <a:round/>
                      <a:headEnd type="none" w="med" len="med"/>
                      <a:tailEnd type="none" w="med" len="med"/>
                    </a:lnB>
                    <a:solidFill>
                      <a:srgbClr val="FFFFFF"/>
                    </a:solidFill>
                  </a:tcPr>
                </a:tc>
                <a:tc>
                  <a:txBody>
                    <a:bodyPr/>
                    <a:lstStyle/>
                    <a:p>
                      <a:pPr indent="0" marL="0">
                        <a:buNone/>
                      </a:pPr>
                      <a:r>
                        <a:rPr lang="en-US" sz="1300" dirty="0">
                          <a:solidFill>
                            <a:srgbClr val="1F2A26"/>
                          </a:solidFill>
                          <a:latin typeface="Calibri" pitchFamily="34" charset="0"/>
                          <a:ea typeface="Calibri" pitchFamily="34" charset="-122"/>
                          <a:cs typeface="Calibri" pitchFamily="34" charset="-120"/>
                        </a:rPr>
                        <a:t>Agent loss history barely exists</a:t>
                      </a:r>
                      <a:endParaRPr lang="en-US" sz="1300" dirty="0">
                        <a:latin typeface="Calibri" charset="0"/>
                        <a:ea typeface="Calibri" charset="0"/>
                        <a:cs typeface="Calibri" charset="0"/>
                      </a:endParaRPr>
                    </a:p>
                  </a:txBody>
                  <a:tcPr marL="91440" marR="91440" marT="45720" marB="45720" anchor="ctr">
                    <a:lnL w="9525" cap="flat" cmpd="sng" algn="ctr">
                      <a:solidFill>
                        <a:srgbClr val="DCE3DC"/>
                      </a:solidFill>
                      <a:prstDash val="solid"/>
                      <a:round/>
                      <a:headEnd type="none" w="med" len="med"/>
                      <a:tailEnd type="none" w="med" len="med"/>
                    </a:lnL>
                    <a:lnR w="9525" cap="flat" cmpd="sng" algn="ctr">
                      <a:solidFill>
                        <a:srgbClr val="DCE3DC"/>
                      </a:solidFill>
                      <a:prstDash val="solid"/>
                      <a:round/>
                      <a:headEnd type="none" w="med" len="med"/>
                      <a:tailEnd type="none" w="med" len="med"/>
                    </a:lnR>
                    <a:lnT w="9525" cap="flat" cmpd="sng" algn="ctr">
                      <a:solidFill>
                        <a:srgbClr val="DCE3DC"/>
                      </a:solidFill>
                      <a:prstDash val="solid"/>
                      <a:round/>
                      <a:headEnd type="none" w="med" len="med"/>
                      <a:tailEnd type="none" w="med" len="med"/>
                    </a:lnT>
                    <a:lnB w="9525" cap="flat" cmpd="sng" algn="ctr">
                      <a:solidFill>
                        <a:srgbClr val="DCE3DC"/>
                      </a:solidFill>
                      <a:prstDash val="solid"/>
                      <a:round/>
                      <a:headEnd type="none" w="med" len="med"/>
                      <a:tailEnd type="none" w="med" len="med"/>
                    </a:lnB>
                    <a:solidFill>
                      <a:srgbClr val="FFFFFF"/>
                    </a:solidFill>
                  </a:tcPr>
                </a:tc>
                <a:tc>
                  <a:txBody>
                    <a:bodyPr/>
                    <a:lstStyle/>
                    <a:p>
                      <a:pPr indent="0" marL="0">
                        <a:buNone/>
                      </a:pPr>
                      <a:r>
                        <a:rPr lang="en-US" sz="1300" dirty="0">
                          <a:solidFill>
                            <a:srgbClr val="1F2A26"/>
                          </a:solidFill>
                          <a:latin typeface="Calibri" pitchFamily="34" charset="0"/>
                          <a:ea typeface="Calibri" pitchFamily="34" charset="-122"/>
                          <a:cs typeface="Calibri" pitchFamily="34" charset="-120"/>
                        </a:rPr>
                        <a:t>Partner-delivered cover first; pilot loss data prices a master policy</a:t>
                      </a:r>
                      <a:endParaRPr lang="en-US" sz="1300" dirty="0">
                        <a:latin typeface="Calibri" charset="0"/>
                        <a:ea typeface="Calibri" charset="0"/>
                        <a:cs typeface="Calibri" charset="0"/>
                      </a:endParaRPr>
                    </a:p>
                  </a:txBody>
                  <a:tcPr marL="91440" marR="91440" marT="45720" marB="45720" anchor="ctr">
                    <a:lnL w="9525" cap="flat" cmpd="sng" algn="ctr">
                      <a:solidFill>
                        <a:srgbClr val="DCE3DC"/>
                      </a:solidFill>
                      <a:prstDash val="solid"/>
                      <a:round/>
                      <a:headEnd type="none" w="med" len="med"/>
                      <a:tailEnd type="none" w="med" len="med"/>
                    </a:lnL>
                    <a:lnR w="9525" cap="flat" cmpd="sng" algn="ctr">
                      <a:solidFill>
                        <a:srgbClr val="DCE3DC"/>
                      </a:solidFill>
                      <a:prstDash val="solid"/>
                      <a:round/>
                      <a:headEnd type="none" w="med" len="med"/>
                      <a:tailEnd type="none" w="med" len="med"/>
                    </a:lnR>
                    <a:lnT w="9525" cap="flat" cmpd="sng" algn="ctr">
                      <a:solidFill>
                        <a:srgbClr val="DCE3DC"/>
                      </a:solidFill>
                      <a:prstDash val="solid"/>
                      <a:round/>
                      <a:headEnd type="none" w="med" len="med"/>
                      <a:tailEnd type="none" w="med" len="med"/>
                    </a:lnT>
                    <a:lnB w="9525" cap="flat" cmpd="sng" algn="ctr">
                      <a:solidFill>
                        <a:srgbClr val="DCE3DC"/>
                      </a:solidFill>
                      <a:prstDash val="solid"/>
                      <a:round/>
                      <a:headEnd type="none" w="med" len="med"/>
                      <a:tailEnd type="none" w="med" len="med"/>
                    </a:lnB>
                    <a:solidFill>
                      <a:srgbClr val="FFFFFF"/>
                    </a:solidFill>
                  </a:tcPr>
                </a:tc>
              </a:tr>
              <a:tr h="603504">
                <a:tc>
                  <a:txBody>
                    <a:bodyPr/>
                    <a:lstStyle/>
                    <a:p>
                      <a:pPr indent="0" marL="0">
                        <a:buNone/>
                      </a:pPr>
                      <a:r>
                        <a:rPr lang="en-US" sz="1300" b="1" dirty="0">
                          <a:solidFill>
                            <a:srgbClr val="1F2A26"/>
                          </a:solidFill>
                          <a:latin typeface="Calibri" pitchFamily="34" charset="0"/>
                          <a:ea typeface="Calibri" pitchFamily="34" charset="-122"/>
                          <a:cs typeface="Calibri" pitchFamily="34" charset="-120"/>
                        </a:rPr>
                        <a:t>Pooled leave or furlough funds read as insurance</a:t>
                      </a:r>
                      <a:endParaRPr lang="en-US" sz="1300" dirty="0">
                        <a:latin typeface="Calibri" charset="0"/>
                        <a:ea typeface="Calibri" charset="0"/>
                        <a:cs typeface="Calibri" charset="0"/>
                      </a:endParaRPr>
                    </a:p>
                  </a:txBody>
                  <a:tcPr marL="91440" marR="91440" marT="45720" marB="45720" anchor="ctr">
                    <a:lnL w="9525" cap="flat" cmpd="sng" algn="ctr">
                      <a:solidFill>
                        <a:srgbClr val="DCE3DC"/>
                      </a:solidFill>
                      <a:prstDash val="solid"/>
                      <a:round/>
                      <a:headEnd type="none" w="med" len="med"/>
                      <a:tailEnd type="none" w="med" len="med"/>
                    </a:lnL>
                    <a:lnR w="9525" cap="flat" cmpd="sng" algn="ctr">
                      <a:solidFill>
                        <a:srgbClr val="DCE3DC"/>
                      </a:solidFill>
                      <a:prstDash val="solid"/>
                      <a:round/>
                      <a:headEnd type="none" w="med" len="med"/>
                      <a:tailEnd type="none" w="med" len="med"/>
                    </a:lnR>
                    <a:lnT w="9525" cap="flat" cmpd="sng" algn="ctr">
                      <a:solidFill>
                        <a:srgbClr val="DCE3DC"/>
                      </a:solidFill>
                      <a:prstDash val="solid"/>
                      <a:round/>
                      <a:headEnd type="none" w="med" len="med"/>
                      <a:tailEnd type="none" w="med" len="med"/>
                    </a:lnT>
                    <a:lnB w="9525" cap="flat" cmpd="sng" algn="ctr">
                      <a:solidFill>
                        <a:srgbClr val="DCE3DC"/>
                      </a:solidFill>
                      <a:prstDash val="solid"/>
                      <a:round/>
                      <a:headEnd type="none" w="med" len="med"/>
                      <a:tailEnd type="none" w="med" len="med"/>
                    </a:lnB>
                    <a:solidFill>
                      <a:srgbClr val="FFFFFF"/>
                    </a:solidFill>
                  </a:tcPr>
                </a:tc>
                <a:tc>
                  <a:txBody>
                    <a:bodyPr/>
                    <a:lstStyle/>
                    <a:p>
                      <a:pPr indent="0" marL="0">
                        <a:buNone/>
                      </a:pPr>
                      <a:r>
                        <a:rPr lang="en-US" sz="1300" dirty="0">
                          <a:solidFill>
                            <a:srgbClr val="1F2A26"/>
                          </a:solidFill>
                          <a:latin typeface="Calibri" pitchFamily="34" charset="0"/>
                          <a:ea typeface="Calibri" pitchFamily="34" charset="-122"/>
                          <a:cs typeface="Calibri" pitchFamily="34" charset="-120"/>
                        </a:rPr>
                        <a:t>Pooling risk across employers can trigger regulation</a:t>
                      </a:r>
                      <a:endParaRPr lang="en-US" sz="1300" dirty="0">
                        <a:latin typeface="Calibri" charset="0"/>
                        <a:ea typeface="Calibri" charset="0"/>
                        <a:cs typeface="Calibri" charset="0"/>
                      </a:endParaRPr>
                    </a:p>
                  </a:txBody>
                  <a:tcPr marL="91440" marR="91440" marT="45720" marB="45720" anchor="ctr">
                    <a:lnL w="9525" cap="flat" cmpd="sng" algn="ctr">
                      <a:solidFill>
                        <a:srgbClr val="DCE3DC"/>
                      </a:solidFill>
                      <a:prstDash val="solid"/>
                      <a:round/>
                      <a:headEnd type="none" w="med" len="med"/>
                      <a:tailEnd type="none" w="med" len="med"/>
                    </a:lnL>
                    <a:lnR w="9525" cap="flat" cmpd="sng" algn="ctr">
                      <a:solidFill>
                        <a:srgbClr val="DCE3DC"/>
                      </a:solidFill>
                      <a:prstDash val="solid"/>
                      <a:round/>
                      <a:headEnd type="none" w="med" len="med"/>
                      <a:tailEnd type="none" w="med" len="med"/>
                    </a:lnR>
                    <a:lnT w="9525" cap="flat" cmpd="sng" algn="ctr">
                      <a:solidFill>
                        <a:srgbClr val="DCE3DC"/>
                      </a:solidFill>
                      <a:prstDash val="solid"/>
                      <a:round/>
                      <a:headEnd type="none" w="med" len="med"/>
                      <a:tailEnd type="none" w="med" len="med"/>
                    </a:lnT>
                    <a:lnB w="9525" cap="flat" cmpd="sng" algn="ctr">
                      <a:solidFill>
                        <a:srgbClr val="DCE3DC"/>
                      </a:solidFill>
                      <a:prstDash val="solid"/>
                      <a:round/>
                      <a:headEnd type="none" w="med" len="med"/>
                      <a:tailEnd type="none" w="med" len="med"/>
                    </a:lnB>
                    <a:solidFill>
                      <a:srgbClr val="FFFFFF"/>
                    </a:solidFill>
                  </a:tcPr>
                </a:tc>
                <a:tc>
                  <a:txBody>
                    <a:bodyPr/>
                    <a:lstStyle/>
                    <a:p>
                      <a:pPr indent="0" marL="0">
                        <a:buNone/>
                      </a:pPr>
                      <a:r>
                        <a:rPr lang="en-US" sz="1300" dirty="0">
                          <a:solidFill>
                            <a:srgbClr val="1F2A26"/>
                          </a:solidFill>
                          <a:latin typeface="Calibri" pitchFamily="34" charset="0"/>
                          <a:ea typeface="Calibri" pitchFamily="34" charset="-122"/>
                          <a:cs typeface="Calibri" pitchFamily="34" charset="-120"/>
                        </a:rPr>
                        <a:t>Client-segregated reserves until counsel clears pooling</a:t>
                      </a:r>
                      <a:endParaRPr lang="en-US" sz="1300" dirty="0">
                        <a:latin typeface="Calibri" charset="0"/>
                        <a:ea typeface="Calibri" charset="0"/>
                        <a:cs typeface="Calibri" charset="0"/>
                      </a:endParaRPr>
                    </a:p>
                  </a:txBody>
                  <a:tcPr marL="91440" marR="91440" marT="45720" marB="45720" anchor="ctr">
                    <a:lnL w="9525" cap="flat" cmpd="sng" algn="ctr">
                      <a:solidFill>
                        <a:srgbClr val="DCE3DC"/>
                      </a:solidFill>
                      <a:prstDash val="solid"/>
                      <a:round/>
                      <a:headEnd type="none" w="med" len="med"/>
                      <a:tailEnd type="none" w="med" len="med"/>
                    </a:lnL>
                    <a:lnR w="9525" cap="flat" cmpd="sng" algn="ctr">
                      <a:solidFill>
                        <a:srgbClr val="DCE3DC"/>
                      </a:solidFill>
                      <a:prstDash val="solid"/>
                      <a:round/>
                      <a:headEnd type="none" w="med" len="med"/>
                      <a:tailEnd type="none" w="med" len="med"/>
                    </a:lnR>
                    <a:lnT w="9525" cap="flat" cmpd="sng" algn="ctr">
                      <a:solidFill>
                        <a:srgbClr val="DCE3DC"/>
                      </a:solidFill>
                      <a:prstDash val="solid"/>
                      <a:round/>
                      <a:headEnd type="none" w="med" len="med"/>
                      <a:tailEnd type="none" w="med" len="med"/>
                    </a:lnT>
                    <a:lnB w="9525" cap="flat" cmpd="sng" algn="ctr">
                      <a:solidFill>
                        <a:srgbClr val="DCE3DC"/>
                      </a:solidFill>
                      <a:prstDash val="solid"/>
                      <a:round/>
                      <a:headEnd type="none" w="med" len="med"/>
                      <a:tailEnd type="none" w="med" len="med"/>
                    </a:lnB>
                    <a:solidFill>
                      <a:srgbClr val="FFFFFF"/>
                    </a:solidFill>
                  </a:tcPr>
                </a:tc>
              </a:tr>
              <a:tr h="603504">
                <a:tc>
                  <a:txBody>
                    <a:bodyPr/>
                    <a:lstStyle/>
                    <a:p>
                      <a:pPr indent="0" marL="0">
                        <a:buNone/>
                      </a:pPr>
                      <a:r>
                        <a:rPr lang="en-US" sz="1300" b="1" dirty="0">
                          <a:solidFill>
                            <a:srgbClr val="1F2A26"/>
                          </a:solidFill>
                          <a:latin typeface="Calibri" pitchFamily="34" charset="0"/>
                          <a:ea typeface="Calibri" pitchFamily="34" charset="-122"/>
                          <a:cs typeface="Calibri" pitchFamily="34" charset="-120"/>
                        </a:rPr>
                        <a:t>Secondments create joint-employer exposure</a:t>
                      </a:r>
                      <a:endParaRPr lang="en-US" sz="1300" dirty="0">
                        <a:latin typeface="Calibri" charset="0"/>
                        <a:ea typeface="Calibri" charset="0"/>
                        <a:cs typeface="Calibri" charset="0"/>
                      </a:endParaRPr>
                    </a:p>
                  </a:txBody>
                  <a:tcPr marL="91440" marR="91440" marT="45720" marB="45720" anchor="ctr">
                    <a:lnL w="9525" cap="flat" cmpd="sng" algn="ctr">
                      <a:solidFill>
                        <a:srgbClr val="DCE3DC"/>
                      </a:solidFill>
                      <a:prstDash val="solid"/>
                      <a:round/>
                      <a:headEnd type="none" w="med" len="med"/>
                      <a:tailEnd type="none" w="med" len="med"/>
                    </a:lnL>
                    <a:lnR w="9525" cap="flat" cmpd="sng" algn="ctr">
                      <a:solidFill>
                        <a:srgbClr val="DCE3DC"/>
                      </a:solidFill>
                      <a:prstDash val="solid"/>
                      <a:round/>
                      <a:headEnd type="none" w="med" len="med"/>
                      <a:tailEnd type="none" w="med" len="med"/>
                    </a:lnR>
                    <a:lnT w="9525" cap="flat" cmpd="sng" algn="ctr">
                      <a:solidFill>
                        <a:srgbClr val="DCE3DC"/>
                      </a:solidFill>
                      <a:prstDash val="solid"/>
                      <a:round/>
                      <a:headEnd type="none" w="med" len="med"/>
                      <a:tailEnd type="none" w="med" len="med"/>
                    </a:lnT>
                    <a:lnB w="9525" cap="flat" cmpd="sng" algn="ctr">
                      <a:solidFill>
                        <a:srgbClr val="DCE3DC"/>
                      </a:solidFill>
                      <a:prstDash val="solid"/>
                      <a:round/>
                      <a:headEnd type="none" w="med" len="med"/>
                      <a:tailEnd type="none" w="med" len="med"/>
                    </a:lnB>
                    <a:solidFill>
                      <a:srgbClr val="FFFFFF"/>
                    </a:solidFill>
                  </a:tcPr>
                </a:tc>
                <a:tc>
                  <a:txBody>
                    <a:bodyPr/>
                    <a:lstStyle/>
                    <a:p>
                      <a:pPr indent="0" marL="0">
                        <a:buNone/>
                      </a:pPr>
                      <a:r>
                        <a:rPr lang="en-US" sz="1300" dirty="0">
                          <a:solidFill>
                            <a:srgbClr val="1F2A26"/>
                          </a:solidFill>
                          <a:latin typeface="Calibri" pitchFamily="34" charset="0"/>
                          <a:ea typeface="Calibri" pitchFamily="34" charset="-122"/>
                          <a:cs typeface="Calibri" pitchFamily="34" charset="-120"/>
                        </a:rPr>
                        <a:t>The host client directs the work</a:t>
                      </a:r>
                      <a:endParaRPr lang="en-US" sz="1300" dirty="0">
                        <a:latin typeface="Calibri" charset="0"/>
                        <a:ea typeface="Calibri" charset="0"/>
                        <a:cs typeface="Calibri" charset="0"/>
                      </a:endParaRPr>
                    </a:p>
                  </a:txBody>
                  <a:tcPr marL="91440" marR="91440" marT="45720" marB="45720" anchor="ctr">
                    <a:lnL w="9525" cap="flat" cmpd="sng" algn="ctr">
                      <a:solidFill>
                        <a:srgbClr val="DCE3DC"/>
                      </a:solidFill>
                      <a:prstDash val="solid"/>
                      <a:round/>
                      <a:headEnd type="none" w="med" len="med"/>
                      <a:tailEnd type="none" w="med" len="med"/>
                    </a:lnL>
                    <a:lnR w="9525" cap="flat" cmpd="sng" algn="ctr">
                      <a:solidFill>
                        <a:srgbClr val="DCE3DC"/>
                      </a:solidFill>
                      <a:prstDash val="solid"/>
                      <a:round/>
                      <a:headEnd type="none" w="med" len="med"/>
                      <a:tailEnd type="none" w="med" len="med"/>
                    </a:lnR>
                    <a:lnT w="9525" cap="flat" cmpd="sng" algn="ctr">
                      <a:solidFill>
                        <a:srgbClr val="DCE3DC"/>
                      </a:solidFill>
                      <a:prstDash val="solid"/>
                      <a:round/>
                      <a:headEnd type="none" w="med" len="med"/>
                      <a:tailEnd type="none" w="med" len="med"/>
                    </a:lnT>
                    <a:lnB w="9525" cap="flat" cmpd="sng" algn="ctr">
                      <a:solidFill>
                        <a:srgbClr val="DCE3DC"/>
                      </a:solidFill>
                      <a:prstDash val="solid"/>
                      <a:round/>
                      <a:headEnd type="none" w="med" len="med"/>
                      <a:tailEnd type="none" w="med" len="med"/>
                    </a:lnB>
                    <a:solidFill>
                      <a:srgbClr val="FFFFFF"/>
                    </a:solidFill>
                  </a:tcPr>
                </a:tc>
                <a:tc>
                  <a:txBody>
                    <a:bodyPr/>
                    <a:lstStyle/>
                    <a:p>
                      <a:pPr indent="0" marL="0">
                        <a:buNone/>
                      </a:pPr>
                      <a:r>
                        <a:rPr lang="en-US" sz="1300" dirty="0">
                          <a:solidFill>
                            <a:srgbClr val="1F2A26"/>
                          </a:solidFill>
                          <a:latin typeface="Calibri" pitchFamily="34" charset="0"/>
                          <a:ea typeface="Calibri" pitchFamily="34" charset="-122"/>
                          <a:cs typeface="Calibri" pitchFamily="34" charset="-120"/>
                        </a:rPr>
                        <a:t>Host agreements, comp class checks, confidentiality terms</a:t>
                      </a:r>
                      <a:endParaRPr lang="en-US" sz="1300" dirty="0">
                        <a:latin typeface="Calibri" charset="0"/>
                        <a:ea typeface="Calibri" charset="0"/>
                        <a:cs typeface="Calibri" charset="0"/>
                      </a:endParaRPr>
                    </a:p>
                  </a:txBody>
                  <a:tcPr marL="91440" marR="91440" marT="45720" marB="45720" anchor="ctr">
                    <a:lnL w="9525" cap="flat" cmpd="sng" algn="ctr">
                      <a:solidFill>
                        <a:srgbClr val="DCE3DC"/>
                      </a:solidFill>
                      <a:prstDash val="solid"/>
                      <a:round/>
                      <a:headEnd type="none" w="med" len="med"/>
                      <a:tailEnd type="none" w="med" len="med"/>
                    </a:lnL>
                    <a:lnR w="9525" cap="flat" cmpd="sng" algn="ctr">
                      <a:solidFill>
                        <a:srgbClr val="DCE3DC"/>
                      </a:solidFill>
                      <a:prstDash val="solid"/>
                      <a:round/>
                      <a:headEnd type="none" w="med" len="med"/>
                      <a:tailEnd type="none" w="med" len="med"/>
                    </a:lnR>
                    <a:lnT w="9525" cap="flat" cmpd="sng" algn="ctr">
                      <a:solidFill>
                        <a:srgbClr val="DCE3DC"/>
                      </a:solidFill>
                      <a:prstDash val="solid"/>
                      <a:round/>
                      <a:headEnd type="none" w="med" len="med"/>
                      <a:tailEnd type="none" w="med" len="med"/>
                    </a:lnT>
                    <a:lnB w="9525" cap="flat" cmpd="sng" algn="ctr">
                      <a:solidFill>
                        <a:srgbClr val="DCE3DC"/>
                      </a:solidFill>
                      <a:prstDash val="solid"/>
                      <a:round/>
                      <a:headEnd type="none" w="med" len="med"/>
                      <a:tailEnd type="none" w="med" len="med"/>
                    </a:lnB>
                    <a:solidFill>
                      <a:srgbClr val="FFFFFF"/>
                    </a:solidFill>
                  </a:tcPr>
                </a:tc>
              </a:tr>
              <a:tr h="603504">
                <a:tc>
                  <a:txBody>
                    <a:bodyPr/>
                    <a:lstStyle/>
                    <a:p>
                      <a:pPr indent="0" marL="0">
                        <a:buNone/>
                      </a:pPr>
                      <a:r>
                        <a:rPr lang="en-US" sz="1300" b="1" dirty="0">
                          <a:solidFill>
                            <a:srgbClr val="1F2A26"/>
                          </a:solidFill>
                          <a:latin typeface="Calibri" pitchFamily="34" charset="0"/>
                          <a:ea typeface="Calibri" pitchFamily="34" charset="-122"/>
                          <a:cs typeface="Calibri" pitchFamily="34" charset="-120"/>
                        </a:rPr>
                        <a:t>Lab entities expected to escape parent plans</a:t>
                      </a:r>
                      <a:endParaRPr lang="en-US" sz="1300" dirty="0">
                        <a:latin typeface="Calibri" charset="0"/>
                        <a:ea typeface="Calibri" charset="0"/>
                        <a:cs typeface="Calibri" charset="0"/>
                      </a:endParaRPr>
                    </a:p>
                  </a:txBody>
                  <a:tcPr marL="91440" marR="91440" marT="45720" marB="45720" anchor="ctr">
                    <a:lnL w="9525" cap="flat" cmpd="sng" algn="ctr">
                      <a:solidFill>
                        <a:srgbClr val="DCE3DC"/>
                      </a:solidFill>
                      <a:prstDash val="solid"/>
                      <a:round/>
                      <a:headEnd type="none" w="med" len="med"/>
                      <a:tailEnd type="none" w="med" len="med"/>
                    </a:lnL>
                    <a:lnR w="9525" cap="flat" cmpd="sng" algn="ctr">
                      <a:solidFill>
                        <a:srgbClr val="DCE3DC"/>
                      </a:solidFill>
                      <a:prstDash val="solid"/>
                      <a:round/>
                      <a:headEnd type="none" w="med" len="med"/>
                      <a:tailEnd type="none" w="med" len="med"/>
                    </a:lnR>
                    <a:lnT w="9525" cap="flat" cmpd="sng" algn="ctr">
                      <a:solidFill>
                        <a:srgbClr val="DCE3DC"/>
                      </a:solidFill>
                      <a:prstDash val="solid"/>
                      <a:round/>
                      <a:headEnd type="none" w="med" len="med"/>
                      <a:tailEnd type="none" w="med" len="med"/>
                    </a:lnT>
                    <a:lnB w="9525" cap="flat" cmpd="sng" algn="ctr">
                      <a:solidFill>
                        <a:srgbClr val="DCE3DC"/>
                      </a:solidFill>
                      <a:prstDash val="solid"/>
                      <a:round/>
                      <a:headEnd type="none" w="med" len="med"/>
                      <a:tailEnd type="none" w="med" len="med"/>
                    </a:lnB>
                    <a:solidFill>
                      <a:srgbClr val="FFFFFF"/>
                    </a:solidFill>
                  </a:tcPr>
                </a:tc>
                <a:tc>
                  <a:txBody>
                    <a:bodyPr/>
                    <a:lstStyle/>
                    <a:p>
                      <a:pPr indent="0" marL="0">
                        <a:buNone/>
                      </a:pPr>
                      <a:r>
                        <a:rPr lang="en-US" sz="1300" dirty="0">
                          <a:solidFill>
                            <a:srgbClr val="1F2A26"/>
                          </a:solidFill>
                          <a:latin typeface="Calibri" pitchFamily="34" charset="0"/>
                          <a:ea typeface="Calibri" pitchFamily="34" charset="-122"/>
                          <a:cs typeface="Calibri" pitchFamily="34" charset="-120"/>
                        </a:rPr>
                        <a:t>Subsidiaries stay in the controlled group</a:t>
                      </a:r>
                      <a:endParaRPr lang="en-US" sz="1300" dirty="0">
                        <a:latin typeface="Calibri" charset="0"/>
                        <a:ea typeface="Calibri" charset="0"/>
                        <a:cs typeface="Calibri" charset="0"/>
                      </a:endParaRPr>
                    </a:p>
                  </a:txBody>
                  <a:tcPr marL="91440" marR="91440" marT="45720" marB="45720" anchor="ctr">
                    <a:lnL w="9525" cap="flat" cmpd="sng" algn="ctr">
                      <a:solidFill>
                        <a:srgbClr val="DCE3DC"/>
                      </a:solidFill>
                      <a:prstDash val="solid"/>
                      <a:round/>
                      <a:headEnd type="none" w="med" len="med"/>
                      <a:tailEnd type="none" w="med" len="med"/>
                    </a:lnL>
                    <a:lnR w="9525" cap="flat" cmpd="sng" algn="ctr">
                      <a:solidFill>
                        <a:srgbClr val="DCE3DC"/>
                      </a:solidFill>
                      <a:prstDash val="solid"/>
                      <a:round/>
                      <a:headEnd type="none" w="med" len="med"/>
                      <a:tailEnd type="none" w="med" len="med"/>
                    </a:lnR>
                    <a:lnT w="9525" cap="flat" cmpd="sng" algn="ctr">
                      <a:solidFill>
                        <a:srgbClr val="DCE3DC"/>
                      </a:solidFill>
                      <a:prstDash val="solid"/>
                      <a:round/>
                      <a:headEnd type="none" w="med" len="med"/>
                      <a:tailEnd type="none" w="med" len="med"/>
                    </a:lnT>
                    <a:lnB w="9525" cap="flat" cmpd="sng" algn="ctr">
                      <a:solidFill>
                        <a:srgbClr val="DCE3DC"/>
                      </a:solidFill>
                      <a:prstDash val="solid"/>
                      <a:round/>
                      <a:headEnd type="none" w="med" len="med"/>
                      <a:tailEnd type="none" w="med" len="med"/>
                    </a:lnB>
                    <a:solidFill>
                      <a:srgbClr val="FFFFFF"/>
                    </a:solidFill>
                  </a:tcPr>
                </a:tc>
                <a:tc>
                  <a:txBody>
                    <a:bodyPr/>
                    <a:lstStyle/>
                    <a:p>
                      <a:pPr indent="0" marL="0">
                        <a:buNone/>
                      </a:pPr>
                      <a:r>
                        <a:rPr lang="en-US" sz="1300" dirty="0">
                          <a:solidFill>
                            <a:srgbClr val="1F2A26"/>
                          </a:solidFill>
                          <a:latin typeface="Calibri" pitchFamily="34" charset="0"/>
                          <a:ea typeface="Calibri" pitchFamily="34" charset="-122"/>
                          <a:cs typeface="Calibri" pitchFamily="34" charset="-120"/>
                        </a:rPr>
                        <a:t>Scope labs to handbook, reviews and pay design</a:t>
                      </a:r>
                      <a:endParaRPr lang="en-US" sz="1300" dirty="0">
                        <a:latin typeface="Calibri" charset="0"/>
                        <a:ea typeface="Calibri" charset="0"/>
                        <a:cs typeface="Calibri" charset="0"/>
                      </a:endParaRPr>
                    </a:p>
                  </a:txBody>
                  <a:tcPr marL="91440" marR="91440" marT="45720" marB="45720" anchor="ctr">
                    <a:lnL w="9525" cap="flat" cmpd="sng" algn="ctr">
                      <a:solidFill>
                        <a:srgbClr val="DCE3DC"/>
                      </a:solidFill>
                      <a:prstDash val="solid"/>
                      <a:round/>
                      <a:headEnd type="none" w="med" len="med"/>
                      <a:tailEnd type="none" w="med" len="med"/>
                    </a:lnL>
                    <a:lnR w="9525" cap="flat" cmpd="sng" algn="ctr">
                      <a:solidFill>
                        <a:srgbClr val="DCE3DC"/>
                      </a:solidFill>
                      <a:prstDash val="solid"/>
                      <a:round/>
                      <a:headEnd type="none" w="med" len="med"/>
                      <a:tailEnd type="none" w="med" len="med"/>
                    </a:lnR>
                    <a:lnT w="9525" cap="flat" cmpd="sng" algn="ctr">
                      <a:solidFill>
                        <a:srgbClr val="DCE3DC"/>
                      </a:solidFill>
                      <a:prstDash val="solid"/>
                      <a:round/>
                      <a:headEnd type="none" w="med" len="med"/>
                      <a:tailEnd type="none" w="med" len="med"/>
                    </a:lnT>
                    <a:lnB w="9525" cap="flat" cmpd="sng" algn="ctr">
                      <a:solidFill>
                        <a:srgbClr val="DCE3DC"/>
                      </a:solidFill>
                      <a:prstDash val="solid"/>
                      <a:round/>
                      <a:headEnd type="none" w="med" len="med"/>
                      <a:tailEnd type="none" w="med" len="med"/>
                    </a:lnB>
                    <a:solidFill>
                      <a:srgbClr val="FFFFFF"/>
                    </a:solidFill>
                  </a:tcPr>
                </a:tc>
              </a:tr>
              <a:tr h="603504">
                <a:tc>
                  <a:txBody>
                    <a:bodyPr/>
                    <a:lstStyle/>
                    <a:p>
                      <a:pPr indent="0" marL="0">
                        <a:buNone/>
                      </a:pPr>
                      <a:r>
                        <a:rPr lang="en-US" sz="1300" b="1" dirty="0">
                          <a:solidFill>
                            <a:srgbClr val="1F2A26"/>
                          </a:solidFill>
                          <a:latin typeface="Calibri" pitchFamily="34" charset="0"/>
                          <a:ea typeface="Calibri" pitchFamily="34" charset="-122"/>
                          <a:cs typeface="Calibri" pitchFamily="34" charset="-120"/>
                        </a:rPr>
                        <a:t>An agent incident damages the core brand</a:t>
                      </a:r>
                      <a:endParaRPr lang="en-US" sz="1300" dirty="0">
                        <a:latin typeface="Calibri" charset="0"/>
                        <a:ea typeface="Calibri" charset="0"/>
                        <a:cs typeface="Calibri" charset="0"/>
                      </a:endParaRPr>
                    </a:p>
                  </a:txBody>
                  <a:tcPr marL="91440" marR="91440" marT="45720" marB="45720" anchor="ctr">
                    <a:lnL w="9525" cap="flat" cmpd="sng" algn="ctr">
                      <a:solidFill>
                        <a:srgbClr val="DCE3DC"/>
                      </a:solidFill>
                      <a:prstDash val="solid"/>
                      <a:round/>
                      <a:headEnd type="none" w="med" len="med"/>
                      <a:tailEnd type="none" w="med" len="med"/>
                    </a:lnL>
                    <a:lnR w="9525" cap="flat" cmpd="sng" algn="ctr">
                      <a:solidFill>
                        <a:srgbClr val="DCE3DC"/>
                      </a:solidFill>
                      <a:prstDash val="solid"/>
                      <a:round/>
                      <a:headEnd type="none" w="med" len="med"/>
                      <a:tailEnd type="none" w="med" len="med"/>
                    </a:lnR>
                    <a:lnT w="9525" cap="flat" cmpd="sng" algn="ctr">
                      <a:solidFill>
                        <a:srgbClr val="DCE3DC"/>
                      </a:solidFill>
                      <a:prstDash val="solid"/>
                      <a:round/>
                      <a:headEnd type="none" w="med" len="med"/>
                      <a:tailEnd type="none" w="med" len="med"/>
                    </a:lnT>
                    <a:lnB w="9525" cap="flat" cmpd="sng" algn="ctr">
                      <a:solidFill>
                        <a:srgbClr val="DCE3DC"/>
                      </a:solidFill>
                      <a:prstDash val="solid"/>
                      <a:round/>
                      <a:headEnd type="none" w="med" len="med"/>
                      <a:tailEnd type="none" w="med" len="med"/>
                    </a:lnB>
                    <a:solidFill>
                      <a:srgbClr val="FFFFFF"/>
                    </a:solidFill>
                  </a:tcPr>
                </a:tc>
                <a:tc>
                  <a:txBody>
                    <a:bodyPr/>
                    <a:lstStyle/>
                    <a:p>
                      <a:pPr indent="0" marL="0">
                        <a:buNone/>
                      </a:pPr>
                      <a:r>
                        <a:rPr lang="en-US" sz="1300" dirty="0">
                          <a:solidFill>
                            <a:srgbClr val="1F2A26"/>
                          </a:solidFill>
                          <a:latin typeface="Calibri" pitchFamily="34" charset="0"/>
                          <a:ea typeface="Calibri" pitchFamily="34" charset="-122"/>
                          <a:cs typeface="Calibri" pitchFamily="34" charset="-120"/>
                        </a:rPr>
                        <a:t>One public failure reaches every client</a:t>
                      </a:r>
                      <a:endParaRPr lang="en-US" sz="1300" dirty="0">
                        <a:latin typeface="Calibri" charset="0"/>
                        <a:ea typeface="Calibri" charset="0"/>
                        <a:cs typeface="Calibri" charset="0"/>
                      </a:endParaRPr>
                    </a:p>
                  </a:txBody>
                  <a:tcPr marL="91440" marR="91440" marT="45720" marB="45720" anchor="ctr">
                    <a:lnL w="9525" cap="flat" cmpd="sng" algn="ctr">
                      <a:solidFill>
                        <a:srgbClr val="DCE3DC"/>
                      </a:solidFill>
                      <a:prstDash val="solid"/>
                      <a:round/>
                      <a:headEnd type="none" w="med" len="med"/>
                      <a:tailEnd type="none" w="med" len="med"/>
                    </a:lnL>
                    <a:lnR w="9525" cap="flat" cmpd="sng" algn="ctr">
                      <a:solidFill>
                        <a:srgbClr val="DCE3DC"/>
                      </a:solidFill>
                      <a:prstDash val="solid"/>
                      <a:round/>
                      <a:headEnd type="none" w="med" len="med"/>
                      <a:tailEnd type="none" w="med" len="med"/>
                    </a:lnR>
                    <a:lnT w="9525" cap="flat" cmpd="sng" algn="ctr">
                      <a:solidFill>
                        <a:srgbClr val="DCE3DC"/>
                      </a:solidFill>
                      <a:prstDash val="solid"/>
                      <a:round/>
                      <a:headEnd type="none" w="med" len="med"/>
                      <a:tailEnd type="none" w="med" len="med"/>
                    </a:lnT>
                    <a:lnB w="9525" cap="flat" cmpd="sng" algn="ctr">
                      <a:solidFill>
                        <a:srgbClr val="DCE3DC"/>
                      </a:solidFill>
                      <a:prstDash val="solid"/>
                      <a:round/>
                      <a:headEnd type="none" w="med" len="med"/>
                      <a:tailEnd type="none" w="med" len="med"/>
                    </a:lnB>
                    <a:solidFill>
                      <a:srgbClr val="FFFFFF"/>
                    </a:solidFill>
                  </a:tcPr>
                </a:tc>
                <a:tc>
                  <a:txBody>
                    <a:bodyPr/>
                    <a:lstStyle/>
                    <a:p>
                      <a:pPr indent="0" marL="0">
                        <a:buNone/>
                      </a:pPr>
                      <a:r>
                        <a:rPr lang="en-US" sz="1300" dirty="0">
                          <a:solidFill>
                            <a:srgbClr val="1F2A26"/>
                          </a:solidFill>
                          <a:latin typeface="Calibri" pitchFamily="34" charset="0"/>
                          <a:ea typeface="Calibri" pitchFamily="34" charset="-122"/>
                          <a:cs typeface="Calibri" pitchFamily="34" charset="-120"/>
                        </a:rPr>
                        <a:t>Circuit breakers; highest-clearance agents attest-only in the pilot</a:t>
                      </a:r>
                      <a:endParaRPr lang="en-US" sz="1300" dirty="0">
                        <a:latin typeface="Calibri" charset="0"/>
                        <a:ea typeface="Calibri" charset="0"/>
                        <a:cs typeface="Calibri" charset="0"/>
                      </a:endParaRPr>
                    </a:p>
                  </a:txBody>
                  <a:tcPr marL="91440" marR="91440" marT="45720" marB="45720" anchor="ctr">
                    <a:lnL w="9525" cap="flat" cmpd="sng" algn="ctr">
                      <a:solidFill>
                        <a:srgbClr val="DCE3DC"/>
                      </a:solidFill>
                      <a:prstDash val="solid"/>
                      <a:round/>
                      <a:headEnd type="none" w="med" len="med"/>
                      <a:tailEnd type="none" w="med" len="med"/>
                    </a:lnL>
                    <a:lnR w="9525" cap="flat" cmpd="sng" algn="ctr">
                      <a:solidFill>
                        <a:srgbClr val="DCE3DC"/>
                      </a:solidFill>
                      <a:prstDash val="solid"/>
                      <a:round/>
                      <a:headEnd type="none" w="med" len="med"/>
                      <a:tailEnd type="none" w="med" len="med"/>
                    </a:lnR>
                    <a:lnT w="9525" cap="flat" cmpd="sng" algn="ctr">
                      <a:solidFill>
                        <a:srgbClr val="DCE3DC"/>
                      </a:solidFill>
                      <a:prstDash val="solid"/>
                      <a:round/>
                      <a:headEnd type="none" w="med" len="med"/>
                      <a:tailEnd type="none" w="med" len="med"/>
                    </a:lnT>
                    <a:lnB w="9525" cap="flat" cmpd="sng" algn="ctr">
                      <a:solidFill>
                        <a:srgbClr val="DCE3DC"/>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731520" y="640080"/>
            <a:ext cx="10698480" cy="731520"/>
          </a:xfrm>
          <a:prstGeom prst="rect">
            <a:avLst/>
          </a:prstGeom>
          <a:noFill/>
          <a:ln/>
        </p:spPr>
        <p:txBody>
          <a:bodyPr wrap="square" lIns="0" tIns="0" rIns="0" bIns="0" rtlCol="0" anchor="t"/>
          <a:lstStyle/>
          <a:p>
            <a:pPr indent="0" marL="0">
              <a:buNone/>
            </a:pPr>
            <a:r>
              <a:rPr lang="en-US" sz="4000" b="1" dirty="0">
                <a:solidFill>
                  <a:schemeClr val="bg1"/>
                </a:solidFill>
                <a:latin typeface="Cambria" pitchFamily="34" charset="0"/>
                <a:ea typeface="Cambria" pitchFamily="34" charset="-122"/>
                <a:cs typeface="Cambria" pitchFamily="34" charset="-120"/>
              </a:rPr>
              <a:t>Decision requested</a:t>
            </a:r>
            <a:endParaRPr lang="en-US" sz="4000" dirty="0"/>
          </a:p>
        </p:txBody>
      </p:sp>
      <p:sp>
        <p:nvSpPr>
          <p:cNvPr id="3" name="Text 1"/>
          <p:cNvSpPr txBox="1"/>
          <p:nvPr/>
        </p:nvSpPr>
        <p:spPr>
          <a:xfrm>
            <a:off x="731520" y="1508760"/>
            <a:ext cx="10424160" cy="1097280"/>
          </a:xfrm>
          <a:prstGeom prst="rect">
            <a:avLst/>
          </a:prstGeom>
          <a:noFill/>
          <a:ln/>
        </p:spPr>
        <p:txBody>
          <a:bodyPr wrap="square" lIns="0" tIns="0" rIns="0" bIns="0" rtlCol="0" anchor="t"/>
          <a:lstStyle/>
          <a:p>
            <a:pPr indent="0" marL="0">
              <a:buNone/>
            </a:pPr>
            <a:r>
              <a:rPr lang="en-US" sz="1800" dirty="0">
                <a:solidFill>
                  <a:schemeClr val="accent3"/>
                </a:solidFill>
              </a:rPr>
              <a:t>Approve a 12-month pilot with a cross-functional team from product, benefits, compliance, legal and enterprise analytics, a budget sized in phase 1, and outside counsel for the liability schedule and pooled funds.</a:t>
            </a:r>
            <a:endParaRPr lang="en-US" sz="1800" dirty="0"/>
          </a:p>
        </p:txBody>
      </p:sp>
      <p:sp>
        <p:nvSpPr>
          <p:cNvPr id="4" name="Text 2"/>
          <p:cNvSpPr txBox="1"/>
          <p:nvPr/>
        </p:nvSpPr>
        <p:spPr>
          <a:xfrm>
            <a:off x="731520" y="3291840"/>
            <a:ext cx="3291840" cy="914400"/>
          </a:xfrm>
          <a:prstGeom prst="rect">
            <a:avLst/>
          </a:prstGeom>
          <a:noFill/>
          <a:ln/>
        </p:spPr>
        <p:txBody>
          <a:bodyPr wrap="square" lIns="0" tIns="0" rIns="0" bIns="0" rtlCol="0" anchor="t"/>
          <a:lstStyle/>
          <a:p>
            <a:pPr indent="0" marL="0">
              <a:buNone/>
            </a:pPr>
            <a:r>
              <a:rPr lang="en-US" sz="5400" b="1" dirty="0">
                <a:solidFill>
                  <a:schemeClr val="accent2"/>
                </a:solidFill>
                <a:latin typeface="Cambria" pitchFamily="34" charset="0"/>
                <a:ea typeface="Cambria" pitchFamily="34" charset="-122"/>
                <a:cs typeface="Cambria" pitchFamily="34" charset="-120"/>
              </a:rPr>
              <a:t>5+ pts</a:t>
            </a:r>
            <a:endParaRPr lang="en-US" sz="5400" dirty="0"/>
          </a:p>
        </p:txBody>
      </p:sp>
      <p:sp>
        <p:nvSpPr>
          <p:cNvPr id="5" name="Text 3"/>
          <p:cNvSpPr txBox="1"/>
          <p:nvPr/>
        </p:nvSpPr>
        <p:spPr>
          <a:xfrm>
            <a:off x="731520" y="4297680"/>
            <a:ext cx="3200400" cy="822960"/>
          </a:xfrm>
          <a:prstGeom prst="rect">
            <a:avLst/>
          </a:prstGeom>
          <a:noFill/>
          <a:ln/>
        </p:spPr>
        <p:txBody>
          <a:bodyPr wrap="square" lIns="0" tIns="0" rIns="0" bIns="0" rtlCol="0" anchor="t"/>
          <a:lstStyle/>
          <a:p>
            <a:pPr indent="0" marL="0">
              <a:buNone/>
            </a:pPr>
            <a:r>
              <a:rPr lang="en-US" sz="1500" dirty="0">
                <a:solidFill>
                  <a:schemeClr val="bg1"/>
                </a:solidFill>
              </a:rPr>
              <a:t>renewal lift over a matched cohort of HR360 clients</a:t>
            </a:r>
            <a:endParaRPr lang="en-US" sz="1500" dirty="0"/>
          </a:p>
        </p:txBody>
      </p:sp>
      <p:sp>
        <p:nvSpPr>
          <p:cNvPr id="6" name="Text 4"/>
          <p:cNvSpPr txBox="1"/>
          <p:nvPr/>
        </p:nvSpPr>
        <p:spPr>
          <a:xfrm>
            <a:off x="4389120" y="3291840"/>
            <a:ext cx="3291840" cy="914400"/>
          </a:xfrm>
          <a:prstGeom prst="rect">
            <a:avLst/>
          </a:prstGeom>
          <a:noFill/>
          <a:ln/>
        </p:spPr>
        <p:txBody>
          <a:bodyPr wrap="square" lIns="0" tIns="0" rIns="0" bIns="0" rtlCol="0" anchor="t"/>
          <a:lstStyle/>
          <a:p>
            <a:pPr indent="0" marL="0">
              <a:buNone/>
            </a:pPr>
            <a:r>
              <a:rPr lang="en-US" sz="5400" b="1" dirty="0">
                <a:solidFill>
                  <a:schemeClr val="accent2"/>
                </a:solidFill>
                <a:latin typeface="Cambria" pitchFamily="34" charset="0"/>
                <a:ea typeface="Cambria" pitchFamily="34" charset="-122"/>
                <a:cs typeface="Cambria" pitchFamily="34" charset="-120"/>
              </a:rPr>
              <a:t>50+</a:t>
            </a:r>
            <a:endParaRPr lang="en-US" sz="5400" dirty="0"/>
          </a:p>
        </p:txBody>
      </p:sp>
      <p:sp>
        <p:nvSpPr>
          <p:cNvPr id="7" name="Text 5"/>
          <p:cNvSpPr txBox="1"/>
          <p:nvPr/>
        </p:nvSpPr>
        <p:spPr>
          <a:xfrm>
            <a:off x="4389120" y="4297680"/>
            <a:ext cx="3200400" cy="822960"/>
          </a:xfrm>
          <a:prstGeom prst="rect">
            <a:avLst/>
          </a:prstGeom>
          <a:noFill/>
          <a:ln/>
        </p:spPr>
        <p:txBody>
          <a:bodyPr wrap="square" lIns="0" tIns="0" rIns="0" bIns="0" rtlCol="0" anchor="t"/>
          <a:lstStyle/>
          <a:p>
            <a:pPr indent="0" marL="0">
              <a:buNone/>
            </a:pPr>
            <a:r>
              <a:rPr lang="en-US" sz="1500" dirty="0">
                <a:solidFill>
                  <a:schemeClr val="bg1"/>
                </a:solidFill>
              </a:rPr>
              <a:t>agents under attestation across 5–10 clients</a:t>
            </a:r>
            <a:endParaRPr lang="en-US" sz="1500" dirty="0"/>
          </a:p>
        </p:txBody>
      </p:sp>
      <p:sp>
        <p:nvSpPr>
          <p:cNvPr id="8" name="Text 6"/>
          <p:cNvSpPr txBox="1"/>
          <p:nvPr/>
        </p:nvSpPr>
        <p:spPr>
          <a:xfrm>
            <a:off x="8046720" y="3291840"/>
            <a:ext cx="3291840" cy="914400"/>
          </a:xfrm>
          <a:prstGeom prst="rect">
            <a:avLst/>
          </a:prstGeom>
          <a:noFill/>
          <a:ln/>
        </p:spPr>
        <p:txBody>
          <a:bodyPr wrap="square" lIns="0" tIns="0" rIns="0" bIns="0" rtlCol="0" anchor="t"/>
          <a:lstStyle/>
          <a:p>
            <a:pPr indent="0" marL="0">
              <a:buNone/>
            </a:pPr>
            <a:r>
              <a:rPr lang="en-US" sz="5400" b="1" dirty="0">
                <a:solidFill>
                  <a:schemeClr val="accent2"/>
                </a:solidFill>
                <a:latin typeface="Cambria" pitchFamily="34" charset="0"/>
                <a:ea typeface="Cambria" pitchFamily="34" charset="-122"/>
                <a:cs typeface="Cambria" pitchFamily="34" charset="-120"/>
              </a:rPr>
              <a:t>1</a:t>
            </a:r>
            <a:endParaRPr lang="en-US" sz="5400" dirty="0"/>
          </a:p>
        </p:txBody>
      </p:sp>
      <p:sp>
        <p:nvSpPr>
          <p:cNvPr id="9" name="Text 7"/>
          <p:cNvSpPr txBox="1"/>
          <p:nvPr/>
        </p:nvSpPr>
        <p:spPr>
          <a:xfrm>
            <a:off x="8046720" y="4297680"/>
            <a:ext cx="3200400" cy="822960"/>
          </a:xfrm>
          <a:prstGeom prst="rect">
            <a:avLst/>
          </a:prstGeom>
          <a:noFill/>
          <a:ln/>
        </p:spPr>
        <p:txBody>
          <a:bodyPr wrap="square" lIns="0" tIns="0" rIns="0" bIns="0" rtlCol="0" anchor="t"/>
          <a:lstStyle/>
          <a:p>
            <a:pPr indent="0" marL="0">
              <a:buNone/>
            </a:pPr>
            <a:r>
              <a:rPr lang="en-US" sz="1500" dirty="0">
                <a:solidFill>
                  <a:schemeClr val="bg1"/>
                </a:solidFill>
              </a:rPr>
              <a:t>carrier quote for a master Agent Comp policy by month 9</a:t>
            </a:r>
            <a:endParaRPr lang="en-US" sz="1500" dirty="0"/>
          </a:p>
        </p:txBody>
      </p:sp>
      <p:sp>
        <p:nvSpPr>
          <p:cNvPr id="10" name="Text 8"/>
          <p:cNvSpPr txBox="1"/>
          <p:nvPr/>
        </p:nvSpPr>
        <p:spPr>
          <a:xfrm>
            <a:off x="731520" y="2880360"/>
            <a:ext cx="5486400" cy="320040"/>
          </a:xfrm>
          <a:prstGeom prst="rect">
            <a:avLst/>
          </a:prstGeom>
          <a:noFill/>
          <a:ln/>
        </p:spPr>
        <p:txBody>
          <a:bodyPr wrap="square" lIns="0" tIns="0" rIns="0" bIns="0" rtlCol="0" anchor="t"/>
          <a:lstStyle/>
          <a:p>
            <a:pPr indent="0" marL="0">
              <a:buNone/>
            </a:pPr>
            <a:r>
              <a:rPr lang="en-US" sz="1300" b="1" spc="100" kern="0" dirty="0">
                <a:solidFill>
                  <a:schemeClr val="accent3"/>
                </a:solidFill>
              </a:rPr>
              <a:t>Pilot success measures</a:t>
            </a:r>
            <a:endParaRPr lang="en-US" sz="1300" dirty="0"/>
          </a:p>
        </p:txBody>
      </p:sp>
      <p:sp>
        <p:nvSpPr>
          <p:cNvPr id="11" name="Text 0"/>
          <p:cNvSpPr/>
          <p:nvPr>
            <p:ph idx="100" type="title" hasCustomPrompt="1"/>
          </p:nvPr>
        </p:nvSpPr>
        <p:spPr>
          <a:xfrm>
            <a:off x="731520" y="2377440"/>
            <a:ext cx="10698480" cy="1188720"/>
          </a:xfrm>
          <a:prstGeom prst="rect">
            <a:avLst/>
          </a:prstGeom>
          <a:noFill/>
          <a:ln/>
        </p:spPr>
        <p:txBody>
          <a:bodyPr wrap="square" rtlCol="0" anchor="b"/>
          <a:lstStyle/>
          <a:p>
            <a:pPr algn="l" indent="0" marL="0">
              <a:buNone/>
            </a:pPr>
            <a:endParaRPr lang="en-US" sz="4000" dirty="0"/>
          </a:p>
        </p:txBody>
      </p:sp>
      <p:sp>
        <p:nvSpPr>
          <p:cNvPr id="12" name="Text 0"/>
          <p:cNvSpPr/>
          <p:nvPr>
            <p:ph idx="101" type="body" hasCustomPrompt="1"/>
          </p:nvPr>
        </p:nvSpPr>
        <p:spPr>
          <a:xfrm>
            <a:off x="731520" y="3703320"/>
            <a:ext cx="9601200" cy="914400"/>
          </a:xfrm>
          <a:prstGeom prst="rect">
            <a:avLst/>
          </a:prstGeom>
          <a:noFill/>
          <a:ln/>
        </p:spPr>
        <p:txBody>
          <a:bodyPr wrap="square" rtlCol="0" anchor="t"/>
          <a:lstStyle/>
          <a:p>
            <a:pPr indent="0" marL="0">
              <a:buNone/>
            </a:pP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731520" y="2377440"/>
            <a:ext cx="10698480" cy="1188720"/>
          </a:xfrm>
          <a:prstGeom prst="rect">
            <a:avLst/>
          </a:prstGeom>
          <a:noFill/>
          <a:ln/>
        </p:spPr>
        <p:txBody>
          <a:bodyPr wrap="square" rtlCol="0" anchor="b"/>
          <a:lstStyle/>
          <a:p>
            <a:pPr algn="l" indent="0" marL="0">
              <a:buNone/>
            </a:pPr>
            <a:r>
              <a:rPr lang="en-US" sz="4000" b="1" dirty="0">
                <a:solidFill>
                  <a:schemeClr val="bg1"/>
                </a:solidFill>
                <a:latin typeface="Cambria" pitchFamily="34" charset="0"/>
                <a:ea typeface="Cambria" pitchFamily="34" charset="-122"/>
                <a:cs typeface="Cambria" pitchFamily="34" charset="-120"/>
              </a:rPr>
              <a:t>Addendum: building on Keel and North Star</a:t>
            </a:r>
            <a:endParaRPr lang="en-US" sz="4000" dirty="0"/>
          </a:p>
        </p:txBody>
      </p:sp>
      <p:sp>
        <p:nvSpPr>
          <p:cNvPr id="3" name="Text 0"/>
          <p:cNvSpPr/>
          <p:nvPr>
            <p:ph idx="101" type="body" hasCustomPrompt="1"/>
          </p:nvPr>
        </p:nvSpPr>
        <p:spPr>
          <a:xfrm>
            <a:off x="731520" y="3703320"/>
            <a:ext cx="9601200" cy="914400"/>
          </a:xfrm>
          <a:prstGeom prst="rect">
            <a:avLst/>
          </a:prstGeom>
          <a:noFill/>
          <a:ln/>
        </p:spPr>
        <p:txBody>
          <a:bodyPr wrap="square" rtlCol="0" anchor="t"/>
          <a:lstStyle/>
          <a:p>
            <a:pPr indent="0" marL="0">
              <a:buNone/>
            </a:pPr>
            <a:r>
              <a:rPr lang="en-US" sz="1800" dirty="0">
                <a:solidFill>
                  <a:schemeClr val="accent3"/>
                </a:solidFill>
              </a:rPr>
              <a:t>How the new services reuse the platform we are already building for Insperity's own advisors</a:t>
            </a:r>
            <a:endParaRPr lang="en-US" sz="1800" dirty="0"/>
          </a:p>
        </p:txBody>
      </p:sp>
      <p:sp>
        <p:nvSpPr>
          <p:cNvPr id="4" name="Keel circle"/>
          <p:cNvSpPr/>
          <p:nvPr/>
        </p:nvSpPr>
        <p:spPr>
          <a:xfrm>
            <a:off x="731520" y="1097280"/>
            <a:ext cx="822960" cy="822960"/>
          </a:xfrm>
          <a:prstGeom prst="ellipse">
            <a:avLst/>
          </a:prstGeom>
          <a:solidFill>
            <a:schemeClr val="accent1"/>
          </a:solidFill>
          <a:ln/>
        </p:spPr>
      </p:sp>
      <p:pic>
        <p:nvPicPr>
          <p:cNvPr id="5" name="Keel icon" descr="Keel">    </p:cNvPr>
          <p:cNvPicPr>
            <a:picLocks noChangeAspect="1"/>
          </p:cNvPicPr>
          <p:nvPr/>
        </p:nvPicPr>
        <p:blipFill>
          <a:blip r:embed="rId1"/>
          <a:stretch>
            <a:fillRect/>
          </a:stretch>
        </p:blipFill>
        <p:spPr>
          <a:xfrm>
            <a:off x="937260" y="1303020"/>
            <a:ext cx="411480" cy="411480"/>
          </a:xfrm>
          <a:prstGeom prst="rect">
            <a:avLst/>
          </a:prstGeom>
        </p:spPr>
      </p:pic>
      <p:sp>
        <p:nvSpPr>
          <p:cNvPr id="6" name="North Star circle"/>
          <p:cNvSpPr/>
          <p:nvPr/>
        </p:nvSpPr>
        <p:spPr>
          <a:xfrm>
            <a:off x="1737360" y="1097280"/>
            <a:ext cx="822960" cy="822960"/>
          </a:xfrm>
          <a:prstGeom prst="ellipse">
            <a:avLst/>
          </a:prstGeom>
          <a:solidFill>
            <a:schemeClr val="accent2"/>
          </a:solidFill>
          <a:ln/>
        </p:spPr>
      </p:sp>
      <p:pic>
        <p:nvPicPr>
          <p:cNvPr id="7" name="North Star icon" descr="North Star">    </p:cNvPr>
          <p:cNvPicPr>
            <a:picLocks noChangeAspect="1"/>
          </p:cNvPicPr>
          <p:nvPr/>
        </p:nvPicPr>
        <p:blipFill>
          <a:blip r:embed="rId2"/>
          <a:stretch>
            <a:fillRect/>
          </a:stretch>
        </p:blipFill>
        <p:spPr>
          <a:xfrm>
            <a:off x="1943100" y="1303020"/>
            <a:ext cx="411480" cy="411480"/>
          </a:xfrm>
          <a:prstGeom prst="rect">
            <a:avLst/>
          </a:prstGeom>
        </p:spPr>
      </p:pic>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North Star guides; the Keel governs</a:t>
            </a:r>
            <a:endParaRPr lang="en-US" sz="3600" dirty="0"/>
          </a:p>
        </p:txBody>
      </p:sp>
      <p:sp>
        <p:nvSpPr>
          <p:cNvPr id="3" name="Text 1"/>
          <p:cNvSpPr txBox="1"/>
          <p:nvPr/>
        </p:nvSpPr>
        <p:spPr>
          <a:xfrm>
            <a:off x="548640" y="1371600"/>
            <a:ext cx="1645920" cy="777240"/>
          </a:xfrm>
          <a:prstGeom prst="rect">
            <a:avLst/>
          </a:prstGeom>
          <a:noFill/>
          <a:ln/>
        </p:spPr>
        <p:txBody>
          <a:bodyPr wrap="square" lIns="0" tIns="0" rIns="0" bIns="0" rtlCol="0" anchor="ctr"/>
          <a:lstStyle/>
          <a:p>
            <a:pPr indent="0" marL="0">
              <a:buNone/>
            </a:pPr>
            <a:r>
              <a:rPr lang="en-US" sz="1300" b="1" dirty="0">
                <a:solidFill>
                  <a:schemeClr val="tx2"/>
                </a:solidFill>
              </a:rPr>
              <a:t>Channels</a:t>
            </a:r>
            <a:endParaRPr lang="en-US" sz="1300" dirty="0"/>
          </a:p>
        </p:txBody>
      </p:sp>
      <p:sp>
        <p:nvSpPr>
          <p:cNvPr id="4" name="Channels band"/>
          <p:cNvSpPr/>
          <p:nvPr/>
        </p:nvSpPr>
        <p:spPr>
          <a:xfrm>
            <a:off x="2331720" y="1371600"/>
            <a:ext cx="9281160" cy="777240"/>
          </a:xfrm>
          <a:prstGeom prst="roundRect">
            <a:avLst>
              <a:gd name="adj" fmla="val 9412"/>
            </a:avLst>
          </a:prstGeom>
          <a:solidFill>
            <a:srgbClr val="FFFFFF"/>
          </a:solidFill>
          <a:ln w="12700">
            <a:solidFill>
              <a:srgbClr val="5A6763"/>
            </a:solidFill>
            <a:prstDash val="solid"/>
          </a:ln>
        </p:spPr>
      </p:sp>
      <p:sp>
        <p:nvSpPr>
          <p:cNvPr id="5" name="Living Handbook"/>
          <p:cNvSpPr/>
          <p:nvPr/>
        </p:nvSpPr>
        <p:spPr>
          <a:xfrm>
            <a:off x="2468880" y="1508760"/>
            <a:ext cx="2148840" cy="502920"/>
          </a:xfrm>
          <a:prstGeom prst="roundRect">
            <a:avLst>
              <a:gd name="adj" fmla="val 10909"/>
            </a:avLst>
          </a:prstGeom>
          <a:solidFill>
            <a:srgbClr val="FFFFFF"/>
          </a:solidFill>
          <a:ln w="9525">
            <a:solidFill>
              <a:srgbClr val="5A6763"/>
            </a:solidFill>
            <a:prstDash val="solid"/>
          </a:ln>
        </p:spPr>
      </p:sp>
      <p:sp>
        <p:nvSpPr>
          <p:cNvPr id="6" name="Text 4"/>
          <p:cNvSpPr txBox="1"/>
          <p:nvPr/>
        </p:nvSpPr>
        <p:spPr>
          <a:xfrm>
            <a:off x="2468880" y="1508760"/>
            <a:ext cx="2148840" cy="502920"/>
          </a:xfrm>
          <a:prstGeom prst="rect">
            <a:avLst/>
          </a:prstGeom>
          <a:noFill/>
          <a:ln/>
        </p:spPr>
        <p:txBody>
          <a:bodyPr wrap="square" lIns="0" tIns="0" rIns="0" bIns="0" rtlCol="0" anchor="ctr"/>
          <a:lstStyle/>
          <a:p>
            <a:pPr algn="ctr" indent="0" marL="0">
              <a:buNone/>
            </a:pPr>
            <a:r>
              <a:rPr lang="en-US" sz="1300" dirty="0">
                <a:solidFill>
                  <a:schemeClr val="tx1"/>
                </a:solidFill>
              </a:rPr>
              <a:t>Living Handbook</a:t>
            </a:r>
            <a:endParaRPr lang="en-US" sz="1300" dirty="0"/>
          </a:p>
        </p:txBody>
      </p:sp>
      <p:sp>
        <p:nvSpPr>
          <p:cNvPr id="7" name="Compass"/>
          <p:cNvSpPr/>
          <p:nvPr/>
        </p:nvSpPr>
        <p:spPr>
          <a:xfrm>
            <a:off x="4754880" y="1508760"/>
            <a:ext cx="2148840" cy="502920"/>
          </a:xfrm>
          <a:prstGeom prst="roundRect">
            <a:avLst>
              <a:gd name="adj" fmla="val 10909"/>
            </a:avLst>
          </a:prstGeom>
          <a:solidFill>
            <a:srgbClr val="FFFFFF"/>
          </a:solidFill>
          <a:ln w="9525">
            <a:solidFill>
              <a:srgbClr val="5A6763"/>
            </a:solidFill>
            <a:prstDash val="solid"/>
          </a:ln>
        </p:spPr>
      </p:sp>
      <p:sp>
        <p:nvSpPr>
          <p:cNvPr id="8" name="Text 6"/>
          <p:cNvSpPr txBox="1"/>
          <p:nvPr/>
        </p:nvSpPr>
        <p:spPr>
          <a:xfrm>
            <a:off x="4754880" y="1508760"/>
            <a:ext cx="2148840" cy="502920"/>
          </a:xfrm>
          <a:prstGeom prst="rect">
            <a:avLst/>
          </a:prstGeom>
          <a:noFill/>
          <a:ln/>
        </p:spPr>
        <p:txBody>
          <a:bodyPr wrap="square" lIns="0" tIns="0" rIns="0" bIns="0" rtlCol="0" anchor="ctr"/>
          <a:lstStyle/>
          <a:p>
            <a:pPr algn="ctr" indent="0" marL="0">
              <a:buNone/>
            </a:pPr>
            <a:r>
              <a:rPr lang="en-US" sz="1300" dirty="0">
                <a:solidFill>
                  <a:schemeClr val="tx1"/>
                </a:solidFill>
              </a:rPr>
              <a:t>Compass</a:t>
            </a:r>
            <a:endParaRPr lang="en-US" sz="1300" dirty="0"/>
          </a:p>
        </p:txBody>
      </p:sp>
      <p:sp>
        <p:nvSpPr>
          <p:cNvPr id="9" name="Copilot"/>
          <p:cNvSpPr/>
          <p:nvPr/>
        </p:nvSpPr>
        <p:spPr>
          <a:xfrm>
            <a:off x="7040880" y="1508760"/>
            <a:ext cx="2148840" cy="502920"/>
          </a:xfrm>
          <a:prstGeom prst="roundRect">
            <a:avLst>
              <a:gd name="adj" fmla="val 10909"/>
            </a:avLst>
          </a:prstGeom>
          <a:solidFill>
            <a:srgbClr val="FFFFFF"/>
          </a:solidFill>
          <a:ln w="9525">
            <a:solidFill>
              <a:srgbClr val="5A6763"/>
            </a:solidFill>
            <a:prstDash val="solid"/>
          </a:ln>
        </p:spPr>
      </p:sp>
      <p:sp>
        <p:nvSpPr>
          <p:cNvPr id="10" name="Text 8"/>
          <p:cNvSpPr txBox="1"/>
          <p:nvPr/>
        </p:nvSpPr>
        <p:spPr>
          <a:xfrm>
            <a:off x="7040880" y="1508760"/>
            <a:ext cx="2148840" cy="502920"/>
          </a:xfrm>
          <a:prstGeom prst="rect">
            <a:avLst/>
          </a:prstGeom>
          <a:noFill/>
          <a:ln/>
        </p:spPr>
        <p:txBody>
          <a:bodyPr wrap="square" lIns="0" tIns="0" rIns="0" bIns="0" rtlCol="0" anchor="ctr"/>
          <a:lstStyle/>
          <a:p>
            <a:pPr algn="ctr" indent="0" marL="0">
              <a:buNone/>
            </a:pPr>
            <a:r>
              <a:rPr lang="en-US" sz="1300" dirty="0">
                <a:solidFill>
                  <a:schemeClr val="tx1"/>
                </a:solidFill>
              </a:rPr>
              <a:t>Copilot</a:t>
            </a:r>
            <a:endParaRPr lang="en-US" sz="1300" dirty="0"/>
          </a:p>
        </p:txBody>
      </p:sp>
      <p:sp>
        <p:nvSpPr>
          <p:cNvPr id="11" name="Client portal"/>
          <p:cNvSpPr/>
          <p:nvPr/>
        </p:nvSpPr>
        <p:spPr>
          <a:xfrm>
            <a:off x="9326880" y="1508760"/>
            <a:ext cx="2148840" cy="502920"/>
          </a:xfrm>
          <a:prstGeom prst="roundRect">
            <a:avLst>
              <a:gd name="adj" fmla="val 10909"/>
            </a:avLst>
          </a:prstGeom>
          <a:solidFill>
            <a:srgbClr val="FFFFFF"/>
          </a:solidFill>
          <a:ln w="9525">
            <a:solidFill>
              <a:srgbClr val="5A6763"/>
            </a:solidFill>
            <a:prstDash val="solid"/>
          </a:ln>
        </p:spPr>
      </p:sp>
      <p:sp>
        <p:nvSpPr>
          <p:cNvPr id="12" name="Text 10"/>
          <p:cNvSpPr txBox="1"/>
          <p:nvPr/>
        </p:nvSpPr>
        <p:spPr>
          <a:xfrm>
            <a:off x="9326880" y="1508760"/>
            <a:ext cx="2148840" cy="502920"/>
          </a:xfrm>
          <a:prstGeom prst="rect">
            <a:avLst/>
          </a:prstGeom>
          <a:noFill/>
          <a:ln/>
        </p:spPr>
        <p:txBody>
          <a:bodyPr wrap="square" lIns="0" tIns="0" rIns="0" bIns="0" rtlCol="0" anchor="ctr"/>
          <a:lstStyle/>
          <a:p>
            <a:pPr algn="ctr" indent="0" marL="0">
              <a:buNone/>
            </a:pPr>
            <a:r>
              <a:rPr lang="en-US" sz="1300" dirty="0">
                <a:solidFill>
                  <a:schemeClr val="tx1"/>
                </a:solidFill>
              </a:rPr>
              <a:t>Client portal</a:t>
            </a:r>
            <a:endParaRPr lang="en-US" sz="1300" dirty="0"/>
          </a:p>
        </p:txBody>
      </p:sp>
      <p:sp>
        <p:nvSpPr>
          <p:cNvPr id="13" name="Text 11"/>
          <p:cNvSpPr txBox="1"/>
          <p:nvPr/>
        </p:nvSpPr>
        <p:spPr>
          <a:xfrm>
            <a:off x="548640" y="2286000"/>
            <a:ext cx="1645920" cy="777240"/>
          </a:xfrm>
          <a:prstGeom prst="rect">
            <a:avLst/>
          </a:prstGeom>
          <a:noFill/>
          <a:ln/>
        </p:spPr>
        <p:txBody>
          <a:bodyPr wrap="square" lIns="0" tIns="0" rIns="0" bIns="0" rtlCol="0" anchor="ctr"/>
          <a:lstStyle/>
          <a:p>
            <a:pPr indent="0" marL="0">
              <a:buNone/>
            </a:pPr>
            <a:r>
              <a:rPr lang="en-US" sz="1300" b="1" dirty="0">
                <a:solidFill>
                  <a:schemeClr val="tx2"/>
                </a:solidFill>
              </a:rPr>
              <a:t>North Star</a:t>
            </a:r>
            <a:endParaRPr lang="en-US" sz="1300" dirty="0"/>
          </a:p>
          <a:p>
            <a:pPr indent="0" marL="0">
              <a:buNone/>
            </a:pPr>
            <a:r>
              <a:rPr lang="en-US" sz="1300" b="1" dirty="0">
                <a:solidFill>
                  <a:schemeClr val="tx2"/>
                </a:solidFill>
              </a:rPr>
              <a:t>agent fabric</a:t>
            </a:r>
            <a:endParaRPr lang="en-US" sz="1300" dirty="0"/>
          </a:p>
        </p:txBody>
      </p:sp>
      <p:sp>
        <p:nvSpPr>
          <p:cNvPr id="14" name="North Star agent fabric band"/>
          <p:cNvSpPr/>
          <p:nvPr/>
        </p:nvSpPr>
        <p:spPr>
          <a:xfrm>
            <a:off x="2331720" y="2286000"/>
            <a:ext cx="9281160" cy="777240"/>
          </a:xfrm>
          <a:prstGeom prst="roundRect">
            <a:avLst>
              <a:gd name="adj" fmla="val 9412"/>
            </a:avLst>
          </a:prstGeom>
          <a:solidFill>
            <a:srgbClr val="EEF3EE"/>
          </a:solidFill>
          <a:ln w="12700">
            <a:solidFill>
              <a:srgbClr val="5E8C61"/>
            </a:solidFill>
            <a:prstDash val="solid"/>
          </a:ln>
        </p:spPr>
      </p:sp>
      <p:sp>
        <p:nvSpPr>
          <p:cNvPr id="15" name="Advisor agent"/>
          <p:cNvSpPr/>
          <p:nvPr/>
        </p:nvSpPr>
        <p:spPr>
          <a:xfrm>
            <a:off x="2468880" y="2423160"/>
            <a:ext cx="1386840" cy="502920"/>
          </a:xfrm>
          <a:prstGeom prst="roundRect">
            <a:avLst>
              <a:gd name="adj" fmla="val 10909"/>
            </a:avLst>
          </a:prstGeom>
          <a:solidFill>
            <a:srgbClr val="FFFFFF"/>
          </a:solidFill>
          <a:ln w="9525">
            <a:solidFill>
              <a:srgbClr val="5E8C61"/>
            </a:solidFill>
            <a:prstDash val="solid"/>
          </a:ln>
        </p:spPr>
      </p:sp>
      <p:sp>
        <p:nvSpPr>
          <p:cNvPr id="16" name="Text 14"/>
          <p:cNvSpPr txBox="1"/>
          <p:nvPr/>
        </p:nvSpPr>
        <p:spPr>
          <a:xfrm>
            <a:off x="2468880" y="2423160"/>
            <a:ext cx="1386840" cy="502920"/>
          </a:xfrm>
          <a:prstGeom prst="rect">
            <a:avLst/>
          </a:prstGeom>
          <a:noFill/>
          <a:ln/>
        </p:spPr>
        <p:txBody>
          <a:bodyPr wrap="square" lIns="0" tIns="0" rIns="0" bIns="0" rtlCol="0" anchor="ctr"/>
          <a:lstStyle/>
          <a:p>
            <a:pPr algn="ctr" indent="0" marL="0">
              <a:buNone/>
            </a:pPr>
            <a:r>
              <a:rPr lang="en-US" sz="1200" dirty="0">
                <a:solidFill>
                  <a:schemeClr val="tx1"/>
                </a:solidFill>
              </a:rPr>
              <a:t>Advisor agent</a:t>
            </a:r>
            <a:endParaRPr lang="en-US" sz="1200" dirty="0"/>
          </a:p>
        </p:txBody>
      </p:sp>
      <p:sp>
        <p:nvSpPr>
          <p:cNvPr id="17" name="Domain agents"/>
          <p:cNvSpPr/>
          <p:nvPr/>
        </p:nvSpPr>
        <p:spPr>
          <a:xfrm>
            <a:off x="3992880" y="2423160"/>
            <a:ext cx="1386840" cy="502920"/>
          </a:xfrm>
          <a:prstGeom prst="roundRect">
            <a:avLst>
              <a:gd name="adj" fmla="val 10909"/>
            </a:avLst>
          </a:prstGeom>
          <a:solidFill>
            <a:srgbClr val="FFFFFF"/>
          </a:solidFill>
          <a:ln w="9525">
            <a:solidFill>
              <a:srgbClr val="5E8C61"/>
            </a:solidFill>
            <a:prstDash val="solid"/>
          </a:ln>
        </p:spPr>
      </p:sp>
      <p:sp>
        <p:nvSpPr>
          <p:cNvPr id="18" name="Text 16"/>
          <p:cNvSpPr txBox="1"/>
          <p:nvPr/>
        </p:nvSpPr>
        <p:spPr>
          <a:xfrm>
            <a:off x="3992880" y="2423160"/>
            <a:ext cx="1386840" cy="502920"/>
          </a:xfrm>
          <a:prstGeom prst="rect">
            <a:avLst/>
          </a:prstGeom>
          <a:noFill/>
          <a:ln/>
        </p:spPr>
        <p:txBody>
          <a:bodyPr wrap="square" lIns="0" tIns="0" rIns="0" bIns="0" rtlCol="0" anchor="ctr"/>
          <a:lstStyle/>
          <a:p>
            <a:pPr algn="ctr" indent="0" marL="0">
              <a:buNone/>
            </a:pPr>
            <a:r>
              <a:rPr lang="en-US" sz="1200" dirty="0">
                <a:solidFill>
                  <a:schemeClr val="tx1"/>
                </a:solidFill>
              </a:rPr>
              <a:t>Domain agents</a:t>
            </a:r>
            <a:endParaRPr lang="en-US" sz="1200" dirty="0"/>
          </a:p>
        </p:txBody>
      </p:sp>
      <p:sp>
        <p:nvSpPr>
          <p:cNvPr id="19" name="Insights agent"/>
          <p:cNvSpPr/>
          <p:nvPr/>
        </p:nvSpPr>
        <p:spPr>
          <a:xfrm>
            <a:off x="5516880" y="2423160"/>
            <a:ext cx="1386840" cy="502920"/>
          </a:xfrm>
          <a:prstGeom prst="roundRect">
            <a:avLst>
              <a:gd name="adj" fmla="val 10909"/>
            </a:avLst>
          </a:prstGeom>
          <a:solidFill>
            <a:srgbClr val="FFFFFF"/>
          </a:solidFill>
          <a:ln w="9525">
            <a:solidFill>
              <a:srgbClr val="5E8C61"/>
            </a:solidFill>
            <a:prstDash val="solid"/>
          </a:ln>
        </p:spPr>
      </p:sp>
      <p:sp>
        <p:nvSpPr>
          <p:cNvPr id="20" name="Text 18"/>
          <p:cNvSpPr txBox="1"/>
          <p:nvPr/>
        </p:nvSpPr>
        <p:spPr>
          <a:xfrm>
            <a:off x="5516880" y="2423160"/>
            <a:ext cx="1386840" cy="502920"/>
          </a:xfrm>
          <a:prstGeom prst="rect">
            <a:avLst/>
          </a:prstGeom>
          <a:noFill/>
          <a:ln/>
        </p:spPr>
        <p:txBody>
          <a:bodyPr wrap="square" lIns="0" tIns="0" rIns="0" bIns="0" rtlCol="0" anchor="ctr"/>
          <a:lstStyle/>
          <a:p>
            <a:pPr algn="ctr" indent="0" marL="0">
              <a:buNone/>
            </a:pPr>
            <a:r>
              <a:rPr lang="en-US" sz="1200" dirty="0">
                <a:solidFill>
                  <a:schemeClr val="tx1"/>
                </a:solidFill>
              </a:rPr>
              <a:t>Insights agent</a:t>
            </a:r>
            <a:endParaRPr lang="en-US" sz="1200" dirty="0"/>
          </a:p>
        </p:txBody>
      </p:sp>
      <p:sp>
        <p:nvSpPr>
          <p:cNvPr id="21" name="Guide agent"/>
          <p:cNvSpPr/>
          <p:nvPr/>
        </p:nvSpPr>
        <p:spPr>
          <a:xfrm>
            <a:off x="7040880" y="2423160"/>
            <a:ext cx="1386840" cy="502920"/>
          </a:xfrm>
          <a:prstGeom prst="roundRect">
            <a:avLst>
              <a:gd name="adj" fmla="val 10909"/>
            </a:avLst>
          </a:prstGeom>
          <a:solidFill>
            <a:srgbClr val="FFFFFF"/>
          </a:solidFill>
          <a:ln w="9525">
            <a:solidFill>
              <a:srgbClr val="5E8C61"/>
            </a:solidFill>
            <a:prstDash val="solid"/>
          </a:ln>
        </p:spPr>
      </p:sp>
      <p:sp>
        <p:nvSpPr>
          <p:cNvPr id="22" name="Text 20"/>
          <p:cNvSpPr txBox="1"/>
          <p:nvPr/>
        </p:nvSpPr>
        <p:spPr>
          <a:xfrm>
            <a:off x="7040880" y="2423160"/>
            <a:ext cx="1386840" cy="502920"/>
          </a:xfrm>
          <a:prstGeom prst="rect">
            <a:avLst/>
          </a:prstGeom>
          <a:noFill/>
          <a:ln/>
        </p:spPr>
        <p:txBody>
          <a:bodyPr wrap="square" lIns="0" tIns="0" rIns="0" bIns="0" rtlCol="0" anchor="ctr"/>
          <a:lstStyle/>
          <a:p>
            <a:pPr algn="ctr" indent="0" marL="0">
              <a:buNone/>
            </a:pPr>
            <a:r>
              <a:rPr lang="en-US" sz="1200" dirty="0">
                <a:solidFill>
                  <a:schemeClr val="tx1"/>
                </a:solidFill>
              </a:rPr>
              <a:t>Guide agent</a:t>
            </a:r>
            <a:endParaRPr lang="en-US" sz="1200" dirty="0"/>
          </a:p>
        </p:txBody>
      </p:sp>
      <p:sp>
        <p:nvSpPr>
          <p:cNvPr id="23" name="Composer"/>
          <p:cNvSpPr/>
          <p:nvPr/>
        </p:nvSpPr>
        <p:spPr>
          <a:xfrm>
            <a:off x="8564880" y="2423160"/>
            <a:ext cx="1386840" cy="502920"/>
          </a:xfrm>
          <a:prstGeom prst="roundRect">
            <a:avLst>
              <a:gd name="adj" fmla="val 10909"/>
            </a:avLst>
          </a:prstGeom>
          <a:solidFill>
            <a:srgbClr val="FFFFFF"/>
          </a:solidFill>
          <a:ln w="9525">
            <a:solidFill>
              <a:srgbClr val="5E8C61"/>
            </a:solidFill>
            <a:prstDash val="solid"/>
          </a:ln>
        </p:spPr>
      </p:sp>
      <p:sp>
        <p:nvSpPr>
          <p:cNvPr id="24" name="Text 22"/>
          <p:cNvSpPr txBox="1"/>
          <p:nvPr/>
        </p:nvSpPr>
        <p:spPr>
          <a:xfrm>
            <a:off x="8564880" y="2423160"/>
            <a:ext cx="1386840" cy="502920"/>
          </a:xfrm>
          <a:prstGeom prst="rect">
            <a:avLst/>
          </a:prstGeom>
          <a:noFill/>
          <a:ln/>
        </p:spPr>
        <p:txBody>
          <a:bodyPr wrap="square" lIns="0" tIns="0" rIns="0" bIns="0" rtlCol="0" anchor="ctr"/>
          <a:lstStyle/>
          <a:p>
            <a:pPr algn="ctr" indent="0" marL="0">
              <a:buNone/>
            </a:pPr>
            <a:r>
              <a:rPr lang="en-US" sz="1200" dirty="0">
                <a:solidFill>
                  <a:schemeClr val="tx1"/>
                </a:solidFill>
              </a:rPr>
              <a:t>Composer</a:t>
            </a:r>
            <a:endParaRPr lang="en-US" sz="1200" dirty="0"/>
          </a:p>
        </p:txBody>
      </p:sp>
      <p:sp>
        <p:nvSpPr>
          <p:cNvPr id="25" name="Handoff"/>
          <p:cNvSpPr/>
          <p:nvPr/>
        </p:nvSpPr>
        <p:spPr>
          <a:xfrm>
            <a:off x="10088880" y="2423160"/>
            <a:ext cx="1386840" cy="502920"/>
          </a:xfrm>
          <a:prstGeom prst="roundRect">
            <a:avLst>
              <a:gd name="adj" fmla="val 10909"/>
            </a:avLst>
          </a:prstGeom>
          <a:solidFill>
            <a:srgbClr val="FFFFFF"/>
          </a:solidFill>
          <a:ln w="9525">
            <a:solidFill>
              <a:srgbClr val="5E8C61"/>
            </a:solidFill>
            <a:prstDash val="solid"/>
          </a:ln>
        </p:spPr>
      </p:sp>
      <p:sp>
        <p:nvSpPr>
          <p:cNvPr id="26" name="Text 24"/>
          <p:cNvSpPr txBox="1"/>
          <p:nvPr/>
        </p:nvSpPr>
        <p:spPr>
          <a:xfrm>
            <a:off x="10088880" y="2423160"/>
            <a:ext cx="1386840" cy="502920"/>
          </a:xfrm>
          <a:prstGeom prst="rect">
            <a:avLst/>
          </a:prstGeom>
          <a:noFill/>
          <a:ln/>
        </p:spPr>
        <p:txBody>
          <a:bodyPr wrap="square" lIns="0" tIns="0" rIns="0" bIns="0" rtlCol="0" anchor="ctr"/>
          <a:lstStyle/>
          <a:p>
            <a:pPr algn="ctr" indent="0" marL="0">
              <a:buNone/>
            </a:pPr>
            <a:r>
              <a:rPr lang="en-US" sz="1200" dirty="0">
                <a:solidFill>
                  <a:schemeClr val="tx1"/>
                </a:solidFill>
              </a:rPr>
              <a:t>Handoff</a:t>
            </a:r>
            <a:endParaRPr lang="en-US" sz="1200" dirty="0"/>
          </a:p>
        </p:txBody>
      </p:sp>
      <p:sp>
        <p:nvSpPr>
          <p:cNvPr id="27" name="Text 25"/>
          <p:cNvSpPr txBox="1"/>
          <p:nvPr/>
        </p:nvSpPr>
        <p:spPr>
          <a:xfrm>
            <a:off x="548640" y="3200400"/>
            <a:ext cx="1645920" cy="777240"/>
          </a:xfrm>
          <a:prstGeom prst="rect">
            <a:avLst/>
          </a:prstGeom>
          <a:noFill/>
          <a:ln/>
        </p:spPr>
        <p:txBody>
          <a:bodyPr wrap="square" lIns="0" tIns="0" rIns="0" bIns="0" rtlCol="0" anchor="ctr"/>
          <a:lstStyle/>
          <a:p>
            <a:pPr indent="0" marL="0">
              <a:buNone/>
            </a:pPr>
            <a:r>
              <a:rPr lang="en-US" sz="1300" b="1" dirty="0">
                <a:solidFill>
                  <a:schemeClr val="tx2"/>
                </a:solidFill>
              </a:rPr>
              <a:t>Policy gateway</a:t>
            </a:r>
            <a:endParaRPr lang="en-US" sz="1300" dirty="0"/>
          </a:p>
          <a:p>
            <a:pPr indent="0" marL="0">
              <a:buNone/>
            </a:pPr>
            <a:r>
              <a:rPr lang="en-US" sz="1300" b="1" dirty="0">
                <a:solidFill>
                  <a:schemeClr val="tx2"/>
                </a:solidFill>
              </a:rPr>
              <a:t>(PEP)</a:t>
            </a:r>
            <a:endParaRPr lang="en-US" sz="1300" dirty="0"/>
          </a:p>
        </p:txBody>
      </p:sp>
      <p:sp>
        <p:nvSpPr>
          <p:cNvPr id="28" name="Policy gateway (PEP) band"/>
          <p:cNvSpPr/>
          <p:nvPr/>
        </p:nvSpPr>
        <p:spPr>
          <a:xfrm>
            <a:off x="2331720" y="3200400"/>
            <a:ext cx="9281160" cy="777240"/>
          </a:xfrm>
          <a:prstGeom prst="roundRect">
            <a:avLst>
              <a:gd name="adj" fmla="val 9412"/>
            </a:avLst>
          </a:prstGeom>
          <a:solidFill>
            <a:srgbClr val="F6ECD9"/>
          </a:solidFill>
          <a:ln w="25400">
            <a:solidFill>
              <a:srgbClr val="C98F2B"/>
            </a:solidFill>
            <a:prstDash val="solid"/>
          </a:ln>
        </p:spPr>
      </p:sp>
      <p:sp>
        <p:nvSpPr>
          <p:cNvPr id="29" name="Classification"/>
          <p:cNvSpPr/>
          <p:nvPr/>
        </p:nvSpPr>
        <p:spPr>
          <a:xfrm>
            <a:off x="2468880" y="3337560"/>
            <a:ext cx="2148840" cy="502920"/>
          </a:xfrm>
          <a:prstGeom prst="roundRect">
            <a:avLst>
              <a:gd name="adj" fmla="val 10909"/>
            </a:avLst>
          </a:prstGeom>
          <a:solidFill>
            <a:srgbClr val="FFFFFF"/>
          </a:solidFill>
          <a:ln w="9525">
            <a:solidFill>
              <a:srgbClr val="C98F2B"/>
            </a:solidFill>
            <a:prstDash val="solid"/>
          </a:ln>
        </p:spPr>
      </p:sp>
      <p:sp>
        <p:nvSpPr>
          <p:cNvPr id="30" name="Text 28"/>
          <p:cNvSpPr txBox="1"/>
          <p:nvPr/>
        </p:nvSpPr>
        <p:spPr>
          <a:xfrm>
            <a:off x="2468880" y="3337560"/>
            <a:ext cx="2148840" cy="502920"/>
          </a:xfrm>
          <a:prstGeom prst="rect">
            <a:avLst/>
          </a:prstGeom>
          <a:noFill/>
          <a:ln/>
        </p:spPr>
        <p:txBody>
          <a:bodyPr wrap="square" lIns="0" tIns="0" rIns="0" bIns="0" rtlCol="0" anchor="ctr"/>
          <a:lstStyle/>
          <a:p>
            <a:pPr algn="ctr" indent="0" marL="0">
              <a:buNone/>
            </a:pPr>
            <a:r>
              <a:rPr lang="en-US" sz="1300" dirty="0">
                <a:solidFill>
                  <a:schemeClr val="tx1"/>
                </a:solidFill>
              </a:rPr>
              <a:t>Classification</a:t>
            </a:r>
            <a:endParaRPr lang="en-US" sz="1300" dirty="0"/>
          </a:p>
        </p:txBody>
      </p:sp>
      <p:sp>
        <p:nvSpPr>
          <p:cNvPr id="31" name="Disclosure (LKIF → OPA)"/>
          <p:cNvSpPr/>
          <p:nvPr/>
        </p:nvSpPr>
        <p:spPr>
          <a:xfrm>
            <a:off x="4754880" y="3337560"/>
            <a:ext cx="2148840" cy="502920"/>
          </a:xfrm>
          <a:prstGeom prst="roundRect">
            <a:avLst>
              <a:gd name="adj" fmla="val 10909"/>
            </a:avLst>
          </a:prstGeom>
          <a:solidFill>
            <a:srgbClr val="FFFFFF"/>
          </a:solidFill>
          <a:ln w="9525">
            <a:solidFill>
              <a:srgbClr val="C98F2B"/>
            </a:solidFill>
            <a:prstDash val="solid"/>
          </a:ln>
        </p:spPr>
      </p:sp>
      <p:sp>
        <p:nvSpPr>
          <p:cNvPr id="32" name="Text 30"/>
          <p:cNvSpPr txBox="1"/>
          <p:nvPr/>
        </p:nvSpPr>
        <p:spPr>
          <a:xfrm>
            <a:off x="4754880" y="3337560"/>
            <a:ext cx="2148840" cy="502920"/>
          </a:xfrm>
          <a:prstGeom prst="rect">
            <a:avLst/>
          </a:prstGeom>
          <a:noFill/>
          <a:ln/>
        </p:spPr>
        <p:txBody>
          <a:bodyPr wrap="square" lIns="0" tIns="0" rIns="0" bIns="0" rtlCol="0" anchor="ctr"/>
          <a:lstStyle/>
          <a:p>
            <a:pPr algn="ctr" indent="0" marL="0">
              <a:buNone/>
            </a:pPr>
            <a:r>
              <a:rPr lang="en-US" sz="1300" dirty="0">
                <a:solidFill>
                  <a:schemeClr val="tx1"/>
                </a:solidFill>
              </a:rPr>
              <a:t>Disclosure (LKIF → OPA)</a:t>
            </a:r>
            <a:endParaRPr lang="en-US" sz="1300" dirty="0"/>
          </a:p>
        </p:txBody>
      </p:sp>
      <p:sp>
        <p:nvSpPr>
          <p:cNvPr id="33" name="MTBH circuit breaker"/>
          <p:cNvSpPr/>
          <p:nvPr/>
        </p:nvSpPr>
        <p:spPr>
          <a:xfrm>
            <a:off x="7040880" y="3337560"/>
            <a:ext cx="2148840" cy="502920"/>
          </a:xfrm>
          <a:prstGeom prst="roundRect">
            <a:avLst>
              <a:gd name="adj" fmla="val 10909"/>
            </a:avLst>
          </a:prstGeom>
          <a:solidFill>
            <a:srgbClr val="FFFFFF"/>
          </a:solidFill>
          <a:ln w="9525">
            <a:solidFill>
              <a:srgbClr val="C98F2B"/>
            </a:solidFill>
            <a:prstDash val="solid"/>
          </a:ln>
        </p:spPr>
      </p:sp>
      <p:sp>
        <p:nvSpPr>
          <p:cNvPr id="34" name="Text 32"/>
          <p:cNvSpPr txBox="1"/>
          <p:nvPr/>
        </p:nvSpPr>
        <p:spPr>
          <a:xfrm>
            <a:off x="7040880" y="3337560"/>
            <a:ext cx="2148840" cy="502920"/>
          </a:xfrm>
          <a:prstGeom prst="rect">
            <a:avLst/>
          </a:prstGeom>
          <a:noFill/>
          <a:ln/>
        </p:spPr>
        <p:txBody>
          <a:bodyPr wrap="square" lIns="0" tIns="0" rIns="0" bIns="0" rtlCol="0" anchor="ctr"/>
          <a:lstStyle/>
          <a:p>
            <a:pPr algn="ctr" indent="0" marL="0">
              <a:buNone/>
            </a:pPr>
            <a:r>
              <a:rPr lang="en-US" sz="1300" dirty="0">
                <a:solidFill>
                  <a:schemeClr val="tx1"/>
                </a:solidFill>
              </a:rPr>
              <a:t>MTBH circuit breaker</a:t>
            </a:r>
            <a:endParaRPr lang="en-US" sz="1300" dirty="0"/>
          </a:p>
        </p:txBody>
      </p:sp>
      <p:sp>
        <p:nvSpPr>
          <p:cNvPr id="35" name="Agent identity"/>
          <p:cNvSpPr/>
          <p:nvPr/>
        </p:nvSpPr>
        <p:spPr>
          <a:xfrm>
            <a:off x="9326880" y="3337560"/>
            <a:ext cx="2148840" cy="502920"/>
          </a:xfrm>
          <a:prstGeom prst="roundRect">
            <a:avLst>
              <a:gd name="adj" fmla="val 10909"/>
            </a:avLst>
          </a:prstGeom>
          <a:solidFill>
            <a:srgbClr val="FFFFFF"/>
          </a:solidFill>
          <a:ln w="9525">
            <a:solidFill>
              <a:srgbClr val="C98F2B"/>
            </a:solidFill>
            <a:prstDash val="solid"/>
          </a:ln>
        </p:spPr>
      </p:sp>
      <p:sp>
        <p:nvSpPr>
          <p:cNvPr id="36" name="Text 34"/>
          <p:cNvSpPr txBox="1"/>
          <p:nvPr/>
        </p:nvSpPr>
        <p:spPr>
          <a:xfrm>
            <a:off x="9326880" y="3337560"/>
            <a:ext cx="2148840" cy="502920"/>
          </a:xfrm>
          <a:prstGeom prst="rect">
            <a:avLst/>
          </a:prstGeom>
          <a:noFill/>
          <a:ln/>
        </p:spPr>
        <p:txBody>
          <a:bodyPr wrap="square" lIns="0" tIns="0" rIns="0" bIns="0" rtlCol="0" anchor="ctr"/>
          <a:lstStyle/>
          <a:p>
            <a:pPr algn="ctr" indent="0" marL="0">
              <a:buNone/>
            </a:pPr>
            <a:r>
              <a:rPr lang="en-US" sz="1300" dirty="0">
                <a:solidFill>
                  <a:schemeClr val="tx1"/>
                </a:solidFill>
              </a:rPr>
              <a:t>Agent identity</a:t>
            </a:r>
            <a:endParaRPr lang="en-US" sz="1300" dirty="0"/>
          </a:p>
        </p:txBody>
      </p:sp>
      <p:sp>
        <p:nvSpPr>
          <p:cNvPr id="37" name="Text 35"/>
          <p:cNvSpPr txBox="1"/>
          <p:nvPr/>
        </p:nvSpPr>
        <p:spPr>
          <a:xfrm>
            <a:off x="548640" y="4114800"/>
            <a:ext cx="1645920" cy="777240"/>
          </a:xfrm>
          <a:prstGeom prst="rect">
            <a:avLst/>
          </a:prstGeom>
          <a:noFill/>
          <a:ln/>
        </p:spPr>
        <p:txBody>
          <a:bodyPr wrap="square" lIns="0" tIns="0" rIns="0" bIns="0" rtlCol="0" anchor="ctr"/>
          <a:lstStyle/>
          <a:p>
            <a:pPr indent="0" marL="0">
              <a:buNone/>
            </a:pPr>
            <a:r>
              <a:rPr lang="en-US" sz="1300" b="1" dirty="0">
                <a:solidFill>
                  <a:schemeClr val="tx2"/>
                </a:solidFill>
              </a:rPr>
              <a:t>Keel</a:t>
            </a:r>
            <a:endParaRPr lang="en-US" sz="1300" dirty="0"/>
          </a:p>
          <a:p>
            <a:pPr indent="0" marL="0">
              <a:buNone/>
            </a:pPr>
            <a:r>
              <a:rPr lang="en-US" sz="1300" b="1" dirty="0">
                <a:solidFill>
                  <a:schemeClr val="tx2"/>
                </a:solidFill>
              </a:rPr>
              <a:t>governed knowledge</a:t>
            </a:r>
            <a:endParaRPr lang="en-US" sz="1300" dirty="0"/>
          </a:p>
        </p:txBody>
      </p:sp>
      <p:sp>
        <p:nvSpPr>
          <p:cNvPr id="38" name="Keel governed knowledge band"/>
          <p:cNvSpPr/>
          <p:nvPr/>
        </p:nvSpPr>
        <p:spPr>
          <a:xfrm>
            <a:off x="2331720" y="4114800"/>
            <a:ext cx="9281160" cy="777240"/>
          </a:xfrm>
          <a:prstGeom prst="roundRect">
            <a:avLst>
              <a:gd name="adj" fmla="val 9412"/>
            </a:avLst>
          </a:prstGeom>
          <a:solidFill>
            <a:srgbClr val="EEF3EE"/>
          </a:solidFill>
          <a:ln w="12700">
            <a:solidFill>
              <a:srgbClr val="1B2E2A"/>
            </a:solidFill>
            <a:prstDash val="solid"/>
          </a:ln>
        </p:spPr>
      </p:sp>
      <p:sp>
        <p:nvSpPr>
          <p:cNvPr id="39" name="KE Baseline"/>
          <p:cNvSpPr/>
          <p:nvPr/>
        </p:nvSpPr>
        <p:spPr>
          <a:xfrm>
            <a:off x="2468880" y="4251960"/>
            <a:ext cx="2148840" cy="502920"/>
          </a:xfrm>
          <a:prstGeom prst="roundRect">
            <a:avLst>
              <a:gd name="adj" fmla="val 10909"/>
            </a:avLst>
          </a:prstGeom>
          <a:solidFill>
            <a:srgbClr val="FFFFFF"/>
          </a:solidFill>
          <a:ln w="9525">
            <a:solidFill>
              <a:srgbClr val="1B2E2A"/>
            </a:solidFill>
            <a:prstDash val="solid"/>
          </a:ln>
        </p:spPr>
      </p:sp>
      <p:sp>
        <p:nvSpPr>
          <p:cNvPr id="40" name="Text 38"/>
          <p:cNvSpPr txBox="1"/>
          <p:nvPr/>
        </p:nvSpPr>
        <p:spPr>
          <a:xfrm>
            <a:off x="2468880" y="4251960"/>
            <a:ext cx="2148840" cy="502920"/>
          </a:xfrm>
          <a:prstGeom prst="rect">
            <a:avLst/>
          </a:prstGeom>
          <a:noFill/>
          <a:ln/>
        </p:spPr>
        <p:txBody>
          <a:bodyPr wrap="square" lIns="0" tIns="0" rIns="0" bIns="0" rtlCol="0" anchor="ctr"/>
          <a:lstStyle/>
          <a:p>
            <a:pPr algn="ctr" indent="0" marL="0">
              <a:buNone/>
            </a:pPr>
            <a:r>
              <a:rPr lang="en-US" sz="1300" dirty="0">
                <a:solidFill>
                  <a:schemeClr val="tx1"/>
                </a:solidFill>
              </a:rPr>
              <a:t>KE Baseline</a:t>
            </a:r>
            <a:endParaRPr lang="en-US" sz="1300" dirty="0"/>
          </a:p>
        </p:txBody>
      </p:sp>
      <p:sp>
        <p:nvSpPr>
          <p:cNvPr id="41" name="KE Domains"/>
          <p:cNvSpPr/>
          <p:nvPr/>
        </p:nvSpPr>
        <p:spPr>
          <a:xfrm>
            <a:off x="4754880" y="4251960"/>
            <a:ext cx="2148840" cy="502920"/>
          </a:xfrm>
          <a:prstGeom prst="roundRect">
            <a:avLst>
              <a:gd name="adj" fmla="val 10909"/>
            </a:avLst>
          </a:prstGeom>
          <a:solidFill>
            <a:srgbClr val="FFFFFF"/>
          </a:solidFill>
          <a:ln w="9525">
            <a:solidFill>
              <a:srgbClr val="1B2E2A"/>
            </a:solidFill>
            <a:prstDash val="solid"/>
          </a:ln>
        </p:spPr>
      </p:sp>
      <p:sp>
        <p:nvSpPr>
          <p:cNvPr id="42" name="Text 40"/>
          <p:cNvSpPr txBox="1"/>
          <p:nvPr/>
        </p:nvSpPr>
        <p:spPr>
          <a:xfrm>
            <a:off x="4754880" y="4251960"/>
            <a:ext cx="2148840" cy="502920"/>
          </a:xfrm>
          <a:prstGeom prst="rect">
            <a:avLst/>
          </a:prstGeom>
          <a:noFill/>
          <a:ln/>
        </p:spPr>
        <p:txBody>
          <a:bodyPr wrap="square" lIns="0" tIns="0" rIns="0" bIns="0" rtlCol="0" anchor="ctr"/>
          <a:lstStyle/>
          <a:p>
            <a:pPr algn="ctr" indent="0" marL="0">
              <a:buNone/>
            </a:pPr>
            <a:r>
              <a:rPr lang="en-US" sz="1300" dirty="0">
                <a:solidFill>
                  <a:schemeClr val="tx1"/>
                </a:solidFill>
              </a:rPr>
              <a:t>KE Domains</a:t>
            </a:r>
            <a:endParaRPr lang="en-US" sz="1300" dirty="0"/>
          </a:p>
        </p:txBody>
      </p:sp>
      <p:sp>
        <p:nvSpPr>
          <p:cNvPr id="43" name="KE Workbench"/>
          <p:cNvSpPr/>
          <p:nvPr/>
        </p:nvSpPr>
        <p:spPr>
          <a:xfrm>
            <a:off x="7040880" y="4251960"/>
            <a:ext cx="2148840" cy="502920"/>
          </a:xfrm>
          <a:prstGeom prst="roundRect">
            <a:avLst>
              <a:gd name="adj" fmla="val 10909"/>
            </a:avLst>
          </a:prstGeom>
          <a:solidFill>
            <a:srgbClr val="FFFFFF"/>
          </a:solidFill>
          <a:ln w="9525">
            <a:solidFill>
              <a:srgbClr val="1B2E2A"/>
            </a:solidFill>
            <a:prstDash val="solid"/>
          </a:ln>
        </p:spPr>
      </p:sp>
      <p:sp>
        <p:nvSpPr>
          <p:cNvPr id="44" name="Text 42"/>
          <p:cNvSpPr txBox="1"/>
          <p:nvPr/>
        </p:nvSpPr>
        <p:spPr>
          <a:xfrm>
            <a:off x="7040880" y="4251960"/>
            <a:ext cx="2148840" cy="502920"/>
          </a:xfrm>
          <a:prstGeom prst="rect">
            <a:avLst/>
          </a:prstGeom>
          <a:noFill/>
          <a:ln/>
        </p:spPr>
        <p:txBody>
          <a:bodyPr wrap="square" lIns="0" tIns="0" rIns="0" bIns="0" rtlCol="0" anchor="ctr"/>
          <a:lstStyle/>
          <a:p>
            <a:pPr algn="ctr" indent="0" marL="0">
              <a:buNone/>
            </a:pPr>
            <a:r>
              <a:rPr lang="en-US" sz="1300" dirty="0">
                <a:solidFill>
                  <a:schemeClr val="tx1"/>
                </a:solidFill>
              </a:rPr>
              <a:t>KE Workbench</a:t>
            </a:r>
            <a:endParaRPr lang="en-US" sz="1300" dirty="0"/>
          </a:p>
        </p:txBody>
      </p:sp>
      <p:sp>
        <p:nvSpPr>
          <p:cNvPr id="45" name="Mediation holon"/>
          <p:cNvSpPr/>
          <p:nvPr/>
        </p:nvSpPr>
        <p:spPr>
          <a:xfrm>
            <a:off x="9326880" y="4251960"/>
            <a:ext cx="2148840" cy="502920"/>
          </a:xfrm>
          <a:prstGeom prst="roundRect">
            <a:avLst>
              <a:gd name="adj" fmla="val 10909"/>
            </a:avLst>
          </a:prstGeom>
          <a:solidFill>
            <a:srgbClr val="FFFFFF"/>
          </a:solidFill>
          <a:ln w="9525">
            <a:solidFill>
              <a:srgbClr val="1B2E2A"/>
            </a:solidFill>
            <a:prstDash val="solid"/>
          </a:ln>
        </p:spPr>
      </p:sp>
      <p:sp>
        <p:nvSpPr>
          <p:cNvPr id="46" name="Text 44"/>
          <p:cNvSpPr txBox="1"/>
          <p:nvPr/>
        </p:nvSpPr>
        <p:spPr>
          <a:xfrm>
            <a:off x="9326880" y="4251960"/>
            <a:ext cx="2148840" cy="502920"/>
          </a:xfrm>
          <a:prstGeom prst="rect">
            <a:avLst/>
          </a:prstGeom>
          <a:noFill/>
          <a:ln/>
        </p:spPr>
        <p:txBody>
          <a:bodyPr wrap="square" lIns="0" tIns="0" rIns="0" bIns="0" rtlCol="0" anchor="ctr"/>
          <a:lstStyle/>
          <a:p>
            <a:pPr algn="ctr" indent="0" marL="0">
              <a:buNone/>
            </a:pPr>
            <a:r>
              <a:rPr lang="en-US" sz="1300" dirty="0">
                <a:solidFill>
                  <a:schemeClr val="tx1"/>
                </a:solidFill>
              </a:rPr>
              <a:t>Mediation holon</a:t>
            </a:r>
            <a:endParaRPr lang="en-US" sz="1300" dirty="0"/>
          </a:p>
        </p:txBody>
      </p:sp>
      <p:sp>
        <p:nvSpPr>
          <p:cNvPr id="47" name="Text 45"/>
          <p:cNvSpPr txBox="1"/>
          <p:nvPr/>
        </p:nvSpPr>
        <p:spPr>
          <a:xfrm>
            <a:off x="548640" y="5029200"/>
            <a:ext cx="1645920" cy="777240"/>
          </a:xfrm>
          <a:prstGeom prst="rect">
            <a:avLst/>
          </a:prstGeom>
          <a:noFill/>
          <a:ln/>
        </p:spPr>
        <p:txBody>
          <a:bodyPr wrap="square" lIns="0" tIns="0" rIns="0" bIns="0" rtlCol="0" anchor="ctr"/>
          <a:lstStyle/>
          <a:p>
            <a:pPr indent="0" marL="0">
              <a:buNone/>
            </a:pPr>
            <a:r>
              <a:rPr lang="en-US" sz="1300" b="1" dirty="0">
                <a:solidFill>
                  <a:schemeClr val="tx2"/>
                </a:solidFill>
              </a:rPr>
              <a:t>Systems of record</a:t>
            </a:r>
            <a:endParaRPr lang="en-US" sz="1300" dirty="0"/>
          </a:p>
          <a:p>
            <a:pPr indent="0" marL="0">
              <a:buNone/>
            </a:pPr>
            <a:r>
              <a:rPr lang="en-US" sz="1300" b="1" dirty="0">
                <a:solidFill>
                  <a:schemeClr val="tx2"/>
                </a:solidFill>
              </a:rPr>
              <a:t>(via ports)</a:t>
            </a:r>
            <a:endParaRPr lang="en-US" sz="1300" dirty="0"/>
          </a:p>
        </p:txBody>
      </p:sp>
      <p:sp>
        <p:nvSpPr>
          <p:cNvPr id="48" name="Systems of record (via ports) band"/>
          <p:cNvSpPr/>
          <p:nvPr/>
        </p:nvSpPr>
        <p:spPr>
          <a:xfrm>
            <a:off x="2331720" y="5029200"/>
            <a:ext cx="9281160" cy="777240"/>
          </a:xfrm>
          <a:prstGeom prst="roundRect">
            <a:avLst>
              <a:gd name="adj" fmla="val 9412"/>
            </a:avLst>
          </a:prstGeom>
          <a:solidFill>
            <a:srgbClr val="FFFFFF"/>
          </a:solidFill>
          <a:ln w="12700">
            <a:solidFill>
              <a:srgbClr val="5A6763"/>
            </a:solidFill>
            <a:prstDash val="solid"/>
          </a:ln>
        </p:spPr>
      </p:sp>
      <p:sp>
        <p:nvSpPr>
          <p:cNvPr id="49" name="Premier"/>
          <p:cNvSpPr/>
          <p:nvPr/>
        </p:nvSpPr>
        <p:spPr>
          <a:xfrm>
            <a:off x="2468880" y="5166360"/>
            <a:ext cx="2148840" cy="502920"/>
          </a:xfrm>
          <a:prstGeom prst="roundRect">
            <a:avLst>
              <a:gd name="adj" fmla="val 10909"/>
            </a:avLst>
          </a:prstGeom>
          <a:solidFill>
            <a:srgbClr val="FFFFFF"/>
          </a:solidFill>
          <a:ln w="9525">
            <a:solidFill>
              <a:srgbClr val="5A6763"/>
            </a:solidFill>
            <a:prstDash val="solid"/>
          </a:ln>
        </p:spPr>
      </p:sp>
      <p:sp>
        <p:nvSpPr>
          <p:cNvPr id="50" name="Text 48"/>
          <p:cNvSpPr txBox="1"/>
          <p:nvPr/>
        </p:nvSpPr>
        <p:spPr>
          <a:xfrm>
            <a:off x="2468880" y="5166360"/>
            <a:ext cx="2148840" cy="502920"/>
          </a:xfrm>
          <a:prstGeom prst="rect">
            <a:avLst/>
          </a:prstGeom>
          <a:noFill/>
          <a:ln/>
        </p:spPr>
        <p:txBody>
          <a:bodyPr wrap="square" lIns="0" tIns="0" rIns="0" bIns="0" rtlCol="0" anchor="ctr"/>
          <a:lstStyle/>
          <a:p>
            <a:pPr algn="ctr" indent="0" marL="0">
              <a:buNone/>
            </a:pPr>
            <a:r>
              <a:rPr lang="en-US" sz="1300" dirty="0">
                <a:solidFill>
                  <a:schemeClr val="tx1"/>
                </a:solidFill>
              </a:rPr>
              <a:t>Premier</a:t>
            </a:r>
            <a:endParaRPr lang="en-US" sz="1300" dirty="0"/>
          </a:p>
        </p:txBody>
      </p:sp>
      <p:sp>
        <p:nvSpPr>
          <p:cNvPr id="51" name="Workday HRScale"/>
          <p:cNvSpPr/>
          <p:nvPr/>
        </p:nvSpPr>
        <p:spPr>
          <a:xfrm>
            <a:off x="4754880" y="5166360"/>
            <a:ext cx="2148840" cy="502920"/>
          </a:xfrm>
          <a:prstGeom prst="roundRect">
            <a:avLst>
              <a:gd name="adj" fmla="val 10909"/>
            </a:avLst>
          </a:prstGeom>
          <a:solidFill>
            <a:srgbClr val="FFFFFF"/>
          </a:solidFill>
          <a:ln w="9525">
            <a:solidFill>
              <a:srgbClr val="5A6763"/>
            </a:solidFill>
            <a:prstDash val="solid"/>
          </a:ln>
        </p:spPr>
      </p:sp>
      <p:sp>
        <p:nvSpPr>
          <p:cNvPr id="52" name="Text 50"/>
          <p:cNvSpPr txBox="1"/>
          <p:nvPr/>
        </p:nvSpPr>
        <p:spPr>
          <a:xfrm>
            <a:off x="4754880" y="5166360"/>
            <a:ext cx="2148840" cy="502920"/>
          </a:xfrm>
          <a:prstGeom prst="rect">
            <a:avLst/>
          </a:prstGeom>
          <a:noFill/>
          <a:ln/>
        </p:spPr>
        <p:txBody>
          <a:bodyPr wrap="square" lIns="0" tIns="0" rIns="0" bIns="0" rtlCol="0" anchor="ctr"/>
          <a:lstStyle/>
          <a:p>
            <a:pPr algn="ctr" indent="0" marL="0">
              <a:buNone/>
            </a:pPr>
            <a:r>
              <a:rPr lang="en-US" sz="1300" dirty="0">
                <a:solidFill>
                  <a:schemeClr val="tx1"/>
                </a:solidFill>
              </a:rPr>
              <a:t>Workday HRScale</a:t>
            </a:r>
            <a:endParaRPr lang="en-US" sz="1300" dirty="0"/>
          </a:p>
        </p:txBody>
      </p:sp>
      <p:sp>
        <p:nvSpPr>
          <p:cNvPr id="53" name="Box"/>
          <p:cNvSpPr/>
          <p:nvPr/>
        </p:nvSpPr>
        <p:spPr>
          <a:xfrm>
            <a:off x="7040880" y="5166360"/>
            <a:ext cx="2148840" cy="502920"/>
          </a:xfrm>
          <a:prstGeom prst="roundRect">
            <a:avLst>
              <a:gd name="adj" fmla="val 10909"/>
            </a:avLst>
          </a:prstGeom>
          <a:solidFill>
            <a:srgbClr val="FFFFFF"/>
          </a:solidFill>
          <a:ln w="9525">
            <a:solidFill>
              <a:srgbClr val="5A6763"/>
            </a:solidFill>
            <a:prstDash val="solid"/>
          </a:ln>
        </p:spPr>
      </p:sp>
      <p:sp>
        <p:nvSpPr>
          <p:cNvPr id="54" name="Text 52"/>
          <p:cNvSpPr txBox="1"/>
          <p:nvPr/>
        </p:nvSpPr>
        <p:spPr>
          <a:xfrm>
            <a:off x="7040880" y="5166360"/>
            <a:ext cx="2148840" cy="502920"/>
          </a:xfrm>
          <a:prstGeom prst="rect">
            <a:avLst/>
          </a:prstGeom>
          <a:noFill/>
          <a:ln/>
        </p:spPr>
        <p:txBody>
          <a:bodyPr wrap="square" lIns="0" tIns="0" rIns="0" bIns="0" rtlCol="0" anchor="ctr"/>
          <a:lstStyle/>
          <a:p>
            <a:pPr algn="ctr" indent="0" marL="0">
              <a:buNone/>
            </a:pPr>
            <a:r>
              <a:rPr lang="en-US" sz="1300" dirty="0">
                <a:solidFill>
                  <a:schemeClr val="tx1"/>
                </a:solidFill>
              </a:rPr>
              <a:t>Box</a:t>
            </a:r>
            <a:endParaRPr lang="en-US" sz="1300" dirty="0"/>
          </a:p>
        </p:txBody>
      </p:sp>
      <p:sp>
        <p:nvSpPr>
          <p:cNvPr id="55" name="Microsoft Fabric"/>
          <p:cNvSpPr/>
          <p:nvPr/>
        </p:nvSpPr>
        <p:spPr>
          <a:xfrm>
            <a:off x="9326880" y="5166360"/>
            <a:ext cx="2148840" cy="502920"/>
          </a:xfrm>
          <a:prstGeom prst="roundRect">
            <a:avLst>
              <a:gd name="adj" fmla="val 10909"/>
            </a:avLst>
          </a:prstGeom>
          <a:solidFill>
            <a:srgbClr val="FFFFFF"/>
          </a:solidFill>
          <a:ln w="9525">
            <a:solidFill>
              <a:srgbClr val="5A6763"/>
            </a:solidFill>
            <a:prstDash val="solid"/>
          </a:ln>
        </p:spPr>
      </p:sp>
      <p:sp>
        <p:nvSpPr>
          <p:cNvPr id="56" name="Text 54"/>
          <p:cNvSpPr txBox="1"/>
          <p:nvPr/>
        </p:nvSpPr>
        <p:spPr>
          <a:xfrm>
            <a:off x="9326880" y="5166360"/>
            <a:ext cx="2148840" cy="502920"/>
          </a:xfrm>
          <a:prstGeom prst="rect">
            <a:avLst/>
          </a:prstGeom>
          <a:noFill/>
          <a:ln/>
        </p:spPr>
        <p:txBody>
          <a:bodyPr wrap="square" lIns="0" tIns="0" rIns="0" bIns="0" rtlCol="0" anchor="ctr"/>
          <a:lstStyle/>
          <a:p>
            <a:pPr algn="ctr" indent="0" marL="0">
              <a:buNone/>
            </a:pPr>
            <a:r>
              <a:rPr lang="en-US" sz="1300" dirty="0">
                <a:solidFill>
                  <a:schemeClr val="tx1"/>
                </a:solidFill>
              </a:rPr>
              <a:t>Microsoft Fabric</a:t>
            </a:r>
            <a:endParaRPr lang="en-US" sz="1300" dirty="0"/>
          </a:p>
        </p:txBody>
      </p:sp>
      <p:sp>
        <p:nvSpPr>
          <p:cNvPr id="57" name="Text 55"/>
          <p:cNvSpPr txBox="1"/>
          <p:nvPr/>
        </p:nvSpPr>
        <p:spPr>
          <a:xfrm>
            <a:off x="548640" y="5989320"/>
            <a:ext cx="11064240" cy="320040"/>
          </a:xfrm>
          <a:prstGeom prst="rect">
            <a:avLst/>
          </a:prstGeom>
          <a:noFill/>
          <a:ln/>
        </p:spPr>
        <p:txBody>
          <a:bodyPr wrap="square" lIns="0" tIns="0" rIns="0" bIns="0" rtlCol="0" anchor="t"/>
          <a:lstStyle/>
          <a:p>
            <a:pPr indent="0" marL="0">
              <a:buNone/>
            </a:pPr>
            <a:r>
              <a:rPr lang="en-US" sz="1100" i="1" dirty="0">
                <a:solidFill>
                  <a:schemeClr val="accent4"/>
                </a:solidFill>
              </a:rPr>
              <a:t>Every agent call, including agent to agent, passes the gateway. Client and worker data stays in the systems of record, exposed as a virtual graph; nothing is copied.</a:t>
            </a:r>
            <a:endParaRPr lang="en-US" sz="11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Living Capital reuses the Keel's data path</a:t>
            </a:r>
            <a:endParaRPr lang="en-US" sz="36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2743200"/>
                <a:gridCol w="4206240"/>
                <a:gridCol w="4114800"/>
              </a:tblGrid>
              <a:tr h="713232">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New service</a:t>
                      </a:r>
                      <a:endParaRPr lang="en-US" sz="1300" dirty="0">
                        <a:latin typeface="Calibri" charset="0"/>
                        <a:ea typeface="Calibri" charset="0"/>
                        <a:cs typeface="Calibri" charset="0"/>
                      </a:endParaRPr>
                    </a:p>
                  </a:txBody>
                  <a:tcPr marL="91440" marR="91440" marT="45720" marB="45720" anchor="ctr">
                    <a:lnL w="9525" cap="flat" cmpd="sng" algn="ctr">
                      <a:solidFill>
                        <a:srgbClr val="DCE3DC"/>
                      </a:solidFill>
                      <a:prstDash val="solid"/>
                      <a:round/>
                      <a:headEnd type="none" w="med" len="med"/>
                      <a:tailEnd type="none" w="med" len="med"/>
                    </a:lnL>
                    <a:lnR w="9525" cap="flat" cmpd="sng" algn="ctr">
                      <a:solidFill>
                        <a:srgbClr val="DCE3DC"/>
                      </a:solidFill>
                      <a:prstDash val="solid"/>
                      <a:round/>
                      <a:headEnd type="none" w="med" len="med"/>
                      <a:tailEnd type="none" w="med" len="med"/>
                    </a:lnR>
                    <a:lnT w="9525" cap="flat" cmpd="sng" algn="ctr">
                      <a:solidFill>
                        <a:srgbClr val="DCE3DC"/>
                      </a:solidFill>
                      <a:prstDash val="solid"/>
                      <a:round/>
                      <a:headEnd type="none" w="med" len="med"/>
                      <a:tailEnd type="none" w="med" len="med"/>
                    </a:lnT>
                    <a:lnB w="9525" cap="flat" cmpd="sng" algn="ctr">
                      <a:solidFill>
                        <a:srgbClr val="DCE3DC"/>
                      </a:solidFill>
                      <a:prstDash val="solid"/>
                      <a:round/>
                      <a:headEnd type="none" w="med" len="med"/>
                      <a:tailEnd type="none" w="med" len="med"/>
                    </a:lnB>
                    <a:solidFill>
                      <a:srgbClr val="1B2E2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the Keel supplies</a:t>
                      </a:r>
                      <a:endParaRPr lang="en-US" sz="1300" dirty="0">
                        <a:latin typeface="Calibri" charset="0"/>
                        <a:ea typeface="Calibri" charset="0"/>
                        <a:cs typeface="Calibri" charset="0"/>
                      </a:endParaRPr>
                    </a:p>
                  </a:txBody>
                  <a:tcPr marL="91440" marR="91440" marT="45720" marB="45720" anchor="ctr">
                    <a:lnL w="9525" cap="flat" cmpd="sng" algn="ctr">
                      <a:solidFill>
                        <a:srgbClr val="DCE3DC"/>
                      </a:solidFill>
                      <a:prstDash val="solid"/>
                      <a:round/>
                      <a:headEnd type="none" w="med" len="med"/>
                      <a:tailEnd type="none" w="med" len="med"/>
                    </a:lnL>
                    <a:lnR w="9525" cap="flat" cmpd="sng" algn="ctr">
                      <a:solidFill>
                        <a:srgbClr val="DCE3DC"/>
                      </a:solidFill>
                      <a:prstDash val="solid"/>
                      <a:round/>
                      <a:headEnd type="none" w="med" len="med"/>
                      <a:tailEnd type="none" w="med" len="med"/>
                    </a:lnR>
                    <a:lnT w="9525" cap="flat" cmpd="sng" algn="ctr">
                      <a:solidFill>
                        <a:srgbClr val="DCE3DC"/>
                      </a:solidFill>
                      <a:prstDash val="solid"/>
                      <a:round/>
                      <a:headEnd type="none" w="med" len="med"/>
                      <a:tailEnd type="none" w="med" len="med"/>
                    </a:lnT>
                    <a:lnB w="9525" cap="flat" cmpd="sng" algn="ctr">
                      <a:solidFill>
                        <a:srgbClr val="DCE3DC"/>
                      </a:solidFill>
                      <a:prstDash val="solid"/>
                      <a:round/>
                      <a:headEnd type="none" w="med" len="med"/>
                      <a:tailEnd type="none" w="med" len="med"/>
                    </a:lnB>
                    <a:solidFill>
                      <a:srgbClr val="1B2E2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North Star supplies</a:t>
                      </a:r>
                      <a:endParaRPr lang="en-US" sz="1300" dirty="0">
                        <a:latin typeface="Calibri" charset="0"/>
                        <a:ea typeface="Calibri" charset="0"/>
                        <a:cs typeface="Calibri" charset="0"/>
                      </a:endParaRPr>
                    </a:p>
                  </a:txBody>
                  <a:tcPr marL="91440" marR="91440" marT="45720" marB="45720" anchor="ctr">
                    <a:lnL w="9525" cap="flat" cmpd="sng" algn="ctr">
                      <a:solidFill>
                        <a:srgbClr val="DCE3DC"/>
                      </a:solidFill>
                      <a:prstDash val="solid"/>
                      <a:round/>
                      <a:headEnd type="none" w="med" len="med"/>
                      <a:tailEnd type="none" w="med" len="med"/>
                    </a:lnL>
                    <a:lnR w="9525" cap="flat" cmpd="sng" algn="ctr">
                      <a:solidFill>
                        <a:srgbClr val="DCE3DC"/>
                      </a:solidFill>
                      <a:prstDash val="solid"/>
                      <a:round/>
                      <a:headEnd type="none" w="med" len="med"/>
                      <a:tailEnd type="none" w="med" len="med"/>
                    </a:lnR>
                    <a:lnT w="9525" cap="flat" cmpd="sng" algn="ctr">
                      <a:solidFill>
                        <a:srgbClr val="DCE3DC"/>
                      </a:solidFill>
                      <a:prstDash val="solid"/>
                      <a:round/>
                      <a:headEnd type="none" w="med" len="med"/>
                      <a:tailEnd type="none" w="med" len="med"/>
                    </a:lnT>
                    <a:lnB w="9525" cap="flat" cmpd="sng" algn="ctr">
                      <a:solidFill>
                        <a:srgbClr val="DCE3DC"/>
                      </a:solidFill>
                      <a:prstDash val="solid"/>
                      <a:round/>
                      <a:headEnd type="none" w="med" len="med"/>
                      <a:tailEnd type="none" w="med" len="med"/>
                    </a:lnB>
                    <a:solidFill>
                      <a:srgbClr val="1B2E2A"/>
                    </a:solidFill>
                  </a:tcPr>
                </a:tc>
              </a:tr>
              <a:tr h="713232">
                <a:tc>
                  <a:txBody>
                    <a:bodyPr/>
                    <a:lstStyle/>
                    <a:p>
                      <a:pPr indent="0" marL="0">
                        <a:buNone/>
                      </a:pPr>
                      <a:r>
                        <a:rPr lang="en-US" sz="1300" b="1" dirty="0">
                          <a:solidFill>
                            <a:srgbClr val="1F2A26"/>
                          </a:solidFill>
                          <a:latin typeface="Calibri" pitchFamily="34" charset="0"/>
                          <a:ea typeface="Calibri" pitchFamily="34" charset="-122"/>
                          <a:cs typeface="Calibri" pitchFamily="34" charset="-120"/>
                        </a:rPr>
                        <a:t>Regeneration scorecard</a:t>
                      </a:r>
                      <a:endParaRPr lang="en-US" sz="1300" dirty="0">
                        <a:latin typeface="Calibri" charset="0"/>
                        <a:ea typeface="Calibri" charset="0"/>
                        <a:cs typeface="Calibri" charset="0"/>
                      </a:endParaRPr>
                    </a:p>
                  </a:txBody>
                  <a:tcPr marL="91440" marR="91440" marT="45720" marB="45720" anchor="ctr">
                    <a:lnL w="9525" cap="flat" cmpd="sng" algn="ctr">
                      <a:solidFill>
                        <a:srgbClr val="DCE3DC"/>
                      </a:solidFill>
                      <a:prstDash val="solid"/>
                      <a:round/>
                      <a:headEnd type="none" w="med" len="med"/>
                      <a:tailEnd type="none" w="med" len="med"/>
                    </a:lnL>
                    <a:lnR w="9525" cap="flat" cmpd="sng" algn="ctr">
                      <a:solidFill>
                        <a:srgbClr val="DCE3DC"/>
                      </a:solidFill>
                      <a:prstDash val="solid"/>
                      <a:round/>
                      <a:headEnd type="none" w="med" len="med"/>
                      <a:tailEnd type="none" w="med" len="med"/>
                    </a:lnR>
                    <a:lnT w="9525" cap="flat" cmpd="sng" algn="ctr">
                      <a:solidFill>
                        <a:srgbClr val="DCE3DC"/>
                      </a:solidFill>
                      <a:prstDash val="solid"/>
                      <a:round/>
                      <a:headEnd type="none" w="med" len="med"/>
                      <a:tailEnd type="none" w="med" len="med"/>
                    </a:lnT>
                    <a:lnB w="9525" cap="flat" cmpd="sng" algn="ctr">
                      <a:solidFill>
                        <a:srgbClr val="DCE3DC"/>
                      </a:solidFill>
                      <a:prstDash val="solid"/>
                      <a:round/>
                      <a:headEnd type="none" w="med" len="med"/>
                      <a:tailEnd type="none" w="med" len="med"/>
                    </a:lnB>
                    <a:solidFill>
                      <a:srgbClr val="FFFFFF"/>
                    </a:solidFill>
                  </a:tcPr>
                </a:tc>
                <a:tc>
                  <a:txBody>
                    <a:bodyPr/>
                    <a:lstStyle/>
                    <a:p>
                      <a:pPr indent="0" marL="0">
                        <a:buNone/>
                      </a:pPr>
                      <a:r>
                        <a:rPr lang="en-US" sz="1300" dirty="0">
                          <a:solidFill>
                            <a:srgbClr val="1F2A26"/>
                          </a:solidFill>
                          <a:latin typeface="Calibri" pitchFamily="34" charset="0"/>
                          <a:ea typeface="Calibri" pitchFamily="34" charset="-122"/>
                          <a:cs typeface="Calibri" pitchFamily="34" charset="-120"/>
                        </a:rPr>
                        <a:t>Governed metric definitions; cell size ≥ 5 before C2 release</a:t>
                      </a:r>
                      <a:endParaRPr lang="en-US" sz="1300" dirty="0">
                        <a:latin typeface="Calibri" charset="0"/>
                        <a:ea typeface="Calibri" charset="0"/>
                        <a:cs typeface="Calibri" charset="0"/>
                      </a:endParaRPr>
                    </a:p>
                  </a:txBody>
                  <a:tcPr marL="91440" marR="91440" marT="45720" marB="45720" anchor="ctr">
                    <a:lnL w="9525" cap="flat" cmpd="sng" algn="ctr">
                      <a:solidFill>
                        <a:srgbClr val="DCE3DC"/>
                      </a:solidFill>
                      <a:prstDash val="solid"/>
                      <a:round/>
                      <a:headEnd type="none" w="med" len="med"/>
                      <a:tailEnd type="none" w="med" len="med"/>
                    </a:lnL>
                    <a:lnR w="9525" cap="flat" cmpd="sng" algn="ctr">
                      <a:solidFill>
                        <a:srgbClr val="DCE3DC"/>
                      </a:solidFill>
                      <a:prstDash val="solid"/>
                      <a:round/>
                      <a:headEnd type="none" w="med" len="med"/>
                      <a:tailEnd type="none" w="med" len="med"/>
                    </a:lnR>
                    <a:lnT w="9525" cap="flat" cmpd="sng" algn="ctr">
                      <a:solidFill>
                        <a:srgbClr val="DCE3DC"/>
                      </a:solidFill>
                      <a:prstDash val="solid"/>
                      <a:round/>
                      <a:headEnd type="none" w="med" len="med"/>
                      <a:tailEnd type="none" w="med" len="med"/>
                    </a:lnT>
                    <a:lnB w="9525" cap="flat" cmpd="sng" algn="ctr">
                      <a:solidFill>
                        <a:srgbClr val="DCE3DC"/>
                      </a:solidFill>
                      <a:prstDash val="solid"/>
                      <a:round/>
                      <a:headEnd type="none" w="med" len="med"/>
                      <a:tailEnd type="none" w="med" len="med"/>
                    </a:lnB>
                    <a:solidFill>
                      <a:srgbClr val="FFFFFF"/>
                    </a:solidFill>
                  </a:tcPr>
                </a:tc>
                <a:tc>
                  <a:txBody>
                    <a:bodyPr/>
                    <a:lstStyle/>
                    <a:p>
                      <a:pPr indent="0" marL="0">
                        <a:buNone/>
                      </a:pPr>
                      <a:r>
                        <a:rPr lang="en-US" sz="1300" dirty="0">
                          <a:solidFill>
                            <a:srgbClr val="1F2A26"/>
                          </a:solidFill>
                          <a:latin typeface="Calibri" pitchFamily="34" charset="0"/>
                          <a:ea typeface="Calibri" pitchFamily="34" charset="-122"/>
                          <a:cs typeface="Calibri" pitchFamily="34" charset="-120"/>
                        </a:rPr>
                        <a:t>Insights agent computes and explains; never does the arithmetic itself</a:t>
                      </a:r>
                      <a:endParaRPr lang="en-US" sz="1300" dirty="0">
                        <a:latin typeface="Calibri" charset="0"/>
                        <a:ea typeface="Calibri" charset="0"/>
                        <a:cs typeface="Calibri" charset="0"/>
                      </a:endParaRPr>
                    </a:p>
                  </a:txBody>
                  <a:tcPr marL="91440" marR="91440" marT="45720" marB="45720" anchor="ctr">
                    <a:lnL w="9525" cap="flat" cmpd="sng" algn="ctr">
                      <a:solidFill>
                        <a:srgbClr val="DCE3DC"/>
                      </a:solidFill>
                      <a:prstDash val="solid"/>
                      <a:round/>
                      <a:headEnd type="none" w="med" len="med"/>
                      <a:tailEnd type="none" w="med" len="med"/>
                    </a:lnL>
                    <a:lnR w="9525" cap="flat" cmpd="sng" algn="ctr">
                      <a:solidFill>
                        <a:srgbClr val="DCE3DC"/>
                      </a:solidFill>
                      <a:prstDash val="solid"/>
                      <a:round/>
                      <a:headEnd type="none" w="med" len="med"/>
                      <a:tailEnd type="none" w="med" len="med"/>
                    </a:lnR>
                    <a:lnT w="9525" cap="flat" cmpd="sng" algn="ctr">
                      <a:solidFill>
                        <a:srgbClr val="DCE3DC"/>
                      </a:solidFill>
                      <a:prstDash val="solid"/>
                      <a:round/>
                      <a:headEnd type="none" w="med" len="med"/>
                      <a:tailEnd type="none" w="med" len="med"/>
                    </a:lnT>
                    <a:lnB w="9525" cap="flat" cmpd="sng" algn="ctr">
                      <a:solidFill>
                        <a:srgbClr val="DCE3DC"/>
                      </a:solidFill>
                      <a:prstDash val="solid"/>
                      <a:round/>
                      <a:headEnd type="none" w="med" len="med"/>
                      <a:tailEnd type="none" w="med" len="med"/>
                    </a:lnB>
                    <a:solidFill>
                      <a:srgbClr val="FFFFFF"/>
                    </a:solidFill>
                  </a:tcPr>
                </a:tc>
              </a:tr>
              <a:tr h="713232">
                <a:tc>
                  <a:txBody>
                    <a:bodyPr/>
                    <a:lstStyle/>
                    <a:p>
                      <a:pPr indent="0" marL="0">
                        <a:buNone/>
                      </a:pPr>
                      <a:r>
                        <a:rPr lang="en-US" sz="1300" b="1" dirty="0">
                          <a:solidFill>
                            <a:srgbClr val="1F2A26"/>
                          </a:solidFill>
                          <a:latin typeface="Calibri" pitchFamily="34" charset="0"/>
                          <a:ea typeface="Calibri" pitchFamily="34" charset="-122"/>
                          <a:cs typeface="Calibri" pitchFamily="34" charset="-120"/>
                        </a:rPr>
                        <a:t>Slack index and 80/20 cap</a:t>
                      </a:r>
                      <a:endParaRPr lang="en-US" sz="1300" dirty="0">
                        <a:latin typeface="Calibri" charset="0"/>
                        <a:ea typeface="Calibri" charset="0"/>
                        <a:cs typeface="Calibri" charset="0"/>
                      </a:endParaRPr>
                    </a:p>
                  </a:txBody>
                  <a:tcPr marL="91440" marR="91440" marT="45720" marB="45720" anchor="ctr">
                    <a:lnL w="9525" cap="flat" cmpd="sng" algn="ctr">
                      <a:solidFill>
                        <a:srgbClr val="DCE3DC"/>
                      </a:solidFill>
                      <a:prstDash val="solid"/>
                      <a:round/>
                      <a:headEnd type="none" w="med" len="med"/>
                      <a:tailEnd type="none" w="med" len="med"/>
                    </a:lnL>
                    <a:lnR w="9525" cap="flat" cmpd="sng" algn="ctr">
                      <a:solidFill>
                        <a:srgbClr val="DCE3DC"/>
                      </a:solidFill>
                      <a:prstDash val="solid"/>
                      <a:round/>
                      <a:headEnd type="none" w="med" len="med"/>
                      <a:tailEnd type="none" w="med" len="med"/>
                    </a:lnR>
                    <a:lnT w="9525" cap="flat" cmpd="sng" algn="ctr">
                      <a:solidFill>
                        <a:srgbClr val="DCE3DC"/>
                      </a:solidFill>
                      <a:prstDash val="solid"/>
                      <a:round/>
                      <a:headEnd type="none" w="med" len="med"/>
                      <a:tailEnd type="none" w="med" len="med"/>
                    </a:lnT>
                    <a:lnB w="9525" cap="flat" cmpd="sng" algn="ctr">
                      <a:solidFill>
                        <a:srgbClr val="DCE3DC"/>
                      </a:solidFill>
                      <a:prstDash val="solid"/>
                      <a:round/>
                      <a:headEnd type="none" w="med" len="med"/>
                      <a:tailEnd type="none" w="med" len="med"/>
                    </a:lnB>
                    <a:solidFill>
                      <a:srgbClr val="FFFFFF"/>
                    </a:solidFill>
                  </a:tcPr>
                </a:tc>
                <a:tc>
                  <a:txBody>
                    <a:bodyPr/>
                    <a:lstStyle/>
                    <a:p>
                      <a:pPr indent="0" marL="0">
                        <a:buNone/>
                      </a:pPr>
                      <a:r>
                        <a:rPr lang="en-US" sz="1300" dirty="0">
                          <a:solidFill>
                            <a:srgbClr val="1F2A26"/>
                          </a:solidFill>
                          <a:latin typeface="Calibri" pitchFamily="34" charset="0"/>
                          <a:ea typeface="Calibri" pitchFamily="34" charset="-122"/>
                          <a:cs typeface="Calibri" pitchFamily="34" charset="-120"/>
                        </a:rPr>
                        <a:t>Time and pay terms mapped to Premier and Workday as a virtual graph</a:t>
                      </a:r>
                      <a:endParaRPr lang="en-US" sz="1300" dirty="0">
                        <a:latin typeface="Calibri" charset="0"/>
                        <a:ea typeface="Calibri" charset="0"/>
                        <a:cs typeface="Calibri" charset="0"/>
                      </a:endParaRPr>
                    </a:p>
                  </a:txBody>
                  <a:tcPr marL="91440" marR="91440" marT="45720" marB="45720" anchor="ctr">
                    <a:lnL w="9525" cap="flat" cmpd="sng" algn="ctr">
                      <a:solidFill>
                        <a:srgbClr val="DCE3DC"/>
                      </a:solidFill>
                      <a:prstDash val="solid"/>
                      <a:round/>
                      <a:headEnd type="none" w="med" len="med"/>
                      <a:tailEnd type="none" w="med" len="med"/>
                    </a:lnL>
                    <a:lnR w="9525" cap="flat" cmpd="sng" algn="ctr">
                      <a:solidFill>
                        <a:srgbClr val="DCE3DC"/>
                      </a:solidFill>
                      <a:prstDash val="solid"/>
                      <a:round/>
                      <a:headEnd type="none" w="med" len="med"/>
                      <a:tailEnd type="none" w="med" len="med"/>
                    </a:lnR>
                    <a:lnT w="9525" cap="flat" cmpd="sng" algn="ctr">
                      <a:solidFill>
                        <a:srgbClr val="DCE3DC"/>
                      </a:solidFill>
                      <a:prstDash val="solid"/>
                      <a:round/>
                      <a:headEnd type="none" w="med" len="med"/>
                      <a:tailEnd type="none" w="med" len="med"/>
                    </a:lnT>
                    <a:lnB w="9525" cap="flat" cmpd="sng" algn="ctr">
                      <a:solidFill>
                        <a:srgbClr val="DCE3DC"/>
                      </a:solidFill>
                      <a:prstDash val="solid"/>
                      <a:round/>
                      <a:headEnd type="none" w="med" len="med"/>
                      <a:tailEnd type="none" w="med" len="med"/>
                    </a:lnB>
                    <a:solidFill>
                      <a:srgbClr val="FFFFFF"/>
                    </a:solidFill>
                  </a:tcPr>
                </a:tc>
                <a:tc>
                  <a:txBody>
                    <a:bodyPr/>
                    <a:lstStyle/>
                    <a:p>
                      <a:pPr indent="0" marL="0">
                        <a:buNone/>
                      </a:pPr>
                      <a:r>
                        <a:rPr lang="en-US" sz="1300" dirty="0">
                          <a:solidFill>
                            <a:srgbClr val="1F2A26"/>
                          </a:solidFill>
                          <a:latin typeface="Calibri" pitchFamily="34" charset="0"/>
                          <a:ea typeface="Calibri" pitchFamily="34" charset="-122"/>
                          <a:cs typeface="Calibri" pitchFamily="34" charset="-120"/>
                        </a:rPr>
                        <a:t>Guide agent flags overloaded teams inside scheduling</a:t>
                      </a:r>
                      <a:endParaRPr lang="en-US" sz="1300" dirty="0">
                        <a:latin typeface="Calibri" charset="0"/>
                        <a:ea typeface="Calibri" charset="0"/>
                        <a:cs typeface="Calibri" charset="0"/>
                      </a:endParaRPr>
                    </a:p>
                  </a:txBody>
                  <a:tcPr marL="91440" marR="91440" marT="45720" marB="45720" anchor="ctr">
                    <a:lnL w="9525" cap="flat" cmpd="sng" algn="ctr">
                      <a:solidFill>
                        <a:srgbClr val="DCE3DC"/>
                      </a:solidFill>
                      <a:prstDash val="solid"/>
                      <a:round/>
                      <a:headEnd type="none" w="med" len="med"/>
                      <a:tailEnd type="none" w="med" len="med"/>
                    </a:lnL>
                    <a:lnR w="9525" cap="flat" cmpd="sng" algn="ctr">
                      <a:solidFill>
                        <a:srgbClr val="DCE3DC"/>
                      </a:solidFill>
                      <a:prstDash val="solid"/>
                      <a:round/>
                      <a:headEnd type="none" w="med" len="med"/>
                      <a:tailEnd type="none" w="med" len="med"/>
                    </a:lnR>
                    <a:lnT w="9525" cap="flat" cmpd="sng" algn="ctr">
                      <a:solidFill>
                        <a:srgbClr val="DCE3DC"/>
                      </a:solidFill>
                      <a:prstDash val="solid"/>
                      <a:round/>
                      <a:headEnd type="none" w="med" len="med"/>
                      <a:tailEnd type="none" w="med" len="med"/>
                    </a:lnT>
                    <a:lnB w="9525" cap="flat" cmpd="sng" algn="ctr">
                      <a:solidFill>
                        <a:srgbClr val="DCE3DC"/>
                      </a:solidFill>
                      <a:prstDash val="solid"/>
                      <a:round/>
                      <a:headEnd type="none" w="med" len="med"/>
                      <a:tailEnd type="none" w="med" len="med"/>
                    </a:lnB>
                    <a:solidFill>
                      <a:srgbClr val="FFFFFF"/>
                    </a:solidFill>
                  </a:tcPr>
                </a:tc>
              </a:tr>
              <a:tr h="713232">
                <a:tc>
                  <a:txBody>
                    <a:bodyPr/>
                    <a:lstStyle/>
                    <a:p>
                      <a:pPr indent="0" marL="0">
                        <a:buNone/>
                      </a:pPr>
                      <a:r>
                        <a:rPr lang="en-US" sz="1300" b="1" dirty="0">
                          <a:solidFill>
                            <a:srgbClr val="1F2A26"/>
                          </a:solidFill>
                          <a:latin typeface="Calibri" pitchFamily="34" charset="0"/>
                          <a:ea typeface="Calibri" pitchFamily="34" charset="-122"/>
                          <a:cs typeface="Calibri" pitchFamily="34" charset="-120"/>
                        </a:rPr>
                        <a:t>Work-share and redeploy-first review</a:t>
                      </a:r>
                      <a:endParaRPr lang="en-US" sz="1300" dirty="0">
                        <a:latin typeface="Calibri" charset="0"/>
                        <a:ea typeface="Calibri" charset="0"/>
                        <a:cs typeface="Calibri" charset="0"/>
                      </a:endParaRPr>
                    </a:p>
                  </a:txBody>
                  <a:tcPr marL="91440" marR="91440" marT="45720" marB="45720" anchor="ctr">
                    <a:lnL w="9525" cap="flat" cmpd="sng" algn="ctr">
                      <a:solidFill>
                        <a:srgbClr val="DCE3DC"/>
                      </a:solidFill>
                      <a:prstDash val="solid"/>
                      <a:round/>
                      <a:headEnd type="none" w="med" len="med"/>
                      <a:tailEnd type="none" w="med" len="med"/>
                    </a:lnL>
                    <a:lnR w="9525" cap="flat" cmpd="sng" algn="ctr">
                      <a:solidFill>
                        <a:srgbClr val="DCE3DC"/>
                      </a:solidFill>
                      <a:prstDash val="solid"/>
                      <a:round/>
                      <a:headEnd type="none" w="med" len="med"/>
                      <a:tailEnd type="none" w="med" len="med"/>
                    </a:lnR>
                    <a:lnT w="9525" cap="flat" cmpd="sng" algn="ctr">
                      <a:solidFill>
                        <a:srgbClr val="DCE3DC"/>
                      </a:solidFill>
                      <a:prstDash val="solid"/>
                      <a:round/>
                      <a:headEnd type="none" w="med" len="med"/>
                      <a:tailEnd type="none" w="med" len="med"/>
                    </a:lnT>
                    <a:lnB w="9525" cap="flat" cmpd="sng" algn="ctr">
                      <a:solidFill>
                        <a:srgbClr val="DCE3DC"/>
                      </a:solidFill>
                      <a:prstDash val="solid"/>
                      <a:round/>
                      <a:headEnd type="none" w="med" len="med"/>
                      <a:tailEnd type="none" w="med" len="med"/>
                    </a:lnB>
                    <a:solidFill>
                      <a:srgbClr val="FFFFFF"/>
                    </a:solidFill>
                  </a:tcPr>
                </a:tc>
                <a:tc>
                  <a:txBody>
                    <a:bodyPr/>
                    <a:lstStyle/>
                    <a:p>
                      <a:pPr indent="0" marL="0">
                        <a:buNone/>
                      </a:pPr>
                      <a:r>
                        <a:rPr lang="en-US" sz="1300" dirty="0">
                          <a:solidFill>
                            <a:srgbClr val="1F2A26"/>
                          </a:solidFill>
                          <a:latin typeface="Calibri" pitchFamily="34" charset="0"/>
                          <a:ea typeface="Calibri" pitchFamily="34" charset="-122"/>
                          <a:cs typeface="Calibri" pitchFamily="34" charset="-120"/>
                        </a:rPr>
                        <a:t>State requirements in the compliance domain</a:t>
                      </a:r>
                      <a:endParaRPr lang="en-US" sz="1300" dirty="0">
                        <a:latin typeface="Calibri" charset="0"/>
                        <a:ea typeface="Calibri" charset="0"/>
                        <a:cs typeface="Calibri" charset="0"/>
                      </a:endParaRPr>
                    </a:p>
                  </a:txBody>
                  <a:tcPr marL="91440" marR="91440" marT="45720" marB="45720" anchor="ctr">
                    <a:lnL w="9525" cap="flat" cmpd="sng" algn="ctr">
                      <a:solidFill>
                        <a:srgbClr val="DCE3DC"/>
                      </a:solidFill>
                      <a:prstDash val="solid"/>
                      <a:round/>
                      <a:headEnd type="none" w="med" len="med"/>
                      <a:tailEnd type="none" w="med" len="med"/>
                    </a:lnL>
                    <a:lnR w="9525" cap="flat" cmpd="sng" algn="ctr">
                      <a:solidFill>
                        <a:srgbClr val="DCE3DC"/>
                      </a:solidFill>
                      <a:prstDash val="solid"/>
                      <a:round/>
                      <a:headEnd type="none" w="med" len="med"/>
                      <a:tailEnd type="none" w="med" len="med"/>
                    </a:lnR>
                    <a:lnT w="9525" cap="flat" cmpd="sng" algn="ctr">
                      <a:solidFill>
                        <a:srgbClr val="DCE3DC"/>
                      </a:solidFill>
                      <a:prstDash val="solid"/>
                      <a:round/>
                      <a:headEnd type="none" w="med" len="med"/>
                      <a:tailEnd type="none" w="med" len="med"/>
                    </a:lnT>
                    <a:lnB w="9525" cap="flat" cmpd="sng" algn="ctr">
                      <a:solidFill>
                        <a:srgbClr val="DCE3DC"/>
                      </a:solidFill>
                      <a:prstDash val="solid"/>
                      <a:round/>
                      <a:headEnd type="none" w="med" len="med"/>
                      <a:tailEnd type="none" w="med" len="med"/>
                    </a:lnB>
                    <a:solidFill>
                      <a:srgbClr val="FFFFFF"/>
                    </a:solidFill>
                  </a:tcPr>
                </a:tc>
                <a:tc>
                  <a:txBody>
                    <a:bodyPr/>
                    <a:lstStyle/>
                    <a:p>
                      <a:pPr indent="0" marL="0">
                        <a:buNone/>
                      </a:pPr>
                      <a:r>
                        <a:rPr lang="en-US" sz="1300" dirty="0">
                          <a:solidFill>
                            <a:srgbClr val="1F2A26"/>
                          </a:solidFill>
                          <a:latin typeface="Calibri" pitchFamily="34" charset="0"/>
                          <a:ea typeface="Calibri" pitchFamily="34" charset="-122"/>
                          <a:cs typeface="Calibri" pitchFamily="34" charset="-120"/>
                        </a:rPr>
                        <a:t>Advisor walks the client through options; Handoff to an HR specialist</a:t>
                      </a:r>
                      <a:endParaRPr lang="en-US" sz="1300" dirty="0">
                        <a:latin typeface="Calibri" charset="0"/>
                        <a:ea typeface="Calibri" charset="0"/>
                        <a:cs typeface="Calibri" charset="0"/>
                      </a:endParaRPr>
                    </a:p>
                  </a:txBody>
                  <a:tcPr marL="91440" marR="91440" marT="45720" marB="45720" anchor="ctr">
                    <a:lnL w="9525" cap="flat" cmpd="sng" algn="ctr">
                      <a:solidFill>
                        <a:srgbClr val="DCE3DC"/>
                      </a:solidFill>
                      <a:prstDash val="solid"/>
                      <a:round/>
                      <a:headEnd type="none" w="med" len="med"/>
                      <a:tailEnd type="none" w="med" len="med"/>
                    </a:lnL>
                    <a:lnR w="9525" cap="flat" cmpd="sng" algn="ctr">
                      <a:solidFill>
                        <a:srgbClr val="DCE3DC"/>
                      </a:solidFill>
                      <a:prstDash val="solid"/>
                      <a:round/>
                      <a:headEnd type="none" w="med" len="med"/>
                      <a:tailEnd type="none" w="med" len="med"/>
                    </a:lnR>
                    <a:lnT w="9525" cap="flat" cmpd="sng" algn="ctr">
                      <a:solidFill>
                        <a:srgbClr val="DCE3DC"/>
                      </a:solidFill>
                      <a:prstDash val="solid"/>
                      <a:round/>
                      <a:headEnd type="none" w="med" len="med"/>
                      <a:tailEnd type="none" w="med" len="med"/>
                    </a:lnT>
                    <a:lnB w="9525" cap="flat" cmpd="sng" algn="ctr">
                      <a:solidFill>
                        <a:srgbClr val="DCE3DC"/>
                      </a:solidFill>
                      <a:prstDash val="solid"/>
                      <a:round/>
                      <a:headEnd type="none" w="med" len="med"/>
                      <a:tailEnd type="none" w="med" len="med"/>
                    </a:lnB>
                    <a:solidFill>
                      <a:srgbClr val="FFFFFF"/>
                    </a:solidFill>
                  </a:tcPr>
                </a:tc>
              </a:tr>
              <a:tr h="713232">
                <a:tc>
                  <a:txBody>
                    <a:bodyPr/>
                    <a:lstStyle/>
                    <a:p>
                      <a:pPr indent="0" marL="0">
                        <a:buNone/>
                      </a:pPr>
                      <a:r>
                        <a:rPr lang="en-US" sz="1300" b="1" dirty="0">
                          <a:solidFill>
                            <a:srgbClr val="1F2A26"/>
                          </a:solidFill>
                          <a:latin typeface="Calibri" pitchFamily="34" charset="0"/>
                          <a:ea typeface="Calibri" pitchFamily="34" charset="-122"/>
                          <a:cs typeface="Calibri" pitchFamily="34" charset="-120"/>
                        </a:rPr>
                        <a:t>Cross-client talent exchange</a:t>
                      </a:r>
                      <a:endParaRPr lang="en-US" sz="1300" dirty="0">
                        <a:latin typeface="Calibri" charset="0"/>
                        <a:ea typeface="Calibri" charset="0"/>
                        <a:cs typeface="Calibri" charset="0"/>
                      </a:endParaRPr>
                    </a:p>
                  </a:txBody>
                  <a:tcPr marL="91440" marR="91440" marT="45720" marB="45720" anchor="ctr">
                    <a:lnL w="9525" cap="flat" cmpd="sng" algn="ctr">
                      <a:solidFill>
                        <a:srgbClr val="DCE3DC"/>
                      </a:solidFill>
                      <a:prstDash val="solid"/>
                      <a:round/>
                      <a:headEnd type="none" w="med" len="med"/>
                      <a:tailEnd type="none" w="med" len="med"/>
                    </a:lnL>
                    <a:lnR w="9525" cap="flat" cmpd="sng" algn="ctr">
                      <a:solidFill>
                        <a:srgbClr val="DCE3DC"/>
                      </a:solidFill>
                      <a:prstDash val="solid"/>
                      <a:round/>
                      <a:headEnd type="none" w="med" len="med"/>
                      <a:tailEnd type="none" w="med" len="med"/>
                    </a:lnR>
                    <a:lnT w="9525" cap="flat" cmpd="sng" algn="ctr">
                      <a:solidFill>
                        <a:srgbClr val="DCE3DC"/>
                      </a:solidFill>
                      <a:prstDash val="solid"/>
                      <a:round/>
                      <a:headEnd type="none" w="med" len="med"/>
                      <a:tailEnd type="none" w="med" len="med"/>
                    </a:lnT>
                    <a:lnB w="9525" cap="flat" cmpd="sng" algn="ctr">
                      <a:solidFill>
                        <a:srgbClr val="DCE3DC"/>
                      </a:solidFill>
                      <a:prstDash val="solid"/>
                      <a:round/>
                      <a:headEnd type="none" w="med" len="med"/>
                      <a:tailEnd type="none" w="med" len="med"/>
                    </a:lnB>
                    <a:solidFill>
                      <a:srgbClr val="FFFFFF"/>
                    </a:solidFill>
                  </a:tcPr>
                </a:tc>
                <a:tc>
                  <a:txBody>
                    <a:bodyPr/>
                    <a:lstStyle/>
                    <a:p>
                      <a:pPr indent="0" marL="0">
                        <a:buNone/>
                      </a:pPr>
                      <a:r>
                        <a:rPr lang="en-US" sz="1300" dirty="0">
                          <a:solidFill>
                            <a:srgbClr val="1F2A26"/>
                          </a:solidFill>
                          <a:latin typeface="Calibri" pitchFamily="34" charset="0"/>
                          <a:ea typeface="Calibri" pitchFamily="34" charset="-122"/>
                          <a:cs typeface="Calibri" pitchFamily="34" charset="-120"/>
                        </a:rPr>
                        <a:t>New skills terms; worker consent recorded as C3</a:t>
                      </a:r>
                      <a:endParaRPr lang="en-US" sz="1300" dirty="0">
                        <a:latin typeface="Calibri" charset="0"/>
                        <a:ea typeface="Calibri" charset="0"/>
                        <a:cs typeface="Calibri" charset="0"/>
                      </a:endParaRPr>
                    </a:p>
                  </a:txBody>
                  <a:tcPr marL="91440" marR="91440" marT="45720" marB="45720" anchor="ctr">
                    <a:lnL w="9525" cap="flat" cmpd="sng" algn="ctr">
                      <a:solidFill>
                        <a:srgbClr val="DCE3DC"/>
                      </a:solidFill>
                      <a:prstDash val="solid"/>
                      <a:round/>
                      <a:headEnd type="none" w="med" len="med"/>
                      <a:tailEnd type="none" w="med" len="med"/>
                    </a:lnL>
                    <a:lnR w="9525" cap="flat" cmpd="sng" algn="ctr">
                      <a:solidFill>
                        <a:srgbClr val="DCE3DC"/>
                      </a:solidFill>
                      <a:prstDash val="solid"/>
                      <a:round/>
                      <a:headEnd type="none" w="med" len="med"/>
                      <a:tailEnd type="none" w="med" len="med"/>
                    </a:lnR>
                    <a:lnT w="9525" cap="flat" cmpd="sng" algn="ctr">
                      <a:solidFill>
                        <a:srgbClr val="DCE3DC"/>
                      </a:solidFill>
                      <a:prstDash val="solid"/>
                      <a:round/>
                      <a:headEnd type="none" w="med" len="med"/>
                      <a:tailEnd type="none" w="med" len="med"/>
                    </a:lnT>
                    <a:lnB w="9525" cap="flat" cmpd="sng" algn="ctr">
                      <a:solidFill>
                        <a:srgbClr val="DCE3DC"/>
                      </a:solidFill>
                      <a:prstDash val="solid"/>
                      <a:round/>
                      <a:headEnd type="none" w="med" len="med"/>
                      <a:tailEnd type="none" w="med" len="med"/>
                    </a:lnB>
                    <a:solidFill>
                      <a:srgbClr val="FFFFFF"/>
                    </a:solidFill>
                  </a:tcPr>
                </a:tc>
                <a:tc>
                  <a:txBody>
                    <a:bodyPr/>
                    <a:lstStyle/>
                    <a:p>
                      <a:pPr indent="0" marL="0">
                        <a:buNone/>
                      </a:pPr>
                      <a:r>
                        <a:rPr lang="en-US" sz="1300" dirty="0">
                          <a:solidFill>
                            <a:srgbClr val="1F2A26"/>
                          </a:solidFill>
                          <a:latin typeface="Calibri" pitchFamily="34" charset="0"/>
                          <a:ea typeface="Calibri" pitchFamily="34" charset="-122"/>
                          <a:cs typeface="Calibri" pitchFamily="34" charset="-120"/>
                        </a:rPr>
                        <a:t>Matching agent across tenants, aggregates only</a:t>
                      </a:r>
                      <a:endParaRPr lang="en-US" sz="1300" dirty="0">
                        <a:latin typeface="Calibri" charset="0"/>
                        <a:ea typeface="Calibri" charset="0"/>
                        <a:cs typeface="Calibri" charset="0"/>
                      </a:endParaRPr>
                    </a:p>
                  </a:txBody>
                  <a:tcPr marL="91440" marR="91440" marT="45720" marB="45720" anchor="ctr">
                    <a:lnL w="9525" cap="flat" cmpd="sng" algn="ctr">
                      <a:solidFill>
                        <a:srgbClr val="DCE3DC"/>
                      </a:solidFill>
                      <a:prstDash val="solid"/>
                      <a:round/>
                      <a:headEnd type="none" w="med" len="med"/>
                      <a:tailEnd type="none" w="med" len="med"/>
                    </a:lnL>
                    <a:lnR w="9525" cap="flat" cmpd="sng" algn="ctr">
                      <a:solidFill>
                        <a:srgbClr val="DCE3DC"/>
                      </a:solidFill>
                      <a:prstDash val="solid"/>
                      <a:round/>
                      <a:headEnd type="none" w="med" len="med"/>
                      <a:tailEnd type="none" w="med" len="med"/>
                    </a:lnR>
                    <a:lnT w="9525" cap="flat" cmpd="sng" algn="ctr">
                      <a:solidFill>
                        <a:srgbClr val="DCE3DC"/>
                      </a:solidFill>
                      <a:prstDash val="solid"/>
                      <a:round/>
                      <a:headEnd type="none" w="med" len="med"/>
                      <a:tailEnd type="none" w="med" len="med"/>
                    </a:lnT>
                    <a:lnB w="9525" cap="flat" cmpd="sng" algn="ctr">
                      <a:solidFill>
                        <a:srgbClr val="DCE3DC"/>
                      </a:solidFill>
                      <a:prstDash val="solid"/>
                      <a:round/>
                      <a:headEnd type="none" w="med" len="med"/>
                      <a:tailEnd type="none" w="med" len="med"/>
                    </a:lnB>
                    <a:solidFill>
                      <a:srgbClr val="FFFFFF"/>
                    </a:solidFill>
                  </a:tcPr>
                </a:tc>
              </a:tr>
              <a:tr h="713232">
                <a:tc>
                  <a:txBody>
                    <a:bodyPr/>
                    <a:lstStyle/>
                    <a:p>
                      <a:pPr indent="0" marL="0">
                        <a:buNone/>
                      </a:pPr>
                      <a:r>
                        <a:rPr lang="en-US" sz="1300" b="1" dirty="0">
                          <a:solidFill>
                            <a:srgbClr val="1F2A26"/>
                          </a:solidFill>
                          <a:latin typeface="Calibri" pitchFamily="34" charset="0"/>
                          <a:ea typeface="Calibri" pitchFamily="34" charset="-122"/>
                          <a:cs typeface="Calibri" pitchFamily="34" charset="-120"/>
                        </a:rPr>
                        <a:t>Life-stage navigation</a:t>
                      </a:r>
                      <a:endParaRPr lang="en-US" sz="1300" dirty="0">
                        <a:latin typeface="Calibri" charset="0"/>
                        <a:ea typeface="Calibri" charset="0"/>
                        <a:cs typeface="Calibri" charset="0"/>
                      </a:endParaRPr>
                    </a:p>
                  </a:txBody>
                  <a:tcPr marL="91440" marR="91440" marT="45720" marB="45720" anchor="ctr">
                    <a:lnL w="9525" cap="flat" cmpd="sng" algn="ctr">
                      <a:solidFill>
                        <a:srgbClr val="DCE3DC"/>
                      </a:solidFill>
                      <a:prstDash val="solid"/>
                      <a:round/>
                      <a:headEnd type="none" w="med" len="med"/>
                      <a:tailEnd type="none" w="med" len="med"/>
                    </a:lnL>
                    <a:lnR w="9525" cap="flat" cmpd="sng" algn="ctr">
                      <a:solidFill>
                        <a:srgbClr val="DCE3DC"/>
                      </a:solidFill>
                      <a:prstDash val="solid"/>
                      <a:round/>
                      <a:headEnd type="none" w="med" len="med"/>
                      <a:tailEnd type="none" w="med" len="med"/>
                    </a:lnR>
                    <a:lnT w="9525" cap="flat" cmpd="sng" algn="ctr">
                      <a:solidFill>
                        <a:srgbClr val="DCE3DC"/>
                      </a:solidFill>
                      <a:prstDash val="solid"/>
                      <a:round/>
                      <a:headEnd type="none" w="med" len="med"/>
                      <a:tailEnd type="none" w="med" len="med"/>
                    </a:lnT>
                    <a:lnB w="9525" cap="flat" cmpd="sng" algn="ctr">
                      <a:solidFill>
                        <a:srgbClr val="DCE3DC"/>
                      </a:solidFill>
                      <a:prstDash val="solid"/>
                      <a:round/>
                      <a:headEnd type="none" w="med" len="med"/>
                      <a:tailEnd type="none" w="med" len="med"/>
                    </a:lnB>
                    <a:solidFill>
                      <a:srgbClr val="FFFFFF"/>
                    </a:solidFill>
                  </a:tcPr>
                </a:tc>
                <a:tc>
                  <a:txBody>
                    <a:bodyPr/>
                    <a:lstStyle/>
                    <a:p>
                      <a:pPr indent="0" marL="0">
                        <a:buNone/>
                      </a:pPr>
                      <a:r>
                        <a:rPr lang="en-US" sz="1300" dirty="0">
                          <a:solidFill>
                            <a:srgbClr val="1F2A26"/>
                          </a:solidFill>
                          <a:latin typeface="Calibri" pitchFamily="34" charset="0"/>
                          <a:ea typeface="Calibri" pitchFamily="34" charset="-122"/>
                          <a:cs typeface="Calibri" pitchFamily="34" charset="-120"/>
                        </a:rPr>
                        <a:t>Medical confidentiality regime forces C4</a:t>
                      </a:r>
                      <a:endParaRPr lang="en-US" sz="1300" dirty="0">
                        <a:latin typeface="Calibri" charset="0"/>
                        <a:ea typeface="Calibri" charset="0"/>
                        <a:cs typeface="Calibri" charset="0"/>
                      </a:endParaRPr>
                    </a:p>
                  </a:txBody>
                  <a:tcPr marL="91440" marR="91440" marT="45720" marB="45720" anchor="ctr">
                    <a:lnL w="9525" cap="flat" cmpd="sng" algn="ctr">
                      <a:solidFill>
                        <a:srgbClr val="DCE3DC"/>
                      </a:solidFill>
                      <a:prstDash val="solid"/>
                      <a:round/>
                      <a:headEnd type="none" w="med" len="med"/>
                      <a:tailEnd type="none" w="med" len="med"/>
                    </a:lnL>
                    <a:lnR w="9525" cap="flat" cmpd="sng" algn="ctr">
                      <a:solidFill>
                        <a:srgbClr val="DCE3DC"/>
                      </a:solidFill>
                      <a:prstDash val="solid"/>
                      <a:round/>
                      <a:headEnd type="none" w="med" len="med"/>
                      <a:tailEnd type="none" w="med" len="med"/>
                    </a:lnR>
                    <a:lnT w="9525" cap="flat" cmpd="sng" algn="ctr">
                      <a:solidFill>
                        <a:srgbClr val="DCE3DC"/>
                      </a:solidFill>
                      <a:prstDash val="solid"/>
                      <a:round/>
                      <a:headEnd type="none" w="med" len="med"/>
                      <a:tailEnd type="none" w="med" len="med"/>
                    </a:lnT>
                    <a:lnB w="9525" cap="flat" cmpd="sng" algn="ctr">
                      <a:solidFill>
                        <a:srgbClr val="DCE3DC"/>
                      </a:solidFill>
                      <a:prstDash val="solid"/>
                      <a:round/>
                      <a:headEnd type="none" w="med" len="med"/>
                      <a:tailEnd type="none" w="med" len="med"/>
                    </a:lnB>
                    <a:solidFill>
                      <a:srgbClr val="FFFFFF"/>
                    </a:solidFill>
                  </a:tcPr>
                </a:tc>
                <a:tc>
                  <a:txBody>
                    <a:bodyPr/>
                    <a:lstStyle/>
                    <a:p>
                      <a:pPr indent="0" marL="0">
                        <a:buNone/>
                      </a:pPr>
                      <a:r>
                        <a:rPr lang="en-US" sz="1300" dirty="0">
                          <a:solidFill>
                            <a:srgbClr val="1F2A26"/>
                          </a:solidFill>
                          <a:latin typeface="Calibri" pitchFamily="34" charset="0"/>
                          <a:ea typeface="Calibri" pitchFamily="34" charset="-122"/>
                          <a:cs typeface="Calibri" pitchFamily="34" charset="-120"/>
                        </a:rPr>
                        <a:t>Guide agent with disclosure rules; client sees restrictions only</a:t>
                      </a:r>
                      <a:endParaRPr lang="en-US" sz="1300" dirty="0">
                        <a:latin typeface="Calibri" charset="0"/>
                        <a:ea typeface="Calibri" charset="0"/>
                        <a:cs typeface="Calibri" charset="0"/>
                      </a:endParaRPr>
                    </a:p>
                  </a:txBody>
                  <a:tcPr marL="91440" marR="91440" marT="45720" marB="45720" anchor="ctr">
                    <a:lnL w="9525" cap="flat" cmpd="sng" algn="ctr">
                      <a:solidFill>
                        <a:srgbClr val="DCE3DC"/>
                      </a:solidFill>
                      <a:prstDash val="solid"/>
                      <a:round/>
                      <a:headEnd type="none" w="med" len="med"/>
                      <a:tailEnd type="none" w="med" len="med"/>
                    </a:lnL>
                    <a:lnR w="9525" cap="flat" cmpd="sng" algn="ctr">
                      <a:solidFill>
                        <a:srgbClr val="DCE3DC"/>
                      </a:solidFill>
                      <a:prstDash val="solid"/>
                      <a:round/>
                      <a:headEnd type="none" w="med" len="med"/>
                      <a:tailEnd type="none" w="med" len="med"/>
                    </a:lnR>
                    <a:lnT w="9525" cap="flat" cmpd="sng" algn="ctr">
                      <a:solidFill>
                        <a:srgbClr val="DCE3DC"/>
                      </a:solidFill>
                      <a:prstDash val="solid"/>
                      <a:round/>
                      <a:headEnd type="none" w="med" len="med"/>
                      <a:tailEnd type="none" w="med" len="med"/>
                    </a:lnT>
                    <a:lnB w="9525" cap="flat" cmpd="sng" algn="ctr">
                      <a:solidFill>
                        <a:srgbClr val="DCE3DC"/>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The AEO productizes our own agent controls</a:t>
            </a:r>
            <a:endParaRPr lang="en-US" sz="36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2743200"/>
                <a:gridCol w="4206240"/>
                <a:gridCol w="4114800"/>
              </a:tblGrid>
              <a:tr h="713232">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New service</a:t>
                      </a:r>
                      <a:endParaRPr lang="en-US" sz="1300" dirty="0">
                        <a:latin typeface="Calibri" charset="0"/>
                        <a:ea typeface="Calibri" charset="0"/>
                        <a:cs typeface="Calibri" charset="0"/>
                      </a:endParaRPr>
                    </a:p>
                  </a:txBody>
                  <a:tcPr marL="91440" marR="91440" marT="45720" marB="45720" anchor="ctr">
                    <a:lnL w="9525" cap="flat" cmpd="sng" algn="ctr">
                      <a:solidFill>
                        <a:srgbClr val="DCE3DC"/>
                      </a:solidFill>
                      <a:prstDash val="solid"/>
                      <a:round/>
                      <a:headEnd type="none" w="med" len="med"/>
                      <a:tailEnd type="none" w="med" len="med"/>
                    </a:lnL>
                    <a:lnR w="9525" cap="flat" cmpd="sng" algn="ctr">
                      <a:solidFill>
                        <a:srgbClr val="DCE3DC"/>
                      </a:solidFill>
                      <a:prstDash val="solid"/>
                      <a:round/>
                      <a:headEnd type="none" w="med" len="med"/>
                      <a:tailEnd type="none" w="med" len="med"/>
                    </a:lnR>
                    <a:lnT w="9525" cap="flat" cmpd="sng" algn="ctr">
                      <a:solidFill>
                        <a:srgbClr val="DCE3DC"/>
                      </a:solidFill>
                      <a:prstDash val="solid"/>
                      <a:round/>
                      <a:headEnd type="none" w="med" len="med"/>
                      <a:tailEnd type="none" w="med" len="med"/>
                    </a:lnT>
                    <a:lnB w="9525" cap="flat" cmpd="sng" algn="ctr">
                      <a:solidFill>
                        <a:srgbClr val="DCE3DC"/>
                      </a:solidFill>
                      <a:prstDash val="solid"/>
                      <a:round/>
                      <a:headEnd type="none" w="med" len="med"/>
                      <a:tailEnd type="none" w="med" len="med"/>
                    </a:lnB>
                    <a:solidFill>
                      <a:srgbClr val="1B2E2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the Keel supplies</a:t>
                      </a:r>
                      <a:endParaRPr lang="en-US" sz="1300" dirty="0">
                        <a:latin typeface="Calibri" charset="0"/>
                        <a:ea typeface="Calibri" charset="0"/>
                        <a:cs typeface="Calibri" charset="0"/>
                      </a:endParaRPr>
                    </a:p>
                  </a:txBody>
                  <a:tcPr marL="91440" marR="91440" marT="45720" marB="45720" anchor="ctr">
                    <a:lnL w="9525" cap="flat" cmpd="sng" algn="ctr">
                      <a:solidFill>
                        <a:srgbClr val="DCE3DC"/>
                      </a:solidFill>
                      <a:prstDash val="solid"/>
                      <a:round/>
                      <a:headEnd type="none" w="med" len="med"/>
                      <a:tailEnd type="none" w="med" len="med"/>
                    </a:lnL>
                    <a:lnR w="9525" cap="flat" cmpd="sng" algn="ctr">
                      <a:solidFill>
                        <a:srgbClr val="DCE3DC"/>
                      </a:solidFill>
                      <a:prstDash val="solid"/>
                      <a:round/>
                      <a:headEnd type="none" w="med" len="med"/>
                      <a:tailEnd type="none" w="med" len="med"/>
                    </a:lnR>
                    <a:lnT w="9525" cap="flat" cmpd="sng" algn="ctr">
                      <a:solidFill>
                        <a:srgbClr val="DCE3DC"/>
                      </a:solidFill>
                      <a:prstDash val="solid"/>
                      <a:round/>
                      <a:headEnd type="none" w="med" len="med"/>
                      <a:tailEnd type="none" w="med" len="med"/>
                    </a:lnT>
                    <a:lnB w="9525" cap="flat" cmpd="sng" algn="ctr">
                      <a:solidFill>
                        <a:srgbClr val="DCE3DC"/>
                      </a:solidFill>
                      <a:prstDash val="solid"/>
                      <a:round/>
                      <a:headEnd type="none" w="med" len="med"/>
                      <a:tailEnd type="none" w="med" len="med"/>
                    </a:lnB>
                    <a:solidFill>
                      <a:srgbClr val="1B2E2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North Star supplies</a:t>
                      </a:r>
                      <a:endParaRPr lang="en-US" sz="1300" dirty="0">
                        <a:latin typeface="Calibri" charset="0"/>
                        <a:ea typeface="Calibri" charset="0"/>
                        <a:cs typeface="Calibri" charset="0"/>
                      </a:endParaRPr>
                    </a:p>
                  </a:txBody>
                  <a:tcPr marL="91440" marR="91440" marT="45720" marB="45720" anchor="ctr">
                    <a:lnL w="9525" cap="flat" cmpd="sng" algn="ctr">
                      <a:solidFill>
                        <a:srgbClr val="DCE3DC"/>
                      </a:solidFill>
                      <a:prstDash val="solid"/>
                      <a:round/>
                      <a:headEnd type="none" w="med" len="med"/>
                      <a:tailEnd type="none" w="med" len="med"/>
                    </a:lnL>
                    <a:lnR w="9525" cap="flat" cmpd="sng" algn="ctr">
                      <a:solidFill>
                        <a:srgbClr val="DCE3DC"/>
                      </a:solidFill>
                      <a:prstDash val="solid"/>
                      <a:round/>
                      <a:headEnd type="none" w="med" len="med"/>
                      <a:tailEnd type="none" w="med" len="med"/>
                    </a:lnR>
                    <a:lnT w="9525" cap="flat" cmpd="sng" algn="ctr">
                      <a:solidFill>
                        <a:srgbClr val="DCE3DC"/>
                      </a:solidFill>
                      <a:prstDash val="solid"/>
                      <a:round/>
                      <a:headEnd type="none" w="med" len="med"/>
                      <a:tailEnd type="none" w="med" len="med"/>
                    </a:lnT>
                    <a:lnB w="9525" cap="flat" cmpd="sng" algn="ctr">
                      <a:solidFill>
                        <a:srgbClr val="DCE3DC"/>
                      </a:solidFill>
                      <a:prstDash val="solid"/>
                      <a:round/>
                      <a:headEnd type="none" w="med" len="med"/>
                      <a:tailEnd type="none" w="med" len="med"/>
                    </a:lnB>
                    <a:solidFill>
                      <a:srgbClr val="1B2E2A"/>
                    </a:solidFill>
                  </a:tcPr>
                </a:tc>
              </a:tr>
              <a:tr h="713232">
                <a:tc>
                  <a:txBody>
                    <a:bodyPr/>
                    <a:lstStyle/>
                    <a:p>
                      <a:pPr indent="0" marL="0">
                        <a:buNone/>
                      </a:pPr>
                      <a:r>
                        <a:rPr lang="en-US" sz="1300" b="1" dirty="0">
                          <a:solidFill>
                            <a:srgbClr val="1F2A26"/>
                          </a:solidFill>
                          <a:latin typeface="Calibri" pitchFamily="34" charset="0"/>
                          <a:ea typeface="Calibri" pitchFamily="34" charset="-122"/>
                          <a:cs typeface="Calibri" pitchFamily="34" charset="-120"/>
                        </a:rPr>
                        <a:t>Agent identity and roster</a:t>
                      </a:r>
                      <a:endParaRPr lang="en-US" sz="1300" dirty="0">
                        <a:latin typeface="Calibri" charset="0"/>
                        <a:ea typeface="Calibri" charset="0"/>
                        <a:cs typeface="Calibri" charset="0"/>
                      </a:endParaRPr>
                    </a:p>
                  </a:txBody>
                  <a:tcPr marL="91440" marR="91440" marT="45720" marB="45720" anchor="ctr">
                    <a:lnL w="9525" cap="flat" cmpd="sng" algn="ctr">
                      <a:solidFill>
                        <a:srgbClr val="DCE3DC"/>
                      </a:solidFill>
                      <a:prstDash val="solid"/>
                      <a:round/>
                      <a:headEnd type="none" w="med" len="med"/>
                      <a:tailEnd type="none" w="med" len="med"/>
                    </a:lnL>
                    <a:lnR w="9525" cap="flat" cmpd="sng" algn="ctr">
                      <a:solidFill>
                        <a:srgbClr val="DCE3DC"/>
                      </a:solidFill>
                      <a:prstDash val="solid"/>
                      <a:round/>
                      <a:headEnd type="none" w="med" len="med"/>
                      <a:tailEnd type="none" w="med" len="med"/>
                    </a:lnR>
                    <a:lnT w="9525" cap="flat" cmpd="sng" algn="ctr">
                      <a:solidFill>
                        <a:srgbClr val="DCE3DC"/>
                      </a:solidFill>
                      <a:prstDash val="solid"/>
                      <a:round/>
                      <a:headEnd type="none" w="med" len="med"/>
                      <a:tailEnd type="none" w="med" len="med"/>
                    </a:lnT>
                    <a:lnB w="9525" cap="flat" cmpd="sng" algn="ctr">
                      <a:solidFill>
                        <a:srgbClr val="DCE3DC"/>
                      </a:solidFill>
                      <a:prstDash val="solid"/>
                      <a:round/>
                      <a:headEnd type="none" w="med" len="med"/>
                      <a:tailEnd type="none" w="med" len="med"/>
                    </a:lnB>
                    <a:solidFill>
                      <a:srgbClr val="FFFFFF"/>
                    </a:solidFill>
                  </a:tcPr>
                </a:tc>
                <a:tc>
                  <a:txBody>
                    <a:bodyPr/>
                    <a:lstStyle/>
                    <a:p>
                      <a:pPr indent="0" marL="0">
                        <a:buNone/>
                      </a:pPr>
                      <a:r>
                        <a:rPr lang="en-US" sz="1300" dirty="0">
                          <a:solidFill>
                            <a:srgbClr val="1F2A26"/>
                          </a:solidFill>
                          <a:latin typeface="Calibri" pitchFamily="34" charset="0"/>
                          <a:ea typeface="Calibri" pitchFamily="34" charset="-122"/>
                          <a:cs typeface="Calibri" pitchFamily="34" charset="-120"/>
                        </a:rPr>
                        <a:t>Every agent registered with its own identity in the registry</a:t>
                      </a:r>
                      <a:endParaRPr lang="en-US" sz="1300" dirty="0">
                        <a:latin typeface="Calibri" charset="0"/>
                        <a:ea typeface="Calibri" charset="0"/>
                        <a:cs typeface="Calibri" charset="0"/>
                      </a:endParaRPr>
                    </a:p>
                  </a:txBody>
                  <a:tcPr marL="91440" marR="91440" marT="45720" marB="45720" anchor="ctr">
                    <a:lnL w="9525" cap="flat" cmpd="sng" algn="ctr">
                      <a:solidFill>
                        <a:srgbClr val="DCE3DC"/>
                      </a:solidFill>
                      <a:prstDash val="solid"/>
                      <a:round/>
                      <a:headEnd type="none" w="med" len="med"/>
                      <a:tailEnd type="none" w="med" len="med"/>
                    </a:lnL>
                    <a:lnR w="9525" cap="flat" cmpd="sng" algn="ctr">
                      <a:solidFill>
                        <a:srgbClr val="DCE3DC"/>
                      </a:solidFill>
                      <a:prstDash val="solid"/>
                      <a:round/>
                      <a:headEnd type="none" w="med" len="med"/>
                      <a:tailEnd type="none" w="med" len="med"/>
                    </a:lnR>
                    <a:lnT w="9525" cap="flat" cmpd="sng" algn="ctr">
                      <a:solidFill>
                        <a:srgbClr val="DCE3DC"/>
                      </a:solidFill>
                      <a:prstDash val="solid"/>
                      <a:round/>
                      <a:headEnd type="none" w="med" len="med"/>
                      <a:tailEnd type="none" w="med" len="med"/>
                    </a:lnT>
                    <a:lnB w="9525" cap="flat" cmpd="sng" algn="ctr">
                      <a:solidFill>
                        <a:srgbClr val="DCE3DC"/>
                      </a:solidFill>
                      <a:prstDash val="solid"/>
                      <a:round/>
                      <a:headEnd type="none" w="med" len="med"/>
                      <a:tailEnd type="none" w="med" len="med"/>
                    </a:lnB>
                    <a:solidFill>
                      <a:srgbClr val="FFFFFF"/>
                    </a:solidFill>
                  </a:tcPr>
                </a:tc>
                <a:tc>
                  <a:txBody>
                    <a:bodyPr/>
                    <a:lstStyle/>
                    <a:p>
                      <a:pPr indent="0" marL="0">
                        <a:buNone/>
                      </a:pPr>
                      <a:r>
                        <a:rPr lang="en-US" sz="1300" dirty="0">
                          <a:solidFill>
                            <a:srgbClr val="1F2A26"/>
                          </a:solidFill>
                          <a:latin typeface="Calibri" pitchFamily="34" charset="0"/>
                          <a:ea typeface="Calibri" pitchFamily="34" charset="-122"/>
                          <a:cs typeface="Calibri" pitchFamily="34" charset="-120"/>
                        </a:rPr>
                        <a:t>Fabric agents act on behalf of the signed-in user, never beyond them</a:t>
                      </a:r>
                      <a:endParaRPr lang="en-US" sz="1300" dirty="0">
                        <a:latin typeface="Calibri" charset="0"/>
                        <a:ea typeface="Calibri" charset="0"/>
                        <a:cs typeface="Calibri" charset="0"/>
                      </a:endParaRPr>
                    </a:p>
                  </a:txBody>
                  <a:tcPr marL="91440" marR="91440" marT="45720" marB="45720" anchor="ctr">
                    <a:lnL w="9525" cap="flat" cmpd="sng" algn="ctr">
                      <a:solidFill>
                        <a:srgbClr val="DCE3DC"/>
                      </a:solidFill>
                      <a:prstDash val="solid"/>
                      <a:round/>
                      <a:headEnd type="none" w="med" len="med"/>
                      <a:tailEnd type="none" w="med" len="med"/>
                    </a:lnL>
                    <a:lnR w="9525" cap="flat" cmpd="sng" algn="ctr">
                      <a:solidFill>
                        <a:srgbClr val="DCE3DC"/>
                      </a:solidFill>
                      <a:prstDash val="solid"/>
                      <a:round/>
                      <a:headEnd type="none" w="med" len="med"/>
                      <a:tailEnd type="none" w="med" len="med"/>
                    </a:lnR>
                    <a:lnT w="9525" cap="flat" cmpd="sng" algn="ctr">
                      <a:solidFill>
                        <a:srgbClr val="DCE3DC"/>
                      </a:solidFill>
                      <a:prstDash val="solid"/>
                      <a:round/>
                      <a:headEnd type="none" w="med" len="med"/>
                      <a:tailEnd type="none" w="med" len="med"/>
                    </a:lnT>
                    <a:lnB w="9525" cap="flat" cmpd="sng" algn="ctr">
                      <a:solidFill>
                        <a:srgbClr val="DCE3DC"/>
                      </a:solidFill>
                      <a:prstDash val="solid"/>
                      <a:round/>
                      <a:headEnd type="none" w="med" len="med"/>
                      <a:tailEnd type="none" w="med" len="med"/>
                    </a:lnB>
                    <a:solidFill>
                      <a:srgbClr val="FFFFFF"/>
                    </a:solidFill>
                  </a:tcPr>
                </a:tc>
              </a:tr>
              <a:tr h="713232">
                <a:tc>
                  <a:txBody>
                    <a:bodyPr/>
                    <a:lstStyle/>
                    <a:p>
                      <a:pPr indent="0" marL="0">
                        <a:buNone/>
                      </a:pPr>
                      <a:r>
                        <a:rPr lang="en-US" sz="1300" b="1" dirty="0">
                          <a:solidFill>
                            <a:srgbClr val="1F2A26"/>
                          </a:solidFill>
                          <a:latin typeface="Calibri" pitchFamily="34" charset="0"/>
                          <a:ea typeface="Calibri" pitchFamily="34" charset="-122"/>
                          <a:cs typeface="Calibri" pitchFamily="34" charset="-120"/>
                        </a:rPr>
                        <a:t>Attestation and drift monitoring</a:t>
                      </a:r>
                      <a:endParaRPr lang="en-US" sz="1300" dirty="0">
                        <a:latin typeface="Calibri" charset="0"/>
                        <a:ea typeface="Calibri" charset="0"/>
                        <a:cs typeface="Calibri" charset="0"/>
                      </a:endParaRPr>
                    </a:p>
                  </a:txBody>
                  <a:tcPr marL="91440" marR="91440" marT="45720" marB="45720" anchor="ctr">
                    <a:lnL w="9525" cap="flat" cmpd="sng" algn="ctr">
                      <a:solidFill>
                        <a:srgbClr val="DCE3DC"/>
                      </a:solidFill>
                      <a:prstDash val="solid"/>
                      <a:round/>
                      <a:headEnd type="none" w="med" len="med"/>
                      <a:tailEnd type="none" w="med" len="med"/>
                    </a:lnL>
                    <a:lnR w="9525" cap="flat" cmpd="sng" algn="ctr">
                      <a:solidFill>
                        <a:srgbClr val="DCE3DC"/>
                      </a:solidFill>
                      <a:prstDash val="solid"/>
                      <a:round/>
                      <a:headEnd type="none" w="med" len="med"/>
                      <a:tailEnd type="none" w="med" len="med"/>
                    </a:lnR>
                    <a:lnT w="9525" cap="flat" cmpd="sng" algn="ctr">
                      <a:solidFill>
                        <a:srgbClr val="DCE3DC"/>
                      </a:solidFill>
                      <a:prstDash val="solid"/>
                      <a:round/>
                      <a:headEnd type="none" w="med" len="med"/>
                      <a:tailEnd type="none" w="med" len="med"/>
                    </a:lnT>
                    <a:lnB w="9525" cap="flat" cmpd="sng" algn="ctr">
                      <a:solidFill>
                        <a:srgbClr val="DCE3DC"/>
                      </a:solidFill>
                      <a:prstDash val="solid"/>
                      <a:round/>
                      <a:headEnd type="none" w="med" len="med"/>
                      <a:tailEnd type="none" w="med" len="med"/>
                    </a:lnB>
                    <a:solidFill>
                      <a:srgbClr val="FFFFFF"/>
                    </a:solidFill>
                  </a:tcPr>
                </a:tc>
                <a:tc>
                  <a:txBody>
                    <a:bodyPr/>
                    <a:lstStyle/>
                    <a:p>
                      <a:pPr indent="0" marL="0">
                        <a:buNone/>
                      </a:pPr>
                      <a:r>
                        <a:rPr lang="en-US" sz="1300" dirty="0">
                          <a:solidFill>
                            <a:srgbClr val="1F2A26"/>
                          </a:solidFill>
                          <a:latin typeface="Calibri" pitchFamily="34" charset="0"/>
                          <a:ea typeface="Calibri" pitchFamily="34" charset="-122"/>
                          <a:cs typeface="Calibri" pitchFamily="34" charset="-120"/>
                        </a:rPr>
                        <a:t>MTBH metrology and evaluation baselines</a:t>
                      </a:r>
                      <a:endParaRPr lang="en-US" sz="1300" dirty="0">
                        <a:latin typeface="Calibri" charset="0"/>
                        <a:ea typeface="Calibri" charset="0"/>
                        <a:cs typeface="Calibri" charset="0"/>
                      </a:endParaRPr>
                    </a:p>
                  </a:txBody>
                  <a:tcPr marL="91440" marR="91440" marT="45720" marB="45720" anchor="ctr">
                    <a:lnL w="9525" cap="flat" cmpd="sng" algn="ctr">
                      <a:solidFill>
                        <a:srgbClr val="DCE3DC"/>
                      </a:solidFill>
                      <a:prstDash val="solid"/>
                      <a:round/>
                      <a:headEnd type="none" w="med" len="med"/>
                      <a:tailEnd type="none" w="med" len="med"/>
                    </a:lnL>
                    <a:lnR w="9525" cap="flat" cmpd="sng" algn="ctr">
                      <a:solidFill>
                        <a:srgbClr val="DCE3DC"/>
                      </a:solidFill>
                      <a:prstDash val="solid"/>
                      <a:round/>
                      <a:headEnd type="none" w="med" len="med"/>
                      <a:tailEnd type="none" w="med" len="med"/>
                    </a:lnR>
                    <a:lnT w="9525" cap="flat" cmpd="sng" algn="ctr">
                      <a:solidFill>
                        <a:srgbClr val="DCE3DC"/>
                      </a:solidFill>
                      <a:prstDash val="solid"/>
                      <a:round/>
                      <a:headEnd type="none" w="med" len="med"/>
                      <a:tailEnd type="none" w="med" len="med"/>
                    </a:lnT>
                    <a:lnB w="9525" cap="flat" cmpd="sng" algn="ctr">
                      <a:solidFill>
                        <a:srgbClr val="DCE3DC"/>
                      </a:solidFill>
                      <a:prstDash val="solid"/>
                      <a:round/>
                      <a:headEnd type="none" w="med" len="med"/>
                      <a:tailEnd type="none" w="med" len="med"/>
                    </a:lnB>
                    <a:solidFill>
                      <a:srgbClr val="FFFFFF"/>
                    </a:solidFill>
                  </a:tcPr>
                </a:tc>
                <a:tc>
                  <a:txBody>
                    <a:bodyPr/>
                    <a:lstStyle/>
                    <a:p>
                      <a:pPr indent="0" marL="0">
                        <a:buNone/>
                      </a:pPr>
                      <a:r>
                        <a:rPr lang="en-US" sz="1300" dirty="0">
                          <a:solidFill>
                            <a:srgbClr val="1F2A26"/>
                          </a:solidFill>
                          <a:latin typeface="Calibri" pitchFamily="34" charset="0"/>
                          <a:ea typeface="Calibri" pitchFamily="34" charset="-122"/>
                          <a:cs typeface="Calibri" pitchFamily="34" charset="-120"/>
                        </a:rPr>
                        <a:t>Handoff triggers when MTBH trips</a:t>
                      </a:r>
                      <a:endParaRPr lang="en-US" sz="1300" dirty="0">
                        <a:latin typeface="Calibri" charset="0"/>
                        <a:ea typeface="Calibri" charset="0"/>
                        <a:cs typeface="Calibri" charset="0"/>
                      </a:endParaRPr>
                    </a:p>
                  </a:txBody>
                  <a:tcPr marL="91440" marR="91440" marT="45720" marB="45720" anchor="ctr">
                    <a:lnL w="9525" cap="flat" cmpd="sng" algn="ctr">
                      <a:solidFill>
                        <a:srgbClr val="DCE3DC"/>
                      </a:solidFill>
                      <a:prstDash val="solid"/>
                      <a:round/>
                      <a:headEnd type="none" w="med" len="med"/>
                      <a:tailEnd type="none" w="med" len="med"/>
                    </a:lnL>
                    <a:lnR w="9525" cap="flat" cmpd="sng" algn="ctr">
                      <a:solidFill>
                        <a:srgbClr val="DCE3DC"/>
                      </a:solidFill>
                      <a:prstDash val="solid"/>
                      <a:round/>
                      <a:headEnd type="none" w="med" len="med"/>
                      <a:tailEnd type="none" w="med" len="med"/>
                    </a:lnR>
                    <a:lnT w="9525" cap="flat" cmpd="sng" algn="ctr">
                      <a:solidFill>
                        <a:srgbClr val="DCE3DC"/>
                      </a:solidFill>
                      <a:prstDash val="solid"/>
                      <a:round/>
                      <a:headEnd type="none" w="med" len="med"/>
                      <a:tailEnd type="none" w="med" len="med"/>
                    </a:lnT>
                    <a:lnB w="9525" cap="flat" cmpd="sng" algn="ctr">
                      <a:solidFill>
                        <a:srgbClr val="DCE3DC"/>
                      </a:solidFill>
                      <a:prstDash val="solid"/>
                      <a:round/>
                      <a:headEnd type="none" w="med" len="med"/>
                      <a:tailEnd type="none" w="med" len="med"/>
                    </a:lnB>
                    <a:solidFill>
                      <a:srgbClr val="FFFFFF"/>
                    </a:solidFill>
                  </a:tcPr>
                </a:tc>
              </a:tr>
              <a:tr h="713232">
                <a:tc>
                  <a:txBody>
                    <a:bodyPr/>
                    <a:lstStyle/>
                    <a:p>
                      <a:pPr indent="0" marL="0">
                        <a:buNone/>
                      </a:pPr>
                      <a:r>
                        <a:rPr lang="en-US" sz="1300" b="1" dirty="0">
                          <a:solidFill>
                            <a:srgbClr val="1F2A26"/>
                          </a:solidFill>
                          <a:latin typeface="Calibri" pitchFamily="34" charset="0"/>
                          <a:ea typeface="Calibri" pitchFamily="34" charset="-122"/>
                          <a:cs typeface="Calibri" pitchFamily="34" charset="-120"/>
                        </a:rPr>
                        <a:t>Clearance tiers</a:t>
                      </a:r>
                      <a:endParaRPr lang="en-US" sz="1300" dirty="0">
                        <a:latin typeface="Calibri" charset="0"/>
                        <a:ea typeface="Calibri" charset="0"/>
                        <a:cs typeface="Calibri" charset="0"/>
                      </a:endParaRPr>
                    </a:p>
                  </a:txBody>
                  <a:tcPr marL="91440" marR="91440" marT="45720" marB="45720" anchor="ctr">
                    <a:lnL w="9525" cap="flat" cmpd="sng" algn="ctr">
                      <a:solidFill>
                        <a:srgbClr val="DCE3DC"/>
                      </a:solidFill>
                      <a:prstDash val="solid"/>
                      <a:round/>
                      <a:headEnd type="none" w="med" len="med"/>
                      <a:tailEnd type="none" w="med" len="med"/>
                    </a:lnL>
                    <a:lnR w="9525" cap="flat" cmpd="sng" algn="ctr">
                      <a:solidFill>
                        <a:srgbClr val="DCE3DC"/>
                      </a:solidFill>
                      <a:prstDash val="solid"/>
                      <a:round/>
                      <a:headEnd type="none" w="med" len="med"/>
                      <a:tailEnd type="none" w="med" len="med"/>
                    </a:lnR>
                    <a:lnT w="9525" cap="flat" cmpd="sng" algn="ctr">
                      <a:solidFill>
                        <a:srgbClr val="DCE3DC"/>
                      </a:solidFill>
                      <a:prstDash val="solid"/>
                      <a:round/>
                      <a:headEnd type="none" w="med" len="med"/>
                      <a:tailEnd type="none" w="med" len="med"/>
                    </a:lnT>
                    <a:lnB w="9525" cap="flat" cmpd="sng" algn="ctr">
                      <a:solidFill>
                        <a:srgbClr val="DCE3DC"/>
                      </a:solidFill>
                      <a:prstDash val="solid"/>
                      <a:round/>
                      <a:headEnd type="none" w="med" len="med"/>
                      <a:tailEnd type="none" w="med" len="med"/>
                    </a:lnB>
                    <a:solidFill>
                      <a:srgbClr val="FFFFFF"/>
                    </a:solidFill>
                  </a:tcPr>
                </a:tc>
                <a:tc>
                  <a:txBody>
                    <a:bodyPr/>
                    <a:lstStyle/>
                    <a:p>
                      <a:pPr indent="0" marL="0">
                        <a:buNone/>
                      </a:pPr>
                      <a:r>
                        <a:rPr lang="en-US" sz="1300" dirty="0">
                          <a:solidFill>
                            <a:srgbClr val="1F2A26"/>
                          </a:solidFill>
                          <a:latin typeface="Calibri" pitchFamily="34" charset="0"/>
                          <a:ea typeface="Calibri" pitchFamily="34" charset="-122"/>
                          <a:cs typeface="Calibri" pitchFamily="34" charset="-120"/>
                        </a:rPr>
                        <a:t>DomainToOperations rule: a process takes the highest level of the data it reads</a:t>
                      </a:r>
                      <a:endParaRPr lang="en-US" sz="1300" dirty="0">
                        <a:latin typeface="Calibri" charset="0"/>
                        <a:ea typeface="Calibri" charset="0"/>
                        <a:cs typeface="Calibri" charset="0"/>
                      </a:endParaRPr>
                    </a:p>
                  </a:txBody>
                  <a:tcPr marL="91440" marR="91440" marT="45720" marB="45720" anchor="ctr">
                    <a:lnL w="9525" cap="flat" cmpd="sng" algn="ctr">
                      <a:solidFill>
                        <a:srgbClr val="DCE3DC"/>
                      </a:solidFill>
                      <a:prstDash val="solid"/>
                      <a:round/>
                      <a:headEnd type="none" w="med" len="med"/>
                      <a:tailEnd type="none" w="med" len="med"/>
                    </a:lnL>
                    <a:lnR w="9525" cap="flat" cmpd="sng" algn="ctr">
                      <a:solidFill>
                        <a:srgbClr val="DCE3DC"/>
                      </a:solidFill>
                      <a:prstDash val="solid"/>
                      <a:round/>
                      <a:headEnd type="none" w="med" len="med"/>
                      <a:tailEnd type="none" w="med" len="med"/>
                    </a:lnR>
                    <a:lnT w="9525" cap="flat" cmpd="sng" algn="ctr">
                      <a:solidFill>
                        <a:srgbClr val="DCE3DC"/>
                      </a:solidFill>
                      <a:prstDash val="solid"/>
                      <a:round/>
                      <a:headEnd type="none" w="med" len="med"/>
                      <a:tailEnd type="none" w="med" len="med"/>
                    </a:lnT>
                    <a:lnB w="9525" cap="flat" cmpd="sng" algn="ctr">
                      <a:solidFill>
                        <a:srgbClr val="DCE3DC"/>
                      </a:solidFill>
                      <a:prstDash val="solid"/>
                      <a:round/>
                      <a:headEnd type="none" w="med" len="med"/>
                      <a:tailEnd type="none" w="med" len="med"/>
                    </a:lnB>
                    <a:solidFill>
                      <a:srgbClr val="FFFFFF"/>
                    </a:solidFill>
                  </a:tcPr>
                </a:tc>
                <a:tc>
                  <a:txBody>
                    <a:bodyPr/>
                    <a:lstStyle/>
                    <a:p>
                      <a:pPr indent="0" marL="0">
                        <a:buNone/>
                      </a:pPr>
                      <a:r>
                        <a:rPr lang="en-US" sz="1300" dirty="0">
                          <a:solidFill>
                            <a:srgbClr val="1F2A26"/>
                          </a:solidFill>
                          <a:latin typeface="Calibri" pitchFamily="34" charset="0"/>
                          <a:ea typeface="Calibri" pitchFamily="34" charset="-122"/>
                          <a:cs typeface="Calibri" pitchFamily="34" charset="-120"/>
                        </a:rPr>
                        <a:t>Each agent's tools declare their data scope</a:t>
                      </a:r>
                      <a:endParaRPr lang="en-US" sz="1300" dirty="0">
                        <a:latin typeface="Calibri" charset="0"/>
                        <a:ea typeface="Calibri" charset="0"/>
                        <a:cs typeface="Calibri" charset="0"/>
                      </a:endParaRPr>
                    </a:p>
                  </a:txBody>
                  <a:tcPr marL="91440" marR="91440" marT="45720" marB="45720" anchor="ctr">
                    <a:lnL w="9525" cap="flat" cmpd="sng" algn="ctr">
                      <a:solidFill>
                        <a:srgbClr val="DCE3DC"/>
                      </a:solidFill>
                      <a:prstDash val="solid"/>
                      <a:round/>
                      <a:headEnd type="none" w="med" len="med"/>
                      <a:tailEnd type="none" w="med" len="med"/>
                    </a:lnL>
                    <a:lnR w="9525" cap="flat" cmpd="sng" algn="ctr">
                      <a:solidFill>
                        <a:srgbClr val="DCE3DC"/>
                      </a:solidFill>
                      <a:prstDash val="solid"/>
                      <a:round/>
                      <a:headEnd type="none" w="med" len="med"/>
                      <a:tailEnd type="none" w="med" len="med"/>
                    </a:lnR>
                    <a:lnT w="9525" cap="flat" cmpd="sng" algn="ctr">
                      <a:solidFill>
                        <a:srgbClr val="DCE3DC"/>
                      </a:solidFill>
                      <a:prstDash val="solid"/>
                      <a:round/>
                      <a:headEnd type="none" w="med" len="med"/>
                      <a:tailEnd type="none" w="med" len="med"/>
                    </a:lnT>
                    <a:lnB w="9525" cap="flat" cmpd="sng" algn="ctr">
                      <a:solidFill>
                        <a:srgbClr val="DCE3DC"/>
                      </a:solidFill>
                      <a:prstDash val="solid"/>
                      <a:round/>
                      <a:headEnd type="none" w="med" len="med"/>
                      <a:tailEnd type="none" w="med" len="med"/>
                    </a:lnB>
                    <a:solidFill>
                      <a:srgbClr val="FFFFFF"/>
                    </a:solidFill>
                  </a:tcPr>
                </a:tc>
              </a:tr>
              <a:tr h="713232">
                <a:tc>
                  <a:txBody>
                    <a:bodyPr/>
                    <a:lstStyle/>
                    <a:p>
                      <a:pPr indent="0" marL="0">
                        <a:buNone/>
                      </a:pPr>
                      <a:r>
                        <a:rPr lang="en-US" sz="1300" b="1" dirty="0">
                          <a:solidFill>
                            <a:srgbClr val="1F2A26"/>
                          </a:solidFill>
                          <a:latin typeface="Calibri" pitchFamily="34" charset="0"/>
                          <a:ea typeface="Calibri" pitchFamily="34" charset="-122"/>
                          <a:cs typeface="Calibri" pitchFamily="34" charset="-120"/>
                        </a:rPr>
                        <a:t>Policy gateway and circuit breaker</a:t>
                      </a:r>
                      <a:endParaRPr lang="en-US" sz="1300" dirty="0">
                        <a:latin typeface="Calibri" charset="0"/>
                        <a:ea typeface="Calibri" charset="0"/>
                        <a:cs typeface="Calibri" charset="0"/>
                      </a:endParaRPr>
                    </a:p>
                  </a:txBody>
                  <a:tcPr marL="91440" marR="91440" marT="45720" marB="45720" anchor="ctr">
                    <a:lnL w="9525" cap="flat" cmpd="sng" algn="ctr">
                      <a:solidFill>
                        <a:srgbClr val="DCE3DC"/>
                      </a:solidFill>
                      <a:prstDash val="solid"/>
                      <a:round/>
                      <a:headEnd type="none" w="med" len="med"/>
                      <a:tailEnd type="none" w="med" len="med"/>
                    </a:lnL>
                    <a:lnR w="9525" cap="flat" cmpd="sng" algn="ctr">
                      <a:solidFill>
                        <a:srgbClr val="DCE3DC"/>
                      </a:solidFill>
                      <a:prstDash val="solid"/>
                      <a:round/>
                      <a:headEnd type="none" w="med" len="med"/>
                      <a:tailEnd type="none" w="med" len="med"/>
                    </a:lnR>
                    <a:lnT w="9525" cap="flat" cmpd="sng" algn="ctr">
                      <a:solidFill>
                        <a:srgbClr val="DCE3DC"/>
                      </a:solidFill>
                      <a:prstDash val="solid"/>
                      <a:round/>
                      <a:headEnd type="none" w="med" len="med"/>
                      <a:tailEnd type="none" w="med" len="med"/>
                    </a:lnT>
                    <a:lnB w="9525" cap="flat" cmpd="sng" algn="ctr">
                      <a:solidFill>
                        <a:srgbClr val="DCE3DC"/>
                      </a:solidFill>
                      <a:prstDash val="solid"/>
                      <a:round/>
                      <a:headEnd type="none" w="med" len="med"/>
                      <a:tailEnd type="none" w="med" len="med"/>
                    </a:lnB>
                    <a:solidFill>
                      <a:srgbClr val="FFFFFF"/>
                    </a:solidFill>
                  </a:tcPr>
                </a:tc>
                <a:tc>
                  <a:txBody>
                    <a:bodyPr/>
                    <a:lstStyle/>
                    <a:p>
                      <a:pPr indent="0" marL="0">
                        <a:buNone/>
                      </a:pPr>
                      <a:r>
                        <a:rPr lang="en-US" sz="1300" dirty="0">
                          <a:solidFill>
                            <a:srgbClr val="1F2A26"/>
                          </a:solidFill>
                          <a:latin typeface="Calibri" pitchFamily="34" charset="0"/>
                          <a:ea typeface="Calibri" pitchFamily="34" charset="-122"/>
                          <a:cs typeface="Calibri" pitchFamily="34" charset="-120"/>
                        </a:rPr>
                        <a:t>SHACL gates and LKIF norms compiled to OPA at the PEP</a:t>
                      </a:r>
                      <a:endParaRPr lang="en-US" sz="1300" dirty="0">
                        <a:latin typeface="Calibri" charset="0"/>
                        <a:ea typeface="Calibri" charset="0"/>
                        <a:cs typeface="Calibri" charset="0"/>
                      </a:endParaRPr>
                    </a:p>
                  </a:txBody>
                  <a:tcPr marL="91440" marR="91440" marT="45720" marB="45720" anchor="ctr">
                    <a:lnL w="9525" cap="flat" cmpd="sng" algn="ctr">
                      <a:solidFill>
                        <a:srgbClr val="DCE3DC"/>
                      </a:solidFill>
                      <a:prstDash val="solid"/>
                      <a:round/>
                      <a:headEnd type="none" w="med" len="med"/>
                      <a:tailEnd type="none" w="med" len="med"/>
                    </a:lnL>
                    <a:lnR w="9525" cap="flat" cmpd="sng" algn="ctr">
                      <a:solidFill>
                        <a:srgbClr val="DCE3DC"/>
                      </a:solidFill>
                      <a:prstDash val="solid"/>
                      <a:round/>
                      <a:headEnd type="none" w="med" len="med"/>
                      <a:tailEnd type="none" w="med" len="med"/>
                    </a:lnR>
                    <a:lnT w="9525" cap="flat" cmpd="sng" algn="ctr">
                      <a:solidFill>
                        <a:srgbClr val="DCE3DC"/>
                      </a:solidFill>
                      <a:prstDash val="solid"/>
                      <a:round/>
                      <a:headEnd type="none" w="med" len="med"/>
                      <a:tailEnd type="none" w="med" len="med"/>
                    </a:lnT>
                    <a:lnB w="9525" cap="flat" cmpd="sng" algn="ctr">
                      <a:solidFill>
                        <a:srgbClr val="DCE3DC"/>
                      </a:solidFill>
                      <a:prstDash val="solid"/>
                      <a:round/>
                      <a:headEnd type="none" w="med" len="med"/>
                      <a:tailEnd type="none" w="med" len="med"/>
                    </a:lnB>
                    <a:solidFill>
                      <a:srgbClr val="FFFFFF"/>
                    </a:solidFill>
                  </a:tcPr>
                </a:tc>
                <a:tc>
                  <a:txBody>
                    <a:bodyPr/>
                    <a:lstStyle/>
                    <a:p>
                      <a:pPr indent="0" marL="0">
                        <a:buNone/>
                      </a:pPr>
                      <a:r>
                        <a:rPr lang="en-US" sz="1300" dirty="0">
                          <a:solidFill>
                            <a:srgbClr val="1F2A26"/>
                          </a:solidFill>
                          <a:latin typeface="Calibri" pitchFamily="34" charset="0"/>
                          <a:ea typeface="Calibri" pitchFamily="34" charset="-122"/>
                          <a:cs typeface="Calibri" pitchFamily="34" charset="-120"/>
                        </a:rPr>
                        <a:t>No side doors: agent-to-agent calls pass the gateway</a:t>
                      </a:r>
                      <a:endParaRPr lang="en-US" sz="1300" dirty="0">
                        <a:latin typeface="Calibri" charset="0"/>
                        <a:ea typeface="Calibri" charset="0"/>
                        <a:cs typeface="Calibri" charset="0"/>
                      </a:endParaRPr>
                    </a:p>
                  </a:txBody>
                  <a:tcPr marL="91440" marR="91440" marT="45720" marB="45720" anchor="ctr">
                    <a:lnL w="9525" cap="flat" cmpd="sng" algn="ctr">
                      <a:solidFill>
                        <a:srgbClr val="DCE3DC"/>
                      </a:solidFill>
                      <a:prstDash val="solid"/>
                      <a:round/>
                      <a:headEnd type="none" w="med" len="med"/>
                      <a:tailEnd type="none" w="med" len="med"/>
                    </a:lnL>
                    <a:lnR w="9525" cap="flat" cmpd="sng" algn="ctr">
                      <a:solidFill>
                        <a:srgbClr val="DCE3DC"/>
                      </a:solidFill>
                      <a:prstDash val="solid"/>
                      <a:round/>
                      <a:headEnd type="none" w="med" len="med"/>
                      <a:tailEnd type="none" w="med" len="med"/>
                    </a:lnR>
                    <a:lnT w="9525" cap="flat" cmpd="sng" algn="ctr">
                      <a:solidFill>
                        <a:srgbClr val="DCE3DC"/>
                      </a:solidFill>
                      <a:prstDash val="solid"/>
                      <a:round/>
                      <a:headEnd type="none" w="med" len="med"/>
                      <a:tailEnd type="none" w="med" len="med"/>
                    </a:lnT>
                    <a:lnB w="9525" cap="flat" cmpd="sng" algn="ctr">
                      <a:solidFill>
                        <a:srgbClr val="DCE3DC"/>
                      </a:solidFill>
                      <a:prstDash val="solid"/>
                      <a:round/>
                      <a:headEnd type="none" w="med" len="med"/>
                      <a:tailEnd type="none" w="med" len="med"/>
                    </a:lnB>
                    <a:solidFill>
                      <a:srgbClr val="FFFFFF"/>
                    </a:solidFill>
                  </a:tcPr>
                </a:tc>
              </a:tr>
              <a:tr h="713232">
                <a:tc>
                  <a:txBody>
                    <a:bodyPr/>
                    <a:lstStyle/>
                    <a:p>
                      <a:pPr indent="0" marL="0">
                        <a:buNone/>
                      </a:pPr>
                      <a:r>
                        <a:rPr lang="en-US" sz="1300" b="1" dirty="0">
                          <a:solidFill>
                            <a:srgbClr val="1F2A26"/>
                          </a:solidFill>
                          <a:latin typeface="Calibri" pitchFamily="34" charset="0"/>
                          <a:ea typeface="Calibri" pitchFamily="34" charset="-122"/>
                          <a:cs typeface="Calibri" pitchFamily="34" charset="-120"/>
                        </a:rPr>
                        <a:t>Audit evidence and isolation</a:t>
                      </a:r>
                      <a:endParaRPr lang="en-US" sz="1300" dirty="0">
                        <a:latin typeface="Calibri" charset="0"/>
                        <a:ea typeface="Calibri" charset="0"/>
                        <a:cs typeface="Calibri" charset="0"/>
                      </a:endParaRPr>
                    </a:p>
                  </a:txBody>
                  <a:tcPr marL="91440" marR="91440" marT="45720" marB="45720" anchor="ctr">
                    <a:lnL w="9525" cap="flat" cmpd="sng" algn="ctr">
                      <a:solidFill>
                        <a:srgbClr val="DCE3DC"/>
                      </a:solidFill>
                      <a:prstDash val="solid"/>
                      <a:round/>
                      <a:headEnd type="none" w="med" len="med"/>
                      <a:tailEnd type="none" w="med" len="med"/>
                    </a:lnL>
                    <a:lnR w="9525" cap="flat" cmpd="sng" algn="ctr">
                      <a:solidFill>
                        <a:srgbClr val="DCE3DC"/>
                      </a:solidFill>
                      <a:prstDash val="solid"/>
                      <a:round/>
                      <a:headEnd type="none" w="med" len="med"/>
                      <a:tailEnd type="none" w="med" len="med"/>
                    </a:lnR>
                    <a:lnT w="9525" cap="flat" cmpd="sng" algn="ctr">
                      <a:solidFill>
                        <a:srgbClr val="DCE3DC"/>
                      </a:solidFill>
                      <a:prstDash val="solid"/>
                      <a:round/>
                      <a:headEnd type="none" w="med" len="med"/>
                      <a:tailEnd type="none" w="med" len="med"/>
                    </a:lnT>
                    <a:lnB w="9525" cap="flat" cmpd="sng" algn="ctr">
                      <a:solidFill>
                        <a:srgbClr val="DCE3DC"/>
                      </a:solidFill>
                      <a:prstDash val="solid"/>
                      <a:round/>
                      <a:headEnd type="none" w="med" len="med"/>
                      <a:tailEnd type="none" w="med" len="med"/>
                    </a:lnB>
                    <a:solidFill>
                      <a:srgbClr val="FFFFFF"/>
                    </a:solidFill>
                  </a:tcPr>
                </a:tc>
                <a:tc>
                  <a:txBody>
                    <a:bodyPr/>
                    <a:lstStyle/>
                    <a:p>
                      <a:pPr indent="0" marL="0">
                        <a:buNone/>
                      </a:pPr>
                      <a:r>
                        <a:rPr lang="en-US" sz="1300" dirty="0">
                          <a:solidFill>
                            <a:srgbClr val="1F2A26"/>
                          </a:solidFill>
                          <a:latin typeface="Calibri" pitchFamily="34" charset="0"/>
                          <a:ea typeface="Calibri" pitchFamily="34" charset="-122"/>
                          <a:cs typeface="Calibri" pitchFamily="34" charset="-120"/>
                        </a:rPr>
                        <a:t>PROV-O lineage on outputs; tenancy facet and tenant gate</a:t>
                      </a:r>
                      <a:endParaRPr lang="en-US" sz="1300" dirty="0">
                        <a:latin typeface="Calibri" charset="0"/>
                        <a:ea typeface="Calibri" charset="0"/>
                        <a:cs typeface="Calibri" charset="0"/>
                      </a:endParaRPr>
                    </a:p>
                  </a:txBody>
                  <a:tcPr marL="91440" marR="91440" marT="45720" marB="45720" anchor="ctr">
                    <a:lnL w="9525" cap="flat" cmpd="sng" algn="ctr">
                      <a:solidFill>
                        <a:srgbClr val="DCE3DC"/>
                      </a:solidFill>
                      <a:prstDash val="solid"/>
                      <a:round/>
                      <a:headEnd type="none" w="med" len="med"/>
                      <a:tailEnd type="none" w="med" len="med"/>
                    </a:lnL>
                    <a:lnR w="9525" cap="flat" cmpd="sng" algn="ctr">
                      <a:solidFill>
                        <a:srgbClr val="DCE3DC"/>
                      </a:solidFill>
                      <a:prstDash val="solid"/>
                      <a:round/>
                      <a:headEnd type="none" w="med" len="med"/>
                      <a:tailEnd type="none" w="med" len="med"/>
                    </a:lnR>
                    <a:lnT w="9525" cap="flat" cmpd="sng" algn="ctr">
                      <a:solidFill>
                        <a:srgbClr val="DCE3DC"/>
                      </a:solidFill>
                      <a:prstDash val="solid"/>
                      <a:round/>
                      <a:headEnd type="none" w="med" len="med"/>
                      <a:tailEnd type="none" w="med" len="med"/>
                    </a:lnT>
                    <a:lnB w="9525" cap="flat" cmpd="sng" algn="ctr">
                      <a:solidFill>
                        <a:srgbClr val="DCE3DC"/>
                      </a:solidFill>
                      <a:prstDash val="solid"/>
                      <a:round/>
                      <a:headEnd type="none" w="med" len="med"/>
                      <a:tailEnd type="none" w="med" len="med"/>
                    </a:lnB>
                    <a:solidFill>
                      <a:srgbClr val="FFFFFF"/>
                    </a:solidFill>
                  </a:tcPr>
                </a:tc>
                <a:tc>
                  <a:txBody>
                    <a:bodyPr/>
                    <a:lstStyle/>
                    <a:p>
                      <a:pPr indent="0" marL="0">
                        <a:buNone/>
                      </a:pPr>
                      <a:r>
                        <a:rPr lang="en-US" sz="1300" dirty="0">
                          <a:solidFill>
                            <a:srgbClr val="1F2A26"/>
                          </a:solidFill>
                          <a:latin typeface="Calibri" pitchFamily="34" charset="0"/>
                          <a:ea typeface="Calibri" pitchFamily="34" charset="-122"/>
                          <a:cs typeface="Calibri" pitchFamily="34" charset="-120"/>
                        </a:rPr>
                        <a:t>Composer releases only what the gateway has cleared</a:t>
                      </a:r>
                      <a:endParaRPr lang="en-US" sz="1300" dirty="0">
                        <a:latin typeface="Calibri" charset="0"/>
                        <a:ea typeface="Calibri" charset="0"/>
                        <a:cs typeface="Calibri" charset="0"/>
                      </a:endParaRPr>
                    </a:p>
                  </a:txBody>
                  <a:tcPr marL="91440" marR="91440" marT="45720" marB="45720" anchor="ctr">
                    <a:lnL w="9525" cap="flat" cmpd="sng" algn="ctr">
                      <a:solidFill>
                        <a:srgbClr val="DCE3DC"/>
                      </a:solidFill>
                      <a:prstDash val="solid"/>
                      <a:round/>
                      <a:headEnd type="none" w="med" len="med"/>
                      <a:tailEnd type="none" w="med" len="med"/>
                    </a:lnL>
                    <a:lnR w="9525" cap="flat" cmpd="sng" algn="ctr">
                      <a:solidFill>
                        <a:srgbClr val="DCE3DC"/>
                      </a:solidFill>
                      <a:prstDash val="solid"/>
                      <a:round/>
                      <a:headEnd type="none" w="med" len="med"/>
                      <a:tailEnd type="none" w="med" len="med"/>
                    </a:lnR>
                    <a:lnT w="9525" cap="flat" cmpd="sng" algn="ctr">
                      <a:solidFill>
                        <a:srgbClr val="DCE3DC"/>
                      </a:solidFill>
                      <a:prstDash val="solid"/>
                      <a:round/>
                      <a:headEnd type="none" w="med" len="med"/>
                      <a:tailEnd type="none" w="med" len="med"/>
                    </a:lnT>
                    <a:lnB w="9525" cap="flat" cmpd="sng" algn="ctr">
                      <a:solidFill>
                        <a:srgbClr val="DCE3DC"/>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989320"/>
            <a:ext cx="11064240" cy="320040"/>
          </a:xfrm>
          <a:prstGeom prst="rect">
            <a:avLst/>
          </a:prstGeom>
          <a:noFill/>
          <a:ln/>
        </p:spPr>
        <p:txBody>
          <a:bodyPr wrap="square" lIns="0" tIns="0" rIns="0" bIns="0" rtlCol="0" anchor="t"/>
          <a:lstStyle/>
          <a:p>
            <a:pPr indent="0" marL="0">
              <a:buNone/>
            </a:pPr>
            <a:r>
              <a:rPr lang="en-US" sz="1100" i="1" dirty="0">
                <a:solidFill>
                  <a:schemeClr val="accent4"/>
                </a:solidFill>
              </a:rPr>
              <a:t>Built first to govern Insperity's own advisors, then sold to clients: the same controls become the AEO's attestation product.</a:t>
            </a:r>
            <a:endParaRPr lang="en-US" sz="11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3600" b="1" dirty="0">
                <a:solidFill>
                  <a:schemeClr val="tx2"/>
                </a:solidFill>
                <a:latin typeface="Cambria" pitchFamily="34" charset="0"/>
                <a:ea typeface="Cambria" pitchFamily="34" charset="-122"/>
                <a:cs typeface="Cambria" pitchFamily="34" charset="-120"/>
              </a:rPr>
              <a:t>What the platform must add, in order</a:t>
            </a:r>
            <a:endParaRPr lang="en-US" sz="3600" dirty="0"/>
          </a:p>
        </p:txBody>
      </p:sp>
      <p:sp>
        <p:nvSpPr>
          <p:cNvPr id="3" name="Operationalize stage"/>
          <p:cNvSpPr/>
          <p:nvPr/>
        </p:nvSpPr>
        <p:spPr>
          <a:xfrm>
            <a:off x="548640" y="1463040"/>
            <a:ext cx="3474720" cy="4206240"/>
          </a:xfrm>
          <a:prstGeom prst="roundRect">
            <a:avLst>
              <a:gd name="adj" fmla="val 3158"/>
            </a:avLst>
          </a:prstGeom>
          <a:solidFill>
            <a:schemeClr val="bg2"/>
          </a:solidFill>
          <a:ln/>
        </p:spPr>
      </p:sp>
      <p:sp>
        <p:nvSpPr>
          <p:cNvPr id="4" name="Text 2"/>
          <p:cNvSpPr txBox="1"/>
          <p:nvPr/>
        </p:nvSpPr>
        <p:spPr>
          <a:xfrm>
            <a:off x="822960" y="1691640"/>
            <a:ext cx="2926080" cy="45720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Operationalize</a:t>
            </a:r>
            <a:endParaRPr lang="en-US" sz="2200" dirty="0"/>
          </a:p>
        </p:txBody>
      </p:sp>
      <p:sp>
        <p:nvSpPr>
          <p:cNvPr id="5" name="Text 3"/>
          <p:cNvSpPr txBox="1"/>
          <p:nvPr/>
        </p:nvSpPr>
        <p:spPr>
          <a:xfrm>
            <a:off x="822960" y="2148840"/>
            <a:ext cx="2926080" cy="274320"/>
          </a:xfrm>
          <a:prstGeom prst="rect">
            <a:avLst/>
          </a:prstGeom>
          <a:noFill/>
          <a:ln/>
        </p:spPr>
        <p:txBody>
          <a:bodyPr wrap="square" lIns="0" tIns="0" rIns="0" bIns="0" rtlCol="0" anchor="t"/>
          <a:lstStyle/>
          <a:p>
            <a:pPr indent="0" marL="0">
              <a:buNone/>
            </a:pPr>
            <a:r>
              <a:rPr lang="en-US" sz="1300" b="1" dirty="0">
                <a:solidFill>
                  <a:schemeClr val="accent4"/>
                </a:solidFill>
              </a:rPr>
              <a:t>With the pilot</a:t>
            </a:r>
            <a:endParaRPr lang="en-US" sz="1300" dirty="0"/>
          </a:p>
        </p:txBody>
      </p:sp>
      <p:sp>
        <p:nvSpPr>
          <p:cNvPr id="6" name="Text 4"/>
          <p:cNvSpPr txBox="1"/>
          <p:nvPr/>
        </p:nvSpPr>
        <p:spPr>
          <a:xfrm>
            <a:off x="822960" y="2606040"/>
            <a:ext cx="2971800" cy="283464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Persona, job and outcome module</a:t>
            </a:r>
            <a:endParaRPr lang="en-US" sz="1500" dirty="0"/>
          </a:p>
          <a:p>
            <a:pPr marL="342900" indent="-342900">
              <a:spcAft>
                <a:spcPts val="1000"/>
              </a:spcAft>
              <a:buSzPct val="100000"/>
              <a:buChar char="•"/>
            </a:pPr>
            <a:r>
              <a:rPr lang="en-US" sz="1500" dirty="0">
                <a:solidFill>
                  <a:schemeClr val="tx1"/>
                </a:solidFill>
              </a:rPr>
              <a:t>Wellbeing metrics as governed definitions</a:t>
            </a:r>
            <a:endParaRPr lang="en-US" sz="1500" dirty="0"/>
          </a:p>
          <a:p>
            <a:pPr marL="342900" indent="-342900">
              <a:spcAft>
                <a:spcPts val="1000"/>
              </a:spcAft>
              <a:buSzPct val="100000"/>
              <a:buChar char="•"/>
            </a:pPr>
            <a:r>
              <a:rPr lang="en-US" sz="1500" dirty="0">
                <a:solidFill>
                  <a:schemeClr val="tx1"/>
                </a:solidFill>
              </a:rPr>
              <a:t>Agent domain: agent, clearance, attestation</a:t>
            </a:r>
            <a:endParaRPr lang="en-US" sz="1500" dirty="0"/>
          </a:p>
          <a:p>
            <a:pPr marL="342900" indent="-342900">
              <a:spcAft>
                <a:spcPts val="1000"/>
              </a:spcAft>
              <a:buSzPct val="100000"/>
              <a:buChar char="•"/>
            </a:pPr>
            <a:r>
              <a:rPr lang="en-US" sz="1500" dirty="0">
                <a:solidFill>
                  <a:schemeClr val="tx1"/>
                </a:solidFill>
              </a:rPr>
              <a:t>Classify existing Box and Fabric content</a:t>
            </a:r>
            <a:endParaRPr lang="en-US" sz="1500" dirty="0"/>
          </a:p>
        </p:txBody>
      </p:sp>
      <p:sp>
        <p:nvSpPr>
          <p:cNvPr id="7" name="step arrow 0"/>
          <p:cNvSpPr/>
          <p:nvPr/>
        </p:nvSpPr>
        <p:spPr>
          <a:xfrm>
            <a:off x="4078224" y="3383280"/>
            <a:ext cx="164592" cy="365760"/>
          </a:xfrm>
          <a:prstGeom prst="chevron">
            <a:avLst/>
          </a:prstGeom>
          <a:solidFill>
            <a:srgbClr val="A9C4A6"/>
          </a:solidFill>
          <a:ln/>
        </p:spPr>
      </p:sp>
      <p:sp>
        <p:nvSpPr>
          <p:cNvPr id="8" name="Industrialize stage"/>
          <p:cNvSpPr/>
          <p:nvPr/>
        </p:nvSpPr>
        <p:spPr>
          <a:xfrm>
            <a:off x="4297680" y="1463040"/>
            <a:ext cx="3474720" cy="4206240"/>
          </a:xfrm>
          <a:prstGeom prst="roundRect">
            <a:avLst>
              <a:gd name="adj" fmla="val 3158"/>
            </a:avLst>
          </a:prstGeom>
          <a:solidFill>
            <a:schemeClr val="bg2"/>
          </a:solidFill>
          <a:ln/>
        </p:spPr>
      </p:sp>
      <p:sp>
        <p:nvSpPr>
          <p:cNvPr id="9" name="Text 7"/>
          <p:cNvSpPr txBox="1"/>
          <p:nvPr/>
        </p:nvSpPr>
        <p:spPr>
          <a:xfrm>
            <a:off x="4572000" y="1691640"/>
            <a:ext cx="2926080" cy="45720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Industrialize</a:t>
            </a:r>
            <a:endParaRPr lang="en-US" sz="2200" dirty="0"/>
          </a:p>
        </p:txBody>
      </p:sp>
      <p:sp>
        <p:nvSpPr>
          <p:cNvPr id="10" name="Text 8"/>
          <p:cNvSpPr txBox="1"/>
          <p:nvPr/>
        </p:nvSpPr>
        <p:spPr>
          <a:xfrm>
            <a:off x="4572000" y="2148840"/>
            <a:ext cx="2926080" cy="274320"/>
          </a:xfrm>
          <a:prstGeom prst="rect">
            <a:avLst/>
          </a:prstGeom>
          <a:noFill/>
          <a:ln/>
        </p:spPr>
        <p:txBody>
          <a:bodyPr wrap="square" lIns="0" tIns="0" rIns="0" bIns="0" rtlCol="0" anchor="t"/>
          <a:lstStyle/>
          <a:p>
            <a:pPr indent="0" marL="0">
              <a:buNone/>
            </a:pPr>
            <a:r>
              <a:rPr lang="en-US" sz="1300" b="1" dirty="0">
                <a:solidFill>
                  <a:schemeClr val="accent4"/>
                </a:solidFill>
              </a:rPr>
              <a:t>Before Gate C</a:t>
            </a:r>
            <a:endParaRPr lang="en-US" sz="1300" dirty="0"/>
          </a:p>
        </p:txBody>
      </p:sp>
      <p:sp>
        <p:nvSpPr>
          <p:cNvPr id="11" name="Text 9"/>
          <p:cNvSpPr txBox="1"/>
          <p:nvPr/>
        </p:nvSpPr>
        <p:spPr>
          <a:xfrm>
            <a:off x="4572000" y="2606040"/>
            <a:ext cx="2971800" cy="283464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Machine identity service for agents</a:t>
            </a:r>
            <a:endParaRPr lang="en-US" sz="1500" dirty="0"/>
          </a:p>
          <a:p>
            <a:pPr marL="342900" indent="-342900">
              <a:spcAft>
                <a:spcPts val="1000"/>
              </a:spcAft>
              <a:buSzPct val="100000"/>
              <a:buChar char="•"/>
            </a:pPr>
            <a:r>
              <a:rPr lang="en-US" sz="1500" dirty="0">
                <a:solidFill>
                  <a:schemeClr val="tx1"/>
                </a:solidFill>
              </a:rPr>
              <a:t>Provenance store for outputs</a:t>
            </a:r>
            <a:endParaRPr lang="en-US" sz="1500" dirty="0"/>
          </a:p>
          <a:p>
            <a:pPr marL="342900" indent="-342900">
              <a:spcAft>
                <a:spcPts val="1000"/>
              </a:spcAft>
              <a:buSzPct val="100000"/>
              <a:buChar char="•"/>
            </a:pPr>
            <a:r>
              <a:rPr lang="en-US" sz="1500" dirty="0">
                <a:solidFill>
                  <a:schemeClr val="tx1"/>
                </a:solidFill>
              </a:rPr>
              <a:t>Disclosure red-team evaluation set</a:t>
            </a:r>
            <a:endParaRPr lang="en-US" sz="1500" dirty="0"/>
          </a:p>
          <a:p>
            <a:pPr marL="342900" indent="-342900">
              <a:spcAft>
                <a:spcPts val="1000"/>
              </a:spcAft>
              <a:buSzPct val="100000"/>
              <a:buChar char="•"/>
            </a:pPr>
            <a:r>
              <a:rPr lang="en-US" sz="1500" dirty="0">
                <a:solidFill>
                  <a:schemeClr val="tx1"/>
                </a:solidFill>
              </a:rPr>
              <a:t>KGCL release pipeline, dev to prod</a:t>
            </a:r>
            <a:endParaRPr lang="en-US" sz="1500" dirty="0"/>
          </a:p>
        </p:txBody>
      </p:sp>
      <p:sp>
        <p:nvSpPr>
          <p:cNvPr id="12" name="step arrow 1"/>
          <p:cNvSpPr/>
          <p:nvPr/>
        </p:nvSpPr>
        <p:spPr>
          <a:xfrm>
            <a:off x="7827264" y="3383280"/>
            <a:ext cx="164592" cy="365760"/>
          </a:xfrm>
          <a:prstGeom prst="chevron">
            <a:avLst/>
          </a:prstGeom>
          <a:solidFill>
            <a:srgbClr val="A9C4A6"/>
          </a:solidFill>
          <a:ln/>
        </p:spPr>
      </p:sp>
      <p:sp>
        <p:nvSpPr>
          <p:cNvPr id="13" name="Scale stage"/>
          <p:cNvSpPr/>
          <p:nvPr/>
        </p:nvSpPr>
        <p:spPr>
          <a:xfrm>
            <a:off x="8046720" y="1463040"/>
            <a:ext cx="3474720" cy="4206240"/>
          </a:xfrm>
          <a:prstGeom prst="roundRect">
            <a:avLst>
              <a:gd name="adj" fmla="val 3158"/>
            </a:avLst>
          </a:prstGeom>
          <a:solidFill>
            <a:schemeClr val="tx2"/>
          </a:solidFill>
          <a:ln/>
        </p:spPr>
      </p:sp>
      <p:sp>
        <p:nvSpPr>
          <p:cNvPr id="14" name="Text 12"/>
          <p:cNvSpPr txBox="1"/>
          <p:nvPr/>
        </p:nvSpPr>
        <p:spPr>
          <a:xfrm>
            <a:off x="8321040" y="1691640"/>
            <a:ext cx="2926080" cy="457200"/>
          </a:xfrm>
          <a:prstGeom prst="rect">
            <a:avLst/>
          </a:prstGeom>
          <a:noFill/>
          <a:ln/>
        </p:spPr>
        <p:txBody>
          <a:bodyPr wrap="square" lIns="0" tIns="0" rIns="0" bIns="0" rtlCol="0" anchor="t"/>
          <a:lstStyle/>
          <a:p>
            <a:pPr indent="0" marL="0">
              <a:buNone/>
            </a:pPr>
            <a:r>
              <a:rPr lang="en-US" sz="2200" b="1" dirty="0">
                <a:solidFill>
                  <a:schemeClr val="bg1"/>
                </a:solidFill>
                <a:latin typeface="Cambria" pitchFamily="34" charset="0"/>
                <a:ea typeface="Cambria" pitchFamily="34" charset="-122"/>
                <a:cs typeface="Cambria" pitchFamily="34" charset="-120"/>
              </a:rPr>
              <a:t>Scale</a:t>
            </a:r>
            <a:endParaRPr lang="en-US" sz="2200" dirty="0"/>
          </a:p>
        </p:txBody>
      </p:sp>
      <p:sp>
        <p:nvSpPr>
          <p:cNvPr id="15" name="Text 13"/>
          <p:cNvSpPr txBox="1"/>
          <p:nvPr/>
        </p:nvSpPr>
        <p:spPr>
          <a:xfrm>
            <a:off x="8321040" y="2148840"/>
            <a:ext cx="2926080" cy="274320"/>
          </a:xfrm>
          <a:prstGeom prst="rect">
            <a:avLst/>
          </a:prstGeom>
          <a:noFill/>
          <a:ln/>
        </p:spPr>
        <p:txBody>
          <a:bodyPr wrap="square" lIns="0" tIns="0" rIns="0" bIns="0" rtlCol="0" anchor="t"/>
          <a:lstStyle/>
          <a:p>
            <a:pPr indent="0" marL="0">
              <a:buNone/>
            </a:pPr>
            <a:r>
              <a:rPr lang="en-US" sz="1300" b="1" dirty="0">
                <a:solidFill>
                  <a:schemeClr val="accent2"/>
                </a:solidFill>
              </a:rPr>
              <a:t>Year 2</a:t>
            </a:r>
            <a:endParaRPr lang="en-US" sz="1300" dirty="0"/>
          </a:p>
        </p:txBody>
      </p:sp>
      <p:sp>
        <p:nvSpPr>
          <p:cNvPr id="16" name="Text 14"/>
          <p:cNvSpPr txBox="1"/>
          <p:nvPr/>
        </p:nvSpPr>
        <p:spPr>
          <a:xfrm>
            <a:off x="8321040" y="2606040"/>
            <a:ext cx="2971800" cy="283464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bg1"/>
                </a:solidFill>
              </a:rPr>
              <a:t>Client-facing North Star</a:t>
            </a:r>
            <a:endParaRPr lang="en-US" sz="1500" dirty="0"/>
          </a:p>
          <a:p>
            <a:pPr marL="342900" indent="-342900">
              <a:spcAft>
                <a:spcPts val="1000"/>
              </a:spcAft>
              <a:buSzPct val="100000"/>
              <a:buChar char="•"/>
            </a:pPr>
            <a:r>
              <a:rPr lang="en-US" sz="1500" dirty="0">
                <a:solidFill>
                  <a:schemeClr val="bg1"/>
                </a:solidFill>
              </a:rPr>
              <a:t>Multi-tenant AEO runtime</a:t>
            </a:r>
            <a:endParaRPr lang="en-US" sz="1500" dirty="0"/>
          </a:p>
          <a:p>
            <a:pPr marL="342900" indent="-342900">
              <a:spcAft>
                <a:spcPts val="1000"/>
              </a:spcAft>
              <a:buSzPct val="100000"/>
              <a:buChar char="•"/>
            </a:pPr>
            <a:r>
              <a:rPr lang="en-US" sz="1500" dirty="0">
                <a:solidFill>
                  <a:schemeClr val="bg1"/>
                </a:solidFill>
              </a:rPr>
              <a:t>Carrier data feed for Agent Comp</a:t>
            </a:r>
            <a:endParaRPr lang="en-US" sz="1500" dirty="0"/>
          </a:p>
          <a:p>
            <a:pPr marL="342900" indent="-342900">
              <a:spcAft>
                <a:spcPts val="1000"/>
              </a:spcAft>
              <a:buSzPct val="100000"/>
              <a:buChar char="•"/>
            </a:pPr>
            <a:r>
              <a:rPr lang="en-US" sz="1500" dirty="0">
                <a:solidFill>
                  <a:schemeClr val="bg1"/>
                </a:solidFill>
              </a:rPr>
              <a:t>Enterprise lab tenancy on HRScale</a:t>
            </a:r>
            <a:endParaRPr lang="en-US" sz="1500" dirty="0"/>
          </a:p>
        </p:txBody>
      </p:sp>
      <p:sp>
        <p:nvSpPr>
          <p:cNvPr id="17" name="Text 15"/>
          <p:cNvSpPr txBox="1"/>
          <p:nvPr/>
        </p:nvSpPr>
        <p:spPr>
          <a:xfrm>
            <a:off x="548640" y="5989320"/>
            <a:ext cx="11064240" cy="320040"/>
          </a:xfrm>
          <a:prstGeom prst="rect">
            <a:avLst/>
          </a:prstGeom>
          <a:noFill/>
          <a:ln/>
        </p:spPr>
        <p:txBody>
          <a:bodyPr wrap="square" lIns="0" tIns="0" rIns="0" bIns="0" rtlCol="0" anchor="t"/>
          <a:lstStyle/>
          <a:p>
            <a:pPr indent="0" marL="0">
              <a:buNone/>
            </a:pPr>
            <a:r>
              <a:rPr lang="en-US" sz="1100" i="1" dirty="0">
                <a:solidFill>
                  <a:schemeClr val="accent4"/>
                </a:solidFill>
              </a:rPr>
              <a:t>Same sequence as the Halyard future state: operationalize inside Insperity, industrialize the platform, then scale to clients.</a:t>
            </a:r>
            <a:endParaRPr lang="en-US" sz="11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Living Workforce">
  <a:themeElements>
    <a:clrScheme name="Living Workforce">
      <a:dk1>
        <a:srgbClr val="1F2A26"/>
      </a:dk1>
      <a:lt1>
        <a:srgbClr val="FFFFFF"/>
      </a:lt1>
      <a:dk2>
        <a:srgbClr val="1B2E2A"/>
      </a:dk2>
      <a:lt2>
        <a:srgbClr val="EEF3EE"/>
      </a:lt2>
      <a:accent1>
        <a:srgbClr val="5E8C61"/>
      </a:accent1>
      <a:accent2>
        <a:srgbClr val="C98F2B"/>
      </a:accent2>
      <a:accent3>
        <a:srgbClr val="A9C4A6"/>
      </a:accent3>
      <a:accent4>
        <a:srgbClr val="5A6763"/>
      </a:accent4>
      <a:accent5>
        <a:srgbClr val="A85538"/>
      </a:accent5>
      <a:accent6>
        <a:srgbClr val="7C8F99"/>
      </a:accent6>
      <a:hlink>
        <a:srgbClr val="5E8C61"/>
      </a:hlink>
      <a:folHlink>
        <a:srgbClr val="5A6763"/>
      </a:folHlink>
    </a:clrScheme>
    <a:fontScheme name="Living Workfor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Insperity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Future of Work Proposal</dc:title>
  <dc:subject>PptxGenJS Presentation</dc:subject>
  <dc:creator>Jeffrey Wallk</dc:creator>
  <cp:lastModifiedBy>Jeffrey Wallk</cp:lastModifiedBy>
  <cp:revision>1</cp:revision>
  <dcterms:created xsi:type="dcterms:W3CDTF">2026-10-26T13:23:06Z</dcterms:created>
  <dcterms:modified xsi:type="dcterms:W3CDTF">2026-10-26T13:23:06Z</dcterms:modified>
</cp:coreProperties>
</file>