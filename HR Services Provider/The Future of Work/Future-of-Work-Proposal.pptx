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posal" id="{d3527390-0909-72ec-2935-e092d8fa1630}">
          <p14:sldIdLst>
            <p14:sldId id="256"/>
            <p14:sldId id="257"/>
            <p14:sldId id="258"/>
            <p14:sldId id="259"/>
          </p14:sldIdLst>
        </p14:section>
        <p14:section name="Offering 1: AEO" id="{a1b34e9e-a396-7e67-c3c8-64ccfda68612}">
          <p14:sldIdLst>
            <p14:sldId id="260"/>
            <p14:sldId id="261"/>
            <p14:sldId id="262"/>
            <p14:sldId id="263"/>
            <p14:sldId id="264"/>
          </p14:sldIdLst>
        </p14:section>
        <p14:section name="Offering 2: Living Capital" id="{ffb72aa0-b609-3c28-edc6-f606f838aa35}">
          <p14:sldIdLst>
            <p14:sldId id="265"/>
            <p14:sldId id="266"/>
            <p14:sldId id="267"/>
            <p14:sldId id="268"/>
          </p14:sldIdLst>
        </p14:section>
        <p14:section name="Side by side" id="{1e0045b9-61dd-b740-8240-e0a39ad40924}">
          <p14:sldIdLst>
            <p14:sldId id="269"/>
          </p14:sldIdLst>
        </p14:section>
        <p14:section name="Growth projections" id="{a4543b02-4ddd-34cc-a696-69319e8cf18f}">
          <p14:sldIdLst>
            <p14:sldId id="270"/>
            <p14:sldId id="271"/>
            <p14:sldId id="272"/>
            <p14:sldId id="273"/>
          </p14:sldIdLst>
        </p14:section>
        <p14:section name="Plan and decision" id="{ae7ad6ac-9099-61ec-d762-0797fd19d38b}">
          <p14:sldIdLst>
            <p14:sldId id="274"/>
            <p14:sldId id="275"/>
            <p14:sldId id="276"/>
            <p14:sldId id="277"/>
          </p14:sldIdLst>
        </p14:section>
        <p14:section name="Appendix: platform design" id="{776fdac2-0477-9d63-5487-acb626754440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E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E2A"/>
                </a:solidFill>
                <a:latin typeface="+mn-lt"/>
              </a:rPr>
              <a:t>New revenue by offering, base case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Living Capital</c:v>
                </c:pt>
              </c:strCache>
            </c:strRef>
          </c:tx>
          <c:spPr>
            <a:solidFill>
              <a:srgbClr val="5E8C61"/>
            </a:solidFill>
            <a:effectLst/>
          </c:spPr>
          <c:invertIfNegative val="0"/>
          <c:dLbls>
            <c:numFmt formatCode="[&lt;3]&quot;&quot;;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0.84</c:v>
                </c:pt>
                <c:pt idx="1">
                  <c:v>6.3</c:v>
                </c:pt>
                <c:pt idx="2">
                  <c:v>16.8</c:v>
                </c:pt>
                <c:pt idx="3">
                  <c:v>29.4</c:v>
                </c:pt>
                <c:pt idx="4">
                  <c:v>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AEO</c:v>
                </c:pt>
              </c:strCache>
            </c:strRef>
          </c:tx>
          <c:spPr>
            <a:solidFill>
              <a:srgbClr val="C98F2B"/>
            </a:solidFill>
            <a:effectLst/>
          </c:spPr>
          <c:invertIfNegative val="0"/>
          <c:dLbls>
            <c:numFmt formatCode="[&lt;3]&quot;&quot;;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0.09</c:v>
                </c:pt>
                <c:pt idx="1">
                  <c:v>2.7</c:v>
                </c:pt>
                <c:pt idx="2">
                  <c:v>10.8</c:v>
                </c:pt>
                <c:pt idx="3">
                  <c:v>27</c:v>
                </c:pt>
                <c:pt idx="4">
                  <c:v>54</c:v>
                </c:pt>
              </c:numCache>
            </c:numRef>
          </c:val>
        </c:ser>
        <c:dLbls>
          <c:numFmt formatCode="[&lt;3]&quot;&quot;;0.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7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DCE3DC"/>
              </a:solidFill>
              <a:prstDash val="solid"/>
              <a:round/>
            </a:ln>
          </c:spPr>
        </c:majorGridlines>
        <c:numFmt formatCode="$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A676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E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E2A"/>
                </a:solidFill>
                <a:latin typeface="+mn-lt"/>
              </a:rPr>
              <a:t>Employees on Living Capital (thousands)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Employees</c:v>
                </c:pt>
              </c:strCache>
            </c:strRef>
          </c:tx>
          <c:spPr>
            <a:solidFill>
              <a:srgbClr val="5E8C61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A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15</c:v>
                </c:pt>
                <c:pt idx="2">
                  <c:v>40</c:v>
                </c:pt>
                <c:pt idx="3">
                  <c:v>70</c:v>
                </c:pt>
                <c:pt idx="4">
                  <c:v>100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1F2A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7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9525" cap="flat">
              <a:solidFill>
                <a:srgbClr val="DCE3DC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E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E2A"/>
                </a:solidFill>
                <a:latin typeface="+mn-lt"/>
              </a:rPr>
              <a:t>Agents under the AEO (thousands)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Agents</c:v>
                </c:pt>
              </c:strCache>
            </c:strRef>
          </c:tx>
          <c:spPr>
            <a:solidFill>
              <a:srgbClr val="C98F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A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0.05</c:v>
                </c:pt>
                <c:pt idx="1">
                  <c:v>1.5</c:v>
                </c:pt>
                <c:pt idx="2">
                  <c:v>6</c:v>
                </c:pt>
                <c:pt idx="3">
                  <c:v>15</c:v>
                </c:pt>
                <c:pt idx="4">
                  <c:v>30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A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7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9525" cap="flat">
              <a:solidFill>
                <a:srgbClr val="DCE3DC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E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E2A"/>
                </a:solidFill>
                <a:latin typeface="+mn-lt"/>
              </a:rPr>
              <a:t>Year-5 new revenue by scenario ($M)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Year-5 new revenue</c:v>
                </c:pt>
              </c:strCache>
            </c:strRef>
          </c:tx>
          <c:spPr>
            <a:solidFill>
              <a:srgbClr val="A9C4A6"/>
            </a:solidFill>
            <a:effectLst/>
          </c:spPr>
          <c:invertIfNegative val="0"/>
          <c:dLbls>
            <c:numFmt formatCode="$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A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4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E8C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2E2A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Low: half the adoption</c:v>
                  </c:pt>
                  <c:pt idx="1">
                    <c:v>Base</c:v>
                  </c:pt>
                  <c:pt idx="2">
                    <c:v>High: 1.5× the adoption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</c:v>
                </c:pt>
                <c:pt idx="1">
                  <c:v>96</c:v>
                </c:pt>
                <c:pt idx="2">
                  <c:v>144</c:v>
                </c:pt>
              </c:numCache>
            </c:numRef>
          </c:val>
        </c:ser>
        <c:dLbls>
          <c:numFmt formatCode="$0" sourceLinked="0"/>
          <c:txPr>
            <a:bodyPr/>
            <a:lstStyle/>
            <a:p>
              <a:pPr>
                <a:defRPr b="0" i="0" strike="noStrike" sz="1200" u="none">
                  <a:solidFill>
                    <a:srgbClr val="1F2A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7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"/>
          <c:min val="0"/>
        </c:scaling>
        <c:delete val="0"/>
        <c:axPos val="b"/>
        <c:majorGridlines>
          <c:spPr>
            <a:ln w="9525" cap="flat">
              <a:solidFill>
                <a:srgbClr val="DCE3DC"/>
              </a:solidFill>
              <a:prstDash val="solid"/>
              <a:round/>
            </a:ln>
          </c:spPr>
        </c:majorGridlines>
        <c:numFmt formatCode="$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E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E2A"/>
                </a:solidFill>
                <a:latin typeface="+mn-lt"/>
              </a:rPr>
              <a:t>Services by assembly mode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Assemble</c:v>
                </c:pt>
              </c:strCache>
            </c:strRef>
          </c:tx>
          <c:spPr>
            <a:solidFill>
              <a:srgbClr val="5E8C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AEO</c:v>
                  </c:pt>
                  <c:pt idx="1">
                    <c:v>Living Capital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22</c:v>
                </c:pt>
                <c:pt idx="1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Extend</c:v>
                </c:pt>
              </c:strCache>
            </c:strRef>
          </c:tx>
          <c:spPr>
            <a:solidFill>
              <a:srgbClr val="A9C4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AEO</c:v>
                  </c:pt>
                  <c:pt idx="1">
                    <c:v>Living Capital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14</c:v>
                </c:pt>
                <c:pt idx="1">
                  <c:v>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Partner</c:v>
                </c:pt>
              </c:strCache>
            </c:strRef>
          </c:tx>
          <c:spPr>
            <a:solidFill>
              <a:srgbClr val="C98F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AEO</c:v>
                  </c:pt>
                  <c:pt idx="1">
                    <c:v>Living Capital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</c:v>
                </c:pt>
                <c:pt idx="1">
                  <c:v>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Build</c:v>
                </c:pt>
              </c:strCache>
            </c:strRef>
          </c:tx>
          <c:spPr>
            <a:solidFill>
              <a:srgbClr val="A855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AEO</c:v>
                  </c:pt>
                  <c:pt idx="1">
                    <c:v>Living Capital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7</c:v>
                </c:pt>
                <c:pt idx="1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7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b"/>
        <c:majorGridlines>
          <c:spPr>
            <a:ln w="9525" cap="flat">
              <a:solidFill>
                <a:srgbClr val="DCE3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A676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E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E2A"/>
                </a:solidFill>
                <a:latin typeface="+mn-lt"/>
              </a:rPr>
              <a:t>AEO: services that reuse each block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AEO services using it</c:v>
                </c:pt>
              </c:strCache>
            </c:strRef>
          </c:tx>
          <c:spPr>
            <a:solidFill>
              <a:srgbClr val="C98F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A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Circuit breaker and MTBH</c:v>
                  </c:pt>
                  <c:pt idx="1">
                    <c:v>Agent registry</c:v>
                  </c:pt>
                  <c:pt idx="2">
                    <c:v>Metrology and provenance store</c:v>
                  </c:pt>
                  <c:pt idx="3">
                    <c:v>LKIF deontic norms</c:v>
                  </c:pt>
                  <c:pt idx="4">
                    <c:v>Classification facets</c:v>
                  </c:pt>
                  <c:pt idx="5">
                    <c:v>Enforcement engine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11</c:v>
                </c:pt>
                <c:pt idx="2">
                  <c:v>9</c:v>
                </c:pt>
                <c:pt idx="3">
                  <c:v>9</c:v>
                </c:pt>
                <c:pt idx="4">
                  <c:v>8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A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0"/>
        <c:axPos val="b"/>
        <c:majorGridlines>
          <c:spPr>
            <a:ln w="9525" cap="flat">
              <a:solidFill>
                <a:srgbClr val="DCE3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E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E2A"/>
                </a:solidFill>
                <a:latin typeface="+mn-lt"/>
              </a:rPr>
              <a:t>Living Capital: services that reuse each block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Living Capital services using it</c:v>
                </c:pt>
              </c:strCache>
            </c:strRef>
          </c:tx>
          <c:spPr>
            <a:solidFill>
              <a:srgbClr val="5E8C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A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LKIF norms</c:v>
                  </c:pt>
                  <c:pt idx="1">
                    <c:v>Classification and cell size</c:v>
                  </c:pt>
                  <c:pt idx="2">
                    <c:v>Insights agent</c:v>
                  </c:pt>
                  <c:pt idx="3">
                    <c:v>HR service teams</c:v>
                  </c:pt>
                  <c:pt idx="4">
                    <c:v>Payroll and tax engine</c:v>
                  </c:pt>
                  <c:pt idx="5">
                    <c:v>Leave administration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</c:v>
                </c:pt>
                <c:pt idx="1">
                  <c:v>12</c:v>
                </c:pt>
                <c:pt idx="2">
                  <c:v>12</c:v>
                </c:pt>
                <c:pt idx="3">
                  <c:v>10</c:v>
                </c:pt>
                <c:pt idx="4">
                  <c:v>9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A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0"/>
        <c:axPos val="b"/>
        <c:majorGridlines>
          <c:spPr>
            <a:ln w="9525" cap="flat">
              <a:solidFill>
                <a:srgbClr val="DCE3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offerings, one platform. The offerings answer two client problems; the platform is why we can deliver both without building each from scratch.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gate that fails stops that offering, not the other. Living Capital can launch alone if the AEO liability schedule or carrier quote is not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holon is self-contained (its own rules) and composable (standard interfaces). That is why a new service composes existing holons instead of changing a global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98755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28600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9875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Future of Work Proposal  ·  Internal (C1)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Future of Work at Insperity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98755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Two service offerings, the Agent Employer Organization and Living Capital, assembled from one governed platform: a proposal for a 12-month pilot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Jeffrey Wallk, Sr. Semantic Architect  ·  October 26,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offerings, one platform, one pilot</a:t>
            </a:r>
            <a:endParaRPr lang="en-US" sz="3400" dirty="0"/>
          </a:p>
        </p:txBody>
      </p:sp>
      <p:sp>
        <p:nvSpPr>
          <p:cNvPr id="3" name="Agent Employer Organization (AEO) card"/>
          <p:cNvSpPr/>
          <p:nvPr/>
        </p:nvSpPr>
        <p:spPr>
          <a:xfrm>
            <a:off x="548640" y="1371600"/>
            <a:ext cx="544068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</p:spPr>
      </p:sp>
      <p:sp>
        <p:nvSpPr>
          <p:cNvPr id="4" name="Agent Employer Organization (AEO) 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Agent Employer Organization (AEO) icon" descr="Agent Employer Organization (AEO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7602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459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Employer Organization (AEO)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Problem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Clients' AI agents act on worker and client data with no identity, audit trail or insurance behind them.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632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Answer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Our co-employment model, applied to agents: Insperity holds identity, certification, monitoring and insurance; the client directs the work.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77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49 services · per agent per month</a:t>
            </a:r>
            <a:endParaRPr lang="en-US" sz="1300" dirty="0"/>
          </a:p>
        </p:txBody>
      </p:sp>
      <p:sp>
        <p:nvSpPr>
          <p:cNvPr id="10" name="Living Capital card"/>
          <p:cNvSpPr/>
          <p:nvPr/>
        </p:nvSpPr>
        <p:spPr>
          <a:xfrm>
            <a:off x="6172200" y="1371600"/>
            <a:ext cx="544068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</p:spPr>
      </p:sp>
      <p:sp>
        <p:nvSpPr>
          <p:cNvPr id="11" name="Living Capital circle"/>
          <p:cNvSpPr/>
          <p:nvPr/>
        </p:nvSpPr>
        <p:spPr>
          <a:xfrm>
            <a:off x="6446520" y="1600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Living Capital icon" descr="Living Capit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176022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23760" y="16459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Living Capital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23774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Problem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Small employers burn people out and lay them off because they have no other lever.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30632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Answer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pioneers like Barry-Wehmiller and Patagonia do, pooled across about 300,000 co-employed people so small firms can afford it.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3977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46 services · per employee per month</a:t>
            </a:r>
            <a:endParaRPr lang="en-US" sz="1300" dirty="0"/>
          </a:p>
        </p:txBody>
      </p:sp>
      <p:sp>
        <p:nvSpPr>
          <p:cNvPr id="17" name="Platform band"/>
          <p:cNvSpPr/>
          <p:nvPr/>
        </p:nvSpPr>
        <p:spPr>
          <a:xfrm>
            <a:off x="548640" y="457200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C4A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4572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Both assembled on Keel and North Star: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about 80% of the building blocks already exist; 5 components are new.</a:t>
            </a:r>
            <a:endParaRPr lang="en-US" sz="1500" dirty="0"/>
          </a:p>
        </p:txBody>
      </p:sp>
      <p:sp>
        <p:nvSpPr>
          <p:cNvPr id="19" name="Ask panel"/>
          <p:cNvSpPr/>
          <p:nvPr/>
        </p:nvSpPr>
        <p:spPr>
          <a:xfrm>
            <a:off x="548640" y="5285232"/>
            <a:ext cx="11064240" cy="658368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77240" y="528523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The ask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12-month pilot: Living Capital with 20–30 HR360 clients and AEO attest-and-insure with 5–10 clients already running agents, each phase ending at a decision gate.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Clients face three new kinds of risk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1463040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4"/>
                </a:solidFill>
              </a:rPr>
              <a:t>WHAT IS CHANGING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1371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4"/>
                </a:solidFill>
              </a:rPr>
              <a:t>WHAT CLIENTS FACE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001000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4"/>
                </a:solidFill>
              </a:rPr>
              <a:t>WHAT A PEO CAN DO THAT A CLIENT CANNOT</a:t>
            </a:r>
            <a:endParaRPr lang="en-US" sz="1100" dirty="0"/>
          </a:p>
        </p:txBody>
      </p:sp>
      <p:sp>
        <p:nvSpPr>
          <p:cNvPr id="6" name="AI agents do real work circle"/>
          <p:cNvSpPr/>
          <p:nvPr/>
        </p:nvSpPr>
        <p:spPr>
          <a:xfrm>
            <a:off x="548640" y="19202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AI agents do real work icon" descr="AI agents do real 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2091690"/>
            <a:ext cx="342900" cy="3429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agents do real work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11480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Agents act on worker and client data with no identity, audit trail or insurance behind them.</a:t>
            </a:r>
            <a:endParaRPr lang="en-US" sz="1500" dirty="0"/>
          </a:p>
        </p:txBody>
      </p:sp>
      <p:sp>
        <p:nvSpPr>
          <p:cNvPr id="10" name="AI agents do real work answer"/>
          <p:cNvSpPr/>
          <p:nvPr/>
        </p:nvSpPr>
        <p:spPr>
          <a:xfrm>
            <a:off x="7863840" y="1783080"/>
            <a:ext cx="37490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46720" y="1920240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Certify, monitor and insure agents across thousands of clients. → AEO</a:t>
            </a:r>
            <a:endParaRPr lang="en-US" sz="1400" dirty="0"/>
          </a:p>
        </p:txBody>
      </p:sp>
      <p:sp>
        <p:nvSpPr>
          <p:cNvPr id="12" name="Burnout and turnover circle"/>
          <p:cNvSpPr/>
          <p:nvPr/>
        </p:nvSpPr>
        <p:spPr>
          <a:xfrm>
            <a:off x="548640" y="329184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3" name="Burnout and turnover icon" descr="Burnout and turno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" y="3463290"/>
            <a:ext cx="342900" cy="3429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463040" y="33375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Burnout and turnover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114800" y="33375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People run at full utilization; replacement hiring is the default fix.</a:t>
            </a:r>
            <a:endParaRPr lang="en-US" sz="1500" dirty="0"/>
          </a:p>
        </p:txBody>
      </p:sp>
      <p:sp>
        <p:nvSpPr>
          <p:cNvPr id="16" name="Burnout and turnover answer"/>
          <p:cNvSpPr/>
          <p:nvPr/>
        </p:nvSpPr>
        <p:spPr>
          <a:xfrm>
            <a:off x="7863840" y="3154680"/>
            <a:ext cx="37490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046720" y="3291840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Pool the cost of sabbaticals, leave and care; measure reserve with data we already hold. → Living Capital</a:t>
            </a:r>
            <a:endParaRPr lang="en-US" sz="1400" dirty="0"/>
          </a:p>
        </p:txBody>
      </p:sp>
      <p:sp>
        <p:nvSpPr>
          <p:cNvPr id="18" name="Downturn volatility circle"/>
          <p:cNvSpPr/>
          <p:nvPr/>
        </p:nvSpPr>
        <p:spPr>
          <a:xfrm>
            <a:off x="548640" y="46634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Downturn volatility icon" descr="Downturn volatilit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" y="4834890"/>
            <a:ext cx="342900" cy="3429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463040" y="47091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Downturn volatility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4114800" y="47091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Layoffs are the only lever a 50-person firm has.</a:t>
            </a:r>
            <a:endParaRPr lang="en-US" sz="1500" dirty="0"/>
          </a:p>
        </p:txBody>
      </p:sp>
      <p:sp>
        <p:nvSpPr>
          <p:cNvPr id="22" name="Downturn volatility answer"/>
          <p:cNvSpPr/>
          <p:nvPr/>
        </p:nvSpPr>
        <p:spPr>
          <a:xfrm>
            <a:off x="7863840" y="4526280"/>
            <a:ext cx="37490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46720" y="4663440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Redeploy people across clients, file work-share plans, run shared furloughs. → Living Capital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Every peer in the PEO Service Map offers payroll, multi-state tax, workers' comp and compliance as core. Differentiation now sits above that layer.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Insperity starts with scale and trust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~300,000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76272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worksite employees: the pool that makes leave funds, talent exchange and Agent Comp pricing work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Since 2002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39312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UnitedHealthcare master plan, extended through 2028: the template for a master agent policy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8912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Feb 2026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02352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HRScale on Workday generally available: the host for enterprise lab entities</a:t>
            </a:r>
            <a:endParaRPr lang="en-US" sz="1300" dirty="0"/>
          </a:p>
        </p:txBody>
      </p:sp>
      <p:sp>
        <p:nvSpPr>
          <p:cNvPr id="9" name="Strengths"/>
          <p:cNvSpPr/>
          <p:nvPr/>
        </p:nvSpPr>
        <p:spPr>
          <a:xfrm>
            <a:off x="5212080" y="1463040"/>
            <a:ext cx="3063240" cy="429768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40680" y="1691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 to build 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2194560"/>
            <a:ext cx="2651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Human advisory in the bundle: performance, training, org planning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governed classification baseline: C0–C4, regime floors, cell size 5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Holonic Semantic Governance Architecture behind Keel and North Star</a:t>
            </a:r>
            <a:endParaRPr lang="en-US" sz="1400" dirty="0"/>
          </a:p>
        </p:txBody>
      </p:sp>
      <p:sp>
        <p:nvSpPr>
          <p:cNvPr id="12" name="Gaps"/>
          <p:cNvSpPr/>
          <p:nvPr/>
        </p:nvSpPr>
        <p:spPr>
          <a:xfrm>
            <a:off x="8549640" y="1463040"/>
            <a:ext cx="3063240" cy="429768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A9C4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78240" y="1691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Gaps these offers close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0" y="2194560"/>
            <a:ext cx="2651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governed AI story; Paychex leads with its WISE engine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ASO or EOR entry tier; AEO attest-and-insure is a lighter way in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packaged answer to burnout or downturn layoffs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Source: PEO Service Map, public sources as of October 23, 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28600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Offering 1: the Agent Employer Organization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98755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Co-employment, applied to the AI agents our clients are starting to run</a:t>
            </a:r>
            <a:endParaRPr lang="en-US" sz="1800" dirty="0"/>
          </a:p>
        </p:txBody>
      </p:sp>
      <p:sp>
        <p:nvSpPr>
          <p:cNvPr id="4" name="AEO circle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AEO icon" descr="A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303020"/>
            <a:ext cx="411480" cy="411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idea comes from: our own operating model</a:t>
            </a:r>
            <a:endParaRPr lang="en-US" sz="3400" dirty="0"/>
          </a:p>
        </p:txBody>
      </p:sp>
      <p:sp>
        <p:nvSpPr>
          <p:cNvPr id="3" name="Problem"/>
          <p:cNvSpPr/>
          <p:nvPr/>
        </p:nvSpPr>
        <p:spPr>
          <a:xfrm>
            <a:off x="548640" y="1417320"/>
            <a:ext cx="3931920" cy="4434840"/>
          </a:xfrm>
          <a:prstGeom prst="roundRect">
            <a:avLst>
              <a:gd name="adj" fmla="val 232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4"/>
                </a:solidFill>
              </a:rPr>
              <a:t>THE CLIENT PROBLEM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65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Clients are starting to run AI agents on real work: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Payables: matching invoices and proposing payments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Scheduling: building shifts and rosters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Recruiting: screening and ranking applicants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0690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Those agents act on worker and client data with no identity, no audit trail and no insurance behind them.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417320"/>
          <a:ext cx="685800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3429000"/>
              </a:tblGrid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PEO does for people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AEO does for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Administrative employer: payroll, benefits, compliance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Administrative host: identity, certification, monitoring, insurance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Worksite employer: the client directs the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Directing principal: the client sets tasks, rules and approvals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and background screening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issuance and capability attestation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Payroll per worksite employee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Metering and billing per agent per month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Workers' comp, EPLI, the master health plan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Comp: E&amp;O, treasury-drain and IP cover in a pooled policy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Co-employment allocation of duties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Liability allocation schedule across the custody boundary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Every AEO service is mapped to the PEO service it adapts; 49 services in all.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custodians, one agent</a:t>
            </a:r>
            <a:endParaRPr lang="en-US" sz="3400" dirty="0"/>
          </a:p>
        </p:txBody>
      </p:sp>
      <p:sp>
        <p:nvSpPr>
          <p:cNvPr id="3" name="Host"/>
          <p:cNvSpPr/>
          <p:nvPr/>
        </p:nvSpPr>
        <p:spPr>
          <a:xfrm>
            <a:off x="548640" y="1417320"/>
            <a:ext cx="502920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A9C4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72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4"/>
                </a:solidFill>
              </a:rPr>
              <a:t>PEO ROLE: ADMINISTRATIVE EMPLOYER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4708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Insperity · Administrative Host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Agent identity, keys and attestation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 alignment and drift baselines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Compliance certification and audits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Agent Comp insurance and the indemnity pool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Circuit breakers and suspension</a:t>
            </a:r>
            <a:endParaRPr lang="en-US" sz="1400" dirty="0"/>
          </a:p>
        </p:txBody>
      </p:sp>
      <p:sp>
        <p:nvSpPr>
          <p:cNvPr id="7" name="Custody boundary"/>
          <p:cNvSpPr/>
          <p:nvPr/>
        </p:nvSpPr>
        <p:spPr>
          <a:xfrm>
            <a:off x="6099048" y="1463040"/>
            <a:ext cx="0" cy="2560320"/>
          </a:xfrm>
          <a:prstGeom prst="line">
            <a:avLst/>
          </a:prstGeom>
          <a:noFill/>
          <a:ln w="25400">
            <a:solidFill>
              <a:srgbClr val="C98F2B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5669280" y="2514600"/>
            <a:ext cx="859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custody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boundary</a:t>
            </a:r>
            <a:endParaRPr lang="en-US" sz="1000" dirty="0"/>
          </a:p>
        </p:txBody>
      </p:sp>
      <p:sp>
        <p:nvSpPr>
          <p:cNvPr id="9" name="Principal"/>
          <p:cNvSpPr/>
          <p:nvPr/>
        </p:nvSpPr>
        <p:spPr>
          <a:xfrm>
            <a:off x="6583680" y="1417320"/>
            <a:ext cx="502920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A9C4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12280" y="1572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4"/>
                </a:solidFill>
              </a:rPr>
              <a:t>PEO ROLE: WORKSITE EMPLOYER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12280" y="184708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· Directing Principal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812280" y="22860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Context, workflow prompts and business rules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Task assignment and domain guardrails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Approval thresholds and human sign-off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Day-to-day supervision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Which data the agent may see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5196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554480"/>
                <a:gridCol w="5852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Bears the loss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 or hallucination inside stated bounds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under the AEO's errors-and-omissions cover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prompts an unauthorized task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indemnifies; downstream cover void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Commitment over a budget cap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Insperity if the gate was bypassed; client if its approver signed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or non-compliance in the base 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Covered by the compliance certification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 services in ten domains</a:t>
            </a:r>
            <a:endParaRPr lang="en-US" sz="3400" dirty="0"/>
          </a:p>
        </p:txBody>
      </p:sp>
      <p:sp>
        <p:nvSpPr>
          <p:cNvPr id="3" name="Identity &amp; attestation"/>
          <p:cNvSpPr/>
          <p:nvPr/>
        </p:nvSpPr>
        <p:spPr>
          <a:xfrm>
            <a:off x="548640" y="141732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13232" y="152704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07568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Identity &amp; attestation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51460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adapts onboarding and screening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862072"/>
            <a:ext cx="1773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Agent identity issuance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Key &amp; credential lifecycle</a:t>
            </a:r>
            <a:endParaRPr lang="en-US" sz="1100" dirty="0"/>
          </a:p>
        </p:txBody>
      </p:sp>
      <p:sp>
        <p:nvSpPr>
          <p:cNvPr id="8" name="Metering &amp; billing"/>
          <p:cNvSpPr/>
          <p:nvPr/>
        </p:nvSpPr>
        <p:spPr>
          <a:xfrm>
            <a:off x="2798064" y="141732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962656" y="152704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962656" y="207568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Metering &amp; billing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962656" y="251460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adapts payroll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962656" y="2862072"/>
            <a:ext cx="1773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Per-agent-per-month billing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Token &amp; tool-call metering</a:t>
            </a:r>
            <a:endParaRPr lang="en-US" sz="1100" dirty="0"/>
          </a:p>
        </p:txBody>
      </p:sp>
      <p:sp>
        <p:nvSpPr>
          <p:cNvPr id="13" name="Agent Comp insurance"/>
          <p:cNvSpPr/>
          <p:nvPr/>
        </p:nvSpPr>
        <p:spPr>
          <a:xfrm>
            <a:off x="5047488" y="141732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12080" y="152704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207568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Agent Comp insurance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251460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adapts workers' comp, EPLI and the master plan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862072"/>
            <a:ext cx="1773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Autonomous malpractice &amp; E&amp;O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Treasury drain &amp; transaction fraud</a:t>
            </a:r>
            <a:endParaRPr lang="en-US" sz="1100" dirty="0"/>
          </a:p>
        </p:txBody>
      </p:sp>
      <p:sp>
        <p:nvSpPr>
          <p:cNvPr id="18" name="Liability allocation"/>
          <p:cNvSpPr/>
          <p:nvPr/>
        </p:nvSpPr>
        <p:spPr>
          <a:xfrm>
            <a:off x="7296912" y="141732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61504" y="152704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61504" y="207568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Liability allocation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461504" y="251460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adapts the co-employment agreement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461504" y="2862072"/>
            <a:ext cx="1773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Responsibility allocation schedule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Forensic replay &amp; fault attribution</a:t>
            </a:r>
            <a:endParaRPr lang="en-US" sz="1100" dirty="0"/>
          </a:p>
        </p:txBody>
      </p:sp>
      <p:sp>
        <p:nvSpPr>
          <p:cNvPr id="23" name="Algorithmic compliance"/>
          <p:cNvSpPr/>
          <p:nvPr/>
        </p:nvSpPr>
        <p:spPr>
          <a:xfrm>
            <a:off x="9546336" y="141732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710928" y="152704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9710928" y="207568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Algorithmic compliance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710928" y="251460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adapts compliance monitoring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710928" y="2862072"/>
            <a:ext cx="1773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Base-agent compliance certification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Bias &amp; disparate-impact audits</a:t>
            </a:r>
            <a:endParaRPr lang="en-US" sz="1100" dirty="0"/>
          </a:p>
        </p:txBody>
      </p:sp>
      <p:sp>
        <p:nvSpPr>
          <p:cNvPr id="28" name="Safety &amp; circuit breakers"/>
          <p:cNvSpPr/>
          <p:nvPr/>
        </p:nvSpPr>
        <p:spPr>
          <a:xfrm>
            <a:off x="548640" y="365760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13232" y="3767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431596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Safety &amp; circuit breakers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475488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adapts safety and OSHA consulting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13232" y="5102352"/>
            <a:ext cx="1773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Automated circuit breaker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Drift monitoring &amp; rollback</a:t>
            </a:r>
            <a:endParaRPr lang="en-US" sz="1100" dirty="0"/>
          </a:p>
        </p:txBody>
      </p:sp>
      <p:sp>
        <p:nvSpPr>
          <p:cNvPr id="33" name="Worksite governance"/>
          <p:cNvSpPr/>
          <p:nvPr/>
        </p:nvSpPr>
        <p:spPr>
          <a:xfrm>
            <a:off x="2798064" y="365760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962656" y="3767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2962656" y="431596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Worksite governance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62656" y="475488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adapts HR advisory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2962656" y="5102352"/>
            <a:ext cx="1773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Human sign-off thresholds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Guardrail &amp; context authoring</a:t>
            </a:r>
            <a:endParaRPr lang="en-US" sz="1100" dirty="0"/>
          </a:p>
        </p:txBody>
      </p:sp>
      <p:sp>
        <p:nvSpPr>
          <p:cNvPr id="38" name="Agent capability"/>
          <p:cNvSpPr/>
          <p:nvPr/>
        </p:nvSpPr>
        <p:spPr>
          <a:xfrm>
            <a:off x="5047488" y="365760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212080" y="3767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40" name="Text 38"/>
          <p:cNvSpPr txBox="1"/>
          <p:nvPr/>
        </p:nvSpPr>
        <p:spPr>
          <a:xfrm>
            <a:off x="5212080" y="431596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Agent capability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212080" y="475488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adapts talent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212080" y="5102352"/>
            <a:ext cx="1773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Agent catalog &amp; placement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Skill packs &amp; tuning</a:t>
            </a:r>
            <a:endParaRPr lang="en-US" sz="1100" dirty="0"/>
          </a:p>
        </p:txBody>
      </p:sp>
      <p:sp>
        <p:nvSpPr>
          <p:cNvPr id="43" name="Platform"/>
          <p:cNvSpPr/>
          <p:nvPr/>
        </p:nvSpPr>
        <p:spPr>
          <a:xfrm>
            <a:off x="7296912" y="365760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61504" y="3767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45" name="Text 43"/>
          <p:cNvSpPr txBox="1"/>
          <p:nvPr/>
        </p:nvSpPr>
        <p:spPr>
          <a:xfrm>
            <a:off x="7461504" y="431596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Platform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7461504" y="475488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adapts technology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461504" y="5102352"/>
            <a:ext cx="1773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Agent runtime &amp; hosting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Policy gateway</a:t>
            </a:r>
            <a:endParaRPr lang="en-US" sz="1100" dirty="0"/>
          </a:p>
        </p:txBody>
      </p:sp>
      <p:sp>
        <p:nvSpPr>
          <p:cNvPr id="48" name="Delivery models"/>
          <p:cNvSpPr/>
          <p:nvPr/>
        </p:nvSpPr>
        <p:spPr>
          <a:xfrm>
            <a:off x="9546336" y="365760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710928" y="3767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50" name="Text 48"/>
          <p:cNvSpPr txBox="1"/>
          <p:nvPr/>
        </p:nvSpPr>
        <p:spPr>
          <a:xfrm>
            <a:off x="9710928" y="431596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Delivery models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9710928" y="475488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adapts delivery models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710928" y="5102352"/>
            <a:ext cx="1773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Full AEO co-deployment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Attest-and-insure only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Full catalog, custody and bill of materials for every service: AEO-Service-Map-and-Walkthrough.html.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client buys it, and what we promise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5852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182880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Insperity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 and insure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Certify, monitor and insure agents the client hosts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pilot; clients already running agents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co-deployment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Host, certify, monitor and insure under dual custody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2, once hosting exists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Blended workforce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agreement for co-employed people and co-deployed agents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both pilots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Cross-border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residency, local AI rules and local cover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Later; needs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417320"/>
          <a:ext cx="49834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91640"/>
                <a:gridCol w="16916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breached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 cap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±1.5% vs. attested 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Rollback; billing credit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Uptime and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99.95%; under 1,200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Tiered fee rebate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Tenant isolation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Termination right; audit indemnity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Circuit-breaker response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250 ms to revoke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Insperity absorbs losses after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Service levels from the AEO master services agreement. Hosting-dependent models wait for the multi-tenant runtime.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28600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Offering 2: Living Capital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98755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A workforce that ends each year with more energy, capability and trust than it started with</a:t>
            </a:r>
            <a:endParaRPr lang="en-US" sz="1800" dirty="0"/>
          </a:p>
        </p:txBody>
      </p:sp>
      <p:sp>
        <p:nvSpPr>
          <p:cNvPr id="4" name="Living Capital circle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Living Capital icon" descr="Living Capi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303020"/>
            <a:ext cx="411480" cy="411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Inspired by companies that renew their people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389120"/>
                <a:gridCol w="484632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they 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PEO can offer every small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Barry-Wehmiller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unpaid furloughs, CEO down, instead of layoffs; peer care in place of ratings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Shared-furlough design, state work-share filing, peer-care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Patagonia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Sabbaticals, on-site childcare, paid environmental leave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Pooled parental leave, sabbatical programs, care consortia, civic leave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Mondragon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Redeploys talent across co-ops in downturns; reinvests surplus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Cross-client talent exchange, redeploy-before-reduction, profit sharing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Buurtzorg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self-managing nurse teams with coaches, not managers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design, team coaching, classification checks for flat structures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W.L. Gore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Lattice structure; associates choose sponsors and commitments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 sponsorship, commitment registry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Why a PEO"/>
          <p:cNvSpPr/>
          <p:nvPr/>
        </p:nvSpPr>
        <p:spPr>
          <a:xfrm>
            <a:off x="548640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51663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Why a PEO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40-person firm can't do most of this alone. With about 300,000 co-employed people, Insperity can pool leave funds, file work-share plans and redeploy talent across clients.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services in nine domains</a:t>
            </a:r>
            <a:endParaRPr lang="en-US" sz="3400" dirty="0"/>
          </a:p>
        </p:txBody>
      </p:sp>
      <p:sp>
        <p:nvSpPr>
          <p:cNvPr id="3" name="Recovery &amp; renewal benefits"/>
          <p:cNvSpPr/>
          <p:nvPr/>
        </p:nvSpPr>
        <p:spPr>
          <a:xfrm>
            <a:off x="548640" y="141732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13232" y="152704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07568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Recovery &amp; renewal benefits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60604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Pooled paid parental leave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Disconnected sabbatical program</a:t>
            </a:r>
            <a:endParaRPr lang="en-US" sz="1100" dirty="0"/>
          </a:p>
        </p:txBody>
      </p:sp>
      <p:sp>
        <p:nvSpPr>
          <p:cNvPr id="7" name="Capacity &amp; slack"/>
          <p:cNvSpPr/>
          <p:nvPr/>
        </p:nvSpPr>
        <p:spPr>
          <a:xfrm>
            <a:off x="2798064" y="141732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962656" y="152704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962656" y="207568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Capacity &amp; slack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962656" y="260604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Workforce slack index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80/20 capacity cap</a:t>
            </a:r>
            <a:endParaRPr lang="en-US" sz="1100" dirty="0"/>
          </a:p>
        </p:txBody>
      </p:sp>
      <p:sp>
        <p:nvSpPr>
          <p:cNvPr id="11" name="Shared talent &amp; redeployment"/>
          <p:cNvSpPr/>
          <p:nvPr/>
        </p:nvSpPr>
        <p:spPr>
          <a:xfrm>
            <a:off x="5047488" y="141732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212080" y="152704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207568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Shared talent &amp; redeployment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60604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Cross-client talent exchange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Fractional secondment brokerage</a:t>
            </a:r>
            <a:endParaRPr lang="en-US" sz="1100" dirty="0"/>
          </a:p>
        </p:txBody>
      </p:sp>
      <p:sp>
        <p:nvSpPr>
          <p:cNvPr id="15" name="Ownership &amp; reinvestment"/>
          <p:cNvSpPr/>
          <p:nvPr/>
        </p:nvSpPr>
        <p:spPr>
          <a:xfrm>
            <a:off x="7296912" y="141732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61504" y="152704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61504" y="207568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Ownership &amp; reinvestment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461504" y="260604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Profit-sharing loop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Ownership transition advisory</a:t>
            </a:r>
            <a:endParaRPr lang="en-US" sz="1100" dirty="0"/>
          </a:p>
        </p:txBody>
      </p:sp>
      <p:sp>
        <p:nvSpPr>
          <p:cNvPr id="19" name="Structure &amp; self-management"/>
          <p:cNvSpPr/>
          <p:nvPr/>
        </p:nvSpPr>
        <p:spPr>
          <a:xfrm>
            <a:off x="9546336" y="141732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710928" y="152704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9710928" y="207568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Structure &amp; self-management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710928" y="260604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Self-managing pod design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Commitment registry</a:t>
            </a:r>
            <a:endParaRPr lang="en-US" sz="1100" dirty="0"/>
          </a:p>
        </p:txBody>
      </p:sp>
      <p:sp>
        <p:nvSpPr>
          <p:cNvPr id="23" name="Leadership &amp; care"/>
          <p:cNvSpPr/>
          <p:nvPr/>
        </p:nvSpPr>
        <p:spPr>
          <a:xfrm>
            <a:off x="548640" y="365760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767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" y="431596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Leadership &amp; care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84632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Care-based leadership development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Peer-care review</a:t>
            </a:r>
            <a:endParaRPr lang="en-US" sz="1100" dirty="0"/>
          </a:p>
        </p:txBody>
      </p:sp>
      <p:sp>
        <p:nvSpPr>
          <p:cNvPr id="27" name="Enterprise lab"/>
          <p:cNvSpPr/>
          <p:nvPr/>
        </p:nvSpPr>
        <p:spPr>
          <a:xfrm>
            <a:off x="2798064" y="365760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962656" y="3767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2962656" y="431596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Enterprise lab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2962656" y="484632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Sandbox entity co-employment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Experiment pre-registration</a:t>
            </a:r>
            <a:endParaRPr lang="en-US" sz="1100" dirty="0"/>
          </a:p>
        </p:txBody>
      </p:sp>
      <p:sp>
        <p:nvSpPr>
          <p:cNvPr id="31" name="Measurement"/>
          <p:cNvSpPr/>
          <p:nvPr/>
        </p:nvSpPr>
        <p:spPr>
          <a:xfrm>
            <a:off x="5047488" y="365760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212080" y="3767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5212080" y="431596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Measurement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212080" y="484632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Regeneration scorecard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Net energy survey</a:t>
            </a:r>
            <a:endParaRPr lang="en-US" sz="1100" dirty="0"/>
          </a:p>
        </p:txBody>
      </p:sp>
      <p:sp>
        <p:nvSpPr>
          <p:cNvPr id="35" name="Delivery models"/>
          <p:cNvSpPr/>
          <p:nvPr/>
        </p:nvSpPr>
        <p:spPr>
          <a:xfrm>
            <a:off x="7296912" y="365760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461504" y="3767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37" name="Text 35"/>
          <p:cNvSpPr txBox="1"/>
          <p:nvPr/>
        </p:nvSpPr>
        <p:spPr>
          <a:xfrm>
            <a:off x="7461504" y="431596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Delivery models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7461504" y="484632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Living Capital tier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Regenerative modules à la carte</a:t>
            </a:r>
            <a:endParaRPr lang="en-US" sz="1100" dirty="0"/>
          </a:p>
        </p:txBody>
      </p:sp>
      <p:sp>
        <p:nvSpPr>
          <p:cNvPr id="39" name="Readiness"/>
          <p:cNvSpPr/>
          <p:nvPr/>
        </p:nvSpPr>
        <p:spPr>
          <a:xfrm>
            <a:off x="9546336" y="365760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tx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710928" y="3794760"/>
            <a:ext cx="1783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Readiness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19 ready on today's operations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17 need product or data work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10 wait for counsel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Energy 14 · Capability 14 · Trust 18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Full catalog with pioneer, readiness and bill of materials: Living-Capital-Service-Map-and-Walkthrough.html.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Scored on whether people end the year stronger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4066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657600"/>
                <a:gridCol w="18288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shows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Released 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energy score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Self-reported reserve, year start vs. year end (voluntary survey)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aggregate, 5+ people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 load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paid hours assigned to production work; target 80% or less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aggregate; person-level stays private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 hours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Protected learning and mentoring hours per person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aggregate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off taken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PTO used as a share of PTO earned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aggregate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Regretted turnover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Departures the client wanted to keep, trailing 12 months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aggregate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Retained through a downturn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 kept on payroll by work-share, furlough or secondment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aggregate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Privacy rules"/>
          <p:cNvSpPr/>
          <p:nvPr/>
        </p:nvSpPr>
        <p:spPr>
          <a:xfrm>
            <a:off x="8183880" y="1417320"/>
            <a:ext cx="3429000" cy="420624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412480" y="1600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Built-in privacy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20574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figure is released with fewer than 5 people behind it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total is shown that would let a small team be subtracted back out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biometric, wearable or message-content data, ever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Medical detail stays C4; clients see restrictions only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Measures are computed in place from Premier, Workday and timekeeping; the voluntary survey is the only new collection.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offerings at a glance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Employer Organization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Living Capital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problem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Ungoverned, uninsured AI agents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Burnout, turnover and layoffs as the only lever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Inspiration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Insperity's own co-employment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Barry-Wehmiller, Patagonia, Mondragon, Buurtzorg, Gore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Insperity holds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Identity, certification, monitoring, insurance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Pooled programs, measurement, human services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of sale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agent per 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employee per month, above HR360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 in 10 domains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 in 9 domains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Assembled from existing blocks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assemble · 14 extend · 82% block reuse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assemble · 17 extend · 83% block reuse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components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credential issuance; Multi-tenant agent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Cross-client matching marketplace; Secondment framework; Pooled fund vehicle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Waits for counsel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Liability schedule; Agent Comp carrier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services, such as pooled funds and secondments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 and insure, 5–10 clients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20–30 HR360 clients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projections are built</a:t>
            </a:r>
            <a:endParaRPr lang="en-US" sz="3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60120"/>
                <a:gridCol w="960120"/>
                <a:gridCol w="960120"/>
                <a:gridCol w="960120"/>
                <a:gridCol w="960120"/>
                <a:gridCol w="36118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Employees on Living Capital (avg)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7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= 20–30 pilot clients; year 5 ≈ one-third of today's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Living Capital fee ($ PEPM, added)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7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Placeholder; the pilot sets price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under the AEO (avg)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7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= 5–10 pilot clients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AEO fee ($ per agent per month)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7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Blend of attest-and-insure and co-deployment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Method note"/>
          <p:cNvSpPr/>
          <p:nvPr/>
        </p:nvSpPr>
        <p:spPr>
          <a:xfrm>
            <a:off x="548640" y="4343400"/>
            <a:ext cx="110642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45262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Revenue = units × monthly fee × 12.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Not modeled: retention lift on the core PEO fee, Agent Comp premium margin, delivery cost and carrier share. These are illustrative planning assumptions, not a forecast; every input is an open question the pilot answers.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case reaches about $96M in year 5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503920" y="1554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$96M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2212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base-case new revenue in year 5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2971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56%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363016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of year-5 revenue from the AEO, from a near-zero start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43891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$9M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 year 2, the first full year after the pilot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Illustrative planning assumptions, not a forecast. Year 1 is the pilot.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Adoption drives every number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17920" y="13716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Living Capital reaches about one-third of today's ~300,000 worksite employees by year 5. AEO counts are averages across the year.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 5 lands between $48M and $144M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rivers"/>
          <p:cNvSpPr/>
          <p:nvPr/>
        </p:nvSpPr>
        <p:spPr>
          <a:xfrm>
            <a:off x="7680960" y="1463040"/>
            <a:ext cx="3931920" cy="4206240"/>
          </a:xfrm>
          <a:prstGeom prst="roundRect">
            <a:avLst>
              <a:gd name="adj" fmla="val 2326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95528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moves the range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219456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Carrier appetite for Agent Comp sets the AEO fee and pace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Counsel's view of pooled funds decides whether Living Capital pools across clients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Pilot renewals set willingness to pay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Upside not shown: higher renewal of the core PEO fee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Scenarios scale adoption only; fees are held at the base-case placeholders.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has to be true</a:t>
            </a:r>
            <a:endParaRPr lang="en-US" sz="3400" dirty="0"/>
          </a:p>
        </p:txBody>
      </p:sp>
      <p:sp>
        <p:nvSpPr>
          <p:cNvPr id="3" name="The platform core gets built first"/>
          <p:cNvSpPr/>
          <p:nvPr/>
        </p:nvSpPr>
        <p:spPr>
          <a:xfrm>
            <a:off x="548640" y="1417320"/>
            <a:ext cx="5440680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platform core gets built first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1945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gateway, the decision-envelope contract and the agent registry are designed, not built. Both offerings assume them.</a:t>
            </a:r>
            <a:endParaRPr lang="en-US" sz="1400" dirty="0"/>
          </a:p>
        </p:txBody>
      </p:sp>
      <p:sp>
        <p:nvSpPr>
          <p:cNvPr id="7" name="It is proven on our own advisors"/>
          <p:cNvSpPr/>
          <p:nvPr/>
        </p:nvSpPr>
        <p:spPr>
          <a:xfrm>
            <a:off x="6172200" y="1417320"/>
            <a:ext cx="5440680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645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proven on our own advisors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040880" y="21945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Run it on the Sales Advisor and Customer Advisor, then a second agent family, before any client relies on it.</a:t>
            </a:r>
            <a:endParaRPr lang="en-US" sz="1400" dirty="0"/>
          </a:p>
        </p:txBody>
      </p:sp>
      <p:sp>
        <p:nvSpPr>
          <p:cNvPr id="11" name="Counsel rules where the law is open"/>
          <p:cNvSpPr/>
          <p:nvPr/>
        </p:nvSpPr>
        <p:spPr>
          <a:xfrm>
            <a:off x="548640" y="3657600"/>
            <a:ext cx="5440680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886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Counsel rules where the law is open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443484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AEO liability schedule, and 10 Living Capital services such as pooled funds and secondments.</a:t>
            </a:r>
            <a:endParaRPr lang="en-US" sz="1400" dirty="0"/>
          </a:p>
        </p:txBody>
      </p:sp>
      <p:sp>
        <p:nvSpPr>
          <p:cNvPr id="15" name="A carrier writes Agent Comp"/>
          <p:cNvSpPr/>
          <p:nvPr/>
        </p:nvSpPr>
        <p:spPr>
          <a:xfrm>
            <a:off x="6172200" y="3657600"/>
            <a:ext cx="5440680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3886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carrier writes Agent Comp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443484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Until then the cover is partner-delivered, and pilot loss data prices a master policy.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Sequence: prove internally, industrialize for a second agent family, then externalize to clients.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gates stand before a year-two launch</a:t>
            </a:r>
            <a:endParaRPr lang="en-US" sz="3400" dirty="0"/>
          </a:p>
        </p:txBody>
      </p:sp>
      <p:sp>
        <p:nvSpPr>
          <p:cNvPr id="3" name="Set up phase"/>
          <p:cNvSpPr/>
          <p:nvPr/>
        </p:nvSpPr>
        <p:spPr>
          <a:xfrm>
            <a:off x="548640" y="1463040"/>
            <a:ext cx="2560320" cy="29260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Months 1–3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1460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Build gateway, envelope, registry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Counsel on liability and funds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Carrier outreach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Sign pilot clients</a:t>
            </a:r>
            <a:endParaRPr lang="en-US" sz="1300" dirty="0"/>
          </a:p>
        </p:txBody>
      </p:sp>
      <p:sp>
        <p:nvSpPr>
          <p:cNvPr id="7" name="Pilot phase"/>
          <p:cNvSpPr/>
          <p:nvPr/>
        </p:nvSpPr>
        <p:spPr>
          <a:xfrm>
            <a:off x="3383280" y="1463040"/>
            <a:ext cx="2560320" cy="29260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1188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Months 4–9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1460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Living Capital, 20–30 clients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AEO attest, 5–10 clients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Quarterly scorecards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Agent loss data</a:t>
            </a:r>
            <a:endParaRPr lang="en-US" sz="1300" dirty="0"/>
          </a:p>
        </p:txBody>
      </p:sp>
      <p:sp>
        <p:nvSpPr>
          <p:cNvPr id="11" name="Decide phase"/>
          <p:cNvSpPr/>
          <p:nvPr/>
        </p:nvSpPr>
        <p:spPr>
          <a:xfrm>
            <a:off x="6217920" y="1463040"/>
            <a:ext cx="2560320" cy="29260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Months 10–12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51460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Renewals vs. cohort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Set prices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Go or no-go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Design blended deal</a:t>
            </a:r>
            <a:endParaRPr lang="en-US" sz="1300" dirty="0"/>
          </a:p>
        </p:txBody>
      </p:sp>
      <p:sp>
        <p:nvSpPr>
          <p:cNvPr id="15" name="Scale phase"/>
          <p:cNvSpPr/>
          <p:nvPr/>
        </p:nvSpPr>
        <p:spPr>
          <a:xfrm>
            <a:off x="9052560" y="1463040"/>
            <a:ext cx="2560320" cy="2926080"/>
          </a:xfrm>
          <a:prstGeom prst="roundRect">
            <a:avLst>
              <a:gd name="adj" fmla="val 3571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8116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281160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Year 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81160" y="251460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Living Capital GA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Full AEO hosting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Blended agreement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Enterprise labs</a:t>
            </a:r>
            <a:endParaRPr lang="en-US" sz="1300" dirty="0"/>
          </a:p>
        </p:txBody>
      </p:sp>
      <p:sp>
        <p:nvSpPr>
          <p:cNvPr id="19" name="Gate line"/>
          <p:cNvSpPr/>
          <p:nvPr/>
        </p:nvSpPr>
        <p:spPr>
          <a:xfrm>
            <a:off x="548640" y="4846320"/>
            <a:ext cx="11064240" cy="0"/>
          </a:xfrm>
          <a:prstGeom prst="line">
            <a:avLst/>
          </a:prstGeom>
          <a:noFill/>
          <a:ln w="19050">
            <a:solidFill>
              <a:srgbClr val="A9C4A6"/>
            </a:solidFill>
            <a:prstDash val="solid"/>
          </a:ln>
        </p:spPr>
      </p:sp>
      <p:sp>
        <p:nvSpPr>
          <p:cNvPr id="20" name="Gate A"/>
          <p:cNvSpPr/>
          <p:nvPr/>
        </p:nvSpPr>
        <p:spPr>
          <a:xfrm>
            <a:off x="3090672" y="4690872"/>
            <a:ext cx="310896" cy="310896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A676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65960" y="5120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Gate 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5394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Platform core in shadow; counsel clears the schedule; 20+ clients signed</a:t>
            </a:r>
            <a:endParaRPr lang="en-US" sz="1200" dirty="0"/>
          </a:p>
        </p:txBody>
      </p:sp>
      <p:sp>
        <p:nvSpPr>
          <p:cNvPr id="23" name="Gate B"/>
          <p:cNvSpPr/>
          <p:nvPr/>
        </p:nvSpPr>
        <p:spPr>
          <a:xfrm>
            <a:off x="5925312" y="4690872"/>
            <a:ext cx="310896" cy="310896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A676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00600" y="5120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Gate B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00600" y="5394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Carrier quote in hand; scorecard on track</a:t>
            </a:r>
            <a:endParaRPr lang="en-US" sz="1200" dirty="0"/>
          </a:p>
        </p:txBody>
      </p:sp>
      <p:sp>
        <p:nvSpPr>
          <p:cNvPr id="26" name="Gate C: launch"/>
          <p:cNvSpPr/>
          <p:nvPr/>
        </p:nvSpPr>
        <p:spPr>
          <a:xfrm>
            <a:off x="8759952" y="4690872"/>
            <a:ext cx="310896" cy="310896"/>
          </a:xfrm>
          <a:prstGeom prst="diamond">
            <a:avLst/>
          </a:prstGeom>
          <a:solidFill>
            <a:srgbClr val="C98F2B"/>
          </a:solidFill>
          <a:ln w="15875">
            <a:solidFill>
              <a:srgbClr val="C98F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35240" y="5120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Gate C: launch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635240" y="5394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Renewal lift of 5+ points; no unresolved loss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 risk outweighs technical risk</a:t>
            </a:r>
            <a:endParaRPr lang="en-US" sz="3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3108960"/>
                <a:gridCol w="356616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matters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liability allocation is untested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contract construct no court has applied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 drafts the schedule; pilot clients sign it as a side letter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carrier appetite for Agent Comp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loss history barely exists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Partner-delivered cover first; pilot loss data prices a master policy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Pooled leave or furlough funds read as insurance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Living Capital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Pooling across employers can trigger regulation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Client-segregated reserves until counsel clears pooling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Secondments create joint-employer exposure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Living Capital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host client directs the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Gated until a secondment framework and host agreement exist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platform core slips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offerings assume the gateway, envelope and registry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A requires them running in shadow on internal advisors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agent or privacy incident hits the brand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public failure reaches every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 breakers, cell-size rules and attest-only scope in the pilot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requested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087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Approve a 12-month pilot of both offerings, a cross-functional team from product, IT, benefits, compliance, legal and enterprise analytics, a budget sized in phase 1, and outside counsel for the liability schedule and pooled funds.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80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3"/>
                </a:solidFill>
              </a:rPr>
              <a:t>PILOT SUCCESS MEASURES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918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5+ pts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2976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renewal lift over a matched cohort of HR360 clients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32918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↑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42976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net energy score, year end vs. year start, in pilot clients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32918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50+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42976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agents under attestation across 5–10 clients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0" y="32918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0" y="42976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carrier quote for a master Agent Comp policy by month 9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731520" y="228600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731520" y="3703320"/>
            <a:ext cx="98755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28600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Appendix: how the platform assembles and delivers new services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98755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Keel and North Star, built on the Holonic Semantic Governance Architecture v4.2</a:t>
            </a:r>
            <a:endParaRPr lang="en-US" sz="1800" dirty="0"/>
          </a:p>
        </p:txBody>
      </p:sp>
      <p:sp>
        <p:nvSpPr>
          <p:cNvPr id="4" name="Keel circle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Keel icon" descr="Ke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303020"/>
            <a:ext cx="411480" cy="411480"/>
          </a:xfrm>
          <a:prstGeom prst="rect">
            <a:avLst/>
          </a:prstGeom>
        </p:spPr>
      </p:pic>
      <p:sp>
        <p:nvSpPr>
          <p:cNvPr id="6" name="North Star circle"/>
          <p:cNvSpPr/>
          <p:nvPr/>
        </p:nvSpPr>
        <p:spPr>
          <a:xfrm>
            <a:off x="1737360" y="109728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North Star icon" descr="North S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100" y="1303020"/>
            <a:ext cx="411480" cy="411480"/>
          </a:xfrm>
          <a:prstGeom prst="rect">
            <a:avLst/>
          </a:prstGeom>
        </p:spPr>
      </p:pic>
      <p:sp>
        <p:nvSpPr>
          <p:cNvPr id="8" name="Assembly circle"/>
          <p:cNvSpPr/>
          <p:nvPr/>
        </p:nvSpPr>
        <p:spPr>
          <a:xfrm>
            <a:off x="2743200" y="109728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9" name="Assembly icon" descr="Assemb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8940" y="1303020"/>
            <a:ext cx="411480" cy="411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Assemble, don't build: three design choices</a:t>
            </a:r>
            <a:endParaRPr lang="en-US" sz="3400" dirty="0"/>
          </a:p>
        </p:txBody>
      </p:sp>
      <p:sp>
        <p:nvSpPr>
          <p:cNvPr id="3" name="Define once, enforce everywhere"/>
          <p:cNvSpPr/>
          <p:nvPr/>
        </p:nvSpPr>
        <p:spPr>
          <a:xfrm>
            <a:off x="548640" y="1417320"/>
            <a:ext cx="3566160" cy="434340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 once, enforce everywhere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8036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Rules are defined once against business concepts and compiled into the tools we already run: OPA, dbt and Fabric, search filters. Each compiled rule is traceable to its source.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8006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Today: the same rule re-coded in the gateway, the warehouse, the app and the prompt.</a:t>
            </a:r>
            <a:endParaRPr lang="en-US" sz="1200" dirty="0"/>
          </a:p>
        </p:txBody>
      </p:sp>
      <p:sp>
        <p:nvSpPr>
          <p:cNvPr id="8" name="Map, don't migrate"/>
          <p:cNvSpPr/>
          <p:nvPr/>
        </p:nvSpPr>
        <p:spPr>
          <a:xfrm>
            <a:off x="4297680" y="1417320"/>
            <a:ext cx="3566160" cy="434340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6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194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Map, don't migrate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88036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Premier, Workday and Box stay where they are. A mapping layer ties them to business concepts, so a schema change touches a mapping, not the products built on it.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48006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Today: point-to-point integrations refactored whenever a source changes.</a:t>
            </a:r>
            <a:endParaRPr lang="en-US" sz="1200" dirty="0"/>
          </a:p>
        </p:txBody>
      </p:sp>
      <p:sp>
        <p:nvSpPr>
          <p:cNvPr id="13" name="One gateway, no side doors"/>
          <p:cNvSpPr/>
          <p:nvPr/>
        </p:nvSpPr>
        <p:spPr>
          <a:xfrm>
            <a:off x="8046720" y="1417320"/>
            <a:ext cx="3566160" cy="434340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53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194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gateway, no side doors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88036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agent action passes one gateway with classification, disclosure rules, a circuit breaker and human approval for anything irreversible.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48006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Today: agents call tools directly; logs show what happened afterward.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Result: a new service is mostly configuration (terms, mappings, rules and agent registrations) released through one governed pipeline.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holarchy: every layer governs itself and composes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874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North Star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agent fabric</a:t>
            </a:r>
            <a:endParaRPr lang="en-US" sz="1200" dirty="0"/>
          </a:p>
        </p:txBody>
      </p:sp>
      <p:sp>
        <p:nvSpPr>
          <p:cNvPr id="4" name="North Star agent fabric"/>
          <p:cNvSpPr/>
          <p:nvPr/>
        </p:nvSpPr>
        <p:spPr>
          <a:xfrm>
            <a:off x="2514600" y="1325880"/>
            <a:ext cx="9098280" cy="676656"/>
          </a:xfrm>
          <a:prstGeom prst="roundRect">
            <a:avLst>
              <a:gd name="adj" fmla="val 10811"/>
            </a:avLst>
          </a:prstGeom>
          <a:solidFill>
            <a:srgbClr val="EEF3EE"/>
          </a:solidFill>
          <a:ln w="12700">
            <a:solidFill>
              <a:srgbClr val="5E8C61"/>
            </a:solidFill>
            <a:prstDash val="solid"/>
          </a:ln>
        </p:spPr>
      </p:sp>
      <p:sp>
        <p:nvSpPr>
          <p:cNvPr id="5" name="Orchestrator"/>
          <p:cNvSpPr/>
          <p:nvPr/>
        </p:nvSpPr>
        <p:spPr>
          <a:xfrm>
            <a:off x="2651760" y="1444752"/>
            <a:ext cx="167701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5E8C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651760" y="1444752"/>
            <a:ext cx="16770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Orchestrator</a:t>
            </a:r>
            <a:endParaRPr lang="en-US" sz="1200" dirty="0"/>
          </a:p>
        </p:txBody>
      </p:sp>
      <p:sp>
        <p:nvSpPr>
          <p:cNvPr id="7" name="Domain agents"/>
          <p:cNvSpPr/>
          <p:nvPr/>
        </p:nvSpPr>
        <p:spPr>
          <a:xfrm>
            <a:off x="4438498" y="1444752"/>
            <a:ext cx="167701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5E8C6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38498" y="1444752"/>
            <a:ext cx="16770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Domain agents</a:t>
            </a:r>
            <a:endParaRPr lang="en-US" sz="1200" dirty="0"/>
          </a:p>
        </p:txBody>
      </p:sp>
      <p:sp>
        <p:nvSpPr>
          <p:cNvPr id="9" name="Insights"/>
          <p:cNvSpPr/>
          <p:nvPr/>
        </p:nvSpPr>
        <p:spPr>
          <a:xfrm>
            <a:off x="6225235" y="1444752"/>
            <a:ext cx="167701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5E8C6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25235" y="1444752"/>
            <a:ext cx="16770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Insights</a:t>
            </a:r>
            <a:endParaRPr lang="en-US" sz="1200" dirty="0"/>
          </a:p>
        </p:txBody>
      </p:sp>
      <p:sp>
        <p:nvSpPr>
          <p:cNvPr id="11" name="Composer · Handoff"/>
          <p:cNvSpPr/>
          <p:nvPr/>
        </p:nvSpPr>
        <p:spPr>
          <a:xfrm>
            <a:off x="8011973" y="1444752"/>
            <a:ext cx="167701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5E8C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11973" y="1444752"/>
            <a:ext cx="16770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Composer · Handoff</a:t>
            </a:r>
            <a:endParaRPr lang="en-US" sz="1200" dirty="0"/>
          </a:p>
        </p:txBody>
      </p:sp>
      <p:sp>
        <p:nvSpPr>
          <p:cNvPr id="13" name="Envelope contract"/>
          <p:cNvSpPr/>
          <p:nvPr/>
        </p:nvSpPr>
        <p:spPr>
          <a:xfrm>
            <a:off x="9798710" y="1444752"/>
            <a:ext cx="167701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5E8C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798710" y="1444752"/>
            <a:ext cx="16770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Envelope contract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093976"/>
            <a:ext cx="1874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L3 Gateway holon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(RDSG)</a:t>
            </a:r>
            <a:endParaRPr lang="en-US" sz="1200" dirty="0"/>
          </a:p>
        </p:txBody>
      </p:sp>
      <p:sp>
        <p:nvSpPr>
          <p:cNvPr id="16" name="L3 Gateway holon (RDSG)"/>
          <p:cNvSpPr/>
          <p:nvPr/>
        </p:nvSpPr>
        <p:spPr>
          <a:xfrm>
            <a:off x="2514600" y="2093976"/>
            <a:ext cx="9098280" cy="676656"/>
          </a:xfrm>
          <a:prstGeom prst="roundRect">
            <a:avLst>
              <a:gd name="adj" fmla="val 10811"/>
            </a:avLst>
          </a:prstGeom>
          <a:solidFill>
            <a:srgbClr val="F6ECD9"/>
          </a:solidFill>
          <a:ln w="25400">
            <a:solidFill>
              <a:srgbClr val="C98F2B"/>
            </a:solidFill>
            <a:prstDash val="solid"/>
          </a:ln>
        </p:spPr>
      </p:sp>
      <p:sp>
        <p:nvSpPr>
          <p:cNvPr id="17" name="Context bundle"/>
          <p:cNvSpPr/>
          <p:nvPr/>
        </p:nvSpPr>
        <p:spPr>
          <a:xfrm>
            <a:off x="2651760" y="2212848"/>
            <a:ext cx="13792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C98F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51760" y="2212848"/>
            <a:ext cx="13792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Context bundle</a:t>
            </a:r>
            <a:endParaRPr lang="en-US" sz="1200" dirty="0"/>
          </a:p>
        </p:txBody>
      </p:sp>
      <p:sp>
        <p:nvSpPr>
          <p:cNvPr id="19" name="Enforcement 1–4"/>
          <p:cNvSpPr/>
          <p:nvPr/>
        </p:nvSpPr>
        <p:spPr>
          <a:xfrm>
            <a:off x="4140708" y="2212848"/>
            <a:ext cx="13792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C98F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140708" y="2212848"/>
            <a:ext cx="13792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Enforcement 1–4</a:t>
            </a:r>
            <a:endParaRPr lang="en-US" sz="1200" dirty="0"/>
          </a:p>
        </p:txBody>
      </p:sp>
      <p:sp>
        <p:nvSpPr>
          <p:cNvPr id="21" name="AI directive"/>
          <p:cNvSpPr/>
          <p:nvPr/>
        </p:nvSpPr>
        <p:spPr>
          <a:xfrm>
            <a:off x="5629656" y="2212848"/>
            <a:ext cx="13792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C98F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29656" y="2212848"/>
            <a:ext cx="13792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 directive</a:t>
            </a:r>
            <a:endParaRPr lang="en-US" sz="1200" dirty="0"/>
          </a:p>
        </p:txBody>
      </p:sp>
      <p:sp>
        <p:nvSpPr>
          <p:cNvPr id="23" name="Service facade"/>
          <p:cNvSpPr/>
          <p:nvPr/>
        </p:nvSpPr>
        <p:spPr>
          <a:xfrm>
            <a:off x="7118604" y="2212848"/>
            <a:ext cx="13792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C98F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18604" y="2212848"/>
            <a:ext cx="13792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Service facade</a:t>
            </a:r>
            <a:endParaRPr lang="en-US" sz="1200" dirty="0"/>
          </a:p>
        </p:txBody>
      </p:sp>
      <p:sp>
        <p:nvSpPr>
          <p:cNvPr id="25" name="Simplex gate"/>
          <p:cNvSpPr/>
          <p:nvPr/>
        </p:nvSpPr>
        <p:spPr>
          <a:xfrm>
            <a:off x="8607552" y="2212848"/>
            <a:ext cx="13792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C98F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07552" y="2212848"/>
            <a:ext cx="13792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Simplex gate</a:t>
            </a:r>
            <a:endParaRPr lang="en-US" sz="1200" dirty="0"/>
          </a:p>
        </p:txBody>
      </p:sp>
      <p:sp>
        <p:nvSpPr>
          <p:cNvPr id="27" name="Circuit breaker"/>
          <p:cNvSpPr/>
          <p:nvPr/>
        </p:nvSpPr>
        <p:spPr>
          <a:xfrm>
            <a:off x="10096500" y="2212848"/>
            <a:ext cx="13792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C98F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96500" y="2212848"/>
            <a:ext cx="13792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Circuit breaker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2862072"/>
            <a:ext cx="1874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Governance layer</a:t>
            </a:r>
            <a:endParaRPr lang="en-US" sz="1200" dirty="0"/>
          </a:p>
        </p:txBody>
      </p:sp>
      <p:sp>
        <p:nvSpPr>
          <p:cNvPr id="30" name="Governance layer"/>
          <p:cNvSpPr/>
          <p:nvPr/>
        </p:nvSpPr>
        <p:spPr>
          <a:xfrm>
            <a:off x="2514600" y="2862072"/>
            <a:ext cx="909828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5A6763"/>
            </a:solidFill>
            <a:prstDash val="solid"/>
          </a:ln>
        </p:spPr>
      </p:sp>
      <p:sp>
        <p:nvSpPr>
          <p:cNvPr id="31" name="Rule harmonization"/>
          <p:cNvSpPr/>
          <p:nvPr/>
        </p:nvSpPr>
        <p:spPr>
          <a:xfrm>
            <a:off x="2651760" y="2980944"/>
            <a:ext cx="2868168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5A676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51760" y="2980944"/>
            <a:ext cx="2868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Rule harmonization</a:t>
            </a:r>
            <a:endParaRPr lang="en-US" sz="1200" dirty="0"/>
          </a:p>
        </p:txBody>
      </p:sp>
      <p:sp>
        <p:nvSpPr>
          <p:cNvPr id="33" name="Rule projection"/>
          <p:cNvSpPr/>
          <p:nvPr/>
        </p:nvSpPr>
        <p:spPr>
          <a:xfrm>
            <a:off x="5629656" y="2980944"/>
            <a:ext cx="2868168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5A676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29656" y="2980944"/>
            <a:ext cx="2868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Rule projection</a:t>
            </a:r>
            <a:endParaRPr lang="en-US" sz="1200" dirty="0"/>
          </a:p>
        </p:txBody>
      </p:sp>
      <p:sp>
        <p:nvSpPr>
          <p:cNvPr id="35" name="Compiled policy registry"/>
          <p:cNvSpPr/>
          <p:nvPr/>
        </p:nvSpPr>
        <p:spPr>
          <a:xfrm>
            <a:off x="8607552" y="2980944"/>
            <a:ext cx="2868168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5A676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607552" y="2980944"/>
            <a:ext cx="2868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Compiled policy registry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3630168"/>
            <a:ext cx="1874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L1–L2 Keel holons</a:t>
            </a:r>
            <a:endParaRPr lang="en-US" sz="1200" dirty="0"/>
          </a:p>
        </p:txBody>
      </p:sp>
      <p:sp>
        <p:nvSpPr>
          <p:cNvPr id="38" name="L1–L2 Keel holons"/>
          <p:cNvSpPr/>
          <p:nvPr/>
        </p:nvSpPr>
        <p:spPr>
          <a:xfrm>
            <a:off x="2514600" y="3630168"/>
            <a:ext cx="9098280" cy="676656"/>
          </a:xfrm>
          <a:prstGeom prst="roundRect">
            <a:avLst>
              <a:gd name="adj" fmla="val 10811"/>
            </a:avLst>
          </a:prstGeom>
          <a:solidFill>
            <a:srgbClr val="EEF3EE"/>
          </a:solidFill>
          <a:ln w="12700">
            <a:solidFill>
              <a:srgbClr val="1B2E2A"/>
            </a:solidFill>
            <a:prstDash val="solid"/>
          </a:ln>
        </p:spPr>
      </p:sp>
      <p:sp>
        <p:nvSpPr>
          <p:cNvPr id="39" name="Ontologies"/>
          <p:cNvSpPr/>
          <p:nvPr/>
        </p:nvSpPr>
        <p:spPr>
          <a:xfrm>
            <a:off x="2651760" y="3749040"/>
            <a:ext cx="13792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1B2E2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651760" y="3749040"/>
            <a:ext cx="13792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Ontologies</a:t>
            </a:r>
            <a:endParaRPr lang="en-US" sz="1200" dirty="0"/>
          </a:p>
        </p:txBody>
      </p:sp>
      <p:sp>
        <p:nvSpPr>
          <p:cNvPr id="41" name="ORSD · KGCL"/>
          <p:cNvSpPr/>
          <p:nvPr/>
        </p:nvSpPr>
        <p:spPr>
          <a:xfrm>
            <a:off x="4140708" y="3749040"/>
            <a:ext cx="13792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1B2E2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140708" y="3749040"/>
            <a:ext cx="13792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ORSD · KGCL</a:t>
            </a:r>
            <a:endParaRPr lang="en-US" sz="1200" dirty="0"/>
          </a:p>
        </p:txBody>
      </p:sp>
      <p:sp>
        <p:nvSpPr>
          <p:cNvPr id="43" name="SHACL · SWRL"/>
          <p:cNvSpPr/>
          <p:nvPr/>
        </p:nvSpPr>
        <p:spPr>
          <a:xfrm>
            <a:off x="5629656" y="3749040"/>
            <a:ext cx="13792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1B2E2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29656" y="3749040"/>
            <a:ext cx="13792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SHACL · SWRL</a:t>
            </a:r>
            <a:endParaRPr lang="en-US" sz="1200" dirty="0"/>
          </a:p>
        </p:txBody>
      </p:sp>
      <p:sp>
        <p:nvSpPr>
          <p:cNvPr id="45" name="LKIF norms"/>
          <p:cNvSpPr/>
          <p:nvPr/>
        </p:nvSpPr>
        <p:spPr>
          <a:xfrm>
            <a:off x="7118604" y="3749040"/>
            <a:ext cx="13792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1B2E2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18604" y="3749040"/>
            <a:ext cx="13792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LKIF norms</a:t>
            </a:r>
            <a:endParaRPr lang="en-US" sz="1200" dirty="0"/>
          </a:p>
        </p:txBody>
      </p:sp>
      <p:sp>
        <p:nvSpPr>
          <p:cNvPr id="47" name="Classification"/>
          <p:cNvSpPr/>
          <p:nvPr/>
        </p:nvSpPr>
        <p:spPr>
          <a:xfrm>
            <a:off x="8607552" y="3749040"/>
            <a:ext cx="13792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1B2E2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607552" y="3749040"/>
            <a:ext cx="13792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Classification</a:t>
            </a:r>
            <a:endParaRPr lang="en-US" sz="1200" dirty="0"/>
          </a:p>
        </p:txBody>
      </p:sp>
      <p:sp>
        <p:nvSpPr>
          <p:cNvPr id="49" name="Agent registry"/>
          <p:cNvSpPr/>
          <p:nvPr/>
        </p:nvSpPr>
        <p:spPr>
          <a:xfrm>
            <a:off x="10096500" y="3749040"/>
            <a:ext cx="13792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1B2E2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96500" y="3749040"/>
            <a:ext cx="13792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Agent registry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4398264"/>
            <a:ext cx="1874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Mediation Holon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(lateral)</a:t>
            </a:r>
            <a:endParaRPr lang="en-US" sz="1200" dirty="0"/>
          </a:p>
        </p:txBody>
      </p:sp>
      <p:sp>
        <p:nvSpPr>
          <p:cNvPr id="52" name="Mediation Holon (lateral)"/>
          <p:cNvSpPr/>
          <p:nvPr/>
        </p:nvSpPr>
        <p:spPr>
          <a:xfrm>
            <a:off x="2514600" y="4398264"/>
            <a:ext cx="909828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5E8C61"/>
            </a:solidFill>
            <a:prstDash val="solid"/>
          </a:ln>
        </p:spPr>
      </p:sp>
      <p:sp>
        <p:nvSpPr>
          <p:cNvPr id="53" name="Mapping graph"/>
          <p:cNvSpPr/>
          <p:nvPr/>
        </p:nvSpPr>
        <p:spPr>
          <a:xfrm>
            <a:off x="2651760" y="4517136"/>
            <a:ext cx="2123694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5E8C61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2651760" y="4517136"/>
            <a:ext cx="212369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Mapping graph</a:t>
            </a:r>
            <a:endParaRPr lang="en-US" sz="1200" dirty="0"/>
          </a:p>
        </p:txBody>
      </p:sp>
      <p:sp>
        <p:nvSpPr>
          <p:cNvPr id="55" name="URI registry"/>
          <p:cNvSpPr/>
          <p:nvPr/>
        </p:nvSpPr>
        <p:spPr>
          <a:xfrm>
            <a:off x="4885182" y="4517136"/>
            <a:ext cx="2123694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5E8C6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885182" y="4517136"/>
            <a:ext cx="212369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URI registry</a:t>
            </a:r>
            <a:endParaRPr lang="en-US" sz="1200" dirty="0"/>
          </a:p>
        </p:txBody>
      </p:sp>
      <p:sp>
        <p:nvSpPr>
          <p:cNvPr id="57" name="Lineage agents"/>
          <p:cNvSpPr/>
          <p:nvPr/>
        </p:nvSpPr>
        <p:spPr>
          <a:xfrm>
            <a:off x="7118604" y="4517136"/>
            <a:ext cx="2123694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5E8C6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118604" y="4517136"/>
            <a:ext cx="212369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Lineage agents</a:t>
            </a:r>
            <a:endParaRPr lang="en-US" sz="1200" dirty="0"/>
          </a:p>
        </p:txBody>
      </p:sp>
      <p:sp>
        <p:nvSpPr>
          <p:cNvPr id="59" name="RAG anchors"/>
          <p:cNvSpPr/>
          <p:nvPr/>
        </p:nvSpPr>
        <p:spPr>
          <a:xfrm>
            <a:off x="9352026" y="4517136"/>
            <a:ext cx="2123694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5E8C6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352026" y="4517136"/>
            <a:ext cx="212369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RAG anchors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548640" y="5166360"/>
            <a:ext cx="1874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Systems of record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via ports</a:t>
            </a:r>
            <a:endParaRPr lang="en-US" sz="1200" dirty="0"/>
          </a:p>
        </p:txBody>
      </p:sp>
      <p:sp>
        <p:nvSpPr>
          <p:cNvPr id="62" name="Systems of record via ports"/>
          <p:cNvSpPr/>
          <p:nvPr/>
        </p:nvSpPr>
        <p:spPr>
          <a:xfrm>
            <a:off x="2514600" y="5166360"/>
            <a:ext cx="909828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5A6763"/>
            </a:solidFill>
            <a:prstDash val="solid"/>
          </a:ln>
        </p:spPr>
      </p:sp>
      <p:sp>
        <p:nvSpPr>
          <p:cNvPr id="63" name="Premier"/>
          <p:cNvSpPr/>
          <p:nvPr/>
        </p:nvSpPr>
        <p:spPr>
          <a:xfrm>
            <a:off x="2651760" y="5285232"/>
            <a:ext cx="2123694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5A6763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51760" y="5285232"/>
            <a:ext cx="212369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Premier</a:t>
            </a:r>
            <a:endParaRPr lang="en-US" sz="1200" dirty="0"/>
          </a:p>
        </p:txBody>
      </p:sp>
      <p:sp>
        <p:nvSpPr>
          <p:cNvPr id="65" name="Workday HRScale"/>
          <p:cNvSpPr/>
          <p:nvPr/>
        </p:nvSpPr>
        <p:spPr>
          <a:xfrm>
            <a:off x="4885182" y="5285232"/>
            <a:ext cx="2123694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5A6763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885182" y="5285232"/>
            <a:ext cx="212369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Workday HRScale</a:t>
            </a:r>
            <a:endParaRPr lang="en-US" sz="1200" dirty="0"/>
          </a:p>
        </p:txBody>
      </p:sp>
      <p:sp>
        <p:nvSpPr>
          <p:cNvPr id="67" name="Box"/>
          <p:cNvSpPr/>
          <p:nvPr/>
        </p:nvSpPr>
        <p:spPr>
          <a:xfrm>
            <a:off x="7118604" y="5285232"/>
            <a:ext cx="2123694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5A6763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118604" y="5285232"/>
            <a:ext cx="212369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Box</a:t>
            </a:r>
            <a:endParaRPr lang="en-US" sz="1200" dirty="0"/>
          </a:p>
        </p:txBody>
      </p:sp>
      <p:sp>
        <p:nvSpPr>
          <p:cNvPr id="69" name="Microsoft Fabric"/>
          <p:cNvSpPr/>
          <p:nvPr/>
        </p:nvSpPr>
        <p:spPr>
          <a:xfrm>
            <a:off x="9352026" y="5285232"/>
            <a:ext cx="2123694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5A6763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352026" y="5285232"/>
            <a:ext cx="212369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Microsoft Fabric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v4.2 levels: L1 knowledge holons, L2 domain holons, L3 the gateway, L4 the enterprise holarchy (council, domain teams, CoE). The Mediation Holon runs across all of them.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 once: the compilation pipeline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rule is authored once as SHACL, SWRL or an LKIF norm against business concepts. Before it ships, six stages turn it into runtime-native policy.</a:t>
            </a:r>
            <a:endParaRPr lang="en-US" sz="1500" dirty="0"/>
          </a:p>
        </p:txBody>
      </p:sp>
      <p:sp>
        <p:nvSpPr>
          <p:cNvPr id="4" name="step 1"/>
          <p:cNvSpPr/>
          <p:nvPr/>
        </p:nvSpPr>
        <p:spPr>
          <a:xfrm>
            <a:off x="548640" y="1965960"/>
            <a:ext cx="167640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2075688"/>
            <a:ext cx="1456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Parse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14600"/>
            <a:ext cx="1456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Load the rule and its domain context</a:t>
            </a:r>
            <a:endParaRPr lang="en-US" sz="1200" dirty="0"/>
          </a:p>
        </p:txBody>
      </p:sp>
      <p:sp>
        <p:nvSpPr>
          <p:cNvPr id="7" name="arrow 1"/>
          <p:cNvSpPr/>
          <p:nvPr/>
        </p:nvSpPr>
        <p:spPr>
          <a:xfrm>
            <a:off x="2261616" y="253746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8" name="step 2"/>
          <p:cNvSpPr/>
          <p:nvPr/>
        </p:nvSpPr>
        <p:spPr>
          <a:xfrm>
            <a:off x="2426208" y="1965960"/>
            <a:ext cx="167640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35936" y="2075688"/>
            <a:ext cx="1456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Extract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535936" y="2514600"/>
            <a:ext cx="1456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Pull cardinality, ranges and logic in neutral form</a:t>
            </a:r>
            <a:endParaRPr lang="en-US" sz="1200" dirty="0"/>
          </a:p>
        </p:txBody>
      </p:sp>
      <p:sp>
        <p:nvSpPr>
          <p:cNvPr id="11" name="arrow 2"/>
          <p:cNvSpPr/>
          <p:nvPr/>
        </p:nvSpPr>
        <p:spPr>
          <a:xfrm>
            <a:off x="4139184" y="253746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12" name="step 3"/>
          <p:cNvSpPr/>
          <p:nvPr/>
        </p:nvSpPr>
        <p:spPr>
          <a:xfrm>
            <a:off x="4303776" y="1965960"/>
            <a:ext cx="1676400" cy="1417320"/>
          </a:xfrm>
          <a:prstGeom prst="roundRect">
            <a:avLst>
              <a:gd name="adj" fmla="val 6452"/>
            </a:avLst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13504" y="2075688"/>
            <a:ext cx="1456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Harmonize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413504" y="2514600"/>
            <a:ext cx="1456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Check the whole rule set for conflicts and overlaps</a:t>
            </a:r>
            <a:endParaRPr lang="en-US" sz="1200" dirty="0"/>
          </a:p>
        </p:txBody>
      </p:sp>
      <p:sp>
        <p:nvSpPr>
          <p:cNvPr id="15" name="arrow 3"/>
          <p:cNvSpPr/>
          <p:nvPr/>
        </p:nvSpPr>
        <p:spPr>
          <a:xfrm>
            <a:off x="6016752" y="253746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16" name="step 4"/>
          <p:cNvSpPr/>
          <p:nvPr/>
        </p:nvSpPr>
        <p:spPr>
          <a:xfrm>
            <a:off x="6181344" y="1965960"/>
            <a:ext cx="167640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91072" y="2075688"/>
            <a:ext cx="1456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Map target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91072" y="2514600"/>
            <a:ext cx="1456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Choose OPA, dbt, a search filter or a schema</a:t>
            </a:r>
            <a:endParaRPr lang="en-US" sz="1200" dirty="0"/>
          </a:p>
        </p:txBody>
      </p:sp>
      <p:sp>
        <p:nvSpPr>
          <p:cNvPr id="19" name="arrow 4"/>
          <p:cNvSpPr/>
          <p:nvPr/>
        </p:nvSpPr>
        <p:spPr>
          <a:xfrm>
            <a:off x="7894320" y="253746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20" name="step 5"/>
          <p:cNvSpPr/>
          <p:nvPr/>
        </p:nvSpPr>
        <p:spPr>
          <a:xfrm>
            <a:off x="8058912" y="1965960"/>
            <a:ext cx="167640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68640" y="2075688"/>
            <a:ext cx="1456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Generate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68640" y="2514600"/>
            <a:ext cx="1456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Emit the deployable artifact</a:t>
            </a:r>
            <a:endParaRPr lang="en-US" sz="1200" dirty="0"/>
          </a:p>
        </p:txBody>
      </p:sp>
      <p:sp>
        <p:nvSpPr>
          <p:cNvPr id="23" name="arrow 5"/>
          <p:cNvSpPr/>
          <p:nvPr/>
        </p:nvSpPr>
        <p:spPr>
          <a:xfrm>
            <a:off x="9771888" y="253746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24" name="step 6"/>
          <p:cNvSpPr/>
          <p:nvPr/>
        </p:nvSpPr>
        <p:spPr>
          <a:xfrm>
            <a:off x="9936480" y="1965960"/>
            <a:ext cx="167640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46208" y="2075688"/>
            <a:ext cx="1456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Version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046208" y="2514600"/>
            <a:ext cx="1456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Stamp a KGCL release and a link to the source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931920"/>
                <a:gridCol w="4389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Compiled into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enforces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OPA behind API Management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Disclosure by audience, purpose and 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client manager never sees a medical leave reason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dbt and Fabric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Masks, row-level security, minimum-cell tests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figure with fewer than 5 people behind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filters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by level, tenant and 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Another client's chunks are never retrieved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Schema output contracts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answer carries its level and 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agent cannot return an unlabeled answer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 25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Audit traceability: every compiled artifact carries a URI back to the rule that produced it (v4.2 §4.4–4.5).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Map, don't migrate: the Mediation Holon</a:t>
            </a:r>
            <a:endParaRPr lang="en-US" sz="3400" dirty="0"/>
          </a:p>
        </p:txBody>
      </p:sp>
      <p:sp>
        <p:nvSpPr>
          <p:cNvPr id="3" name="Top-down"/>
          <p:cNvSpPr/>
          <p:nvPr/>
        </p:nvSpPr>
        <p:spPr>
          <a:xfrm>
            <a:off x="548640" y="1417320"/>
            <a:ext cx="640080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Top-down business model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concepts such as pay rate, leave type, agent and payee; changes slowly under steward governance</a:t>
            </a:r>
            <a:endParaRPr lang="en-US" sz="1400" dirty="0"/>
          </a:p>
        </p:txBody>
      </p:sp>
      <p:sp>
        <p:nvSpPr>
          <p:cNvPr id="5" name="Mediation"/>
          <p:cNvSpPr/>
          <p:nvPr/>
        </p:nvSpPr>
        <p:spPr>
          <a:xfrm>
            <a:off x="548640" y="2606040"/>
            <a:ext cx="6400800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65176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Mediation Holon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mapping graph, the URI registry and lineage agents. A schema change updates a mapping; nothing built above it changes.</a:t>
            </a:r>
            <a:endParaRPr lang="en-US" sz="1400" dirty="0"/>
          </a:p>
        </p:txBody>
      </p:sp>
      <p:sp>
        <p:nvSpPr>
          <p:cNvPr id="7" name="Bottom-up"/>
          <p:cNvSpPr/>
          <p:nvPr/>
        </p:nvSpPr>
        <p:spPr>
          <a:xfrm>
            <a:off x="548640" y="4069080"/>
            <a:ext cx="640080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41148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Bottom-up systems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Premier, Workday, Box, Fabric, dbt models, vector stores; change often under engineering teams</a:t>
            </a:r>
            <a:endParaRPr lang="en-US" sz="1400" dirty="0"/>
          </a:p>
        </p:txBody>
      </p:sp>
      <p:sp>
        <p:nvSpPr>
          <p:cNvPr id="9" name="Correspondence types"/>
          <p:cNvSpPr/>
          <p:nvPr/>
        </p:nvSpPr>
        <p:spPr>
          <a:xfrm>
            <a:off x="7223760" y="1417320"/>
            <a:ext cx="438912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A9C4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52360" y="1600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kinds of mapping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5740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To third-party ontologies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Domain to domain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Domain to operations (processes, services)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Domain to data schemas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Domain to governance and rules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Domain to RAG and AI anchors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41148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Proposed by lineage agents, validated by stewards. Unmapped items are held at C3 until classified.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Classification propagates through mappings: map a column to pay rate and it is C3 automatically (v4.2 §4.1–4.6).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gateway: every action is a measured decision</a:t>
            </a:r>
            <a:endParaRPr lang="en-US" sz="3400" dirty="0"/>
          </a:p>
        </p:txBody>
      </p:sp>
      <p:sp>
        <p:nvSpPr>
          <p:cNvPr id="3" name="step 1"/>
          <p:cNvSpPr/>
          <p:nvPr/>
        </p:nvSpPr>
        <p:spPr>
          <a:xfrm>
            <a:off x="548640" y="1417320"/>
            <a:ext cx="1408176" cy="1737360"/>
          </a:xfrm>
          <a:prstGeom prst="roundRect">
            <a:avLst>
              <a:gd name="adj" fmla="val 649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5270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Envelope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96596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agent emits a structured decision; it cannot call tools directly</a:t>
            </a:r>
            <a:endParaRPr lang="en-US" sz="1100" dirty="0"/>
          </a:p>
        </p:txBody>
      </p:sp>
      <p:sp>
        <p:nvSpPr>
          <p:cNvPr id="6" name="arrow 1"/>
          <p:cNvSpPr/>
          <p:nvPr/>
        </p:nvSpPr>
        <p:spPr>
          <a:xfrm>
            <a:off x="1993392" y="214884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7" name="step 2"/>
          <p:cNvSpPr/>
          <p:nvPr/>
        </p:nvSpPr>
        <p:spPr>
          <a:xfrm>
            <a:off x="2157984" y="1417320"/>
            <a:ext cx="1408176" cy="1737360"/>
          </a:xfrm>
          <a:prstGeom prst="roundRect">
            <a:avLst>
              <a:gd name="adj" fmla="val 6494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267712" y="15270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267712" y="196596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Registry check: agent, tenant, state, attested model</a:t>
            </a:r>
            <a:endParaRPr lang="en-US" sz="1100" dirty="0"/>
          </a:p>
        </p:txBody>
      </p:sp>
      <p:sp>
        <p:nvSpPr>
          <p:cNvPr id="10" name="arrow 2"/>
          <p:cNvSpPr/>
          <p:nvPr/>
        </p:nvSpPr>
        <p:spPr>
          <a:xfrm>
            <a:off x="3602736" y="214884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11" name="step 3"/>
          <p:cNvSpPr/>
          <p:nvPr/>
        </p:nvSpPr>
        <p:spPr>
          <a:xfrm>
            <a:off x="3767328" y="1417320"/>
            <a:ext cx="1408176" cy="1737360"/>
          </a:xfrm>
          <a:prstGeom prst="roundRect">
            <a:avLst>
              <a:gd name="adj" fmla="val 6494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77056" y="15270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877056" y="196596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Who, what, when, where, why; rules release pinned</a:t>
            </a:r>
            <a:endParaRPr lang="en-US" sz="1100" dirty="0"/>
          </a:p>
        </p:txBody>
      </p:sp>
      <p:sp>
        <p:nvSpPr>
          <p:cNvPr id="14" name="arrow 3"/>
          <p:cNvSpPr/>
          <p:nvPr/>
        </p:nvSpPr>
        <p:spPr>
          <a:xfrm>
            <a:off x="5212080" y="214884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15" name="step 4"/>
          <p:cNvSpPr/>
          <p:nvPr/>
        </p:nvSpPr>
        <p:spPr>
          <a:xfrm>
            <a:off x="5376672" y="1417320"/>
            <a:ext cx="1408176" cy="1737360"/>
          </a:xfrm>
          <a:prstGeom prst="roundRect">
            <a:avLst>
              <a:gd name="adj" fmla="val 6494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0" y="15270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196596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Structure, time rules, six policy domains, unsafe actions</a:t>
            </a:r>
            <a:endParaRPr lang="en-US" sz="1100" dirty="0"/>
          </a:p>
        </p:txBody>
      </p:sp>
      <p:sp>
        <p:nvSpPr>
          <p:cNvPr id="18" name="arrow 4"/>
          <p:cNvSpPr/>
          <p:nvPr/>
        </p:nvSpPr>
        <p:spPr>
          <a:xfrm>
            <a:off x="6821424" y="214884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19" name="step 5"/>
          <p:cNvSpPr/>
          <p:nvPr/>
        </p:nvSpPr>
        <p:spPr>
          <a:xfrm>
            <a:off x="6986016" y="1417320"/>
            <a:ext cx="1408176" cy="1737360"/>
          </a:xfrm>
          <a:prstGeom prst="roundRect">
            <a:avLst>
              <a:gd name="adj" fmla="val 6494"/>
            </a:avLst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095744" y="15270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95744" y="196596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Circuit breaker: PASS, COMPLY, FREEZE or HALT</a:t>
            </a:r>
            <a:endParaRPr lang="en-US" sz="1100" dirty="0"/>
          </a:p>
        </p:txBody>
      </p:sp>
      <p:sp>
        <p:nvSpPr>
          <p:cNvPr id="22" name="arrow 5"/>
          <p:cNvSpPr/>
          <p:nvPr/>
        </p:nvSpPr>
        <p:spPr>
          <a:xfrm>
            <a:off x="8430768" y="214884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23" name="step 6"/>
          <p:cNvSpPr/>
          <p:nvPr/>
        </p:nvSpPr>
        <p:spPr>
          <a:xfrm>
            <a:off x="8595360" y="1417320"/>
            <a:ext cx="1408176" cy="1737360"/>
          </a:xfrm>
          <a:prstGeom prst="roundRect">
            <a:avLst>
              <a:gd name="adj" fmla="val 6494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05088" y="15270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705088" y="196596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Simplex gate holds anything irreversible</a:t>
            </a:r>
            <a:endParaRPr lang="en-US" sz="1100" dirty="0"/>
          </a:p>
        </p:txBody>
      </p:sp>
      <p:sp>
        <p:nvSpPr>
          <p:cNvPr id="26" name="arrow 6"/>
          <p:cNvSpPr/>
          <p:nvPr/>
        </p:nvSpPr>
        <p:spPr>
          <a:xfrm>
            <a:off x="10040112" y="214884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27" name="step 7"/>
          <p:cNvSpPr/>
          <p:nvPr/>
        </p:nvSpPr>
        <p:spPr>
          <a:xfrm>
            <a:off x="10204704" y="1417320"/>
            <a:ext cx="1408176" cy="1737360"/>
          </a:xfrm>
          <a:prstGeom prst="roundRect">
            <a:avLst>
              <a:gd name="adj" fmla="val 6494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314432" y="15270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0314432" y="196596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Facade check, then provenance recorded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69494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38328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every tolerance; released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online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Released with conditions or sampling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Online; two in a row restricts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 for a person to decide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freeze restricts; two drop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guardrail was breached; cannot be approved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until recalibrated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A2A rule"/>
          <p:cNvSpPr/>
          <p:nvPr/>
        </p:nvSpPr>
        <p:spPr>
          <a:xfrm>
            <a:off x="7772400" y="3429000"/>
            <a:ext cx="384048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01000" y="3611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to agent, too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8001000" y="4023360"/>
            <a:ext cx="3429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Calls between agents pass the gateway as well, so an orchestrator can never pass data to an agent that should not see it. Every agent acts for the signed-in user and never beyond their rights.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 does the privacy work for both offerings</a:t>
            </a:r>
            <a:endParaRPr lang="en-US" sz="3400" dirty="0"/>
          </a:p>
        </p:txBody>
      </p:sp>
      <p:sp>
        <p:nvSpPr>
          <p:cNvPr id="3" name="C0"/>
          <p:cNvSpPr/>
          <p:nvPr/>
        </p:nvSpPr>
        <p:spPr>
          <a:xfrm>
            <a:off x="548640" y="1371600"/>
            <a:ext cx="51206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A9C4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444752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6"/>
                </a:solidFill>
              </a:rPr>
              <a:t>Public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26"/>
                </a:solidFill>
              </a:rPr>
              <a:t>Statutes, published rates</a:t>
            </a:r>
            <a:endParaRPr lang="en-US" sz="1300" dirty="0"/>
          </a:p>
        </p:txBody>
      </p:sp>
      <p:sp>
        <p:nvSpPr>
          <p:cNvPr id="6" name="C1"/>
          <p:cNvSpPr/>
          <p:nvPr/>
        </p:nvSpPr>
        <p:spPr>
          <a:xfrm>
            <a:off x="548640" y="2267712"/>
            <a:ext cx="5120640" cy="786384"/>
          </a:xfrm>
          <a:prstGeom prst="roundRect">
            <a:avLst>
              <a:gd name="adj" fmla="val 9302"/>
            </a:avLst>
          </a:prstGeom>
          <a:solidFill>
            <a:srgbClr val="EEF3EE"/>
          </a:solidFill>
          <a:ln w="9525">
            <a:solidFill>
              <a:srgbClr val="A9C4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267712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340864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6"/>
                </a:solidFill>
              </a:rPr>
              <a:t>Internal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26"/>
                </a:solidFill>
              </a:rPr>
              <a:t>Procedures, the rule register</a:t>
            </a:r>
            <a:endParaRPr lang="en-US" sz="1300" dirty="0"/>
          </a:p>
        </p:txBody>
      </p:sp>
      <p:sp>
        <p:nvSpPr>
          <p:cNvPr id="9" name="C2"/>
          <p:cNvSpPr/>
          <p:nvPr/>
        </p:nvSpPr>
        <p:spPr>
          <a:xfrm>
            <a:off x="548640" y="3163824"/>
            <a:ext cx="5120640" cy="786384"/>
          </a:xfrm>
          <a:prstGeom prst="roundRect">
            <a:avLst>
              <a:gd name="adj" fmla="val 9302"/>
            </a:avLst>
          </a:prstGeom>
          <a:solidFill>
            <a:srgbClr val="A9C4A6"/>
          </a:solidFill>
          <a:ln w="9525">
            <a:solidFill>
              <a:srgbClr val="A9C4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63824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236976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6"/>
                </a:solidFill>
              </a:rPr>
              <a:t>Confidential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26"/>
                </a:solidFill>
              </a:rPr>
              <a:t>Client terms; aggregates with 5+ people</a:t>
            </a:r>
            <a:endParaRPr lang="en-US" sz="1300" dirty="0"/>
          </a:p>
        </p:txBody>
      </p:sp>
      <p:sp>
        <p:nvSpPr>
          <p:cNvPr id="12" name="C3"/>
          <p:cNvSpPr/>
          <p:nvPr/>
        </p:nvSpPr>
        <p:spPr>
          <a:xfrm>
            <a:off x="548640" y="4059936"/>
            <a:ext cx="5120640" cy="786384"/>
          </a:xfrm>
          <a:prstGeom prst="roundRect">
            <a:avLst>
              <a:gd name="adj" fmla="val 9302"/>
            </a:avLst>
          </a:prstGeom>
          <a:solidFill>
            <a:srgbClr val="C98F2B"/>
          </a:solidFill>
          <a:ln w="9525">
            <a:solidFill>
              <a:srgbClr val="A9C4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059936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133088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Restricted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Anything that identifies a worker</a:t>
            </a:r>
            <a:endParaRPr lang="en-US" sz="1300" dirty="0"/>
          </a:p>
        </p:txBody>
      </p:sp>
      <p:sp>
        <p:nvSpPr>
          <p:cNvPr id="15" name="C4"/>
          <p:cNvSpPr/>
          <p:nvPr/>
        </p:nvSpPr>
        <p:spPr>
          <a:xfrm>
            <a:off x="548640" y="4956048"/>
            <a:ext cx="5120640" cy="786384"/>
          </a:xfrm>
          <a:prstGeom prst="roundRect">
            <a:avLst>
              <a:gd name="adj" fmla="val 9302"/>
            </a:avLst>
          </a:prstGeom>
          <a:solidFill>
            <a:srgbClr val="A85538"/>
          </a:solidFill>
          <a:ln w="9525">
            <a:solidFill>
              <a:srgbClr val="A9C4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956048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C4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50292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Highly restricted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SSN, health, biometrics, investigations</a:t>
            </a:r>
            <a:endParaRPr lang="en-US" sz="1300" dirty="0"/>
          </a:p>
        </p:txBody>
      </p:sp>
      <p:sp>
        <p:nvSpPr>
          <p:cNvPr id="18" name="Rules"/>
          <p:cNvSpPr/>
          <p:nvPr/>
        </p:nvSpPr>
        <p:spPr>
          <a:xfrm>
            <a:off x="6035040" y="1371600"/>
            <a:ext cx="5577840" cy="4389120"/>
          </a:xfrm>
          <a:prstGeom prst="roundRect">
            <a:avLst>
              <a:gd name="adj" fmla="val 2083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63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rules that make it automatic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201168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Set on concepts, not files: anything mapped to a concept inherits its level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Only ever rises automatically; only a steward-validated mapping can lower it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Derived content takes the highest level of its inputs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Regime floors force C4 for HIPAA, BIPA, FCRA, I-9, privilege and MNPI data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43434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AEO: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 agent's clearance tier is the highest level its tools read.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Living Capital: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scorecard figures drop to C2 only with 5 or more people.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any new service ships: the assembly line</a:t>
            </a:r>
            <a:endParaRPr lang="en-US" sz="3400" dirty="0"/>
          </a:p>
        </p:txBody>
      </p:sp>
      <p:sp>
        <p:nvSpPr>
          <p:cNvPr id="3" name="step 1"/>
          <p:cNvSpPr/>
          <p:nvPr/>
        </p:nvSpPr>
        <p:spPr>
          <a:xfrm>
            <a:off x="548640" y="1417320"/>
            <a:ext cx="167640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527048"/>
            <a:ext cx="1456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Specify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965960"/>
            <a:ext cx="1456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ORSD states purpose, scope and the norms to enforce</a:t>
            </a:r>
            <a:endParaRPr lang="en-US" sz="1200" dirty="0"/>
          </a:p>
        </p:txBody>
      </p:sp>
      <p:sp>
        <p:nvSpPr>
          <p:cNvPr id="6" name="arrow 1"/>
          <p:cNvSpPr/>
          <p:nvPr/>
        </p:nvSpPr>
        <p:spPr>
          <a:xfrm>
            <a:off x="2261616" y="205740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7" name="step 2"/>
          <p:cNvSpPr/>
          <p:nvPr/>
        </p:nvSpPr>
        <p:spPr>
          <a:xfrm>
            <a:off x="2426208" y="1417320"/>
            <a:ext cx="167640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35936" y="1527048"/>
            <a:ext cx="1456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535936" y="1965960"/>
            <a:ext cx="1456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Terms and norms added to a domain holon by KGCL change</a:t>
            </a:r>
            <a:endParaRPr lang="en-US" sz="1200" dirty="0"/>
          </a:p>
        </p:txBody>
      </p:sp>
      <p:sp>
        <p:nvSpPr>
          <p:cNvPr id="10" name="arrow 2"/>
          <p:cNvSpPr/>
          <p:nvPr/>
        </p:nvSpPr>
        <p:spPr>
          <a:xfrm>
            <a:off x="4139184" y="205740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11" name="step 3"/>
          <p:cNvSpPr/>
          <p:nvPr/>
        </p:nvSpPr>
        <p:spPr>
          <a:xfrm>
            <a:off x="4303776" y="1417320"/>
            <a:ext cx="167640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13504" y="1527048"/>
            <a:ext cx="1456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13504" y="1965960"/>
            <a:ext cx="1456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Lineage agents propose; stewards validate mappings</a:t>
            </a:r>
            <a:endParaRPr lang="en-US" sz="1200" dirty="0"/>
          </a:p>
        </p:txBody>
      </p:sp>
      <p:sp>
        <p:nvSpPr>
          <p:cNvPr id="14" name="arrow 3"/>
          <p:cNvSpPr/>
          <p:nvPr/>
        </p:nvSpPr>
        <p:spPr>
          <a:xfrm>
            <a:off x="6016752" y="205740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15" name="step 4"/>
          <p:cNvSpPr/>
          <p:nvPr/>
        </p:nvSpPr>
        <p:spPr>
          <a:xfrm>
            <a:off x="6181344" y="1417320"/>
            <a:ext cx="167640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91072" y="1527048"/>
            <a:ext cx="1456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91072" y="1965960"/>
            <a:ext cx="1456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Six-stage pipeline emits OPA, dbt, filters, schemas</a:t>
            </a:r>
            <a:endParaRPr lang="en-US" sz="1200" dirty="0"/>
          </a:p>
        </p:txBody>
      </p:sp>
      <p:sp>
        <p:nvSpPr>
          <p:cNvPr id="18" name="arrow 4"/>
          <p:cNvSpPr/>
          <p:nvPr/>
        </p:nvSpPr>
        <p:spPr>
          <a:xfrm>
            <a:off x="7894320" y="205740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19" name="step 5"/>
          <p:cNvSpPr/>
          <p:nvPr/>
        </p:nvSpPr>
        <p:spPr>
          <a:xfrm>
            <a:off x="8058912" y="1417320"/>
            <a:ext cx="167640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68640" y="1527048"/>
            <a:ext cx="1456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68640" y="1965960"/>
            <a:ext cx="1456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Register agents, decision types and metrics</a:t>
            </a:r>
            <a:endParaRPr lang="en-US" sz="1200" dirty="0"/>
          </a:p>
        </p:txBody>
      </p:sp>
      <p:sp>
        <p:nvSpPr>
          <p:cNvPr id="22" name="arrow 5"/>
          <p:cNvSpPr/>
          <p:nvPr/>
        </p:nvSpPr>
        <p:spPr>
          <a:xfrm>
            <a:off x="9771888" y="205740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23" name="step 6"/>
          <p:cNvSpPr/>
          <p:nvPr/>
        </p:nvSpPr>
        <p:spPr>
          <a:xfrm>
            <a:off x="9936480" y="1417320"/>
            <a:ext cx="167640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46208" y="1527048"/>
            <a:ext cx="1456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0046208" y="1965960"/>
            <a:ext cx="1456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Fixtures pass and fail as designed; DEV → STG → PRD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800600"/>
                <a:gridCol w="4800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AEO example: budget caps and escrow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Living Capital example: slack index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verified payees up to a limit; hold above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teams above 80% load; never expose individuals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VendorPayment, spend limit, three norms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 load, small-team rule, alert norm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ERP vendor master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Premier time punches and project codes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OPA policy: halt, hold or release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dbt metric with minimum-cell test; OPA disclosure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the client's payables 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metric and manager alert with Insights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new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extension: the capacity metric pack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of both catalogs assembles from existing blocks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73152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229600" y="14630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82% · 83%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0" y="212140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of block uses are blocks that already exist (AEO · Living Capital)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29260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+ 3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358444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new components in total; everything else is configuration, extensions or partners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3891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 of 95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504748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services need no new component or extension at all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Mode is set by the least-ready block in a service's bill of materials: assemble, extend, partner or build.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few blocks carry most of the catalog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3949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17920" y="1371600"/>
          <a:ext cx="53949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Build these once for Insperity's own advisors and operations, and most of both catalogs follows.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AEO example: a $12,400 payment, $10,000 limit</a:t>
            </a:r>
            <a:endParaRPr lang="en-US" sz="3400" dirty="0"/>
          </a:p>
        </p:txBody>
      </p:sp>
      <p:sp>
        <p:nvSpPr>
          <p:cNvPr id="3" name="step 1"/>
          <p:cNvSpPr/>
          <p:nvPr/>
        </p:nvSpPr>
        <p:spPr>
          <a:xfrm>
            <a:off x="548640" y="1417320"/>
            <a:ext cx="1408176" cy="1600200"/>
          </a:xfrm>
          <a:prstGeom prst="roundRect">
            <a:avLst>
              <a:gd name="adj" fmla="val 649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5270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9659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payables agent emits an envelope</a:t>
            </a:r>
            <a:endParaRPr lang="en-US" sz="1200" dirty="0"/>
          </a:p>
        </p:txBody>
      </p:sp>
      <p:sp>
        <p:nvSpPr>
          <p:cNvPr id="6" name="arrow 1"/>
          <p:cNvSpPr/>
          <p:nvPr/>
        </p:nvSpPr>
        <p:spPr>
          <a:xfrm>
            <a:off x="1993392" y="208026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7" name="step 2"/>
          <p:cNvSpPr/>
          <p:nvPr/>
        </p:nvSpPr>
        <p:spPr>
          <a:xfrm>
            <a:off x="2157984" y="1417320"/>
            <a:ext cx="1408176" cy="1600200"/>
          </a:xfrm>
          <a:prstGeom prst="roundRect">
            <a:avLst>
              <a:gd name="adj" fmla="val 6494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267712" y="15270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267712" y="19659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Registered, tenant correct, model attested</a:t>
            </a:r>
            <a:endParaRPr lang="en-US" sz="1200" dirty="0"/>
          </a:p>
        </p:txBody>
      </p:sp>
      <p:sp>
        <p:nvSpPr>
          <p:cNvPr id="10" name="arrow 2"/>
          <p:cNvSpPr/>
          <p:nvPr/>
        </p:nvSpPr>
        <p:spPr>
          <a:xfrm>
            <a:off x="3602736" y="208026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11" name="step 3"/>
          <p:cNvSpPr/>
          <p:nvPr/>
        </p:nvSpPr>
        <p:spPr>
          <a:xfrm>
            <a:off x="3767328" y="1417320"/>
            <a:ext cx="1408176" cy="1600200"/>
          </a:xfrm>
          <a:prstGeom prst="roundRect">
            <a:avLst>
              <a:gd name="adj" fmla="val 6494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77056" y="15270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877056" y="19659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Payee resolves to a verified vendor</a:t>
            </a:r>
            <a:endParaRPr lang="en-US" sz="1200" dirty="0"/>
          </a:p>
        </p:txBody>
      </p:sp>
      <p:sp>
        <p:nvSpPr>
          <p:cNvPr id="14" name="arrow 3"/>
          <p:cNvSpPr/>
          <p:nvPr/>
        </p:nvSpPr>
        <p:spPr>
          <a:xfrm>
            <a:off x="5212080" y="208026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15" name="step 4"/>
          <p:cNvSpPr/>
          <p:nvPr/>
        </p:nvSpPr>
        <p:spPr>
          <a:xfrm>
            <a:off x="5376672" y="1417320"/>
            <a:ext cx="1408176" cy="1600200"/>
          </a:xfrm>
          <a:prstGeom prst="roundRect">
            <a:avLst>
              <a:gd name="adj" fmla="val 6494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0" y="15270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19659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Policy: over the limit → hold</a:t>
            </a:r>
            <a:endParaRPr lang="en-US" sz="1200" dirty="0"/>
          </a:p>
        </p:txBody>
      </p:sp>
      <p:sp>
        <p:nvSpPr>
          <p:cNvPr id="18" name="arrow 4"/>
          <p:cNvSpPr/>
          <p:nvPr/>
        </p:nvSpPr>
        <p:spPr>
          <a:xfrm>
            <a:off x="6821424" y="208026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19" name="step 5"/>
          <p:cNvSpPr/>
          <p:nvPr/>
        </p:nvSpPr>
        <p:spPr>
          <a:xfrm>
            <a:off x="6986016" y="1417320"/>
            <a:ext cx="1408176" cy="1600200"/>
          </a:xfrm>
          <a:prstGeom prst="roundRect">
            <a:avLst>
              <a:gd name="adj" fmla="val 6494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095744" y="15270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95744" y="19659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Distances in tolerance; FREEZE for a person</a:t>
            </a:r>
            <a:endParaRPr lang="en-US" sz="1200" dirty="0"/>
          </a:p>
        </p:txBody>
      </p:sp>
      <p:sp>
        <p:nvSpPr>
          <p:cNvPr id="22" name="arrow 5"/>
          <p:cNvSpPr/>
          <p:nvPr/>
        </p:nvSpPr>
        <p:spPr>
          <a:xfrm>
            <a:off x="8430768" y="208026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23" name="step 6"/>
          <p:cNvSpPr/>
          <p:nvPr/>
        </p:nvSpPr>
        <p:spPr>
          <a:xfrm>
            <a:off x="8595360" y="1417320"/>
            <a:ext cx="1408176" cy="1600200"/>
          </a:xfrm>
          <a:prstGeom prst="roundRect">
            <a:avLst>
              <a:gd name="adj" fmla="val 6494"/>
            </a:avLst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05088" y="15270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705088" y="19659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Controller signs in the workbench</a:t>
            </a:r>
            <a:endParaRPr lang="en-US" sz="1200" dirty="0"/>
          </a:p>
        </p:txBody>
      </p:sp>
      <p:sp>
        <p:nvSpPr>
          <p:cNvPr id="26" name="arrow 6"/>
          <p:cNvSpPr/>
          <p:nvPr/>
        </p:nvSpPr>
        <p:spPr>
          <a:xfrm>
            <a:off x="10040112" y="2080260"/>
            <a:ext cx="128016" cy="27432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27" name="step 7"/>
          <p:cNvSpPr/>
          <p:nvPr/>
        </p:nvSpPr>
        <p:spPr>
          <a:xfrm>
            <a:off x="10204704" y="1417320"/>
            <a:ext cx="1408176" cy="1600200"/>
          </a:xfrm>
          <a:prstGeom prst="roundRect">
            <a:avLst>
              <a:gd name="adj" fmla="val 6494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314432" y="15270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0314432" y="19659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Payment created; provenance written</a:t>
            </a:r>
            <a:endParaRPr lang="en-US" sz="1200" dirty="0"/>
          </a:p>
        </p:txBody>
      </p:sp>
      <p:sp>
        <p:nvSpPr>
          <p:cNvPr id="30" name="What it proves"/>
          <p:cNvSpPr/>
          <p:nvPr/>
        </p:nvSpPr>
        <p:spPr>
          <a:xfrm>
            <a:off x="548640" y="3291840"/>
            <a:ext cx="1106424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77240" y="34747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proves to IT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393192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agent never touches the ERP directly; it only emits a decision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rule that held the payment is a compiled OPA policy traceable to an approved norm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Every fact needed for an audit or an insurance claim exists before anyone asks for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Had the payee not resolved, the verdict would be HALT, which no one can override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Living Capital example: which teams run hot?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owner of a 40-person design studio asks the advisor. Insights computes capacity load in place from Premier time data; every cell is classified before anyone sees it.</a:t>
            </a:r>
            <a:endParaRPr lang="en-US" sz="15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2103120"/>
                <a:gridCol w="822960"/>
                <a:gridCol w="5029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Load, last 3 periods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Released 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operations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  91%  87%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aggregate, flagged over 80%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services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79%  78%  80%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aggregate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  96%  92%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Combined with admin and finance (15 people)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total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Withheld, so the designers can't be subtracted back out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akeaway"/>
          <p:cNvSpPr/>
          <p:nvPr/>
        </p:nvSpPr>
        <p:spPr>
          <a:xfrm>
            <a:off x="548640" y="4526280"/>
            <a:ext cx="110642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572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What it proves to IT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Privacy is compiled into the metric, not left to each report. The owner can act on real load data and gets suggested next steps (time-off nudges, sabbatical backfill, a talent-exchange match) without seeing any individual's hours or a 3-person team's figures.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governance contains risk in both offerings</a:t>
            </a:r>
            <a:endParaRPr lang="en-US" sz="34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463040"/>
                <a:gridCol w="3749040"/>
                <a:gridCol w="1188720"/>
                <a:gridCol w="10972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stops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injection in an invoice redirects payment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Payee grounding and the unverified-payee prohibition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swaps in an unattested model; drift follows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 version check, then dimensional MTBH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dropped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detail pulled into a manager's memo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Concept-level classification and disclosure rules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Redacted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 tries to re-identify a 3-person team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Living Capital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Small-team rule and subtraction 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wants wearable sleep data in the score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Living Capital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Spec, norms, regime floor and policy deny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 asks for a named after-hours list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Living Capital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 limit in the context bundle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Fourteen scenarios in total, seven per offering, are walked control by control in the companion files. Residual ratings are qualitative.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actually build, extend or buy</a:t>
            </a:r>
            <a:endParaRPr lang="en-US" sz="3400" dirty="0"/>
          </a:p>
        </p:txBody>
      </p:sp>
      <p:sp>
        <p:nvSpPr>
          <p:cNvPr id="3" name="New components"/>
          <p:cNvSpPr/>
          <p:nvPr/>
        </p:nvSpPr>
        <p:spPr>
          <a:xfrm>
            <a:off x="548640" y="1417320"/>
            <a:ext cx="3566160" cy="434340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components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AEO: Agent credential issuance; Multi-tenant agent hosting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Living Capital: Cross-client matching marketplace; Secondment framework; Pooled fund vehicle</a:t>
            </a:r>
            <a:endParaRPr lang="en-US" sz="1300" dirty="0"/>
          </a:p>
        </p:txBody>
      </p:sp>
      <p:sp>
        <p:nvSpPr>
          <p:cNvPr id="6" name="Small extensions"/>
          <p:cNvSpPr/>
          <p:nvPr/>
        </p:nvSpPr>
        <p:spPr>
          <a:xfrm>
            <a:off x="4297680" y="1417320"/>
            <a:ext cx="3566160" cy="434340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26280" y="16002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extensions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AEO (7): Metering tags on envelopes; Attestation baselines; Evaluation suites; Client supervision view…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Living Capital (8): Capacity metric pack; Pulse survey instrument; Scheduling rule pack; Opt-in talent profiles…</a:t>
            </a:r>
            <a:endParaRPr lang="en-US" sz="1300" dirty="0"/>
          </a:p>
        </p:txBody>
      </p:sp>
      <p:sp>
        <p:nvSpPr>
          <p:cNvPr id="9" name="Partners"/>
          <p:cNvSpPr/>
          <p:nvPr/>
        </p:nvSpPr>
        <p:spPr>
          <a:xfrm>
            <a:off x="8046720" y="1417320"/>
            <a:ext cx="3566160" cy="434340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75320" y="16002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AEO: Agent Comp carrier product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Living Capital: Mental-health providers; Care providers; Ownership advisors; Leadership and coaching partners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Prerequisite for both: the gateway, decision-envelope contract and agent registry, built first for Insperity's own advisors.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internally, industrialize, then externalize</a:t>
            </a:r>
            <a:endParaRPr lang="en-US" sz="3400" dirty="0"/>
          </a:p>
        </p:txBody>
      </p:sp>
      <p:sp>
        <p:nvSpPr>
          <p:cNvPr id="3" name="Prove internally"/>
          <p:cNvSpPr/>
          <p:nvPr/>
        </p:nvSpPr>
        <p:spPr>
          <a:xfrm>
            <a:off x="548640" y="1417320"/>
            <a:ext cx="3474720" cy="434340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internally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Pilot phase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29718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Gateway, envelope and registry live in shadow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Sales Advisor and Customer Advisor behind the circuit breaker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Persona, job and outcome module; wellbeing metrics as definitions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Classify existing Box and Fabric content</a:t>
            </a:r>
            <a:endParaRPr lang="en-US" sz="1400" dirty="0"/>
          </a:p>
        </p:txBody>
      </p:sp>
      <p:sp>
        <p:nvSpPr>
          <p:cNvPr id="7" name="arrow 0"/>
          <p:cNvSpPr/>
          <p:nvPr/>
        </p:nvSpPr>
        <p:spPr>
          <a:xfrm>
            <a:off x="4078224" y="3383280"/>
            <a:ext cx="164592" cy="36576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8" name="Industrialize"/>
          <p:cNvSpPr/>
          <p:nvPr/>
        </p:nvSpPr>
        <p:spPr>
          <a:xfrm>
            <a:off x="4297680" y="1417320"/>
            <a:ext cx="3474720" cy="434340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0" y="1645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Industrialize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103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Before Gate 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560320"/>
            <a:ext cx="29718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second agent family on the same contract (HR Advisory 360)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Credential issuance and provenance store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Disclosure and bias evaluation suites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KGCL release pipeline, DEV to PRD</a:t>
            </a:r>
            <a:endParaRPr lang="en-US" sz="1400" dirty="0"/>
          </a:p>
        </p:txBody>
      </p:sp>
      <p:sp>
        <p:nvSpPr>
          <p:cNvPr id="12" name="arrow 1"/>
          <p:cNvSpPr/>
          <p:nvPr/>
        </p:nvSpPr>
        <p:spPr>
          <a:xfrm>
            <a:off x="7827264" y="3383280"/>
            <a:ext cx="164592" cy="365760"/>
          </a:xfrm>
          <a:prstGeom prst="chevron">
            <a:avLst/>
          </a:prstGeom>
          <a:solidFill>
            <a:srgbClr val="A9C4A6"/>
          </a:solidFill>
          <a:ln/>
        </p:spPr>
      </p:sp>
      <p:sp>
        <p:nvSpPr>
          <p:cNvPr id="13" name="Externalize"/>
          <p:cNvSpPr/>
          <p:nvPr/>
        </p:nvSpPr>
        <p:spPr>
          <a:xfrm>
            <a:off x="8046720" y="1417320"/>
            <a:ext cx="3474720" cy="4343400"/>
          </a:xfrm>
          <a:prstGeom prst="roundRect">
            <a:avLst>
              <a:gd name="adj" fmla="val 2632"/>
            </a:avLst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21040" y="1645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Externalize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103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Year 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560320"/>
            <a:ext cx="29718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Client agents as the next family: the AEO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Living Capital general availability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Multi-tenant hosting; matching marketplace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Carrier data feed for Agent Comp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The same sequence as the SUDO adoption path and the Halyard future state.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Companion files and sources</a:t>
            </a:r>
            <a:endParaRPr lang="en-US" sz="3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323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holds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AEO-Service-Map-and-Walkthrough.html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49 AEO services with custody and bill of materials; architecture tour; assembly and decision walkthroughs; 7 risk scenarios; exposure map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Living-Capital-Service-Map-and-Walkthrough.html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46 Living Capital services with pioneer, readiness and bill of materials; walkthroughs; 7 risk scenarios; counsel gates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Holonic Semantic Governance Architecture v4.2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reference architecture: holarchy levels, Mediation Holon, compiled governance, RDSG gateway, MTBH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Keel Classification Scheme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Sensitivity levels, propagation through mappings, compiled targets per 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Advisor on Keel and North Star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agent fabric and the rule that agent-to-agent calls pass the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 Advisor Circuit Breaker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envelope, verdicts, agent states and rollout phases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 Service Map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Insperity and six competitors across 43 PEO services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Code, values and names in the examples are illustrative. Projections are planning assumptions, not forecasts.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iving Workforce">
  <a:themeElements>
    <a:clrScheme name="Living Workforce">
      <a:dk1>
        <a:srgbClr val="1F2A26"/>
      </a:dk1>
      <a:lt1>
        <a:srgbClr val="FFFFFF"/>
      </a:lt1>
      <a:dk2>
        <a:srgbClr val="1B2E2A"/>
      </a:dk2>
      <a:lt2>
        <a:srgbClr val="EEF3EE"/>
      </a:lt2>
      <a:accent1>
        <a:srgbClr val="5E8C61"/>
      </a:accent1>
      <a:accent2>
        <a:srgbClr val="C98F2B"/>
      </a:accent2>
      <a:accent3>
        <a:srgbClr val="A9C4A6"/>
      </a:accent3>
      <a:accent4>
        <a:srgbClr val="5A6763"/>
      </a:accent4>
      <a:accent5>
        <a:srgbClr val="A85538"/>
      </a:accent5>
      <a:accent6>
        <a:srgbClr val="7C8F99"/>
      </a:accent6>
      <a:hlink>
        <a:srgbClr val="5E8C61"/>
      </a:hlink>
      <a:folHlink>
        <a:srgbClr val="5A6763"/>
      </a:folHlink>
    </a:clrScheme>
    <a:fontScheme name="Living Workfor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Insperity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Future of Work Proposal</dc:title>
  <dc:subject>PptxGenJS Presentation</dc:subject>
  <dc:creator>Jeffrey Wallk</dc:creator>
  <cp:lastModifiedBy>Jeffrey Wallk</cp:lastModifiedBy>
  <cp:revision>1</cp:revision>
  <dcterms:created xsi:type="dcterms:W3CDTF">2026-10-26T16:18:49Z</dcterms:created>
  <dcterms:modified xsi:type="dcterms:W3CDTF">2026-10-26T16:18:49Z</dcterms:modified>
</cp:coreProperties>
</file>