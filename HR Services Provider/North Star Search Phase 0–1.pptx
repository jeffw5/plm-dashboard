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zooms in on the first six months of the roadmap: Phase 0, Foundation (months 1 and 2), and Phase 1, the Governed Copilot MVP (months 3 to 6; MVP means minimum viable product). It treats them as one search-first release. The question it answers: what does Insperity have to build before it can search its digital assets safely, and what does search look like when it first goes live? The first section is for everyone; the build detail in sections two and three is for technical leaders; the plan, gates and decisions close it for everyone. Figures are planning estimates; bracketed items are placeholders to confirm with Insperity.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remember: by month six, governed search is live for Insperity staff and for employees at three to five pilot clients. Four numbers hold it to account, all taken from the program's gate criteria. At least 2,000 seed assets admitted by month two (Gate 0). At least 40% self-service deflection, meaning four in ten pilot employees' questions resolved without a person (Gate 1). P95 of three seconds or less: 95% of answers arrive within three seconds. And zero cross-tenant incidents: no user ever sees content that belongs to another client company. That last one is a hard gate, not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asset here means any document or record people search for answers: statutes and regulations, benefit plan documents such as summary plan descriptions and carrier contracts, client handbooks and policies, client service agreements including the Client Allocation Matrix (which records which employer obligations sit with Insperity and which with the client), forms, notices and templates, and training and knowledge articles from the LMS (learning management system) and the service knowledge base. The third column is the one that matters most for safety: whose asset it is. Some are Insperity-wide and vary by jurisdiction; some belong to exactly one client and must never be shown to anyone else. These six classes are a proposal; the architecture calls for ORSD (Ontology Requirements Specification Document) templates for six asset types, and the two lists should be reconciled in Phase 0. The sources listed are the likely homes and need confirming with Insperity's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switch on enterprise search or point Copilot at Box? Because four conditions, typical of any large content estate, make that unsafe. Scattered: no single index. Untagged: if assets do not record which client owns them, a broad search can surface one client's handbook to another client's employee, which is a co-employment and privacy failure. Undated: without effective dates and versions, search cannot tell a current plan from last year's. Unlinked: keyword search matches words, not meaning; it cannot work out which rule applies to a given employee, place and date. These are stated as typical conditions, not findings; a content audit in month one confirms which apply at Insperity and how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is searchable until these six exist. F1, the core ontology (isp-core), gives the canonical definitions of client, worker, jurisdiction, plan and asset type, plus SKOS (Simple Knowledge Organization System) vocabularies so synonyms resolve. F2, the asset templates, are ORSD (Ontology Requirements Specification Document) templates, one per asset class, stating the metadata each asset must carry. F3, the identity and URI (Uniform Resource Identifier) registry, gives every client, worker and asset one permanent identifier across Box, Workday and payroll. F4, the admission gate, connects Box and validates every asset with SHACL (Shapes Constraint Language); failures are quarantined. F5, the rule register, keys all 142 rules with an owner, source and URI and expresses the first wave in LKIF (Legal Knowledge Interchange Format), so assets can be linked to the rules they implement. F6, change governance, charters the Semantic Governance Council and records every change in KGCL (Knowledge Graph Change Language), promoted through DEV, STG and PRD (development, staging and production)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adds six components on the foundation. S1, tenant isolation: client boundaries and data classes, PII (personally identifiable information) and PHI (protected health information), enforced at every layer, with default deny: anything untagged is hidden from client users. S2, the hybrid index: vector search for meaning plus graph search for relationships, both keyed on URIs and partitioned by client tenant (register rule GOV-010, the RAG anchor index; RAG is retrieval-augmented generation). S3, the gateway: it resolves each question into WHO, WHAT, WHEN, WHERE and WHY and applies policy at the PEP (policy enforcement point). S4, MTBH (Mean Time Between Hallucinations) scoring: every answer is scored, and the circuit breaker routes weak ones to a person. S5, the payroll and benefits domain holons, so answers link to the rules behind them. S6, the surfaces: staff search in Microsoft Teams first, where mistakes are caught internally, then Employee Jarvis at three to five pilot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Pipeline B from the Solution Architecture, and it is the heart of Phase 0. Ingest connects Box and other feeds and keeps each asset's source and owner. Profile classifies the asset type, the owning client tenant and the data class (PII, personally identifiable information; PHI, protected health information). Enrich extracts the plans, jurisdictions and effective dates the asset refers to. Admit is the quality gate: SHACL (Shapes Constraint Language) checks that every required field on the asset card is present and valid, and a permanent URI (Uniform Resource Identifier) is minted. Bind links the asset to the rules, plans, clients and roles it concerns. Index adds it to the right client's partition of the hybrid index. An asset that fails the gate is quarantined with a KGCL (Knowledge Graph Change Language) rejection record, routed to its owner, and never indexed. Gate 0 requires at least 98% of seed assets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slide for technical leaders to take away, it is this one. The asset card is the metadata schema every asset must carry, and the admission gate enforces it. The URI (Uniform Resource Identifier) gives the asset one permanent identity, so a citation in an answer always resolves. Asset class picks the ORSD template and its validation rules. Owning client is the tenant boundary. Audience, jurisdiction, effective dates and linked rules map directly to the five coordinates: WHO, WHERE, WHEN and WHY; WHAT comes from the asset class and content. Version records what changed, through KGCL (Knowledge Graph Change Language). Data class says whether the asset holds PII or PHI (personally identifiable or protected health information) and drives masking. Source and owner give lineage and name the person who fixes a quarantined asset. The example client number and URI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foundation buys at run time. A Colorado employee at a pilot client asks how much paid family leave they can take. The gateway resolves the five coordinates from the asset card fields: WHO (this employee, this client), WHAT (paid family and medical leave), WHERE (US-CO), WHEN (next plan year) and WHY (rule CMP-018 and the client's leave policy). Retrieval searches only admitted assets in that client's partition plus Insperity-wide assets for Colorado. The policy enforcement point removes anything outside the employee's role. MTBH (Mean Time Between Hallucinations) scores the draft; if it is weak, the circuit breaker sends it to an HR specialist. The answer carries its sources. In Phase 1 the employee view runs at pilot clients, and the HR business partner view runs as staff search in Teams; the executive view arrives in a later phase. The 12-week figure reflects Colorado FAMLI's standard entitlement and should be confirmed before any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component has a Microsoft option and an open contract underneath, so the build can start on Microsoft without locking the knowledge in. Content arrives from Box and from SharePoint through Microsoft Graph. Fabric Data Factory, or an equivalent orchestrator, runs the admission steps. The knowledge graph needs an RDF (Resource Description Framework) store; Microsoft has no first-party RDF store, so a graph database hosted on Azure fills that slot, chosen in month one. Azure AI Search holds the index, with security filters per client, and Foundry IQ provides agent-ready knowledge bases over it. Entra ID and Entra Agent ID give people and agents identities (OIDC is OpenID Connect; SCIM is System for Cross-domain Identity Management). API Management calls OPA (Open Policy Agent) to enforce policy written in Rego. Purview sensitivity labels and DLP (data loss prevention) carry data classes. Azure Monitor and Sentinel collect telemetry, recorded in OpenTelemetry and PROV-O (the W3C Provenance Ontology). Copilot Studio in Teams and Jarvis are the surfaces, calling tools over MCP (Model Context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by month. Month one: charter the council, audit the content estate, approve the asset card schema, and stand up the Box connector in development. Month two: key all 142 rules, release version one of the URI registry, admit 2,000 seed assets, and pass Gate 0. Month three: tenant isolation goes live, the hybrid index is built, and staff search opens as a pilot. Month four: the gateway and MTBH scoring run in staging, the payroll and benefits holons land, and service representatives get a Copilot Studio agent in Teams. Month five: Employee Jarvis opens at three to five pilot clients, and red-team tests try to break tenant isolation. Month six: deflection and MTBH are measured against the Gate 1 criteria. The design choice to point out: staff see search two months before any client employee does, so problems surface inside Insperity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Ownership comes straight from the project portfolio. The Knowledge Engineer owns the core ontology, the asset templates and rule harmonization. The Compliance Governance Lead owns the rule register and makes sure every rule has a named owner. The Platform Team Lead owns the Box admission pipeline and the index. The Identity Architect owns the identity and URI registry. The Governance Lead runs the council and change governance. The Security Architect owns tenant isolation and data classes. The Gateway Engineering Lead owns the rule compiler, the gateway and MTBH scoring. The payroll and benefits domain teams build their holons. Product and AI Science owns the two search surfaces. Team sizes are deliberately left open; they depend on what Insperity staffs internally versus with partners, and should be set in Phase 0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sets of tests. Gate 0 at month two comes from the roadmap: at least 2,000 seed assets admitted, at least 98% passing SHACL validation, the LKIF (Legal Knowledge Interchange Format) library covering four federal frameworks (FLSA, the Fair Labor Standards Act; EEOC, the Equal Employment Opportunity Commission's anti-discrimination rules; OSHA, the Occupational Safety and Health Administration; ERISA, the Employee Retirement Income Security Act), and ORSD templates approved for all six asset types. Gate 1 at month six, also from the roadmap: MTBH (Mean Time Between Hallucinations) at 99.5% on WHERE and 97% on WHAT, P95 answer time of three seconds or less (95% of answers within three seconds), a circuit-breaker trip rate of 2% or less, self-service deflection of 40% or more, and zero cross-tenant incidents. The third column is new and specific to search: every answer cites a URI, a red-team test set never returns another client's content, no answer cites an expired version, and every quarantined asset has an owner and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risks, each with a concrete mitigation. Content quality: if many assets fail the gate, start with the 2,000 assets people actually ask about, and publish quarantine counts by owner every week so fixing them becomes someone's job. Unclear ownership: default deny means an asset without a confirmed owning client is never shown to client users; the Client Allocation Matrix resolves ownership. Review bottleneck: ORSD templates make authoring repeatable, and the council commits to a turnaround time. Adoption: begin with service representatives' most frequent questions and report time saved. Graph store: choose it in month one; because the Keel's contract is open standards (RDF, SPARQL, SHACL), the product can be replaced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five decisions that unblock month one. The seed set: which 2,000 assets to admit first, chosen by how often people ask about them. The pilot clients: three to five, named now so their content is admitted in time for month five. Access: the scope of Box and SharePoint, through read-only service accounts. The asset card: the council approves the ten-field schema. The graph store: pick an RDF (Resource Description Framework) store hosted on Azure; the open contract keeps it replaceable. Last line: admit it once, tag it right, and every search after that is safe. That is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A63"/>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C3A63"/>
              </a:gs>
              <a:gs pos="60000">
                <a:srgbClr val="0B1F3A"/>
              </a:gs>
            </a:gsLst>
            <a:path path="circle">
              <a:fillToRect l="78000" t="22000" r="22000" b="78000"/>
            </a:path>
          </a:gradFill>
          <a:ln/>
        </p:spPr>
      </p:sp>
      <p:sp>
        <p:nvSpPr>
          <p:cNvPr id="3" name="Text 1"/>
          <p:cNvSpPr/>
          <p:nvPr/>
        </p:nvSpPr>
        <p:spPr>
          <a:xfrm>
            <a:off x="812800" y="15177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50" kern="0" dirty="0">
                <a:solidFill>
                  <a:srgbClr val="C8A951"/>
                </a:solidFill>
                <a:latin typeface="IBM Plex Sans" pitchFamily="34" charset="0"/>
                <a:ea typeface="IBM Plex Sans" pitchFamily="34" charset="-122"/>
                <a:cs typeface="IBM Plex Sans" pitchFamily="34" charset="-120"/>
              </a:rPr>
              <a:t>INSPERITY · NORTH STAR SEARCH · PHASE 0–1</a:t>
            </a:r>
            <a:endParaRPr lang="en-US" sz="1300" dirty="0"/>
          </a:p>
        </p:txBody>
      </p:sp>
      <p:sp>
        <p:nvSpPr>
          <p:cNvPr id="4" name="Text 2"/>
          <p:cNvSpPr/>
          <p:nvPr/>
        </p:nvSpPr>
        <p:spPr>
          <a:xfrm>
            <a:off x="812800" y="2002830"/>
            <a:ext cx="9156700" cy="2265561"/>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4F7FB"/>
                </a:solidFill>
                <a:latin typeface="Source Serif 4" pitchFamily="34" charset="0"/>
                <a:ea typeface="Source Serif 4" pitchFamily="34" charset="-122"/>
                <a:cs typeface="Source Serif 4" pitchFamily="34" charset="-120"/>
              </a:rPr>
              <a:t>Searching Insperity's digital assets, governed from day one</a:t>
            </a:r>
            <a:endParaRPr lang="en-US" sz="5600" dirty="0"/>
          </a:p>
        </p:txBody>
      </p:sp>
      <p:sp>
        <p:nvSpPr>
          <p:cNvPr id="5" name="Text 3"/>
          <p:cNvSpPr/>
          <p:nvPr/>
        </p:nvSpPr>
        <p:spPr>
          <a:xfrm>
            <a:off x="812800" y="4496991"/>
            <a:ext cx="8175625"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6E6"/>
                </a:solidFill>
                <a:latin typeface="IBM Plex Sans" pitchFamily="34" charset="0"/>
                <a:ea typeface="IBM Plex Sans" pitchFamily="34" charset="-122"/>
                <a:cs typeface="IBM Plex Sans" pitchFamily="34" charset="-120"/>
              </a:rPr>
              <a:t>The foundation that must be built first, and the first six months that put governed search in front of staff and pilot clients</a:t>
            </a:r>
            <a:endParaRPr lang="en-US" sz="1800" dirty="0"/>
          </a:p>
        </p:txBody>
      </p:sp>
      <p:pic>
        <p:nvPicPr>
          <p:cNvPr id="6" name="Image 0" descr="diamond">    </p:cNvPr>
          <p:cNvPicPr>
            <a:picLocks noChangeAspect="1"/>
          </p:cNvPicPr>
          <p:nvPr/>
        </p:nvPicPr>
        <p:blipFill>
          <a:blip r:embed="rId1"/>
          <a:srcRect l="0" r="0" t="0" b="0"/>
          <a:stretch/>
        </p:blipFill>
        <p:spPr>
          <a:xfrm>
            <a:off x="10160000" y="952500"/>
            <a:ext cx="609600" cy="609600"/>
          </a:xfrm>
          <a:prstGeom prst="rect">
            <a:avLst/>
          </a:prstGeom>
        </p:spPr>
      </p:pic>
      <p:pic>
        <p:nvPicPr>
          <p:cNvPr id="7" name="Image 1" descr="diamond">    </p:cNvPr>
          <p:cNvPicPr>
            <a:picLocks noChangeAspect="1"/>
          </p:cNvPicPr>
          <p:nvPr/>
        </p:nvPicPr>
        <p:blipFill>
          <a:blip r:embed="rId2"/>
          <a:srcRect l="0" r="0" t="0" b="0"/>
          <a:stretch/>
        </p:blipFill>
        <p:spPr>
          <a:xfrm>
            <a:off x="10312400" y="1104900"/>
            <a:ext cx="304800" cy="304800"/>
          </a:xfrm>
          <a:prstGeom prst="rect">
            <a:avLst/>
          </a:prstGeom>
        </p:spPr>
      </p:pic>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4D4"/>
                </a:solidFill>
                <a:latin typeface="IBM Plex Sans" pitchFamily="34" charset="0"/>
                <a:ea typeface="IBM Plex Sans" pitchFamily="34" charset="-122"/>
                <a:cs typeface="IBM Plex Sans" pitchFamily="34" charset="-120"/>
              </a:rPr>
              <a:t>Jeffrey Wallk · for business executives and technical leaders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THE GOAL FOR MONTH 6</a:t>
            </a:r>
            <a:endParaRPr lang="en-US" sz="1200" dirty="0"/>
          </a:p>
        </p:txBody>
      </p:sp>
      <p:sp>
        <p:nvSpPr>
          <p:cNvPr id="3" name="Text 1"/>
          <p:cNvSpPr/>
          <p:nvPr/>
        </p:nvSpPr>
        <p:spPr>
          <a:xfrm>
            <a:off x="812800" y="1153120"/>
            <a:ext cx="10464800" cy="130547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0B1F3A"/>
                </a:solidFill>
                <a:latin typeface="Source Serif 4" pitchFamily="34" charset="0"/>
                <a:ea typeface="Source Serif 4" pitchFamily="34" charset="-122"/>
                <a:cs typeface="Source Serif 4" pitchFamily="34" charset="-120"/>
              </a:rPr>
              <a:t>Insperity staff and employees at 3–5 pilot clients get answers from admitted digital assets, cited to source and never crossing client lines.</a:t>
            </a:r>
            <a:endParaRPr lang="en-US" sz="2800" dirty="0"/>
          </a:p>
        </p:txBody>
      </p:sp>
      <p:sp>
        <p:nvSpPr>
          <p:cNvPr id="4" name="Shape 2"/>
          <p:cNvSpPr/>
          <p:nvPr/>
        </p:nvSpPr>
        <p:spPr>
          <a:xfrm>
            <a:off x="815975" y="2791966"/>
            <a:ext cx="2482850" cy="1818580"/>
          </a:xfrm>
          <a:prstGeom prst="roundRect">
            <a:avLst>
              <a:gd name="adj" fmla="val 5412"/>
            </a:avLst>
          </a:prstGeom>
          <a:solidFill>
            <a:srgbClr val="FFFFFF"/>
          </a:solidFill>
          <a:ln w="6350">
            <a:solidFill>
              <a:srgbClr val="D8E1EC"/>
            </a:solidFill>
            <a:prstDash val="solid"/>
          </a:ln>
        </p:spPr>
      </p:sp>
      <p:sp>
        <p:nvSpPr>
          <p:cNvPr id="5" name="Text 3"/>
          <p:cNvSpPr/>
          <p:nvPr/>
        </p:nvSpPr>
        <p:spPr>
          <a:xfrm>
            <a:off x="1047750" y="302374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2,000+</a:t>
            </a:r>
            <a:endParaRPr lang="en-US" sz="4400" dirty="0"/>
          </a:p>
        </p:txBody>
      </p:sp>
      <p:sp>
        <p:nvSpPr>
          <p:cNvPr id="6" name="Text 4"/>
          <p:cNvSpPr/>
          <p:nvPr/>
        </p:nvSpPr>
        <p:spPr>
          <a:xfrm>
            <a:off x="1047750" y="365874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seed assets admitted and searchable by month 2</a:t>
            </a:r>
            <a:endParaRPr lang="en-US" sz="1400" dirty="0"/>
          </a:p>
        </p:txBody>
      </p:sp>
      <p:sp>
        <p:nvSpPr>
          <p:cNvPr id="7" name="Shape 5"/>
          <p:cNvSpPr/>
          <p:nvPr/>
        </p:nvSpPr>
        <p:spPr>
          <a:xfrm>
            <a:off x="3508375" y="2791966"/>
            <a:ext cx="2482850" cy="1818580"/>
          </a:xfrm>
          <a:prstGeom prst="roundRect">
            <a:avLst>
              <a:gd name="adj" fmla="val 5412"/>
            </a:avLst>
          </a:prstGeom>
          <a:solidFill>
            <a:srgbClr val="FFFFFF"/>
          </a:solidFill>
          <a:ln w="6350">
            <a:solidFill>
              <a:srgbClr val="D8E1EC"/>
            </a:solidFill>
            <a:prstDash val="solid"/>
          </a:ln>
        </p:spPr>
      </p:sp>
      <p:sp>
        <p:nvSpPr>
          <p:cNvPr id="8" name="Text 6"/>
          <p:cNvSpPr/>
          <p:nvPr/>
        </p:nvSpPr>
        <p:spPr>
          <a:xfrm>
            <a:off x="3740150" y="302374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≥40%</a:t>
            </a:r>
            <a:endParaRPr lang="en-US" sz="4400" dirty="0"/>
          </a:p>
        </p:txBody>
      </p:sp>
      <p:sp>
        <p:nvSpPr>
          <p:cNvPr id="9" name="Text 7"/>
          <p:cNvSpPr/>
          <p:nvPr/>
        </p:nvSpPr>
        <p:spPr>
          <a:xfrm>
            <a:off x="3740150" y="3658741"/>
            <a:ext cx="2079879"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of pilot employees' questions resolved by self-service</a:t>
            </a:r>
            <a:endParaRPr lang="en-US" sz="1400" dirty="0"/>
          </a:p>
        </p:txBody>
      </p:sp>
      <p:sp>
        <p:nvSpPr>
          <p:cNvPr id="10" name="Shape 8"/>
          <p:cNvSpPr/>
          <p:nvPr/>
        </p:nvSpPr>
        <p:spPr>
          <a:xfrm>
            <a:off x="6200775" y="2791966"/>
            <a:ext cx="2482850" cy="1818580"/>
          </a:xfrm>
          <a:prstGeom prst="roundRect">
            <a:avLst>
              <a:gd name="adj" fmla="val 5412"/>
            </a:avLst>
          </a:prstGeom>
          <a:solidFill>
            <a:srgbClr val="FFFFFF"/>
          </a:solidFill>
          <a:ln w="6350">
            <a:solidFill>
              <a:srgbClr val="D8E1EC"/>
            </a:solidFill>
            <a:prstDash val="solid"/>
          </a:ln>
        </p:spPr>
      </p:sp>
      <p:sp>
        <p:nvSpPr>
          <p:cNvPr id="11" name="Text 9"/>
          <p:cNvSpPr/>
          <p:nvPr/>
        </p:nvSpPr>
        <p:spPr>
          <a:xfrm>
            <a:off x="6432550" y="302374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≤3 s</a:t>
            </a:r>
            <a:endParaRPr lang="en-US" sz="4400" dirty="0"/>
          </a:p>
        </p:txBody>
      </p:sp>
      <p:sp>
        <p:nvSpPr>
          <p:cNvPr id="12" name="Text 10"/>
          <p:cNvSpPr/>
          <p:nvPr/>
        </p:nvSpPr>
        <p:spPr>
          <a:xfrm>
            <a:off x="6432550" y="3658741"/>
            <a:ext cx="207987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for 95% of answers to arrive</a:t>
            </a:r>
            <a:endParaRPr lang="en-US" sz="1400" dirty="0"/>
          </a:p>
        </p:txBody>
      </p:sp>
      <p:sp>
        <p:nvSpPr>
          <p:cNvPr id="13" name="Shape 11"/>
          <p:cNvSpPr/>
          <p:nvPr/>
        </p:nvSpPr>
        <p:spPr>
          <a:xfrm>
            <a:off x="8893175" y="2791966"/>
            <a:ext cx="2482850" cy="1818580"/>
          </a:xfrm>
          <a:prstGeom prst="roundRect">
            <a:avLst>
              <a:gd name="adj" fmla="val 5412"/>
            </a:avLst>
          </a:prstGeom>
          <a:solidFill>
            <a:srgbClr val="FFFFFF"/>
          </a:solidFill>
          <a:ln w="6350">
            <a:solidFill>
              <a:srgbClr val="D8E1EC"/>
            </a:solidFill>
            <a:prstDash val="solid"/>
          </a:ln>
        </p:spPr>
      </p:sp>
      <p:sp>
        <p:nvSpPr>
          <p:cNvPr id="14" name="Text 12"/>
          <p:cNvSpPr/>
          <p:nvPr/>
        </p:nvSpPr>
        <p:spPr>
          <a:xfrm>
            <a:off x="9124950" y="3023741"/>
            <a:ext cx="2079879"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B1F3A"/>
                </a:solidFill>
                <a:latin typeface="Source Serif 4" pitchFamily="34" charset="0"/>
                <a:ea typeface="Source Serif 4" pitchFamily="34" charset="-122"/>
                <a:cs typeface="Source Serif 4" pitchFamily="34" charset="-120"/>
              </a:rPr>
              <a:t>0</a:t>
            </a:r>
            <a:endParaRPr lang="en-US" sz="4400" dirty="0"/>
          </a:p>
        </p:txBody>
      </p:sp>
      <p:sp>
        <p:nvSpPr>
          <p:cNvPr id="15" name="Text 13"/>
          <p:cNvSpPr/>
          <p:nvPr/>
        </p:nvSpPr>
        <p:spPr>
          <a:xfrm>
            <a:off x="9124950" y="3658741"/>
            <a:ext cx="2079879"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70"/>
                </a:solidFill>
                <a:latin typeface="IBM Plex Sans" pitchFamily="34" charset="0"/>
                <a:ea typeface="IBM Plex Sans" pitchFamily="34" charset="-122"/>
                <a:cs typeface="IBM Plex Sans" pitchFamily="34" charset="-120"/>
              </a:rPr>
              <a:t>results shown from another client's content</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2 · Targets from the Gate 0 and Gate 1 criteria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WHAT WE ARE SEARCHING</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Six classes of digital asset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2515245"/>
        </p:xfrm>
        <a:graphic>
          <a:graphicData uri="http://schemas.openxmlformats.org/drawingml/2006/table">
            <a:tbl>
              <a:tblPr/>
              <a:tblGrid>
                <a:gridCol w="3799332"/>
                <a:gridCol w="3799332"/>
                <a:gridCol w="2955036"/>
              </a:tblGrid>
              <a:tr h="359321">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Asset class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Where it lives today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Whose it 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Statutes and regulations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Regulatory feeds, statute watch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Insperity-wide, by jurisdiction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Benefit plan documents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Box content cloud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Plan or client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Client handbooks and policies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Box, SharePoint handbook sites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One client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Client service agreements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Contract repository, Box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One client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Forms, notices and templates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Box, shared drives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Insperity-wide, by jurisdiction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Training and knowledge articles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LMS, service knowledge base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By 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bl>
          </a:graphicData>
        </a:graphic>
      </p:graphicFrame>
      <p:sp>
        <p:nvSpPr>
          <p:cNvPr id="5" name="Text 2"/>
          <p:cNvSpPr/>
          <p:nvPr/>
        </p:nvSpPr>
        <p:spPr>
          <a:xfrm>
            <a:off x="812800" y="4666555"/>
            <a:ext cx="104648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Box alone holds about 33 million records. Phase 0 admits a seed set of 2,000; the rest follow by class and priority.</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3 · Proposed classes, to be confirmed against the six ORSD asset templates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THE STARTING POINT</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Four things that make search hard</a:t>
            </a:r>
            <a:endParaRPr lang="en-US" sz="3600" dirty="0"/>
          </a:p>
        </p:txBody>
      </p:sp>
      <p:sp>
        <p:nvSpPr>
          <p:cNvPr id="4" name="Shape 2"/>
          <p:cNvSpPr/>
          <p:nvPr/>
        </p:nvSpPr>
        <p:spPr>
          <a:xfrm>
            <a:off x="815975" y="1938586"/>
            <a:ext cx="5187950" cy="1342330"/>
          </a:xfrm>
          <a:prstGeom prst="roundRect">
            <a:avLst>
              <a:gd name="adj" fmla="val 7332"/>
            </a:avLst>
          </a:prstGeom>
          <a:solidFill>
            <a:srgbClr val="FFFFFF"/>
          </a:solidFill>
          <a:ln w="6350">
            <a:solidFill>
              <a:srgbClr val="D8E1EC"/>
            </a:solidFill>
            <a:prstDash val="solid"/>
          </a:ln>
        </p:spPr>
      </p:sp>
      <p:sp>
        <p:nvSpPr>
          <p:cNvPr id="5" name="Text 3"/>
          <p:cNvSpPr/>
          <p:nvPr/>
        </p:nvSpPr>
        <p:spPr>
          <a:xfrm>
            <a:off x="1047750" y="2170361"/>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A"/>
                </a:solidFill>
                <a:latin typeface="Source Serif 4" pitchFamily="34" charset="0"/>
                <a:ea typeface="Source Serif 4" pitchFamily="34" charset="-122"/>
                <a:cs typeface="Source Serif 4" pitchFamily="34" charset="-120"/>
              </a:rPr>
              <a:t>Scattered</a:t>
            </a:r>
            <a:endParaRPr lang="en-US" sz="2000" dirty="0"/>
          </a:p>
        </p:txBody>
      </p:sp>
      <p:sp>
        <p:nvSpPr>
          <p:cNvPr id="6" name="Text 4"/>
          <p:cNvSpPr/>
          <p:nvPr/>
        </p:nvSpPr>
        <p:spPr>
          <a:xfrm>
            <a:off x="1047750" y="255136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Content sits across Box, SharePoint sites, shared drives and spreadsheets, with no single index.</a:t>
            </a:r>
            <a:endParaRPr lang="en-US" sz="1400" dirty="0"/>
          </a:p>
        </p:txBody>
      </p:sp>
      <p:sp>
        <p:nvSpPr>
          <p:cNvPr id="7" name="Shape 5"/>
          <p:cNvSpPr/>
          <p:nvPr/>
        </p:nvSpPr>
        <p:spPr>
          <a:xfrm>
            <a:off x="6188075" y="1938586"/>
            <a:ext cx="5187950" cy="1342330"/>
          </a:xfrm>
          <a:prstGeom prst="roundRect">
            <a:avLst>
              <a:gd name="adj" fmla="val 7332"/>
            </a:avLst>
          </a:prstGeom>
          <a:solidFill>
            <a:srgbClr val="FFFFFF"/>
          </a:solidFill>
          <a:ln w="6350">
            <a:solidFill>
              <a:srgbClr val="D8E1EC"/>
            </a:solidFill>
            <a:prstDash val="solid"/>
          </a:ln>
        </p:spPr>
      </p:sp>
      <p:sp>
        <p:nvSpPr>
          <p:cNvPr id="8" name="Text 6"/>
          <p:cNvSpPr/>
          <p:nvPr/>
        </p:nvSpPr>
        <p:spPr>
          <a:xfrm>
            <a:off x="6419850" y="2170361"/>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A"/>
                </a:solidFill>
                <a:latin typeface="Source Serif 4" pitchFamily="34" charset="0"/>
                <a:ea typeface="Source Serif 4" pitchFamily="34" charset="-122"/>
                <a:cs typeface="Source Serif 4" pitchFamily="34" charset="-120"/>
              </a:rPr>
              <a:t>Untagged</a:t>
            </a:r>
            <a:endParaRPr lang="en-US" sz="2000" dirty="0"/>
          </a:p>
        </p:txBody>
      </p:sp>
      <p:sp>
        <p:nvSpPr>
          <p:cNvPr id="9" name="Text 7"/>
          <p:cNvSpPr/>
          <p:nvPr/>
        </p:nvSpPr>
        <p:spPr>
          <a:xfrm>
            <a:off x="6419850" y="255136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Few assets record which client owns them, so broad search risks showing one client's policy to another.</a:t>
            </a:r>
            <a:endParaRPr lang="en-US" sz="1400" dirty="0"/>
          </a:p>
        </p:txBody>
      </p:sp>
      <p:sp>
        <p:nvSpPr>
          <p:cNvPr id="10" name="Shape 8"/>
          <p:cNvSpPr/>
          <p:nvPr/>
        </p:nvSpPr>
        <p:spPr>
          <a:xfrm>
            <a:off x="815975" y="3465066"/>
            <a:ext cx="5187950" cy="1342330"/>
          </a:xfrm>
          <a:prstGeom prst="roundRect">
            <a:avLst>
              <a:gd name="adj" fmla="val 7332"/>
            </a:avLst>
          </a:prstGeom>
          <a:solidFill>
            <a:srgbClr val="FFFFFF"/>
          </a:solidFill>
          <a:ln w="6350">
            <a:solidFill>
              <a:srgbClr val="D8E1EC"/>
            </a:solidFill>
            <a:prstDash val="solid"/>
          </a:ln>
        </p:spPr>
      </p:sp>
      <p:sp>
        <p:nvSpPr>
          <p:cNvPr id="11" name="Text 9"/>
          <p:cNvSpPr/>
          <p:nvPr/>
        </p:nvSpPr>
        <p:spPr>
          <a:xfrm>
            <a:off x="1047750" y="3696841"/>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A"/>
                </a:solidFill>
                <a:latin typeface="Source Serif 4" pitchFamily="34" charset="0"/>
                <a:ea typeface="Source Serif 4" pitchFamily="34" charset="-122"/>
                <a:cs typeface="Source Serif 4" pitchFamily="34" charset="-120"/>
              </a:rPr>
              <a:t>Undated</a:t>
            </a:r>
            <a:endParaRPr lang="en-US" sz="2000" dirty="0"/>
          </a:p>
        </p:txBody>
      </p:sp>
      <p:sp>
        <p:nvSpPr>
          <p:cNvPr id="12" name="Text 10"/>
          <p:cNvSpPr/>
          <p:nvPr/>
        </p:nvSpPr>
        <p:spPr>
          <a:xfrm>
            <a:off x="1047750" y="40778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Without effective dates and versions, search returns last year's plan as readily as this year's.</a:t>
            </a:r>
            <a:endParaRPr lang="en-US" sz="1400" dirty="0"/>
          </a:p>
        </p:txBody>
      </p:sp>
      <p:sp>
        <p:nvSpPr>
          <p:cNvPr id="13" name="Shape 11"/>
          <p:cNvSpPr/>
          <p:nvPr/>
        </p:nvSpPr>
        <p:spPr>
          <a:xfrm>
            <a:off x="6188075" y="3465066"/>
            <a:ext cx="5187950" cy="1342330"/>
          </a:xfrm>
          <a:prstGeom prst="roundRect">
            <a:avLst>
              <a:gd name="adj" fmla="val 7332"/>
            </a:avLst>
          </a:prstGeom>
          <a:solidFill>
            <a:srgbClr val="FFFFFF"/>
          </a:solidFill>
          <a:ln w="6350">
            <a:solidFill>
              <a:srgbClr val="D8E1EC"/>
            </a:solidFill>
            <a:prstDash val="solid"/>
          </a:ln>
        </p:spPr>
      </p:sp>
      <p:sp>
        <p:nvSpPr>
          <p:cNvPr id="14" name="Text 12"/>
          <p:cNvSpPr/>
          <p:nvPr/>
        </p:nvSpPr>
        <p:spPr>
          <a:xfrm>
            <a:off x="6419850" y="3696841"/>
            <a:ext cx="486613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B1F3A"/>
                </a:solidFill>
                <a:latin typeface="Source Serif 4" pitchFamily="34" charset="0"/>
                <a:ea typeface="Source Serif 4" pitchFamily="34" charset="-122"/>
                <a:cs typeface="Source Serif 4" pitchFamily="34" charset="-120"/>
              </a:rPr>
              <a:t>Unlinked</a:t>
            </a:r>
            <a:endParaRPr lang="en-US" sz="2000" dirty="0"/>
          </a:p>
        </p:txBody>
      </p:sp>
      <p:sp>
        <p:nvSpPr>
          <p:cNvPr id="15" name="Text 13"/>
          <p:cNvSpPr/>
          <p:nvPr/>
        </p:nvSpPr>
        <p:spPr>
          <a:xfrm>
            <a:off x="6419850" y="40778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Keyword search cannot tell which rule applies to a Colorado employee in the next plan year.</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4 · Typical conditions; validate against Insperity's content audit in month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PHASE 0 · MONTHS 1–2</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Six foundations come first</a:t>
            </a:r>
            <a:endParaRPr lang="en-US" sz="3600" dirty="0"/>
          </a:p>
        </p:txBody>
      </p:sp>
      <p:sp>
        <p:nvSpPr>
          <p:cNvPr id="4" name="Shape 2"/>
          <p:cNvSpPr/>
          <p:nvPr/>
        </p:nvSpPr>
        <p:spPr>
          <a:xfrm>
            <a:off x="815975" y="1887786"/>
            <a:ext cx="3397250" cy="1669951"/>
          </a:xfrm>
          <a:prstGeom prst="roundRect">
            <a:avLst>
              <a:gd name="adj" fmla="val 5894"/>
            </a:avLst>
          </a:prstGeom>
          <a:solidFill>
            <a:srgbClr val="FFFFFF"/>
          </a:solidFill>
          <a:ln w="6350">
            <a:solidFill>
              <a:srgbClr val="C9DCE6"/>
            </a:solidFill>
            <a:prstDash val="solid"/>
          </a:ln>
        </p:spPr>
      </p:sp>
      <p:sp>
        <p:nvSpPr>
          <p:cNvPr id="5" name="Text 3"/>
          <p:cNvSpPr/>
          <p:nvPr/>
        </p:nvSpPr>
        <p:spPr>
          <a:xfrm>
            <a:off x="9969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F1 · ISP-01</a:t>
            </a:r>
            <a:endParaRPr lang="en-US" sz="1200" dirty="0"/>
          </a:p>
        </p:txBody>
      </p:sp>
      <p:sp>
        <p:nvSpPr>
          <p:cNvPr id="6" name="Text 4"/>
          <p:cNvSpPr/>
          <p:nvPr/>
        </p:nvSpPr>
        <p:spPr>
          <a:xfrm>
            <a:off x="9969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Core ontology</a:t>
            </a:r>
            <a:endParaRPr lang="en-US" sz="1800" dirty="0"/>
          </a:p>
        </p:txBody>
      </p:sp>
      <p:sp>
        <p:nvSpPr>
          <p:cNvPr id="7" name="Text 5"/>
          <p:cNvSpPr/>
          <p:nvPr/>
        </p:nvSpPr>
        <p:spPr>
          <a:xfrm>
            <a:off x="996950" y="2683371"/>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Canonical definitions and synonyms, so "PTO" also finds "paid time off".</a:t>
            </a:r>
            <a:endParaRPr lang="en-US" sz="1300" dirty="0"/>
          </a:p>
        </p:txBody>
      </p:sp>
      <p:sp>
        <p:nvSpPr>
          <p:cNvPr id="8" name="Shape 6"/>
          <p:cNvSpPr/>
          <p:nvPr/>
        </p:nvSpPr>
        <p:spPr>
          <a:xfrm>
            <a:off x="4397375" y="1887786"/>
            <a:ext cx="3397250" cy="1669951"/>
          </a:xfrm>
          <a:prstGeom prst="roundRect">
            <a:avLst>
              <a:gd name="adj" fmla="val 5894"/>
            </a:avLst>
          </a:prstGeom>
          <a:solidFill>
            <a:srgbClr val="FFFFFF"/>
          </a:solidFill>
          <a:ln w="6350">
            <a:solidFill>
              <a:srgbClr val="C9DCE6"/>
            </a:solidFill>
            <a:prstDash val="solid"/>
          </a:ln>
        </p:spPr>
      </p:sp>
      <p:sp>
        <p:nvSpPr>
          <p:cNvPr id="9" name="Text 7"/>
          <p:cNvSpPr/>
          <p:nvPr/>
        </p:nvSpPr>
        <p:spPr>
          <a:xfrm>
            <a:off x="45783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F2 · ISP-01</a:t>
            </a:r>
            <a:endParaRPr lang="en-US" sz="1200" dirty="0"/>
          </a:p>
        </p:txBody>
      </p:sp>
      <p:sp>
        <p:nvSpPr>
          <p:cNvPr id="10" name="Text 8"/>
          <p:cNvSpPr/>
          <p:nvPr/>
        </p:nvSpPr>
        <p:spPr>
          <a:xfrm>
            <a:off x="45783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Asset templates</a:t>
            </a:r>
            <a:endParaRPr lang="en-US" sz="1800" dirty="0"/>
          </a:p>
        </p:txBody>
      </p:sp>
      <p:sp>
        <p:nvSpPr>
          <p:cNvPr id="11" name="Text 9"/>
          <p:cNvSpPr/>
          <p:nvPr/>
        </p:nvSpPr>
        <p:spPr>
          <a:xfrm>
            <a:off x="4578350" y="2683371"/>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A template per asset class: the metadata an asset needs before it can be found.</a:t>
            </a:r>
            <a:endParaRPr lang="en-US" sz="1300" dirty="0"/>
          </a:p>
        </p:txBody>
      </p:sp>
      <p:sp>
        <p:nvSpPr>
          <p:cNvPr id="12" name="Shape 10"/>
          <p:cNvSpPr/>
          <p:nvPr/>
        </p:nvSpPr>
        <p:spPr>
          <a:xfrm>
            <a:off x="7978775" y="1887786"/>
            <a:ext cx="3397250" cy="1669951"/>
          </a:xfrm>
          <a:prstGeom prst="roundRect">
            <a:avLst>
              <a:gd name="adj" fmla="val 5894"/>
            </a:avLst>
          </a:prstGeom>
          <a:solidFill>
            <a:srgbClr val="FFFFFF"/>
          </a:solidFill>
          <a:ln w="6350">
            <a:solidFill>
              <a:srgbClr val="C9DCE6"/>
            </a:solidFill>
            <a:prstDash val="solid"/>
          </a:ln>
        </p:spPr>
      </p:sp>
      <p:sp>
        <p:nvSpPr>
          <p:cNvPr id="13" name="Text 11"/>
          <p:cNvSpPr/>
          <p:nvPr/>
        </p:nvSpPr>
        <p:spPr>
          <a:xfrm>
            <a:off x="81597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F3 · ISP-04</a:t>
            </a:r>
            <a:endParaRPr lang="en-US" sz="1200" dirty="0"/>
          </a:p>
        </p:txBody>
      </p:sp>
      <p:sp>
        <p:nvSpPr>
          <p:cNvPr id="14" name="Text 12"/>
          <p:cNvSpPr/>
          <p:nvPr/>
        </p:nvSpPr>
        <p:spPr>
          <a:xfrm>
            <a:off x="81597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Identity registry</a:t>
            </a:r>
            <a:endParaRPr lang="en-US" sz="1800" dirty="0"/>
          </a:p>
        </p:txBody>
      </p:sp>
      <p:sp>
        <p:nvSpPr>
          <p:cNvPr id="15" name="Text 13"/>
          <p:cNvSpPr/>
          <p:nvPr/>
        </p:nvSpPr>
        <p:spPr>
          <a:xfrm>
            <a:off x="8159750" y="2683371"/>
            <a:ext cx="31263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One permanent URI per client, worker and asset across Box, Workday and payroll.</a:t>
            </a:r>
            <a:endParaRPr lang="en-US" sz="1300" dirty="0"/>
          </a:p>
        </p:txBody>
      </p:sp>
      <p:sp>
        <p:nvSpPr>
          <p:cNvPr id="16" name="Shape 14"/>
          <p:cNvSpPr/>
          <p:nvPr/>
        </p:nvSpPr>
        <p:spPr>
          <a:xfrm>
            <a:off x="815975" y="3741886"/>
            <a:ext cx="3397250" cy="1438821"/>
          </a:xfrm>
          <a:prstGeom prst="roundRect">
            <a:avLst>
              <a:gd name="adj" fmla="val 6841"/>
            </a:avLst>
          </a:prstGeom>
          <a:solidFill>
            <a:srgbClr val="FFFFFF"/>
          </a:solidFill>
          <a:ln w="6350">
            <a:solidFill>
              <a:srgbClr val="C9DCE6"/>
            </a:solidFill>
            <a:prstDash val="solid"/>
          </a:ln>
        </p:spPr>
      </p:sp>
      <p:sp>
        <p:nvSpPr>
          <p:cNvPr id="17" name="Text 15"/>
          <p:cNvSpPr/>
          <p:nvPr/>
        </p:nvSpPr>
        <p:spPr>
          <a:xfrm>
            <a:off x="9969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F4 · ISP-03</a:t>
            </a:r>
            <a:endParaRPr lang="en-US" sz="1200" dirty="0"/>
          </a:p>
        </p:txBody>
      </p:sp>
      <p:sp>
        <p:nvSpPr>
          <p:cNvPr id="18" name="Text 16"/>
          <p:cNvSpPr/>
          <p:nvPr/>
        </p:nvSpPr>
        <p:spPr>
          <a:xfrm>
            <a:off x="9969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Admission gate</a:t>
            </a:r>
            <a:endParaRPr lang="en-US" sz="1800" dirty="0"/>
          </a:p>
        </p:txBody>
      </p:sp>
      <p:sp>
        <p:nvSpPr>
          <p:cNvPr id="19" name="Text 17"/>
          <p:cNvSpPr/>
          <p:nvPr/>
        </p:nvSpPr>
        <p:spPr>
          <a:xfrm>
            <a:off x="9969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Box connector plus a quality gate; failing assets are quarantined, never indexed.</a:t>
            </a:r>
            <a:endParaRPr lang="en-US" sz="1300" dirty="0"/>
          </a:p>
        </p:txBody>
      </p:sp>
      <p:sp>
        <p:nvSpPr>
          <p:cNvPr id="20" name="Shape 18"/>
          <p:cNvSpPr/>
          <p:nvPr/>
        </p:nvSpPr>
        <p:spPr>
          <a:xfrm>
            <a:off x="4397375" y="3741886"/>
            <a:ext cx="3397250" cy="1438821"/>
          </a:xfrm>
          <a:prstGeom prst="roundRect">
            <a:avLst>
              <a:gd name="adj" fmla="val 6841"/>
            </a:avLst>
          </a:prstGeom>
          <a:solidFill>
            <a:srgbClr val="FFFFFF"/>
          </a:solidFill>
          <a:ln w="6350">
            <a:solidFill>
              <a:srgbClr val="C9DCE6"/>
            </a:solidFill>
            <a:prstDash val="solid"/>
          </a:ln>
        </p:spPr>
      </p:sp>
      <p:sp>
        <p:nvSpPr>
          <p:cNvPr id="21" name="Text 19"/>
          <p:cNvSpPr/>
          <p:nvPr/>
        </p:nvSpPr>
        <p:spPr>
          <a:xfrm>
            <a:off x="45783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F5 · ISP-02</a:t>
            </a:r>
            <a:endParaRPr lang="en-US" sz="1200" dirty="0"/>
          </a:p>
        </p:txBody>
      </p:sp>
      <p:sp>
        <p:nvSpPr>
          <p:cNvPr id="22" name="Text 20"/>
          <p:cNvSpPr/>
          <p:nvPr/>
        </p:nvSpPr>
        <p:spPr>
          <a:xfrm>
            <a:off x="45783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Rule register</a:t>
            </a:r>
            <a:endParaRPr lang="en-US" sz="1800" dirty="0"/>
          </a:p>
        </p:txBody>
      </p:sp>
      <p:sp>
        <p:nvSpPr>
          <p:cNvPr id="23" name="Text 21"/>
          <p:cNvSpPr/>
          <p:nvPr/>
        </p:nvSpPr>
        <p:spPr>
          <a:xfrm>
            <a:off x="45783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142 rules with owner, source and URI, so assets link to the rules they carry.</a:t>
            </a:r>
            <a:endParaRPr lang="en-US" sz="1300" dirty="0"/>
          </a:p>
        </p:txBody>
      </p:sp>
      <p:sp>
        <p:nvSpPr>
          <p:cNvPr id="24" name="Shape 22"/>
          <p:cNvSpPr/>
          <p:nvPr/>
        </p:nvSpPr>
        <p:spPr>
          <a:xfrm>
            <a:off x="7978775" y="3741886"/>
            <a:ext cx="3397250" cy="1438821"/>
          </a:xfrm>
          <a:prstGeom prst="roundRect">
            <a:avLst>
              <a:gd name="adj" fmla="val 6841"/>
            </a:avLst>
          </a:prstGeom>
          <a:solidFill>
            <a:srgbClr val="FFFFFF"/>
          </a:solidFill>
          <a:ln w="6350">
            <a:solidFill>
              <a:srgbClr val="C9DCE6"/>
            </a:solidFill>
            <a:prstDash val="solid"/>
          </a:ln>
        </p:spPr>
      </p:sp>
      <p:sp>
        <p:nvSpPr>
          <p:cNvPr id="25" name="Text 23"/>
          <p:cNvSpPr/>
          <p:nvPr/>
        </p:nvSpPr>
        <p:spPr>
          <a:xfrm>
            <a:off x="81597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F6 · ISP-05</a:t>
            </a:r>
            <a:endParaRPr lang="en-US" sz="1200" dirty="0"/>
          </a:p>
        </p:txBody>
      </p:sp>
      <p:sp>
        <p:nvSpPr>
          <p:cNvPr id="26" name="Text 24"/>
          <p:cNvSpPr/>
          <p:nvPr/>
        </p:nvSpPr>
        <p:spPr>
          <a:xfrm>
            <a:off x="81597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Change governance</a:t>
            </a:r>
            <a:endParaRPr lang="en-US" sz="1800" dirty="0"/>
          </a:p>
        </p:txBody>
      </p:sp>
      <p:sp>
        <p:nvSpPr>
          <p:cNvPr id="27" name="Text 25"/>
          <p:cNvSpPr/>
          <p:nvPr/>
        </p:nvSpPr>
        <p:spPr>
          <a:xfrm>
            <a:off x="81597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A council, change records and staged promotion for the model and metadata.</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5 · ISP numbers refer to the 28-project portfolio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PHASE 1 · MONTHS 3–6</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Then the search layer goes on top</a:t>
            </a:r>
            <a:endParaRPr lang="en-US" sz="3600" dirty="0"/>
          </a:p>
        </p:txBody>
      </p:sp>
      <p:sp>
        <p:nvSpPr>
          <p:cNvPr id="4" name="Shape 2"/>
          <p:cNvSpPr/>
          <p:nvPr/>
        </p:nvSpPr>
        <p:spPr>
          <a:xfrm>
            <a:off x="815975" y="1887786"/>
            <a:ext cx="3397250" cy="1669951"/>
          </a:xfrm>
          <a:prstGeom prst="roundRect">
            <a:avLst>
              <a:gd name="adj" fmla="val 5894"/>
            </a:avLst>
          </a:prstGeom>
          <a:solidFill>
            <a:srgbClr val="FFFFFF"/>
          </a:solidFill>
          <a:ln w="6350">
            <a:solidFill>
              <a:srgbClr val="C9DCE6"/>
            </a:solidFill>
            <a:prstDash val="solid"/>
          </a:ln>
        </p:spPr>
      </p:sp>
      <p:sp>
        <p:nvSpPr>
          <p:cNvPr id="5" name="Text 3"/>
          <p:cNvSpPr/>
          <p:nvPr/>
        </p:nvSpPr>
        <p:spPr>
          <a:xfrm>
            <a:off x="9969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S1 · ISP-11</a:t>
            </a:r>
            <a:endParaRPr lang="en-US" sz="1200" dirty="0"/>
          </a:p>
        </p:txBody>
      </p:sp>
      <p:sp>
        <p:nvSpPr>
          <p:cNvPr id="6" name="Text 4"/>
          <p:cNvSpPr/>
          <p:nvPr/>
        </p:nvSpPr>
        <p:spPr>
          <a:xfrm>
            <a:off x="9969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Tenant isolation</a:t>
            </a:r>
            <a:endParaRPr lang="en-US" sz="1800" dirty="0"/>
          </a:p>
        </p:txBody>
      </p:sp>
      <p:sp>
        <p:nvSpPr>
          <p:cNvPr id="7" name="Text 5"/>
          <p:cNvSpPr/>
          <p:nvPr/>
        </p:nvSpPr>
        <p:spPr>
          <a:xfrm>
            <a:off x="996950" y="2683371"/>
            <a:ext cx="31263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Client boundaries and PII and PHI classes enforced at every layer; default deny.</a:t>
            </a:r>
            <a:endParaRPr lang="en-US" sz="1300" dirty="0"/>
          </a:p>
        </p:txBody>
      </p:sp>
      <p:sp>
        <p:nvSpPr>
          <p:cNvPr id="8" name="Shape 6"/>
          <p:cNvSpPr/>
          <p:nvPr/>
        </p:nvSpPr>
        <p:spPr>
          <a:xfrm>
            <a:off x="4397375" y="1887786"/>
            <a:ext cx="3397250" cy="1669951"/>
          </a:xfrm>
          <a:prstGeom prst="roundRect">
            <a:avLst>
              <a:gd name="adj" fmla="val 5894"/>
            </a:avLst>
          </a:prstGeom>
          <a:solidFill>
            <a:srgbClr val="FFFFFF"/>
          </a:solidFill>
          <a:ln w="6350">
            <a:solidFill>
              <a:srgbClr val="C9DCE6"/>
            </a:solidFill>
            <a:prstDash val="solid"/>
          </a:ln>
        </p:spPr>
      </p:sp>
      <p:sp>
        <p:nvSpPr>
          <p:cNvPr id="9" name="Text 7"/>
          <p:cNvSpPr/>
          <p:nvPr/>
        </p:nvSpPr>
        <p:spPr>
          <a:xfrm>
            <a:off x="45783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S2 · GOV-010</a:t>
            </a:r>
            <a:endParaRPr lang="en-US" sz="1200" dirty="0"/>
          </a:p>
        </p:txBody>
      </p:sp>
      <p:sp>
        <p:nvSpPr>
          <p:cNvPr id="10" name="Text 8"/>
          <p:cNvSpPr/>
          <p:nvPr/>
        </p:nvSpPr>
        <p:spPr>
          <a:xfrm>
            <a:off x="45783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Hybrid index</a:t>
            </a:r>
            <a:endParaRPr lang="en-US" sz="1800" dirty="0"/>
          </a:p>
        </p:txBody>
      </p:sp>
      <p:sp>
        <p:nvSpPr>
          <p:cNvPr id="11" name="Text 9"/>
          <p:cNvSpPr/>
          <p:nvPr/>
        </p:nvSpPr>
        <p:spPr>
          <a:xfrm>
            <a:off x="4578350" y="2683371"/>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Vector and graph search keyed on URIs, partitioned by client.</a:t>
            </a:r>
            <a:endParaRPr lang="en-US" sz="1300" dirty="0"/>
          </a:p>
        </p:txBody>
      </p:sp>
      <p:sp>
        <p:nvSpPr>
          <p:cNvPr id="12" name="Shape 10"/>
          <p:cNvSpPr/>
          <p:nvPr/>
        </p:nvSpPr>
        <p:spPr>
          <a:xfrm>
            <a:off x="7978775" y="1887786"/>
            <a:ext cx="3397250" cy="1669951"/>
          </a:xfrm>
          <a:prstGeom prst="roundRect">
            <a:avLst>
              <a:gd name="adj" fmla="val 5894"/>
            </a:avLst>
          </a:prstGeom>
          <a:solidFill>
            <a:srgbClr val="FFFFFF"/>
          </a:solidFill>
          <a:ln w="6350">
            <a:solidFill>
              <a:srgbClr val="C9DCE6"/>
            </a:solidFill>
            <a:prstDash val="solid"/>
          </a:ln>
        </p:spPr>
      </p:sp>
      <p:sp>
        <p:nvSpPr>
          <p:cNvPr id="13" name="Text 11"/>
          <p:cNvSpPr/>
          <p:nvPr/>
        </p:nvSpPr>
        <p:spPr>
          <a:xfrm>
            <a:off x="8159750" y="20687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S3 · ISP-10</a:t>
            </a:r>
            <a:endParaRPr lang="en-US" sz="1200" dirty="0"/>
          </a:p>
        </p:txBody>
      </p:sp>
      <p:sp>
        <p:nvSpPr>
          <p:cNvPr id="14" name="Text 12"/>
          <p:cNvSpPr/>
          <p:nvPr/>
        </p:nvSpPr>
        <p:spPr>
          <a:xfrm>
            <a:off x="8159750" y="2345581"/>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Gateway</a:t>
            </a:r>
            <a:endParaRPr lang="en-US" sz="1800" dirty="0"/>
          </a:p>
        </p:txBody>
      </p:sp>
      <p:sp>
        <p:nvSpPr>
          <p:cNvPr id="15" name="Text 13"/>
          <p:cNvSpPr/>
          <p:nvPr/>
        </p:nvSpPr>
        <p:spPr>
          <a:xfrm>
            <a:off x="8159750" y="2683371"/>
            <a:ext cx="312635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Resolves the five coordinates and applies policy to every query and agent call.</a:t>
            </a:r>
            <a:endParaRPr lang="en-US" sz="1300" dirty="0"/>
          </a:p>
        </p:txBody>
      </p:sp>
      <p:sp>
        <p:nvSpPr>
          <p:cNvPr id="16" name="Shape 14"/>
          <p:cNvSpPr/>
          <p:nvPr/>
        </p:nvSpPr>
        <p:spPr>
          <a:xfrm>
            <a:off x="815975" y="3741886"/>
            <a:ext cx="3397250" cy="1438821"/>
          </a:xfrm>
          <a:prstGeom prst="roundRect">
            <a:avLst>
              <a:gd name="adj" fmla="val 6841"/>
            </a:avLst>
          </a:prstGeom>
          <a:solidFill>
            <a:srgbClr val="FFFFFF"/>
          </a:solidFill>
          <a:ln w="6350">
            <a:solidFill>
              <a:srgbClr val="C9DCE6"/>
            </a:solidFill>
            <a:prstDash val="solid"/>
          </a:ln>
        </p:spPr>
      </p:sp>
      <p:sp>
        <p:nvSpPr>
          <p:cNvPr id="17" name="Text 15"/>
          <p:cNvSpPr/>
          <p:nvPr/>
        </p:nvSpPr>
        <p:spPr>
          <a:xfrm>
            <a:off x="9969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S4 · ISP-10</a:t>
            </a:r>
            <a:endParaRPr lang="en-US" sz="1200" dirty="0"/>
          </a:p>
        </p:txBody>
      </p:sp>
      <p:sp>
        <p:nvSpPr>
          <p:cNvPr id="18" name="Text 16"/>
          <p:cNvSpPr/>
          <p:nvPr/>
        </p:nvSpPr>
        <p:spPr>
          <a:xfrm>
            <a:off x="9969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MTBH scoring</a:t>
            </a:r>
            <a:endParaRPr lang="en-US" sz="1800" dirty="0"/>
          </a:p>
        </p:txBody>
      </p:sp>
      <p:sp>
        <p:nvSpPr>
          <p:cNvPr id="19" name="Text 17"/>
          <p:cNvSpPr/>
          <p:nvPr/>
        </p:nvSpPr>
        <p:spPr>
          <a:xfrm>
            <a:off x="9969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Scores every answer; below threshold, the question goes to a person.</a:t>
            </a:r>
            <a:endParaRPr lang="en-US" sz="1300" dirty="0"/>
          </a:p>
        </p:txBody>
      </p:sp>
      <p:sp>
        <p:nvSpPr>
          <p:cNvPr id="20" name="Shape 18"/>
          <p:cNvSpPr/>
          <p:nvPr/>
        </p:nvSpPr>
        <p:spPr>
          <a:xfrm>
            <a:off x="4397375" y="3741886"/>
            <a:ext cx="3397250" cy="1438821"/>
          </a:xfrm>
          <a:prstGeom prst="roundRect">
            <a:avLst>
              <a:gd name="adj" fmla="val 6841"/>
            </a:avLst>
          </a:prstGeom>
          <a:solidFill>
            <a:srgbClr val="FFFFFF"/>
          </a:solidFill>
          <a:ln w="6350">
            <a:solidFill>
              <a:srgbClr val="C9DCE6"/>
            </a:solidFill>
            <a:prstDash val="solid"/>
          </a:ln>
        </p:spPr>
      </p:sp>
      <p:sp>
        <p:nvSpPr>
          <p:cNvPr id="21" name="Text 19"/>
          <p:cNvSpPr/>
          <p:nvPr/>
        </p:nvSpPr>
        <p:spPr>
          <a:xfrm>
            <a:off x="45783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S5 · ISP-06, 07</a:t>
            </a:r>
            <a:endParaRPr lang="en-US" sz="1200" dirty="0"/>
          </a:p>
        </p:txBody>
      </p:sp>
      <p:sp>
        <p:nvSpPr>
          <p:cNvPr id="22" name="Text 20"/>
          <p:cNvSpPr/>
          <p:nvPr/>
        </p:nvSpPr>
        <p:spPr>
          <a:xfrm>
            <a:off x="45783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Domain holons</a:t>
            </a:r>
            <a:endParaRPr lang="en-US" sz="1800" dirty="0"/>
          </a:p>
        </p:txBody>
      </p:sp>
      <p:sp>
        <p:nvSpPr>
          <p:cNvPr id="23" name="Text 21"/>
          <p:cNvSpPr/>
          <p:nvPr/>
        </p:nvSpPr>
        <p:spPr>
          <a:xfrm>
            <a:off x="45783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Payroll and benefits knowledge modeled, so answers link to their rules.</a:t>
            </a:r>
            <a:endParaRPr lang="en-US" sz="1300" dirty="0"/>
          </a:p>
        </p:txBody>
      </p:sp>
      <p:sp>
        <p:nvSpPr>
          <p:cNvPr id="24" name="Shape 22"/>
          <p:cNvSpPr/>
          <p:nvPr/>
        </p:nvSpPr>
        <p:spPr>
          <a:xfrm>
            <a:off x="7978775" y="3741886"/>
            <a:ext cx="3397250" cy="1438821"/>
          </a:xfrm>
          <a:prstGeom prst="roundRect">
            <a:avLst>
              <a:gd name="adj" fmla="val 6841"/>
            </a:avLst>
          </a:prstGeom>
          <a:solidFill>
            <a:srgbClr val="FFFFFF"/>
          </a:solidFill>
          <a:ln w="6350">
            <a:solidFill>
              <a:srgbClr val="C9DCE6"/>
            </a:solidFill>
            <a:prstDash val="solid"/>
          </a:ln>
        </p:spPr>
      </p:sp>
      <p:sp>
        <p:nvSpPr>
          <p:cNvPr id="25" name="Text 23"/>
          <p:cNvSpPr/>
          <p:nvPr/>
        </p:nvSpPr>
        <p:spPr>
          <a:xfrm>
            <a:off x="8159750" y="3922861"/>
            <a:ext cx="31263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S6 · ISP-12</a:t>
            </a:r>
            <a:endParaRPr lang="en-US" sz="1200" dirty="0"/>
          </a:p>
        </p:txBody>
      </p:sp>
      <p:sp>
        <p:nvSpPr>
          <p:cNvPr id="26" name="Text 24"/>
          <p:cNvSpPr/>
          <p:nvPr/>
        </p:nvSpPr>
        <p:spPr>
          <a:xfrm>
            <a:off x="8159750" y="4199682"/>
            <a:ext cx="312635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Search surfaces</a:t>
            </a:r>
            <a:endParaRPr lang="en-US" sz="1800" dirty="0"/>
          </a:p>
        </p:txBody>
      </p:sp>
      <p:sp>
        <p:nvSpPr>
          <p:cNvPr id="27" name="Text 25"/>
          <p:cNvSpPr/>
          <p:nvPr/>
        </p:nvSpPr>
        <p:spPr>
          <a:xfrm>
            <a:off x="8159750" y="4537472"/>
            <a:ext cx="312635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A70"/>
                </a:solidFill>
                <a:latin typeface="IBM Plex Sans" pitchFamily="34" charset="0"/>
                <a:ea typeface="IBM Plex Sans" pitchFamily="34" charset="-122"/>
                <a:cs typeface="IBM Plex Sans" pitchFamily="34" charset="-120"/>
              </a:rPr>
              <a:t>Staff search in Teams first, then Employee Jarvis at 3–5 pilot clients.</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THE ADMISSION PIPELINE</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Six admission steps before search</a:t>
            </a:r>
            <a:endParaRPr lang="en-US" sz="3600" dirty="0"/>
          </a:p>
        </p:txBody>
      </p:sp>
      <p:sp>
        <p:nvSpPr>
          <p:cNvPr id="4" name="Shape 2"/>
          <p:cNvSpPr/>
          <p:nvPr/>
        </p:nvSpPr>
        <p:spPr>
          <a:xfrm>
            <a:off x="815975" y="1887786"/>
            <a:ext cx="1670050" cy="1471861"/>
          </a:xfrm>
          <a:prstGeom prst="roundRect">
            <a:avLst>
              <a:gd name="adj" fmla="val 4961"/>
            </a:avLst>
          </a:prstGeom>
          <a:solidFill>
            <a:srgbClr val="FFFFFF"/>
          </a:solidFill>
          <a:ln w="6350">
            <a:solidFill>
              <a:srgbClr val="C9DCE6"/>
            </a:solidFill>
            <a:prstDash val="solid"/>
          </a:ln>
        </p:spPr>
      </p:sp>
      <p:sp>
        <p:nvSpPr>
          <p:cNvPr id="5" name="Text 3"/>
          <p:cNvSpPr/>
          <p:nvPr/>
        </p:nvSpPr>
        <p:spPr>
          <a:xfrm>
            <a:off x="971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71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Ingest</a:t>
            </a:r>
            <a:endParaRPr lang="en-US" sz="1500" dirty="0"/>
          </a:p>
        </p:txBody>
      </p:sp>
      <p:sp>
        <p:nvSpPr>
          <p:cNvPr id="7" name="Text 5"/>
          <p:cNvSpPr/>
          <p:nvPr/>
        </p:nvSpPr>
        <p:spPr>
          <a:xfrm>
            <a:off x="971550" y="2586881"/>
            <a:ext cx="14097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Connect Box and feeds; keep source and owner</a:t>
            </a:r>
            <a:endParaRPr lang="en-US" sz="1200" dirty="0"/>
          </a:p>
        </p:txBody>
      </p:sp>
      <p:sp>
        <p:nvSpPr>
          <p:cNvPr id="8" name="Shape 6"/>
          <p:cNvSpPr/>
          <p:nvPr/>
        </p:nvSpPr>
        <p:spPr>
          <a:xfrm>
            <a:off x="2593975" y="1887786"/>
            <a:ext cx="1670050" cy="1471861"/>
          </a:xfrm>
          <a:prstGeom prst="roundRect">
            <a:avLst>
              <a:gd name="adj" fmla="val 4961"/>
            </a:avLst>
          </a:prstGeom>
          <a:solidFill>
            <a:srgbClr val="FFFFFF"/>
          </a:solidFill>
          <a:ln w="6350">
            <a:solidFill>
              <a:srgbClr val="C9DCE6"/>
            </a:solidFill>
            <a:prstDash val="solid"/>
          </a:ln>
        </p:spPr>
      </p:sp>
      <p:sp>
        <p:nvSpPr>
          <p:cNvPr id="9" name="Text 7"/>
          <p:cNvSpPr/>
          <p:nvPr/>
        </p:nvSpPr>
        <p:spPr>
          <a:xfrm>
            <a:off x="2749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2</a:t>
            </a:r>
            <a:endParaRPr lang="en-US" sz="1200" dirty="0"/>
          </a:p>
        </p:txBody>
      </p:sp>
      <p:sp>
        <p:nvSpPr>
          <p:cNvPr id="10" name="Text 8"/>
          <p:cNvSpPr/>
          <p:nvPr/>
        </p:nvSpPr>
        <p:spPr>
          <a:xfrm>
            <a:off x="2749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Profile</a:t>
            </a:r>
            <a:endParaRPr lang="en-US" sz="1500" dirty="0"/>
          </a:p>
        </p:txBody>
      </p:sp>
      <p:sp>
        <p:nvSpPr>
          <p:cNvPr id="11" name="Text 9"/>
          <p:cNvSpPr/>
          <p:nvPr/>
        </p:nvSpPr>
        <p:spPr>
          <a:xfrm>
            <a:off x="2749550" y="2586881"/>
            <a:ext cx="14097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Classify asset type, client and data class</a:t>
            </a:r>
            <a:endParaRPr lang="en-US" sz="1200" dirty="0"/>
          </a:p>
        </p:txBody>
      </p:sp>
      <p:sp>
        <p:nvSpPr>
          <p:cNvPr id="12" name="Shape 10"/>
          <p:cNvSpPr/>
          <p:nvPr/>
        </p:nvSpPr>
        <p:spPr>
          <a:xfrm>
            <a:off x="4371975" y="1887786"/>
            <a:ext cx="1670050" cy="1471861"/>
          </a:xfrm>
          <a:prstGeom prst="roundRect">
            <a:avLst>
              <a:gd name="adj" fmla="val 4961"/>
            </a:avLst>
          </a:prstGeom>
          <a:solidFill>
            <a:srgbClr val="FFFFFF"/>
          </a:solidFill>
          <a:ln w="6350">
            <a:solidFill>
              <a:srgbClr val="C9DCE6"/>
            </a:solidFill>
            <a:prstDash val="solid"/>
          </a:ln>
        </p:spPr>
      </p:sp>
      <p:sp>
        <p:nvSpPr>
          <p:cNvPr id="13" name="Text 11"/>
          <p:cNvSpPr/>
          <p:nvPr/>
        </p:nvSpPr>
        <p:spPr>
          <a:xfrm>
            <a:off x="4527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3</a:t>
            </a:r>
            <a:endParaRPr lang="en-US" sz="1200" dirty="0"/>
          </a:p>
        </p:txBody>
      </p:sp>
      <p:sp>
        <p:nvSpPr>
          <p:cNvPr id="14" name="Text 12"/>
          <p:cNvSpPr/>
          <p:nvPr/>
        </p:nvSpPr>
        <p:spPr>
          <a:xfrm>
            <a:off x="4527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Enrich</a:t>
            </a:r>
            <a:endParaRPr lang="en-US" sz="1500" dirty="0"/>
          </a:p>
        </p:txBody>
      </p:sp>
      <p:sp>
        <p:nvSpPr>
          <p:cNvPr id="15" name="Text 13"/>
          <p:cNvSpPr/>
          <p:nvPr/>
        </p:nvSpPr>
        <p:spPr>
          <a:xfrm>
            <a:off x="4527550" y="2586881"/>
            <a:ext cx="14097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Extract plans, places and effective dates</a:t>
            </a:r>
            <a:endParaRPr lang="en-US" sz="1200" dirty="0"/>
          </a:p>
        </p:txBody>
      </p:sp>
      <p:sp>
        <p:nvSpPr>
          <p:cNvPr id="16" name="Shape 14"/>
          <p:cNvSpPr/>
          <p:nvPr/>
        </p:nvSpPr>
        <p:spPr>
          <a:xfrm>
            <a:off x="6149975" y="1887786"/>
            <a:ext cx="1670050" cy="1471861"/>
          </a:xfrm>
          <a:prstGeom prst="roundRect">
            <a:avLst>
              <a:gd name="adj" fmla="val 4961"/>
            </a:avLst>
          </a:prstGeom>
          <a:solidFill>
            <a:srgbClr val="FFFFFF"/>
          </a:solidFill>
          <a:ln w="6350">
            <a:solidFill>
              <a:srgbClr val="C9DCE6"/>
            </a:solidFill>
            <a:prstDash val="solid"/>
          </a:ln>
        </p:spPr>
      </p:sp>
      <p:sp>
        <p:nvSpPr>
          <p:cNvPr id="17" name="Text 15"/>
          <p:cNvSpPr/>
          <p:nvPr/>
        </p:nvSpPr>
        <p:spPr>
          <a:xfrm>
            <a:off x="6305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E6319"/>
                </a:solidFill>
                <a:latin typeface="IBM Plex Sans" pitchFamily="34" charset="0"/>
                <a:ea typeface="IBM Plex Sans" pitchFamily="34" charset="-122"/>
                <a:cs typeface="IBM Plex Sans" pitchFamily="34" charset="-120"/>
              </a:rPr>
              <a:t>4</a:t>
            </a:r>
            <a:endParaRPr lang="en-US" sz="1200" dirty="0"/>
          </a:p>
        </p:txBody>
      </p:sp>
      <p:sp>
        <p:nvSpPr>
          <p:cNvPr id="18" name="Text 16"/>
          <p:cNvSpPr/>
          <p:nvPr/>
        </p:nvSpPr>
        <p:spPr>
          <a:xfrm>
            <a:off x="6305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Admit</a:t>
            </a:r>
            <a:endParaRPr lang="en-US" sz="1500" dirty="0"/>
          </a:p>
        </p:txBody>
      </p:sp>
      <p:sp>
        <p:nvSpPr>
          <p:cNvPr id="19" name="Text 17"/>
          <p:cNvSpPr/>
          <p:nvPr/>
        </p:nvSpPr>
        <p:spPr>
          <a:xfrm>
            <a:off x="6305550" y="2586881"/>
            <a:ext cx="14097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Quality gate checks metadata; mint the URI</a:t>
            </a:r>
            <a:endParaRPr lang="en-US" sz="1200" dirty="0"/>
          </a:p>
        </p:txBody>
      </p:sp>
      <p:sp>
        <p:nvSpPr>
          <p:cNvPr id="20" name="Shape 18"/>
          <p:cNvSpPr/>
          <p:nvPr/>
        </p:nvSpPr>
        <p:spPr>
          <a:xfrm>
            <a:off x="7927975" y="1887786"/>
            <a:ext cx="1670050" cy="1471861"/>
          </a:xfrm>
          <a:prstGeom prst="roundRect">
            <a:avLst>
              <a:gd name="adj" fmla="val 4961"/>
            </a:avLst>
          </a:prstGeom>
          <a:solidFill>
            <a:srgbClr val="FFFFFF"/>
          </a:solidFill>
          <a:ln w="6350">
            <a:solidFill>
              <a:srgbClr val="C9DCE6"/>
            </a:solidFill>
            <a:prstDash val="solid"/>
          </a:ln>
        </p:spPr>
      </p:sp>
      <p:sp>
        <p:nvSpPr>
          <p:cNvPr id="21" name="Text 19"/>
          <p:cNvSpPr/>
          <p:nvPr/>
        </p:nvSpPr>
        <p:spPr>
          <a:xfrm>
            <a:off x="8083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5</a:t>
            </a:r>
            <a:endParaRPr lang="en-US" sz="1200" dirty="0"/>
          </a:p>
        </p:txBody>
      </p:sp>
      <p:sp>
        <p:nvSpPr>
          <p:cNvPr id="22" name="Text 20"/>
          <p:cNvSpPr/>
          <p:nvPr/>
        </p:nvSpPr>
        <p:spPr>
          <a:xfrm>
            <a:off x="8083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Bind</a:t>
            </a:r>
            <a:endParaRPr lang="en-US" sz="1500" dirty="0"/>
          </a:p>
        </p:txBody>
      </p:sp>
      <p:sp>
        <p:nvSpPr>
          <p:cNvPr id="23" name="Text 21"/>
          <p:cNvSpPr/>
          <p:nvPr/>
        </p:nvSpPr>
        <p:spPr>
          <a:xfrm>
            <a:off x="8083550" y="258688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Link to rules, plans, clients and roles</a:t>
            </a:r>
            <a:endParaRPr lang="en-US" sz="1200" dirty="0"/>
          </a:p>
        </p:txBody>
      </p:sp>
      <p:sp>
        <p:nvSpPr>
          <p:cNvPr id="24" name="Shape 22"/>
          <p:cNvSpPr/>
          <p:nvPr/>
        </p:nvSpPr>
        <p:spPr>
          <a:xfrm>
            <a:off x="9705975" y="1887786"/>
            <a:ext cx="1670050" cy="1471861"/>
          </a:xfrm>
          <a:prstGeom prst="roundRect">
            <a:avLst>
              <a:gd name="adj" fmla="val 4961"/>
            </a:avLst>
          </a:prstGeom>
          <a:solidFill>
            <a:srgbClr val="FFFFFF"/>
          </a:solidFill>
          <a:ln w="6350">
            <a:solidFill>
              <a:srgbClr val="C9DCE6"/>
            </a:solidFill>
            <a:prstDash val="solid"/>
          </a:ln>
        </p:spPr>
      </p:sp>
      <p:sp>
        <p:nvSpPr>
          <p:cNvPr id="25" name="Text 23"/>
          <p:cNvSpPr/>
          <p:nvPr/>
        </p:nvSpPr>
        <p:spPr>
          <a:xfrm>
            <a:off x="9861550" y="204336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6E8E"/>
                </a:solidFill>
                <a:latin typeface="IBM Plex Sans" pitchFamily="34" charset="0"/>
                <a:ea typeface="IBM Plex Sans" pitchFamily="34" charset="-122"/>
                <a:cs typeface="IBM Plex Sans" pitchFamily="34" charset="-120"/>
              </a:rPr>
              <a:t>6</a:t>
            </a:r>
            <a:endParaRPr lang="en-US" sz="1200" dirty="0"/>
          </a:p>
        </p:txBody>
      </p:sp>
      <p:sp>
        <p:nvSpPr>
          <p:cNvPr id="26" name="Text 24"/>
          <p:cNvSpPr/>
          <p:nvPr/>
        </p:nvSpPr>
        <p:spPr>
          <a:xfrm>
            <a:off x="9861550" y="2307481"/>
            <a:ext cx="1409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1F3A"/>
                </a:solidFill>
                <a:latin typeface="IBM Plex Sans" pitchFamily="34" charset="0"/>
                <a:ea typeface="IBM Plex Sans" pitchFamily="34" charset="-122"/>
                <a:cs typeface="IBM Plex Sans" pitchFamily="34" charset="-120"/>
              </a:rPr>
              <a:t>Index</a:t>
            </a:r>
            <a:endParaRPr lang="en-US" sz="1500" dirty="0"/>
          </a:p>
        </p:txBody>
      </p:sp>
      <p:sp>
        <p:nvSpPr>
          <p:cNvPr id="27" name="Text 25"/>
          <p:cNvSpPr/>
          <p:nvPr/>
        </p:nvSpPr>
        <p:spPr>
          <a:xfrm>
            <a:off x="9861550" y="2586881"/>
            <a:ext cx="14097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A70"/>
                </a:solidFill>
                <a:latin typeface="IBM Plex Sans" pitchFamily="34" charset="0"/>
                <a:ea typeface="IBM Plex Sans" pitchFamily="34" charset="-122"/>
                <a:cs typeface="IBM Plex Sans" pitchFamily="34" charset="-120"/>
              </a:rPr>
              <a:t>Add to the client's partition of the index</a:t>
            </a:r>
            <a:endParaRPr lang="en-US" sz="1200" dirty="0"/>
          </a:p>
        </p:txBody>
      </p:sp>
      <p:sp>
        <p:nvSpPr>
          <p:cNvPr id="28" name="Shape 26"/>
          <p:cNvSpPr/>
          <p:nvPr/>
        </p:nvSpPr>
        <p:spPr>
          <a:xfrm>
            <a:off x="815975" y="3619996"/>
            <a:ext cx="10560050" cy="859730"/>
          </a:xfrm>
          <a:prstGeom prst="roundRect">
            <a:avLst>
              <a:gd name="adj" fmla="val 9971"/>
            </a:avLst>
          </a:prstGeom>
          <a:solidFill>
            <a:srgbClr val="FBF3DF"/>
          </a:solidFill>
          <a:ln w="6350">
            <a:solidFill>
              <a:srgbClr val="E6D3A0"/>
            </a:solidFill>
            <a:prstDash val="solid"/>
          </a:ln>
        </p:spPr>
      </p:sp>
      <p:pic>
        <p:nvPicPr>
          <p:cNvPr id="29" name="Image 0" descr="Warning">    </p:cNvPr>
          <p:cNvPicPr>
            <a:picLocks noChangeAspect="1"/>
          </p:cNvPicPr>
          <p:nvPr/>
        </p:nvPicPr>
        <p:blipFill>
          <a:blip r:embed="rId1"/>
          <a:srcRect l="-501" r="-501" t="0" b="0"/>
          <a:stretch/>
        </p:blipFill>
        <p:spPr>
          <a:xfrm>
            <a:off x="1022350" y="3897461"/>
            <a:ext cx="295027" cy="304800"/>
          </a:xfrm>
          <a:prstGeom prst="rect">
            <a:avLst/>
          </a:prstGeom>
        </p:spPr>
      </p:pic>
      <p:sp>
        <p:nvSpPr>
          <p:cNvPr id="30" name="Text 27"/>
          <p:cNvSpPr/>
          <p:nvPr/>
        </p:nvSpPr>
        <p:spPr>
          <a:xfrm>
            <a:off x="1469777" y="3800971"/>
            <a:ext cx="9990869"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0344B"/>
                </a:solidFill>
                <a:latin typeface="IBM Plex Sans" pitchFamily="34" charset="0"/>
                <a:ea typeface="IBM Plex Sans" pitchFamily="34" charset="-122"/>
                <a:cs typeface="IBM Plex Sans" pitchFamily="34" charset="-120"/>
              </a:rPr>
              <a:t>Fails the gate at step 4:</a:t>
            </a:r>
            <a:r>
              <a:rPr lang="en-US" sz="1400" dirty="0">
                <a:solidFill>
                  <a:srgbClr val="20344B"/>
                </a:solidFill>
                <a:latin typeface="IBM Plex Sans" pitchFamily="34" charset="0"/>
                <a:ea typeface="IBM Plex Sans" pitchFamily="34" charset="-122"/>
                <a:cs typeface="IBM Plex Sans" pitchFamily="34" charset="-120"/>
              </a:rPr>
              <a:t> quarantined with a change record naming the reason, routed to the asset's owner, and never indexed.</a:t>
            </a:r>
            <a:endParaRPr lang="en-US" sz="1400" dirty="0"/>
          </a:p>
        </p:txBody>
      </p:sp>
      <p:sp>
        <p:nvSpPr>
          <p:cNvPr id="31"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7 · Pipeline B in the Solution Architecture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THE ASSET CARD</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Ten fields every asset must carry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11"/>
          <a:ext cx="10553700" cy="3659485"/>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Why search needs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URI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…/asset/hb-4471-leave-v3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One identity across systems; citations resolve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Asset class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Client handbook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Picks the template and validation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Owning client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[Client 4471]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Keeps one client's content from another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Audience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Employees, HR business partners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Filters what each role may see (WHO)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Jurisdiction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US-CO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Answers 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Effective dates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From 2026-01-01, no end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Stops stale answers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v3, change record 0412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Shows what changed and 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Data class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Internal, no PHI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Drives masking and access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Linked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CMP-018 state paid leave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Answers WHY, and lets answers cite the law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Source and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Box folder; client HR lead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Lineage, and who fixes a quarantined asset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8 · Examples are illustrative; the schema is approved by the council in month 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C"/>
        </a:solidFill>
      </p:bgPr>
    </p:bg>
    <p:spTree>
      <p:nvGrpSpPr>
        <p:cNvPr id="1" name=""/>
        <p:cNvGrpSpPr/>
        <p:nvPr/>
      </p:nvGrpSpPr>
      <p:grpSpPr>
        <a:xfrm>
          <a:off x="0" y="0"/>
          <a:ext cx="0" cy="0"/>
          <a:chOff x="0" y="0"/>
          <a:chExt cx="0" cy="0"/>
        </a:xfrm>
      </p:grpSpPr>
      <p:pic>
        <p:nvPicPr>
          <p:cNvPr id="2" name="Image 0" descr="Flow from the compass mark to the answer: a Colorado employee asks about paid family leave; the Keel resolves WHO, WHAT, WHERE, WHEN and WHY, retrieves only admitted knowledge, filters by tenant and role, scores and cites; the employee, HR business partner and executive each see a role-appropriate answer with its source.">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2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E6E8E"/>
                </a:solidFill>
                <a:latin typeface="IBM Plex Sans" pitchFamily="34" charset="0"/>
                <a:ea typeface="IBM Plex Sans" pitchFamily="34" charset="-122"/>
                <a:cs typeface="IBM Plex Sans" pitchFamily="34" charset="-120"/>
              </a:rPr>
              <a:t>THE BUILD</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Phase 0–1 on the Microsoft stack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1111"/>
          <a:ext cx="10553700" cy="3326805"/>
        </p:xfrm>
        <a:graphic>
          <a:graphicData uri="http://schemas.openxmlformats.org/drawingml/2006/table">
            <a:tbl>
              <a:tblPr/>
              <a:tblGrid>
                <a:gridCol w="2321814"/>
                <a:gridCol w="4643628"/>
                <a:gridCol w="3588258"/>
              </a:tblGrid>
              <a:tr h="332680">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Microsoft 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c>
                  <a:txBody>
                    <a:bodyPr/>
                    <a:lstStyle/>
                    <a:p>
                      <a:pPr indent="0" marL="0">
                        <a:lnSpc>
                          <a:spcPts val="1680"/>
                        </a:lnSpc>
                        <a:buNone/>
                      </a:pPr>
                      <a:r>
                        <a:rPr lang="en-US" sz="1200" b="1" dirty="0">
                          <a:solidFill>
                            <a:srgbClr val="20344B"/>
                          </a:solidFill>
                          <a:latin typeface="IBM Plex Sans" pitchFamily="34" charset="0"/>
                          <a:ea typeface="IBM Plex Sans" pitchFamily="34" charset="-122"/>
                          <a:cs typeface="IBM Plex Sans" pitchFamily="34" charset="-120"/>
                        </a:rPr>
                        <a:t>Open contract underneath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7BE"/>
                      </a:solidFill>
                      <a:prstDash val="solid"/>
                      <a:round/>
                      <a:headEnd type="none" w="med" len="med"/>
                      <a:tailEnd type="none" w="med" len="med"/>
                    </a:lnL>
                    <a:lnR w="12700" cap="flat" cmpd="sng" algn="ctr">
                      <a:solidFill>
                        <a:srgbClr val="A9B7BE"/>
                      </a:solidFill>
                      <a:prstDash val="solid"/>
                      <a:round/>
                      <a:headEnd type="none" w="med" len="med"/>
                      <a:tailEnd type="none" w="med" len="med"/>
                    </a:lnR>
                    <a:lnT w="12700" cap="flat" cmpd="sng" algn="ctr">
                      <a:solidFill>
                        <a:srgbClr val="BBC1C4"/>
                      </a:solidFill>
                      <a:prstDash val="solid"/>
                      <a:round/>
                      <a:headEnd type="none" w="med" len="med"/>
                      <a:tailEnd type="none" w="med" len="med"/>
                    </a:lnT>
                    <a:lnB w="12700" cap="flat" cmpd="sng" algn="ctr">
                      <a:solidFill>
                        <a:srgbClr val="A9B7BE"/>
                      </a:solidFill>
                      <a:prstDash val="solid"/>
                      <a:round/>
                      <a:headEnd type="none" w="med" len="med"/>
                      <a:tailEnd type="none" w="med" len="med"/>
                    </a:lnB>
                    <a:solidFill>
                      <a:srgbClr val="D3E5EE"/>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Content 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Box connector; SharePoint through Microsoft Graph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Admission API (steps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9B7BE"/>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Orchestration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Fabric Data Factory pipelines [or equivalent]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Admission steps as jobs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Knowledge graph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RDF graph store hosted on Azure [product to choose]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RDF, SPARQL, SHACL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Search index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Azure AI Search with client security filters; Foundry IQ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URI-anchored retrieval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Identity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Entra ID; Entra Agent ID for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OIDC, SCIM, URI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Policy gateway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API Management calling OPA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OPA/Rego, JSON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Data classes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Purview sensitivity labels and DLP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Classification rules TEC-005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Azure Monitor; Microsoft Sentinel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OpenTelemetry, PROV-O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7C9"/>
                      </a:solidFill>
                      <a:prstDash val="solid"/>
                      <a:round/>
                      <a:headEnd type="none" w="med" len="med"/>
                      <a:tailEnd type="none" w="med" len="med"/>
                    </a:lnL>
                    <a:lnR w="12700" cap="flat" cmpd="sng" algn="ctr">
                      <a:solidFill>
                        <a:srgbClr val="C5C7C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7C9"/>
                      </a:solidFill>
                      <a:prstDash val="solid"/>
                      <a:round/>
                      <a:headEnd type="none" w="med" len="med"/>
                      <a:tailEnd type="none" w="med" len="med"/>
                    </a:lnB>
                    <a:solidFill>
                      <a:srgbClr val="F7FAFC"/>
                    </a:solidFill>
                  </a:tcPr>
                </a:tc>
              </a:tr>
              <a:tr h="332680">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Surfaces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C1C4"/>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Copilot Studio agent in Teams; Jarvis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20344B"/>
                          </a:solidFill>
                          <a:latin typeface="IBM Plex Sans" pitchFamily="34" charset="0"/>
                          <a:ea typeface="IBM Plex Sans" pitchFamily="34" charset="-122"/>
                          <a:cs typeface="IBM Plex Sans" pitchFamily="34" charset="-120"/>
                        </a:rPr>
                        <a:t>MCP, OpenAPI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7C9"/>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10 · Bracketed items are open choices for month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THE PLAN</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Six months, month by month</a:t>
            </a:r>
            <a:endParaRPr lang="en-US" sz="3600" dirty="0"/>
          </a:p>
        </p:txBody>
      </p:sp>
      <p:sp>
        <p:nvSpPr>
          <p:cNvPr id="4" name="Shape 2"/>
          <p:cNvSpPr/>
          <p:nvPr/>
        </p:nvSpPr>
        <p:spPr>
          <a:xfrm>
            <a:off x="815975" y="1887786"/>
            <a:ext cx="1670050" cy="2124621"/>
          </a:xfrm>
          <a:prstGeom prst="roundRect">
            <a:avLst>
              <a:gd name="adj" fmla="val 4373"/>
            </a:avLst>
          </a:prstGeom>
          <a:solidFill>
            <a:srgbClr val="FFFFFF"/>
          </a:solidFill>
          <a:ln w="6350">
            <a:solidFill>
              <a:srgbClr val="D8E1EC"/>
            </a:solidFill>
            <a:prstDash val="solid"/>
          </a:ln>
        </p:spPr>
      </p:sp>
      <p:sp>
        <p:nvSpPr>
          <p:cNvPr id="5" name="Text 3"/>
          <p:cNvSpPr/>
          <p:nvPr/>
        </p:nvSpPr>
        <p:spPr>
          <a:xfrm>
            <a:off x="971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1</a:t>
            </a:r>
            <a:endParaRPr lang="en-US" sz="1800" dirty="0"/>
          </a:p>
        </p:txBody>
      </p:sp>
      <p:sp>
        <p:nvSpPr>
          <p:cNvPr id="6" name="Text 4"/>
          <p:cNvSpPr/>
          <p:nvPr/>
        </p:nvSpPr>
        <p:spPr>
          <a:xfrm>
            <a:off x="971550" y="239385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Council chartered</a:t>
            </a:r>
            <a:endParaRPr lang="en-US" sz="1200" dirty="0"/>
          </a:p>
        </p:txBody>
      </p:sp>
      <p:sp>
        <p:nvSpPr>
          <p:cNvPr id="7" name="Text 5"/>
          <p:cNvSpPr/>
          <p:nvPr/>
        </p:nvSpPr>
        <p:spPr>
          <a:xfrm>
            <a:off x="971550" y="267578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Content audit</a:t>
            </a:r>
            <a:endParaRPr lang="en-US" sz="1200" dirty="0"/>
          </a:p>
        </p:txBody>
      </p:sp>
      <p:sp>
        <p:nvSpPr>
          <p:cNvPr id="8" name="Text 6"/>
          <p:cNvSpPr/>
          <p:nvPr/>
        </p:nvSpPr>
        <p:spPr>
          <a:xfrm>
            <a:off x="971550" y="295771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Asset card approved</a:t>
            </a:r>
            <a:endParaRPr lang="en-US" sz="1200" dirty="0"/>
          </a:p>
        </p:txBody>
      </p:sp>
      <p:sp>
        <p:nvSpPr>
          <p:cNvPr id="9" name="Text 7"/>
          <p:cNvSpPr/>
          <p:nvPr/>
        </p:nvSpPr>
        <p:spPr>
          <a:xfrm>
            <a:off x="971550" y="344537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Box connector in DEV</a:t>
            </a:r>
            <a:endParaRPr lang="en-US" sz="1200" dirty="0"/>
          </a:p>
        </p:txBody>
      </p:sp>
      <p:sp>
        <p:nvSpPr>
          <p:cNvPr id="10" name="Shape 8"/>
          <p:cNvSpPr/>
          <p:nvPr/>
        </p:nvSpPr>
        <p:spPr>
          <a:xfrm>
            <a:off x="2593975" y="1887786"/>
            <a:ext cx="1670050" cy="2124621"/>
          </a:xfrm>
          <a:prstGeom prst="roundRect">
            <a:avLst>
              <a:gd name="adj" fmla="val 4373"/>
            </a:avLst>
          </a:prstGeom>
          <a:solidFill>
            <a:srgbClr val="FBF3DF"/>
          </a:solidFill>
          <a:ln w="6350">
            <a:solidFill>
              <a:srgbClr val="E6D3A0"/>
            </a:solidFill>
            <a:prstDash val="solid"/>
          </a:ln>
        </p:spPr>
      </p:sp>
      <p:sp>
        <p:nvSpPr>
          <p:cNvPr id="11" name="Text 9"/>
          <p:cNvSpPr/>
          <p:nvPr/>
        </p:nvSpPr>
        <p:spPr>
          <a:xfrm>
            <a:off x="2749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2</a:t>
            </a:r>
            <a:endParaRPr lang="en-US" sz="1800" dirty="0"/>
          </a:p>
        </p:txBody>
      </p:sp>
      <p:sp>
        <p:nvSpPr>
          <p:cNvPr id="12" name="Text 10"/>
          <p:cNvSpPr/>
          <p:nvPr/>
        </p:nvSpPr>
        <p:spPr>
          <a:xfrm>
            <a:off x="2749550" y="239385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142 rules keyed</a:t>
            </a:r>
            <a:endParaRPr lang="en-US" sz="1200" dirty="0"/>
          </a:p>
        </p:txBody>
      </p:sp>
      <p:sp>
        <p:nvSpPr>
          <p:cNvPr id="13" name="Text 11"/>
          <p:cNvSpPr/>
          <p:nvPr/>
        </p:nvSpPr>
        <p:spPr>
          <a:xfrm>
            <a:off x="2749550" y="267578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URI registry v1</a:t>
            </a:r>
            <a:endParaRPr lang="en-US" sz="1200" dirty="0"/>
          </a:p>
        </p:txBody>
      </p:sp>
      <p:sp>
        <p:nvSpPr>
          <p:cNvPr id="14" name="Text 12"/>
          <p:cNvSpPr/>
          <p:nvPr/>
        </p:nvSpPr>
        <p:spPr>
          <a:xfrm>
            <a:off x="2749550" y="295771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2,000 assets admitted</a:t>
            </a:r>
            <a:endParaRPr lang="en-US" sz="1200" dirty="0"/>
          </a:p>
        </p:txBody>
      </p:sp>
      <p:sp>
        <p:nvSpPr>
          <p:cNvPr id="15" name="Text 13"/>
          <p:cNvSpPr/>
          <p:nvPr/>
        </p:nvSpPr>
        <p:spPr>
          <a:xfrm>
            <a:off x="2749550" y="3445371"/>
            <a:ext cx="140970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7E6319"/>
                </a:solidFill>
                <a:latin typeface="IBM Plex Sans" pitchFamily="34" charset="0"/>
                <a:ea typeface="IBM Plex Sans" pitchFamily="34" charset="-122"/>
                <a:cs typeface="IBM Plex Sans" pitchFamily="34" charset="-120"/>
              </a:rPr>
              <a:t>Gate 0</a:t>
            </a:r>
            <a:endParaRPr lang="en-US" sz="1200" dirty="0"/>
          </a:p>
        </p:txBody>
      </p:sp>
      <p:sp>
        <p:nvSpPr>
          <p:cNvPr id="16" name="Shape 14"/>
          <p:cNvSpPr/>
          <p:nvPr/>
        </p:nvSpPr>
        <p:spPr>
          <a:xfrm>
            <a:off x="4371975" y="1887786"/>
            <a:ext cx="1670050" cy="2124621"/>
          </a:xfrm>
          <a:prstGeom prst="roundRect">
            <a:avLst>
              <a:gd name="adj" fmla="val 4373"/>
            </a:avLst>
          </a:prstGeom>
          <a:solidFill>
            <a:srgbClr val="FFFFFF"/>
          </a:solidFill>
          <a:ln w="6350">
            <a:solidFill>
              <a:srgbClr val="D8E1EC"/>
            </a:solidFill>
            <a:prstDash val="solid"/>
          </a:ln>
        </p:spPr>
      </p:sp>
      <p:sp>
        <p:nvSpPr>
          <p:cNvPr id="17" name="Text 15"/>
          <p:cNvSpPr/>
          <p:nvPr/>
        </p:nvSpPr>
        <p:spPr>
          <a:xfrm>
            <a:off x="4527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3</a:t>
            </a:r>
            <a:endParaRPr lang="en-US" sz="1800" dirty="0"/>
          </a:p>
        </p:txBody>
      </p:sp>
      <p:sp>
        <p:nvSpPr>
          <p:cNvPr id="18" name="Text 16"/>
          <p:cNvSpPr/>
          <p:nvPr/>
        </p:nvSpPr>
        <p:spPr>
          <a:xfrm>
            <a:off x="4527550" y="239385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Tenant isolation live</a:t>
            </a:r>
            <a:endParaRPr lang="en-US" sz="1200" dirty="0"/>
          </a:p>
        </p:txBody>
      </p:sp>
      <p:sp>
        <p:nvSpPr>
          <p:cNvPr id="19" name="Text 17"/>
          <p:cNvSpPr/>
          <p:nvPr/>
        </p:nvSpPr>
        <p:spPr>
          <a:xfrm>
            <a:off x="4527550" y="288151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Hybrid index built</a:t>
            </a:r>
            <a:endParaRPr lang="en-US" sz="1200" dirty="0"/>
          </a:p>
        </p:txBody>
      </p:sp>
      <p:sp>
        <p:nvSpPr>
          <p:cNvPr id="20" name="Text 18"/>
          <p:cNvSpPr/>
          <p:nvPr/>
        </p:nvSpPr>
        <p:spPr>
          <a:xfrm>
            <a:off x="4527550" y="3163441"/>
            <a:ext cx="14097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Staff search pilot</a:t>
            </a:r>
            <a:endParaRPr lang="en-US" sz="1200" dirty="0"/>
          </a:p>
        </p:txBody>
      </p:sp>
      <p:sp>
        <p:nvSpPr>
          <p:cNvPr id="21" name="Shape 19"/>
          <p:cNvSpPr/>
          <p:nvPr/>
        </p:nvSpPr>
        <p:spPr>
          <a:xfrm>
            <a:off x="6149975" y="1887786"/>
            <a:ext cx="1670050" cy="2124621"/>
          </a:xfrm>
          <a:prstGeom prst="roundRect">
            <a:avLst>
              <a:gd name="adj" fmla="val 4373"/>
            </a:avLst>
          </a:prstGeom>
          <a:solidFill>
            <a:srgbClr val="FFFFFF"/>
          </a:solidFill>
          <a:ln w="6350">
            <a:solidFill>
              <a:srgbClr val="D8E1EC"/>
            </a:solidFill>
            <a:prstDash val="solid"/>
          </a:ln>
        </p:spPr>
      </p:sp>
      <p:sp>
        <p:nvSpPr>
          <p:cNvPr id="22" name="Text 20"/>
          <p:cNvSpPr/>
          <p:nvPr/>
        </p:nvSpPr>
        <p:spPr>
          <a:xfrm>
            <a:off x="6305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4</a:t>
            </a:r>
            <a:endParaRPr lang="en-US" sz="1800" dirty="0"/>
          </a:p>
        </p:txBody>
      </p:sp>
      <p:sp>
        <p:nvSpPr>
          <p:cNvPr id="23" name="Text 21"/>
          <p:cNvSpPr/>
          <p:nvPr/>
        </p:nvSpPr>
        <p:spPr>
          <a:xfrm>
            <a:off x="6305550" y="239385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Gateway and MTBH in staging</a:t>
            </a:r>
            <a:endParaRPr lang="en-US" sz="1200" dirty="0"/>
          </a:p>
        </p:txBody>
      </p:sp>
      <p:sp>
        <p:nvSpPr>
          <p:cNvPr id="24" name="Text 22"/>
          <p:cNvSpPr/>
          <p:nvPr/>
        </p:nvSpPr>
        <p:spPr>
          <a:xfrm>
            <a:off x="6305550" y="288151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Payroll and benefits holons</a:t>
            </a:r>
            <a:endParaRPr lang="en-US" sz="1200" dirty="0"/>
          </a:p>
        </p:txBody>
      </p:sp>
      <p:sp>
        <p:nvSpPr>
          <p:cNvPr id="25" name="Text 23"/>
          <p:cNvSpPr/>
          <p:nvPr/>
        </p:nvSpPr>
        <p:spPr>
          <a:xfrm>
            <a:off x="6305550" y="336917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Teams agent for service reps</a:t>
            </a:r>
            <a:endParaRPr lang="en-US" sz="1200" dirty="0"/>
          </a:p>
        </p:txBody>
      </p:sp>
      <p:sp>
        <p:nvSpPr>
          <p:cNvPr id="26" name="Shape 24"/>
          <p:cNvSpPr/>
          <p:nvPr/>
        </p:nvSpPr>
        <p:spPr>
          <a:xfrm>
            <a:off x="7927975" y="1887786"/>
            <a:ext cx="1670050" cy="2124621"/>
          </a:xfrm>
          <a:prstGeom prst="roundRect">
            <a:avLst>
              <a:gd name="adj" fmla="val 4373"/>
            </a:avLst>
          </a:prstGeom>
          <a:solidFill>
            <a:srgbClr val="FFFFFF"/>
          </a:solidFill>
          <a:ln w="6350">
            <a:solidFill>
              <a:srgbClr val="D8E1EC"/>
            </a:solidFill>
            <a:prstDash val="solid"/>
          </a:ln>
        </p:spPr>
      </p:sp>
      <p:sp>
        <p:nvSpPr>
          <p:cNvPr id="27" name="Text 25"/>
          <p:cNvSpPr/>
          <p:nvPr/>
        </p:nvSpPr>
        <p:spPr>
          <a:xfrm>
            <a:off x="8083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5</a:t>
            </a:r>
            <a:endParaRPr lang="en-US" sz="1800" dirty="0"/>
          </a:p>
        </p:txBody>
      </p:sp>
      <p:sp>
        <p:nvSpPr>
          <p:cNvPr id="28" name="Text 26"/>
          <p:cNvSpPr/>
          <p:nvPr/>
        </p:nvSpPr>
        <p:spPr>
          <a:xfrm>
            <a:off x="8083550" y="239385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Employee Jarvis at 3–5 clients</a:t>
            </a:r>
            <a:endParaRPr lang="en-US" sz="1200" dirty="0"/>
          </a:p>
        </p:txBody>
      </p:sp>
      <p:sp>
        <p:nvSpPr>
          <p:cNvPr id="29" name="Text 27"/>
          <p:cNvSpPr/>
          <p:nvPr/>
        </p:nvSpPr>
        <p:spPr>
          <a:xfrm>
            <a:off x="8083550" y="288151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Tenant red-team tests</a:t>
            </a:r>
            <a:endParaRPr lang="en-US" sz="1200" dirty="0"/>
          </a:p>
        </p:txBody>
      </p:sp>
      <p:sp>
        <p:nvSpPr>
          <p:cNvPr id="30" name="Shape 28"/>
          <p:cNvSpPr/>
          <p:nvPr/>
        </p:nvSpPr>
        <p:spPr>
          <a:xfrm>
            <a:off x="9705975" y="1887786"/>
            <a:ext cx="1670050" cy="2124621"/>
          </a:xfrm>
          <a:prstGeom prst="roundRect">
            <a:avLst>
              <a:gd name="adj" fmla="val 4373"/>
            </a:avLst>
          </a:prstGeom>
          <a:solidFill>
            <a:srgbClr val="FBF3DF"/>
          </a:solidFill>
          <a:ln w="6350">
            <a:solidFill>
              <a:srgbClr val="E6D3A0"/>
            </a:solidFill>
            <a:prstDash val="solid"/>
          </a:ln>
        </p:spPr>
      </p:sp>
      <p:sp>
        <p:nvSpPr>
          <p:cNvPr id="31" name="Text 29"/>
          <p:cNvSpPr/>
          <p:nvPr/>
        </p:nvSpPr>
        <p:spPr>
          <a:xfrm>
            <a:off x="9861550" y="2043361"/>
            <a:ext cx="14097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Month 6</a:t>
            </a:r>
            <a:endParaRPr lang="en-US" sz="1800" dirty="0"/>
          </a:p>
        </p:txBody>
      </p:sp>
      <p:sp>
        <p:nvSpPr>
          <p:cNvPr id="32" name="Text 30"/>
          <p:cNvSpPr/>
          <p:nvPr/>
        </p:nvSpPr>
        <p:spPr>
          <a:xfrm>
            <a:off x="9861550" y="2393851"/>
            <a:ext cx="14097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0344B"/>
                </a:solidFill>
                <a:latin typeface="IBM Plex Sans" pitchFamily="34" charset="0"/>
                <a:ea typeface="IBM Plex Sans" pitchFamily="34" charset="-122"/>
                <a:cs typeface="IBM Plex Sans" pitchFamily="34" charset="-120"/>
              </a:rPr>
              <a:t>Deflection and MTBH measured</a:t>
            </a:r>
            <a:endParaRPr lang="en-US" sz="1200" dirty="0"/>
          </a:p>
        </p:txBody>
      </p:sp>
      <p:sp>
        <p:nvSpPr>
          <p:cNvPr id="33" name="Text 31"/>
          <p:cNvSpPr/>
          <p:nvPr/>
        </p:nvSpPr>
        <p:spPr>
          <a:xfrm>
            <a:off x="9861550" y="2881511"/>
            <a:ext cx="1409700" cy="23113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7E6319"/>
                </a:solidFill>
                <a:latin typeface="IBM Plex Sans" pitchFamily="34" charset="0"/>
                <a:ea typeface="IBM Plex Sans" pitchFamily="34" charset="-122"/>
                <a:cs typeface="IBM Plex Sans" pitchFamily="34" charset="-120"/>
              </a:rPr>
              <a:t>Gate 1</a:t>
            </a:r>
            <a:endParaRPr lang="en-US" sz="1200" dirty="0"/>
          </a:p>
        </p:txBody>
      </p:sp>
      <p:sp>
        <p:nvSpPr>
          <p:cNvPr id="34" name="Text 32"/>
          <p:cNvSpPr/>
          <p:nvPr/>
        </p:nvSpPr>
        <p:spPr>
          <a:xfrm>
            <a:off x="812800" y="4269581"/>
            <a:ext cx="10464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0"/>
                </a:solidFill>
                <a:latin typeface="IBM Plex Sans" pitchFamily="34" charset="0"/>
                <a:ea typeface="IBM Plex Sans" pitchFamily="34" charset="-122"/>
                <a:cs typeface="IBM Plex Sans" pitchFamily="34" charset="-120"/>
              </a:rPr>
              <a:t>Search reaches staff in month 3, two months before any client employee sees it, so problems surface internally first.</a:t>
            </a:r>
            <a:endParaRPr lang="en-US" sz="1400" dirty="0"/>
          </a:p>
        </p:txBody>
      </p:sp>
      <p:sp>
        <p:nvSpPr>
          <p:cNvPr id="35"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11 · Gold columns are gate months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THE TEAM</a:t>
            </a:r>
            <a:endParaRPr lang="en-US" sz="1200" dirty="0"/>
          </a:p>
        </p:txBody>
      </p:sp>
      <p:sp>
        <p:nvSpPr>
          <p:cNvPr id="3" name="Text 1"/>
          <p:cNvSpPr/>
          <p:nvPr/>
        </p:nvSpPr>
        <p:spPr>
          <a:xfrm>
            <a:off x="812800" y="1102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Nine roles own the build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10553700" cy="3593207"/>
        </p:xfrm>
        <a:graphic>
          <a:graphicData uri="http://schemas.openxmlformats.org/drawingml/2006/table">
            <a:tbl>
              <a:tblPr/>
              <a:tblGrid>
                <a:gridCol w="3588258"/>
                <a:gridCol w="4854702"/>
                <a:gridCol w="2110740"/>
              </a:tblGrid>
              <a:tr h="359321">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Role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Owns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Projects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Knowledge Engineer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Core ontology, asset templates, harmonization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ISP-01, 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Compliance Governance Lead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Rule register and rule owners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Platform Team Lead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Box admission pipeline and index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Identity Architect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Identity and URI registry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Governance Lead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Council and change governance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Security Architect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Tenant isolation and data classes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Gateway Engineering Lead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Rule compiler, gateway, MTBH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ISP-08, 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Payroll and benefits teams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Payroll and benefits holons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ISP-06, 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Product and AI Science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Staff search and Employee Jarvis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ISP-12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12 · Team sizes [to be set in Phase 0 planning]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ACCEPTANCE</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How we know it works</a:t>
            </a:r>
            <a:endParaRPr lang="en-US" sz="3600" dirty="0"/>
          </a:p>
        </p:txBody>
      </p:sp>
      <p:sp>
        <p:nvSpPr>
          <p:cNvPr id="4" name="Shape 2"/>
          <p:cNvSpPr/>
          <p:nvPr/>
        </p:nvSpPr>
        <p:spPr>
          <a:xfrm>
            <a:off x="815975" y="1887786"/>
            <a:ext cx="3397250" cy="2055862"/>
          </a:xfrm>
          <a:prstGeom prst="roundRect">
            <a:avLst>
              <a:gd name="adj" fmla="val 4788"/>
            </a:avLst>
          </a:prstGeom>
          <a:solidFill>
            <a:srgbClr val="FFFFFF"/>
          </a:solidFill>
          <a:ln w="6350">
            <a:solidFill>
              <a:srgbClr val="D8E1EC"/>
            </a:solidFill>
            <a:prstDash val="solid"/>
          </a:ln>
        </p:spPr>
      </p:sp>
      <p:sp>
        <p:nvSpPr>
          <p:cNvPr id="5" name="Text 3"/>
          <p:cNvSpPr/>
          <p:nvPr/>
        </p:nvSpPr>
        <p:spPr>
          <a:xfrm>
            <a:off x="1022350" y="2094161"/>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Gate 0 · Month 2</a:t>
            </a:r>
            <a:endParaRPr lang="en-US" sz="1800" dirty="0"/>
          </a:p>
        </p:txBody>
      </p:sp>
      <p:sp>
        <p:nvSpPr>
          <p:cNvPr id="6" name="Text 4"/>
          <p:cNvSpPr/>
          <p:nvPr/>
        </p:nvSpPr>
        <p:spPr>
          <a:xfrm>
            <a:off x="1022350" y="2457351"/>
            <a:ext cx="3074035" cy="1305322"/>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At least 2,000 seed assets admitted</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At least 98% pass the quality gate</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Legal rules library covers FLSA, EEOC, OSHA and ERISA</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Templates approved for all six asset types</a:t>
            </a:r>
            <a:endParaRPr lang="en-US" sz="1200" dirty="0"/>
          </a:p>
        </p:txBody>
      </p:sp>
      <p:sp>
        <p:nvSpPr>
          <p:cNvPr id="7" name="Shape 5"/>
          <p:cNvSpPr/>
          <p:nvPr/>
        </p:nvSpPr>
        <p:spPr>
          <a:xfrm>
            <a:off x="4397375" y="1887786"/>
            <a:ext cx="3397250" cy="2055862"/>
          </a:xfrm>
          <a:prstGeom prst="roundRect">
            <a:avLst>
              <a:gd name="adj" fmla="val 4788"/>
            </a:avLst>
          </a:prstGeom>
          <a:solidFill>
            <a:srgbClr val="FFFFFF"/>
          </a:solidFill>
          <a:ln w="6350">
            <a:solidFill>
              <a:srgbClr val="D8E1EC"/>
            </a:solidFill>
            <a:prstDash val="solid"/>
          </a:ln>
        </p:spPr>
      </p:sp>
      <p:sp>
        <p:nvSpPr>
          <p:cNvPr id="8" name="Text 6"/>
          <p:cNvSpPr/>
          <p:nvPr/>
        </p:nvSpPr>
        <p:spPr>
          <a:xfrm>
            <a:off x="4603750" y="2094161"/>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Gate 1 · Month 6</a:t>
            </a:r>
            <a:endParaRPr lang="en-US" sz="1800" dirty="0"/>
          </a:p>
        </p:txBody>
      </p:sp>
      <p:sp>
        <p:nvSpPr>
          <p:cNvPr id="9" name="Text 7"/>
          <p:cNvSpPr/>
          <p:nvPr/>
        </p:nvSpPr>
        <p:spPr>
          <a:xfrm>
            <a:off x="4603750" y="2457351"/>
            <a:ext cx="3074035" cy="1092002"/>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MTBH WHERE ≥99.5%, WHAT ≥97%</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P95 answer time ≤3 seconds</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Circuit-breaker trip rate ≤2%</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Self-service deflection ≥40%</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Zero cross-tenant incidents</a:t>
            </a:r>
            <a:endParaRPr lang="en-US" sz="1200" dirty="0"/>
          </a:p>
        </p:txBody>
      </p:sp>
      <p:sp>
        <p:nvSpPr>
          <p:cNvPr id="10" name="Shape 8"/>
          <p:cNvSpPr/>
          <p:nvPr/>
        </p:nvSpPr>
        <p:spPr>
          <a:xfrm>
            <a:off x="7978775" y="1887786"/>
            <a:ext cx="3397250" cy="2055862"/>
          </a:xfrm>
          <a:prstGeom prst="roundRect">
            <a:avLst>
              <a:gd name="adj" fmla="val 4788"/>
            </a:avLst>
          </a:prstGeom>
          <a:solidFill>
            <a:srgbClr val="FFFFFF"/>
          </a:solidFill>
          <a:ln w="6350">
            <a:solidFill>
              <a:srgbClr val="D8E1EC"/>
            </a:solidFill>
            <a:prstDash val="solid"/>
          </a:ln>
        </p:spPr>
      </p:sp>
      <p:sp>
        <p:nvSpPr>
          <p:cNvPr id="11" name="Text 9"/>
          <p:cNvSpPr/>
          <p:nvPr/>
        </p:nvSpPr>
        <p:spPr>
          <a:xfrm>
            <a:off x="8185150" y="2094161"/>
            <a:ext cx="307403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1F3A"/>
                </a:solidFill>
                <a:latin typeface="Source Serif 4" pitchFamily="34" charset="0"/>
                <a:ea typeface="Source Serif 4" pitchFamily="34" charset="-122"/>
                <a:cs typeface="Source Serif 4" pitchFamily="34" charset="-120"/>
              </a:rPr>
              <a:t>Search tests · proposed</a:t>
            </a:r>
            <a:endParaRPr lang="en-US" sz="1800" dirty="0"/>
          </a:p>
        </p:txBody>
      </p:sp>
      <p:sp>
        <p:nvSpPr>
          <p:cNvPr id="12" name="Text 10"/>
          <p:cNvSpPr/>
          <p:nvPr/>
        </p:nvSpPr>
        <p:spPr>
          <a:xfrm>
            <a:off x="8185150" y="2457351"/>
            <a:ext cx="3074035" cy="1305322"/>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100% of answers cite a source URI</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No other-client results in the red-team set</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No answers cite an expired version</a:t>
            </a:r>
            <a:endParaRPr lang="en-US" sz="1200" dirty="0"/>
          </a:p>
          <a:p>
            <a:pPr algn="l" marL="182880" indent="-155194">
              <a:lnSpc>
                <a:spcPts val="1680"/>
              </a:lnSpc>
              <a:buSzPct val="100000"/>
              <a:buChar char="•"/>
            </a:pPr>
            <a:r>
              <a:rPr lang="en-US" sz="1200" dirty="0">
                <a:solidFill>
                  <a:srgbClr val="20344B"/>
                </a:solidFill>
                <a:latin typeface="IBM Plex Sans" pitchFamily="34" charset="0"/>
                <a:ea typeface="IBM Plex Sans" pitchFamily="34" charset="-122"/>
                <a:cs typeface="IBM Plex Sans" pitchFamily="34" charset="-120"/>
              </a:rPr>
              <a:t>Every quarantined asset has an owner and reason</a:t>
            </a:r>
            <a:endParaRPr lang="en-US" sz="12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13 · Gate criteria from the IIH roadmap; search tests are new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E6319"/>
                </a:solidFill>
                <a:latin typeface="IBM Plex Sans" pitchFamily="34" charset="0"/>
                <a:ea typeface="IBM Plex Sans" pitchFamily="34" charset="-122"/>
                <a:cs typeface="IBM Plex Sans" pitchFamily="34" charset="-120"/>
              </a:rPr>
              <a:t>RISKS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1F3A"/>
                </a:solidFill>
                <a:latin typeface="Source Serif 4" pitchFamily="34" charset="0"/>
                <a:ea typeface="Source Serif 4" pitchFamily="34" charset="-122"/>
                <a:cs typeface="Source Serif 4" pitchFamily="34" charset="-120"/>
              </a:rPr>
              <a:t>What could slow Phase 0–1</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2387054"/>
        </p:xfrm>
        <a:graphic>
          <a:graphicData uri="http://schemas.openxmlformats.org/drawingml/2006/table">
            <a:tbl>
              <a:tblPr/>
              <a:tblGrid>
                <a:gridCol w="4432554"/>
                <a:gridCol w="6121146"/>
              </a:tblGrid>
              <a:tr h="359321">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c>
                  <a:txBody>
                    <a:bodyPr/>
                    <a:lstStyle/>
                    <a:p>
                      <a:pPr indent="0" marL="0">
                        <a:lnSpc>
                          <a:spcPts val="1820"/>
                        </a:lnSpc>
                        <a:buNone/>
                      </a:pPr>
                      <a:r>
                        <a:rPr lang="en-US" sz="1300" b="1" dirty="0">
                          <a:solidFill>
                            <a:srgbClr val="20344B"/>
                          </a:solidFill>
                          <a:latin typeface="IBM Plex Sans" pitchFamily="34" charset="0"/>
                          <a:ea typeface="IBM Plex Sans" pitchFamily="34" charset="-122"/>
                          <a:cs typeface="IBM Plex Sans" pitchFamily="34" charset="-120"/>
                        </a:rPr>
                        <a:t>Mitigation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CC3"/>
                      </a:solidFill>
                      <a:prstDash val="solid"/>
                      <a:round/>
                      <a:headEnd type="none" w="med" len="med"/>
                      <a:tailEnd type="none" w="med" len="med"/>
                    </a:lnL>
                    <a:lnR w="12700" cap="flat" cmpd="sng" algn="ctr">
                      <a:solidFill>
                        <a:srgbClr val="B6BCC3"/>
                      </a:solidFill>
                      <a:prstDash val="solid"/>
                      <a:round/>
                      <a:headEnd type="none" w="med" len="med"/>
                      <a:tailEnd type="none" w="med" len="med"/>
                    </a:lnR>
                    <a:lnT w="12700" cap="flat" cmpd="sng" algn="ctr">
                      <a:solidFill>
                        <a:srgbClr val="C3C5C8"/>
                      </a:solidFill>
                      <a:prstDash val="solid"/>
                      <a:round/>
                      <a:headEnd type="none" w="med" len="med"/>
                      <a:tailEnd type="none" w="med" len="med"/>
                    </a:lnT>
                    <a:lnB w="12700" cap="flat" cmpd="sng" algn="ctr">
                      <a:solidFill>
                        <a:srgbClr val="B6BCC3"/>
                      </a:solidFill>
                      <a:prstDash val="solid"/>
                      <a:round/>
                      <a:headEnd type="none" w="med" len="med"/>
                      <a:tailEnd type="none" w="med" len="med"/>
                    </a:lnB>
                    <a:solidFill>
                      <a:srgbClr val="E4EBF4"/>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Content quality is low; many assets fail the gate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Seed with the 2,000 most-requested assets; report quarantine weekly by owner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6BC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45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Client ownership is unclear for older assets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Default deny: untagged assets never reach client users; resolve with the Client Allocation Matrix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Rule owners and legal review become a bottleneck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Templates for authors; a council service level for approvals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Staff do not adopt search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Start with service reps' most frequent questions; report time saved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6C7CA"/>
                      </a:solidFill>
                      <a:prstDash val="solid"/>
                      <a:round/>
                      <a:headEnd type="none" w="med" len="med"/>
                      <a:tailEnd type="none" w="med" len="med"/>
                    </a:lnL>
                    <a:lnR w="12700" cap="flat" cmpd="sng" algn="ctr">
                      <a:solidFill>
                        <a:srgbClr val="C6C7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6C7CA"/>
                      </a:solidFill>
                      <a:prstDash val="solid"/>
                      <a:round/>
                      <a:headEnd type="none" w="med" len="med"/>
                      <a:tailEnd type="none" w="med" len="med"/>
                    </a:lnB>
                    <a:solidFill>
                      <a:srgbClr val="F8FAFD"/>
                    </a:solidFill>
                  </a:tcPr>
                </a:tc>
              </a:tr>
              <a:tr h="359321">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The graph store choice delays the 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5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20344B"/>
                          </a:solidFill>
                          <a:latin typeface="IBM Plex Sans" pitchFamily="34" charset="0"/>
                          <a:ea typeface="IBM Plex Sans" pitchFamily="34" charset="-122"/>
                          <a:cs typeface="IBM Plex Sans" pitchFamily="34" charset="-120"/>
                        </a:rPr>
                        <a:t>Decide in month 1; the open contract keeps it replaceable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6C7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7188"/>
                </a:solidFill>
                <a:latin typeface="IBM Plex Sans" pitchFamily="34" charset="0"/>
                <a:ea typeface="IBM Plex Sans" pitchFamily="34" charset="-122"/>
                <a:cs typeface="IBM Plex Sans" pitchFamily="34" charset="-120"/>
              </a:rPr>
              <a:t>North Star Search · Phase 0–1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8A951"/>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4F7FB"/>
                </a:solidFill>
                <a:latin typeface="Source Serif 4" pitchFamily="34" charset="0"/>
                <a:ea typeface="Source Serif 4" pitchFamily="34" charset="-122"/>
                <a:cs typeface="Source Serif 4" pitchFamily="34" charset="-120"/>
              </a:rPr>
              <a:t>Five decisions for month 1</a:t>
            </a:r>
            <a:endParaRPr lang="en-US" sz="3600" dirty="0"/>
          </a:p>
        </p:txBody>
      </p:sp>
      <p:sp>
        <p:nvSpPr>
          <p:cNvPr id="4" name="Shape 2"/>
          <p:cNvSpPr/>
          <p:nvPr/>
        </p:nvSpPr>
        <p:spPr>
          <a:xfrm>
            <a:off x="812800" y="1910011"/>
            <a:ext cx="10566400" cy="563860"/>
          </a:xfrm>
          <a:prstGeom prst="roundRect">
            <a:avLst>
              <a:gd name="adj" fmla="val 15766"/>
            </a:avLst>
          </a:prstGeom>
          <a:solidFill>
            <a:srgbClr val="12305A"/>
          </a:solidFill>
          <a:ln/>
        </p:spPr>
      </p:sp>
      <p:sp>
        <p:nvSpPr>
          <p:cNvPr id="5" name="Text 3"/>
          <p:cNvSpPr/>
          <p:nvPr/>
        </p:nvSpPr>
        <p:spPr>
          <a:xfrm>
            <a:off x="1016000" y="2049711"/>
            <a:ext cx="3662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C572"/>
                </a:solidFill>
                <a:latin typeface="IBM Plex Sans" pitchFamily="34" charset="0"/>
                <a:ea typeface="IBM Plex Sans" pitchFamily="34" charset="-122"/>
                <a:cs typeface="IBM Plex Sans" pitchFamily="34" charset="-120"/>
              </a:rPr>
              <a:t>1 · Pick the seed set</a:t>
            </a:r>
            <a:endParaRPr lang="en-US" sz="1600" dirty="0"/>
          </a:p>
        </p:txBody>
      </p:sp>
      <p:sp>
        <p:nvSpPr>
          <p:cNvPr id="6" name="Text 4"/>
          <p:cNvSpPr/>
          <p:nvPr/>
        </p:nvSpPr>
        <p:spPr>
          <a:xfrm>
            <a:off x="4749800" y="2075111"/>
            <a:ext cx="394565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IBM Plex Sans" pitchFamily="34" charset="0"/>
                <a:ea typeface="IBM Plex Sans" pitchFamily="34" charset="-122"/>
                <a:cs typeface="IBM Plex Sans" pitchFamily="34" charset="-120"/>
              </a:rPr>
              <a:t>Which 2,000 assets, chosen by question volume</a:t>
            </a:r>
            <a:endParaRPr lang="en-US" sz="1400" dirty="0"/>
          </a:p>
        </p:txBody>
      </p:sp>
      <p:sp>
        <p:nvSpPr>
          <p:cNvPr id="7" name="Shape 5"/>
          <p:cNvSpPr/>
          <p:nvPr/>
        </p:nvSpPr>
        <p:spPr>
          <a:xfrm>
            <a:off x="812800" y="2575471"/>
            <a:ext cx="10566400" cy="563860"/>
          </a:xfrm>
          <a:prstGeom prst="roundRect">
            <a:avLst>
              <a:gd name="adj" fmla="val 15766"/>
            </a:avLst>
          </a:prstGeom>
          <a:solidFill>
            <a:srgbClr val="12305A"/>
          </a:solidFill>
          <a:ln/>
        </p:spPr>
      </p:sp>
      <p:sp>
        <p:nvSpPr>
          <p:cNvPr id="8" name="Text 6"/>
          <p:cNvSpPr/>
          <p:nvPr/>
        </p:nvSpPr>
        <p:spPr>
          <a:xfrm>
            <a:off x="1016000" y="2715171"/>
            <a:ext cx="3662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C572"/>
                </a:solidFill>
                <a:latin typeface="IBM Plex Sans" pitchFamily="34" charset="0"/>
                <a:ea typeface="IBM Plex Sans" pitchFamily="34" charset="-122"/>
                <a:cs typeface="IBM Plex Sans" pitchFamily="34" charset="-120"/>
              </a:rPr>
              <a:t>2 · Name the pilot clients</a:t>
            </a:r>
            <a:endParaRPr lang="en-US" sz="1600" dirty="0"/>
          </a:p>
        </p:txBody>
      </p:sp>
      <p:sp>
        <p:nvSpPr>
          <p:cNvPr id="9" name="Text 7"/>
          <p:cNvSpPr/>
          <p:nvPr/>
        </p:nvSpPr>
        <p:spPr>
          <a:xfrm>
            <a:off x="4749800" y="2740571"/>
            <a:ext cx="41939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IBM Plex Sans" pitchFamily="34" charset="0"/>
                <a:ea typeface="IBM Plex Sans" pitchFamily="34" charset="-122"/>
                <a:cs typeface="IBM Plex Sans" pitchFamily="34" charset="-120"/>
              </a:rPr>
              <a:t>Three to five clients for Employee Jarvis in month 5</a:t>
            </a:r>
            <a:endParaRPr lang="en-US" sz="1400" dirty="0"/>
          </a:p>
        </p:txBody>
      </p:sp>
      <p:sp>
        <p:nvSpPr>
          <p:cNvPr id="10" name="Shape 8"/>
          <p:cNvSpPr/>
          <p:nvPr/>
        </p:nvSpPr>
        <p:spPr>
          <a:xfrm>
            <a:off x="812800" y="3240931"/>
            <a:ext cx="10566400" cy="563860"/>
          </a:xfrm>
          <a:prstGeom prst="roundRect">
            <a:avLst>
              <a:gd name="adj" fmla="val 15766"/>
            </a:avLst>
          </a:prstGeom>
          <a:solidFill>
            <a:srgbClr val="12305A"/>
          </a:solidFill>
          <a:ln/>
        </p:spPr>
      </p:sp>
      <p:sp>
        <p:nvSpPr>
          <p:cNvPr id="11" name="Text 9"/>
          <p:cNvSpPr/>
          <p:nvPr/>
        </p:nvSpPr>
        <p:spPr>
          <a:xfrm>
            <a:off x="1016000" y="3380631"/>
            <a:ext cx="3662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C572"/>
                </a:solidFill>
                <a:latin typeface="IBM Plex Sans" pitchFamily="34" charset="0"/>
                <a:ea typeface="IBM Plex Sans" pitchFamily="34" charset="-122"/>
                <a:cs typeface="IBM Plex Sans" pitchFamily="34" charset="-120"/>
              </a:rPr>
              <a:t>3 · Confirm access</a:t>
            </a:r>
            <a:endParaRPr lang="en-US" sz="1600" dirty="0"/>
          </a:p>
        </p:txBody>
      </p:sp>
      <p:sp>
        <p:nvSpPr>
          <p:cNvPr id="12" name="Text 10"/>
          <p:cNvSpPr/>
          <p:nvPr/>
        </p:nvSpPr>
        <p:spPr>
          <a:xfrm>
            <a:off x="4749800" y="3406031"/>
            <a:ext cx="48345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IBM Plex Sans" pitchFamily="34" charset="0"/>
                <a:ea typeface="IBM Plex Sans" pitchFamily="34" charset="-122"/>
                <a:cs typeface="IBM Plex Sans" pitchFamily="34" charset="-120"/>
              </a:rPr>
              <a:t>Box and SharePoint scope, with read-only service accounts</a:t>
            </a:r>
            <a:endParaRPr lang="en-US" sz="1400" dirty="0"/>
          </a:p>
        </p:txBody>
      </p:sp>
      <p:sp>
        <p:nvSpPr>
          <p:cNvPr id="13" name="Shape 11"/>
          <p:cNvSpPr/>
          <p:nvPr/>
        </p:nvSpPr>
        <p:spPr>
          <a:xfrm>
            <a:off x="812800" y="3906391"/>
            <a:ext cx="10566400" cy="563860"/>
          </a:xfrm>
          <a:prstGeom prst="roundRect">
            <a:avLst>
              <a:gd name="adj" fmla="val 15766"/>
            </a:avLst>
          </a:prstGeom>
          <a:solidFill>
            <a:srgbClr val="12305A"/>
          </a:solidFill>
          <a:ln/>
        </p:spPr>
      </p:sp>
      <p:sp>
        <p:nvSpPr>
          <p:cNvPr id="14" name="Text 12"/>
          <p:cNvSpPr/>
          <p:nvPr/>
        </p:nvSpPr>
        <p:spPr>
          <a:xfrm>
            <a:off x="1016000" y="4046091"/>
            <a:ext cx="3662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C572"/>
                </a:solidFill>
                <a:latin typeface="IBM Plex Sans" pitchFamily="34" charset="0"/>
                <a:ea typeface="IBM Plex Sans" pitchFamily="34" charset="-122"/>
                <a:cs typeface="IBM Plex Sans" pitchFamily="34" charset="-120"/>
              </a:rPr>
              <a:t>4 · Approve the asset card</a:t>
            </a:r>
            <a:endParaRPr lang="en-US" sz="1600" dirty="0"/>
          </a:p>
        </p:txBody>
      </p:sp>
      <p:sp>
        <p:nvSpPr>
          <p:cNvPr id="15" name="Text 13"/>
          <p:cNvSpPr/>
          <p:nvPr/>
        </p:nvSpPr>
        <p:spPr>
          <a:xfrm>
            <a:off x="4749800" y="4071491"/>
            <a:ext cx="300852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IBM Plex Sans" pitchFamily="34" charset="0"/>
                <a:ea typeface="IBM Plex Sans" pitchFamily="34" charset="-122"/>
                <a:cs typeface="IBM Plex Sans" pitchFamily="34" charset="-120"/>
              </a:rPr>
              <a:t>The ten fields every asset must carry</a:t>
            </a:r>
            <a:endParaRPr lang="en-US" sz="1400" dirty="0"/>
          </a:p>
        </p:txBody>
      </p:sp>
      <p:sp>
        <p:nvSpPr>
          <p:cNvPr id="16" name="Shape 14"/>
          <p:cNvSpPr/>
          <p:nvPr/>
        </p:nvSpPr>
        <p:spPr>
          <a:xfrm>
            <a:off x="812800" y="4571851"/>
            <a:ext cx="10566400" cy="563860"/>
          </a:xfrm>
          <a:prstGeom prst="roundRect">
            <a:avLst>
              <a:gd name="adj" fmla="val 15766"/>
            </a:avLst>
          </a:prstGeom>
          <a:solidFill>
            <a:srgbClr val="12305A"/>
          </a:solidFill>
          <a:ln/>
        </p:spPr>
      </p:sp>
      <p:sp>
        <p:nvSpPr>
          <p:cNvPr id="17" name="Text 15"/>
          <p:cNvSpPr/>
          <p:nvPr/>
        </p:nvSpPr>
        <p:spPr>
          <a:xfrm>
            <a:off x="1016000" y="4711551"/>
            <a:ext cx="36626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4C572"/>
                </a:solidFill>
                <a:latin typeface="IBM Plex Sans" pitchFamily="34" charset="0"/>
                <a:ea typeface="IBM Plex Sans" pitchFamily="34" charset="-122"/>
                <a:cs typeface="IBM Plex Sans" pitchFamily="34" charset="-120"/>
              </a:rPr>
              <a:t>5 · Choose the graph store</a:t>
            </a:r>
            <a:endParaRPr lang="en-US" sz="1600" dirty="0"/>
          </a:p>
        </p:txBody>
      </p:sp>
      <p:sp>
        <p:nvSpPr>
          <p:cNvPr id="18" name="Text 16"/>
          <p:cNvSpPr/>
          <p:nvPr/>
        </p:nvSpPr>
        <p:spPr>
          <a:xfrm>
            <a:off x="4749800" y="4736951"/>
            <a:ext cx="398980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6E6"/>
                </a:solidFill>
                <a:latin typeface="IBM Plex Sans" pitchFamily="34" charset="0"/>
                <a:ea typeface="IBM Plex Sans" pitchFamily="34" charset="-122"/>
                <a:cs typeface="IBM Plex Sans" pitchFamily="34" charset="-120"/>
              </a:rPr>
              <a:t>An RDF store on Azure, behind the open contract</a:t>
            </a:r>
            <a:endParaRPr lang="en-US" sz="1400" dirty="0"/>
          </a:p>
        </p:txBody>
      </p:sp>
      <p:sp>
        <p:nvSpPr>
          <p:cNvPr id="19" name="Text 17"/>
          <p:cNvSpPr/>
          <p:nvPr/>
        </p:nvSpPr>
        <p:spPr>
          <a:xfrm>
            <a:off x="812800" y="5415111"/>
            <a:ext cx="1046480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4F7FB"/>
                </a:solidFill>
                <a:latin typeface="Source Serif 4" pitchFamily="34" charset="0"/>
                <a:ea typeface="Source Serif 4" pitchFamily="34" charset="-122"/>
                <a:cs typeface="Source Serif 4" pitchFamily="34" charset="-120"/>
              </a:rPr>
              <a:t>Admit it once, tag it right, and every search after that is safe. </a:t>
            </a:r>
            <a:r>
              <a:rPr lang="en-US" sz="2000" dirty="0">
                <a:solidFill>
                  <a:srgbClr val="C8A951"/>
                </a:solidFill>
                <a:latin typeface="Source Serif 4" pitchFamily="34" charset="0"/>
                <a:ea typeface="Source Serif 4" pitchFamily="34" charset="-122"/>
                <a:cs typeface="Source Serif 4" pitchFamily="34" charset="-120"/>
              </a:rPr>
              <a:t>That is the foundation.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Star Search: Phase 0–1</dc:title>
  <dc:subject>PptxGenJS Presentation</dc:subject>
  <dc:creator>PptxGenJS</dc:creator>
  <cp:lastModifiedBy>PptxGenJS</cp:lastModifiedBy>
  <cp:revision>1</cp:revision>
  <dcterms:created xsi:type="dcterms:W3CDTF">2026-09-29T13:35:43Z</dcterms:created>
  <dcterms:modified xsi:type="dcterms:W3CDTF">2026-09-29T13:35:43Z</dcterms:modified>
</cp:coreProperties>
</file>