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asks every development team to agree on one thing: what is shared and decided once, and what each team is free to choose. The keel is our shared meaning; the North Star is the company’s strategic goals. Everything else is team choice inside a few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fight is rarely about the tool itself. It is about who owns meaning, rules, and integration. When those are shared and owned once, most tool choices stop mattering, and teams can move faster without stepping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vessel bottom up. The keel is the governed meaning everyone reads; it is authored once and versioned. The hull holds the contracts that connect sources and experiences to the keel. The bridge is where teams build experiences, and that is where team choice lives. Ballast keeps us upright: privacy, change control, and measurement. The North Star is the set of strategic outcomes every release reports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values come straight from our business model. Commitment, Respect, and Achieving Goals are explicitly about clients; Integrity, Accountability, and Perseverance are how we keep faith with them. Each value maps to one thing every design must do, and each of those becomes a principle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principles, one per scorecard line. Two are gates, marked in gold: meaning lives in the keel, and privacy and trust by design. A design that works against either one does not proceed, however well it scores elsewhere. The other six are weighed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ends the territory fights. The left column is decided once and owned by named stewards; the right column is genuinely each team’s call, as long as it meets the shared contracts. Disputes are settled by the scorecard, not by seniority. The five-day decision window is a proposal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each line 0, 1 or 2. Zero means the design works against the principle, one means partial or neutral, two means it actively advances it. If a principle truly does not apply, score it 2 so the design is not penalized. Maximum is 16. The two gate lines matter most: a zero on either one stops the design regardless of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worked examples. A team choosing its own vector store is fine, because it sits behind the shared search gateway: aligned. Coding eligibility rules in the app to make a launch date is a legitimate choice, but it is debt, and it gets recorded with an owner and a date to move the rules into the SSOT. Mining employee email sentiment scores 10 in total but fails the privacy gate: our own business model lists it as a prohibited practice, so it is redesigned regardless of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only works if it is used in the open and every time. Teams score their own decisions so it stays fast; a peer from another team checks it so it stays honest. Accepted debt is fine as long as it is written down with an owner and a payoff date. The pilot length is a placeholder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1502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B2230"/>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894780"/>
            <a:ext cx="10566400" cy="4150420"/>
          </a:xfrm>
          <a:prstGeom prst="rect">
            <a:avLst/>
          </a:prstGeom>
          <a:noFill/>
          <a:ln/>
        </p:spPr>
        <p:txBody>
          <a:bodyPr wrap="square" lIns="0" tIns="0" rIns="0" bIns="0" rtlCol="0" anchor="t"/>
          <a:lstStyle>
            <a:lvl1pPr algn="l" indent="0" marL="0">
              <a:lnSpc>
                <a:spcPct val="140000"/>
              </a:lnSpc>
              <a:buNone/>
              <a:defRPr lang="en-US" sz="1600" dirty="0">
                <a:solidFill>
                  <a:srgbClr val="1B22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1502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B2230"/>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894780"/>
            <a:ext cx="10566400" cy="4150420"/>
          </a:xfrm>
          <a:prstGeom prst="rect">
            <a:avLst/>
          </a:prstGeom>
          <a:noFill/>
          <a:ln/>
        </p:spPr>
        <p:txBody>
          <a:bodyPr wrap="square" lIns="0" tIns="0" rIns="0" bIns="0" rtlCol="0" anchor="t"/>
          <a:lstStyle>
            <a:lvl1pPr algn="l" indent="0" marL="0">
              <a:lnSpc>
                <a:spcPct val="140000"/>
              </a:lnSpc>
              <a:buNone/>
              <a:defRPr lang="en-US" sz="1600" dirty="0">
                <a:solidFill>
                  <a:srgbClr val="1B22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33A"/>
        </a:solidFill>
      </p:bgPr>
    </p:bg>
    <p:spTree>
      <p:nvGrpSpPr>
        <p:cNvPr id="1" name=""/>
        <p:cNvGrpSpPr/>
        <p:nvPr/>
      </p:nvGrpSpPr>
      <p:grpSpPr>
        <a:xfrm>
          <a:off x="0" y="0"/>
          <a:ext cx="0" cy="0"/>
          <a:chOff x="0" y="0"/>
          <a:chExt cx="0" cy="0"/>
        </a:xfrm>
      </p:grpSpPr>
      <p:sp>
        <p:nvSpPr>
          <p:cNvPr id="2" name="Text 0"/>
          <p:cNvSpPr/>
          <p:nvPr/>
        </p:nvSpPr>
        <p:spPr>
          <a:xfrm>
            <a:off x="812800" y="17170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200" kern="0" dirty="0">
                <a:solidFill>
                  <a:srgbClr val="E2B84A"/>
                </a:solidFill>
                <a:latin typeface="IBM Plex Sans" pitchFamily="34" charset="0"/>
                <a:ea typeface="IBM Plex Sans" pitchFamily="34" charset="-122"/>
                <a:cs typeface="IBM Plex Sans" pitchFamily="34" charset="-120"/>
              </a:rPr>
              <a:t>ARCHITECTURE PRINCIPLES FOR EVERY TEAM</a:t>
            </a:r>
            <a:endParaRPr lang="en-US" sz="1500" dirty="0"/>
          </a:p>
        </p:txBody>
      </p:sp>
      <p:sp>
        <p:nvSpPr>
          <p:cNvPr id="3" name="Text 1"/>
          <p:cNvSpPr/>
          <p:nvPr>
            <p:ph type="title"/>
          </p:nvPr>
        </p:nvSpPr>
        <p:spPr>
          <a:xfrm>
            <a:off x="812800" y="2237780"/>
            <a:ext cx="10883392" cy="1785541"/>
          </a:xfrm>
          <a:prstGeom prst="rect">
            <a:avLst/>
          </a:prstGeom>
          <a:noFill/>
          <a:ln/>
        </p:spPr>
        <p:txBody>
          <a:bodyPr wrap="square" lIns="0" tIns="0" rIns="0" bIns="0" rtlCol="0" anchor="t">
            <a:normAutofit/>
          </a:bodyPr>
          <a:lstStyle/>
          <a:p>
            <a:pPr algn="l" indent="0" marL="0">
              <a:lnSpc>
                <a:spcPts val="6930"/>
              </a:lnSpc>
              <a:buNone/>
            </a:pPr>
            <a:r>
              <a:rPr lang="en-US" sz="6600" b="1" i="0" dirty="0">
                <a:solidFill>
                  <a:srgbClr val="F6F4EE"/>
                </a:solidFill>
                <a:latin typeface="Source Serif 4" pitchFamily="18" charset="0"/>
                <a:ea typeface="Source Serif 4" pitchFamily="18" charset="-122"/>
                <a:cs typeface="Source Serif 4" pitchFamily="18" charset="-120"/>
              </a:rPr>
              <a:t>One Keel,</a:t>
            </a:r>
            <a:endParaRPr lang="en-US" sz="6600" dirty="0"/>
          </a:p>
          <a:p>
            <a:pPr algn="l" indent="0" marL="0">
              <a:lnSpc>
                <a:spcPts val="6930"/>
              </a:lnSpc>
              <a:buNone/>
            </a:pPr>
            <a:r>
              <a:rPr lang="en-US" sz="6600" b="1" i="0" dirty="0">
                <a:solidFill>
                  <a:srgbClr val="F6F4EE"/>
                </a:solidFill>
                <a:latin typeface="Source Serif 4" pitchFamily="18" charset="0"/>
                <a:ea typeface="Source Serif 4" pitchFamily="18" charset="-122"/>
                <a:cs typeface="Source Serif 4" pitchFamily="18" charset="-120"/>
              </a:rPr>
              <a:t>One North Star</a:t>
            </a:r>
            <a:endParaRPr lang="en-US" sz="6600" dirty="0"/>
          </a:p>
        </p:txBody>
      </p:sp>
      <p:sp>
        <p:nvSpPr>
          <p:cNvPr id="4" name="Text 2"/>
          <p:cNvSpPr/>
          <p:nvPr/>
        </p:nvSpPr>
        <p:spPr>
          <a:xfrm>
            <a:off x="812800" y="4251920"/>
            <a:ext cx="811022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2DE"/>
                </a:solidFill>
                <a:latin typeface="IBM Plex Sans" pitchFamily="34" charset="0"/>
                <a:ea typeface="IBM Plex Sans" pitchFamily="34" charset="-122"/>
                <a:cs typeface="IBM Plex Sans" pitchFamily="34" charset="-120"/>
              </a:rPr>
              <a:t>Shared principles, customer-first values, and a simple scorecard for every design decision</a:t>
            </a:r>
            <a:endParaRPr lang="en-US" sz="20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6"/>
                </a:solidFill>
                <a:latin typeface="IBM Plex Sans" pitchFamily="34" charset="0"/>
                <a:ea typeface="IBM Plex Sans" pitchFamily="34" charset="-122"/>
                <a:cs typeface="IBM Plex Sans" pitchFamily="34" charset="-120"/>
              </a:rPr>
              <a:t>Knowledge Engineering · Enterprise Analytics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230"/>
                </a:solidFill>
                <a:latin typeface="Source Serif 4" pitchFamily="18" charset="0"/>
                <a:ea typeface="Source Serif 4" pitchFamily="18" charset="-122"/>
                <a:cs typeface="Source Serif 4" pitchFamily="18" charset="-120"/>
              </a:rPr>
              <a:t>Territory costs us more than any tool choice</a:t>
            </a:r>
            <a:endParaRPr lang="en-US" sz="3600" dirty="0"/>
          </a:p>
        </p:txBody>
      </p:sp>
      <p:sp>
        <p:nvSpPr>
          <p:cNvPr id="4" name="Shape 2"/>
          <p:cNvSpPr/>
          <p:nvPr/>
        </p:nvSpPr>
        <p:spPr>
          <a:xfrm>
            <a:off x="815975" y="2256185"/>
            <a:ext cx="3380284" cy="2038350"/>
          </a:xfrm>
          <a:prstGeom prst="roundRect">
            <a:avLst>
              <a:gd name="adj" fmla="val 4829"/>
            </a:avLst>
          </a:prstGeom>
          <a:solidFill>
            <a:srgbClr val="FFFDF8"/>
          </a:solidFill>
          <a:ln w="6350">
            <a:solidFill>
              <a:srgbClr val="DDD8CC"/>
            </a:solidFill>
            <a:prstDash val="solid"/>
          </a:ln>
        </p:spPr>
      </p:sp>
      <p:sp>
        <p:nvSpPr>
          <p:cNvPr id="5" name="Text 3"/>
          <p:cNvSpPr/>
          <p:nvPr/>
        </p:nvSpPr>
        <p:spPr>
          <a:xfrm>
            <a:off x="1098550" y="2538760"/>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230"/>
                </a:solidFill>
                <a:latin typeface="IBM Plex Sans" pitchFamily="34" charset="0"/>
                <a:ea typeface="IBM Plex Sans" pitchFamily="34" charset="-122"/>
                <a:cs typeface="IBM Plex Sans" pitchFamily="34" charset="-120"/>
              </a:rPr>
              <a:t>Meaning gets copied</a:t>
            </a:r>
            <a:endParaRPr lang="en-US" sz="2000" dirty="0"/>
          </a:p>
        </p:txBody>
      </p:sp>
      <p:sp>
        <p:nvSpPr>
          <p:cNvPr id="6" name="Text 4"/>
          <p:cNvSpPr/>
          <p:nvPr/>
        </p:nvSpPr>
        <p:spPr>
          <a:xfrm>
            <a:off x="1098550" y="2945160"/>
            <a:ext cx="289958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63"/>
                </a:solidFill>
                <a:latin typeface="IBM Plex Sans" pitchFamily="34" charset="0"/>
                <a:ea typeface="IBM Plex Sans" pitchFamily="34" charset="-122"/>
                <a:cs typeface="IBM Plex Sans" pitchFamily="34" charset="-120"/>
              </a:rPr>
              <a:t>Each team defines “eligible employee” its own way, so clients get different answers from different channels.</a:t>
            </a:r>
            <a:endParaRPr lang="en-US" sz="1500" dirty="0"/>
          </a:p>
        </p:txBody>
      </p:sp>
      <p:sp>
        <p:nvSpPr>
          <p:cNvPr id="7" name="Shape 5"/>
          <p:cNvSpPr/>
          <p:nvPr/>
        </p:nvSpPr>
        <p:spPr>
          <a:xfrm>
            <a:off x="4405809" y="2256185"/>
            <a:ext cx="3380333" cy="2038350"/>
          </a:xfrm>
          <a:prstGeom prst="roundRect">
            <a:avLst>
              <a:gd name="adj" fmla="val 4829"/>
            </a:avLst>
          </a:prstGeom>
          <a:solidFill>
            <a:srgbClr val="FFFDF8"/>
          </a:solidFill>
          <a:ln w="6350">
            <a:solidFill>
              <a:srgbClr val="DDD8CC"/>
            </a:solidFill>
            <a:prstDash val="solid"/>
          </a:ln>
        </p:spPr>
      </p:sp>
      <p:sp>
        <p:nvSpPr>
          <p:cNvPr id="8" name="Text 6"/>
          <p:cNvSpPr/>
          <p:nvPr/>
        </p:nvSpPr>
        <p:spPr>
          <a:xfrm>
            <a:off x="4688384" y="2538760"/>
            <a:ext cx="309458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230"/>
                </a:solidFill>
                <a:latin typeface="IBM Plex Sans" pitchFamily="34" charset="0"/>
                <a:ea typeface="IBM Plex Sans" pitchFamily="34" charset="-122"/>
                <a:cs typeface="IBM Plex Sans" pitchFamily="34" charset="-120"/>
              </a:rPr>
              <a:t>Tool debates never end</a:t>
            </a:r>
            <a:endParaRPr lang="en-US" sz="2000" dirty="0"/>
          </a:p>
        </p:txBody>
      </p:sp>
      <p:sp>
        <p:nvSpPr>
          <p:cNvPr id="9" name="Text 7"/>
          <p:cNvSpPr/>
          <p:nvPr/>
        </p:nvSpPr>
        <p:spPr>
          <a:xfrm>
            <a:off x="4688384" y="2945160"/>
            <a:ext cx="289963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63"/>
                </a:solidFill>
                <a:latin typeface="IBM Plex Sans" pitchFamily="34" charset="0"/>
                <a:ea typeface="IBM Plex Sans" pitchFamily="34" charset="-122"/>
                <a:cs typeface="IBM Plex Sans" pitchFamily="34" charset="-120"/>
              </a:rPr>
              <a:t>Decisions settle by who owns the platform, not by what serves the client or the strategy.</a:t>
            </a:r>
            <a:endParaRPr lang="en-US" sz="1500" dirty="0"/>
          </a:p>
        </p:txBody>
      </p:sp>
      <p:sp>
        <p:nvSpPr>
          <p:cNvPr id="10" name="Shape 8"/>
          <p:cNvSpPr/>
          <p:nvPr/>
        </p:nvSpPr>
        <p:spPr>
          <a:xfrm>
            <a:off x="7995692" y="2256185"/>
            <a:ext cx="3380333" cy="2038350"/>
          </a:xfrm>
          <a:prstGeom prst="roundRect">
            <a:avLst>
              <a:gd name="adj" fmla="val 4829"/>
            </a:avLst>
          </a:prstGeom>
          <a:solidFill>
            <a:srgbClr val="FFFDF8"/>
          </a:solidFill>
          <a:ln w="6350">
            <a:solidFill>
              <a:srgbClr val="DDD8CC"/>
            </a:solidFill>
            <a:prstDash val="solid"/>
          </a:ln>
        </p:spPr>
      </p:sp>
      <p:sp>
        <p:nvSpPr>
          <p:cNvPr id="11" name="Text 9"/>
          <p:cNvSpPr/>
          <p:nvPr/>
        </p:nvSpPr>
        <p:spPr>
          <a:xfrm>
            <a:off x="8278267" y="2538760"/>
            <a:ext cx="28996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230"/>
                </a:solidFill>
                <a:latin typeface="IBM Plex Sans" pitchFamily="34" charset="0"/>
                <a:ea typeface="IBM Plex Sans" pitchFamily="34" charset="-122"/>
                <a:cs typeface="IBM Plex Sans" pitchFamily="34" charset="-120"/>
              </a:rPr>
              <a:t>Debt goes unrecorded</a:t>
            </a:r>
            <a:endParaRPr lang="en-US" sz="2000" dirty="0"/>
          </a:p>
        </p:txBody>
      </p:sp>
      <p:sp>
        <p:nvSpPr>
          <p:cNvPr id="12" name="Text 10"/>
          <p:cNvSpPr/>
          <p:nvPr/>
        </p:nvSpPr>
        <p:spPr>
          <a:xfrm>
            <a:off x="8278267" y="2945160"/>
            <a:ext cx="289963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63"/>
                </a:solidFill>
                <a:latin typeface="IBM Plex Sans" pitchFamily="34" charset="0"/>
                <a:ea typeface="IBM Plex Sans" pitchFamily="34" charset="-122"/>
                <a:cs typeface="IBM Plex Sans" pitchFamily="34" charset="-120"/>
              </a:rPr>
              <a:t>Shortcuts ship with no owner or payoff date, so the refactoring bill arrives as a surprise.</a:t>
            </a:r>
            <a:endParaRPr lang="en-US" sz="1500" dirty="0"/>
          </a:p>
        </p:txBody>
      </p:sp>
      <p:sp>
        <p:nvSpPr>
          <p:cNvPr id="13" name="Text 11"/>
          <p:cNvSpPr/>
          <p:nvPr/>
        </p:nvSpPr>
        <p:spPr>
          <a:xfrm>
            <a:off x="812800" y="4920059"/>
            <a:ext cx="10566400" cy="1125141"/>
          </a:xfrm>
          <a:prstGeom prst="roundRect">
            <a:avLst>
              <a:gd name="adj" fmla="val 9030"/>
            </a:avLst>
          </a:prstGeom>
          <a:solidFill>
            <a:srgbClr val="18233A"/>
          </a:solidFill>
          <a:ln/>
        </p:spPr>
        <p:txBody>
          <a:bodyPr wrap="square" lIns="275042" tIns="224242" rIns="0" bIns="198842" rtlCol="0" anchor="t">
            <a:normAutofit/>
          </a:bodyPr>
          <a:lstStyle/>
          <a:p>
            <a:pPr algn="l" indent="0" marL="0">
              <a:lnSpc>
                <a:spcPts val="2430"/>
              </a:lnSpc>
              <a:buNone/>
            </a:pPr>
            <a:r>
              <a:rPr lang="en-US" sz="1800" b="1" dirty="0">
                <a:solidFill>
                  <a:srgbClr val="F6F4EE"/>
                </a:solidFill>
                <a:latin typeface="IBM Plex Sans" pitchFamily="34" charset="0"/>
                <a:ea typeface="IBM Plex Sans" pitchFamily="34" charset="-122"/>
                <a:cs typeface="IBM Plex Sans" pitchFamily="34" charset="-120"/>
              </a:rPr>
              <a:t>The fix:</a:t>
            </a:r>
            <a:r>
              <a:rPr lang="en-US" sz="1800" dirty="0">
                <a:solidFill>
                  <a:srgbClr val="F6F4EE"/>
                </a:solidFill>
                <a:latin typeface="IBM Plex Sans" pitchFamily="34" charset="0"/>
                <a:ea typeface="IBM Plex Sans" pitchFamily="34" charset="-122"/>
                <a:cs typeface="IBM Plex Sans" pitchFamily="34" charset="-120"/>
              </a:rPr>
              <a:t> agree on what is shared, free everything else, and score every design decision in the open.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BM Plex Sans" pitchFamily="34" charset="0"/>
                <a:ea typeface="IBM Plex Sans" pitchFamily="34" charset="-122"/>
                <a:cs typeface="IBM Plex Sans" pitchFamily="34" charset="-120"/>
              </a:rPr>
              <a:t>THE FOUNDATION</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230"/>
                </a:solidFill>
                <a:latin typeface="Source Serif 4" pitchFamily="18" charset="0"/>
                <a:ea typeface="Source Serif 4" pitchFamily="18" charset="-122"/>
                <a:cs typeface="Source Serif 4" pitchFamily="18" charset="-120"/>
              </a:rPr>
              <a:t>Every layer has one owner, and the keel is shared</a:t>
            </a:r>
            <a:endParaRPr lang="en-US" sz="3600" dirty="0"/>
          </a:p>
        </p:txBody>
      </p:sp>
      <p:sp>
        <p:nvSpPr>
          <p:cNvPr id="4" name="Shape 2"/>
          <p:cNvSpPr/>
          <p:nvPr/>
        </p:nvSpPr>
        <p:spPr>
          <a:xfrm>
            <a:off x="819150" y="2393851"/>
            <a:ext cx="10553700" cy="772120"/>
          </a:xfrm>
          <a:prstGeom prst="roundRect">
            <a:avLst>
              <a:gd name="adj" fmla="val 10691"/>
            </a:avLst>
          </a:prstGeom>
          <a:solidFill>
            <a:srgbClr val="F1E7CC"/>
          </a:solidFill>
          <a:ln w="12700">
            <a:solidFill>
              <a:srgbClr val="B8901F"/>
            </a:solidFill>
            <a:prstDash val="solid"/>
          </a:ln>
        </p:spPr>
      </p:sp>
      <p:sp>
        <p:nvSpPr>
          <p:cNvPr id="5" name="Text 3"/>
          <p:cNvSpPr/>
          <p:nvPr/>
        </p:nvSpPr>
        <p:spPr>
          <a:xfrm>
            <a:off x="1028700" y="2619871"/>
            <a:ext cx="1447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B2230"/>
                </a:solidFill>
                <a:latin typeface="Source Serif 4" pitchFamily="18" charset="0"/>
                <a:ea typeface="Source Serif 4" pitchFamily="18" charset="-122"/>
                <a:cs typeface="Source Serif 4" pitchFamily="18" charset="-120"/>
              </a:rPr>
              <a:t>North Star</a:t>
            </a:r>
            <a:endParaRPr lang="en-US" sz="1800" dirty="0"/>
          </a:p>
        </p:txBody>
      </p:sp>
      <p:sp>
        <p:nvSpPr>
          <p:cNvPr id="6" name="Text 4"/>
          <p:cNvSpPr/>
          <p:nvPr/>
        </p:nvSpPr>
        <p:spPr>
          <a:xfrm>
            <a:off x="2628900" y="2539901"/>
            <a:ext cx="642277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3242"/>
                </a:solidFill>
                <a:latin typeface="IBM Plex Sans" pitchFamily="34" charset="0"/>
                <a:ea typeface="IBM Plex Sans" pitchFamily="34" charset="-122"/>
                <a:cs typeface="IBM Plex Sans" pitchFamily="34" charset="-120"/>
              </a:rPr>
              <a:t>Strategic goals: trusted BI and AI, faster decisions, one business language, living knowledge, meaning at scale</a:t>
            </a:r>
            <a:endParaRPr lang="en-US" sz="1400" dirty="0"/>
          </a:p>
        </p:txBody>
      </p:sp>
      <p:sp>
        <p:nvSpPr>
          <p:cNvPr id="7" name="Text 5"/>
          <p:cNvSpPr/>
          <p:nvPr/>
        </p:nvSpPr>
        <p:spPr>
          <a:xfrm>
            <a:off x="9067800" y="2664321"/>
            <a:ext cx="215836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E5410"/>
                </a:solidFill>
                <a:latin typeface="IBM Plex Sans" pitchFamily="34" charset="0"/>
                <a:ea typeface="IBM Plex Sans" pitchFamily="34" charset="-122"/>
                <a:cs typeface="IBM Plex Sans" pitchFamily="34" charset="-120"/>
              </a:rPr>
              <a:t>Set by leadership</a:t>
            </a:r>
            <a:endParaRPr lang="en-US" sz="1300" dirty="0"/>
          </a:p>
        </p:txBody>
      </p:sp>
      <p:sp>
        <p:nvSpPr>
          <p:cNvPr id="8" name="Shape 6"/>
          <p:cNvSpPr/>
          <p:nvPr/>
        </p:nvSpPr>
        <p:spPr>
          <a:xfrm>
            <a:off x="815975" y="3251696"/>
            <a:ext cx="10560050" cy="605780"/>
          </a:xfrm>
          <a:prstGeom prst="roundRect">
            <a:avLst>
              <a:gd name="adj" fmla="val 14151"/>
            </a:avLst>
          </a:prstGeom>
          <a:solidFill>
            <a:srgbClr val="FFFDF8"/>
          </a:solidFill>
          <a:ln w="6350">
            <a:solidFill>
              <a:srgbClr val="DDD8CC"/>
            </a:solidFill>
            <a:prstDash val="solid"/>
          </a:ln>
        </p:spPr>
      </p:sp>
      <p:sp>
        <p:nvSpPr>
          <p:cNvPr id="9" name="Text 7"/>
          <p:cNvSpPr/>
          <p:nvPr/>
        </p:nvSpPr>
        <p:spPr>
          <a:xfrm>
            <a:off x="1022350" y="3394571"/>
            <a:ext cx="1447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B2230"/>
                </a:solidFill>
                <a:latin typeface="Source Serif 4" pitchFamily="18" charset="0"/>
                <a:ea typeface="Source Serif 4" pitchFamily="18" charset="-122"/>
                <a:cs typeface="Source Serif 4" pitchFamily="18" charset="-120"/>
              </a:rPr>
              <a:t>Bridge</a:t>
            </a:r>
            <a:endParaRPr lang="en-US" sz="1800" dirty="0"/>
          </a:p>
        </p:txBody>
      </p:sp>
      <p:sp>
        <p:nvSpPr>
          <p:cNvPr id="10" name="Text 8"/>
          <p:cNvSpPr/>
          <p:nvPr/>
        </p:nvSpPr>
        <p:spPr>
          <a:xfrm>
            <a:off x="2622550" y="3434556"/>
            <a:ext cx="64358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363"/>
                </a:solidFill>
                <a:latin typeface="IBM Plex Sans" pitchFamily="34" charset="0"/>
                <a:ea typeface="IBM Plex Sans" pitchFamily="34" charset="-122"/>
                <a:cs typeface="IBM Plex Sans" pitchFamily="34" charset="-120"/>
              </a:rPr>
              <a:t>Experiences: HR 360, portals, dashboards, agents</a:t>
            </a:r>
            <a:endParaRPr lang="en-US" sz="1400" dirty="0"/>
          </a:p>
        </p:txBody>
      </p:sp>
      <p:sp>
        <p:nvSpPr>
          <p:cNvPr id="11" name="Text 9"/>
          <p:cNvSpPr/>
          <p:nvPr/>
        </p:nvSpPr>
        <p:spPr>
          <a:xfrm>
            <a:off x="9074150" y="3439021"/>
            <a:ext cx="215836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DB5"/>
                </a:solidFill>
                <a:latin typeface="IBM Plex Sans" pitchFamily="34" charset="0"/>
                <a:ea typeface="IBM Plex Sans" pitchFamily="34" charset="-122"/>
                <a:cs typeface="IBM Plex Sans" pitchFamily="34" charset="-120"/>
              </a:rPr>
              <a:t>Each team decides</a:t>
            </a:r>
            <a:endParaRPr lang="en-US" sz="1300" dirty="0"/>
          </a:p>
        </p:txBody>
      </p:sp>
      <p:sp>
        <p:nvSpPr>
          <p:cNvPr id="12" name="Shape 10"/>
          <p:cNvSpPr/>
          <p:nvPr/>
        </p:nvSpPr>
        <p:spPr>
          <a:xfrm>
            <a:off x="815975" y="3940026"/>
            <a:ext cx="10560050" cy="605780"/>
          </a:xfrm>
          <a:prstGeom prst="roundRect">
            <a:avLst>
              <a:gd name="adj" fmla="val 14151"/>
            </a:avLst>
          </a:prstGeom>
          <a:solidFill>
            <a:srgbClr val="FFFDF8"/>
          </a:solidFill>
          <a:ln w="6350">
            <a:solidFill>
              <a:srgbClr val="DDD8CC"/>
            </a:solidFill>
            <a:prstDash val="solid"/>
          </a:ln>
        </p:spPr>
      </p:sp>
      <p:sp>
        <p:nvSpPr>
          <p:cNvPr id="13" name="Text 11"/>
          <p:cNvSpPr/>
          <p:nvPr/>
        </p:nvSpPr>
        <p:spPr>
          <a:xfrm>
            <a:off x="1022350" y="4082901"/>
            <a:ext cx="1447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B2230"/>
                </a:solidFill>
                <a:latin typeface="Source Serif 4" pitchFamily="18" charset="0"/>
                <a:ea typeface="Source Serif 4" pitchFamily="18" charset="-122"/>
                <a:cs typeface="Source Serif 4" pitchFamily="18" charset="-120"/>
              </a:rPr>
              <a:t>Hull</a:t>
            </a:r>
            <a:endParaRPr lang="en-US" sz="1800" dirty="0"/>
          </a:p>
        </p:txBody>
      </p:sp>
      <p:sp>
        <p:nvSpPr>
          <p:cNvPr id="14" name="Text 12"/>
          <p:cNvSpPr/>
          <p:nvPr/>
        </p:nvSpPr>
        <p:spPr>
          <a:xfrm>
            <a:off x="2622550" y="4122886"/>
            <a:ext cx="64358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363"/>
                </a:solidFill>
                <a:latin typeface="IBM Plex Sans" pitchFamily="34" charset="0"/>
                <a:ea typeface="IBM Plex Sans" pitchFamily="34" charset="-122"/>
                <a:cs typeface="IBM Plex Sans" pitchFamily="34" charset="-120"/>
              </a:rPr>
              <a:t>Contracts: APIs, events, the search gateway, mappings</a:t>
            </a:r>
            <a:endParaRPr lang="en-US" sz="1400" dirty="0"/>
          </a:p>
        </p:txBody>
      </p:sp>
      <p:sp>
        <p:nvSpPr>
          <p:cNvPr id="15" name="Text 13"/>
          <p:cNvSpPr/>
          <p:nvPr/>
        </p:nvSpPr>
        <p:spPr>
          <a:xfrm>
            <a:off x="9074150" y="4127351"/>
            <a:ext cx="215836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230"/>
                </a:solidFill>
                <a:latin typeface="IBM Plex Sans" pitchFamily="34" charset="0"/>
                <a:ea typeface="IBM Plex Sans" pitchFamily="34" charset="-122"/>
                <a:cs typeface="IBM Plex Sans" pitchFamily="34" charset="-120"/>
              </a:rPr>
              <a:t>Shared and versioned</a:t>
            </a:r>
            <a:endParaRPr lang="en-US" sz="1300" dirty="0"/>
          </a:p>
        </p:txBody>
      </p:sp>
      <p:sp>
        <p:nvSpPr>
          <p:cNvPr id="16" name="Shape 14"/>
          <p:cNvSpPr/>
          <p:nvPr/>
        </p:nvSpPr>
        <p:spPr>
          <a:xfrm>
            <a:off x="812800" y="4625181"/>
            <a:ext cx="10566400" cy="599430"/>
          </a:xfrm>
          <a:prstGeom prst="roundRect">
            <a:avLst>
              <a:gd name="adj" fmla="val 14831"/>
            </a:avLst>
          </a:prstGeom>
          <a:solidFill>
            <a:srgbClr val="18233A"/>
          </a:solidFill>
          <a:ln/>
        </p:spPr>
      </p:sp>
      <p:sp>
        <p:nvSpPr>
          <p:cNvPr id="17" name="Text 15"/>
          <p:cNvSpPr/>
          <p:nvPr/>
        </p:nvSpPr>
        <p:spPr>
          <a:xfrm>
            <a:off x="1016000" y="4764881"/>
            <a:ext cx="1447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4EE"/>
                </a:solidFill>
                <a:latin typeface="Source Serif 4" pitchFamily="18" charset="0"/>
                <a:ea typeface="Source Serif 4" pitchFamily="18" charset="-122"/>
                <a:cs typeface="Source Serif 4" pitchFamily="18" charset="-120"/>
              </a:rPr>
              <a:t>Keel</a:t>
            </a:r>
            <a:endParaRPr lang="en-US" sz="1800" dirty="0"/>
          </a:p>
        </p:txBody>
      </p:sp>
      <p:sp>
        <p:nvSpPr>
          <p:cNvPr id="18" name="Text 16"/>
          <p:cNvSpPr/>
          <p:nvPr/>
        </p:nvSpPr>
        <p:spPr>
          <a:xfrm>
            <a:off x="2616200" y="4804866"/>
            <a:ext cx="644893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2DE"/>
                </a:solidFill>
                <a:latin typeface="IBM Plex Sans" pitchFamily="34" charset="0"/>
                <a:ea typeface="IBM Plex Sans" pitchFamily="34" charset="-122"/>
                <a:cs typeface="IBM Plex Sans" pitchFamily="34" charset="-120"/>
              </a:rPr>
              <a:t>Meaning: vocabularies, ontologies, rules and calculations, metric definitions</a:t>
            </a:r>
            <a:endParaRPr lang="en-US" sz="1400" dirty="0"/>
          </a:p>
        </p:txBody>
      </p:sp>
      <p:sp>
        <p:nvSpPr>
          <p:cNvPr id="19" name="Text 17"/>
          <p:cNvSpPr/>
          <p:nvPr/>
        </p:nvSpPr>
        <p:spPr>
          <a:xfrm>
            <a:off x="9080500" y="4809331"/>
            <a:ext cx="215836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2B84A"/>
                </a:solidFill>
                <a:latin typeface="IBM Plex Sans" pitchFamily="34" charset="0"/>
                <a:ea typeface="IBM Plex Sans" pitchFamily="34" charset="-122"/>
                <a:cs typeface="IBM Plex Sans" pitchFamily="34" charset="-120"/>
              </a:rPr>
              <a:t>Shared, owned once</a:t>
            </a:r>
            <a:endParaRPr lang="en-US" sz="1300" dirty="0"/>
          </a:p>
        </p:txBody>
      </p:sp>
      <p:sp>
        <p:nvSpPr>
          <p:cNvPr id="20" name="Shape 18"/>
          <p:cNvSpPr/>
          <p:nvPr/>
        </p:nvSpPr>
        <p:spPr>
          <a:xfrm>
            <a:off x="815975" y="5303986"/>
            <a:ext cx="10560050" cy="605780"/>
          </a:xfrm>
          <a:prstGeom prst="roundRect">
            <a:avLst>
              <a:gd name="adj" fmla="val 14151"/>
            </a:avLst>
          </a:prstGeom>
          <a:solidFill>
            <a:srgbClr val="FFFDF8"/>
          </a:solidFill>
          <a:ln w="6350">
            <a:solidFill>
              <a:srgbClr val="DDD8CC"/>
            </a:solidFill>
            <a:prstDash val="solid"/>
          </a:ln>
        </p:spPr>
      </p:sp>
      <p:sp>
        <p:nvSpPr>
          <p:cNvPr id="21" name="Text 19"/>
          <p:cNvSpPr/>
          <p:nvPr/>
        </p:nvSpPr>
        <p:spPr>
          <a:xfrm>
            <a:off x="1022350" y="5446861"/>
            <a:ext cx="1447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B2230"/>
                </a:solidFill>
                <a:latin typeface="Source Serif 4" pitchFamily="18" charset="0"/>
                <a:ea typeface="Source Serif 4" pitchFamily="18" charset="-122"/>
                <a:cs typeface="Source Serif 4" pitchFamily="18" charset="-120"/>
              </a:rPr>
              <a:t>Ballast</a:t>
            </a:r>
            <a:endParaRPr lang="en-US" sz="1800" dirty="0"/>
          </a:p>
        </p:txBody>
      </p:sp>
      <p:sp>
        <p:nvSpPr>
          <p:cNvPr id="22" name="Text 20"/>
          <p:cNvSpPr/>
          <p:nvPr/>
        </p:nvSpPr>
        <p:spPr>
          <a:xfrm>
            <a:off x="2622550" y="5486846"/>
            <a:ext cx="64358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363"/>
                </a:solidFill>
                <a:latin typeface="IBM Plex Sans" pitchFamily="34" charset="0"/>
                <a:ea typeface="IBM Plex Sans" pitchFamily="34" charset="-122"/>
                <a:cs typeface="IBM Plex Sans" pitchFamily="34" charset="-120"/>
              </a:rPr>
              <a:t>Governance: privacy safeguards, change control, measures</a:t>
            </a:r>
            <a:endParaRPr lang="en-US" sz="1400" dirty="0"/>
          </a:p>
        </p:txBody>
      </p:sp>
      <p:sp>
        <p:nvSpPr>
          <p:cNvPr id="23" name="Text 21"/>
          <p:cNvSpPr/>
          <p:nvPr/>
        </p:nvSpPr>
        <p:spPr>
          <a:xfrm>
            <a:off x="9074150" y="5491311"/>
            <a:ext cx="215836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230"/>
                </a:solidFill>
                <a:latin typeface="IBM Plex Sans" pitchFamily="34" charset="0"/>
                <a:ea typeface="IBM Plex Sans" pitchFamily="34" charset="-122"/>
                <a:cs typeface="IBM Plex Sans" pitchFamily="34" charset="-120"/>
              </a:rPr>
              <a:t>Shared, not negotiable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BM Plex Sans" pitchFamily="34" charset="0"/>
                <a:ea typeface="IBM Plex Sans" pitchFamily="34" charset="-122"/>
                <a:cs typeface="IBM Plex Sans" pitchFamily="34" charset="-120"/>
              </a:rPr>
              <a:t>CUSTOMER-FIRST VALUES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230"/>
                </a:solidFill>
                <a:latin typeface="Source Serif 4" pitchFamily="18" charset="0"/>
                <a:ea typeface="Source Serif 4" pitchFamily="18" charset="-122"/>
                <a:cs typeface="Source Serif 4" pitchFamily="18" charset="-120"/>
              </a:rPr>
              <a:t>Our values become architecture commitments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3233886"/>
        </p:xfrm>
        <a:graphic>
          <a:graphicData uri="http://schemas.openxmlformats.org/drawingml/2006/table">
            <a:tbl>
              <a:tblPr/>
              <a:tblGrid>
                <a:gridCol w="2110740"/>
                <a:gridCol w="3799332"/>
                <a:gridCol w="4643628"/>
              </a:tblGrid>
              <a:tr h="359321">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Value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17203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72031"/>
                      </a:solidFill>
                      <a:prstDash val="solid"/>
                      <a:round/>
                      <a:headEnd type="none" w="med" len="med"/>
                      <a:tailEnd type="none" w="med" len="med"/>
                    </a:lnB>
                    <a:solidFill>
                      <a:srgbClr val="18233A"/>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What the client experiences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72031"/>
                      </a:solidFill>
                      <a:prstDash val="solid"/>
                      <a:round/>
                      <a:headEnd type="none" w="med" len="med"/>
                      <a:tailEnd type="none" w="med" len="med"/>
                    </a:lnL>
                    <a:lnR w="12700" cap="flat" cmpd="sng" algn="ctr">
                      <a:solidFill>
                        <a:srgbClr val="17203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72031"/>
                      </a:solidFill>
                      <a:prstDash val="solid"/>
                      <a:round/>
                      <a:headEnd type="none" w="med" len="med"/>
                      <a:tailEnd type="none" w="med" len="med"/>
                    </a:lnB>
                    <a:solidFill>
                      <a:srgbClr val="18233A"/>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What every design must 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72031"/>
                      </a:solidFill>
                      <a:prstDash val="solid"/>
                      <a:round/>
                      <a:headEnd type="none" w="med" len="med"/>
                      <a:tailEnd type="none" w="med" len="med"/>
                    </a:lnL>
                    <a:lnR w="12700" cap="flat" cmpd="sng" algn="ctr">
                      <a:solidFill>
                        <a:srgbClr val="17203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72031"/>
                      </a:solidFill>
                      <a:prstDash val="solid"/>
                      <a:round/>
                      <a:headEnd type="none" w="med" len="med"/>
                      <a:tailEnd type="none" w="med" len="med"/>
                    </a:lnB>
                    <a:solidFill>
                      <a:srgbClr val="18233A"/>
                    </a:solidFill>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Commitment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72031"/>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We start from their outcome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72031"/>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Name the service line and client outcome served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72031"/>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Respect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Their people’s data is protected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Build in the privacy safeguards, never bolt 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Integrity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Answers are honest and sourced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Ground every answer or refuse; never guess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Accountability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Someone owns every promise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Name an owner for each shared asset and debt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Achieving Goals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Results they can see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Report against North Star outcomes, not output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Innovation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Better service, sooner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Experiment freely at the edges, not in the keel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Embracing Change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Changes reach them in a 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Version and release, deprecate rather than delete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Perseverance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Problems stay fixed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Fix root causes; give debt a payoff 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Values from the HR Services &amp; PEO Business Model v2.0, Organizational Values, Culture &amp; Ethics domain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BM Plex Sans" pitchFamily="34" charset="0"/>
                <a:ea typeface="IBM Plex Sans" pitchFamily="34" charset="-122"/>
                <a:cs typeface="IBM Plex Sans" pitchFamily="34" charset="-120"/>
              </a:rPr>
              <a:t>ARCHITECTURE PRINCIPLES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230"/>
                </a:solidFill>
                <a:latin typeface="Source Serif 4" pitchFamily="18" charset="0"/>
                <a:ea typeface="Source Serif 4" pitchFamily="18" charset="-122"/>
                <a:cs typeface="Source Serif 4" pitchFamily="18" charset="-120"/>
              </a:rPr>
              <a:t>Eight principles every team designs to</a:t>
            </a:r>
            <a:endParaRPr lang="en-US" sz="3200" dirty="0"/>
          </a:p>
        </p:txBody>
      </p:sp>
      <p:sp>
        <p:nvSpPr>
          <p:cNvPr id="4" name="Shape 2"/>
          <p:cNvSpPr/>
          <p:nvPr/>
        </p:nvSpPr>
        <p:spPr>
          <a:xfrm>
            <a:off x="815975" y="1755725"/>
            <a:ext cx="2520950" cy="1850231"/>
          </a:xfrm>
          <a:prstGeom prst="roundRect">
            <a:avLst>
              <a:gd name="adj" fmla="val 4633"/>
            </a:avLst>
          </a:prstGeom>
          <a:solidFill>
            <a:srgbClr val="FFFDF8"/>
          </a:solidFill>
          <a:ln w="6350">
            <a:solidFill>
              <a:srgbClr val="DDD8CC"/>
            </a:solidFill>
            <a:prstDash val="solid"/>
          </a:ln>
        </p:spPr>
      </p:sp>
      <p:sp>
        <p:nvSpPr>
          <p:cNvPr id="5" name="Text 3"/>
          <p:cNvSpPr/>
          <p:nvPr/>
        </p:nvSpPr>
        <p:spPr>
          <a:xfrm>
            <a:off x="996950" y="19367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DB5"/>
                </a:solidFill>
                <a:latin typeface="IBM Plex Sans" pitchFamily="34" charset="0"/>
                <a:ea typeface="IBM Plex Sans" pitchFamily="34" charset="-122"/>
                <a:cs typeface="IBM Plex Sans" pitchFamily="34" charset="-120"/>
              </a:rPr>
              <a:t>P1</a:t>
            </a:r>
            <a:endParaRPr lang="en-US" sz="1200" dirty="0"/>
          </a:p>
        </p:txBody>
      </p:sp>
      <p:sp>
        <p:nvSpPr>
          <p:cNvPr id="6" name="Text 4"/>
          <p:cNvSpPr/>
          <p:nvPr/>
        </p:nvSpPr>
        <p:spPr>
          <a:xfrm>
            <a:off x="996950" y="222622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Client outcome first</a:t>
            </a:r>
            <a:endParaRPr lang="en-US" sz="1500" dirty="0"/>
          </a:p>
        </p:txBody>
      </p:sp>
      <p:sp>
        <p:nvSpPr>
          <p:cNvPr id="7" name="Text 5"/>
          <p:cNvSpPr/>
          <p:nvPr/>
        </p:nvSpPr>
        <p:spPr>
          <a:xfrm>
            <a:off x="996950" y="253102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Every design names the service line and client outcome it serves.</a:t>
            </a:r>
            <a:endParaRPr lang="en-US" sz="1200" dirty="0"/>
          </a:p>
        </p:txBody>
      </p:sp>
      <p:sp>
        <p:nvSpPr>
          <p:cNvPr id="8" name="Shape 6"/>
          <p:cNvSpPr/>
          <p:nvPr/>
        </p:nvSpPr>
        <p:spPr>
          <a:xfrm>
            <a:off x="3502025" y="1762075"/>
            <a:ext cx="2508250" cy="1837531"/>
          </a:xfrm>
          <a:prstGeom prst="roundRect">
            <a:avLst>
              <a:gd name="adj" fmla="val 4320"/>
            </a:avLst>
          </a:prstGeom>
          <a:solidFill>
            <a:srgbClr val="FFFDF8"/>
          </a:solidFill>
          <a:ln w="19050">
            <a:solidFill>
              <a:srgbClr val="B8901F"/>
            </a:solidFill>
            <a:prstDash val="solid"/>
          </a:ln>
        </p:spPr>
      </p:sp>
      <p:sp>
        <p:nvSpPr>
          <p:cNvPr id="9" name="Text 7"/>
          <p:cNvSpPr/>
          <p:nvPr/>
        </p:nvSpPr>
        <p:spPr>
          <a:xfrm>
            <a:off x="3689350" y="1949400"/>
            <a:ext cx="21976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410"/>
                </a:solidFill>
                <a:latin typeface="IBM Plex Sans" pitchFamily="34" charset="0"/>
                <a:ea typeface="IBM Plex Sans" pitchFamily="34" charset="-122"/>
                <a:cs typeface="IBM Plex Sans" pitchFamily="34" charset="-120"/>
              </a:rPr>
              <a:t>P2 · Gate</a:t>
            </a:r>
            <a:endParaRPr lang="en-US" sz="1200" dirty="0"/>
          </a:p>
        </p:txBody>
      </p:sp>
      <p:sp>
        <p:nvSpPr>
          <p:cNvPr id="10" name="Text 8"/>
          <p:cNvSpPr/>
          <p:nvPr/>
        </p:nvSpPr>
        <p:spPr>
          <a:xfrm>
            <a:off x="3689350" y="2238921"/>
            <a:ext cx="219760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Meaning lives in the keel</a:t>
            </a:r>
            <a:endParaRPr lang="en-US" sz="1500" dirty="0"/>
          </a:p>
        </p:txBody>
      </p:sp>
      <p:sp>
        <p:nvSpPr>
          <p:cNvPr id="11" name="Text 9"/>
          <p:cNvSpPr/>
          <p:nvPr/>
        </p:nvSpPr>
        <p:spPr>
          <a:xfrm>
            <a:off x="3689350" y="2772321"/>
            <a:ext cx="21976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Define business terms once; reference them, never copy them.</a:t>
            </a:r>
            <a:endParaRPr lang="en-US" sz="1200" dirty="0"/>
          </a:p>
        </p:txBody>
      </p:sp>
      <p:sp>
        <p:nvSpPr>
          <p:cNvPr id="12" name="Shape 10"/>
          <p:cNvSpPr/>
          <p:nvPr/>
        </p:nvSpPr>
        <p:spPr>
          <a:xfrm>
            <a:off x="6175375" y="1755725"/>
            <a:ext cx="2520950" cy="1850231"/>
          </a:xfrm>
          <a:prstGeom prst="roundRect">
            <a:avLst>
              <a:gd name="adj" fmla="val 4633"/>
            </a:avLst>
          </a:prstGeom>
          <a:solidFill>
            <a:srgbClr val="FFFDF8"/>
          </a:solidFill>
          <a:ln w="6350">
            <a:solidFill>
              <a:srgbClr val="DDD8CC"/>
            </a:solidFill>
            <a:prstDash val="solid"/>
          </a:ln>
        </p:spPr>
      </p:sp>
      <p:sp>
        <p:nvSpPr>
          <p:cNvPr id="13" name="Text 11"/>
          <p:cNvSpPr/>
          <p:nvPr/>
        </p:nvSpPr>
        <p:spPr>
          <a:xfrm>
            <a:off x="6356350" y="19367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DB5"/>
                </a:solidFill>
                <a:latin typeface="IBM Plex Sans" pitchFamily="34" charset="0"/>
                <a:ea typeface="IBM Plex Sans" pitchFamily="34" charset="-122"/>
                <a:cs typeface="IBM Plex Sans" pitchFamily="34" charset="-120"/>
              </a:rPr>
              <a:t>P3</a:t>
            </a:r>
            <a:endParaRPr lang="en-US" sz="1200" dirty="0"/>
          </a:p>
        </p:txBody>
      </p:sp>
      <p:sp>
        <p:nvSpPr>
          <p:cNvPr id="14" name="Text 12"/>
          <p:cNvSpPr/>
          <p:nvPr/>
        </p:nvSpPr>
        <p:spPr>
          <a:xfrm>
            <a:off x="6356350" y="222622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Contracts, not tools</a:t>
            </a:r>
            <a:endParaRPr lang="en-US" sz="1500" dirty="0"/>
          </a:p>
        </p:txBody>
      </p:sp>
      <p:sp>
        <p:nvSpPr>
          <p:cNvPr id="15" name="Text 13"/>
          <p:cNvSpPr/>
          <p:nvPr/>
        </p:nvSpPr>
        <p:spPr>
          <a:xfrm>
            <a:off x="6356350" y="253102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Teams pick tools. Everyone meets the shared APIs and events.</a:t>
            </a:r>
            <a:endParaRPr lang="en-US" sz="1200" dirty="0"/>
          </a:p>
        </p:txBody>
      </p:sp>
      <p:sp>
        <p:nvSpPr>
          <p:cNvPr id="16" name="Shape 14"/>
          <p:cNvSpPr/>
          <p:nvPr/>
        </p:nvSpPr>
        <p:spPr>
          <a:xfrm>
            <a:off x="8855075" y="1755725"/>
            <a:ext cx="2520950" cy="1850231"/>
          </a:xfrm>
          <a:prstGeom prst="roundRect">
            <a:avLst>
              <a:gd name="adj" fmla="val 4633"/>
            </a:avLst>
          </a:prstGeom>
          <a:solidFill>
            <a:srgbClr val="FFFDF8"/>
          </a:solidFill>
          <a:ln w="6350">
            <a:solidFill>
              <a:srgbClr val="DDD8CC"/>
            </a:solidFill>
            <a:prstDash val="solid"/>
          </a:ln>
        </p:spPr>
      </p:sp>
      <p:sp>
        <p:nvSpPr>
          <p:cNvPr id="17" name="Text 15"/>
          <p:cNvSpPr/>
          <p:nvPr/>
        </p:nvSpPr>
        <p:spPr>
          <a:xfrm>
            <a:off x="9036050" y="19367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DB5"/>
                </a:solidFill>
                <a:latin typeface="IBM Plex Sans" pitchFamily="34" charset="0"/>
                <a:ea typeface="IBM Plex Sans" pitchFamily="34" charset="-122"/>
                <a:cs typeface="IBM Plex Sans" pitchFamily="34" charset="-120"/>
              </a:rPr>
              <a:t>P4</a:t>
            </a:r>
            <a:endParaRPr lang="en-US" sz="1200" dirty="0"/>
          </a:p>
        </p:txBody>
      </p:sp>
      <p:sp>
        <p:nvSpPr>
          <p:cNvPr id="18" name="Text 16"/>
          <p:cNvSpPr/>
          <p:nvPr/>
        </p:nvSpPr>
        <p:spPr>
          <a:xfrm>
            <a:off x="9036050" y="222622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Rules in one place</a:t>
            </a:r>
            <a:endParaRPr lang="en-US" sz="1500" dirty="0"/>
          </a:p>
        </p:txBody>
      </p:sp>
      <p:sp>
        <p:nvSpPr>
          <p:cNvPr id="19" name="Text 17"/>
          <p:cNvSpPr/>
          <p:nvPr/>
        </p:nvSpPr>
        <p:spPr>
          <a:xfrm>
            <a:off x="9036050" y="253102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Policy and calculations live in the SSOT, not in app code.</a:t>
            </a:r>
            <a:endParaRPr lang="en-US" sz="1200" dirty="0"/>
          </a:p>
        </p:txBody>
      </p:sp>
      <p:sp>
        <p:nvSpPr>
          <p:cNvPr id="20" name="Shape 18"/>
          <p:cNvSpPr/>
          <p:nvPr/>
        </p:nvSpPr>
        <p:spPr>
          <a:xfrm>
            <a:off x="822325" y="3771057"/>
            <a:ext cx="2508250" cy="1624211"/>
          </a:xfrm>
          <a:prstGeom prst="roundRect">
            <a:avLst>
              <a:gd name="adj" fmla="val 4887"/>
            </a:avLst>
          </a:prstGeom>
          <a:solidFill>
            <a:srgbClr val="FFFDF8"/>
          </a:solidFill>
          <a:ln w="19050">
            <a:solidFill>
              <a:srgbClr val="B8901F"/>
            </a:solidFill>
            <a:prstDash val="solid"/>
          </a:ln>
        </p:spPr>
      </p:sp>
      <p:sp>
        <p:nvSpPr>
          <p:cNvPr id="21" name="Text 19"/>
          <p:cNvSpPr/>
          <p:nvPr/>
        </p:nvSpPr>
        <p:spPr>
          <a:xfrm>
            <a:off x="1009650" y="3958382"/>
            <a:ext cx="21976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410"/>
                </a:solidFill>
                <a:latin typeface="IBM Plex Sans" pitchFamily="34" charset="0"/>
                <a:ea typeface="IBM Plex Sans" pitchFamily="34" charset="-122"/>
                <a:cs typeface="IBM Plex Sans" pitchFamily="34" charset="-120"/>
              </a:rPr>
              <a:t>P5 · Gate</a:t>
            </a:r>
            <a:endParaRPr lang="en-US" sz="1200" dirty="0"/>
          </a:p>
        </p:txBody>
      </p:sp>
      <p:sp>
        <p:nvSpPr>
          <p:cNvPr id="22" name="Text 20"/>
          <p:cNvSpPr/>
          <p:nvPr/>
        </p:nvSpPr>
        <p:spPr>
          <a:xfrm>
            <a:off x="1009650" y="4247902"/>
            <a:ext cx="219760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Privacy and trust by design</a:t>
            </a:r>
            <a:endParaRPr lang="en-US" sz="1500" dirty="0"/>
          </a:p>
        </p:txBody>
      </p:sp>
      <p:sp>
        <p:nvSpPr>
          <p:cNvPr id="23" name="Text 21"/>
          <p:cNvSpPr/>
          <p:nvPr/>
        </p:nvSpPr>
        <p:spPr>
          <a:xfrm>
            <a:off x="1009650" y="4781302"/>
            <a:ext cx="21976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Business-model safeguards are constraints, not features.</a:t>
            </a:r>
            <a:endParaRPr lang="en-US" sz="1200" dirty="0"/>
          </a:p>
        </p:txBody>
      </p:sp>
      <p:sp>
        <p:nvSpPr>
          <p:cNvPr id="24" name="Shape 22"/>
          <p:cNvSpPr/>
          <p:nvPr/>
        </p:nvSpPr>
        <p:spPr>
          <a:xfrm>
            <a:off x="3495675" y="3764707"/>
            <a:ext cx="2520950" cy="1636911"/>
          </a:xfrm>
          <a:prstGeom prst="roundRect">
            <a:avLst>
              <a:gd name="adj" fmla="val 5237"/>
            </a:avLst>
          </a:prstGeom>
          <a:solidFill>
            <a:srgbClr val="FFFDF8"/>
          </a:solidFill>
          <a:ln w="6350">
            <a:solidFill>
              <a:srgbClr val="DDD8CC"/>
            </a:solidFill>
            <a:prstDash val="solid"/>
          </a:ln>
        </p:spPr>
      </p:sp>
      <p:sp>
        <p:nvSpPr>
          <p:cNvPr id="25" name="Text 23"/>
          <p:cNvSpPr/>
          <p:nvPr/>
        </p:nvSpPr>
        <p:spPr>
          <a:xfrm>
            <a:off x="3676650" y="394568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DB5"/>
                </a:solidFill>
                <a:latin typeface="IBM Plex Sans" pitchFamily="34" charset="0"/>
                <a:ea typeface="IBM Plex Sans" pitchFamily="34" charset="-122"/>
                <a:cs typeface="IBM Plex Sans" pitchFamily="34" charset="-120"/>
              </a:rPr>
              <a:t>P6</a:t>
            </a:r>
            <a:endParaRPr lang="en-US" sz="1200" dirty="0"/>
          </a:p>
        </p:txBody>
      </p:sp>
      <p:sp>
        <p:nvSpPr>
          <p:cNvPr id="26" name="Text 24"/>
          <p:cNvSpPr/>
          <p:nvPr/>
        </p:nvSpPr>
        <p:spPr>
          <a:xfrm>
            <a:off x="3676650" y="4235202"/>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Traceable by default</a:t>
            </a:r>
            <a:endParaRPr lang="en-US" sz="1500" dirty="0"/>
          </a:p>
        </p:txBody>
      </p:sp>
      <p:sp>
        <p:nvSpPr>
          <p:cNvPr id="27" name="Text 25"/>
          <p:cNvSpPr/>
          <p:nvPr/>
        </p:nvSpPr>
        <p:spPr>
          <a:xfrm>
            <a:off x="3676650" y="4540002"/>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Every answer, metric and decision traces to its source.</a:t>
            </a:r>
            <a:endParaRPr lang="en-US" sz="1200" dirty="0"/>
          </a:p>
        </p:txBody>
      </p:sp>
      <p:sp>
        <p:nvSpPr>
          <p:cNvPr id="28" name="Shape 26"/>
          <p:cNvSpPr/>
          <p:nvPr/>
        </p:nvSpPr>
        <p:spPr>
          <a:xfrm>
            <a:off x="6175375" y="3764707"/>
            <a:ext cx="2520950" cy="1636911"/>
          </a:xfrm>
          <a:prstGeom prst="roundRect">
            <a:avLst>
              <a:gd name="adj" fmla="val 5237"/>
            </a:avLst>
          </a:prstGeom>
          <a:solidFill>
            <a:srgbClr val="FFFDF8"/>
          </a:solidFill>
          <a:ln w="6350">
            <a:solidFill>
              <a:srgbClr val="DDD8CC"/>
            </a:solidFill>
            <a:prstDash val="solid"/>
          </a:ln>
        </p:spPr>
      </p:sp>
      <p:sp>
        <p:nvSpPr>
          <p:cNvPr id="29" name="Text 27"/>
          <p:cNvSpPr/>
          <p:nvPr/>
        </p:nvSpPr>
        <p:spPr>
          <a:xfrm>
            <a:off x="6356350" y="394568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DB5"/>
                </a:solidFill>
                <a:latin typeface="IBM Plex Sans" pitchFamily="34" charset="0"/>
                <a:ea typeface="IBM Plex Sans" pitchFamily="34" charset="-122"/>
                <a:cs typeface="IBM Plex Sans" pitchFamily="34" charset="-120"/>
              </a:rPr>
              <a:t>P7</a:t>
            </a:r>
            <a:endParaRPr lang="en-US" sz="1200" dirty="0"/>
          </a:p>
        </p:txBody>
      </p:sp>
      <p:sp>
        <p:nvSpPr>
          <p:cNvPr id="30" name="Text 28"/>
          <p:cNvSpPr/>
          <p:nvPr/>
        </p:nvSpPr>
        <p:spPr>
          <a:xfrm>
            <a:off x="6356350" y="4235202"/>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Reuse before build</a:t>
            </a:r>
            <a:endParaRPr lang="en-US" sz="1500" dirty="0"/>
          </a:p>
        </p:txBody>
      </p:sp>
      <p:sp>
        <p:nvSpPr>
          <p:cNvPr id="31" name="Text 29"/>
          <p:cNvSpPr/>
          <p:nvPr/>
        </p:nvSpPr>
        <p:spPr>
          <a:xfrm>
            <a:off x="6356350" y="4540002"/>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Extend a shared service or bounded context before adding one.</a:t>
            </a:r>
            <a:endParaRPr lang="en-US" sz="1200" dirty="0"/>
          </a:p>
        </p:txBody>
      </p:sp>
      <p:sp>
        <p:nvSpPr>
          <p:cNvPr id="32" name="Shape 30"/>
          <p:cNvSpPr/>
          <p:nvPr/>
        </p:nvSpPr>
        <p:spPr>
          <a:xfrm>
            <a:off x="8855075" y="3764707"/>
            <a:ext cx="2520950" cy="1636911"/>
          </a:xfrm>
          <a:prstGeom prst="roundRect">
            <a:avLst>
              <a:gd name="adj" fmla="val 5237"/>
            </a:avLst>
          </a:prstGeom>
          <a:solidFill>
            <a:srgbClr val="FFFDF8"/>
          </a:solidFill>
          <a:ln w="6350">
            <a:solidFill>
              <a:srgbClr val="DDD8CC"/>
            </a:solidFill>
            <a:prstDash val="solid"/>
          </a:ln>
        </p:spPr>
      </p:sp>
      <p:sp>
        <p:nvSpPr>
          <p:cNvPr id="33" name="Text 31"/>
          <p:cNvSpPr/>
          <p:nvPr/>
        </p:nvSpPr>
        <p:spPr>
          <a:xfrm>
            <a:off x="9036050" y="394568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DB5"/>
                </a:solidFill>
                <a:latin typeface="IBM Plex Sans" pitchFamily="34" charset="0"/>
                <a:ea typeface="IBM Plex Sans" pitchFamily="34" charset="-122"/>
                <a:cs typeface="IBM Plex Sans" pitchFamily="34" charset="-120"/>
              </a:rPr>
              <a:t>P8</a:t>
            </a:r>
            <a:endParaRPr lang="en-US" sz="1200" dirty="0"/>
          </a:p>
        </p:txBody>
      </p:sp>
      <p:sp>
        <p:nvSpPr>
          <p:cNvPr id="34" name="Text 32"/>
          <p:cNvSpPr/>
          <p:nvPr/>
        </p:nvSpPr>
        <p:spPr>
          <a:xfrm>
            <a:off x="9036050" y="4235202"/>
            <a:ext cx="222377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Change through the pipeline</a:t>
            </a:r>
            <a:endParaRPr lang="en-US" sz="1500" dirty="0"/>
          </a:p>
        </p:txBody>
      </p:sp>
      <p:sp>
        <p:nvSpPr>
          <p:cNvPr id="35" name="Text 33"/>
          <p:cNvSpPr/>
          <p:nvPr/>
        </p:nvSpPr>
        <p:spPr>
          <a:xfrm>
            <a:off x="9036050" y="4768602"/>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Versioned, reviewed, released; deprecate rather than delete.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BM Plex Sans" pitchFamily="34" charset="0"/>
                <a:ea typeface="IBM Plex Sans" pitchFamily="34" charset="-122"/>
                <a:cs typeface="IBM Plex Sans" pitchFamily="34" charset="-120"/>
              </a:rPr>
              <a:t>DECISION RIGHTS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230"/>
                </a:solidFill>
                <a:latin typeface="Source Serif 4" pitchFamily="18" charset="0"/>
                <a:ea typeface="Source Serif 4" pitchFamily="18" charset="-122"/>
                <a:cs typeface="Source Serif 4" pitchFamily="18" charset="-120"/>
              </a:rPr>
              <a:t>Share the meaning, free the tools</a:t>
            </a:r>
            <a:endParaRPr lang="en-US" sz="3600" dirty="0"/>
          </a:p>
        </p:txBody>
      </p:sp>
      <p:sp>
        <p:nvSpPr>
          <p:cNvPr id="4" name="Shape 2"/>
          <p:cNvSpPr/>
          <p:nvPr/>
        </p:nvSpPr>
        <p:spPr>
          <a:xfrm>
            <a:off x="812800" y="2212330"/>
            <a:ext cx="5175250" cy="2717800"/>
          </a:xfrm>
          <a:prstGeom prst="roundRect">
            <a:avLst>
              <a:gd name="adj" fmla="val 3738"/>
            </a:avLst>
          </a:prstGeom>
          <a:solidFill>
            <a:srgbClr val="18233A"/>
          </a:solidFill>
          <a:ln/>
        </p:spPr>
      </p:sp>
      <p:sp>
        <p:nvSpPr>
          <p:cNvPr id="5" name="Text 3"/>
          <p:cNvSpPr/>
          <p:nvPr/>
        </p:nvSpPr>
        <p:spPr>
          <a:xfrm>
            <a:off x="1092200" y="2491730"/>
            <a:ext cx="47549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2B84A"/>
                </a:solidFill>
                <a:latin typeface="IBM Plex Sans" pitchFamily="34" charset="0"/>
                <a:ea typeface="IBM Plex Sans" pitchFamily="34" charset="-122"/>
                <a:cs typeface="IBM Plex Sans" pitchFamily="34" charset="-120"/>
              </a:rPr>
              <a:t>Decided once, shared by all</a:t>
            </a:r>
            <a:endParaRPr lang="en-US" sz="2000" dirty="0"/>
          </a:p>
        </p:txBody>
      </p:sp>
      <p:sp>
        <p:nvSpPr>
          <p:cNvPr id="6" name="Text 4"/>
          <p:cNvSpPr/>
          <p:nvPr/>
        </p:nvSpPr>
        <p:spPr>
          <a:xfrm>
            <a:off x="1163320" y="2923530"/>
            <a:ext cx="4676203" cy="1739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E6EBF1"/>
                </a:solidFill>
                <a:latin typeface="IBM Plex Sans" pitchFamily="34" charset="0"/>
                <a:ea typeface="IBM Plex Sans" pitchFamily="34" charset="-122"/>
                <a:cs typeface="IBM Plex Sans" pitchFamily="34" charset="-120"/>
              </a:rPr>
              <a:t>Business vocabulary and definitions</a:t>
            </a:r>
            <a:endParaRPr lang="en-US" sz="1500" dirty="0"/>
          </a:p>
          <a:p>
            <a:pPr algn="l" marL="182880" indent="-182880">
              <a:lnSpc>
                <a:spcPts val="2250"/>
              </a:lnSpc>
              <a:buSzPct val="100000"/>
              <a:buChar char="•"/>
            </a:pPr>
            <a:r>
              <a:rPr lang="en-US" sz="1500" dirty="0">
                <a:solidFill>
                  <a:srgbClr val="E6EBF1"/>
                </a:solidFill>
                <a:latin typeface="IBM Plex Sans" pitchFamily="34" charset="0"/>
                <a:ea typeface="IBM Plex Sans" pitchFamily="34" charset="-122"/>
                <a:cs typeface="IBM Plex Sans" pitchFamily="34" charset="-120"/>
              </a:rPr>
              <a:t>Ontologies and the meaning of data</a:t>
            </a:r>
            <a:endParaRPr lang="en-US" sz="1500" dirty="0"/>
          </a:p>
          <a:p>
            <a:pPr algn="l" marL="182880" indent="-182880">
              <a:lnSpc>
                <a:spcPts val="2250"/>
              </a:lnSpc>
              <a:buSzPct val="100000"/>
              <a:buChar char="•"/>
            </a:pPr>
            <a:r>
              <a:rPr lang="en-US" sz="1500" dirty="0">
                <a:solidFill>
                  <a:srgbClr val="E6EBF1"/>
                </a:solidFill>
                <a:latin typeface="IBM Plex Sans" pitchFamily="34" charset="0"/>
                <a:ea typeface="IBM Plex Sans" pitchFamily="34" charset="-122"/>
                <a:cs typeface="IBM Plex Sans" pitchFamily="34" charset="-120"/>
              </a:rPr>
              <a:t>Rules, calculations, metric definitions</a:t>
            </a:r>
            <a:endParaRPr lang="en-US" sz="1500" dirty="0"/>
          </a:p>
          <a:p>
            <a:pPr algn="l" marL="182880" indent="-182880">
              <a:lnSpc>
                <a:spcPts val="2250"/>
              </a:lnSpc>
              <a:buSzPct val="100000"/>
              <a:buChar char="•"/>
            </a:pPr>
            <a:r>
              <a:rPr lang="en-US" sz="1500" dirty="0">
                <a:solidFill>
                  <a:srgbClr val="E6EBF1"/>
                </a:solidFill>
                <a:latin typeface="IBM Plex Sans" pitchFamily="34" charset="0"/>
                <a:ea typeface="IBM Plex Sans" pitchFamily="34" charset="-122"/>
                <a:cs typeface="IBM Plex Sans" pitchFamily="34" charset="-120"/>
              </a:rPr>
              <a:t>Identity, entitlements, privacy safeguards</a:t>
            </a:r>
            <a:endParaRPr lang="en-US" sz="1500" dirty="0"/>
          </a:p>
          <a:p>
            <a:pPr algn="l" marL="182880" indent="-182880">
              <a:lnSpc>
                <a:spcPts val="2250"/>
              </a:lnSpc>
              <a:buSzPct val="100000"/>
              <a:buChar char="•"/>
            </a:pPr>
            <a:r>
              <a:rPr lang="en-US" sz="1500" dirty="0">
                <a:solidFill>
                  <a:srgbClr val="E6EBF1"/>
                </a:solidFill>
                <a:latin typeface="IBM Plex Sans" pitchFamily="34" charset="0"/>
                <a:ea typeface="IBM Plex Sans" pitchFamily="34" charset="-122"/>
                <a:cs typeface="IBM Plex Sans" pitchFamily="34" charset="-120"/>
              </a:rPr>
              <a:t>API, event and search contracts</a:t>
            </a:r>
            <a:endParaRPr lang="en-US" sz="1500" dirty="0"/>
          </a:p>
          <a:p>
            <a:pPr algn="l" marL="182880" indent="-182880">
              <a:lnSpc>
                <a:spcPts val="2250"/>
              </a:lnSpc>
              <a:buSzPct val="100000"/>
              <a:buChar char="•"/>
            </a:pPr>
            <a:r>
              <a:rPr lang="en-US" sz="1500" dirty="0">
                <a:solidFill>
                  <a:srgbClr val="E6EBF1"/>
                </a:solidFill>
                <a:latin typeface="IBM Plex Sans" pitchFamily="34" charset="0"/>
                <a:ea typeface="IBM Plex Sans" pitchFamily="34" charset="-122"/>
                <a:cs typeface="IBM Plex Sans" pitchFamily="34" charset="-120"/>
              </a:rPr>
              <a:t>Release pipeline and change records</a:t>
            </a:r>
            <a:endParaRPr lang="en-US" sz="1500" dirty="0"/>
          </a:p>
        </p:txBody>
      </p:sp>
      <p:sp>
        <p:nvSpPr>
          <p:cNvPr id="7" name="Shape 5"/>
          <p:cNvSpPr/>
          <p:nvPr/>
        </p:nvSpPr>
        <p:spPr>
          <a:xfrm>
            <a:off x="6194425" y="2215505"/>
            <a:ext cx="5181600" cy="2711450"/>
          </a:xfrm>
          <a:prstGeom prst="roundRect">
            <a:avLst>
              <a:gd name="adj" fmla="val 3630"/>
            </a:avLst>
          </a:prstGeom>
          <a:solidFill>
            <a:srgbClr val="F3F0E8"/>
          </a:solidFill>
          <a:ln w="6350">
            <a:solidFill>
              <a:srgbClr val="DDD8CC"/>
            </a:solidFill>
            <a:prstDash val="solid"/>
          </a:ln>
        </p:spPr>
      </p:sp>
      <p:sp>
        <p:nvSpPr>
          <p:cNvPr id="8" name="Text 6"/>
          <p:cNvSpPr/>
          <p:nvPr/>
        </p:nvSpPr>
        <p:spPr>
          <a:xfrm>
            <a:off x="6477000" y="2498080"/>
            <a:ext cx="47549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6DB5"/>
                </a:solidFill>
                <a:latin typeface="IBM Plex Sans" pitchFamily="34" charset="0"/>
                <a:ea typeface="IBM Plex Sans" pitchFamily="34" charset="-122"/>
                <a:cs typeface="IBM Plex Sans" pitchFamily="34" charset="-120"/>
              </a:rPr>
              <a:t>Each team decides</a:t>
            </a:r>
            <a:endParaRPr lang="en-US" sz="2000" dirty="0"/>
          </a:p>
        </p:txBody>
      </p:sp>
      <p:sp>
        <p:nvSpPr>
          <p:cNvPr id="9" name="Text 7"/>
          <p:cNvSpPr/>
          <p:nvPr/>
        </p:nvSpPr>
        <p:spPr>
          <a:xfrm>
            <a:off x="6548120" y="2929880"/>
            <a:ext cx="4676203" cy="1739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2A3242"/>
                </a:solidFill>
                <a:latin typeface="IBM Plex Sans" pitchFamily="34" charset="0"/>
                <a:ea typeface="IBM Plex Sans" pitchFamily="34" charset="-122"/>
                <a:cs typeface="IBM Plex Sans" pitchFamily="34" charset="-120"/>
              </a:rPr>
              <a:t>Languages and frameworks</a:t>
            </a:r>
            <a:endParaRPr lang="en-US" sz="1500" dirty="0"/>
          </a:p>
          <a:p>
            <a:pPr algn="l" marL="182880" indent="-182880">
              <a:lnSpc>
                <a:spcPts val="2250"/>
              </a:lnSpc>
              <a:buSzPct val="100000"/>
              <a:buChar char="•"/>
            </a:pPr>
            <a:r>
              <a:rPr lang="en-US" sz="1500" dirty="0">
                <a:solidFill>
                  <a:srgbClr val="2A3242"/>
                </a:solidFill>
                <a:latin typeface="IBM Plex Sans" pitchFamily="34" charset="0"/>
                <a:ea typeface="IBM Plex Sans" pitchFamily="34" charset="-122"/>
                <a:cs typeface="IBM Plex Sans" pitchFamily="34" charset="-120"/>
              </a:rPr>
              <a:t>User interface and experience</a:t>
            </a:r>
            <a:endParaRPr lang="en-US" sz="1500" dirty="0"/>
          </a:p>
          <a:p>
            <a:pPr algn="l" marL="182880" indent="-182880">
              <a:lnSpc>
                <a:spcPts val="2250"/>
              </a:lnSpc>
              <a:buSzPct val="100000"/>
              <a:buChar char="•"/>
            </a:pPr>
            <a:r>
              <a:rPr lang="en-US" sz="1500" dirty="0">
                <a:solidFill>
                  <a:srgbClr val="2A3242"/>
                </a:solidFill>
                <a:latin typeface="IBM Plex Sans" pitchFamily="34" charset="0"/>
                <a:ea typeface="IBM Plex Sans" pitchFamily="34" charset="-122"/>
                <a:cs typeface="IBM Plex Sans" pitchFamily="34" charset="-120"/>
              </a:rPr>
              <a:t>Internal storage behind a contract</a:t>
            </a:r>
            <a:endParaRPr lang="en-US" sz="1500" dirty="0"/>
          </a:p>
          <a:p>
            <a:pPr algn="l" marL="182880" indent="-182880">
              <a:lnSpc>
                <a:spcPts val="2250"/>
              </a:lnSpc>
              <a:buSzPct val="100000"/>
              <a:buChar char="•"/>
            </a:pPr>
            <a:r>
              <a:rPr lang="en-US" sz="1500" dirty="0">
                <a:solidFill>
                  <a:srgbClr val="2A3242"/>
                </a:solidFill>
                <a:latin typeface="IBM Plex Sans" pitchFamily="34" charset="0"/>
                <a:ea typeface="IBM Plex Sans" pitchFamily="34" charset="-122"/>
                <a:cs typeface="IBM Plex Sans" pitchFamily="34" charset="-120"/>
              </a:rPr>
              <a:t>Agent and orchestration frameworks</a:t>
            </a:r>
            <a:endParaRPr lang="en-US" sz="1500" dirty="0"/>
          </a:p>
          <a:p>
            <a:pPr algn="l" marL="182880" indent="-182880">
              <a:lnSpc>
                <a:spcPts val="2250"/>
              </a:lnSpc>
              <a:buSzPct val="100000"/>
              <a:buChar char="•"/>
            </a:pPr>
            <a:r>
              <a:rPr lang="en-US" sz="1500" dirty="0">
                <a:solidFill>
                  <a:srgbClr val="2A3242"/>
                </a:solidFill>
                <a:latin typeface="IBM Plex Sans" pitchFamily="34" charset="0"/>
                <a:ea typeface="IBM Plex Sans" pitchFamily="34" charset="-122"/>
                <a:cs typeface="IBM Plex Sans" pitchFamily="34" charset="-120"/>
              </a:rPr>
              <a:t>Cloud services within security guardrails</a:t>
            </a:r>
            <a:endParaRPr lang="en-US" sz="1500" dirty="0"/>
          </a:p>
          <a:p>
            <a:pPr algn="l" marL="182880" indent="-182880">
              <a:lnSpc>
                <a:spcPts val="2250"/>
              </a:lnSpc>
              <a:buSzPct val="100000"/>
              <a:buChar char="•"/>
            </a:pPr>
            <a:r>
              <a:rPr lang="en-US" sz="1500" dirty="0">
                <a:solidFill>
                  <a:srgbClr val="2A3242"/>
                </a:solidFill>
                <a:latin typeface="IBM Plex Sans" pitchFamily="34" charset="0"/>
                <a:ea typeface="IBM Plex Sans" pitchFamily="34" charset="-122"/>
                <a:cs typeface="IBM Plex Sans" pitchFamily="34" charset="-120"/>
              </a:rPr>
              <a:t>Delivery cadence and team practices</a:t>
            </a:r>
            <a:endParaRPr lang="en-US" sz="1500" dirty="0"/>
          </a:p>
        </p:txBody>
      </p:sp>
      <p:sp>
        <p:nvSpPr>
          <p:cNvPr id="10" name="Text 8"/>
          <p:cNvSpPr/>
          <p:nvPr/>
        </p:nvSpPr>
        <p:spPr>
          <a:xfrm>
            <a:off x="812800" y="55118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3242"/>
                </a:solidFill>
                <a:latin typeface="IBM Plex Sans" pitchFamily="34" charset="0"/>
                <a:ea typeface="IBM Plex Sans" pitchFamily="34" charset="-122"/>
                <a:cs typeface="IBM Plex Sans" pitchFamily="34" charset="-120"/>
              </a:rPr>
              <a:t>When teams disagree:</a:t>
            </a:r>
            <a:r>
              <a:rPr lang="en-US" sz="1500" dirty="0">
                <a:solidFill>
                  <a:srgbClr val="2A3242"/>
                </a:solidFill>
                <a:latin typeface="IBM Plex Sans" pitchFamily="34" charset="0"/>
                <a:ea typeface="IBM Plex Sans" pitchFamily="34" charset="-122"/>
                <a:cs typeface="IBM Plex Sans" pitchFamily="34" charset="-120"/>
              </a:rPr>
              <a:t> score both options; the higher score wins. A tie goes to the architecture forum for a decision within [5] business days.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BM Plex Sans" pitchFamily="34" charset="0"/>
                <a:ea typeface="IBM Plex Sans" pitchFamily="34" charset="-122"/>
                <a:cs typeface="IBM Plex Sans" pitchFamily="34" charset="-120"/>
              </a:rPr>
              <a:t>DESIGN DECISION SCORECARD</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230"/>
                </a:solidFill>
                <a:latin typeface="Source Serif 4" pitchFamily="18" charset="0"/>
                <a:ea typeface="Source Serif 4" pitchFamily="18" charset="-122"/>
                <a:cs typeface="Source Serif 4" pitchFamily="18" charset="-120"/>
              </a:rPr>
              <a:t>Eight questions, scored 0, 1 or 2</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3114675"/>
        </p:xfrm>
        <a:graphic>
          <a:graphicData uri="http://schemas.openxmlformats.org/drawingml/2006/table">
            <a:tbl>
              <a:tblPr/>
              <a:tblGrid>
                <a:gridCol w="2321814"/>
                <a:gridCol w="4643628"/>
                <a:gridCol w="3588258"/>
              </a:tblGrid>
              <a:tr h="346075">
                <a:tc>
                  <a:txBody>
                    <a:bodyPr/>
                    <a:lstStyle/>
                    <a:p>
                      <a:pPr indent="0" marL="0">
                        <a:lnSpc>
                          <a:spcPts val="1750"/>
                        </a:lnSpc>
                        <a:buNone/>
                      </a:pPr>
                      <a:r>
                        <a:rPr lang="en-US" sz="1250" b="1" dirty="0">
                          <a:solidFill>
                            <a:srgbClr val="F6F4EE"/>
                          </a:solidFill>
                          <a:latin typeface="IBM Plex Sans" pitchFamily="34" charset="0"/>
                          <a:ea typeface="IBM Plex Sans" pitchFamily="34" charset="-122"/>
                          <a:cs typeface="IBM Plex Sans" pitchFamily="34" charset="-120"/>
                        </a:rPr>
                        <a:t>Principle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17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72031"/>
                      </a:solidFill>
                      <a:prstDash val="solid"/>
                      <a:round/>
                      <a:headEnd type="none" w="med" len="med"/>
                      <a:tailEnd type="none" w="med" len="med"/>
                    </a:lnB>
                    <a:solidFill>
                      <a:srgbClr val="18233A"/>
                    </a:solidFill>
                  </a:tcPr>
                </a:tc>
                <a:tc>
                  <a:txBody>
                    <a:bodyPr/>
                    <a:lstStyle/>
                    <a:p>
                      <a:pPr indent="0" marL="0">
                        <a:lnSpc>
                          <a:spcPts val="1750"/>
                        </a:lnSpc>
                        <a:buNone/>
                      </a:pPr>
                      <a:r>
                        <a:rPr lang="en-US" sz="1250" b="1" dirty="0">
                          <a:solidFill>
                            <a:srgbClr val="F6F4EE"/>
                          </a:solidFill>
                          <a:latin typeface="IBM Plex Sans" pitchFamily="34" charset="0"/>
                          <a:ea typeface="IBM Plex Sans" pitchFamily="34" charset="-122"/>
                          <a:cs typeface="IBM Plex Sans" pitchFamily="34" charset="-120"/>
                        </a:rPr>
                        <a:t>Question to ask</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72031"/>
                      </a:solidFill>
                      <a:prstDash val="solid"/>
                      <a:round/>
                      <a:headEnd type="none" w="med" len="med"/>
                      <a:tailEnd type="none" w="med" len="med"/>
                    </a:lnL>
                    <a:lnR w="12700" cap="flat" cmpd="sng" algn="ctr">
                      <a:solidFill>
                        <a:srgbClr val="17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72031"/>
                      </a:solidFill>
                      <a:prstDash val="solid"/>
                      <a:round/>
                      <a:headEnd type="none" w="med" len="med"/>
                      <a:tailEnd type="none" w="med" len="med"/>
                    </a:lnB>
                    <a:solidFill>
                      <a:srgbClr val="18233A"/>
                    </a:solidFill>
                  </a:tcPr>
                </a:tc>
                <a:tc>
                  <a:txBody>
                    <a:bodyPr/>
                    <a:lstStyle/>
                    <a:p>
                      <a:pPr indent="0" marL="0">
                        <a:lnSpc>
                          <a:spcPts val="1750"/>
                        </a:lnSpc>
                        <a:buNone/>
                      </a:pPr>
                      <a:r>
                        <a:rPr lang="en-US" sz="1250" b="1" dirty="0">
                          <a:solidFill>
                            <a:srgbClr val="F6F4EE"/>
                          </a:solidFill>
                          <a:latin typeface="IBM Plex Sans" pitchFamily="34" charset="0"/>
                          <a:ea typeface="IBM Plex Sans" pitchFamily="34" charset="-122"/>
                          <a:cs typeface="IBM Plex Sans" pitchFamily="34" charset="-120"/>
                        </a:rPr>
                        <a:t>A 2 means…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72031"/>
                      </a:solidFill>
                      <a:prstDash val="solid"/>
                      <a:round/>
                      <a:headEnd type="none" w="med" len="med"/>
                      <a:tailEnd type="none" w="med" len="med"/>
                    </a:lnL>
                    <a:lnR w="12700" cap="flat" cmpd="sng" algn="ctr">
                      <a:solidFill>
                        <a:srgbClr val="17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72031"/>
                      </a:solidFill>
                      <a:prstDash val="solid"/>
                      <a:round/>
                      <a:headEnd type="none" w="med" len="med"/>
                      <a:tailEnd type="none" w="med" len="med"/>
                    </a:lnB>
                    <a:solidFill>
                      <a:srgbClr val="18233A"/>
                    </a:solidFill>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P1 Client outcome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720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Does it trace to a client outcome?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720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Outcome named and measured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720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P2 Meaning · gate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Does it use keel terms, not local copies?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All terms referenced by IRI</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P3 Contracts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Does it meet shared APIs, events, search?</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No private integrations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P4 Rules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Are rules and calculations kept out of code?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Calls the Decision API</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P5 Privacy · gate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Does it honor every privacy safeguard?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Safeguards enforced, not trusted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P6 Traceable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Can each output be traced to its source?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Lineage recorded automatically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P7 Reuse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Does it extend what exists before adding?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Reuses, or is built for reuse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46075">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P8 Pipeline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Does it change through versioned releases?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50"/>
                        </a:lnSpc>
                        <a:buNone/>
                      </a:pPr>
                      <a:r>
                        <a:rPr lang="en-US" sz="1250" dirty="0">
                          <a:solidFill>
                            <a:srgbClr val="2A3242"/>
                          </a:solidFill>
                          <a:latin typeface="IBM Plex Sans" pitchFamily="34" charset="0"/>
                          <a:ea typeface="IBM Plex Sans" pitchFamily="34" charset="-122"/>
                          <a:cs typeface="IBM Plex Sans" pitchFamily="34" charset="-120"/>
                        </a:rPr>
                        <a:t>Versioned, reviewed, reversible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0 = works against the principle · 1 = partial or neutral · 2 = advances it · not applicable scores 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BM Plex Sans" pitchFamily="34" charset="0"/>
                <a:ea typeface="IBM Plex Sans" pitchFamily="34" charset="-122"/>
                <a:cs typeface="IBM Plex Sans" pitchFamily="34" charset="-120"/>
              </a:rPr>
              <a:t>READING THE SCORE</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230"/>
                </a:solidFill>
                <a:latin typeface="Source Serif 4" pitchFamily="18" charset="0"/>
                <a:ea typeface="Source Serif 4" pitchFamily="18" charset="-122"/>
                <a:cs typeface="Source Serif 4" pitchFamily="18" charset="-120"/>
              </a:rPr>
              <a:t>Build, book the debt, or redesign</a:t>
            </a:r>
            <a:endParaRPr lang="en-US" sz="3200" dirty="0"/>
          </a:p>
        </p:txBody>
      </p:sp>
      <p:sp>
        <p:nvSpPr>
          <p:cNvPr id="4" name="Shape 2"/>
          <p:cNvSpPr/>
          <p:nvPr/>
        </p:nvSpPr>
        <p:spPr>
          <a:xfrm>
            <a:off x="819150" y="1758900"/>
            <a:ext cx="3416300" cy="1153120"/>
          </a:xfrm>
          <a:prstGeom prst="roundRect">
            <a:avLst>
              <a:gd name="adj" fmla="val 7159"/>
            </a:avLst>
          </a:prstGeom>
          <a:solidFill>
            <a:srgbClr val="E4EEF8"/>
          </a:solidFill>
          <a:ln w="12700">
            <a:solidFill>
              <a:srgbClr val="2F6DB5"/>
            </a:solidFill>
            <a:prstDash val="solid"/>
          </a:ln>
        </p:spPr>
      </p:sp>
      <p:sp>
        <p:nvSpPr>
          <p:cNvPr id="5" name="Text 3"/>
          <p:cNvSpPr/>
          <p:nvPr/>
        </p:nvSpPr>
        <p:spPr>
          <a:xfrm>
            <a:off x="1028700" y="1943050"/>
            <a:ext cx="308711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230"/>
                </a:solidFill>
                <a:latin typeface="IBM Plex Sans" pitchFamily="34" charset="0"/>
                <a:ea typeface="IBM Plex Sans" pitchFamily="34" charset="-122"/>
                <a:cs typeface="IBM Plex Sans" pitchFamily="34" charset="-120"/>
              </a:rPr>
              <a:t>14–16 · Aligned</a:t>
            </a:r>
            <a:endParaRPr lang="en-US" sz="1700" dirty="0"/>
          </a:p>
        </p:txBody>
      </p:sp>
      <p:sp>
        <p:nvSpPr>
          <p:cNvPr id="6" name="Text 4"/>
          <p:cNvSpPr/>
          <p:nvPr/>
        </p:nvSpPr>
        <p:spPr>
          <a:xfrm>
            <a:off x="1028700" y="2265611"/>
            <a:ext cx="308711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Proceed. The design supports the principles and the North Star.</a:t>
            </a:r>
            <a:endParaRPr lang="en-US" sz="1300" dirty="0"/>
          </a:p>
        </p:txBody>
      </p:sp>
      <p:sp>
        <p:nvSpPr>
          <p:cNvPr id="7" name="Shape 5"/>
          <p:cNvSpPr/>
          <p:nvPr/>
        </p:nvSpPr>
        <p:spPr>
          <a:xfrm>
            <a:off x="4400550" y="1758900"/>
            <a:ext cx="3416300" cy="1153120"/>
          </a:xfrm>
          <a:prstGeom prst="roundRect">
            <a:avLst>
              <a:gd name="adj" fmla="val 7159"/>
            </a:avLst>
          </a:prstGeom>
          <a:solidFill>
            <a:srgbClr val="F1E7CC"/>
          </a:solidFill>
          <a:ln w="12700">
            <a:solidFill>
              <a:srgbClr val="B8901F"/>
            </a:solidFill>
            <a:prstDash val="solid"/>
          </a:ln>
        </p:spPr>
      </p:sp>
      <p:sp>
        <p:nvSpPr>
          <p:cNvPr id="8" name="Text 6"/>
          <p:cNvSpPr/>
          <p:nvPr/>
        </p:nvSpPr>
        <p:spPr>
          <a:xfrm>
            <a:off x="4610100" y="1943050"/>
            <a:ext cx="308711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230"/>
                </a:solidFill>
                <a:latin typeface="IBM Plex Sans" pitchFamily="34" charset="0"/>
                <a:ea typeface="IBM Plex Sans" pitchFamily="34" charset="-122"/>
                <a:cs typeface="IBM Plex Sans" pitchFamily="34" charset="-120"/>
              </a:rPr>
              <a:t>9–13 · Accepted debt</a:t>
            </a:r>
            <a:endParaRPr lang="en-US" sz="1700" dirty="0"/>
          </a:p>
        </p:txBody>
      </p:sp>
      <p:sp>
        <p:nvSpPr>
          <p:cNvPr id="9" name="Text 7"/>
          <p:cNvSpPr/>
          <p:nvPr/>
        </p:nvSpPr>
        <p:spPr>
          <a:xfrm>
            <a:off x="4610100" y="2265611"/>
            <a:ext cx="308711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3242"/>
                </a:solidFill>
                <a:latin typeface="IBM Plex Sans" pitchFamily="34" charset="0"/>
                <a:ea typeface="IBM Plex Sans" pitchFamily="34" charset="-122"/>
                <a:cs typeface="IBM Plex Sans" pitchFamily="34" charset="-120"/>
              </a:rPr>
              <a:t>Proceed with a debt record: owner, refactor trigger, payoff release.</a:t>
            </a:r>
            <a:endParaRPr lang="en-US" sz="1300" dirty="0"/>
          </a:p>
        </p:txBody>
      </p:sp>
      <p:sp>
        <p:nvSpPr>
          <p:cNvPr id="10" name="Shape 8"/>
          <p:cNvSpPr/>
          <p:nvPr/>
        </p:nvSpPr>
        <p:spPr>
          <a:xfrm>
            <a:off x="7975600" y="1752550"/>
            <a:ext cx="3403600" cy="1165820"/>
          </a:xfrm>
          <a:prstGeom prst="roundRect">
            <a:avLst>
              <a:gd name="adj" fmla="val 7626"/>
            </a:avLst>
          </a:prstGeom>
          <a:solidFill>
            <a:srgbClr val="18233A"/>
          </a:solidFill>
          <a:ln/>
        </p:spPr>
      </p:sp>
      <p:sp>
        <p:nvSpPr>
          <p:cNvPr id="11" name="Text 9"/>
          <p:cNvSpPr/>
          <p:nvPr/>
        </p:nvSpPr>
        <p:spPr>
          <a:xfrm>
            <a:off x="8178800" y="1930350"/>
            <a:ext cx="308711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4EE"/>
                </a:solidFill>
                <a:latin typeface="IBM Plex Sans" pitchFamily="34" charset="0"/>
                <a:ea typeface="IBM Plex Sans" pitchFamily="34" charset="-122"/>
                <a:cs typeface="IBM Plex Sans" pitchFamily="34" charset="-120"/>
              </a:rPr>
              <a:t>0–8 or a gate at 0 · Redesign</a:t>
            </a:r>
            <a:endParaRPr lang="en-US" sz="1700" dirty="0"/>
          </a:p>
        </p:txBody>
      </p:sp>
      <p:sp>
        <p:nvSpPr>
          <p:cNvPr id="12" name="Text 10"/>
          <p:cNvSpPr/>
          <p:nvPr/>
        </p:nvSpPr>
        <p:spPr>
          <a:xfrm>
            <a:off x="8178800" y="2252911"/>
            <a:ext cx="308711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BM Plex Sans" pitchFamily="34" charset="0"/>
                <a:ea typeface="IBM Plex Sans" pitchFamily="34" charset="-122"/>
                <a:cs typeface="IBM Plex Sans" pitchFamily="34" charset="-120"/>
              </a:rPr>
              <a:t>Stop. Rework the design before any build starts.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134271"/>
          <a:ext cx="10553700" cy="1970683"/>
        </p:xfrm>
        <a:graphic>
          <a:graphicData uri="http://schemas.openxmlformats.org/drawingml/2006/table">
            <a:tbl>
              <a:tblPr/>
              <a:tblGrid>
                <a:gridCol w="3247292"/>
                <a:gridCol w="608867"/>
                <a:gridCol w="608867"/>
                <a:gridCol w="608867"/>
                <a:gridCol w="608867"/>
                <a:gridCol w="608867"/>
                <a:gridCol w="608867"/>
                <a:gridCol w="608867"/>
                <a:gridCol w="608867"/>
                <a:gridCol w="811823"/>
                <a:gridCol w="1623646"/>
              </a:tblGrid>
              <a:tr h="332680">
                <a:tc>
                  <a:txBody>
                    <a:bodyPr/>
                    <a:lstStyle/>
                    <a:p>
                      <a:pP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Example 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P8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algn="ct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c>
                  <a:txBody>
                    <a:bodyPr/>
                    <a:lstStyle/>
                    <a:p>
                      <a:pPr indent="0" marL="0">
                        <a:lnSpc>
                          <a:spcPts val="1680"/>
                        </a:lnSpc>
                        <a:buNone/>
                      </a:pPr>
                      <a:r>
                        <a:rPr lang="en-US" sz="1200" b="1" dirty="0">
                          <a:solidFill>
                            <a:srgbClr val="2A3242"/>
                          </a:solidFill>
                          <a:latin typeface="IBM Plex Sans" pitchFamily="34" charset="0"/>
                          <a:ea typeface="IBM Plex Sans" pitchFamily="34" charset="-122"/>
                          <a:cs typeface="IBM Plex Sans" pitchFamily="34" charset="-120"/>
                        </a:rPr>
                        <a:t>Verdict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2C0B9"/>
                      </a:solidFill>
                      <a:prstDash val="solid"/>
                      <a:round/>
                      <a:headEnd type="none" w="med" len="med"/>
                      <a:tailEnd type="none" w="med" len="med"/>
                    </a:lnB>
                    <a:solidFill>
                      <a:srgbClr val="F3F0E8"/>
                    </a:solidFill>
                  </a:tcPr>
                </a:tc>
              </a:tr>
              <a:tr h="546001">
                <a:tc>
                  <a:txBody>
                    <a:bodyPr/>
                    <a:lstStyle/>
                    <a:p>
                      <a:pP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Team’s own vector store, behind the search gateway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Aligned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Eligibility rules coded in the app to hit a launch 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Accepted debt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Infer engagement from employee email sentiment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ct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2A3242"/>
                          </a:solidFill>
                          <a:latin typeface="IBM Plex Sans" pitchFamily="34" charset="0"/>
                          <a:ea typeface="IBM Plex Sans" pitchFamily="34" charset="-122"/>
                          <a:cs typeface="IBM Plex Sans" pitchFamily="34" charset="-120"/>
                        </a:rPr>
                        <a:t>Redesign: gate P5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8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B84A"/>
                </a:solidFill>
                <a:latin typeface="IBM Plex Sans" pitchFamily="34" charset="0"/>
                <a:ea typeface="IBM Plex Sans" pitchFamily="34" charset="-122"/>
                <a:cs typeface="IBM Plex Sans" pitchFamily="34" charset="-120"/>
              </a:rPr>
              <a:t>HOW WE USE IT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Source Serif 4" pitchFamily="18" charset="0"/>
                <a:ea typeface="Source Serif 4" pitchFamily="18" charset="-122"/>
                <a:cs typeface="Source Serif 4" pitchFamily="18" charset="-120"/>
              </a:rPr>
              <a:t>Score in the open, pay debt on purpose</a:t>
            </a:r>
            <a:endParaRPr lang="en-US" sz="3600" dirty="0"/>
          </a:p>
        </p:txBody>
      </p:sp>
      <p:sp>
        <p:nvSpPr>
          <p:cNvPr id="4" name="Shape 2"/>
          <p:cNvSpPr/>
          <p:nvPr/>
        </p:nvSpPr>
        <p:spPr>
          <a:xfrm>
            <a:off x="815975" y="2605435"/>
            <a:ext cx="2520950" cy="2162721"/>
          </a:xfrm>
          <a:prstGeom prst="roundRect">
            <a:avLst>
              <a:gd name="adj" fmla="val 3964"/>
            </a:avLst>
          </a:prstGeom>
          <a:solidFill>
            <a:srgbClr val="22304A"/>
          </a:solidFill>
          <a:ln w="6350">
            <a:solidFill>
              <a:srgbClr val="3A4A66"/>
            </a:solidFill>
            <a:prstDash val="solid"/>
          </a:ln>
        </p:spPr>
      </p:sp>
      <p:sp>
        <p:nvSpPr>
          <p:cNvPr id="5" name="Text 3"/>
          <p:cNvSpPr/>
          <p:nvPr/>
        </p:nvSpPr>
        <p:spPr>
          <a:xfrm>
            <a:off x="1022350" y="2811810"/>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2B84A"/>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1022350" y="329183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Score every ADR</a:t>
            </a:r>
            <a:endParaRPr lang="en-US" sz="1600" dirty="0"/>
          </a:p>
        </p:txBody>
      </p:sp>
      <p:sp>
        <p:nvSpPr>
          <p:cNvPr id="7" name="Text 5"/>
          <p:cNvSpPr/>
          <p:nvPr/>
        </p:nvSpPr>
        <p:spPr>
          <a:xfrm>
            <a:off x="1022350" y="362456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BM Plex Sans" pitchFamily="34" charset="0"/>
                <a:ea typeface="IBM Plex Sans" pitchFamily="34" charset="-122"/>
                <a:cs typeface="IBM Plex Sans" pitchFamily="34" charset="-120"/>
              </a:rPr>
              <a:t>The team scores its own decision record; a peer from another team checks it.</a:t>
            </a:r>
            <a:endParaRPr lang="en-US" sz="1300" dirty="0"/>
          </a:p>
        </p:txBody>
      </p:sp>
      <p:sp>
        <p:nvSpPr>
          <p:cNvPr id="8" name="Shape 6"/>
          <p:cNvSpPr/>
          <p:nvPr/>
        </p:nvSpPr>
        <p:spPr>
          <a:xfrm>
            <a:off x="3495675" y="2605435"/>
            <a:ext cx="2520950" cy="2162721"/>
          </a:xfrm>
          <a:prstGeom prst="roundRect">
            <a:avLst>
              <a:gd name="adj" fmla="val 3964"/>
            </a:avLst>
          </a:prstGeom>
          <a:solidFill>
            <a:srgbClr val="22304A"/>
          </a:solidFill>
          <a:ln w="6350">
            <a:solidFill>
              <a:srgbClr val="3A4A66"/>
            </a:solidFill>
            <a:prstDash val="solid"/>
          </a:ln>
        </p:spPr>
      </p:sp>
      <p:sp>
        <p:nvSpPr>
          <p:cNvPr id="9" name="Text 7"/>
          <p:cNvSpPr/>
          <p:nvPr/>
        </p:nvSpPr>
        <p:spPr>
          <a:xfrm>
            <a:off x="3702050" y="2811810"/>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2B84A"/>
                </a:solidFill>
                <a:latin typeface="IBM Plex Sans" pitchFamily="34" charset="0"/>
                <a:ea typeface="IBM Plex Sans" pitchFamily="34" charset="-122"/>
                <a:cs typeface="IBM Plex Sans" pitchFamily="34" charset="-120"/>
              </a:rPr>
              <a:t>2</a:t>
            </a:r>
            <a:endParaRPr lang="en-US" sz="2200" dirty="0"/>
          </a:p>
        </p:txBody>
      </p:sp>
      <p:sp>
        <p:nvSpPr>
          <p:cNvPr id="10" name="Text 8"/>
          <p:cNvSpPr/>
          <p:nvPr/>
        </p:nvSpPr>
        <p:spPr>
          <a:xfrm>
            <a:off x="3702050" y="329183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Register the debt</a:t>
            </a:r>
            <a:endParaRPr lang="en-US" sz="1600" dirty="0"/>
          </a:p>
        </p:txBody>
      </p:sp>
      <p:sp>
        <p:nvSpPr>
          <p:cNvPr id="11" name="Text 9"/>
          <p:cNvSpPr/>
          <p:nvPr/>
        </p:nvSpPr>
        <p:spPr>
          <a:xfrm>
            <a:off x="3702050" y="362456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BM Plex Sans" pitchFamily="34" charset="0"/>
                <a:ea typeface="IBM Plex Sans" pitchFamily="34" charset="-122"/>
                <a:cs typeface="IBM Plex Sans" pitchFamily="34" charset="-120"/>
              </a:rPr>
              <a:t>Every accepted debt gets an owner, a refactor trigger and a payoff release.</a:t>
            </a:r>
            <a:endParaRPr lang="en-US" sz="1300" dirty="0"/>
          </a:p>
        </p:txBody>
      </p:sp>
      <p:sp>
        <p:nvSpPr>
          <p:cNvPr id="12" name="Shape 10"/>
          <p:cNvSpPr/>
          <p:nvPr/>
        </p:nvSpPr>
        <p:spPr>
          <a:xfrm>
            <a:off x="6175375" y="2605435"/>
            <a:ext cx="2520950" cy="2162721"/>
          </a:xfrm>
          <a:prstGeom prst="roundRect">
            <a:avLst>
              <a:gd name="adj" fmla="val 3964"/>
            </a:avLst>
          </a:prstGeom>
          <a:solidFill>
            <a:srgbClr val="22304A"/>
          </a:solidFill>
          <a:ln w="6350">
            <a:solidFill>
              <a:srgbClr val="3A4A66"/>
            </a:solidFill>
            <a:prstDash val="solid"/>
          </a:ln>
        </p:spPr>
      </p:sp>
      <p:sp>
        <p:nvSpPr>
          <p:cNvPr id="13" name="Text 11"/>
          <p:cNvSpPr/>
          <p:nvPr/>
        </p:nvSpPr>
        <p:spPr>
          <a:xfrm>
            <a:off x="6381750" y="2811810"/>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2B84A"/>
                </a:solidFill>
                <a:latin typeface="IBM Plex Sans" pitchFamily="34" charset="0"/>
                <a:ea typeface="IBM Plex Sans" pitchFamily="34" charset="-122"/>
                <a:cs typeface="IBM Plex Sans" pitchFamily="34" charset="-120"/>
              </a:rPr>
              <a:t>3</a:t>
            </a:r>
            <a:endParaRPr lang="en-US" sz="2200" dirty="0"/>
          </a:p>
        </p:txBody>
      </p:sp>
      <p:sp>
        <p:nvSpPr>
          <p:cNvPr id="14" name="Text 12"/>
          <p:cNvSpPr/>
          <p:nvPr/>
        </p:nvSpPr>
        <p:spPr>
          <a:xfrm>
            <a:off x="6381750" y="329183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Review monthly</a:t>
            </a:r>
            <a:endParaRPr lang="en-US" sz="1600" dirty="0"/>
          </a:p>
        </p:txBody>
      </p:sp>
      <p:sp>
        <p:nvSpPr>
          <p:cNvPr id="15" name="Text 13"/>
          <p:cNvSpPr/>
          <p:nvPr/>
        </p:nvSpPr>
        <p:spPr>
          <a:xfrm>
            <a:off x="6381750" y="362456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BM Plex Sans" pitchFamily="34" charset="0"/>
                <a:ea typeface="IBM Plex Sans" pitchFamily="34" charset="-122"/>
                <a:cs typeface="IBM Plex Sans" pitchFamily="34" charset="-120"/>
              </a:rPr>
              <a:t>The architecture forum reviews scores, gate failures and the debt register.</a:t>
            </a:r>
            <a:endParaRPr lang="en-US" sz="1300" dirty="0"/>
          </a:p>
        </p:txBody>
      </p:sp>
      <p:sp>
        <p:nvSpPr>
          <p:cNvPr id="16" name="Shape 14"/>
          <p:cNvSpPr/>
          <p:nvPr/>
        </p:nvSpPr>
        <p:spPr>
          <a:xfrm>
            <a:off x="8855075" y="2605435"/>
            <a:ext cx="2520950" cy="2162721"/>
          </a:xfrm>
          <a:prstGeom prst="roundRect">
            <a:avLst>
              <a:gd name="adj" fmla="val 3964"/>
            </a:avLst>
          </a:prstGeom>
          <a:solidFill>
            <a:srgbClr val="22304A"/>
          </a:solidFill>
          <a:ln w="6350">
            <a:solidFill>
              <a:srgbClr val="3A4A66"/>
            </a:solidFill>
            <a:prstDash val="solid"/>
          </a:ln>
        </p:spPr>
      </p:sp>
      <p:sp>
        <p:nvSpPr>
          <p:cNvPr id="17" name="Text 15"/>
          <p:cNvSpPr/>
          <p:nvPr/>
        </p:nvSpPr>
        <p:spPr>
          <a:xfrm>
            <a:off x="9061450" y="2811810"/>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2B84A"/>
                </a:solidFill>
                <a:latin typeface="IBM Plex Sans" pitchFamily="34" charset="0"/>
                <a:ea typeface="IBM Plex Sans" pitchFamily="34" charset="-122"/>
                <a:cs typeface="IBM Plex Sans" pitchFamily="34" charset="-120"/>
              </a:rPr>
              <a:t>4</a:t>
            </a:r>
            <a:endParaRPr lang="en-US" sz="2200" dirty="0"/>
          </a:p>
        </p:txBody>
      </p:sp>
      <p:sp>
        <p:nvSpPr>
          <p:cNvPr id="18" name="Text 16"/>
          <p:cNvSpPr/>
          <p:nvPr/>
        </p:nvSpPr>
        <p:spPr>
          <a:xfrm>
            <a:off x="9061450" y="3291830"/>
            <a:ext cx="2171446"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Report on the North Star</a:t>
            </a:r>
            <a:endParaRPr lang="en-US" sz="1600" dirty="0"/>
          </a:p>
        </p:txBody>
      </p:sp>
      <p:sp>
        <p:nvSpPr>
          <p:cNvPr id="19" name="Text 17"/>
          <p:cNvSpPr/>
          <p:nvPr/>
        </p:nvSpPr>
        <p:spPr>
          <a:xfrm>
            <a:off x="9061450" y="386839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BM Plex Sans" pitchFamily="34" charset="0"/>
                <a:ea typeface="IBM Plex Sans" pitchFamily="34" charset="-122"/>
                <a:cs typeface="IBM Plex Sans" pitchFamily="34" charset="-120"/>
              </a:rPr>
              <a:t>Share of aligned decisions and debt paid down sit beside the strategic goals.</a:t>
            </a:r>
            <a:endParaRPr lang="en-US" sz="1300" dirty="0"/>
          </a:p>
        </p:txBody>
      </p:sp>
      <p:sp>
        <p:nvSpPr>
          <p:cNvPr id="20" name="Text 18"/>
          <p:cNvSpPr/>
          <p:nvPr/>
        </p:nvSpPr>
        <p:spPr>
          <a:xfrm>
            <a:off x="812800" y="574298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2B84A"/>
                </a:solidFill>
                <a:latin typeface="IBM Plex Sans" pitchFamily="34" charset="0"/>
                <a:ea typeface="IBM Plex Sans" pitchFamily="34" charset="-122"/>
                <a:cs typeface="IBM Plex Sans" pitchFamily="34" charset="-120"/>
              </a:rPr>
              <a:t>The ask:</a:t>
            </a:r>
            <a:r>
              <a:rPr lang="en-US" sz="1700" dirty="0">
                <a:solidFill>
                  <a:srgbClr val="F6F4EE"/>
                </a:solidFill>
                <a:latin typeface="IBM Plex Sans" pitchFamily="34" charset="0"/>
                <a:ea typeface="IBM Plex Sans" pitchFamily="34" charset="-122"/>
                <a:cs typeface="IBM Plex Sans" pitchFamily="34" charset="-120"/>
              </a:rPr>
              <a:t> adopt the eight principles and score every design decision for the next [8] weeks as a pilot.</a:t>
            </a:r>
            <a:endParaRPr lang="en-US" sz="1700" dirty="0"/>
          </a:p>
        </p:txBody>
      </p:sp>
    </p:spTree>
  </p:cSld>
  <p:clrMapOvr>
    <a:masterClrMapping/>
  </p:clrMapOvr>
</p:sld>
</file>

<file path=ppt/theme/theme1.xml><?xml version="1.0" encoding="utf-8"?>
<a:theme xmlns:a="http://schemas.openxmlformats.org/drawingml/2006/main" name="One Keel, One North Star">
  <a:themeElements>
    <a:clrScheme name="One Keel, One North Star">
      <a:dk1>
        <a:srgbClr val="1B2230"/>
      </a:dk1>
      <a:lt1>
        <a:srgbClr val="F6F4EE"/>
      </a:lt1>
      <a:dk2>
        <a:srgbClr val="525760"/>
      </a:dk2>
      <a:lt2>
        <a:srgbClr val="E0DFDB"/>
      </a:lt2>
      <a:accent1>
        <a:srgbClr val="2F6DB5"/>
      </a:accent1>
      <a:accent2>
        <a:srgbClr val="E2B84A"/>
      </a:accent2>
      <a:accent3>
        <a:srgbClr val="22304A"/>
      </a:accent3>
      <a:accent4>
        <a:srgbClr val="6E5410"/>
      </a:accent4>
      <a:accent5>
        <a:srgbClr val="4A5363"/>
      </a:accent5>
      <a:accent6>
        <a:srgbClr val="C9D2DE"/>
      </a:accent6>
      <a:hlink>
        <a:srgbClr val="0563C1"/>
      </a:hlink>
      <a:folHlink>
        <a:srgbClr val="954F72"/>
      </a:folHlink>
    </a:clrScheme>
    <a:fontScheme name="One Keel, One North Sta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Keel, One North Star</dc:title>
  <dc:subject/>
  <dc:creator/>
  <cp:lastModifiedBy/>
  <cp:revision>1</cp:revision>
  <dcterms:created xsi:type="dcterms:W3CDTF">2026-10-19T15:31:13Z</dcterms:created>
  <dcterms:modified xsi:type="dcterms:W3CDTF">2026-10-19T15:31:13Z</dcterms:modified>
</cp:coreProperties>
</file>