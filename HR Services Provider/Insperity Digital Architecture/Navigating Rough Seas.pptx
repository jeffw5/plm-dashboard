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two storms are converging on our clients, an economic downturn and uncertainty about the cost of AI. This deck covers what that means for SMBs and their communities, where Insperity can grow and lower costs, and how the Keel and North Star architecture makes it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that recession is the planning case and depression is a tail risk. The point is resilience: a strategy that works across scenarios. The second storm is less obvious: AI costs may not keep falling.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pressures arrive together. Note the double hit to Insperity: client layoffs reduce our revenue at the same moment clients need us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SMBs afloat and their people covered is not a side benefit — it is the core of Insperity's mission. The AI divide is the new risk: if AI gets more expensive, small businesses fall further behind large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1 protects margin and lets us pass savings to clients. Move 2 meets the moment. Move 3 reduces our dependence on worksite headcount, which shrinks in a downturn. Downturns are also when SMBs re-evaluate vendors — a counter-cyclical acquisition window if our entry price is low and value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offering is a decision model plus governed rules, so they share components and cost little to add once the keel is in place. Pricing and packaging to be set with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keel keeps us steady and holds Insperity's IP: governed meaning and rules. The North Star sets direction through decision models and agents. Services in between are reusable. It is stack-independent, so it builds on Workday/HRScale and extends Copilot and Compass rather than replacing them. Path: operationalize, industrialize, then scale to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AI cost concern. Because the keel holds the rules, most answers never need a large model. Cost resilience becomes a competitive advantage and lets us bring AI to SMBs who would otherwise be priced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we are not building seven separate products. One keel, reused seven ways. That is why the marginal cost of each new offering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funds the next: savings from phase one justify phase two. Targets for each measure to be set with Finance and Product: [baseline cost to serve], [target retention], [revenue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economics, then make a small, concrete ask. Pilot scope, sponsor and success measures: [sponsor], [pilot client segment], [target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F2233"/>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8611"/>
            <a:ext cx="10566400" cy="3906589"/>
          </a:xfrm>
          <a:prstGeom prst="rect">
            <a:avLst/>
          </a:prstGeom>
          <a:noFill/>
          <a:ln/>
        </p:spPr>
        <p:txBody>
          <a:bodyPr wrap="square" lIns="0" tIns="0" rIns="0" bIns="0" rtlCol="0" anchor="t"/>
          <a:lstStyle>
            <a:lvl1pPr algn="l" indent="0" marL="0">
              <a:lnSpc>
                <a:spcPct val="140000"/>
              </a:lnSpc>
              <a:buNone/>
              <a:defRPr lang="en-US" sz="1600" dirty="0">
                <a:solidFill>
                  <a:srgbClr val="0F22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F2233"/>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8611"/>
            <a:ext cx="10566400" cy="3906589"/>
          </a:xfrm>
          <a:prstGeom prst="rect">
            <a:avLst/>
          </a:prstGeom>
          <a:noFill/>
          <a:ln/>
        </p:spPr>
        <p:txBody>
          <a:bodyPr wrap="square" lIns="0" tIns="0" rIns="0" bIns="0" rtlCol="0" anchor="t"/>
          <a:lstStyle>
            <a:lvl1pPr algn="l" indent="0" marL="0">
              <a:lnSpc>
                <a:spcPct val="140000"/>
              </a:lnSpc>
              <a:buNone/>
              <a:defRPr lang="en-US" sz="1600" dirty="0">
                <a:solidFill>
                  <a:srgbClr val="0F22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2233"/>
              </a:gs>
              <a:gs pos="100000">
                <a:srgbClr val="16324A"/>
              </a:gs>
            </a:gsLst>
            <a:lin ang="5400000" scaled="0"/>
          </a:gradFill>
          <a:ln/>
        </p:spPr>
      </p:sp>
      <p:pic>
        <p:nvPicPr>
          <p:cNvPr id="3" name="Image 0" descr="Stylized ocean waves">    </p:cNvPr>
          <p:cNvPicPr>
            <a:picLocks noChangeAspect="1"/>
          </p:cNvPicPr>
          <p:nvPr/>
        </p:nvPicPr>
        <p:blipFill>
          <a:blip r:embed="rId1"/>
          <a:srcRect l="0" r="0" t="-49" b="-49"/>
          <a:stretch/>
        </p:blipFill>
        <p:spPr>
          <a:xfrm>
            <a:off x="0" y="4826000"/>
            <a:ext cx="12192000" cy="2032000"/>
          </a:xfrm>
          <a:prstGeom prst="rect">
            <a:avLst/>
          </a:prstGeom>
        </p:spPr>
      </p:pic>
      <p:sp>
        <p:nvSpPr>
          <p:cNvPr id="4" name="Text 1"/>
          <p:cNvSpPr/>
          <p:nvPr/>
        </p:nvSpPr>
        <p:spPr>
          <a:xfrm>
            <a:off x="812800" y="1605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D9A54A"/>
                </a:solidFill>
                <a:latin typeface="IBM Plex Sans" pitchFamily="34" charset="0"/>
                <a:ea typeface="IBM Plex Sans" pitchFamily="34" charset="-122"/>
                <a:cs typeface="IBM Plex Sans" pitchFamily="34" charset="-120"/>
              </a:rPr>
              <a:t>INSPERITY · KEEL &amp; NORTH STAR</a:t>
            </a:r>
            <a:endParaRPr lang="en-US" sz="1400" dirty="0"/>
          </a:p>
        </p:txBody>
      </p:sp>
      <p:sp>
        <p:nvSpPr>
          <p:cNvPr id="5" name="Text 2"/>
          <p:cNvSpPr/>
          <p:nvPr>
            <p:ph type="title"/>
          </p:nvPr>
        </p:nvSpPr>
        <p:spPr>
          <a:xfrm>
            <a:off x="812800" y="2108200"/>
            <a:ext cx="10883392" cy="1701800"/>
          </a:xfrm>
          <a:prstGeom prst="rect">
            <a:avLst/>
          </a:prstGeom>
          <a:noFill/>
          <a:ln/>
        </p:spPr>
        <p:txBody>
          <a:bodyPr wrap="square" lIns="0" tIns="0" rIns="0" bIns="0" rtlCol="0" anchor="t">
            <a:normAutofit/>
          </a:bodyPr>
          <a:lstStyle/>
          <a:p>
            <a:pPr algn="l" indent="0" marL="0">
              <a:lnSpc>
                <a:spcPts val="6600"/>
              </a:lnSpc>
              <a:buNone/>
            </a:pPr>
            <a:r>
              <a:rPr lang="en-US" sz="6000" b="0" i="0" dirty="0">
                <a:solidFill>
                  <a:srgbClr val="F4F1EA"/>
                </a:solidFill>
                <a:latin typeface="Libre Baskerville" pitchFamily="18" charset="0"/>
                <a:ea typeface="Libre Baskerville" pitchFamily="18" charset="-122"/>
                <a:cs typeface="Libre Baskerville" pitchFamily="18" charset="-120"/>
              </a:rPr>
              <a:t>Navigating</a:t>
            </a:r>
            <a:endParaRPr lang="en-US" sz="6000" dirty="0"/>
          </a:p>
          <a:p>
            <a:pPr algn="l" indent="0" marL="0">
              <a:lnSpc>
                <a:spcPts val="6600"/>
              </a:lnSpc>
              <a:buNone/>
            </a:pPr>
            <a:r>
              <a:rPr lang="en-US" sz="6000" b="0" i="0" dirty="0">
                <a:solidFill>
                  <a:srgbClr val="F4F1EA"/>
                </a:solidFill>
                <a:latin typeface="Libre Baskerville" pitchFamily="18" charset="0"/>
                <a:ea typeface="Libre Baskerville" pitchFamily="18" charset="-122"/>
                <a:cs typeface="Libre Baskerville" pitchFamily="18" charset="-120"/>
              </a:rPr>
              <a:t>Rough Seas</a:t>
            </a:r>
            <a:endParaRPr lang="en-US" sz="6000" dirty="0"/>
          </a:p>
        </p:txBody>
      </p:sp>
      <p:sp>
        <p:nvSpPr>
          <p:cNvPr id="6" name="Text 3"/>
          <p:cNvSpPr/>
          <p:nvPr/>
        </p:nvSpPr>
        <p:spPr>
          <a:xfrm>
            <a:off x="812800" y="4038600"/>
            <a:ext cx="85026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6E0"/>
                </a:solidFill>
                <a:latin typeface="IBM Plex Sans" pitchFamily="34" charset="0"/>
                <a:ea typeface="IBM Plex Sans" pitchFamily="34" charset="-122"/>
                <a:cs typeface="IBM Plex Sans" pitchFamily="34" charset="-120"/>
              </a:rPr>
              <a:t>Helping small businesses weather a downturn, lowering our cost to serve, and charting new growth</a:t>
            </a:r>
            <a:endParaRPr lang="en-US" sz="2000" dirty="0"/>
          </a:p>
        </p:txBody>
      </p:sp>
      <p:sp>
        <p:nvSpPr>
          <p:cNvPr id="7" name="Text 4"/>
          <p:cNvSpPr/>
          <p:nvPr/>
        </p:nvSpPr>
        <p:spPr>
          <a:xfrm>
            <a:off x="812800" y="5003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3C3"/>
                </a:solidFill>
                <a:latin typeface="IBM Plex Sans" pitchFamily="34" charset="0"/>
                <a:ea typeface="IBM Plex Sans" pitchFamily="34" charset="-122"/>
                <a:cs typeface="IBM Plex Sans" pitchFamily="34" charset="-120"/>
              </a:rPr>
              <a:t>Jeffrey Wallk · Sr. Semantic Architect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BM Plex Sans" pitchFamily="34" charset="0"/>
                <a:ea typeface="IBM Plex Sans" pitchFamily="34" charset="-122"/>
                <a:cs typeface="IBM Plex Sans" pitchFamily="34" charset="-120"/>
              </a:rPr>
              <a:t>THE STORM</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F2233"/>
                </a:solidFill>
                <a:latin typeface="Libre Baskerville" pitchFamily="18" charset="0"/>
                <a:ea typeface="Libre Baskerville" pitchFamily="18" charset="-122"/>
                <a:cs typeface="Libre Baskerville" pitchFamily="18" charset="-120"/>
              </a:rPr>
              <a:t>Two storms are converging</a:t>
            </a:r>
            <a:endParaRPr lang="en-US" sz="3600" dirty="0"/>
          </a:p>
        </p:txBody>
      </p:sp>
      <p:sp>
        <p:nvSpPr>
          <p:cNvPr id="4" name="Shape 2"/>
          <p:cNvSpPr/>
          <p:nvPr/>
        </p:nvSpPr>
        <p:spPr>
          <a:xfrm>
            <a:off x="812800" y="2138611"/>
            <a:ext cx="5156200" cy="2445941"/>
          </a:xfrm>
          <a:prstGeom prst="roundRect">
            <a:avLst>
              <a:gd name="adj" fmla="val 3115"/>
            </a:avLst>
          </a:prstGeom>
          <a:solidFill>
            <a:srgbClr val="FBFAF6"/>
          </a:solidFill>
          <a:ln/>
        </p:spPr>
      </p:sp>
      <p:sp>
        <p:nvSpPr>
          <p:cNvPr id="5" name="Shape 3"/>
          <p:cNvSpPr/>
          <p:nvPr/>
        </p:nvSpPr>
        <p:spPr>
          <a:xfrm>
            <a:off x="812800" y="2138611"/>
            <a:ext cx="5156200" cy="2445941"/>
          </a:xfrm>
          <a:custGeom>
            <a:avLst/>
            <a:gdLst/>
            <a:ahLst/>
            <a:cxnLst/>
            <a:rect l="l" t="t" r="r" b="b"/>
            <a:pathLst>
              <a:path w="5156200" h="2445941">
                <a:moveTo>
                  <a:pt x="0" y="76200"/>
                </a:moveTo>
                <a:lnTo>
                  <a:pt x="0" y="76200"/>
                </a:lnTo>
                <a:arcTo hR="76200" wR="76200" stAng="10800000" swAng="5400000"/>
                <a:lnTo>
                  <a:pt x="5080000" y="0"/>
                </a:lnTo>
                <a:arcTo hR="76200" wR="76200" stAng="16200000" swAng="5400000"/>
                <a:lnTo>
                  <a:pt x="5156200" y="76200"/>
                </a:lnTo>
                <a:arcTo hR="38100" wR="76200" stAng="0" swAng="-5400000"/>
                <a:lnTo>
                  <a:pt x="76200" y="38100"/>
                </a:lnTo>
                <a:arcTo hR="38100" wR="76200" stAng="16200000" swAng="-5400000"/>
                <a:close/>
              </a:path>
            </a:pathLst>
          </a:custGeom>
          <a:solidFill>
            <a:srgbClr val="0F2233"/>
          </a:solidFill>
          <a:ln/>
        </p:spPr>
      </p:sp>
      <p:pic>
        <p:nvPicPr>
          <p:cNvPr id="6" name="Image 0" descr="Warning">    </p:cNvPr>
          <p:cNvPicPr>
            <a:picLocks noChangeAspect="1"/>
          </p:cNvPicPr>
          <p:nvPr/>
        </p:nvPicPr>
        <p:blipFill>
          <a:blip r:embed="rId1"/>
          <a:srcRect l="0" r="0" t="0" b="0"/>
          <a:stretch/>
        </p:blipFill>
        <p:spPr>
          <a:xfrm>
            <a:off x="1117600" y="2481511"/>
            <a:ext cx="355600" cy="355600"/>
          </a:xfrm>
          <a:prstGeom prst="rect">
            <a:avLst/>
          </a:prstGeom>
        </p:spPr>
      </p:pic>
      <p:sp>
        <p:nvSpPr>
          <p:cNvPr id="7" name="Text 4"/>
          <p:cNvSpPr/>
          <p:nvPr/>
        </p:nvSpPr>
        <p:spPr>
          <a:xfrm>
            <a:off x="1117600" y="2964111"/>
            <a:ext cx="46829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2233"/>
                </a:solidFill>
                <a:latin typeface="IBM Plex Sans" pitchFamily="34" charset="0"/>
                <a:ea typeface="IBM Plex Sans" pitchFamily="34" charset="-122"/>
                <a:cs typeface="IBM Plex Sans" pitchFamily="34" charset="-120"/>
              </a:rPr>
              <a:t>Economic headwinds</a:t>
            </a:r>
            <a:endParaRPr lang="en-US" sz="2200" dirty="0"/>
          </a:p>
        </p:txBody>
      </p:sp>
      <p:sp>
        <p:nvSpPr>
          <p:cNvPr id="8" name="Text 5"/>
          <p:cNvSpPr/>
          <p:nvPr/>
        </p:nvSpPr>
        <p:spPr>
          <a:xfrm>
            <a:off x="1117600" y="3426371"/>
            <a:ext cx="468299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B59"/>
                </a:solidFill>
                <a:latin typeface="IBM Plex Sans" pitchFamily="34" charset="0"/>
                <a:ea typeface="IBM Plex Sans" pitchFamily="34" charset="-122"/>
                <a:cs typeface="IBM Plex Sans" pitchFamily="34" charset="-120"/>
              </a:rPr>
              <a:t>Recession is the scenario to plan for. A depression is a tail risk, not a forecast — our plan should hold up in both.</a:t>
            </a:r>
            <a:endParaRPr lang="en-US" sz="1600" dirty="0"/>
          </a:p>
        </p:txBody>
      </p:sp>
      <p:sp>
        <p:nvSpPr>
          <p:cNvPr id="9" name="Shape 6"/>
          <p:cNvSpPr/>
          <p:nvPr/>
        </p:nvSpPr>
        <p:spPr>
          <a:xfrm>
            <a:off x="6223000" y="2138611"/>
            <a:ext cx="5156200" cy="2445941"/>
          </a:xfrm>
          <a:prstGeom prst="roundRect">
            <a:avLst>
              <a:gd name="adj" fmla="val 3115"/>
            </a:avLst>
          </a:prstGeom>
          <a:solidFill>
            <a:srgbClr val="FBFAF6"/>
          </a:solidFill>
          <a:ln/>
        </p:spPr>
      </p:sp>
      <p:sp>
        <p:nvSpPr>
          <p:cNvPr id="10" name="Shape 7"/>
          <p:cNvSpPr/>
          <p:nvPr/>
        </p:nvSpPr>
        <p:spPr>
          <a:xfrm>
            <a:off x="6223000" y="2138611"/>
            <a:ext cx="5156200" cy="2445941"/>
          </a:xfrm>
          <a:custGeom>
            <a:avLst/>
            <a:gdLst/>
            <a:ahLst/>
            <a:cxnLst/>
            <a:rect l="l" t="t" r="r" b="b"/>
            <a:pathLst>
              <a:path w="5156200" h="2445941">
                <a:moveTo>
                  <a:pt x="0" y="76200"/>
                </a:moveTo>
                <a:lnTo>
                  <a:pt x="0" y="76200"/>
                </a:lnTo>
                <a:arcTo hR="76200" wR="76200" stAng="10800000" swAng="5400000"/>
                <a:lnTo>
                  <a:pt x="5080000" y="0"/>
                </a:lnTo>
                <a:arcTo hR="76200" wR="76200" stAng="16200000" swAng="5400000"/>
                <a:lnTo>
                  <a:pt x="5156200" y="76200"/>
                </a:lnTo>
                <a:arcTo hR="38100" wR="76200" stAng="0" swAng="-5400000"/>
                <a:lnTo>
                  <a:pt x="76200" y="38100"/>
                </a:lnTo>
                <a:arcTo hR="38100" wR="76200" stAng="16200000" swAng="-5400000"/>
                <a:close/>
              </a:path>
            </a:pathLst>
          </a:custGeom>
          <a:solidFill>
            <a:srgbClr val="8A5A12"/>
          </a:solidFill>
          <a:ln/>
        </p:spPr>
      </p:sp>
      <p:pic>
        <p:nvPicPr>
          <p:cNvPr id="11" name="Image 1" descr="Cloud">    </p:cNvPr>
          <p:cNvPicPr>
            <a:picLocks noChangeAspect="1"/>
          </p:cNvPicPr>
          <p:nvPr/>
        </p:nvPicPr>
        <p:blipFill>
          <a:blip r:embed="rId2"/>
          <a:srcRect l="0" r="0" t="0" b="0"/>
          <a:stretch/>
        </p:blipFill>
        <p:spPr>
          <a:xfrm>
            <a:off x="6527800" y="2481511"/>
            <a:ext cx="355600" cy="355600"/>
          </a:xfrm>
          <a:prstGeom prst="rect">
            <a:avLst/>
          </a:prstGeom>
        </p:spPr>
      </p:pic>
      <p:sp>
        <p:nvSpPr>
          <p:cNvPr id="12" name="Text 8"/>
          <p:cNvSpPr/>
          <p:nvPr/>
        </p:nvSpPr>
        <p:spPr>
          <a:xfrm>
            <a:off x="6527800" y="2964111"/>
            <a:ext cx="46829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2233"/>
                </a:solidFill>
                <a:latin typeface="IBM Plex Sans" pitchFamily="34" charset="0"/>
                <a:ea typeface="IBM Plex Sans" pitchFamily="34" charset="-122"/>
                <a:cs typeface="IBM Plex Sans" pitchFamily="34" charset="-120"/>
              </a:rPr>
              <a:t>AI cost uncertainty</a:t>
            </a:r>
            <a:endParaRPr lang="en-US" sz="2200" dirty="0"/>
          </a:p>
        </p:txBody>
      </p:sp>
      <p:sp>
        <p:nvSpPr>
          <p:cNvPr id="13" name="Text 9"/>
          <p:cNvSpPr/>
          <p:nvPr/>
        </p:nvSpPr>
        <p:spPr>
          <a:xfrm>
            <a:off x="6527800" y="3426371"/>
            <a:ext cx="468299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B59"/>
                </a:solidFill>
                <a:latin typeface="IBM Plex Sans" pitchFamily="34" charset="0"/>
                <a:ea typeface="IBM Plex Sans" pitchFamily="34" charset="-122"/>
                <a:cs typeface="IBM Plex Sans" pitchFamily="34" charset="-120"/>
              </a:rPr>
              <a:t>If data-center buildout slows, model progress may stall and token prices may keep rising — just as everyone leans on AI to cut costs.</a:t>
            </a:r>
            <a:endParaRPr lang="en-US" sz="1600" dirty="0"/>
          </a:p>
        </p:txBody>
      </p:sp>
      <p:sp>
        <p:nvSpPr>
          <p:cNvPr id="14"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Navigating Rough Seas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BM Plex Sans" pitchFamily="34" charset="0"/>
                <a:ea typeface="IBM Plex Sans" pitchFamily="34" charset="-122"/>
                <a:cs typeface="IBM Plex Sans" pitchFamily="34" charset="-120"/>
              </a:rPr>
              <a:t>THE STORM</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F2233"/>
                </a:solidFill>
                <a:latin typeface="Libre Baskerville" pitchFamily="18" charset="0"/>
                <a:ea typeface="Libre Baskerville" pitchFamily="18" charset="-122"/>
                <a:cs typeface="Libre Baskerville" pitchFamily="18" charset="-120"/>
              </a:rPr>
              <a:t>How the squeeze hits our clients</a:t>
            </a:r>
            <a:endParaRPr lang="en-US" sz="3600" dirty="0"/>
          </a:p>
        </p:txBody>
      </p:sp>
      <p:sp>
        <p:nvSpPr>
          <p:cNvPr id="4" name="Shape 2"/>
          <p:cNvSpPr/>
          <p:nvPr/>
        </p:nvSpPr>
        <p:spPr>
          <a:xfrm>
            <a:off x="815975" y="2141786"/>
            <a:ext cx="2482850" cy="2777976"/>
          </a:xfrm>
          <a:prstGeom prst="roundRect">
            <a:avLst>
              <a:gd name="adj" fmla="val 2941"/>
            </a:avLst>
          </a:prstGeom>
          <a:solidFill>
            <a:srgbClr val="FBFAF6"/>
          </a:solidFill>
          <a:ln w="6350">
            <a:solidFill>
              <a:srgbClr val="E2DCCD"/>
            </a:solidFill>
            <a:prstDash val="solid"/>
          </a:ln>
        </p:spPr>
      </p:sp>
      <p:sp>
        <p:nvSpPr>
          <p:cNvPr id="5" name="Text 3"/>
          <p:cNvSpPr/>
          <p:nvPr/>
        </p:nvSpPr>
        <p:spPr>
          <a:xfrm>
            <a:off x="1073150" y="2398961"/>
            <a:ext cx="202755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A5A12"/>
                </a:solidFill>
                <a:latin typeface="IBM Plex Sans" pitchFamily="34" charset="0"/>
                <a:ea typeface="IBM Plex Sans" pitchFamily="34" charset="-122"/>
                <a:cs typeface="IBM Plex Sans" pitchFamily="34" charset="-120"/>
              </a:rPr>
              <a:t>01</a:t>
            </a:r>
            <a:endParaRPr lang="en-US" sz="2800" dirty="0"/>
          </a:p>
        </p:txBody>
      </p:sp>
      <p:sp>
        <p:nvSpPr>
          <p:cNvPr id="6" name="Text 4"/>
          <p:cNvSpPr/>
          <p:nvPr/>
        </p:nvSpPr>
        <p:spPr>
          <a:xfrm>
            <a:off x="1073150" y="2856161"/>
            <a:ext cx="202755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F2233"/>
                </a:solidFill>
                <a:latin typeface="IBM Plex Sans" pitchFamily="34" charset="0"/>
                <a:ea typeface="IBM Plex Sans" pitchFamily="34" charset="-122"/>
                <a:cs typeface="IBM Plex Sans" pitchFamily="34" charset="-120"/>
              </a:rPr>
              <a:t>Revenue falls faster than costs</a:t>
            </a:r>
            <a:endParaRPr lang="en-US" sz="1600" dirty="0"/>
          </a:p>
        </p:txBody>
      </p:sp>
      <p:sp>
        <p:nvSpPr>
          <p:cNvPr id="7" name="Text 5"/>
          <p:cNvSpPr/>
          <p:nvPr/>
        </p:nvSpPr>
        <p:spPr>
          <a:xfrm>
            <a:off x="1073150" y="3465761"/>
            <a:ext cx="2027555"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B59"/>
                </a:solidFill>
                <a:latin typeface="IBM Plex Sans" pitchFamily="34" charset="0"/>
                <a:ea typeface="IBM Plex Sans" pitchFamily="34" charset="-122"/>
                <a:cs typeface="IBM Plex Sans" pitchFamily="34" charset="-120"/>
              </a:rPr>
              <a:t>Payroll, benefits and insurance are sticky. Margins collapse first.</a:t>
            </a:r>
            <a:endParaRPr lang="en-US" sz="1300" dirty="0"/>
          </a:p>
        </p:txBody>
      </p:sp>
      <p:sp>
        <p:nvSpPr>
          <p:cNvPr id="8" name="Shape 6"/>
          <p:cNvSpPr/>
          <p:nvPr/>
        </p:nvSpPr>
        <p:spPr>
          <a:xfrm>
            <a:off x="3508375" y="2141786"/>
            <a:ext cx="2482850" cy="2777976"/>
          </a:xfrm>
          <a:prstGeom prst="roundRect">
            <a:avLst>
              <a:gd name="adj" fmla="val 2941"/>
            </a:avLst>
          </a:prstGeom>
          <a:solidFill>
            <a:srgbClr val="FBFAF6"/>
          </a:solidFill>
          <a:ln w="6350">
            <a:solidFill>
              <a:srgbClr val="E2DCCD"/>
            </a:solidFill>
            <a:prstDash val="solid"/>
          </a:ln>
        </p:spPr>
      </p:sp>
      <p:sp>
        <p:nvSpPr>
          <p:cNvPr id="9" name="Text 7"/>
          <p:cNvSpPr/>
          <p:nvPr/>
        </p:nvSpPr>
        <p:spPr>
          <a:xfrm>
            <a:off x="3765550" y="2398961"/>
            <a:ext cx="202755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A5A12"/>
                </a:solidFill>
                <a:latin typeface="IBM Plex Sans" pitchFamily="34" charset="0"/>
                <a:ea typeface="IBM Plex Sans" pitchFamily="34" charset="-122"/>
                <a:cs typeface="IBM Plex Sans" pitchFamily="34" charset="-120"/>
              </a:rPr>
              <a:t>02</a:t>
            </a:r>
            <a:endParaRPr lang="en-US" sz="2800" dirty="0"/>
          </a:p>
        </p:txBody>
      </p:sp>
      <p:sp>
        <p:nvSpPr>
          <p:cNvPr id="10" name="Text 8"/>
          <p:cNvSpPr/>
          <p:nvPr/>
        </p:nvSpPr>
        <p:spPr>
          <a:xfrm>
            <a:off x="3765550" y="2856161"/>
            <a:ext cx="202755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F2233"/>
                </a:solidFill>
                <a:latin typeface="IBM Plex Sans" pitchFamily="34" charset="0"/>
                <a:ea typeface="IBM Plex Sans" pitchFamily="34" charset="-122"/>
                <a:cs typeface="IBM Plex Sans" pitchFamily="34" charset="-120"/>
              </a:rPr>
              <a:t>Layoffs shrink the base</a:t>
            </a:r>
            <a:endParaRPr lang="en-US" sz="1600" dirty="0"/>
          </a:p>
        </p:txBody>
      </p:sp>
      <p:sp>
        <p:nvSpPr>
          <p:cNvPr id="11" name="Text 9"/>
          <p:cNvSpPr/>
          <p:nvPr/>
        </p:nvSpPr>
        <p:spPr>
          <a:xfrm>
            <a:off x="3765550" y="3465761"/>
            <a:ext cx="2027555"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B59"/>
                </a:solidFill>
                <a:latin typeface="IBM Plex Sans" pitchFamily="34" charset="0"/>
                <a:ea typeface="IBM Plex Sans" pitchFamily="34" charset="-122"/>
                <a:cs typeface="IBM Plex Sans" pitchFamily="34" charset="-120"/>
              </a:rPr>
              <a:t>Fewer worksite employees means less PEO revenue — exactly when clients need more help.</a:t>
            </a:r>
            <a:endParaRPr lang="en-US" sz="1300" dirty="0"/>
          </a:p>
        </p:txBody>
      </p:sp>
      <p:sp>
        <p:nvSpPr>
          <p:cNvPr id="12" name="Shape 10"/>
          <p:cNvSpPr/>
          <p:nvPr/>
        </p:nvSpPr>
        <p:spPr>
          <a:xfrm>
            <a:off x="6200775" y="2141786"/>
            <a:ext cx="2482850" cy="2777976"/>
          </a:xfrm>
          <a:prstGeom prst="roundRect">
            <a:avLst>
              <a:gd name="adj" fmla="val 2941"/>
            </a:avLst>
          </a:prstGeom>
          <a:solidFill>
            <a:srgbClr val="FBFAF6"/>
          </a:solidFill>
          <a:ln w="6350">
            <a:solidFill>
              <a:srgbClr val="E2DCCD"/>
            </a:solidFill>
            <a:prstDash val="solid"/>
          </a:ln>
        </p:spPr>
      </p:sp>
      <p:sp>
        <p:nvSpPr>
          <p:cNvPr id="13" name="Text 11"/>
          <p:cNvSpPr/>
          <p:nvPr/>
        </p:nvSpPr>
        <p:spPr>
          <a:xfrm>
            <a:off x="6457950" y="2398961"/>
            <a:ext cx="202755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A5A12"/>
                </a:solidFill>
                <a:latin typeface="IBM Plex Sans" pitchFamily="34" charset="0"/>
                <a:ea typeface="IBM Plex Sans" pitchFamily="34" charset="-122"/>
                <a:cs typeface="IBM Plex Sans" pitchFamily="34" charset="-120"/>
              </a:rPr>
              <a:t>03</a:t>
            </a:r>
            <a:endParaRPr lang="en-US" sz="2800" dirty="0"/>
          </a:p>
        </p:txBody>
      </p:sp>
      <p:sp>
        <p:nvSpPr>
          <p:cNvPr id="14" name="Text 12"/>
          <p:cNvSpPr/>
          <p:nvPr/>
        </p:nvSpPr>
        <p:spPr>
          <a:xfrm>
            <a:off x="6457950" y="2856161"/>
            <a:ext cx="202755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F2233"/>
                </a:solidFill>
                <a:latin typeface="IBM Plex Sans" pitchFamily="34" charset="0"/>
                <a:ea typeface="IBM Plex Sans" pitchFamily="34" charset="-122"/>
                <a:cs typeface="IBM Plex Sans" pitchFamily="34" charset="-120"/>
              </a:rPr>
              <a:t>Benefits on the chopping block</a:t>
            </a:r>
            <a:endParaRPr lang="en-US" sz="1600" dirty="0"/>
          </a:p>
        </p:txBody>
      </p:sp>
      <p:sp>
        <p:nvSpPr>
          <p:cNvPr id="15" name="Text 13"/>
          <p:cNvSpPr/>
          <p:nvPr/>
        </p:nvSpPr>
        <p:spPr>
          <a:xfrm>
            <a:off x="6457950" y="3465761"/>
            <a:ext cx="2027555"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B59"/>
                </a:solidFill>
                <a:latin typeface="IBM Plex Sans" pitchFamily="34" charset="0"/>
                <a:ea typeface="IBM Plex Sans" pitchFamily="34" charset="-122"/>
                <a:cs typeface="IBM Plex Sans" pitchFamily="34" charset="-120"/>
              </a:rPr>
              <a:t>Cutting coverage shifts health and financial risk onto employees and families.</a:t>
            </a:r>
            <a:endParaRPr lang="en-US" sz="1300" dirty="0"/>
          </a:p>
        </p:txBody>
      </p:sp>
      <p:sp>
        <p:nvSpPr>
          <p:cNvPr id="16" name="Shape 14"/>
          <p:cNvSpPr/>
          <p:nvPr/>
        </p:nvSpPr>
        <p:spPr>
          <a:xfrm>
            <a:off x="8893175" y="2141786"/>
            <a:ext cx="2482850" cy="2777976"/>
          </a:xfrm>
          <a:prstGeom prst="roundRect">
            <a:avLst>
              <a:gd name="adj" fmla="val 2941"/>
            </a:avLst>
          </a:prstGeom>
          <a:solidFill>
            <a:srgbClr val="FBFAF6"/>
          </a:solidFill>
          <a:ln w="6350">
            <a:solidFill>
              <a:srgbClr val="E2DCCD"/>
            </a:solidFill>
            <a:prstDash val="solid"/>
          </a:ln>
        </p:spPr>
      </p:sp>
      <p:sp>
        <p:nvSpPr>
          <p:cNvPr id="17" name="Text 15"/>
          <p:cNvSpPr/>
          <p:nvPr/>
        </p:nvSpPr>
        <p:spPr>
          <a:xfrm>
            <a:off x="9150350" y="2398961"/>
            <a:ext cx="202755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A5A12"/>
                </a:solidFill>
                <a:latin typeface="IBM Plex Sans" pitchFamily="34" charset="0"/>
                <a:ea typeface="IBM Plex Sans" pitchFamily="34" charset="-122"/>
                <a:cs typeface="IBM Plex Sans" pitchFamily="34" charset="-120"/>
              </a:rPr>
              <a:t>04</a:t>
            </a:r>
            <a:endParaRPr lang="en-US" sz="2800" dirty="0"/>
          </a:p>
        </p:txBody>
      </p:sp>
      <p:sp>
        <p:nvSpPr>
          <p:cNvPr id="18" name="Text 16"/>
          <p:cNvSpPr/>
          <p:nvPr/>
        </p:nvSpPr>
        <p:spPr>
          <a:xfrm>
            <a:off x="9150350" y="2856161"/>
            <a:ext cx="2027555"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0F2233"/>
                </a:solidFill>
                <a:latin typeface="IBM Plex Sans" pitchFamily="34" charset="0"/>
                <a:ea typeface="IBM Plex Sans" pitchFamily="34" charset="-122"/>
                <a:cs typeface="IBM Plex Sans" pitchFamily="34" charset="-120"/>
              </a:rPr>
              <a:t>Compliance risk rises</a:t>
            </a:r>
            <a:endParaRPr lang="en-US" sz="1600" dirty="0"/>
          </a:p>
        </p:txBody>
      </p:sp>
      <p:sp>
        <p:nvSpPr>
          <p:cNvPr id="19" name="Text 17"/>
          <p:cNvSpPr/>
          <p:nvPr/>
        </p:nvSpPr>
        <p:spPr>
          <a:xfrm>
            <a:off x="9150350" y="3465761"/>
            <a:ext cx="2027555"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B59"/>
                </a:solidFill>
                <a:latin typeface="IBM Plex Sans" pitchFamily="34" charset="0"/>
                <a:ea typeface="IBM Plex Sans" pitchFamily="34" charset="-122"/>
                <a:cs typeface="IBM Plex Sans" pitchFamily="34" charset="-120"/>
              </a:rPr>
              <a:t>Furloughs, reductions in force, reclassification and state rules — with the least capacity to absorb mistakes.</a:t>
            </a:r>
            <a:endParaRPr lang="en-US" sz="13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Navigating Rough Seas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233"/>
        </a:solidFill>
      </p:bgPr>
    </p:bg>
    <p:spTree>
      <p:nvGrpSpPr>
        <p:cNvPr id="1" name=""/>
        <p:cNvGrpSpPr/>
        <p:nvPr/>
      </p:nvGrpSpPr>
      <p:grpSpPr>
        <a:xfrm>
          <a:off x="0" y="0"/>
          <a:ext cx="0" cy="0"/>
          <a:chOff x="0" y="0"/>
          <a:chExt cx="0" cy="0"/>
        </a:xfrm>
      </p:grpSpPr>
      <p:sp>
        <p:nvSpPr>
          <p:cNvPr id="2" name="Text 0"/>
          <p:cNvSpPr/>
          <p:nvPr/>
        </p:nvSpPr>
        <p:spPr>
          <a:xfrm>
            <a:off x="812800" y="153932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9A54A"/>
                </a:solidFill>
                <a:latin typeface="IBM Plex Sans" pitchFamily="34" charset="0"/>
                <a:ea typeface="IBM Plex Sans" pitchFamily="34" charset="-122"/>
                <a:cs typeface="IBM Plex Sans" pitchFamily="34" charset="-120"/>
              </a:rPr>
              <a:t>THE STORM</a:t>
            </a:r>
            <a:endParaRPr lang="en-US" sz="1200" dirty="0"/>
          </a:p>
        </p:txBody>
      </p:sp>
      <p:sp>
        <p:nvSpPr>
          <p:cNvPr id="3" name="Text 1"/>
          <p:cNvSpPr/>
          <p:nvPr>
            <p:ph type="title"/>
          </p:nvPr>
        </p:nvSpPr>
        <p:spPr>
          <a:xfrm>
            <a:off x="812800" y="2057450"/>
            <a:ext cx="9810750" cy="1122660"/>
          </a:xfrm>
          <a:prstGeom prst="rect">
            <a:avLst/>
          </a:prstGeom>
          <a:noFill/>
          <a:ln/>
        </p:spPr>
        <p:txBody>
          <a:bodyPr wrap="square" lIns="0" tIns="0" rIns="0" bIns="0" rtlCol="0" anchor="t">
            <a:normAutofit/>
          </a:bodyPr>
          <a:lstStyle/>
          <a:p>
            <a:pPr algn="l" indent="0" marL="0">
              <a:lnSpc>
                <a:spcPts val="4320"/>
              </a:lnSpc>
              <a:buNone/>
            </a:pPr>
            <a:r>
              <a:rPr lang="en-US" sz="3600" b="0" i="0" dirty="0">
                <a:solidFill>
                  <a:srgbClr val="F4F1EA"/>
                </a:solidFill>
                <a:latin typeface="Libre Baskerville" pitchFamily="18" charset="0"/>
                <a:ea typeface="Libre Baskerville" pitchFamily="18" charset="-122"/>
                <a:cs typeface="Libre Baskerville" pitchFamily="18" charset="-120"/>
              </a:rPr>
              <a:t>When small businesses go under, whole communities feel it.</a:t>
            </a:r>
            <a:endParaRPr lang="en-US" sz="3600" dirty="0"/>
          </a:p>
        </p:txBody>
      </p:sp>
      <p:sp>
        <p:nvSpPr>
          <p:cNvPr id="4" name="Shape 2"/>
          <p:cNvSpPr/>
          <p:nvPr/>
        </p:nvSpPr>
        <p:spPr>
          <a:xfrm>
            <a:off x="825500" y="3459510"/>
            <a:ext cx="0" cy="568920"/>
          </a:xfrm>
          <a:prstGeom prst="line">
            <a:avLst/>
          </a:prstGeom>
          <a:noFill/>
          <a:ln w="25400">
            <a:solidFill>
              <a:srgbClr val="D9A54A"/>
            </a:solidFill>
            <a:prstDash val="solid"/>
          </a:ln>
        </p:spPr>
      </p:sp>
      <p:sp>
        <p:nvSpPr>
          <p:cNvPr id="5" name="Text 3"/>
          <p:cNvSpPr/>
          <p:nvPr/>
        </p:nvSpPr>
        <p:spPr>
          <a:xfrm>
            <a:off x="1016000" y="3459510"/>
            <a:ext cx="320918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6E0"/>
                </a:solidFill>
                <a:latin typeface="IBM Plex Sans" pitchFamily="34" charset="0"/>
                <a:ea typeface="IBM Plex Sans" pitchFamily="34" charset="-122"/>
                <a:cs typeface="IBM Plex Sans" pitchFamily="34" charset="-120"/>
              </a:rPr>
              <a:t>Families lose health coverage</a:t>
            </a:r>
            <a:endParaRPr lang="en-US" sz="1600" dirty="0"/>
          </a:p>
        </p:txBody>
      </p:sp>
      <p:sp>
        <p:nvSpPr>
          <p:cNvPr id="6" name="Shape 4"/>
          <p:cNvSpPr/>
          <p:nvPr/>
        </p:nvSpPr>
        <p:spPr>
          <a:xfrm>
            <a:off x="4449217" y="3459510"/>
            <a:ext cx="0" cy="568920"/>
          </a:xfrm>
          <a:prstGeom prst="line">
            <a:avLst/>
          </a:prstGeom>
          <a:noFill/>
          <a:ln w="25400">
            <a:solidFill>
              <a:srgbClr val="D9A54A"/>
            </a:solidFill>
            <a:prstDash val="solid"/>
          </a:ln>
        </p:spPr>
      </p:sp>
      <p:sp>
        <p:nvSpPr>
          <p:cNvPr id="7" name="Text 5"/>
          <p:cNvSpPr/>
          <p:nvPr/>
        </p:nvSpPr>
        <p:spPr>
          <a:xfrm>
            <a:off x="4639717" y="3459510"/>
            <a:ext cx="320923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6E0"/>
                </a:solidFill>
                <a:latin typeface="IBM Plex Sans" pitchFamily="34" charset="0"/>
                <a:ea typeface="IBM Plex Sans" pitchFamily="34" charset="-122"/>
                <a:cs typeface="IBM Plex Sans" pitchFamily="34" charset="-120"/>
              </a:rPr>
              <a:t>Local spending and Main Streets shrink</a:t>
            </a:r>
            <a:endParaRPr lang="en-US" sz="1600" dirty="0"/>
          </a:p>
        </p:txBody>
      </p:sp>
      <p:sp>
        <p:nvSpPr>
          <p:cNvPr id="8" name="Shape 6"/>
          <p:cNvSpPr/>
          <p:nvPr/>
        </p:nvSpPr>
        <p:spPr>
          <a:xfrm>
            <a:off x="8072983" y="3459510"/>
            <a:ext cx="0" cy="568920"/>
          </a:xfrm>
          <a:prstGeom prst="line">
            <a:avLst/>
          </a:prstGeom>
          <a:noFill/>
          <a:ln w="25400">
            <a:solidFill>
              <a:srgbClr val="D9A54A"/>
            </a:solidFill>
            <a:prstDash val="solid"/>
          </a:ln>
        </p:spPr>
      </p:sp>
      <p:sp>
        <p:nvSpPr>
          <p:cNvPr id="9" name="Text 7"/>
          <p:cNvSpPr/>
          <p:nvPr/>
        </p:nvSpPr>
        <p:spPr>
          <a:xfrm>
            <a:off x="8263483" y="3459510"/>
            <a:ext cx="320918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6E0"/>
                </a:solidFill>
                <a:latin typeface="IBM Plex Sans" pitchFamily="34" charset="0"/>
                <a:ea typeface="IBM Plex Sans" pitchFamily="34" charset="-122"/>
                <a:cs typeface="IBM Plex Sans" pitchFamily="34" charset="-120"/>
              </a:rPr>
              <a:t>Tax bases and civic life weaken</a:t>
            </a:r>
            <a:endParaRPr lang="en-US" sz="1600" dirty="0"/>
          </a:p>
        </p:txBody>
      </p:sp>
      <p:sp>
        <p:nvSpPr>
          <p:cNvPr id="10" name="Text 8"/>
          <p:cNvSpPr/>
          <p:nvPr/>
        </p:nvSpPr>
        <p:spPr>
          <a:xfrm>
            <a:off x="812800" y="4333230"/>
            <a:ext cx="10883392" cy="807641"/>
          </a:xfrm>
          <a:prstGeom prst="rect">
            <a:avLst/>
          </a:prstGeom>
          <a:noFill/>
          <a:ln/>
        </p:spPr>
        <p:txBody>
          <a:bodyPr wrap="square" lIns="0" tIns="0" rIns="0" bIns="0" rtlCol="0" anchor="t">
            <a:normAutofit/>
          </a:bodyPr>
          <a:lstStyle/>
          <a:p>
            <a:pPr algn="l" indent="0" marL="0">
              <a:lnSpc>
                <a:spcPts val="3080"/>
              </a:lnSpc>
              <a:buNone/>
            </a:pPr>
            <a:r>
              <a:rPr lang="en-US" sz="2200" i="1" dirty="0">
                <a:solidFill>
                  <a:srgbClr val="D9A54A"/>
                </a:solidFill>
                <a:latin typeface="Libre Baskerville" pitchFamily="18" charset="0"/>
                <a:ea typeface="Libre Baskerville" pitchFamily="18" charset="-122"/>
                <a:cs typeface="Libre Baskerville" pitchFamily="18" charset="-120"/>
              </a:rPr>
              <a:t>The AI divide widens the gap: enterprises absorb rising AI costs, SMBs get priced out.</a:t>
            </a:r>
            <a:endParaRPr lang="en-US" sz="2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3"/>
                </a:solidFill>
                <a:latin typeface="IBM Plex Sans" pitchFamily="34" charset="0"/>
                <a:ea typeface="IBM Plex Sans" pitchFamily="34" charset="-122"/>
                <a:cs typeface="IBM Plex Sans" pitchFamily="34" charset="-120"/>
              </a:rPr>
              <a:t>Navigating Rough Seas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BM Plex Sans" pitchFamily="34" charset="0"/>
                <a:ea typeface="IBM Plex Sans" pitchFamily="34" charset="-122"/>
                <a:cs typeface="IBM Plex Sans" pitchFamily="34" charset="-120"/>
              </a:rPr>
              <a:t>OUR HEADING</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F2233"/>
                </a:solidFill>
                <a:latin typeface="Libre Baskerville" pitchFamily="18" charset="0"/>
                <a:ea typeface="Libre Baskerville" pitchFamily="18" charset="-122"/>
                <a:cs typeface="Libre Baskerville" pitchFamily="18" charset="-120"/>
              </a:rPr>
              <a:t>Three moves to hold course</a:t>
            </a:r>
            <a:endParaRPr lang="en-US" sz="3600" dirty="0"/>
          </a:p>
        </p:txBody>
      </p:sp>
      <p:sp>
        <p:nvSpPr>
          <p:cNvPr id="4" name="Shape 2"/>
          <p:cNvSpPr/>
          <p:nvPr/>
        </p:nvSpPr>
        <p:spPr>
          <a:xfrm>
            <a:off x="812800" y="2138611"/>
            <a:ext cx="3386634" cy="3362722"/>
          </a:xfrm>
          <a:prstGeom prst="roundRect">
            <a:avLst>
              <a:gd name="adj" fmla="val 2266"/>
            </a:avLst>
          </a:prstGeom>
          <a:solidFill>
            <a:srgbClr val="FBFAF6"/>
          </a:solidFill>
          <a:ln/>
        </p:spPr>
      </p:sp>
      <p:sp>
        <p:nvSpPr>
          <p:cNvPr id="5" name="Shape 3"/>
          <p:cNvSpPr/>
          <p:nvPr/>
        </p:nvSpPr>
        <p:spPr>
          <a:xfrm>
            <a:off x="812800" y="2138611"/>
            <a:ext cx="3386634" cy="3362722"/>
          </a:xfrm>
          <a:custGeom>
            <a:avLst/>
            <a:gdLst/>
            <a:ahLst/>
            <a:cxnLst/>
            <a:rect l="l" t="t" r="r" b="b"/>
            <a:pathLst>
              <a:path w="3386634" h="3362722">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0F2233"/>
          </a:solidFill>
          <a:ln/>
        </p:spPr>
      </p:sp>
      <p:sp>
        <p:nvSpPr>
          <p:cNvPr id="6" name="Text 4"/>
          <p:cNvSpPr/>
          <p:nvPr/>
        </p:nvSpPr>
        <p:spPr>
          <a:xfrm>
            <a:off x="1092200" y="2456111"/>
            <a:ext cx="291266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A5A12"/>
                </a:solidFill>
                <a:latin typeface="IBM Plex Sans" pitchFamily="34" charset="0"/>
                <a:ea typeface="IBM Plex Sans" pitchFamily="34" charset="-122"/>
                <a:cs typeface="IBM Plex Sans" pitchFamily="34" charset="-120"/>
              </a:rPr>
              <a:t>01</a:t>
            </a:r>
            <a:endParaRPr lang="en-US" sz="2800" dirty="0"/>
          </a:p>
        </p:txBody>
      </p:sp>
      <p:sp>
        <p:nvSpPr>
          <p:cNvPr id="7" name="Text 5"/>
          <p:cNvSpPr/>
          <p:nvPr/>
        </p:nvSpPr>
        <p:spPr>
          <a:xfrm>
            <a:off x="1092200" y="2938711"/>
            <a:ext cx="291266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233"/>
                </a:solidFill>
                <a:latin typeface="IBM Plex Sans" pitchFamily="34" charset="0"/>
                <a:ea typeface="IBM Plex Sans" pitchFamily="34" charset="-122"/>
                <a:cs typeface="IBM Plex Sans" pitchFamily="34" charset="-120"/>
              </a:rPr>
              <a:t>Lower the cost to serve</a:t>
            </a:r>
            <a:endParaRPr lang="en-US" sz="2000" dirty="0"/>
          </a:p>
        </p:txBody>
      </p:sp>
      <p:sp>
        <p:nvSpPr>
          <p:cNvPr id="8" name="Text 6"/>
          <p:cNvSpPr/>
          <p:nvPr/>
        </p:nvSpPr>
        <p:spPr>
          <a:xfrm>
            <a:off x="1170432" y="3370511"/>
            <a:ext cx="2826817" cy="157202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Lean "essentials" tier so clients trade down, not out</a:t>
            </a:r>
            <a:endParaRPr lang="en-US" sz="1400" dirty="0"/>
          </a:p>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Self-service first, people for high-stakes moments</a:t>
            </a:r>
            <a:endParaRPr lang="en-US" sz="1400" dirty="0"/>
          </a:p>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Fewer handoffs, errors and repeat contacts</a:t>
            </a:r>
            <a:endParaRPr lang="en-US" sz="1400" dirty="0"/>
          </a:p>
        </p:txBody>
      </p:sp>
      <p:sp>
        <p:nvSpPr>
          <p:cNvPr id="9" name="Shape 7"/>
          <p:cNvSpPr/>
          <p:nvPr/>
        </p:nvSpPr>
        <p:spPr>
          <a:xfrm>
            <a:off x="4402634" y="2138611"/>
            <a:ext cx="3386683" cy="3362722"/>
          </a:xfrm>
          <a:prstGeom prst="roundRect">
            <a:avLst>
              <a:gd name="adj" fmla="val 2266"/>
            </a:avLst>
          </a:prstGeom>
          <a:solidFill>
            <a:srgbClr val="FBFAF6"/>
          </a:solidFill>
          <a:ln/>
        </p:spPr>
      </p:sp>
      <p:sp>
        <p:nvSpPr>
          <p:cNvPr id="10" name="Shape 8"/>
          <p:cNvSpPr/>
          <p:nvPr/>
        </p:nvSpPr>
        <p:spPr>
          <a:xfrm>
            <a:off x="4402634" y="2138611"/>
            <a:ext cx="3386683" cy="3362722"/>
          </a:xfrm>
          <a:custGeom>
            <a:avLst/>
            <a:gdLst/>
            <a:ahLst/>
            <a:cxnLst/>
            <a:rect l="l" t="t" r="r" b="b"/>
            <a:pathLst>
              <a:path w="3386683" h="3362722">
                <a:moveTo>
                  <a:pt x="0" y="76200"/>
                </a:moveTo>
                <a:lnTo>
                  <a:pt x="0" y="76200"/>
                </a:lnTo>
                <a:arcTo hR="76200" wR="76200" stAng="10800000" swAng="5400000"/>
                <a:lnTo>
                  <a:pt x="3310483" y="0"/>
                </a:lnTo>
                <a:arcTo hR="76200" wR="76200" stAng="16200000" swAng="5400000"/>
                <a:lnTo>
                  <a:pt x="3386683" y="76200"/>
                </a:lnTo>
                <a:arcTo hR="38100" wR="76200" stAng="0" swAng="-5400000"/>
                <a:lnTo>
                  <a:pt x="76200" y="38100"/>
                </a:lnTo>
                <a:arcTo hR="38100" wR="76200" stAng="16200000" swAng="-5400000"/>
                <a:close/>
              </a:path>
            </a:pathLst>
          </a:custGeom>
          <a:solidFill>
            <a:srgbClr val="0F2233"/>
          </a:solidFill>
          <a:ln/>
        </p:spPr>
      </p:sp>
      <p:sp>
        <p:nvSpPr>
          <p:cNvPr id="11" name="Text 9"/>
          <p:cNvSpPr/>
          <p:nvPr/>
        </p:nvSpPr>
        <p:spPr>
          <a:xfrm>
            <a:off x="4682034" y="2456111"/>
            <a:ext cx="29127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A5A12"/>
                </a:solidFill>
                <a:latin typeface="IBM Plex Sans" pitchFamily="34" charset="0"/>
                <a:ea typeface="IBM Plex Sans" pitchFamily="34" charset="-122"/>
                <a:cs typeface="IBM Plex Sans" pitchFamily="34" charset="-120"/>
              </a:rPr>
              <a:t>02</a:t>
            </a:r>
            <a:endParaRPr lang="en-US" sz="2800" dirty="0"/>
          </a:p>
        </p:txBody>
      </p:sp>
      <p:sp>
        <p:nvSpPr>
          <p:cNvPr id="12" name="Text 10"/>
          <p:cNvSpPr/>
          <p:nvPr/>
        </p:nvSpPr>
        <p:spPr>
          <a:xfrm>
            <a:off x="4682034" y="2938711"/>
            <a:ext cx="291272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233"/>
                </a:solidFill>
                <a:latin typeface="IBM Plex Sans" pitchFamily="34" charset="0"/>
                <a:ea typeface="IBM Plex Sans" pitchFamily="34" charset="-122"/>
                <a:cs typeface="IBM Plex Sans" pitchFamily="34" charset="-120"/>
              </a:rPr>
              <a:t>Build downturn-ready offerings</a:t>
            </a:r>
            <a:endParaRPr lang="en-US" sz="2000" dirty="0"/>
          </a:p>
        </p:txBody>
      </p:sp>
      <p:sp>
        <p:nvSpPr>
          <p:cNvPr id="13" name="Text 11"/>
          <p:cNvSpPr/>
          <p:nvPr/>
        </p:nvSpPr>
        <p:spPr>
          <a:xfrm>
            <a:off x="4760266" y="3675311"/>
            <a:ext cx="2826868" cy="131425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Workforce and cash-flow scenario advisory</a:t>
            </a:r>
            <a:endParaRPr lang="en-US" sz="1400" dirty="0"/>
          </a:p>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Benefits affordability engineering</a:t>
            </a:r>
            <a:endParaRPr lang="en-US" sz="1400" dirty="0"/>
          </a:p>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Relief and tax-credit navigation</a:t>
            </a:r>
            <a:endParaRPr lang="en-US" sz="1400" dirty="0"/>
          </a:p>
        </p:txBody>
      </p:sp>
      <p:sp>
        <p:nvSpPr>
          <p:cNvPr id="14" name="Shape 12"/>
          <p:cNvSpPr/>
          <p:nvPr/>
        </p:nvSpPr>
        <p:spPr>
          <a:xfrm>
            <a:off x="7992517" y="2138611"/>
            <a:ext cx="3386683" cy="3362722"/>
          </a:xfrm>
          <a:prstGeom prst="roundRect">
            <a:avLst>
              <a:gd name="adj" fmla="val 2266"/>
            </a:avLst>
          </a:prstGeom>
          <a:solidFill>
            <a:srgbClr val="FBFAF6"/>
          </a:solidFill>
          <a:ln/>
        </p:spPr>
      </p:sp>
      <p:sp>
        <p:nvSpPr>
          <p:cNvPr id="15" name="Shape 13"/>
          <p:cNvSpPr/>
          <p:nvPr/>
        </p:nvSpPr>
        <p:spPr>
          <a:xfrm>
            <a:off x="7992517" y="2138611"/>
            <a:ext cx="3386683" cy="3362722"/>
          </a:xfrm>
          <a:custGeom>
            <a:avLst/>
            <a:gdLst/>
            <a:ahLst/>
            <a:cxnLst/>
            <a:rect l="l" t="t" r="r" b="b"/>
            <a:pathLst>
              <a:path w="3386683" h="3362722">
                <a:moveTo>
                  <a:pt x="0" y="76200"/>
                </a:moveTo>
                <a:lnTo>
                  <a:pt x="0" y="76200"/>
                </a:lnTo>
                <a:arcTo hR="76200" wR="76200" stAng="10800000" swAng="5400000"/>
                <a:lnTo>
                  <a:pt x="3310483" y="0"/>
                </a:lnTo>
                <a:arcTo hR="76200" wR="76200" stAng="16200000" swAng="5400000"/>
                <a:lnTo>
                  <a:pt x="3386683" y="76200"/>
                </a:lnTo>
                <a:arcTo hR="38100" wR="76200" stAng="0" swAng="-5400000"/>
                <a:lnTo>
                  <a:pt x="76200" y="38100"/>
                </a:lnTo>
                <a:arcTo hR="38100" wR="76200" stAng="16200000" swAng="-5400000"/>
                <a:close/>
              </a:path>
            </a:pathLst>
          </a:custGeom>
          <a:solidFill>
            <a:srgbClr val="0F2233"/>
          </a:solidFill>
          <a:ln/>
        </p:spPr>
      </p:sp>
      <p:sp>
        <p:nvSpPr>
          <p:cNvPr id="16" name="Text 14"/>
          <p:cNvSpPr/>
          <p:nvPr/>
        </p:nvSpPr>
        <p:spPr>
          <a:xfrm>
            <a:off x="8271917" y="2456111"/>
            <a:ext cx="29127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8A5A12"/>
                </a:solidFill>
                <a:latin typeface="IBM Plex Sans" pitchFamily="34" charset="0"/>
                <a:ea typeface="IBM Plex Sans" pitchFamily="34" charset="-122"/>
                <a:cs typeface="IBM Plex Sans" pitchFamily="34" charset="-120"/>
              </a:rPr>
              <a:t>03</a:t>
            </a:r>
            <a:endParaRPr lang="en-US" sz="2800" dirty="0"/>
          </a:p>
        </p:txBody>
      </p:sp>
      <p:sp>
        <p:nvSpPr>
          <p:cNvPr id="17" name="Text 15"/>
          <p:cNvSpPr/>
          <p:nvPr/>
        </p:nvSpPr>
        <p:spPr>
          <a:xfrm>
            <a:off x="8271917" y="2938711"/>
            <a:ext cx="291272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233"/>
                </a:solidFill>
                <a:latin typeface="IBM Plex Sans" pitchFamily="34" charset="0"/>
                <a:ea typeface="IBM Plex Sans" pitchFamily="34" charset="-122"/>
                <a:cs typeface="IBM Plex Sans" pitchFamily="34" charset="-120"/>
              </a:rPr>
              <a:t>Grow revenue beyond headcount</a:t>
            </a:r>
            <a:endParaRPr lang="en-US" sz="2000" dirty="0"/>
          </a:p>
        </p:txBody>
      </p:sp>
      <p:sp>
        <p:nvSpPr>
          <p:cNvPr id="18" name="Text 16"/>
          <p:cNvSpPr/>
          <p:nvPr/>
        </p:nvSpPr>
        <p:spPr>
          <a:xfrm>
            <a:off x="8350149" y="3675311"/>
            <a:ext cx="2826868" cy="157202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Advisory subscriptions with a path to full PEO</a:t>
            </a:r>
            <a:endParaRPr lang="en-US" sz="1400" dirty="0"/>
          </a:p>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Compliance-as-a-service for partners</a:t>
            </a:r>
            <a:endParaRPr lang="en-US" sz="1400" dirty="0"/>
          </a:p>
          <a:p>
            <a:pPr algn="l" marL="175768" indent="-175768">
              <a:lnSpc>
                <a:spcPts val="2030"/>
              </a:lnSpc>
              <a:buSzPct val="100000"/>
              <a:buChar char="•"/>
            </a:pPr>
            <a:r>
              <a:rPr lang="en-US" sz="1400" dirty="0">
                <a:solidFill>
                  <a:srgbClr val="3D4B59"/>
                </a:solidFill>
                <a:latin typeface="IBM Plex Sans" pitchFamily="34" charset="0"/>
                <a:ea typeface="IBM Plex Sans" pitchFamily="34" charset="-122"/>
                <a:cs typeface="IBM Plex Sans" pitchFamily="34" charset="-120"/>
              </a:rPr>
              <a:t>Governed SMB benchmarking and insights</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Navigating Rough Seas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BM Plex Sans" pitchFamily="34" charset="0"/>
                <a:ea typeface="IBM Plex Sans" pitchFamily="34" charset="-122"/>
                <a:cs typeface="IBM Plex Sans" pitchFamily="34" charset="-120"/>
              </a:rPr>
              <a:t>OUR HEADING</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F2233"/>
                </a:solidFill>
                <a:latin typeface="Libre Baskerville" pitchFamily="18" charset="0"/>
                <a:ea typeface="Libre Baskerville" pitchFamily="18" charset="-122"/>
                <a:cs typeface="Libre Baskerville" pitchFamily="18" charset="-120"/>
              </a:rPr>
              <a:t>Offerings built for a downturn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51311"/>
          <a:ext cx="10553700" cy="2476500"/>
        </p:xfrm>
        <a:graphic>
          <a:graphicData uri="http://schemas.openxmlformats.org/drawingml/2006/table">
            <a:tbl>
              <a:tblPr/>
              <a:tblGrid>
                <a:gridCol w="4010406"/>
                <a:gridCol w="6543294"/>
              </a:tblGrid>
              <a:tr h="412750">
                <a:tc>
                  <a:txBody>
                    <a:bodyPr/>
                    <a:lstStyle/>
                    <a:p>
                      <a:pPr indent="0" marL="0">
                        <a:lnSpc>
                          <a:spcPts val="2100"/>
                        </a:lnSpc>
                        <a:buNone/>
                      </a:pPr>
                      <a:r>
                        <a:rPr lang="en-US" sz="1500" b="1" dirty="0">
                          <a:solidFill>
                            <a:srgbClr val="F4F1EA"/>
                          </a:solidFill>
                          <a:latin typeface="IBM Plex Sans" pitchFamily="34" charset="0"/>
                          <a:ea typeface="IBM Plex Sans" pitchFamily="34" charset="-122"/>
                          <a:cs typeface="IBM Plex Sans" pitchFamily="34" charset="-120"/>
                        </a:rPr>
                        <a:t>Offering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indent="0" marL="0">
                        <a:lnSpc>
                          <a:spcPts val="2100"/>
                        </a:lnSpc>
                        <a:buNone/>
                      </a:pPr>
                      <a:r>
                        <a:rPr lang="en-US" sz="1500" b="1" dirty="0">
                          <a:solidFill>
                            <a:srgbClr val="F4F1EA"/>
                          </a:solidFill>
                          <a:latin typeface="IBM Plex Sans" pitchFamily="34" charset="0"/>
                          <a:ea typeface="IBM Plex Sans" pitchFamily="34" charset="-122"/>
                          <a:cs typeface="IBM Plex Sans" pitchFamily="34" charset="-120"/>
                        </a:rPr>
                        <a:t>What it does for an SMB</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412750">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Weather-the-storm advisory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Compares furlough, reduced hours and layoffs — compliantly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412750">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Cash-flow scenarios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Models payroll, benefits and headcount what-ifs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412750">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Benefits affordability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Keeps coverage while cutting cost, using pooled buying power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412750">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Relief navigation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Finds tax credits, grants and relief programs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412750">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Retention and reskilling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2100"/>
                        </a:lnSpc>
                        <a:buNone/>
                      </a:pPr>
                      <a:r>
                        <a:rPr lang="en-US" sz="1500" dirty="0">
                          <a:solidFill>
                            <a:srgbClr val="1E2A36"/>
                          </a:solidFill>
                          <a:latin typeface="IBM Plex Sans" pitchFamily="34" charset="0"/>
                          <a:ea typeface="IBM Plex Sans" pitchFamily="34" charset="-122"/>
                          <a:cs typeface="IBM Plex Sans" pitchFamily="34" charset="-120"/>
                        </a:rPr>
                        <a:t>Keeps key people and their know-how through cross-training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Navigating Rough Seas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BM Plex Sans" pitchFamily="34" charset="0"/>
                <a:ea typeface="IBM Plex Sans" pitchFamily="34" charset="-122"/>
                <a:cs typeface="IBM Plex Sans" pitchFamily="34" charset="-120"/>
              </a:rPr>
              <a:t>THE VESSEL</a:t>
            </a:r>
            <a:endParaRPr lang="en-US" sz="1200" dirty="0"/>
          </a:p>
        </p:txBody>
      </p:sp>
      <p:sp>
        <p:nvSpPr>
          <p:cNvPr id="3" name="Text 1"/>
          <p:cNvSpPr/>
          <p:nvPr>
            <p:ph type="title"/>
          </p:nvPr>
        </p:nvSpPr>
        <p:spPr>
          <a:xfrm>
            <a:off x="812800" y="1254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F2233"/>
                </a:solidFill>
                <a:latin typeface="Libre Baskerville" pitchFamily="18" charset="0"/>
                <a:ea typeface="Libre Baskerville" pitchFamily="18" charset="-122"/>
                <a:cs typeface="Libre Baskerville" pitchFamily="18" charset="-120"/>
              </a:rPr>
              <a:t>Keel &amp; North Star</a:t>
            </a:r>
            <a:endParaRPr lang="en-US" sz="3600" dirty="0"/>
          </a:p>
        </p:txBody>
      </p:sp>
      <p:sp>
        <p:nvSpPr>
          <p:cNvPr id="4" name="Shape 2"/>
          <p:cNvSpPr/>
          <p:nvPr/>
        </p:nvSpPr>
        <p:spPr>
          <a:xfrm>
            <a:off x="812800" y="1986211"/>
            <a:ext cx="10566400" cy="635000"/>
          </a:xfrm>
          <a:prstGeom prst="roundRect">
            <a:avLst>
              <a:gd name="adj" fmla="val 12000"/>
            </a:avLst>
          </a:prstGeom>
          <a:solidFill>
            <a:srgbClr val="D9A54A"/>
          </a:solidFill>
          <a:ln/>
        </p:spPr>
      </p:sp>
      <p:pic>
        <p:nvPicPr>
          <p:cNvPr id="5" name="Image 0" descr="Star">    </p:cNvPr>
          <p:cNvPicPr>
            <a:picLocks noChangeAspect="1"/>
          </p:cNvPicPr>
          <p:nvPr/>
        </p:nvPicPr>
        <p:blipFill>
          <a:blip r:embed="rId1"/>
          <a:srcRect l="0" r="0" t="0" b="0"/>
          <a:stretch/>
        </p:blipFill>
        <p:spPr>
          <a:xfrm>
            <a:off x="1066800" y="2151311"/>
            <a:ext cx="304800" cy="304800"/>
          </a:xfrm>
          <a:prstGeom prst="rect">
            <a:avLst/>
          </a:prstGeom>
        </p:spPr>
      </p:pic>
      <p:sp>
        <p:nvSpPr>
          <p:cNvPr id="6" name="Text 3"/>
          <p:cNvSpPr/>
          <p:nvPr/>
        </p:nvSpPr>
        <p:spPr>
          <a:xfrm>
            <a:off x="1549400" y="2152600"/>
            <a:ext cx="21583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2233"/>
                </a:solidFill>
                <a:latin typeface="IBM Plex Sans" pitchFamily="34" charset="0"/>
                <a:ea typeface="IBM Plex Sans" pitchFamily="34" charset="-122"/>
                <a:cs typeface="IBM Plex Sans" pitchFamily="34" charset="-120"/>
              </a:rPr>
              <a:t>North Star</a:t>
            </a:r>
            <a:endParaRPr lang="en-US" sz="1700" dirty="0"/>
          </a:p>
        </p:txBody>
      </p:sp>
      <p:sp>
        <p:nvSpPr>
          <p:cNvPr id="7" name="Text 4"/>
          <p:cNvSpPr/>
          <p:nvPr/>
        </p:nvSpPr>
        <p:spPr>
          <a:xfrm>
            <a:off x="3822700" y="2179241"/>
            <a:ext cx="75215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233"/>
                </a:solidFill>
                <a:latin typeface="IBM Plex Sans" pitchFamily="34" charset="0"/>
                <a:ea typeface="IBM Plex Sans" pitchFamily="34" charset="-122"/>
                <a:cs typeface="IBM Plex Sans" pitchFamily="34" charset="-120"/>
              </a:rPr>
              <a:t>Decision models · agents · intelligent advisory — where we steer</a:t>
            </a:r>
            <a:endParaRPr lang="en-US" sz="1400" dirty="0"/>
          </a:p>
        </p:txBody>
      </p:sp>
      <p:sp>
        <p:nvSpPr>
          <p:cNvPr id="8" name="Shape 5"/>
          <p:cNvSpPr/>
          <p:nvPr/>
        </p:nvSpPr>
        <p:spPr>
          <a:xfrm>
            <a:off x="812800" y="2710111"/>
            <a:ext cx="10566400" cy="635000"/>
          </a:xfrm>
          <a:prstGeom prst="roundRect">
            <a:avLst>
              <a:gd name="adj" fmla="val 12000"/>
            </a:avLst>
          </a:prstGeom>
          <a:solidFill>
            <a:srgbClr val="DCE5EB"/>
          </a:solidFill>
          <a:ln/>
        </p:spPr>
      </p:sp>
      <p:pic>
        <p:nvPicPr>
          <p:cNvPr id="9" name="Image 1" descr="Settings">    </p:cNvPr>
          <p:cNvPicPr>
            <a:picLocks noChangeAspect="1"/>
          </p:cNvPicPr>
          <p:nvPr/>
        </p:nvPicPr>
        <p:blipFill>
          <a:blip r:embed="rId2"/>
          <a:srcRect l="0" r="0" t="0" b="0"/>
          <a:stretch/>
        </p:blipFill>
        <p:spPr>
          <a:xfrm>
            <a:off x="1066800" y="2875211"/>
            <a:ext cx="304800" cy="304800"/>
          </a:xfrm>
          <a:prstGeom prst="rect">
            <a:avLst/>
          </a:prstGeom>
        </p:spPr>
      </p:pic>
      <p:sp>
        <p:nvSpPr>
          <p:cNvPr id="10" name="Text 6"/>
          <p:cNvSpPr/>
          <p:nvPr/>
        </p:nvSpPr>
        <p:spPr>
          <a:xfrm>
            <a:off x="1549400" y="2876500"/>
            <a:ext cx="21583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2233"/>
                </a:solidFill>
                <a:latin typeface="IBM Plex Sans" pitchFamily="34" charset="0"/>
                <a:ea typeface="IBM Plex Sans" pitchFamily="34" charset="-122"/>
                <a:cs typeface="IBM Plex Sans" pitchFamily="34" charset="-120"/>
              </a:rPr>
              <a:t>Services</a:t>
            </a:r>
            <a:endParaRPr lang="en-US" sz="1700" dirty="0"/>
          </a:p>
        </p:txBody>
      </p:sp>
      <p:sp>
        <p:nvSpPr>
          <p:cNvPr id="11" name="Text 7"/>
          <p:cNvSpPr/>
          <p:nvPr/>
        </p:nvSpPr>
        <p:spPr>
          <a:xfrm>
            <a:off x="3822700" y="2903141"/>
            <a:ext cx="75215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36"/>
                </a:solidFill>
                <a:latin typeface="IBM Plex Sans" pitchFamily="34" charset="0"/>
                <a:ea typeface="IBM Plex Sans" pitchFamily="34" charset="-122"/>
                <a:cs typeface="IBM Plex Sans" pitchFamily="34" charset="-120"/>
              </a:rPr>
              <a:t>Reusable microservices assembled into each tier and offering</a:t>
            </a:r>
            <a:endParaRPr lang="en-US" sz="1400" dirty="0"/>
          </a:p>
        </p:txBody>
      </p:sp>
      <p:sp>
        <p:nvSpPr>
          <p:cNvPr id="12" name="Shape 8"/>
          <p:cNvSpPr/>
          <p:nvPr/>
        </p:nvSpPr>
        <p:spPr>
          <a:xfrm>
            <a:off x="812800" y="3434011"/>
            <a:ext cx="10566400" cy="827980"/>
          </a:xfrm>
          <a:prstGeom prst="roundRect">
            <a:avLst>
              <a:gd name="adj" fmla="val 9203"/>
            </a:avLst>
          </a:prstGeom>
          <a:solidFill>
            <a:srgbClr val="0F2233"/>
          </a:solidFill>
          <a:ln/>
        </p:spPr>
      </p:sp>
      <p:pic>
        <p:nvPicPr>
          <p:cNvPr id="13" name="Image 2" descr="Lock">    </p:cNvPr>
          <p:cNvPicPr>
            <a:picLocks noChangeAspect="1"/>
          </p:cNvPicPr>
          <p:nvPr/>
        </p:nvPicPr>
        <p:blipFill>
          <a:blip r:embed="rId3"/>
          <a:srcRect l="0" r="0" t="0" b="0"/>
          <a:stretch/>
        </p:blipFill>
        <p:spPr>
          <a:xfrm>
            <a:off x="1066800" y="3695601"/>
            <a:ext cx="304800" cy="304800"/>
          </a:xfrm>
          <a:prstGeom prst="rect">
            <a:avLst/>
          </a:prstGeom>
        </p:spPr>
      </p:pic>
      <p:sp>
        <p:nvSpPr>
          <p:cNvPr id="14" name="Text 9"/>
          <p:cNvSpPr/>
          <p:nvPr/>
        </p:nvSpPr>
        <p:spPr>
          <a:xfrm>
            <a:off x="1549400" y="3696891"/>
            <a:ext cx="21583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4F1EA"/>
                </a:solidFill>
                <a:latin typeface="IBM Plex Sans" pitchFamily="34" charset="0"/>
                <a:ea typeface="IBM Plex Sans" pitchFamily="34" charset="-122"/>
                <a:cs typeface="IBM Plex Sans" pitchFamily="34" charset="-120"/>
              </a:rPr>
              <a:t>Keel</a:t>
            </a:r>
            <a:endParaRPr lang="en-US" sz="1700" dirty="0"/>
          </a:p>
        </p:txBody>
      </p:sp>
      <p:sp>
        <p:nvSpPr>
          <p:cNvPr id="15" name="Text 10"/>
          <p:cNvSpPr/>
          <p:nvPr/>
        </p:nvSpPr>
        <p:spPr>
          <a:xfrm>
            <a:off x="3822700" y="3599111"/>
            <a:ext cx="75215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0"/>
                </a:solidFill>
                <a:latin typeface="IBM Plex Sans" pitchFamily="34" charset="0"/>
                <a:ea typeface="IBM Plex Sans" pitchFamily="34" charset="-122"/>
                <a:cs typeface="IBM Plex Sans" pitchFamily="34" charset="-120"/>
              </a:rPr>
              <a:t>Single source of truth for rules · vocabularies, taxonomies, ontologies · MTBH trust — Insperity's IP</a:t>
            </a:r>
            <a:endParaRPr lang="en-US" sz="1400" dirty="0"/>
          </a:p>
        </p:txBody>
      </p:sp>
      <p:sp>
        <p:nvSpPr>
          <p:cNvPr id="16" name="Shape 11"/>
          <p:cNvSpPr/>
          <p:nvPr/>
        </p:nvSpPr>
        <p:spPr>
          <a:xfrm>
            <a:off x="819150" y="4357241"/>
            <a:ext cx="10553700" cy="647700"/>
          </a:xfrm>
          <a:prstGeom prst="roundRect">
            <a:avLst>
              <a:gd name="adj" fmla="val 10784"/>
            </a:avLst>
          </a:prstGeom>
          <a:solidFill>
            <a:srgbClr val="FBFAF6"/>
          </a:solidFill>
          <a:ln w="12700">
            <a:solidFill>
              <a:srgbClr val="9AA6B2"/>
            </a:solidFill>
            <a:prstDash val="dash"/>
          </a:ln>
        </p:spPr>
      </p:sp>
      <p:pic>
        <p:nvPicPr>
          <p:cNvPr id="17" name="Image 3" descr="Cloud">    </p:cNvPr>
          <p:cNvPicPr>
            <a:picLocks noChangeAspect="1"/>
          </p:cNvPicPr>
          <p:nvPr/>
        </p:nvPicPr>
        <p:blipFill>
          <a:blip r:embed="rId4"/>
          <a:srcRect l="0" r="0" t="0" b="0"/>
          <a:stretch/>
        </p:blipFill>
        <p:spPr>
          <a:xfrm>
            <a:off x="1079500" y="4528691"/>
            <a:ext cx="304800" cy="304800"/>
          </a:xfrm>
          <a:prstGeom prst="rect">
            <a:avLst/>
          </a:prstGeom>
        </p:spPr>
      </p:pic>
      <p:sp>
        <p:nvSpPr>
          <p:cNvPr id="18" name="Text 12"/>
          <p:cNvSpPr/>
          <p:nvPr/>
        </p:nvSpPr>
        <p:spPr>
          <a:xfrm>
            <a:off x="1562100" y="4529981"/>
            <a:ext cx="21583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D4B59"/>
                </a:solidFill>
                <a:latin typeface="IBM Plex Sans" pitchFamily="34" charset="0"/>
                <a:ea typeface="IBM Plex Sans" pitchFamily="34" charset="-122"/>
                <a:cs typeface="IBM Plex Sans" pitchFamily="34" charset="-120"/>
              </a:rPr>
              <a:t>Platforms</a:t>
            </a:r>
            <a:endParaRPr lang="en-US" sz="1700" dirty="0"/>
          </a:p>
        </p:txBody>
      </p:sp>
      <p:sp>
        <p:nvSpPr>
          <p:cNvPr id="19" name="Text 13"/>
          <p:cNvSpPr/>
          <p:nvPr/>
        </p:nvSpPr>
        <p:spPr>
          <a:xfrm>
            <a:off x="3835400" y="4556621"/>
            <a:ext cx="749541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B59"/>
                </a:solidFill>
                <a:latin typeface="IBM Plex Sans" pitchFamily="34" charset="0"/>
                <a:ea typeface="IBM Plex Sans" pitchFamily="34" charset="-122"/>
                <a:cs typeface="IBM Plex Sans" pitchFamily="34" charset="-120"/>
              </a:rPr>
              <a:t>HRScale (Workday) · Copilot · Compass — extended, not replaced</a:t>
            </a:r>
            <a:endParaRPr lang="en-US" sz="14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Navigating Rough Seas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E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BM Plex Sans" pitchFamily="34" charset="0"/>
                <a:ea typeface="IBM Plex Sans" pitchFamily="34" charset="-122"/>
                <a:cs typeface="IBM Plex Sans" pitchFamily="34" charset="-120"/>
              </a:rPr>
              <a:t>THE VESSEL</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F2233"/>
                </a:solidFill>
                <a:latin typeface="Libre Baskerville" pitchFamily="18" charset="0"/>
                <a:ea typeface="Libre Baskerville" pitchFamily="18" charset="-122"/>
                <a:cs typeface="Libre Baskerville" pitchFamily="18" charset="-120"/>
              </a:rPr>
              <a:t>Built to weather AI cost spikes</a:t>
            </a:r>
            <a:endParaRPr lang="en-US" sz="3600" dirty="0"/>
          </a:p>
        </p:txBody>
      </p:sp>
      <p:sp>
        <p:nvSpPr>
          <p:cNvPr id="4" name="Shape 2"/>
          <p:cNvSpPr/>
          <p:nvPr/>
        </p:nvSpPr>
        <p:spPr>
          <a:xfrm>
            <a:off x="812800" y="2037011"/>
            <a:ext cx="5194300" cy="1245791"/>
          </a:xfrm>
          <a:prstGeom prst="roundRect">
            <a:avLst>
              <a:gd name="adj" fmla="val 6117"/>
            </a:avLst>
          </a:prstGeom>
          <a:solidFill>
            <a:srgbClr val="FBFAF6"/>
          </a:solidFill>
          <a:ln/>
        </p:spPr>
      </p:sp>
      <p:pic>
        <p:nvPicPr>
          <p:cNvPr id="5" name="Image 0" descr="Database">    </p:cNvPr>
          <p:cNvPicPr>
            <a:picLocks noChangeAspect="1"/>
          </p:cNvPicPr>
          <p:nvPr/>
        </p:nvPicPr>
        <p:blipFill>
          <a:blip r:embed="rId1"/>
          <a:srcRect l="0" r="0" t="0" b="0"/>
          <a:stretch/>
        </p:blipFill>
        <p:spPr>
          <a:xfrm>
            <a:off x="1041400" y="2265611"/>
            <a:ext cx="330200" cy="330200"/>
          </a:xfrm>
          <a:prstGeom prst="rect">
            <a:avLst/>
          </a:prstGeom>
        </p:spPr>
      </p:pic>
      <p:sp>
        <p:nvSpPr>
          <p:cNvPr id="6" name="Text 3"/>
          <p:cNvSpPr/>
          <p:nvPr/>
        </p:nvSpPr>
        <p:spPr>
          <a:xfrm>
            <a:off x="1549400" y="2265611"/>
            <a:ext cx="435597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2233"/>
                </a:solidFill>
                <a:latin typeface="IBM Plex Sans" pitchFamily="34" charset="0"/>
                <a:ea typeface="IBM Plex Sans" pitchFamily="34" charset="-122"/>
                <a:cs typeface="IBM Plex Sans" pitchFamily="34" charset="-120"/>
              </a:rPr>
              <a:t>Deterministic core</a:t>
            </a:r>
            <a:endParaRPr lang="en-US" sz="1700" dirty="0"/>
          </a:p>
        </p:txBody>
      </p:sp>
      <p:sp>
        <p:nvSpPr>
          <p:cNvPr id="7" name="Text 4"/>
          <p:cNvSpPr/>
          <p:nvPr/>
        </p:nvSpPr>
        <p:spPr>
          <a:xfrm>
            <a:off x="1549400" y="2575471"/>
            <a:ext cx="435597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B59"/>
                </a:solidFill>
                <a:latin typeface="IBM Plex Sans" pitchFamily="34" charset="0"/>
                <a:ea typeface="IBM Plex Sans" pitchFamily="34" charset="-122"/>
                <a:cs typeface="IBM Plex Sans" pitchFamily="34" charset="-120"/>
              </a:rPr>
              <a:t>Eligibility, compliance and calculations run as governed logic — cheap, explainable, auditable.</a:t>
            </a:r>
            <a:endParaRPr lang="en-US" sz="1300" dirty="0"/>
          </a:p>
        </p:txBody>
      </p:sp>
      <p:sp>
        <p:nvSpPr>
          <p:cNvPr id="8" name="Shape 5"/>
          <p:cNvSpPr/>
          <p:nvPr/>
        </p:nvSpPr>
        <p:spPr>
          <a:xfrm>
            <a:off x="6184900" y="2037011"/>
            <a:ext cx="5194300" cy="1245791"/>
          </a:xfrm>
          <a:prstGeom prst="roundRect">
            <a:avLst>
              <a:gd name="adj" fmla="val 6117"/>
            </a:avLst>
          </a:prstGeom>
          <a:solidFill>
            <a:srgbClr val="FBFAF6"/>
          </a:solidFill>
          <a:ln/>
        </p:spPr>
      </p:sp>
      <p:pic>
        <p:nvPicPr>
          <p:cNvPr id="9" name="Image 1" descr="Chat">    </p:cNvPr>
          <p:cNvPicPr>
            <a:picLocks noChangeAspect="1"/>
          </p:cNvPicPr>
          <p:nvPr/>
        </p:nvPicPr>
        <p:blipFill>
          <a:blip r:embed="rId2"/>
          <a:srcRect l="0" r="0" t="0" b="0"/>
          <a:stretch/>
        </p:blipFill>
        <p:spPr>
          <a:xfrm>
            <a:off x="6413500" y="2265611"/>
            <a:ext cx="330200" cy="330200"/>
          </a:xfrm>
          <a:prstGeom prst="rect">
            <a:avLst/>
          </a:prstGeom>
        </p:spPr>
      </p:pic>
      <p:sp>
        <p:nvSpPr>
          <p:cNvPr id="10" name="Text 6"/>
          <p:cNvSpPr/>
          <p:nvPr/>
        </p:nvSpPr>
        <p:spPr>
          <a:xfrm>
            <a:off x="6921500" y="2265611"/>
            <a:ext cx="435597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2233"/>
                </a:solidFill>
                <a:latin typeface="IBM Plex Sans" pitchFamily="34" charset="0"/>
                <a:ea typeface="IBM Plex Sans" pitchFamily="34" charset="-122"/>
                <a:cs typeface="IBM Plex Sans" pitchFamily="34" charset="-120"/>
              </a:rPr>
              <a:t>Models only for language</a:t>
            </a:r>
            <a:endParaRPr lang="en-US" sz="1700" dirty="0"/>
          </a:p>
        </p:txBody>
      </p:sp>
      <p:sp>
        <p:nvSpPr>
          <p:cNvPr id="11" name="Text 7"/>
          <p:cNvSpPr/>
          <p:nvPr/>
        </p:nvSpPr>
        <p:spPr>
          <a:xfrm>
            <a:off x="6921500" y="2575471"/>
            <a:ext cx="435597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B59"/>
                </a:solidFill>
                <a:latin typeface="IBM Plex Sans" pitchFamily="34" charset="0"/>
                <a:ea typeface="IBM Plex Sans" pitchFamily="34" charset="-122"/>
                <a:cs typeface="IBM Plex Sans" pitchFamily="34" charset="-120"/>
              </a:rPr>
              <a:t>LLMs handle conversation and summaries, grounded in governed content. Small, cacheable calls.</a:t>
            </a:r>
            <a:endParaRPr lang="en-US" sz="1300" dirty="0"/>
          </a:p>
        </p:txBody>
      </p:sp>
      <p:sp>
        <p:nvSpPr>
          <p:cNvPr id="12" name="Shape 8"/>
          <p:cNvSpPr/>
          <p:nvPr/>
        </p:nvSpPr>
        <p:spPr>
          <a:xfrm>
            <a:off x="812800" y="3460601"/>
            <a:ext cx="5194300" cy="1245791"/>
          </a:xfrm>
          <a:prstGeom prst="roundRect">
            <a:avLst>
              <a:gd name="adj" fmla="val 6117"/>
            </a:avLst>
          </a:prstGeom>
          <a:solidFill>
            <a:srgbClr val="FBFAF6"/>
          </a:solidFill>
          <a:ln/>
        </p:spPr>
      </p:sp>
      <p:pic>
        <p:nvPicPr>
          <p:cNvPr id="13" name="Image 2" descr="Lightning">    </p:cNvPr>
          <p:cNvPicPr>
            <a:picLocks noChangeAspect="1"/>
          </p:cNvPicPr>
          <p:nvPr/>
        </p:nvPicPr>
        <p:blipFill>
          <a:blip r:embed="rId3"/>
          <a:srcRect l="0" r="0" t="0" b="0"/>
          <a:stretch/>
        </p:blipFill>
        <p:spPr>
          <a:xfrm>
            <a:off x="1041400" y="3689201"/>
            <a:ext cx="330200" cy="330200"/>
          </a:xfrm>
          <a:prstGeom prst="rect">
            <a:avLst/>
          </a:prstGeom>
        </p:spPr>
      </p:pic>
      <p:sp>
        <p:nvSpPr>
          <p:cNvPr id="14" name="Text 9"/>
          <p:cNvSpPr/>
          <p:nvPr/>
        </p:nvSpPr>
        <p:spPr>
          <a:xfrm>
            <a:off x="1549400" y="3689201"/>
            <a:ext cx="435597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2233"/>
                </a:solidFill>
                <a:latin typeface="IBM Plex Sans" pitchFamily="34" charset="0"/>
                <a:ea typeface="IBM Plex Sans" pitchFamily="34" charset="-122"/>
                <a:cs typeface="IBM Plex Sans" pitchFamily="34" charset="-120"/>
              </a:rPr>
              <a:t>Cost-aware routing</a:t>
            </a:r>
            <a:endParaRPr lang="en-US" sz="1700" dirty="0"/>
          </a:p>
        </p:txBody>
      </p:sp>
      <p:sp>
        <p:nvSpPr>
          <p:cNvPr id="15" name="Text 10"/>
          <p:cNvSpPr/>
          <p:nvPr/>
        </p:nvSpPr>
        <p:spPr>
          <a:xfrm>
            <a:off x="1549400" y="3999061"/>
            <a:ext cx="435597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B59"/>
                </a:solidFill>
                <a:latin typeface="IBM Plex Sans" pitchFamily="34" charset="0"/>
                <a:ea typeface="IBM Plex Sans" pitchFamily="34" charset="-122"/>
                <a:cs typeface="IBM Plex Sans" pitchFamily="34" charset="-120"/>
              </a:rPr>
              <a:t>Small models by default, larger ones only when needed. Track cost per answer.</a:t>
            </a:r>
            <a:endParaRPr lang="en-US" sz="1300" dirty="0"/>
          </a:p>
        </p:txBody>
      </p:sp>
      <p:sp>
        <p:nvSpPr>
          <p:cNvPr id="16" name="Shape 11"/>
          <p:cNvSpPr/>
          <p:nvPr/>
        </p:nvSpPr>
        <p:spPr>
          <a:xfrm>
            <a:off x="6184900" y="3460601"/>
            <a:ext cx="5194300" cy="1245791"/>
          </a:xfrm>
          <a:prstGeom prst="roundRect">
            <a:avLst>
              <a:gd name="adj" fmla="val 6117"/>
            </a:avLst>
          </a:prstGeom>
          <a:solidFill>
            <a:srgbClr val="FBFAF6"/>
          </a:solidFill>
          <a:ln/>
        </p:spPr>
      </p:sp>
      <p:pic>
        <p:nvPicPr>
          <p:cNvPr id="17" name="Image 3" descr="Trust">    </p:cNvPr>
          <p:cNvPicPr>
            <a:picLocks noChangeAspect="1"/>
          </p:cNvPicPr>
          <p:nvPr/>
        </p:nvPicPr>
        <p:blipFill>
          <a:blip r:embed="rId4"/>
          <a:srcRect l="0" r="0" t="0" b="0"/>
          <a:stretch/>
        </p:blipFill>
        <p:spPr>
          <a:xfrm>
            <a:off x="6413500" y="3689201"/>
            <a:ext cx="330200" cy="330200"/>
          </a:xfrm>
          <a:prstGeom prst="rect">
            <a:avLst/>
          </a:prstGeom>
        </p:spPr>
      </p:pic>
      <p:sp>
        <p:nvSpPr>
          <p:cNvPr id="18" name="Text 12"/>
          <p:cNvSpPr/>
          <p:nvPr/>
        </p:nvSpPr>
        <p:spPr>
          <a:xfrm>
            <a:off x="6921500" y="3689201"/>
            <a:ext cx="435597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2233"/>
                </a:solidFill>
                <a:latin typeface="IBM Plex Sans" pitchFamily="34" charset="0"/>
                <a:ea typeface="IBM Plex Sans" pitchFamily="34" charset="-122"/>
                <a:cs typeface="IBM Plex Sans" pitchFamily="34" charset="-120"/>
              </a:rPr>
              <a:t>MTBH circuit breaker</a:t>
            </a:r>
            <a:endParaRPr lang="en-US" sz="1700" dirty="0"/>
          </a:p>
        </p:txBody>
      </p:sp>
      <p:sp>
        <p:nvSpPr>
          <p:cNvPr id="19" name="Text 13"/>
          <p:cNvSpPr/>
          <p:nvPr/>
        </p:nvSpPr>
        <p:spPr>
          <a:xfrm>
            <a:off x="6921500" y="3999061"/>
            <a:ext cx="435597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B59"/>
                </a:solidFill>
                <a:latin typeface="IBM Plex Sans" pitchFamily="34" charset="0"/>
                <a:ea typeface="IBM Plex Sans" pitchFamily="34" charset="-122"/>
                <a:cs typeface="IBM Plex Sans" pitchFamily="34" charset="-120"/>
              </a:rPr>
              <a:t>Measures reliability and falls back to rules or a person when confidence drops.</a:t>
            </a:r>
            <a:endParaRPr lang="en-US" sz="1300" dirty="0"/>
          </a:p>
        </p:txBody>
      </p:sp>
      <p:sp>
        <p:nvSpPr>
          <p:cNvPr id="20" name="Text 14"/>
          <p:cNvSpPr/>
          <p:nvPr/>
        </p:nvSpPr>
        <p:spPr>
          <a:xfrm>
            <a:off x="812800" y="496039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0F2233"/>
                </a:solidFill>
                <a:latin typeface="Libre Baskerville" pitchFamily="18" charset="0"/>
                <a:ea typeface="Libre Baskerville" pitchFamily="18" charset="-122"/>
                <a:cs typeface="Libre Baskerville" pitchFamily="18" charset="-120"/>
              </a:rPr>
              <a:t>Rising token prices raise the cost of a thin language layer — not the whole service.</a:t>
            </a:r>
            <a:endParaRPr lang="en-US" sz="1600" dirty="0"/>
          </a:p>
        </p:txBody>
      </p:sp>
      <p:sp>
        <p:nvSpPr>
          <p:cNvPr id="21"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Navigating Rough Seas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BM Plex Sans" pitchFamily="34" charset="0"/>
                <a:ea typeface="IBM Plex Sans" pitchFamily="34" charset="-122"/>
                <a:cs typeface="IBM Plex Sans" pitchFamily="34" charset="-120"/>
              </a:rPr>
              <a:t>THE VESSEL</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F2233"/>
                </a:solidFill>
                <a:latin typeface="Libre Baskerville" pitchFamily="18" charset="0"/>
                <a:ea typeface="Libre Baskerville" pitchFamily="18" charset="-122"/>
                <a:cs typeface="Libre Baskerville" pitchFamily="18" charset="-120"/>
              </a:rPr>
              <a:t>Every opportunity rides on the keel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49711"/>
          <a:ext cx="10553700" cy="2874566"/>
        </p:xfrm>
        <a:graphic>
          <a:graphicData uri="http://schemas.openxmlformats.org/drawingml/2006/table">
            <a:tbl>
              <a:tblPr/>
              <a:tblGrid>
                <a:gridCol w="3377184"/>
                <a:gridCol w="7176516"/>
              </a:tblGrid>
              <a:tr h="359321">
                <a:tc>
                  <a:txBody>
                    <a:bodyPr/>
                    <a:lstStyle/>
                    <a:p>
                      <a:pPr indent="0" marL="0">
                        <a:lnSpc>
                          <a:spcPts val="1820"/>
                        </a:lnSpc>
                        <a:buNone/>
                      </a:pPr>
                      <a:r>
                        <a:rPr lang="en-US" sz="1300" b="1" dirty="0">
                          <a:solidFill>
                            <a:srgbClr val="F4F1EA"/>
                          </a:solidFill>
                          <a:latin typeface="IBM Plex Sans" pitchFamily="34" charset="0"/>
                          <a:ea typeface="IBM Plex Sans" pitchFamily="34" charset="-122"/>
                          <a:cs typeface="IBM Plex Sans" pitchFamily="34" charset="-120"/>
                        </a:rPr>
                        <a:t>Opportunity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c>
                  <a:txBody>
                    <a:bodyPr/>
                    <a:lstStyle/>
                    <a:p>
                      <a:pPr indent="0" marL="0">
                        <a:lnSpc>
                          <a:spcPts val="1820"/>
                        </a:lnSpc>
                        <a:buNone/>
                      </a:pPr>
                      <a:r>
                        <a:rPr lang="en-US" sz="1300" b="1" dirty="0">
                          <a:solidFill>
                            <a:srgbClr val="F4F1EA"/>
                          </a:solidFill>
                          <a:latin typeface="IBM Plex Sans" pitchFamily="34" charset="0"/>
                          <a:ea typeface="IBM Plex Sans" pitchFamily="34" charset="-122"/>
                          <a:cs typeface="IBM Plex Sans" pitchFamily="34" charset="-120"/>
                        </a:rPr>
                        <a:t>Keel &amp; North Star enabler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F2C"/>
                      </a:solidFill>
                      <a:prstDash val="solid"/>
                      <a:round/>
                      <a:headEnd type="none" w="med" len="med"/>
                      <a:tailEnd type="none" w="med" len="med"/>
                    </a:lnL>
                    <a:lnR w="12700" cap="flat" cmpd="sng" algn="ctr">
                      <a:solidFill>
                        <a:srgbClr val="101F2C"/>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101F2C"/>
                      </a:solidFill>
                      <a:prstDash val="solid"/>
                      <a:round/>
                      <a:headEnd type="none" w="med" len="med"/>
                      <a:tailEnd type="none" w="med" len="med"/>
                    </a:lnB>
                    <a:solidFill>
                      <a:srgbClr val="0F2233"/>
                    </a:solidFill>
                  </a:tcPr>
                </a:tc>
              </a:tr>
              <a:tr h="359321">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Lean service tier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Reusable services and semantic components, assembled per tier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01F2C"/>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59321">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Downturn advisory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Decision models for furlough, RIF and hours, using governed rules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59321">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Lower cost to serve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Intelligent advisory plus the Living Handbook as a self-service hub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59321">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Compliance-as-a-service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Rules, constraints and logic published as partner APIs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59321">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Benchmarking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Governed vocabularies make data comparable and trustworthy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59321">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Retention and reskilling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Per-employee semantic models linking skills, roles and paths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59321">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Trust and defense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820"/>
                        </a:lnSpc>
                        <a:buNone/>
                      </a:pPr>
                      <a:r>
                        <a:rPr lang="en-US" sz="1300" dirty="0">
                          <a:solidFill>
                            <a:srgbClr val="1E2A36"/>
                          </a:solidFill>
                          <a:latin typeface="IBM Plex Sans" pitchFamily="34" charset="0"/>
                          <a:ea typeface="IBM Plex Sans" pitchFamily="34" charset="-122"/>
                          <a:cs typeface="IBM Plex Sans" pitchFamily="34" charset="-120"/>
                        </a:rPr>
                        <a:t>MTBH and deontic norms give an audit trail for every recommendation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Navigating Rough Seas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A5A12"/>
                </a:solidFill>
                <a:latin typeface="IBM Plex Sans" pitchFamily="34" charset="0"/>
                <a:ea typeface="IBM Plex Sans" pitchFamily="34" charset="-122"/>
                <a:cs typeface="IBM Plex Sans" pitchFamily="34" charset="-120"/>
              </a:rPr>
              <a:t>THE VOYAGE</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0F2233"/>
                </a:solidFill>
                <a:latin typeface="Libre Baskerville" pitchFamily="18" charset="0"/>
                <a:ea typeface="Libre Baskerville" pitchFamily="18" charset="-122"/>
                <a:cs typeface="Libre Baskerville" pitchFamily="18" charset="-120"/>
              </a:rPr>
              <a:t>Operationalize, industrialize, scale</a:t>
            </a:r>
            <a:endParaRPr lang="en-US" sz="3600" dirty="0"/>
          </a:p>
        </p:txBody>
      </p:sp>
      <p:sp>
        <p:nvSpPr>
          <p:cNvPr id="4" name="Shape 2"/>
          <p:cNvSpPr/>
          <p:nvPr/>
        </p:nvSpPr>
        <p:spPr>
          <a:xfrm>
            <a:off x="812800" y="2138611"/>
            <a:ext cx="3386634" cy="2737941"/>
          </a:xfrm>
          <a:prstGeom prst="roundRect">
            <a:avLst>
              <a:gd name="adj" fmla="val 2783"/>
            </a:avLst>
          </a:prstGeom>
          <a:solidFill>
            <a:srgbClr val="FBFAF6"/>
          </a:solidFill>
          <a:ln/>
        </p:spPr>
      </p:sp>
      <p:sp>
        <p:nvSpPr>
          <p:cNvPr id="5" name="Shape 3"/>
          <p:cNvSpPr/>
          <p:nvPr/>
        </p:nvSpPr>
        <p:spPr>
          <a:xfrm>
            <a:off x="812800" y="2138611"/>
            <a:ext cx="3386634" cy="2737941"/>
          </a:xfrm>
          <a:custGeom>
            <a:avLst/>
            <a:gdLst/>
            <a:ahLst/>
            <a:cxnLst/>
            <a:rect l="l" t="t" r="r" b="b"/>
            <a:pathLst>
              <a:path w="3386634" h="2737941">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8A5A12"/>
          </a:solidFill>
          <a:ln/>
        </p:spPr>
      </p:sp>
      <p:sp>
        <p:nvSpPr>
          <p:cNvPr id="6" name="Text 4"/>
          <p:cNvSpPr/>
          <p:nvPr/>
        </p:nvSpPr>
        <p:spPr>
          <a:xfrm>
            <a:off x="1092200" y="2456111"/>
            <a:ext cx="2912669"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8A5A12"/>
                </a:solidFill>
                <a:latin typeface="IBM Plex Sans" pitchFamily="34" charset="0"/>
                <a:ea typeface="IBM Plex Sans" pitchFamily="34" charset="-122"/>
                <a:cs typeface="IBM Plex Sans" pitchFamily="34" charset="-120"/>
              </a:rPr>
              <a:t>0–6 MONTHS</a:t>
            </a:r>
            <a:endParaRPr lang="en-US" sz="1300" dirty="0"/>
          </a:p>
        </p:txBody>
      </p:sp>
      <p:sp>
        <p:nvSpPr>
          <p:cNvPr id="7" name="Text 5"/>
          <p:cNvSpPr/>
          <p:nvPr/>
        </p:nvSpPr>
        <p:spPr>
          <a:xfrm>
            <a:off x="1092200" y="2801541"/>
            <a:ext cx="291266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233"/>
                </a:solidFill>
                <a:latin typeface="IBM Plex Sans" pitchFamily="34" charset="0"/>
                <a:ea typeface="IBM Plex Sans" pitchFamily="34" charset="-122"/>
                <a:cs typeface="IBM Plex Sans" pitchFamily="34" charset="-120"/>
              </a:rPr>
              <a:t>Operationalize</a:t>
            </a:r>
            <a:endParaRPr lang="en-US" sz="2000" dirty="0"/>
          </a:p>
        </p:txBody>
      </p:sp>
      <p:sp>
        <p:nvSpPr>
          <p:cNvPr id="8" name="Text 6"/>
          <p:cNvSpPr/>
          <p:nvPr/>
        </p:nvSpPr>
        <p:spPr>
          <a:xfrm>
            <a:off x="1092200" y="3220641"/>
            <a:ext cx="2912669"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B59"/>
                </a:solidFill>
                <a:latin typeface="IBM Plex Sans" pitchFamily="34" charset="0"/>
                <a:ea typeface="IBM Plex Sans" pitchFamily="34" charset="-122"/>
                <a:cs typeface="IBM Plex Sans" pitchFamily="34" charset="-120"/>
              </a:rPr>
              <a:t>Stand up the source of truth for compliance and benefits rules. Launch internal advisory to cut specialist workload.</a:t>
            </a:r>
            <a:endParaRPr lang="en-US" sz="1400" dirty="0"/>
          </a:p>
        </p:txBody>
      </p:sp>
      <p:sp>
        <p:nvSpPr>
          <p:cNvPr id="9" name="Text 7"/>
          <p:cNvSpPr/>
          <p:nvPr/>
        </p:nvSpPr>
        <p:spPr>
          <a:xfrm>
            <a:off x="1092200" y="4366022"/>
            <a:ext cx="29126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233"/>
                </a:solidFill>
                <a:latin typeface="IBM Plex Sans" pitchFamily="34" charset="0"/>
                <a:ea typeface="IBM Plex Sans" pitchFamily="34" charset="-122"/>
                <a:cs typeface="IBM Plex Sans" pitchFamily="34" charset="-120"/>
              </a:rPr>
              <a:t>Measure: cost to serve</a:t>
            </a:r>
            <a:endParaRPr lang="en-US" sz="1300" dirty="0"/>
          </a:p>
        </p:txBody>
      </p:sp>
      <p:sp>
        <p:nvSpPr>
          <p:cNvPr id="10" name="Shape 8"/>
          <p:cNvSpPr/>
          <p:nvPr/>
        </p:nvSpPr>
        <p:spPr>
          <a:xfrm>
            <a:off x="4402634" y="2138611"/>
            <a:ext cx="3386683" cy="2737941"/>
          </a:xfrm>
          <a:prstGeom prst="roundRect">
            <a:avLst>
              <a:gd name="adj" fmla="val 2783"/>
            </a:avLst>
          </a:prstGeom>
          <a:solidFill>
            <a:srgbClr val="FBFAF6"/>
          </a:solidFill>
          <a:ln/>
        </p:spPr>
      </p:sp>
      <p:sp>
        <p:nvSpPr>
          <p:cNvPr id="11" name="Shape 9"/>
          <p:cNvSpPr/>
          <p:nvPr/>
        </p:nvSpPr>
        <p:spPr>
          <a:xfrm>
            <a:off x="4402634" y="2138611"/>
            <a:ext cx="3386683" cy="2737941"/>
          </a:xfrm>
          <a:custGeom>
            <a:avLst/>
            <a:gdLst/>
            <a:ahLst/>
            <a:cxnLst/>
            <a:rect l="l" t="t" r="r" b="b"/>
            <a:pathLst>
              <a:path w="3386683" h="2737941">
                <a:moveTo>
                  <a:pt x="0" y="76200"/>
                </a:moveTo>
                <a:lnTo>
                  <a:pt x="0" y="76200"/>
                </a:lnTo>
                <a:arcTo hR="76200" wR="76200" stAng="10800000" swAng="5400000"/>
                <a:lnTo>
                  <a:pt x="3310483" y="0"/>
                </a:lnTo>
                <a:arcTo hR="76200" wR="76200" stAng="16200000" swAng="5400000"/>
                <a:lnTo>
                  <a:pt x="3386683" y="76200"/>
                </a:lnTo>
                <a:arcTo hR="38100" wR="76200" stAng="0" swAng="-5400000"/>
                <a:lnTo>
                  <a:pt x="76200" y="38100"/>
                </a:lnTo>
                <a:arcTo hR="38100" wR="76200" stAng="16200000" swAng="-5400000"/>
                <a:close/>
              </a:path>
            </a:pathLst>
          </a:custGeom>
          <a:solidFill>
            <a:srgbClr val="1E4560"/>
          </a:solidFill>
          <a:ln/>
        </p:spPr>
      </p:sp>
      <p:sp>
        <p:nvSpPr>
          <p:cNvPr id="12" name="Text 10"/>
          <p:cNvSpPr/>
          <p:nvPr/>
        </p:nvSpPr>
        <p:spPr>
          <a:xfrm>
            <a:off x="4682034" y="2456111"/>
            <a:ext cx="291272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E4560"/>
                </a:solidFill>
                <a:latin typeface="IBM Plex Sans" pitchFamily="34" charset="0"/>
                <a:ea typeface="IBM Plex Sans" pitchFamily="34" charset="-122"/>
                <a:cs typeface="IBM Plex Sans" pitchFamily="34" charset="-120"/>
              </a:rPr>
              <a:t>6–12 MONTHS</a:t>
            </a:r>
            <a:endParaRPr lang="en-US" sz="1300" dirty="0"/>
          </a:p>
        </p:txBody>
      </p:sp>
      <p:sp>
        <p:nvSpPr>
          <p:cNvPr id="13" name="Text 11"/>
          <p:cNvSpPr/>
          <p:nvPr/>
        </p:nvSpPr>
        <p:spPr>
          <a:xfrm>
            <a:off x="4682034" y="2801541"/>
            <a:ext cx="29127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233"/>
                </a:solidFill>
                <a:latin typeface="IBM Plex Sans" pitchFamily="34" charset="0"/>
                <a:ea typeface="IBM Plex Sans" pitchFamily="34" charset="-122"/>
                <a:cs typeface="IBM Plex Sans" pitchFamily="34" charset="-120"/>
              </a:rPr>
              <a:t>Industrialize</a:t>
            </a:r>
            <a:endParaRPr lang="en-US" sz="2000" dirty="0"/>
          </a:p>
        </p:txBody>
      </p:sp>
      <p:sp>
        <p:nvSpPr>
          <p:cNvPr id="14" name="Text 12"/>
          <p:cNvSpPr/>
          <p:nvPr/>
        </p:nvSpPr>
        <p:spPr>
          <a:xfrm>
            <a:off x="4682034" y="3220641"/>
            <a:ext cx="291272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B59"/>
                </a:solidFill>
                <a:latin typeface="IBM Plex Sans" pitchFamily="34" charset="0"/>
                <a:ea typeface="IBM Plex Sans" pitchFamily="34" charset="-122"/>
                <a:cs typeface="IBM Plex Sans" pitchFamily="34" charset="-120"/>
              </a:rPr>
              <a:t>Launch client-facing downturn advisory and the lean tier on the same components.</a:t>
            </a:r>
            <a:endParaRPr lang="en-US" sz="1400" dirty="0"/>
          </a:p>
        </p:txBody>
      </p:sp>
      <p:sp>
        <p:nvSpPr>
          <p:cNvPr id="15" name="Text 13"/>
          <p:cNvSpPr/>
          <p:nvPr/>
        </p:nvSpPr>
        <p:spPr>
          <a:xfrm>
            <a:off x="4682034" y="4108252"/>
            <a:ext cx="291272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233"/>
                </a:solidFill>
                <a:latin typeface="IBM Plex Sans" pitchFamily="34" charset="0"/>
                <a:ea typeface="IBM Plex Sans" pitchFamily="34" charset="-122"/>
                <a:cs typeface="IBM Plex Sans" pitchFamily="34" charset="-120"/>
              </a:rPr>
              <a:t>Measure: retention and trade-downs saved</a:t>
            </a:r>
            <a:endParaRPr lang="en-US" sz="1300" dirty="0"/>
          </a:p>
        </p:txBody>
      </p:sp>
      <p:sp>
        <p:nvSpPr>
          <p:cNvPr id="16" name="Shape 14"/>
          <p:cNvSpPr/>
          <p:nvPr/>
        </p:nvSpPr>
        <p:spPr>
          <a:xfrm>
            <a:off x="7992517" y="2138611"/>
            <a:ext cx="3386683" cy="2737941"/>
          </a:xfrm>
          <a:prstGeom prst="roundRect">
            <a:avLst>
              <a:gd name="adj" fmla="val 2783"/>
            </a:avLst>
          </a:prstGeom>
          <a:solidFill>
            <a:srgbClr val="FBFAF6"/>
          </a:solidFill>
          <a:ln/>
        </p:spPr>
      </p:sp>
      <p:sp>
        <p:nvSpPr>
          <p:cNvPr id="17" name="Shape 15"/>
          <p:cNvSpPr/>
          <p:nvPr/>
        </p:nvSpPr>
        <p:spPr>
          <a:xfrm>
            <a:off x="7992517" y="2138611"/>
            <a:ext cx="3386683" cy="2737941"/>
          </a:xfrm>
          <a:custGeom>
            <a:avLst/>
            <a:gdLst/>
            <a:ahLst/>
            <a:cxnLst/>
            <a:rect l="l" t="t" r="r" b="b"/>
            <a:pathLst>
              <a:path w="3386683" h="2737941">
                <a:moveTo>
                  <a:pt x="0" y="76200"/>
                </a:moveTo>
                <a:lnTo>
                  <a:pt x="0" y="76200"/>
                </a:lnTo>
                <a:arcTo hR="76200" wR="76200" stAng="10800000" swAng="5400000"/>
                <a:lnTo>
                  <a:pt x="3310483" y="0"/>
                </a:lnTo>
                <a:arcTo hR="76200" wR="76200" stAng="16200000" swAng="5400000"/>
                <a:lnTo>
                  <a:pt x="3386683" y="76200"/>
                </a:lnTo>
                <a:arcTo hR="38100" wR="76200" stAng="0" swAng="-5400000"/>
                <a:lnTo>
                  <a:pt x="76200" y="38100"/>
                </a:lnTo>
                <a:arcTo hR="38100" wR="76200" stAng="16200000" swAng="-5400000"/>
                <a:close/>
              </a:path>
            </a:pathLst>
          </a:custGeom>
          <a:solidFill>
            <a:srgbClr val="0F2233"/>
          </a:solidFill>
          <a:ln/>
        </p:spPr>
      </p:sp>
      <p:sp>
        <p:nvSpPr>
          <p:cNvPr id="18" name="Text 16"/>
          <p:cNvSpPr/>
          <p:nvPr/>
        </p:nvSpPr>
        <p:spPr>
          <a:xfrm>
            <a:off x="8271917" y="2456111"/>
            <a:ext cx="291272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0F2233"/>
                </a:solidFill>
                <a:latin typeface="IBM Plex Sans" pitchFamily="34" charset="0"/>
                <a:ea typeface="IBM Plex Sans" pitchFamily="34" charset="-122"/>
                <a:cs typeface="IBM Plex Sans" pitchFamily="34" charset="-120"/>
              </a:rPr>
              <a:t>12–18 MONTHS</a:t>
            </a:r>
            <a:endParaRPr lang="en-US" sz="1300" dirty="0"/>
          </a:p>
        </p:txBody>
      </p:sp>
      <p:sp>
        <p:nvSpPr>
          <p:cNvPr id="19" name="Text 17"/>
          <p:cNvSpPr/>
          <p:nvPr/>
        </p:nvSpPr>
        <p:spPr>
          <a:xfrm>
            <a:off x="8271917" y="2801541"/>
            <a:ext cx="29127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233"/>
                </a:solidFill>
                <a:latin typeface="IBM Plex Sans" pitchFamily="34" charset="0"/>
                <a:ea typeface="IBM Plex Sans" pitchFamily="34" charset="-122"/>
                <a:cs typeface="IBM Plex Sans" pitchFamily="34" charset="-120"/>
              </a:rPr>
              <a:t>Scale</a:t>
            </a:r>
            <a:endParaRPr lang="en-US" sz="2000" dirty="0"/>
          </a:p>
        </p:txBody>
      </p:sp>
      <p:sp>
        <p:nvSpPr>
          <p:cNvPr id="20" name="Text 18"/>
          <p:cNvSpPr/>
          <p:nvPr/>
        </p:nvSpPr>
        <p:spPr>
          <a:xfrm>
            <a:off x="8271917" y="3220641"/>
            <a:ext cx="291272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B59"/>
                </a:solidFill>
                <a:latin typeface="IBM Plex Sans" pitchFamily="34" charset="0"/>
                <a:ea typeface="IBM Plex Sans" pitchFamily="34" charset="-122"/>
                <a:cs typeface="IBM Plex Sans" pitchFamily="34" charset="-120"/>
              </a:rPr>
              <a:t>Partner APIs, advisory subscriptions and benchmarking as new revenue streams.</a:t>
            </a:r>
            <a:endParaRPr lang="en-US" sz="1400" dirty="0"/>
          </a:p>
        </p:txBody>
      </p:sp>
      <p:sp>
        <p:nvSpPr>
          <p:cNvPr id="21" name="Text 19"/>
          <p:cNvSpPr/>
          <p:nvPr/>
        </p:nvSpPr>
        <p:spPr>
          <a:xfrm>
            <a:off x="8271917" y="4108252"/>
            <a:ext cx="310728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2233"/>
                </a:solidFill>
                <a:latin typeface="IBM Plex Sans" pitchFamily="34" charset="0"/>
                <a:ea typeface="IBM Plex Sans" pitchFamily="34" charset="-122"/>
                <a:cs typeface="IBM Plex Sans" pitchFamily="34" charset="-120"/>
              </a:rPr>
              <a:t>Measure: revenue beyond headcount</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4"/>
                </a:solidFill>
                <a:latin typeface="IBM Plex Sans" pitchFamily="34" charset="0"/>
                <a:ea typeface="IBM Plex Sans" pitchFamily="34" charset="-122"/>
                <a:cs typeface="IBM Plex Sans" pitchFamily="34" charset="-120"/>
              </a:rPr>
              <a:t>Navigating Rough Seas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324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6324A"/>
              </a:gs>
              <a:gs pos="100000">
                <a:srgbClr val="0F2233"/>
              </a:gs>
            </a:gsLst>
            <a:lin ang="5400000" scaled="0"/>
          </a:gradFill>
          <a:ln/>
        </p:spPr>
      </p:sp>
      <p:pic>
        <p:nvPicPr>
          <p:cNvPr id="3" name="Image 0" descr="Star">    </p:cNvPr>
          <p:cNvPicPr>
            <a:picLocks noChangeAspect="1"/>
          </p:cNvPicPr>
          <p:nvPr/>
        </p:nvPicPr>
        <p:blipFill>
          <a:blip r:embed="rId1"/>
          <a:srcRect l="0" r="0" t="0" b="0"/>
          <a:stretch/>
        </p:blipFill>
        <p:spPr>
          <a:xfrm>
            <a:off x="812800" y="1546870"/>
            <a:ext cx="457200" cy="457200"/>
          </a:xfrm>
          <a:prstGeom prst="rect">
            <a:avLst/>
          </a:prstGeom>
        </p:spPr>
      </p:pic>
      <p:sp>
        <p:nvSpPr>
          <p:cNvPr id="4" name="Text 1"/>
          <p:cNvSpPr/>
          <p:nvPr>
            <p:ph type="title"/>
          </p:nvPr>
        </p:nvSpPr>
        <p:spPr>
          <a:xfrm>
            <a:off x="812800" y="2308870"/>
            <a:ext cx="10203180" cy="1122660"/>
          </a:xfrm>
          <a:prstGeom prst="rect">
            <a:avLst/>
          </a:prstGeom>
          <a:noFill/>
          <a:ln/>
        </p:spPr>
        <p:txBody>
          <a:bodyPr wrap="square" lIns="0" tIns="0" rIns="0" bIns="0" rtlCol="0" anchor="t">
            <a:normAutofit/>
          </a:bodyPr>
          <a:lstStyle/>
          <a:p>
            <a:pPr algn="l" indent="0" marL="0">
              <a:lnSpc>
                <a:spcPts val="4320"/>
              </a:lnSpc>
              <a:buNone/>
            </a:pPr>
            <a:r>
              <a:rPr lang="en-US" sz="3600" b="0" i="0" dirty="0">
                <a:solidFill>
                  <a:srgbClr val="F4F1EA"/>
                </a:solidFill>
                <a:latin typeface="Libre Baskerville" pitchFamily="18" charset="0"/>
                <a:ea typeface="Libre Baskerville" pitchFamily="18" charset="-122"/>
                <a:cs typeface="Libre Baskerville" pitchFamily="18" charset="-120"/>
              </a:rPr>
              <a:t>In a downturn, the firm that serves SMBs well at lower cost wins share.</a:t>
            </a:r>
            <a:endParaRPr lang="en-US" sz="3600" dirty="0"/>
          </a:p>
        </p:txBody>
      </p:sp>
      <p:sp>
        <p:nvSpPr>
          <p:cNvPr id="5" name="Text 2"/>
          <p:cNvSpPr/>
          <p:nvPr/>
        </p:nvSpPr>
        <p:spPr>
          <a:xfrm>
            <a:off x="812800" y="3710930"/>
            <a:ext cx="91567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0"/>
                </a:solidFill>
                <a:latin typeface="IBM Plex Sans" pitchFamily="34" charset="0"/>
                <a:ea typeface="IBM Plex Sans" pitchFamily="34" charset="-122"/>
                <a:cs typeface="IBM Plex Sans" pitchFamily="34" charset="-120"/>
              </a:rPr>
              <a:t>The semantic keel is what makes lower cost possible — without lowering quality or adding AI cost risk.</a:t>
            </a:r>
            <a:endParaRPr lang="en-US" sz="1800" dirty="0"/>
          </a:p>
        </p:txBody>
      </p:sp>
      <p:sp>
        <p:nvSpPr>
          <p:cNvPr id="6" name="Text 3"/>
          <p:cNvSpPr/>
          <p:nvPr/>
        </p:nvSpPr>
        <p:spPr>
          <a:xfrm>
            <a:off x="812800" y="4655790"/>
            <a:ext cx="1996182" cy="452090"/>
          </a:xfrm>
          <a:prstGeom prst="roundRect">
            <a:avLst>
              <a:gd name="adj" fmla="val 50000"/>
            </a:avLst>
          </a:prstGeom>
          <a:solidFill>
            <a:srgbClr val="D9A54A"/>
          </a:solidFill>
          <a:ln/>
        </p:spPr>
        <p:txBody>
          <a:bodyPr wrap="none" lIns="0" tIns="0" rIns="0" bIns="0" rtlCol="0" anchor="ctr">
            <a:normAutofit/>
          </a:bodyPr>
          <a:lstStyle/>
          <a:p>
            <a:pPr algn="ctr" indent="0" marL="0">
              <a:lnSpc>
                <a:spcPts val="1960"/>
              </a:lnSpc>
              <a:buNone/>
            </a:pPr>
            <a:r>
              <a:rPr lang="en-US" sz="1400" b="1" dirty="0">
                <a:solidFill>
                  <a:srgbClr val="0F2233"/>
                </a:solidFill>
                <a:latin typeface="IBM Plex Sans" pitchFamily="34" charset="0"/>
                <a:ea typeface="IBM Plex Sans" pitchFamily="34" charset="-122"/>
                <a:cs typeface="IBM Plex Sans" pitchFamily="34" charset="-120"/>
              </a:rPr>
              <a:t>Proposed next step</a:t>
            </a:r>
            <a:endParaRPr lang="en-US" sz="1400" dirty="0"/>
          </a:p>
        </p:txBody>
      </p:sp>
      <p:sp>
        <p:nvSpPr>
          <p:cNvPr id="7" name="Text 4"/>
          <p:cNvSpPr/>
          <p:nvPr/>
        </p:nvSpPr>
        <p:spPr>
          <a:xfrm>
            <a:off x="2961382" y="4739580"/>
            <a:ext cx="817864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A"/>
                </a:solidFill>
                <a:latin typeface="IBM Plex Sans" pitchFamily="34" charset="0"/>
                <a:ea typeface="IBM Plex Sans" pitchFamily="34" charset="-122"/>
                <a:cs typeface="IBM Plex Sans" pitchFamily="34" charset="-120"/>
              </a:rPr>
              <a:t>Pick one pilot — downturn workforce advisory — and baseline cost to serve.</a:t>
            </a:r>
            <a:endParaRPr lang="en-US" sz="16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3"/>
                </a:solidFill>
                <a:latin typeface="IBM Plex Sans" pitchFamily="34" charset="0"/>
                <a:ea typeface="IBM Plex Sans" pitchFamily="34" charset="-122"/>
                <a:cs typeface="IBM Plex Sans" pitchFamily="34" charset="-120"/>
              </a:rPr>
              <a:t>Navigating Rough Seas · 11</a:t>
            </a:r>
            <a:endParaRPr lang="en-US" sz="1200" dirty="0"/>
          </a:p>
        </p:txBody>
      </p:sp>
    </p:spTree>
  </p:cSld>
  <p:clrMapOvr>
    <a:masterClrMapping/>
  </p:clrMapOvr>
</p:sld>
</file>

<file path=ppt/theme/theme1.xml><?xml version="1.0" encoding="utf-8"?>
<a:theme xmlns:a="http://schemas.openxmlformats.org/drawingml/2006/main" name="Navigating Rough Seas">
  <a:themeElements>
    <a:clrScheme name="Navigating Rough Seas">
      <a:dk1>
        <a:srgbClr val="0F2233"/>
      </a:dk1>
      <a:lt1>
        <a:srgbClr val="F4F1EA"/>
      </a:lt1>
      <a:dk2>
        <a:srgbClr val="485661"/>
      </a:dk2>
      <a:lt2>
        <a:srgbClr val="DDDCD8"/>
      </a:lt2>
      <a:accent1>
        <a:srgbClr val="8A5A12"/>
      </a:accent1>
      <a:accent2>
        <a:srgbClr val="D9A54A"/>
      </a:accent2>
      <a:accent3>
        <a:srgbClr val="1E4560"/>
      </a:accent3>
      <a:accent4>
        <a:srgbClr val="3D4B59"/>
      </a:accent4>
      <a:accent5>
        <a:srgbClr val="6B7684"/>
      </a:accent5>
      <a:accent6>
        <a:srgbClr val="C9D6E0"/>
      </a:accent6>
      <a:hlink>
        <a:srgbClr val="0563C1"/>
      </a:hlink>
      <a:folHlink>
        <a:srgbClr val="954F72"/>
      </a:folHlink>
    </a:clrScheme>
    <a:fontScheme name="Navigating Rough Sea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Navigating Rough Seas</dc:title>
  <dc:subject/>
  <dc:creator/>
  <cp:lastModifiedBy/>
  <cp:revision>1</cp:revision>
  <dcterms:created xsi:type="dcterms:W3CDTF">2026-10-07T23:39:24Z</dcterms:created>
  <dcterms:modified xsi:type="dcterms:W3CDTF">2026-10-07T23:39:24Z</dcterms:modified>
</cp:coreProperties>
</file>