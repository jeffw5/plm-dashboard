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tooling request, but the real subject is the architecture it accelerates. The keel is our deterministic semantic foundation; the North Star is where it takes the enterprise. Claude is the force multiplier for engineering both, under the same governance we apply to human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ask so the board knows what it is deciding. Emphasize the third card: this is an accelerator inside our existing controls, not a new path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keel metaphor: a keel does not steer, it resists being pushed sideways so the vessel can hold a heading. Our materialized ontologies play that role. The hull, our virtualized mediation layer, displaces the drift so consumers stay dry. Governance is the ballast: without it, a bigger ship just capsizes faster. Claude accelerates building every part of this vessel, but it never replaces the ballast.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Star is the heading, not the destination. Four outcomes follow from it. The horizons show sequencing: H1 is the only commitment in this request; H2 and H3 are the direction the keel lets us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bottom to top: sources feed the mediation layer, which binds them to canonical IRIs in the materialized graphs; consumers only ever see the canonical semantics. Claude sits on the left as the engineering workbench feeding drafts into both layers. Governance sits on the right as the gate every change passes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hull doing its job. Note step 2 is the only step Claude owns, and it produces a draft. Steps 3 and 4 are deterministic gates and human judgment. The consumer-facing contract, the canonical IRIs, never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lanes, alternating. Every draft in the teal lane drops into a gold gate before the next draft begins. This is how we prevent deterministic propagation over ungated inference: uncertainty from the model never gets laundered into a published axiom or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60 to 75 percent figure is our target from the business case, not a measured result. Present it as the hypothesis the pilot will confirm or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claim modest: fluency means good drafts, and our validators remain the judge of correctness. The workspace point matters most for consistency: every engineer starts from the same upper ontology and naming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will ask about data residency and retention; have the enterprise terms ready. The data-handling rule is the strongest control: we work on models and synthetic triples, not production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boundaries are a proposal. Fill in baselines from the last two or three release cycles before the review so the targets are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The keel is already being built; this request makes it faster to build and safer to maintain, while the North Star stays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pic>
        <p:nvPicPr>
          <p:cNvPr id="2" name="Image 0" descr="Gold five-point star">    </p:cNvPr>
          <p:cNvPicPr>
            <a:picLocks noChangeAspect="1"/>
          </p:cNvPicPr>
          <p:nvPr/>
        </p:nvPicPr>
        <p:blipFill>
          <a:blip r:embed="rId1"/>
          <a:srcRect l="0" r="0" t="0" b="0"/>
          <a:stretch/>
        </p:blipFill>
        <p:spPr>
          <a:xfrm>
            <a:off x="10617200" y="812800"/>
            <a:ext cx="762000" cy="762000"/>
          </a:xfrm>
          <a:prstGeom prst="rect">
            <a:avLst/>
          </a:prstGeom>
        </p:spPr>
      </p:pic>
      <p:sp>
        <p:nvSpPr>
          <p:cNvPr id="3" name="Text 0"/>
          <p:cNvSpPr/>
          <p:nvPr/>
        </p:nvSpPr>
        <p:spPr>
          <a:xfrm>
            <a:off x="812800" y="214044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227"/>
                </a:solidFill>
                <a:latin typeface="IBM Plex Sans" pitchFamily="34" charset="0"/>
                <a:ea typeface="IBM Plex Sans" pitchFamily="34" charset="-122"/>
                <a:cs typeface="IBM Plex Sans" pitchFamily="34" charset="-120"/>
              </a:rPr>
              <a:t>KNOWLEDGE ENGINEERING · ARCHITECTURE REVIEW BOARD</a:t>
            </a:r>
            <a:endParaRPr lang="en-US" sz="1200" dirty="0"/>
          </a:p>
        </p:txBody>
      </p:sp>
      <p:sp>
        <p:nvSpPr>
          <p:cNvPr id="4" name="Text 1"/>
          <p:cNvSpPr/>
          <p:nvPr/>
        </p:nvSpPr>
        <p:spPr>
          <a:xfrm>
            <a:off x="812800" y="2607766"/>
            <a:ext cx="9810750" cy="2164953"/>
          </a:xfrm>
          <a:prstGeom prst="rect">
            <a:avLst/>
          </a:prstGeom>
          <a:noFill/>
          <a:ln/>
        </p:spPr>
        <p:txBody>
          <a:bodyPr wrap="square" lIns="0" tIns="0" rIns="0" bIns="0" rtlCol="0" anchor="t">
            <a:normAutofit/>
          </a:bodyPr>
          <a:lstStyle/>
          <a:p>
            <a:pPr algn="l" indent="0" marL="0">
              <a:lnSpc>
                <a:spcPts val="5616"/>
              </a:lnSpc>
              <a:buNone/>
            </a:pPr>
            <a:r>
              <a:rPr lang="en-US" sz="5200" b="1" dirty="0">
                <a:solidFill>
                  <a:srgbClr val="F6F4EE"/>
                </a:solidFill>
                <a:latin typeface="Source Serif 4" pitchFamily="34" charset="0"/>
                <a:ea typeface="Source Serif 4" pitchFamily="34" charset="-122"/>
                <a:cs typeface="Source Serif 4" pitchFamily="34" charset="-120"/>
              </a:rPr>
              <a:t>Holding course: the keel and North Star of the enterprise Semantic Fabric</a:t>
            </a:r>
            <a:endParaRPr lang="en-US" sz="5200" dirty="0"/>
          </a:p>
        </p:txBody>
      </p:sp>
      <p:sp>
        <p:nvSpPr>
          <p:cNvPr id="5" name="Text 2"/>
          <p:cNvSpPr/>
          <p:nvPr/>
        </p:nvSpPr>
        <p:spPr>
          <a:xfrm>
            <a:off x="812800" y="5001320"/>
            <a:ext cx="85026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Enterprise access to Claude for ontology engineering, semantic mediation and governance</a:t>
            </a:r>
            <a:endParaRPr lang="en-US" sz="1600" dirty="0"/>
          </a:p>
        </p:txBody>
      </p:sp>
      <p:pic>
        <p:nvPicPr>
          <p:cNvPr id="6" name="Image 1" descr="line">    </p:cNvPr>
          <p:cNvPicPr>
            <a:picLocks noChangeAspect="1"/>
          </p:cNvPicPr>
          <p:nvPr/>
        </p:nvPicPr>
        <p:blipFill>
          <a:blip r:embed="rId2"/>
          <a:srcRect l="0" r="0" t="0" b="0"/>
          <a:stretch/>
        </p:blipFill>
        <p:spPr>
          <a:xfrm>
            <a:off x="812800" y="5539780"/>
            <a:ext cx="1016000" cy="38100"/>
          </a:xfrm>
          <a:prstGeom prst="rect">
            <a:avLst/>
          </a:prstGeom>
        </p:spPr>
      </p:pic>
      <p:sp>
        <p:nvSpPr>
          <p:cNvPr id="7"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Executive review · September 29,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THE DECISION</a:t>
            </a:r>
            <a:endParaRPr lang="en-US" sz="1200" dirty="0"/>
          </a:p>
        </p:txBody>
      </p:sp>
      <p:sp>
        <p:nvSpPr>
          <p:cNvPr id="3" name="Text 1"/>
          <p:cNvSpPr/>
          <p:nvPr/>
        </p:nvSpPr>
        <p:spPr>
          <a:xfrm>
            <a:off x="812800" y="1127720"/>
            <a:ext cx="10464800" cy="84326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4213D"/>
                </a:solidFill>
                <a:latin typeface="Source Serif 4" pitchFamily="34" charset="0"/>
                <a:ea typeface="Source Serif 4" pitchFamily="34" charset="-122"/>
                <a:cs typeface="Source Serif 4" pitchFamily="34" charset="-120"/>
              </a:rPr>
              <a:t>Fund enterprise Claude seats for Knowledge Engineering, proven through a 90-day pilot</a:t>
            </a:r>
            <a:endParaRPr lang="en-US" sz="2800" dirty="0"/>
          </a:p>
        </p:txBody>
      </p:sp>
      <p:sp>
        <p:nvSpPr>
          <p:cNvPr id="4" name="Shape 2"/>
          <p:cNvSpPr/>
          <p:nvPr/>
        </p:nvSpPr>
        <p:spPr>
          <a:xfrm>
            <a:off x="815975" y="2253555"/>
            <a:ext cx="3380284" cy="1817241"/>
          </a:xfrm>
          <a:prstGeom prst="roundRect">
            <a:avLst>
              <a:gd name="adj" fmla="val 4018"/>
            </a:avLst>
          </a:prstGeom>
          <a:solidFill>
            <a:srgbClr val="FDFCF8"/>
          </a:solidFill>
          <a:ln w="6350">
            <a:solidFill>
              <a:srgbClr val="DAD6CB"/>
            </a:solidFill>
            <a:prstDash val="solid"/>
          </a:ln>
        </p:spPr>
      </p:sp>
      <p:sp>
        <p:nvSpPr>
          <p:cNvPr id="5" name="Text 3"/>
          <p:cNvSpPr/>
          <p:nvPr/>
        </p:nvSpPr>
        <p:spPr>
          <a:xfrm>
            <a:off x="1073150" y="2510730"/>
            <a:ext cx="295191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What we ask</a:t>
            </a:r>
            <a:endParaRPr lang="en-US" sz="1600" dirty="0"/>
          </a:p>
        </p:txBody>
      </p:sp>
      <p:sp>
        <p:nvSpPr>
          <p:cNvPr id="6" name="Text 4"/>
          <p:cNvSpPr/>
          <p:nvPr/>
        </p:nvSpPr>
        <p:spPr>
          <a:xfrm>
            <a:off x="1073150" y="2856161"/>
            <a:ext cx="2951912"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Team or Enterprise seats for ontologists, semantic architects and knowledge graph engineers, with SSO, RBAC and no training on our inputs.</a:t>
            </a:r>
            <a:endParaRPr lang="en-US" sz="1300" dirty="0"/>
          </a:p>
        </p:txBody>
      </p:sp>
      <p:sp>
        <p:nvSpPr>
          <p:cNvPr id="7" name="Shape 5"/>
          <p:cNvSpPr/>
          <p:nvPr/>
        </p:nvSpPr>
        <p:spPr>
          <a:xfrm>
            <a:off x="4405809" y="2253555"/>
            <a:ext cx="3380333" cy="1817241"/>
          </a:xfrm>
          <a:prstGeom prst="roundRect">
            <a:avLst>
              <a:gd name="adj" fmla="val 4018"/>
            </a:avLst>
          </a:prstGeom>
          <a:solidFill>
            <a:srgbClr val="FDFCF8"/>
          </a:solidFill>
          <a:ln w="6350">
            <a:solidFill>
              <a:srgbClr val="DAD6CB"/>
            </a:solidFill>
            <a:prstDash val="solid"/>
          </a:ln>
        </p:spPr>
      </p:sp>
      <p:sp>
        <p:nvSpPr>
          <p:cNvPr id="8" name="Text 6"/>
          <p:cNvSpPr/>
          <p:nvPr/>
        </p:nvSpPr>
        <p:spPr>
          <a:xfrm>
            <a:off x="4662984" y="2510730"/>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What it accelerates</a:t>
            </a:r>
            <a:endParaRPr lang="en-US" sz="1600" dirty="0"/>
          </a:p>
        </p:txBody>
      </p:sp>
      <p:sp>
        <p:nvSpPr>
          <p:cNvPr id="9" name="Text 7"/>
          <p:cNvSpPr/>
          <p:nvPr/>
        </p:nvSpPr>
        <p:spPr>
          <a:xfrm>
            <a:off x="4662984" y="2856161"/>
            <a:ext cx="2951963"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Ontology authoring, mapping maintenance under schema drift, and governance artifacts: SHACL shapes, PROV-O envelopes and change logs.</a:t>
            </a:r>
            <a:endParaRPr lang="en-US" sz="1300" dirty="0"/>
          </a:p>
        </p:txBody>
      </p:sp>
      <p:sp>
        <p:nvSpPr>
          <p:cNvPr id="10" name="Shape 8"/>
          <p:cNvSpPr/>
          <p:nvPr/>
        </p:nvSpPr>
        <p:spPr>
          <a:xfrm>
            <a:off x="7995692" y="2253555"/>
            <a:ext cx="3380333" cy="1817241"/>
          </a:xfrm>
          <a:prstGeom prst="roundRect">
            <a:avLst>
              <a:gd name="adj" fmla="val 4018"/>
            </a:avLst>
          </a:prstGeom>
          <a:solidFill>
            <a:srgbClr val="FDFCF8"/>
          </a:solidFill>
          <a:ln w="6350">
            <a:solidFill>
              <a:srgbClr val="DAD6CB"/>
            </a:solidFill>
            <a:prstDash val="solid"/>
          </a:ln>
        </p:spPr>
      </p:sp>
      <p:sp>
        <p:nvSpPr>
          <p:cNvPr id="11" name="Text 9"/>
          <p:cNvSpPr/>
          <p:nvPr/>
        </p:nvSpPr>
        <p:spPr>
          <a:xfrm>
            <a:off x="8252867" y="2510730"/>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What stays the same</a:t>
            </a:r>
            <a:endParaRPr lang="en-US" sz="1600" dirty="0"/>
          </a:p>
        </p:txBody>
      </p:sp>
      <p:sp>
        <p:nvSpPr>
          <p:cNvPr id="12" name="Text 10"/>
          <p:cNvSpPr/>
          <p:nvPr/>
        </p:nvSpPr>
        <p:spPr>
          <a:xfrm>
            <a:off x="8252867" y="2856161"/>
            <a:ext cx="2951963"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Every generated artifact passes the same peer review, CI/CD, SHACL and reasoner gates as human-authored work.</a:t>
            </a:r>
            <a:endParaRPr lang="en-US" sz="1300" dirty="0"/>
          </a:p>
        </p:txBody>
      </p:sp>
      <p:sp>
        <p:nvSpPr>
          <p:cNvPr id="13" name="Text 11"/>
          <p:cNvSpPr/>
          <p:nvPr/>
        </p:nvSpPr>
        <p:spPr>
          <a:xfrm>
            <a:off x="812800" y="6238280"/>
            <a:ext cx="2475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14" name="Text 12"/>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pic>
        <p:nvPicPr>
          <p:cNvPr id="2" name="Image 0" descr="Sailing vessel cross-section: superstructure above a wavy waterline, a navy hull below it, a keel fin descending to a gold ballast bulb, and a dashed bearing line from the mast to a gold star">    </p:cNvPr>
          <p:cNvPicPr>
            <a:picLocks noChangeAspect="1"/>
          </p:cNvPicPr>
          <p:nvPr/>
        </p:nvPicPr>
        <p:blipFill>
          <a:blip r:embed="rId1"/>
          <a:srcRect l="0" r="0" t="0" b="0"/>
          <a:stretch/>
        </p:blipFill>
        <p:spPr>
          <a:xfrm>
            <a:off x="812800" y="1778000"/>
            <a:ext cx="5715000" cy="3937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THE KEEL</a:t>
            </a:r>
            <a:endParaRPr lang="en-US" sz="1200" dirty="0"/>
          </a:p>
        </p:txBody>
      </p:sp>
      <p:sp>
        <p:nvSpPr>
          <p:cNvPr id="4" name="Text 1"/>
          <p:cNvSpPr/>
          <p:nvPr/>
        </p:nvSpPr>
        <p:spPr>
          <a:xfrm>
            <a:off x="812800" y="1127720"/>
            <a:ext cx="10883392" cy="84326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4213D"/>
                </a:solidFill>
                <a:latin typeface="Source Serif 4" pitchFamily="34" charset="0"/>
                <a:ea typeface="Source Serif 4" pitchFamily="34" charset="-122"/>
                <a:cs typeface="Source Serif 4" pitchFamily="34" charset="-120"/>
              </a:rPr>
              <a:t>Deterministic semantics keep the fabric upright as the sea moves</a:t>
            </a:r>
            <a:endParaRPr lang="en-US" sz="2800" dirty="0"/>
          </a:p>
        </p:txBody>
      </p:sp>
      <p:sp>
        <p:nvSpPr>
          <p:cNvPr id="5" name="Text 2"/>
          <p:cNvSpPr/>
          <p:nvPr/>
        </p:nvSpPr>
        <p:spPr>
          <a:xfrm>
            <a:off x="952500" y="2362200"/>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12"/>
                </a:solidFill>
                <a:latin typeface="IBM Plex Sans" pitchFamily="34" charset="0"/>
                <a:ea typeface="IBM Plex Sans" pitchFamily="34" charset="-122"/>
                <a:cs typeface="IBM Plex Sans" pitchFamily="34" charset="-120"/>
              </a:rPr>
              <a:t>North Star</a:t>
            </a:r>
            <a:endParaRPr lang="en-US" sz="1200" dirty="0"/>
          </a:p>
        </p:txBody>
      </p:sp>
      <p:pic>
        <p:nvPicPr>
          <p:cNvPr id="6" name="Image 1" descr="connector">    </p:cNvPr>
          <p:cNvPicPr>
            <a:picLocks noChangeAspect="1"/>
          </p:cNvPicPr>
          <p:nvPr/>
        </p:nvPicPr>
        <p:blipFill>
          <a:blip r:embed="rId2"/>
          <a:srcRect l="0" r="0" t="0" b="0"/>
          <a:stretch/>
        </p:blipFill>
        <p:spPr>
          <a:xfrm>
            <a:off x="4902200" y="1943100"/>
            <a:ext cx="1993900" cy="762000"/>
          </a:xfrm>
          <a:prstGeom prst="rect">
            <a:avLst/>
          </a:prstGeom>
        </p:spPr>
      </p:pic>
      <p:pic>
        <p:nvPicPr>
          <p:cNvPr id="7" name="Image 2" descr="connector">    </p:cNvPr>
          <p:cNvPicPr>
            <a:picLocks noChangeAspect="1"/>
          </p:cNvPicPr>
          <p:nvPr/>
        </p:nvPicPr>
        <p:blipFill>
          <a:blip r:embed="rId3"/>
          <a:srcRect l="0" r="0" t="0" b="0"/>
          <a:stretch/>
        </p:blipFill>
        <p:spPr>
          <a:xfrm>
            <a:off x="6489700" y="2705100"/>
            <a:ext cx="406400" cy="584200"/>
          </a:xfrm>
          <a:prstGeom prst="rect">
            <a:avLst/>
          </a:prstGeom>
        </p:spPr>
      </p:pic>
      <p:pic>
        <p:nvPicPr>
          <p:cNvPr id="8" name="Image 3" descr="connector">    </p:cNvPr>
          <p:cNvPicPr>
            <a:picLocks noChangeAspect="1"/>
          </p:cNvPicPr>
          <p:nvPr/>
        </p:nvPicPr>
        <p:blipFill>
          <a:blip r:embed="rId4"/>
          <a:srcRect l="0" r="0" t="0" b="0"/>
          <a:stretch/>
        </p:blipFill>
        <p:spPr>
          <a:xfrm>
            <a:off x="5251450" y="3467100"/>
            <a:ext cx="1644650" cy="254000"/>
          </a:xfrm>
          <a:prstGeom prst="rect">
            <a:avLst/>
          </a:prstGeom>
        </p:spPr>
      </p:pic>
      <p:pic>
        <p:nvPicPr>
          <p:cNvPr id="9" name="Image 4" descr="connector">    </p:cNvPr>
          <p:cNvPicPr>
            <a:picLocks noChangeAspect="1"/>
          </p:cNvPicPr>
          <p:nvPr/>
        </p:nvPicPr>
        <p:blipFill>
          <a:blip r:embed="rId5"/>
          <a:srcRect l="0" r="0" t="0" b="0"/>
          <a:stretch/>
        </p:blipFill>
        <p:spPr>
          <a:xfrm>
            <a:off x="3771900" y="4229100"/>
            <a:ext cx="3124200" cy="635000"/>
          </a:xfrm>
          <a:prstGeom prst="rect">
            <a:avLst/>
          </a:prstGeom>
        </p:spPr>
      </p:pic>
      <p:pic>
        <p:nvPicPr>
          <p:cNvPr id="10" name="Image 5" descr="connector">    </p:cNvPr>
          <p:cNvPicPr>
            <a:picLocks noChangeAspect="1"/>
          </p:cNvPicPr>
          <p:nvPr/>
        </p:nvPicPr>
        <p:blipFill>
          <a:blip r:embed="rId6"/>
          <a:srcRect l="0" r="0" t="0" b="0"/>
          <a:stretch/>
        </p:blipFill>
        <p:spPr>
          <a:xfrm>
            <a:off x="4203700" y="4991100"/>
            <a:ext cx="2692400" cy="476250"/>
          </a:xfrm>
          <a:prstGeom prst="rect">
            <a:avLst/>
          </a:prstGeom>
        </p:spPr>
      </p:pic>
      <p:sp>
        <p:nvSpPr>
          <p:cNvPr id="11" name="Text 3"/>
          <p:cNvSpPr/>
          <p:nvPr/>
        </p:nvSpPr>
        <p:spPr>
          <a:xfrm>
            <a:off x="6985000" y="1841500"/>
            <a:ext cx="4526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Superstructure · consumers</a:t>
            </a:r>
            <a:endParaRPr lang="en-US" sz="1400" dirty="0"/>
          </a:p>
        </p:txBody>
      </p:sp>
      <p:sp>
        <p:nvSpPr>
          <p:cNvPr id="12" name="Text 4"/>
          <p:cNvSpPr/>
          <p:nvPr/>
        </p:nvSpPr>
        <p:spPr>
          <a:xfrm>
            <a:off x="6985000" y="2092920"/>
            <a:ext cx="4526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AI agents, analytics and applications ride high and dry, above all change.</a:t>
            </a:r>
            <a:endParaRPr lang="en-US" sz="1200" dirty="0"/>
          </a:p>
        </p:txBody>
      </p:sp>
      <p:sp>
        <p:nvSpPr>
          <p:cNvPr id="13" name="Text 5"/>
          <p:cNvSpPr/>
          <p:nvPr/>
        </p:nvSpPr>
        <p:spPr>
          <a:xfrm>
            <a:off x="6985000" y="2603500"/>
            <a:ext cx="4526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Waterline · drift</a:t>
            </a:r>
            <a:endParaRPr lang="en-US" sz="1400" dirty="0"/>
          </a:p>
        </p:txBody>
      </p:sp>
      <p:sp>
        <p:nvSpPr>
          <p:cNvPr id="14" name="Text 6"/>
          <p:cNvSpPr/>
          <p:nvPr/>
        </p:nvSpPr>
        <p:spPr>
          <a:xfrm>
            <a:off x="6985000" y="2854920"/>
            <a:ext cx="4526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Source schemas and external ontologies change constantly. That is the sea state.</a:t>
            </a:r>
            <a:endParaRPr lang="en-US" sz="1200" dirty="0"/>
          </a:p>
        </p:txBody>
      </p:sp>
      <p:sp>
        <p:nvSpPr>
          <p:cNvPr id="15" name="Text 7"/>
          <p:cNvSpPr/>
          <p:nvPr/>
        </p:nvSpPr>
        <p:spPr>
          <a:xfrm>
            <a:off x="6985000" y="3365500"/>
            <a:ext cx="4526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Hull · virtualized mediation</a:t>
            </a:r>
            <a:endParaRPr lang="en-US" sz="1400" dirty="0"/>
          </a:p>
        </p:txBody>
      </p:sp>
      <p:sp>
        <p:nvSpPr>
          <p:cNvPr id="16" name="Text 8"/>
          <p:cNvSpPr/>
          <p:nvPr/>
        </p:nvSpPr>
        <p:spPr>
          <a:xfrm>
            <a:off x="6985000" y="3616920"/>
            <a:ext cx="4526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Mapping agents and microservices absorb drift so consumers never feel it.</a:t>
            </a:r>
            <a:endParaRPr lang="en-US" sz="1200" dirty="0"/>
          </a:p>
        </p:txBody>
      </p:sp>
      <p:sp>
        <p:nvSpPr>
          <p:cNvPr id="17" name="Text 9"/>
          <p:cNvSpPr/>
          <p:nvPr/>
        </p:nvSpPr>
        <p:spPr>
          <a:xfrm>
            <a:off x="6985000" y="4127500"/>
            <a:ext cx="4526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Keel · materialized graphs</a:t>
            </a:r>
            <a:endParaRPr lang="en-US" sz="1400" dirty="0"/>
          </a:p>
        </p:txBody>
      </p:sp>
      <p:sp>
        <p:nvSpPr>
          <p:cNvPr id="18" name="Text 10"/>
          <p:cNvSpPr/>
          <p:nvPr/>
        </p:nvSpPr>
        <p:spPr>
          <a:xfrm>
            <a:off x="6985000" y="4378920"/>
            <a:ext cx="4526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Federated domain ontologies reconciled to one upper ontology: deterministic meaning.</a:t>
            </a:r>
            <a:endParaRPr lang="en-US" sz="1200" dirty="0"/>
          </a:p>
        </p:txBody>
      </p:sp>
      <p:sp>
        <p:nvSpPr>
          <p:cNvPr id="19" name="Text 11"/>
          <p:cNvSpPr/>
          <p:nvPr/>
        </p:nvSpPr>
        <p:spPr>
          <a:xfrm>
            <a:off x="6985000" y="4889500"/>
            <a:ext cx="4526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6A12"/>
                </a:solidFill>
                <a:latin typeface="IBM Plex Sans" pitchFamily="34" charset="0"/>
                <a:ea typeface="IBM Plex Sans" pitchFamily="34" charset="-122"/>
                <a:cs typeface="IBM Plex Sans" pitchFamily="34" charset="-120"/>
              </a:rPr>
              <a:t>Ballast · semantic governance</a:t>
            </a:r>
            <a:endParaRPr lang="en-US" sz="1400" dirty="0"/>
          </a:p>
        </p:txBody>
      </p:sp>
      <p:sp>
        <p:nvSpPr>
          <p:cNvPr id="20" name="Text 12"/>
          <p:cNvSpPr/>
          <p:nvPr/>
        </p:nvSpPr>
        <p:spPr>
          <a:xfrm>
            <a:off x="6985000" y="5140920"/>
            <a:ext cx="4526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SHACL, reasoners, lineage and versioning: the weight that keeps the keel honest.</a:t>
            </a:r>
            <a:endParaRPr lang="en-US" sz="1200" dirty="0"/>
          </a:p>
        </p:txBody>
      </p:sp>
      <p:sp>
        <p:nvSpPr>
          <p:cNvPr id="21" name="Text 13"/>
          <p:cNvSpPr/>
          <p:nvPr/>
        </p:nvSpPr>
        <p:spPr>
          <a:xfrm>
            <a:off x="812800" y="6238280"/>
            <a:ext cx="2475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22" name="Text 14"/>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227"/>
                </a:solidFill>
                <a:latin typeface="IBM Plex Sans" pitchFamily="34" charset="0"/>
                <a:ea typeface="IBM Plex Sans" pitchFamily="34" charset="-122"/>
                <a:cs typeface="IBM Plex Sans" pitchFamily="34" charset="-120"/>
              </a:rPr>
              <a:t>THE NORTH STAR</a:t>
            </a:r>
            <a:endParaRPr lang="en-US" sz="1200" dirty="0"/>
          </a:p>
        </p:txBody>
      </p:sp>
      <p:sp>
        <p:nvSpPr>
          <p:cNvPr id="3" name="Text 1"/>
          <p:cNvSpPr/>
          <p:nvPr/>
        </p:nvSpPr>
        <p:spPr>
          <a:xfrm>
            <a:off x="812800" y="11277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F6F4EE"/>
                </a:solidFill>
                <a:latin typeface="Source Serif 4" pitchFamily="34" charset="0"/>
                <a:ea typeface="Source Serif 4" pitchFamily="34" charset="-122"/>
                <a:cs typeface="Source Serif 4" pitchFamily="34" charset="-120"/>
              </a:rPr>
              <a:t>Every enterprise decision and AI answer rests on governed, traceable, unambiguous meaning</a:t>
            </a:r>
            <a:endParaRPr lang="en-US" sz="2600" dirty="0"/>
          </a:p>
        </p:txBody>
      </p:sp>
      <p:pic>
        <p:nvPicPr>
          <p:cNvPr id="4" name="Image 0" descr="Gold North Star">    </p:cNvPr>
          <p:cNvPicPr>
            <a:picLocks noChangeAspect="1"/>
          </p:cNvPicPr>
          <p:nvPr/>
        </p:nvPicPr>
        <p:blipFill>
          <a:blip r:embed="rId1"/>
          <a:srcRect l="0" r="0" t="0" b="0"/>
          <a:stretch/>
        </p:blipFill>
        <p:spPr>
          <a:xfrm>
            <a:off x="5683250" y="2019300"/>
            <a:ext cx="825500" cy="825500"/>
          </a:xfrm>
          <a:prstGeom prst="rect">
            <a:avLst/>
          </a:prstGeom>
        </p:spPr>
      </p:pic>
      <p:pic>
        <p:nvPicPr>
          <p:cNvPr id="5" name="Image 1" descr="connector">    </p:cNvPr>
          <p:cNvPicPr>
            <a:picLocks noChangeAspect="1"/>
          </p:cNvPicPr>
          <p:nvPr/>
        </p:nvPicPr>
        <p:blipFill>
          <a:blip r:embed="rId2"/>
          <a:srcRect l="0" r="0" t="0" b="0"/>
          <a:stretch/>
        </p:blipFill>
        <p:spPr>
          <a:xfrm>
            <a:off x="2000250" y="2832100"/>
            <a:ext cx="4133850" cy="508000"/>
          </a:xfrm>
          <a:prstGeom prst="rect">
            <a:avLst/>
          </a:prstGeom>
        </p:spPr>
      </p:pic>
      <p:pic>
        <p:nvPicPr>
          <p:cNvPr id="6" name="Image 2" descr="connector">    </p:cNvPr>
          <p:cNvPicPr>
            <a:picLocks noChangeAspect="1"/>
          </p:cNvPicPr>
          <p:nvPr/>
        </p:nvPicPr>
        <p:blipFill>
          <a:blip r:embed="rId3"/>
          <a:srcRect l="0" r="0" t="0" b="0"/>
          <a:stretch/>
        </p:blipFill>
        <p:spPr>
          <a:xfrm>
            <a:off x="4705350" y="2832100"/>
            <a:ext cx="1428750" cy="508000"/>
          </a:xfrm>
          <a:prstGeom prst="rect">
            <a:avLst/>
          </a:prstGeom>
        </p:spPr>
      </p:pic>
      <p:pic>
        <p:nvPicPr>
          <p:cNvPr id="7" name="Image 3" descr="connector">    </p:cNvPr>
          <p:cNvPicPr>
            <a:picLocks noChangeAspect="1"/>
          </p:cNvPicPr>
          <p:nvPr/>
        </p:nvPicPr>
        <p:blipFill>
          <a:blip r:embed="rId4"/>
          <a:srcRect l="0" r="0" t="0" b="0"/>
          <a:stretch/>
        </p:blipFill>
        <p:spPr>
          <a:xfrm>
            <a:off x="6057900" y="2832100"/>
            <a:ext cx="1428750" cy="508000"/>
          </a:xfrm>
          <a:prstGeom prst="rect">
            <a:avLst/>
          </a:prstGeom>
        </p:spPr>
      </p:pic>
      <p:pic>
        <p:nvPicPr>
          <p:cNvPr id="8" name="Image 4" descr="connector">    </p:cNvPr>
          <p:cNvPicPr>
            <a:picLocks noChangeAspect="1"/>
          </p:cNvPicPr>
          <p:nvPr/>
        </p:nvPicPr>
        <p:blipFill>
          <a:blip r:embed="rId5"/>
          <a:srcRect l="0" r="0" t="0" b="0"/>
          <a:stretch/>
        </p:blipFill>
        <p:spPr>
          <a:xfrm>
            <a:off x="6057900" y="2832100"/>
            <a:ext cx="4133850" cy="508000"/>
          </a:xfrm>
          <a:prstGeom prst="rect">
            <a:avLst/>
          </a:prstGeom>
        </p:spPr>
      </p:pic>
      <p:sp>
        <p:nvSpPr>
          <p:cNvPr id="9" name="Shape 2"/>
          <p:cNvSpPr/>
          <p:nvPr/>
        </p:nvSpPr>
        <p:spPr>
          <a:xfrm>
            <a:off x="815975" y="3305175"/>
            <a:ext cx="2444750" cy="1294011"/>
          </a:xfrm>
          <a:prstGeom prst="roundRect">
            <a:avLst>
              <a:gd name="adj" fmla="val 5643"/>
            </a:avLst>
          </a:prstGeom>
          <a:solidFill>
            <a:srgbClr val="1E2C4D"/>
          </a:solidFill>
          <a:ln w="6350">
            <a:solidFill>
              <a:srgbClr val="33436A"/>
            </a:solidFill>
            <a:prstDash val="solid"/>
          </a:ln>
        </p:spPr>
      </p:sp>
      <p:sp>
        <p:nvSpPr>
          <p:cNvPr id="10" name="Text 3"/>
          <p:cNvSpPr/>
          <p:nvPr/>
        </p:nvSpPr>
        <p:spPr>
          <a:xfrm>
            <a:off x="996950" y="3486150"/>
            <a:ext cx="21452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4EE"/>
                </a:solidFill>
                <a:latin typeface="IBM Plex Sans" pitchFamily="34" charset="0"/>
                <a:ea typeface="IBM Plex Sans" pitchFamily="34" charset="-122"/>
                <a:cs typeface="IBM Plex Sans" pitchFamily="34" charset="-120"/>
              </a:rPr>
              <a:t>Trustworthy AI</a:t>
            </a:r>
            <a:endParaRPr lang="en-US" sz="1500" dirty="0"/>
          </a:p>
        </p:txBody>
      </p:sp>
      <p:sp>
        <p:nvSpPr>
          <p:cNvPr id="11" name="Text 4"/>
          <p:cNvSpPr/>
          <p:nvPr/>
        </p:nvSpPr>
        <p:spPr>
          <a:xfrm>
            <a:off x="996950" y="3778250"/>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Agents answer from governed semantics; ungated inference never propagates as fact.</a:t>
            </a:r>
            <a:endParaRPr lang="en-US" sz="1200" dirty="0"/>
          </a:p>
        </p:txBody>
      </p:sp>
      <p:sp>
        <p:nvSpPr>
          <p:cNvPr id="12" name="Shape 5"/>
          <p:cNvSpPr/>
          <p:nvPr/>
        </p:nvSpPr>
        <p:spPr>
          <a:xfrm>
            <a:off x="3521075" y="3305175"/>
            <a:ext cx="2444750" cy="1294011"/>
          </a:xfrm>
          <a:prstGeom prst="roundRect">
            <a:avLst>
              <a:gd name="adj" fmla="val 5643"/>
            </a:avLst>
          </a:prstGeom>
          <a:solidFill>
            <a:srgbClr val="1E2C4D"/>
          </a:solidFill>
          <a:ln w="6350">
            <a:solidFill>
              <a:srgbClr val="33436A"/>
            </a:solidFill>
            <a:prstDash val="solid"/>
          </a:ln>
        </p:spPr>
      </p:sp>
      <p:sp>
        <p:nvSpPr>
          <p:cNvPr id="13" name="Text 6"/>
          <p:cNvSpPr/>
          <p:nvPr/>
        </p:nvSpPr>
        <p:spPr>
          <a:xfrm>
            <a:off x="3702050" y="3486150"/>
            <a:ext cx="21452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4EE"/>
                </a:solidFill>
                <a:latin typeface="IBM Plex Sans" pitchFamily="34" charset="0"/>
                <a:ea typeface="IBM Plex Sans" pitchFamily="34" charset="-122"/>
                <a:cs typeface="IBM Plex Sans" pitchFamily="34" charset="-120"/>
              </a:rPr>
              <a:t>Drift-proof integration</a:t>
            </a:r>
            <a:endParaRPr lang="en-US" sz="1500" dirty="0"/>
          </a:p>
        </p:txBody>
      </p:sp>
      <p:sp>
        <p:nvSpPr>
          <p:cNvPr id="14" name="Text 7"/>
          <p:cNvSpPr/>
          <p:nvPr/>
        </p:nvSpPr>
        <p:spPr>
          <a:xfrm>
            <a:off x="3702050" y="3778250"/>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Source changes are absorbed in the mediation layer, not in production consumers.</a:t>
            </a:r>
            <a:endParaRPr lang="en-US" sz="1200" dirty="0"/>
          </a:p>
        </p:txBody>
      </p:sp>
      <p:sp>
        <p:nvSpPr>
          <p:cNvPr id="15" name="Shape 8"/>
          <p:cNvSpPr/>
          <p:nvPr/>
        </p:nvSpPr>
        <p:spPr>
          <a:xfrm>
            <a:off x="6226175" y="3305175"/>
            <a:ext cx="2444750" cy="1294011"/>
          </a:xfrm>
          <a:prstGeom prst="roundRect">
            <a:avLst>
              <a:gd name="adj" fmla="val 5643"/>
            </a:avLst>
          </a:prstGeom>
          <a:solidFill>
            <a:srgbClr val="1E2C4D"/>
          </a:solidFill>
          <a:ln w="6350">
            <a:solidFill>
              <a:srgbClr val="33436A"/>
            </a:solidFill>
            <a:prstDash val="solid"/>
          </a:ln>
        </p:spPr>
      </p:sp>
      <p:sp>
        <p:nvSpPr>
          <p:cNvPr id="16" name="Text 9"/>
          <p:cNvSpPr/>
          <p:nvPr/>
        </p:nvSpPr>
        <p:spPr>
          <a:xfrm>
            <a:off x="6407150" y="3486150"/>
            <a:ext cx="21452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4EE"/>
                </a:solidFill>
                <a:latin typeface="IBM Plex Sans" pitchFamily="34" charset="0"/>
                <a:ea typeface="IBM Plex Sans" pitchFamily="34" charset="-122"/>
                <a:cs typeface="IBM Plex Sans" pitchFamily="34" charset="-120"/>
              </a:rPr>
              <a:t>Audit-grade lineage</a:t>
            </a:r>
            <a:endParaRPr lang="en-US" sz="1500" dirty="0"/>
          </a:p>
        </p:txBody>
      </p:sp>
      <p:sp>
        <p:nvSpPr>
          <p:cNvPr id="17" name="Text 10"/>
          <p:cNvSpPr/>
          <p:nvPr/>
        </p:nvSpPr>
        <p:spPr>
          <a:xfrm>
            <a:off x="6407150" y="3778250"/>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Every axiom, mapping and release carries PROV-O provenance and a change log.</a:t>
            </a:r>
            <a:endParaRPr lang="en-US" sz="1200" dirty="0"/>
          </a:p>
        </p:txBody>
      </p:sp>
      <p:sp>
        <p:nvSpPr>
          <p:cNvPr id="18" name="Shape 11"/>
          <p:cNvSpPr/>
          <p:nvPr/>
        </p:nvSpPr>
        <p:spPr>
          <a:xfrm>
            <a:off x="8931275" y="3305175"/>
            <a:ext cx="2444750" cy="1294011"/>
          </a:xfrm>
          <a:prstGeom prst="roundRect">
            <a:avLst>
              <a:gd name="adj" fmla="val 5643"/>
            </a:avLst>
          </a:prstGeom>
          <a:solidFill>
            <a:srgbClr val="1E2C4D"/>
          </a:solidFill>
          <a:ln w="6350">
            <a:solidFill>
              <a:srgbClr val="33436A"/>
            </a:solidFill>
            <a:prstDash val="solid"/>
          </a:ln>
        </p:spPr>
      </p:sp>
      <p:sp>
        <p:nvSpPr>
          <p:cNvPr id="19" name="Text 12"/>
          <p:cNvSpPr/>
          <p:nvPr/>
        </p:nvSpPr>
        <p:spPr>
          <a:xfrm>
            <a:off x="9112250" y="3486150"/>
            <a:ext cx="21452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4EE"/>
                </a:solidFill>
                <a:latin typeface="IBM Plex Sans" pitchFamily="34" charset="0"/>
                <a:ea typeface="IBM Plex Sans" pitchFamily="34" charset="-122"/>
                <a:cs typeface="IBM Plex Sans" pitchFamily="34" charset="-120"/>
              </a:rPr>
              <a:t>Weeks, not months</a:t>
            </a:r>
            <a:endParaRPr lang="en-US" sz="1500" dirty="0"/>
          </a:p>
        </p:txBody>
      </p:sp>
      <p:sp>
        <p:nvSpPr>
          <p:cNvPr id="20" name="Text 13"/>
          <p:cNvSpPr/>
          <p:nvPr/>
        </p:nvSpPr>
        <p:spPr>
          <a:xfrm>
            <a:off x="9112250" y="3778250"/>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New domain ontologies federate to the upper ontology in weeks.</a:t>
            </a:r>
            <a:endParaRPr lang="en-US" sz="1200" dirty="0"/>
          </a:p>
        </p:txBody>
      </p:sp>
      <p:sp>
        <p:nvSpPr>
          <p:cNvPr id="21" name="Shape 14"/>
          <p:cNvSpPr/>
          <p:nvPr/>
        </p:nvSpPr>
        <p:spPr>
          <a:xfrm>
            <a:off x="812800" y="5029200"/>
            <a:ext cx="3149600" cy="416520"/>
          </a:xfrm>
          <a:prstGeom prst="roundRect">
            <a:avLst>
              <a:gd name="adj" fmla="val 50000"/>
            </a:avLst>
          </a:prstGeom>
          <a:solidFill>
            <a:srgbClr val="C9A227"/>
          </a:solidFill>
          <a:ln/>
        </p:spPr>
      </p:sp>
      <p:sp>
        <p:nvSpPr>
          <p:cNvPr id="22" name="Text 15"/>
          <p:cNvSpPr/>
          <p:nvPr/>
        </p:nvSpPr>
        <p:spPr>
          <a:xfrm>
            <a:off x="922528" y="5130800"/>
            <a:ext cx="293014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H1 · 90-day pilot proves the workbench</a:t>
            </a:r>
            <a:endParaRPr lang="en-US" sz="1200" dirty="0"/>
          </a:p>
        </p:txBody>
      </p:sp>
      <p:pic>
        <p:nvPicPr>
          <p:cNvPr id="23" name="Image 5" descr="arrow-right">    </p:cNvPr>
          <p:cNvPicPr>
            <a:picLocks noChangeAspect="1"/>
          </p:cNvPicPr>
          <p:nvPr/>
        </p:nvPicPr>
        <p:blipFill>
          <a:blip r:embed="rId6"/>
          <a:srcRect l="0" r="0" t="0" b="0"/>
          <a:stretch/>
        </p:blipFill>
        <p:spPr>
          <a:xfrm>
            <a:off x="4089400" y="5161260"/>
            <a:ext cx="304800" cy="152400"/>
          </a:xfrm>
          <a:prstGeom prst="rect">
            <a:avLst/>
          </a:prstGeom>
        </p:spPr>
      </p:pic>
      <p:sp>
        <p:nvSpPr>
          <p:cNvPr id="24" name="Shape 16"/>
          <p:cNvSpPr/>
          <p:nvPr/>
        </p:nvSpPr>
        <p:spPr>
          <a:xfrm>
            <a:off x="4527550" y="5035550"/>
            <a:ext cx="3136900" cy="403820"/>
          </a:xfrm>
          <a:prstGeom prst="roundRect">
            <a:avLst>
              <a:gd name="adj" fmla="val 50000"/>
            </a:avLst>
          </a:prstGeom>
          <a:noFill/>
          <a:ln w="12700">
            <a:solidFill>
              <a:srgbClr val="C9A227"/>
            </a:solidFill>
            <a:prstDash val="solid"/>
          </a:ln>
        </p:spPr>
      </p:sp>
      <p:sp>
        <p:nvSpPr>
          <p:cNvPr id="25" name="Text 17"/>
          <p:cNvSpPr/>
          <p:nvPr/>
        </p:nvSpPr>
        <p:spPr>
          <a:xfrm>
            <a:off x="4644009" y="5130800"/>
            <a:ext cx="290398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H2 · federated domains at scale</a:t>
            </a:r>
            <a:endParaRPr lang="en-US" sz="1200" dirty="0"/>
          </a:p>
        </p:txBody>
      </p:sp>
      <p:pic>
        <p:nvPicPr>
          <p:cNvPr id="26" name="Image 6" descr="arrow-right">    </p:cNvPr>
          <p:cNvPicPr>
            <a:picLocks noChangeAspect="1"/>
          </p:cNvPicPr>
          <p:nvPr/>
        </p:nvPicPr>
        <p:blipFill>
          <a:blip r:embed="rId7"/>
          <a:srcRect l="0" r="0" t="0" b="0"/>
          <a:stretch/>
        </p:blipFill>
        <p:spPr>
          <a:xfrm>
            <a:off x="7797800" y="5161260"/>
            <a:ext cx="304800" cy="152400"/>
          </a:xfrm>
          <a:prstGeom prst="rect">
            <a:avLst/>
          </a:prstGeom>
        </p:spPr>
      </p:pic>
      <p:sp>
        <p:nvSpPr>
          <p:cNvPr id="27" name="Shape 18"/>
          <p:cNvSpPr/>
          <p:nvPr/>
        </p:nvSpPr>
        <p:spPr>
          <a:xfrm>
            <a:off x="8235950" y="5035550"/>
            <a:ext cx="3136900" cy="403820"/>
          </a:xfrm>
          <a:prstGeom prst="roundRect">
            <a:avLst>
              <a:gd name="adj" fmla="val 50000"/>
            </a:avLst>
          </a:prstGeom>
          <a:noFill/>
          <a:ln w="12700">
            <a:solidFill>
              <a:srgbClr val="C9A227"/>
            </a:solidFill>
            <a:prstDash val="dash"/>
          </a:ln>
        </p:spPr>
      </p:sp>
      <p:sp>
        <p:nvSpPr>
          <p:cNvPr id="28" name="Text 19"/>
          <p:cNvSpPr/>
          <p:nvPr/>
        </p:nvSpPr>
        <p:spPr>
          <a:xfrm>
            <a:off x="8352409" y="5130800"/>
            <a:ext cx="290398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H3 · self-correcting semantic fabric</a:t>
            </a:r>
            <a:endParaRPr lang="en-US" sz="1200" dirty="0"/>
          </a:p>
        </p:txBody>
      </p:sp>
      <p:sp>
        <p:nvSpPr>
          <p:cNvPr id="29" name="Text 20"/>
          <p:cNvSpPr/>
          <p:nvPr/>
        </p:nvSpPr>
        <p:spPr>
          <a:xfrm>
            <a:off x="812800" y="6238280"/>
            <a:ext cx="2475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E"/>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30" name="Text 21"/>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E"/>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nvSpPr>
        <p:spPr>
          <a:xfrm>
            <a:off x="812800" y="1127720"/>
            <a:ext cx="10883392" cy="37589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14213D"/>
                </a:solidFill>
                <a:latin typeface="Source Serif 4" pitchFamily="34" charset="0"/>
                <a:ea typeface="Source Serif 4" pitchFamily="34" charset="-122"/>
                <a:cs typeface="Source Serif 4" pitchFamily="34" charset="-120"/>
              </a:rPr>
              <a:t>Three layers, one governance spine, one engineering workbench</a:t>
            </a:r>
            <a:endParaRPr lang="en-US" sz="2400" dirty="0"/>
          </a:p>
        </p:txBody>
      </p:sp>
      <p:sp>
        <p:nvSpPr>
          <p:cNvPr id="4" name="Shape 2"/>
          <p:cNvSpPr/>
          <p:nvPr/>
        </p:nvSpPr>
        <p:spPr>
          <a:xfrm>
            <a:off x="3048000" y="1714500"/>
            <a:ext cx="6096000" cy="508000"/>
          </a:xfrm>
          <a:prstGeom prst="roundRect">
            <a:avLst>
              <a:gd name="adj" fmla="val 12500"/>
            </a:avLst>
          </a:prstGeom>
          <a:solidFill>
            <a:srgbClr val="E6E2D6"/>
          </a:solidFill>
          <a:ln/>
        </p:spPr>
      </p:sp>
      <p:sp>
        <p:nvSpPr>
          <p:cNvPr id="5" name="Text 3"/>
          <p:cNvSpPr/>
          <p:nvPr/>
        </p:nvSpPr>
        <p:spPr>
          <a:xfrm>
            <a:off x="4280247" y="1852910"/>
            <a:ext cx="37404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Consumers · AI agents · analytics · applications</a:t>
            </a:r>
            <a:endParaRPr lang="en-US" sz="1300" dirty="0"/>
          </a:p>
        </p:txBody>
      </p:sp>
      <p:sp>
        <p:nvSpPr>
          <p:cNvPr id="6" name="Shape 4"/>
          <p:cNvSpPr/>
          <p:nvPr/>
        </p:nvSpPr>
        <p:spPr>
          <a:xfrm>
            <a:off x="3048000" y="2349500"/>
            <a:ext cx="6096000" cy="1206500"/>
          </a:xfrm>
          <a:prstGeom prst="roundRect">
            <a:avLst>
              <a:gd name="adj" fmla="val 5263"/>
            </a:avLst>
          </a:prstGeom>
          <a:solidFill>
            <a:srgbClr val="3B4C6E"/>
          </a:solidFill>
          <a:ln/>
        </p:spPr>
      </p:sp>
      <p:sp>
        <p:nvSpPr>
          <p:cNvPr id="7" name="Text 5"/>
          <p:cNvSpPr/>
          <p:nvPr/>
        </p:nvSpPr>
        <p:spPr>
          <a:xfrm>
            <a:off x="3225800" y="2527300"/>
            <a:ext cx="591261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4EE"/>
                </a:solidFill>
                <a:latin typeface="IBM Plex Sans" pitchFamily="34" charset="0"/>
                <a:ea typeface="IBM Plex Sans" pitchFamily="34" charset="-122"/>
                <a:cs typeface="IBM Plex Sans" pitchFamily="34" charset="-120"/>
              </a:rPr>
              <a:t>Virtualized graph &amp; mediation layer</a:t>
            </a:r>
            <a:endParaRPr lang="en-US" sz="1400" dirty="0"/>
          </a:p>
        </p:txBody>
      </p:sp>
      <p:sp>
        <p:nvSpPr>
          <p:cNvPr id="8" name="Shape 6"/>
          <p:cNvSpPr/>
          <p:nvPr/>
        </p:nvSpPr>
        <p:spPr>
          <a:xfrm>
            <a:off x="3225800" y="2854920"/>
            <a:ext cx="1310531" cy="340320"/>
          </a:xfrm>
          <a:prstGeom prst="roundRect">
            <a:avLst>
              <a:gd name="adj" fmla="val 14927"/>
            </a:avLst>
          </a:prstGeom>
          <a:solidFill>
            <a:srgbClr val="51638A"/>
          </a:solidFill>
          <a:ln/>
        </p:spPr>
      </p:sp>
      <p:sp>
        <p:nvSpPr>
          <p:cNvPr id="9" name="Text 7"/>
          <p:cNvSpPr/>
          <p:nvPr/>
        </p:nvSpPr>
        <p:spPr>
          <a:xfrm>
            <a:off x="3340100" y="2918420"/>
            <a:ext cx="11327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Mapping agents</a:t>
            </a:r>
            <a:endParaRPr lang="en-US" sz="1200" dirty="0"/>
          </a:p>
        </p:txBody>
      </p:sp>
      <p:sp>
        <p:nvSpPr>
          <p:cNvPr id="10" name="Shape 8"/>
          <p:cNvSpPr/>
          <p:nvPr/>
        </p:nvSpPr>
        <p:spPr>
          <a:xfrm>
            <a:off x="4637931" y="2854920"/>
            <a:ext cx="1856432" cy="340320"/>
          </a:xfrm>
          <a:prstGeom prst="roundRect">
            <a:avLst>
              <a:gd name="adj" fmla="val 14927"/>
            </a:avLst>
          </a:prstGeom>
          <a:solidFill>
            <a:srgbClr val="51638A"/>
          </a:solidFill>
          <a:ln/>
        </p:spPr>
      </p:sp>
      <p:sp>
        <p:nvSpPr>
          <p:cNvPr id="11" name="Text 9"/>
          <p:cNvSpPr/>
          <p:nvPr/>
        </p:nvSpPr>
        <p:spPr>
          <a:xfrm>
            <a:off x="4752231" y="2918420"/>
            <a:ext cx="1678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Semantic microservices</a:t>
            </a:r>
            <a:endParaRPr lang="en-US" sz="1200" dirty="0"/>
          </a:p>
        </p:txBody>
      </p:sp>
      <p:sp>
        <p:nvSpPr>
          <p:cNvPr id="12" name="Shape 10"/>
          <p:cNvSpPr/>
          <p:nvPr/>
        </p:nvSpPr>
        <p:spPr>
          <a:xfrm>
            <a:off x="6595963" y="2854920"/>
            <a:ext cx="1841004" cy="340320"/>
          </a:xfrm>
          <a:prstGeom prst="roundRect">
            <a:avLst>
              <a:gd name="adj" fmla="val 14927"/>
            </a:avLst>
          </a:prstGeom>
          <a:solidFill>
            <a:srgbClr val="51638A"/>
          </a:solidFill>
          <a:ln/>
        </p:spPr>
      </p:sp>
      <p:sp>
        <p:nvSpPr>
          <p:cNvPr id="13" name="Text 11"/>
          <p:cNvSpPr/>
          <p:nvPr/>
        </p:nvSpPr>
        <p:spPr>
          <a:xfrm>
            <a:off x="6710263" y="2918420"/>
            <a:ext cx="16632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R2RML · RML mappings</a:t>
            </a:r>
            <a:endParaRPr lang="en-US" sz="1200" dirty="0"/>
          </a:p>
        </p:txBody>
      </p:sp>
      <p:sp>
        <p:nvSpPr>
          <p:cNvPr id="14" name="Shape 12"/>
          <p:cNvSpPr/>
          <p:nvPr/>
        </p:nvSpPr>
        <p:spPr>
          <a:xfrm>
            <a:off x="3048000" y="3683000"/>
            <a:ext cx="6096000" cy="1397000"/>
          </a:xfrm>
          <a:prstGeom prst="roundRect">
            <a:avLst>
              <a:gd name="adj" fmla="val 4545"/>
            </a:avLst>
          </a:prstGeom>
          <a:solidFill>
            <a:srgbClr val="14213D"/>
          </a:solidFill>
          <a:ln/>
        </p:spPr>
      </p:sp>
      <p:sp>
        <p:nvSpPr>
          <p:cNvPr id="15" name="Text 13"/>
          <p:cNvSpPr/>
          <p:nvPr/>
        </p:nvSpPr>
        <p:spPr>
          <a:xfrm>
            <a:off x="3225800" y="3860800"/>
            <a:ext cx="5912612" cy="237282"/>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F6F4EE"/>
                </a:solidFill>
                <a:latin typeface="IBM Plex Sans" pitchFamily="34" charset="0"/>
                <a:ea typeface="IBM Plex Sans" pitchFamily="34" charset="-122"/>
                <a:cs typeface="IBM Plex Sans" pitchFamily="34" charset="-120"/>
              </a:rPr>
              <a:t>Materialized knowledge graphs</a:t>
            </a:r>
            <a:endParaRPr lang="en-US" sz="1396" dirty="0"/>
          </a:p>
        </p:txBody>
      </p:sp>
      <p:sp>
        <p:nvSpPr>
          <p:cNvPr id="16" name="Shape 14"/>
          <p:cNvSpPr/>
          <p:nvPr/>
        </p:nvSpPr>
        <p:spPr>
          <a:xfrm>
            <a:off x="3232150" y="4167932"/>
            <a:ext cx="5727700" cy="326182"/>
          </a:xfrm>
          <a:prstGeom prst="roundRect">
            <a:avLst>
              <a:gd name="adj" fmla="val 13627"/>
            </a:avLst>
          </a:prstGeom>
          <a:noFill/>
          <a:ln w="12700">
            <a:solidFill>
              <a:srgbClr val="C9A227"/>
            </a:solidFill>
            <a:prstDash val="solid"/>
          </a:ln>
        </p:spPr>
      </p:sp>
      <p:sp>
        <p:nvSpPr>
          <p:cNvPr id="17" name="Text 15"/>
          <p:cNvSpPr/>
          <p:nvPr/>
        </p:nvSpPr>
        <p:spPr>
          <a:xfrm>
            <a:off x="3270504" y="4225082"/>
            <a:ext cx="5650992" cy="237282"/>
          </a:xfrm>
          <a:prstGeom prst="rect">
            <a:avLst/>
          </a:prstGeom>
          <a:noFill/>
          <a:ln/>
        </p:spPr>
        <p:txBody>
          <a:bodyPr wrap="square" lIns="0" tIns="0" rIns="0" bIns="0" rtlCol="0" anchor="t">
            <a:normAutofit/>
          </a:bodyPr>
          <a:lstStyle/>
          <a:p>
            <a:pPr algn="ctr" indent="0" marL="0">
              <a:lnSpc>
                <a:spcPts val="1675"/>
              </a:lnSpc>
              <a:buNone/>
            </a:pPr>
            <a:r>
              <a:rPr lang="en-US" sz="1196" b="1" dirty="0">
                <a:solidFill>
                  <a:srgbClr val="F2D675"/>
                </a:solidFill>
                <a:latin typeface="IBM Plex Sans" pitchFamily="34" charset="0"/>
                <a:ea typeface="IBM Plex Sans" pitchFamily="34" charset="-122"/>
                <a:cs typeface="IBM Plex Sans" pitchFamily="34" charset="-120"/>
              </a:rPr>
              <a:t>Upper / unifying ontology</a:t>
            </a:r>
            <a:endParaRPr lang="en-US" sz="1196" dirty="0"/>
          </a:p>
        </p:txBody>
      </p:sp>
      <p:sp>
        <p:nvSpPr>
          <p:cNvPr id="18" name="Shape 16"/>
          <p:cNvSpPr/>
          <p:nvPr/>
        </p:nvSpPr>
        <p:spPr>
          <a:xfrm>
            <a:off x="3225800" y="4589363"/>
            <a:ext cx="1845717" cy="312837"/>
          </a:xfrm>
          <a:prstGeom prst="roundRect">
            <a:avLst>
              <a:gd name="adj" fmla="val 16238"/>
            </a:avLst>
          </a:prstGeom>
          <a:solidFill>
            <a:srgbClr val="26365A"/>
          </a:solidFill>
          <a:ln/>
        </p:spPr>
      </p:sp>
      <p:sp>
        <p:nvSpPr>
          <p:cNvPr id="19" name="Text 17"/>
          <p:cNvSpPr/>
          <p:nvPr/>
        </p:nvSpPr>
        <p:spPr>
          <a:xfrm>
            <a:off x="3314700" y="4640163"/>
            <a:ext cx="1667917" cy="236637"/>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Domain ontology</a:t>
            </a:r>
            <a:endParaRPr lang="en-US" sz="1200" dirty="0"/>
          </a:p>
        </p:txBody>
      </p:sp>
      <p:sp>
        <p:nvSpPr>
          <p:cNvPr id="20" name="Shape 18"/>
          <p:cNvSpPr/>
          <p:nvPr/>
        </p:nvSpPr>
        <p:spPr>
          <a:xfrm>
            <a:off x="5173117" y="4589363"/>
            <a:ext cx="1845766" cy="312837"/>
          </a:xfrm>
          <a:prstGeom prst="roundRect">
            <a:avLst>
              <a:gd name="adj" fmla="val 16238"/>
            </a:avLst>
          </a:prstGeom>
          <a:solidFill>
            <a:srgbClr val="26365A"/>
          </a:solidFill>
          <a:ln/>
        </p:spPr>
      </p:sp>
      <p:sp>
        <p:nvSpPr>
          <p:cNvPr id="21" name="Text 19"/>
          <p:cNvSpPr/>
          <p:nvPr/>
        </p:nvSpPr>
        <p:spPr>
          <a:xfrm>
            <a:off x="5262017" y="4640163"/>
            <a:ext cx="1667966" cy="236637"/>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Domain ontology</a:t>
            </a:r>
            <a:endParaRPr lang="en-US" sz="1200" dirty="0"/>
          </a:p>
        </p:txBody>
      </p:sp>
      <p:sp>
        <p:nvSpPr>
          <p:cNvPr id="22" name="Shape 20"/>
          <p:cNvSpPr/>
          <p:nvPr/>
        </p:nvSpPr>
        <p:spPr>
          <a:xfrm>
            <a:off x="7120483" y="4589363"/>
            <a:ext cx="1845717" cy="312837"/>
          </a:xfrm>
          <a:prstGeom prst="roundRect">
            <a:avLst>
              <a:gd name="adj" fmla="val 16238"/>
            </a:avLst>
          </a:prstGeom>
          <a:solidFill>
            <a:srgbClr val="26365A"/>
          </a:solidFill>
          <a:ln/>
        </p:spPr>
      </p:sp>
      <p:sp>
        <p:nvSpPr>
          <p:cNvPr id="23" name="Text 21"/>
          <p:cNvSpPr/>
          <p:nvPr/>
        </p:nvSpPr>
        <p:spPr>
          <a:xfrm>
            <a:off x="7209383" y="4640163"/>
            <a:ext cx="1667917" cy="236637"/>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Domain ontology</a:t>
            </a:r>
            <a:endParaRPr lang="en-US" sz="1200" dirty="0"/>
          </a:p>
        </p:txBody>
      </p:sp>
      <p:sp>
        <p:nvSpPr>
          <p:cNvPr id="24" name="Shape 22"/>
          <p:cNvSpPr/>
          <p:nvPr/>
        </p:nvSpPr>
        <p:spPr>
          <a:xfrm>
            <a:off x="3054350" y="5213350"/>
            <a:ext cx="6083300" cy="495300"/>
          </a:xfrm>
          <a:prstGeom prst="roundRect">
            <a:avLst>
              <a:gd name="adj" fmla="val 11538"/>
            </a:avLst>
          </a:prstGeom>
          <a:noFill/>
          <a:ln w="12700">
            <a:solidFill>
              <a:srgbClr val="9AA3B2"/>
            </a:solidFill>
            <a:prstDash val="dash"/>
          </a:ln>
        </p:spPr>
      </p:sp>
      <p:sp>
        <p:nvSpPr>
          <p:cNvPr id="25" name="Text 23"/>
          <p:cNvSpPr/>
          <p:nvPr/>
        </p:nvSpPr>
        <p:spPr>
          <a:xfrm>
            <a:off x="4014490" y="5354340"/>
            <a:ext cx="42878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Operational sources · relational · NoSQL · external ontologies</a:t>
            </a:r>
            <a:endParaRPr lang="en-US" sz="1200" dirty="0"/>
          </a:p>
        </p:txBody>
      </p:sp>
      <p:sp>
        <p:nvSpPr>
          <p:cNvPr id="26" name="Shape 24"/>
          <p:cNvSpPr/>
          <p:nvPr/>
        </p:nvSpPr>
        <p:spPr>
          <a:xfrm>
            <a:off x="812800" y="2349500"/>
            <a:ext cx="1905000" cy="2730500"/>
          </a:xfrm>
          <a:prstGeom prst="roundRect">
            <a:avLst>
              <a:gd name="adj" fmla="val 4000"/>
            </a:avLst>
          </a:prstGeom>
          <a:solidFill>
            <a:srgbClr val="2E6F73"/>
          </a:solidFill>
          <a:ln/>
        </p:spPr>
      </p:sp>
      <p:sp>
        <p:nvSpPr>
          <p:cNvPr id="27" name="Text 25"/>
          <p:cNvSpPr/>
          <p:nvPr/>
        </p:nvSpPr>
        <p:spPr>
          <a:xfrm>
            <a:off x="990600" y="2527300"/>
            <a:ext cx="16002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AF9"/>
                </a:solidFill>
                <a:latin typeface="IBM Plex Sans" pitchFamily="34" charset="0"/>
                <a:ea typeface="IBM Plex Sans" pitchFamily="34" charset="-122"/>
                <a:cs typeface="IBM Plex Sans" pitchFamily="34" charset="-120"/>
              </a:rPr>
              <a:t>Claude workbench</a:t>
            </a:r>
            <a:endParaRPr lang="en-US" sz="1500" dirty="0"/>
          </a:p>
        </p:txBody>
      </p:sp>
      <p:sp>
        <p:nvSpPr>
          <p:cNvPr id="28" name="Text 26"/>
          <p:cNvSpPr/>
          <p:nvPr/>
        </p:nvSpPr>
        <p:spPr>
          <a:xfrm>
            <a:off x="990600" y="3086100"/>
            <a:ext cx="16002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AF9"/>
                </a:solidFill>
                <a:latin typeface="IBM Plex Sans" pitchFamily="34" charset="0"/>
                <a:ea typeface="IBM Plex Sans" pitchFamily="34" charset="-122"/>
                <a:cs typeface="IBM Plex Sans" pitchFamily="34" charset="-120"/>
              </a:rPr>
              <a:t>Drafts ontologies, mappings, SHACL shapes, SPARQL and agent prompts.</a:t>
            </a:r>
            <a:endParaRPr lang="en-US" sz="1200" dirty="0"/>
          </a:p>
        </p:txBody>
      </p:sp>
      <p:sp>
        <p:nvSpPr>
          <p:cNvPr id="29" name="Text 27"/>
          <p:cNvSpPr/>
          <p:nvPr/>
        </p:nvSpPr>
        <p:spPr>
          <a:xfrm>
            <a:off x="990600" y="4040981"/>
            <a:ext cx="16002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D675"/>
                </a:solidFill>
                <a:latin typeface="IBM Plex Sans" pitchFamily="34" charset="0"/>
                <a:ea typeface="IBM Plex Sans" pitchFamily="34" charset="-122"/>
                <a:cs typeface="IBM Plex Sans" pitchFamily="34" charset="-120"/>
              </a:rPr>
              <a:t>Proposes. Never publishes.</a:t>
            </a:r>
            <a:endParaRPr lang="en-US" sz="1200" dirty="0"/>
          </a:p>
        </p:txBody>
      </p:sp>
      <p:sp>
        <p:nvSpPr>
          <p:cNvPr id="30" name="Shape 28"/>
          <p:cNvSpPr/>
          <p:nvPr/>
        </p:nvSpPr>
        <p:spPr>
          <a:xfrm>
            <a:off x="9480550" y="2355850"/>
            <a:ext cx="1892300" cy="2717800"/>
          </a:xfrm>
          <a:prstGeom prst="roundRect">
            <a:avLst>
              <a:gd name="adj" fmla="val 3691"/>
            </a:avLst>
          </a:prstGeom>
          <a:solidFill>
            <a:srgbClr val="FDFCF8"/>
          </a:solidFill>
          <a:ln w="12700">
            <a:solidFill>
              <a:srgbClr val="C9A227"/>
            </a:solidFill>
            <a:prstDash val="solid"/>
          </a:ln>
        </p:spPr>
      </p:sp>
      <p:sp>
        <p:nvSpPr>
          <p:cNvPr id="31" name="Text 29"/>
          <p:cNvSpPr/>
          <p:nvPr/>
        </p:nvSpPr>
        <p:spPr>
          <a:xfrm>
            <a:off x="9664700" y="2540000"/>
            <a:ext cx="15748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A6A12"/>
                </a:solidFill>
                <a:latin typeface="IBM Plex Sans" pitchFamily="34" charset="0"/>
                <a:ea typeface="IBM Plex Sans" pitchFamily="34" charset="-122"/>
                <a:cs typeface="IBM Plex Sans" pitchFamily="34" charset="-120"/>
              </a:rPr>
              <a:t>Governance spine</a:t>
            </a:r>
            <a:endParaRPr lang="en-US" sz="1500" dirty="0"/>
          </a:p>
        </p:txBody>
      </p:sp>
      <p:sp>
        <p:nvSpPr>
          <p:cNvPr id="32" name="Text 30"/>
          <p:cNvSpPr/>
          <p:nvPr/>
        </p:nvSpPr>
        <p:spPr>
          <a:xfrm>
            <a:off x="9664700" y="3086100"/>
            <a:ext cx="1574800" cy="1054050"/>
          </a:xfrm>
          <a:prstGeom prst="rect">
            <a:avLst/>
          </a:prstGeom>
          <a:noFill/>
          <a:ln/>
        </p:spPr>
        <p:txBody>
          <a:bodyPr wrap="square" lIns="0" tIns="0" rIns="0" bIns="0" rtlCol="0" anchor="t">
            <a:normAutofit/>
          </a:bodyPr>
          <a:lstStyle/>
          <a:p>
            <a:pPr algn="l" marL="182880"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SHACL validation</a:t>
            </a:r>
            <a:endParaRPr lang="en-US" sz="1200" dirty="0"/>
          </a:p>
          <a:p>
            <a:pPr algn="l" marL="182880"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DL reasoner checks</a:t>
            </a:r>
            <a:endParaRPr lang="en-US" sz="1200" dirty="0"/>
          </a:p>
          <a:p>
            <a:pPr algn="l" marL="182880"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Impact simulation</a:t>
            </a:r>
            <a:endParaRPr lang="en-US" sz="1200" dirty="0"/>
          </a:p>
          <a:p>
            <a:pPr algn="l" marL="182880"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Peer review · CI/CD</a:t>
            </a:r>
            <a:endParaRPr lang="en-US" sz="1200" dirty="0"/>
          </a:p>
          <a:p>
            <a:pPr algn="l" marL="182880"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PROV-O lineage</a:t>
            </a:r>
            <a:endParaRPr lang="en-US" sz="1200" dirty="0"/>
          </a:p>
        </p:txBody>
      </p:sp>
      <p:pic>
        <p:nvPicPr>
          <p:cNvPr id="33" name="Image 0" descr="connector">    </p:cNvPr>
          <p:cNvPicPr>
            <a:picLocks noChangeAspect="1"/>
          </p:cNvPicPr>
          <p:nvPr/>
        </p:nvPicPr>
        <p:blipFill>
          <a:blip r:embed="rId1"/>
          <a:srcRect l="0" r="0" t="0" b="0"/>
          <a:stretch/>
        </p:blipFill>
        <p:spPr>
          <a:xfrm>
            <a:off x="2667000" y="2901950"/>
            <a:ext cx="431800" cy="101600"/>
          </a:xfrm>
          <a:prstGeom prst="rect">
            <a:avLst/>
          </a:prstGeom>
        </p:spPr>
      </p:pic>
      <p:pic>
        <p:nvPicPr>
          <p:cNvPr id="34" name="Image 1" descr="connector">    </p:cNvPr>
          <p:cNvPicPr>
            <a:picLocks noChangeAspect="1"/>
          </p:cNvPicPr>
          <p:nvPr/>
        </p:nvPicPr>
        <p:blipFill>
          <a:blip r:embed="rId2"/>
          <a:srcRect l="0" r="0" t="0" b="0"/>
          <a:stretch/>
        </p:blipFill>
        <p:spPr>
          <a:xfrm>
            <a:off x="2667000" y="4330700"/>
            <a:ext cx="431800" cy="101600"/>
          </a:xfrm>
          <a:prstGeom prst="rect">
            <a:avLst/>
          </a:prstGeom>
        </p:spPr>
      </p:pic>
      <p:pic>
        <p:nvPicPr>
          <p:cNvPr id="35" name="Image 2" descr="connector">    </p:cNvPr>
          <p:cNvPicPr>
            <a:picLocks noChangeAspect="1"/>
          </p:cNvPicPr>
          <p:nvPr/>
        </p:nvPicPr>
        <p:blipFill>
          <a:blip r:embed="rId3"/>
          <a:srcRect l="0" r="0" t="0" b="0"/>
          <a:stretch/>
        </p:blipFill>
        <p:spPr>
          <a:xfrm>
            <a:off x="9093200" y="2901950"/>
            <a:ext cx="431800" cy="101600"/>
          </a:xfrm>
          <a:prstGeom prst="rect">
            <a:avLst/>
          </a:prstGeom>
        </p:spPr>
      </p:pic>
      <p:pic>
        <p:nvPicPr>
          <p:cNvPr id="36" name="Image 3" descr="connector">    </p:cNvPr>
          <p:cNvPicPr>
            <a:picLocks noChangeAspect="1"/>
          </p:cNvPicPr>
          <p:nvPr/>
        </p:nvPicPr>
        <p:blipFill>
          <a:blip r:embed="rId4"/>
          <a:srcRect l="0" r="0" t="0" b="0"/>
          <a:stretch/>
        </p:blipFill>
        <p:spPr>
          <a:xfrm>
            <a:off x="9093200" y="4330700"/>
            <a:ext cx="431800" cy="101600"/>
          </a:xfrm>
          <a:prstGeom prst="rect">
            <a:avLst/>
          </a:prstGeom>
        </p:spPr>
      </p:pic>
      <p:sp>
        <p:nvSpPr>
          <p:cNvPr id="37" name="Text 31"/>
          <p:cNvSpPr/>
          <p:nvPr/>
        </p:nvSpPr>
        <p:spPr>
          <a:xfrm>
            <a:off x="812800" y="6238280"/>
            <a:ext cx="2475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38" name="Text 32"/>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DRIFT INSULATION</a:t>
            </a:r>
            <a:endParaRPr lang="en-US" sz="1200" dirty="0"/>
          </a:p>
        </p:txBody>
      </p:sp>
      <p:sp>
        <p:nvSpPr>
          <p:cNvPr id="3" name="Text 1"/>
          <p:cNvSpPr/>
          <p:nvPr/>
        </p:nvSpPr>
        <p:spPr>
          <a:xfrm>
            <a:off x="812800" y="11277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14213D"/>
                </a:solidFill>
                <a:latin typeface="Source Serif 4" pitchFamily="34" charset="0"/>
                <a:ea typeface="Source Serif 4" pitchFamily="34" charset="-122"/>
                <a:cs typeface="Source Serif 4" pitchFamily="34" charset="-120"/>
              </a:rPr>
              <a:t>When a source schema changes, consumers never notice</a:t>
            </a:r>
            <a:endParaRPr lang="en-US" sz="2600" dirty="0"/>
          </a:p>
        </p:txBody>
      </p:sp>
      <p:sp>
        <p:nvSpPr>
          <p:cNvPr id="4" name="Shape 2"/>
          <p:cNvSpPr/>
          <p:nvPr/>
        </p:nvSpPr>
        <p:spPr>
          <a:xfrm>
            <a:off x="815975" y="1908175"/>
            <a:ext cx="1873250" cy="1692672"/>
          </a:xfrm>
          <a:prstGeom prst="roundRect">
            <a:avLst>
              <a:gd name="adj" fmla="val 4314"/>
            </a:avLst>
          </a:prstGeom>
          <a:solidFill>
            <a:srgbClr val="FDFCF8"/>
          </a:solidFill>
          <a:ln w="6350">
            <a:solidFill>
              <a:srgbClr val="DAD6CB"/>
            </a:solidFill>
            <a:prstDash val="solid"/>
          </a:ln>
        </p:spPr>
      </p:sp>
      <p:sp>
        <p:nvSpPr>
          <p:cNvPr id="5" name="Text 3"/>
          <p:cNvSpPr/>
          <p:nvPr/>
        </p:nvSpPr>
        <p:spPr>
          <a:xfrm>
            <a:off x="971550" y="2063750"/>
            <a:ext cx="16129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385"/>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971550" y="2327870"/>
            <a:ext cx="16129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Drift detected</a:t>
            </a:r>
            <a:endParaRPr lang="en-US" sz="1400" dirty="0"/>
          </a:p>
        </p:txBody>
      </p:sp>
      <p:sp>
        <p:nvSpPr>
          <p:cNvPr id="7" name="Text 5"/>
          <p:cNvSpPr/>
          <p:nvPr/>
        </p:nvSpPr>
        <p:spPr>
          <a:xfrm>
            <a:off x="971550" y="2591991"/>
            <a:ext cx="16129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Source v2 renames and retypes fields behind an RDF endpoint.</a:t>
            </a:r>
            <a:endParaRPr lang="en-US" sz="1200" dirty="0"/>
          </a:p>
        </p:txBody>
      </p:sp>
      <p:sp>
        <p:nvSpPr>
          <p:cNvPr id="8" name="Shape 6"/>
          <p:cNvSpPr/>
          <p:nvPr/>
        </p:nvSpPr>
        <p:spPr>
          <a:xfrm>
            <a:off x="2984500" y="1905000"/>
            <a:ext cx="1879600" cy="1686322"/>
          </a:xfrm>
          <a:prstGeom prst="roundRect">
            <a:avLst>
              <a:gd name="adj" fmla="val 4519"/>
            </a:avLst>
          </a:prstGeom>
          <a:solidFill>
            <a:srgbClr val="2E6F73"/>
          </a:solidFill>
          <a:ln/>
        </p:spPr>
      </p:sp>
      <p:sp>
        <p:nvSpPr>
          <p:cNvPr id="9" name="Text 7"/>
          <p:cNvSpPr/>
          <p:nvPr/>
        </p:nvSpPr>
        <p:spPr>
          <a:xfrm>
            <a:off x="3136900" y="2057400"/>
            <a:ext cx="162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E5E3"/>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3136900" y="2321520"/>
            <a:ext cx="162560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AF9"/>
                </a:solidFill>
                <a:latin typeface="IBM Plex Sans" pitchFamily="34" charset="0"/>
                <a:ea typeface="IBM Plex Sans" pitchFamily="34" charset="-122"/>
                <a:cs typeface="IBM Plex Sans" pitchFamily="34" charset="-120"/>
              </a:rPr>
              <a:t>Claude drafts the delta</a:t>
            </a:r>
            <a:endParaRPr lang="en-US" sz="1400" dirty="0"/>
          </a:p>
        </p:txBody>
      </p:sp>
      <p:sp>
        <p:nvSpPr>
          <p:cNvPr id="11" name="Text 9"/>
          <p:cNvSpPr/>
          <p:nvPr/>
        </p:nvSpPr>
        <p:spPr>
          <a:xfrm>
            <a:off x="3136900" y="2798961"/>
            <a:ext cx="16256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AF9"/>
                </a:solidFill>
                <a:latin typeface="IBM Plex Sans" pitchFamily="34" charset="0"/>
                <a:ea typeface="IBM Plex Sans" pitchFamily="34" charset="-122"/>
                <a:cs typeface="IBM Plex Sans" pitchFamily="34" charset="-120"/>
              </a:rPr>
              <a:t>Structural diff plus updated R2RML/RML rules, with rationale.</a:t>
            </a:r>
            <a:endParaRPr lang="en-US" sz="1200" dirty="0"/>
          </a:p>
        </p:txBody>
      </p:sp>
      <p:sp>
        <p:nvSpPr>
          <p:cNvPr id="12" name="Shape 10"/>
          <p:cNvSpPr/>
          <p:nvPr/>
        </p:nvSpPr>
        <p:spPr>
          <a:xfrm>
            <a:off x="5165725" y="1914525"/>
            <a:ext cx="1860550" cy="1918692"/>
          </a:xfrm>
          <a:prstGeom prst="roundRect">
            <a:avLst>
              <a:gd name="adj" fmla="val 3584"/>
            </a:avLst>
          </a:prstGeom>
          <a:solidFill>
            <a:srgbClr val="FDFCF8"/>
          </a:solidFill>
          <a:ln w="19050">
            <a:solidFill>
              <a:srgbClr val="C9A227"/>
            </a:solidFill>
            <a:prstDash val="solid"/>
          </a:ln>
        </p:spPr>
      </p:sp>
      <p:sp>
        <p:nvSpPr>
          <p:cNvPr id="13" name="Text 11"/>
          <p:cNvSpPr/>
          <p:nvPr/>
        </p:nvSpPr>
        <p:spPr>
          <a:xfrm>
            <a:off x="5327650" y="2076450"/>
            <a:ext cx="1587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12"/>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5327650" y="2340570"/>
            <a:ext cx="158750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Deterministic gates</a:t>
            </a:r>
            <a:endParaRPr lang="en-US" sz="1400" dirty="0"/>
          </a:p>
        </p:txBody>
      </p:sp>
      <p:sp>
        <p:nvSpPr>
          <p:cNvPr id="15" name="Text 13"/>
          <p:cNvSpPr/>
          <p:nvPr/>
        </p:nvSpPr>
        <p:spPr>
          <a:xfrm>
            <a:off x="5327650" y="2818011"/>
            <a:ext cx="15875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SHACL shapes, reasoner consistency and regression SPARQL pass.</a:t>
            </a:r>
            <a:endParaRPr lang="en-US" sz="1200" dirty="0"/>
          </a:p>
        </p:txBody>
      </p:sp>
      <p:sp>
        <p:nvSpPr>
          <p:cNvPr id="16" name="Shape 14"/>
          <p:cNvSpPr/>
          <p:nvPr/>
        </p:nvSpPr>
        <p:spPr>
          <a:xfrm>
            <a:off x="7327900" y="1905000"/>
            <a:ext cx="1879600" cy="1473002"/>
          </a:xfrm>
          <a:prstGeom prst="roundRect">
            <a:avLst>
              <a:gd name="adj" fmla="val 5173"/>
            </a:avLst>
          </a:prstGeom>
          <a:solidFill>
            <a:srgbClr val="14213D"/>
          </a:solidFill>
          <a:ln/>
        </p:spPr>
      </p:sp>
      <p:sp>
        <p:nvSpPr>
          <p:cNvPr id="17" name="Text 15"/>
          <p:cNvSpPr/>
          <p:nvPr/>
        </p:nvSpPr>
        <p:spPr>
          <a:xfrm>
            <a:off x="7480300" y="2057400"/>
            <a:ext cx="162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D3E0"/>
                </a:solidFill>
                <a:latin typeface="IBM Plex Sans" pitchFamily="34" charset="0"/>
                <a:ea typeface="IBM Plex Sans" pitchFamily="34" charset="-122"/>
                <a:cs typeface="IBM Plex Sans" pitchFamily="34" charset="-120"/>
              </a:rPr>
              <a:t>04</a:t>
            </a:r>
            <a:endParaRPr lang="en-US" sz="1200" dirty="0"/>
          </a:p>
        </p:txBody>
      </p:sp>
      <p:sp>
        <p:nvSpPr>
          <p:cNvPr id="18" name="Text 16"/>
          <p:cNvSpPr/>
          <p:nvPr/>
        </p:nvSpPr>
        <p:spPr>
          <a:xfrm>
            <a:off x="7480300" y="2321520"/>
            <a:ext cx="16256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4EE"/>
                </a:solidFill>
                <a:latin typeface="IBM Plex Sans" pitchFamily="34" charset="0"/>
                <a:ea typeface="IBM Plex Sans" pitchFamily="34" charset="-122"/>
                <a:cs typeface="IBM Plex Sans" pitchFamily="34" charset="-120"/>
              </a:rPr>
              <a:t>Engineer approves</a:t>
            </a:r>
            <a:endParaRPr lang="en-US" sz="1400" dirty="0"/>
          </a:p>
        </p:txBody>
      </p:sp>
      <p:sp>
        <p:nvSpPr>
          <p:cNvPr id="19" name="Text 17"/>
          <p:cNvSpPr/>
          <p:nvPr/>
        </p:nvSpPr>
        <p:spPr>
          <a:xfrm>
            <a:off x="7480300" y="2585641"/>
            <a:ext cx="16256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Peer review in Git; nothing merges on model output alone.</a:t>
            </a:r>
            <a:endParaRPr lang="en-US" sz="1200" dirty="0"/>
          </a:p>
        </p:txBody>
      </p:sp>
      <p:sp>
        <p:nvSpPr>
          <p:cNvPr id="20" name="Shape 18"/>
          <p:cNvSpPr/>
          <p:nvPr/>
        </p:nvSpPr>
        <p:spPr>
          <a:xfrm>
            <a:off x="9502775" y="1908175"/>
            <a:ext cx="1873250" cy="1479352"/>
          </a:xfrm>
          <a:prstGeom prst="roundRect">
            <a:avLst>
              <a:gd name="adj" fmla="val 4936"/>
            </a:avLst>
          </a:prstGeom>
          <a:solidFill>
            <a:srgbClr val="FDFCF8"/>
          </a:solidFill>
          <a:ln w="6350">
            <a:solidFill>
              <a:srgbClr val="DAD6CB"/>
            </a:solidFill>
            <a:prstDash val="solid"/>
          </a:ln>
        </p:spPr>
      </p:sp>
      <p:sp>
        <p:nvSpPr>
          <p:cNvPr id="21" name="Text 19"/>
          <p:cNvSpPr/>
          <p:nvPr/>
        </p:nvSpPr>
        <p:spPr>
          <a:xfrm>
            <a:off x="9658350" y="2063750"/>
            <a:ext cx="16129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385"/>
                </a:solidFill>
                <a:latin typeface="IBM Plex Sans" pitchFamily="34" charset="0"/>
                <a:ea typeface="IBM Plex Sans" pitchFamily="34" charset="-122"/>
                <a:cs typeface="IBM Plex Sans" pitchFamily="34" charset="-120"/>
              </a:rPr>
              <a:t>05</a:t>
            </a:r>
            <a:endParaRPr lang="en-US" sz="1200" dirty="0"/>
          </a:p>
        </p:txBody>
      </p:sp>
      <p:sp>
        <p:nvSpPr>
          <p:cNvPr id="22" name="Text 20"/>
          <p:cNvSpPr/>
          <p:nvPr/>
        </p:nvSpPr>
        <p:spPr>
          <a:xfrm>
            <a:off x="9658350" y="2327870"/>
            <a:ext cx="16129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Registry publishes</a:t>
            </a:r>
            <a:endParaRPr lang="en-US" sz="1400" dirty="0"/>
          </a:p>
        </p:txBody>
      </p:sp>
      <p:sp>
        <p:nvSpPr>
          <p:cNvPr id="23" name="Text 21"/>
          <p:cNvSpPr/>
          <p:nvPr/>
        </p:nvSpPr>
        <p:spPr>
          <a:xfrm>
            <a:off x="9658350" y="2591991"/>
            <a:ext cx="16129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New mapping version with lineage; canonical IRIs unchanged.</a:t>
            </a:r>
            <a:endParaRPr lang="en-US" sz="1200" dirty="0"/>
          </a:p>
        </p:txBody>
      </p:sp>
      <p:pic>
        <p:nvPicPr>
          <p:cNvPr id="24" name="Image 0" descr="connector">    </p:cNvPr>
          <p:cNvPicPr>
            <a:picLocks noChangeAspect="1"/>
          </p:cNvPicPr>
          <p:nvPr/>
        </p:nvPicPr>
        <p:blipFill>
          <a:blip r:embed="rId1"/>
          <a:srcRect l="0" r="0" t="0" b="0"/>
          <a:stretch/>
        </p:blipFill>
        <p:spPr>
          <a:xfrm>
            <a:off x="2641600" y="2616200"/>
            <a:ext cx="393700" cy="101600"/>
          </a:xfrm>
          <a:prstGeom prst="rect">
            <a:avLst/>
          </a:prstGeom>
        </p:spPr>
      </p:pic>
      <p:pic>
        <p:nvPicPr>
          <p:cNvPr id="25" name="Image 1" descr="connector">    </p:cNvPr>
          <p:cNvPicPr>
            <a:picLocks noChangeAspect="1"/>
          </p:cNvPicPr>
          <p:nvPr/>
        </p:nvPicPr>
        <p:blipFill>
          <a:blip r:embed="rId2"/>
          <a:srcRect l="0" r="0" t="0" b="0"/>
          <a:stretch/>
        </p:blipFill>
        <p:spPr>
          <a:xfrm>
            <a:off x="4813300" y="2616200"/>
            <a:ext cx="393700" cy="101600"/>
          </a:xfrm>
          <a:prstGeom prst="rect">
            <a:avLst/>
          </a:prstGeom>
        </p:spPr>
      </p:pic>
      <p:pic>
        <p:nvPicPr>
          <p:cNvPr id="26" name="Image 2" descr="connector">    </p:cNvPr>
          <p:cNvPicPr>
            <a:picLocks noChangeAspect="1"/>
          </p:cNvPicPr>
          <p:nvPr/>
        </p:nvPicPr>
        <p:blipFill>
          <a:blip r:embed="rId3"/>
          <a:srcRect l="0" r="0" t="0" b="0"/>
          <a:stretch/>
        </p:blipFill>
        <p:spPr>
          <a:xfrm>
            <a:off x="6985000" y="2616200"/>
            <a:ext cx="393700" cy="101600"/>
          </a:xfrm>
          <a:prstGeom prst="rect">
            <a:avLst/>
          </a:prstGeom>
        </p:spPr>
      </p:pic>
      <p:pic>
        <p:nvPicPr>
          <p:cNvPr id="27" name="Image 3" descr="connector">    </p:cNvPr>
          <p:cNvPicPr>
            <a:picLocks noChangeAspect="1"/>
          </p:cNvPicPr>
          <p:nvPr/>
        </p:nvPicPr>
        <p:blipFill>
          <a:blip r:embed="rId4"/>
          <a:srcRect l="0" r="0" t="0" b="0"/>
          <a:stretch/>
        </p:blipFill>
        <p:spPr>
          <a:xfrm>
            <a:off x="9156700" y="2616200"/>
            <a:ext cx="393700" cy="101600"/>
          </a:xfrm>
          <a:prstGeom prst="rect">
            <a:avLst/>
          </a:prstGeom>
        </p:spPr>
      </p:pic>
      <p:sp>
        <p:nvSpPr>
          <p:cNvPr id="28" name="Shape 22"/>
          <p:cNvSpPr/>
          <p:nvPr/>
        </p:nvSpPr>
        <p:spPr>
          <a:xfrm>
            <a:off x="812800" y="4318000"/>
            <a:ext cx="5130800" cy="1059061"/>
          </a:xfrm>
          <a:prstGeom prst="roundRect">
            <a:avLst>
              <a:gd name="adj" fmla="val 4797"/>
            </a:avLst>
          </a:prstGeom>
          <a:solidFill>
            <a:srgbClr val="EFE9E4"/>
          </a:solidFill>
          <a:ln/>
        </p:spPr>
      </p:sp>
      <p:sp>
        <p:nvSpPr>
          <p:cNvPr id="29" name="Shape 23"/>
          <p:cNvSpPr/>
          <p:nvPr/>
        </p:nvSpPr>
        <p:spPr>
          <a:xfrm>
            <a:off x="812800" y="4318000"/>
            <a:ext cx="5130800" cy="1059061"/>
          </a:xfrm>
          <a:custGeom>
            <a:avLst/>
            <a:gdLst/>
            <a:ahLst/>
            <a:cxnLst/>
            <a:rect l="l" t="t" r="r" b="b"/>
            <a:pathLst>
              <a:path w="5130800" h="1059061">
                <a:moveTo>
                  <a:pt x="50800" y="1059061"/>
                </a:moveTo>
                <a:lnTo>
                  <a:pt x="50800" y="1059061"/>
                </a:lnTo>
                <a:arcTo hR="50800" wR="50800" stAng="5400000" swAng="5400000"/>
                <a:lnTo>
                  <a:pt x="0" y="50800"/>
                </a:lnTo>
                <a:arcTo hR="50800" wR="50800" stAng="10800000" swAng="5400000"/>
                <a:lnTo>
                  <a:pt x="50800" y="0"/>
                </a:lnTo>
                <a:arcTo hR="50800" wR="12700" stAng="16200000" swAng="-5400000"/>
                <a:lnTo>
                  <a:pt x="38100" y="1008261"/>
                </a:lnTo>
                <a:arcTo hR="50800" wR="12700" stAng="10800000" swAng="-5400000"/>
                <a:close/>
              </a:path>
            </a:pathLst>
          </a:custGeom>
          <a:solidFill>
            <a:srgbClr val="A34A28"/>
          </a:solidFill>
          <a:ln/>
        </p:spPr>
      </p:sp>
      <p:sp>
        <p:nvSpPr>
          <p:cNvPr id="30" name="Text 24"/>
          <p:cNvSpPr/>
          <p:nvPr/>
        </p:nvSpPr>
        <p:spPr>
          <a:xfrm>
            <a:off x="1028700" y="4495800"/>
            <a:ext cx="48792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Today · point-to-point ETL</a:t>
            </a:r>
            <a:endParaRPr lang="en-US" sz="1400" dirty="0"/>
          </a:p>
        </p:txBody>
      </p:sp>
      <p:sp>
        <p:nvSpPr>
          <p:cNvPr id="31" name="Text 25"/>
          <p:cNvSpPr/>
          <p:nvPr/>
        </p:nvSpPr>
        <p:spPr>
          <a:xfrm>
            <a:off x="1028700" y="4772620"/>
            <a:ext cx="487921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source change breaks many hand-coded mappings; fixes are reactive and found in production.</a:t>
            </a:r>
            <a:endParaRPr lang="en-US" sz="1200" dirty="0"/>
          </a:p>
        </p:txBody>
      </p:sp>
      <p:sp>
        <p:nvSpPr>
          <p:cNvPr id="32" name="Shape 26"/>
          <p:cNvSpPr/>
          <p:nvPr/>
        </p:nvSpPr>
        <p:spPr>
          <a:xfrm>
            <a:off x="6248400" y="4318000"/>
            <a:ext cx="5130800" cy="1059061"/>
          </a:xfrm>
          <a:prstGeom prst="roundRect">
            <a:avLst>
              <a:gd name="adj" fmla="val 4797"/>
            </a:avLst>
          </a:prstGeom>
          <a:solidFill>
            <a:srgbClr val="E3EFEE"/>
          </a:solidFill>
          <a:ln/>
        </p:spPr>
      </p:sp>
      <p:sp>
        <p:nvSpPr>
          <p:cNvPr id="33" name="Shape 27"/>
          <p:cNvSpPr/>
          <p:nvPr/>
        </p:nvSpPr>
        <p:spPr>
          <a:xfrm>
            <a:off x="6248400" y="4318000"/>
            <a:ext cx="5130800" cy="1059061"/>
          </a:xfrm>
          <a:custGeom>
            <a:avLst/>
            <a:gdLst/>
            <a:ahLst/>
            <a:cxnLst/>
            <a:rect l="l" t="t" r="r" b="b"/>
            <a:pathLst>
              <a:path w="5130800" h="1059061">
                <a:moveTo>
                  <a:pt x="50800" y="1059061"/>
                </a:moveTo>
                <a:lnTo>
                  <a:pt x="50800" y="1059061"/>
                </a:lnTo>
                <a:arcTo hR="50800" wR="50800" stAng="5400000" swAng="5400000"/>
                <a:lnTo>
                  <a:pt x="0" y="50800"/>
                </a:lnTo>
                <a:arcTo hR="50800" wR="50800" stAng="10800000" swAng="5400000"/>
                <a:lnTo>
                  <a:pt x="50800" y="0"/>
                </a:lnTo>
                <a:arcTo hR="50800" wR="12700" stAng="16200000" swAng="-5400000"/>
                <a:lnTo>
                  <a:pt x="38100" y="1008261"/>
                </a:lnTo>
                <a:arcTo hR="50800" wR="12700" stAng="10800000" swAng="-5400000"/>
                <a:close/>
              </a:path>
            </a:pathLst>
          </a:custGeom>
          <a:solidFill>
            <a:srgbClr val="2E6F73"/>
          </a:solidFill>
          <a:ln/>
        </p:spPr>
      </p:sp>
      <p:sp>
        <p:nvSpPr>
          <p:cNvPr id="34" name="Text 28"/>
          <p:cNvSpPr/>
          <p:nvPr/>
        </p:nvSpPr>
        <p:spPr>
          <a:xfrm>
            <a:off x="6464300" y="4495800"/>
            <a:ext cx="48792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Target · mediated fabric</a:t>
            </a:r>
            <a:endParaRPr lang="en-US" sz="1400" dirty="0"/>
          </a:p>
        </p:txBody>
      </p:sp>
      <p:sp>
        <p:nvSpPr>
          <p:cNvPr id="35" name="Text 29"/>
          <p:cNvSpPr/>
          <p:nvPr/>
        </p:nvSpPr>
        <p:spPr>
          <a:xfrm>
            <a:off x="6464300" y="4772620"/>
            <a:ext cx="487921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governed mapping update; every consumer keeps querying the same canonical IRIs.</a:t>
            </a:r>
            <a:endParaRPr lang="en-US" sz="1200" dirty="0"/>
          </a:p>
        </p:txBody>
      </p:sp>
      <p:sp>
        <p:nvSpPr>
          <p:cNvPr id="36" name="Text 30"/>
          <p:cNvSpPr/>
          <p:nvPr/>
        </p:nvSpPr>
        <p:spPr>
          <a:xfrm>
            <a:off x="812800" y="6238280"/>
            <a:ext cx="2475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37" name="Text 31"/>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RELEASE LIFECYCLE</a:t>
            </a:r>
            <a:endParaRPr lang="en-US" sz="1200" dirty="0"/>
          </a:p>
        </p:txBody>
      </p:sp>
      <p:sp>
        <p:nvSpPr>
          <p:cNvPr id="3" name="Text 1"/>
          <p:cNvSpPr/>
          <p:nvPr/>
        </p:nvSpPr>
        <p:spPr>
          <a:xfrm>
            <a:off x="812800" y="11277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14213D"/>
                </a:solidFill>
                <a:latin typeface="Source Serif 4" pitchFamily="34" charset="0"/>
                <a:ea typeface="Source Serif 4" pitchFamily="34" charset="-122"/>
                <a:cs typeface="Source Serif 4" pitchFamily="34" charset="-120"/>
              </a:rPr>
              <a:t>Claude proposes; deterministic gates decide</a:t>
            </a:r>
            <a:endParaRPr lang="en-US" sz="2600" dirty="0"/>
          </a:p>
        </p:txBody>
      </p:sp>
      <p:sp>
        <p:nvSpPr>
          <p:cNvPr id="4" name="Shape 2"/>
          <p:cNvSpPr/>
          <p:nvPr/>
        </p:nvSpPr>
        <p:spPr>
          <a:xfrm>
            <a:off x="812800" y="1905000"/>
            <a:ext cx="10566400" cy="1270000"/>
          </a:xfrm>
          <a:prstGeom prst="roundRect">
            <a:avLst>
              <a:gd name="adj" fmla="val 6000"/>
            </a:avLst>
          </a:prstGeom>
          <a:solidFill>
            <a:srgbClr val="E3EFEE"/>
          </a:solidFill>
          <a:ln/>
        </p:spPr>
      </p:sp>
      <p:sp>
        <p:nvSpPr>
          <p:cNvPr id="5" name="Shape 3"/>
          <p:cNvSpPr/>
          <p:nvPr/>
        </p:nvSpPr>
        <p:spPr>
          <a:xfrm>
            <a:off x="812800" y="3365500"/>
            <a:ext cx="10566400" cy="1270000"/>
          </a:xfrm>
          <a:prstGeom prst="roundRect">
            <a:avLst>
              <a:gd name="adj" fmla="val 6000"/>
            </a:avLst>
          </a:prstGeom>
          <a:solidFill>
            <a:srgbClr val="F3EBD2"/>
          </a:solidFill>
          <a:ln/>
        </p:spPr>
      </p:sp>
      <p:sp>
        <p:nvSpPr>
          <p:cNvPr id="6" name="Text 4"/>
          <p:cNvSpPr/>
          <p:nvPr/>
        </p:nvSpPr>
        <p:spPr>
          <a:xfrm>
            <a:off x="990600" y="2349500"/>
            <a:ext cx="13208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E6F73"/>
                </a:solidFill>
                <a:latin typeface="IBM Plex Sans" pitchFamily="34" charset="0"/>
                <a:ea typeface="IBM Plex Sans" pitchFamily="34" charset="-122"/>
                <a:cs typeface="IBM Plex Sans" pitchFamily="34" charset="-120"/>
              </a:rPr>
              <a:t>Claude drafts</a:t>
            </a:r>
            <a:endParaRPr lang="en-US" sz="1400" dirty="0"/>
          </a:p>
        </p:txBody>
      </p:sp>
      <p:sp>
        <p:nvSpPr>
          <p:cNvPr id="7" name="Text 5"/>
          <p:cNvSpPr/>
          <p:nvPr/>
        </p:nvSpPr>
        <p:spPr>
          <a:xfrm>
            <a:off x="990600" y="3810000"/>
            <a:ext cx="13208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6A12"/>
                </a:solidFill>
                <a:latin typeface="IBM Plex Sans" pitchFamily="34" charset="0"/>
                <a:ea typeface="IBM Plex Sans" pitchFamily="34" charset="-122"/>
                <a:cs typeface="IBM Plex Sans" pitchFamily="34" charset="-120"/>
              </a:rPr>
              <a:t>Gates decide</a:t>
            </a:r>
            <a:endParaRPr lang="en-US" sz="1400" dirty="0"/>
          </a:p>
        </p:txBody>
      </p:sp>
      <p:sp>
        <p:nvSpPr>
          <p:cNvPr id="8" name="Shape 6"/>
          <p:cNvSpPr/>
          <p:nvPr/>
        </p:nvSpPr>
        <p:spPr>
          <a:xfrm>
            <a:off x="2419350" y="2070100"/>
            <a:ext cx="2082800" cy="939800"/>
          </a:xfrm>
          <a:prstGeom prst="roundRect">
            <a:avLst>
              <a:gd name="adj" fmla="val 6081"/>
            </a:avLst>
          </a:prstGeom>
          <a:solidFill>
            <a:srgbClr val="FDFCF8"/>
          </a:solidFill>
          <a:ln w="12700">
            <a:solidFill>
              <a:srgbClr val="2E6F73"/>
            </a:solidFill>
            <a:prstDash val="solid"/>
          </a:ln>
        </p:spPr>
      </p:sp>
      <p:sp>
        <p:nvSpPr>
          <p:cNvPr id="9" name="Text 7"/>
          <p:cNvSpPr/>
          <p:nvPr/>
        </p:nvSpPr>
        <p:spPr>
          <a:xfrm>
            <a:off x="2552700" y="2203450"/>
            <a:ext cx="18705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IBM Plex Sans" pitchFamily="34" charset="0"/>
                <a:ea typeface="IBM Plex Sans" pitchFamily="34" charset="-122"/>
                <a:cs typeface="IBM Plex Sans" pitchFamily="34" charset="-120"/>
              </a:rPr>
              <a:t>Author axioms</a:t>
            </a:r>
            <a:endParaRPr lang="en-US" sz="1300" dirty="0"/>
          </a:p>
        </p:txBody>
      </p:sp>
      <p:sp>
        <p:nvSpPr>
          <p:cNvPr id="10" name="Text 8"/>
          <p:cNvSpPr/>
          <p:nvPr/>
        </p:nvSpPr>
        <p:spPr>
          <a:xfrm>
            <a:off x="2552700" y="2439640"/>
            <a:ext cx="18705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SKOS / OWL 2 DL from regs and data dictionaries</a:t>
            </a:r>
            <a:endParaRPr lang="en-US" sz="1200" dirty="0"/>
          </a:p>
        </p:txBody>
      </p:sp>
      <p:sp>
        <p:nvSpPr>
          <p:cNvPr id="11" name="Shape 9"/>
          <p:cNvSpPr/>
          <p:nvPr/>
        </p:nvSpPr>
        <p:spPr>
          <a:xfrm>
            <a:off x="4705350" y="2070100"/>
            <a:ext cx="2082800" cy="939800"/>
          </a:xfrm>
          <a:prstGeom prst="roundRect">
            <a:avLst>
              <a:gd name="adj" fmla="val 6081"/>
            </a:avLst>
          </a:prstGeom>
          <a:solidFill>
            <a:srgbClr val="FDFCF8"/>
          </a:solidFill>
          <a:ln w="12700">
            <a:solidFill>
              <a:srgbClr val="2E6F73"/>
            </a:solidFill>
            <a:prstDash val="solid"/>
          </a:ln>
        </p:spPr>
      </p:sp>
      <p:sp>
        <p:nvSpPr>
          <p:cNvPr id="12" name="Text 10"/>
          <p:cNvSpPr/>
          <p:nvPr/>
        </p:nvSpPr>
        <p:spPr>
          <a:xfrm>
            <a:off x="4838700" y="2203450"/>
            <a:ext cx="18705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IBM Plex Sans" pitchFamily="34" charset="0"/>
                <a:ea typeface="IBM Plex Sans" pitchFamily="34" charset="-122"/>
                <a:cs typeface="IBM Plex Sans" pitchFamily="34" charset="-120"/>
              </a:rPr>
              <a:t>Draft SHACL</a:t>
            </a:r>
            <a:endParaRPr lang="en-US" sz="1300" dirty="0"/>
          </a:p>
        </p:txBody>
      </p:sp>
      <p:sp>
        <p:nvSpPr>
          <p:cNvPr id="13" name="Text 11"/>
          <p:cNvSpPr/>
          <p:nvPr/>
        </p:nvSpPr>
        <p:spPr>
          <a:xfrm>
            <a:off x="4838700" y="2439640"/>
            <a:ext cx="18705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Node and property shapes from requirements</a:t>
            </a:r>
            <a:endParaRPr lang="en-US" sz="1200" dirty="0"/>
          </a:p>
        </p:txBody>
      </p:sp>
      <p:sp>
        <p:nvSpPr>
          <p:cNvPr id="14" name="Shape 12"/>
          <p:cNvSpPr/>
          <p:nvPr/>
        </p:nvSpPr>
        <p:spPr>
          <a:xfrm>
            <a:off x="6991350" y="2070100"/>
            <a:ext cx="2082800" cy="939800"/>
          </a:xfrm>
          <a:prstGeom prst="roundRect">
            <a:avLst>
              <a:gd name="adj" fmla="val 6081"/>
            </a:avLst>
          </a:prstGeom>
          <a:solidFill>
            <a:srgbClr val="FDFCF8"/>
          </a:solidFill>
          <a:ln w="12700">
            <a:solidFill>
              <a:srgbClr val="2E6F73"/>
            </a:solidFill>
            <a:prstDash val="solid"/>
          </a:ln>
        </p:spPr>
      </p:sp>
      <p:sp>
        <p:nvSpPr>
          <p:cNvPr id="15" name="Text 13"/>
          <p:cNvSpPr/>
          <p:nvPr/>
        </p:nvSpPr>
        <p:spPr>
          <a:xfrm>
            <a:off x="7124700" y="2203450"/>
            <a:ext cx="18705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IBM Plex Sans" pitchFamily="34" charset="0"/>
                <a:ea typeface="IBM Plex Sans" pitchFamily="34" charset="-122"/>
                <a:cs typeface="IBM Plex Sans" pitchFamily="34" charset="-120"/>
              </a:rPr>
              <a:t>Simulate impact</a:t>
            </a:r>
            <a:endParaRPr lang="en-US" sz="1300" dirty="0"/>
          </a:p>
        </p:txBody>
      </p:sp>
      <p:sp>
        <p:nvSpPr>
          <p:cNvPr id="16" name="Text 14"/>
          <p:cNvSpPr/>
          <p:nvPr/>
        </p:nvSpPr>
        <p:spPr>
          <a:xfrm>
            <a:off x="7124700" y="2439640"/>
            <a:ext cx="18705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Blast radius on queries, shapes, inferences</a:t>
            </a:r>
            <a:endParaRPr lang="en-US" sz="1200" dirty="0"/>
          </a:p>
        </p:txBody>
      </p:sp>
      <p:sp>
        <p:nvSpPr>
          <p:cNvPr id="17" name="Shape 15"/>
          <p:cNvSpPr/>
          <p:nvPr/>
        </p:nvSpPr>
        <p:spPr>
          <a:xfrm>
            <a:off x="9277350" y="2070100"/>
            <a:ext cx="2082800" cy="939800"/>
          </a:xfrm>
          <a:prstGeom prst="roundRect">
            <a:avLst>
              <a:gd name="adj" fmla="val 6081"/>
            </a:avLst>
          </a:prstGeom>
          <a:solidFill>
            <a:srgbClr val="FDFCF8"/>
          </a:solidFill>
          <a:ln w="12700">
            <a:solidFill>
              <a:srgbClr val="2E6F73"/>
            </a:solidFill>
            <a:prstDash val="solid"/>
          </a:ln>
        </p:spPr>
      </p:sp>
      <p:sp>
        <p:nvSpPr>
          <p:cNvPr id="18" name="Text 16"/>
          <p:cNvSpPr/>
          <p:nvPr/>
        </p:nvSpPr>
        <p:spPr>
          <a:xfrm>
            <a:off x="9410700" y="2203450"/>
            <a:ext cx="18705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IBM Plex Sans" pitchFamily="34" charset="0"/>
                <a:ea typeface="IBM Plex Sans" pitchFamily="34" charset="-122"/>
                <a:cs typeface="IBM Plex Sans" pitchFamily="34" charset="-120"/>
              </a:rPr>
              <a:t>Release metadata</a:t>
            </a:r>
            <a:endParaRPr lang="en-US" sz="1300" dirty="0"/>
          </a:p>
        </p:txBody>
      </p:sp>
      <p:sp>
        <p:nvSpPr>
          <p:cNvPr id="19" name="Text 17"/>
          <p:cNvSpPr/>
          <p:nvPr/>
        </p:nvSpPr>
        <p:spPr>
          <a:xfrm>
            <a:off x="9410700" y="2439640"/>
            <a:ext cx="18705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PROV-O, Dublin Core, change log</a:t>
            </a:r>
            <a:endParaRPr lang="en-US" sz="1200" dirty="0"/>
          </a:p>
        </p:txBody>
      </p:sp>
      <p:sp>
        <p:nvSpPr>
          <p:cNvPr id="20" name="Shape 18"/>
          <p:cNvSpPr/>
          <p:nvPr/>
        </p:nvSpPr>
        <p:spPr>
          <a:xfrm>
            <a:off x="2419350" y="3530600"/>
            <a:ext cx="2082800" cy="939800"/>
          </a:xfrm>
          <a:prstGeom prst="roundRect">
            <a:avLst>
              <a:gd name="adj" fmla="val 6081"/>
            </a:avLst>
          </a:prstGeom>
          <a:solidFill>
            <a:srgbClr val="FDFCF8"/>
          </a:solidFill>
          <a:ln w="12700">
            <a:solidFill>
              <a:srgbClr val="C9A227"/>
            </a:solidFill>
            <a:prstDash val="solid"/>
          </a:ln>
        </p:spPr>
      </p:sp>
      <p:sp>
        <p:nvSpPr>
          <p:cNvPr id="21" name="Text 19"/>
          <p:cNvSpPr/>
          <p:nvPr/>
        </p:nvSpPr>
        <p:spPr>
          <a:xfrm>
            <a:off x="2552700" y="3663950"/>
            <a:ext cx="18705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IBM Plex Sans" pitchFamily="34" charset="0"/>
                <a:ea typeface="IBM Plex Sans" pitchFamily="34" charset="-122"/>
                <a:cs typeface="IBM Plex Sans" pitchFamily="34" charset="-120"/>
              </a:rPr>
              <a:t>Syntax &amp; reasoner</a:t>
            </a:r>
            <a:endParaRPr lang="en-US" sz="1300" dirty="0"/>
          </a:p>
        </p:txBody>
      </p:sp>
      <p:sp>
        <p:nvSpPr>
          <p:cNvPr id="22" name="Text 20"/>
          <p:cNvSpPr/>
          <p:nvPr/>
        </p:nvSpPr>
        <p:spPr>
          <a:xfrm>
            <a:off x="2552700" y="3900140"/>
            <a:ext cx="18705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Parse, then HermiT / Pellet satisfiability</a:t>
            </a:r>
            <a:endParaRPr lang="en-US" sz="1200" dirty="0"/>
          </a:p>
        </p:txBody>
      </p:sp>
      <p:sp>
        <p:nvSpPr>
          <p:cNvPr id="23" name="Shape 21"/>
          <p:cNvSpPr/>
          <p:nvPr/>
        </p:nvSpPr>
        <p:spPr>
          <a:xfrm>
            <a:off x="4705350" y="3530600"/>
            <a:ext cx="2082800" cy="939800"/>
          </a:xfrm>
          <a:prstGeom prst="roundRect">
            <a:avLst>
              <a:gd name="adj" fmla="val 6081"/>
            </a:avLst>
          </a:prstGeom>
          <a:solidFill>
            <a:srgbClr val="FDFCF8"/>
          </a:solidFill>
          <a:ln w="12700">
            <a:solidFill>
              <a:srgbClr val="C9A227"/>
            </a:solidFill>
            <a:prstDash val="solid"/>
          </a:ln>
        </p:spPr>
      </p:sp>
      <p:sp>
        <p:nvSpPr>
          <p:cNvPr id="24" name="Text 22"/>
          <p:cNvSpPr/>
          <p:nvPr/>
        </p:nvSpPr>
        <p:spPr>
          <a:xfrm>
            <a:off x="4838700" y="3663950"/>
            <a:ext cx="18705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IBM Plex Sans" pitchFamily="34" charset="0"/>
                <a:ea typeface="IBM Plex Sans" pitchFamily="34" charset="-122"/>
                <a:cs typeface="IBM Plex Sans" pitchFamily="34" charset="-120"/>
              </a:rPr>
              <a:t>SHACL validation</a:t>
            </a:r>
            <a:endParaRPr lang="en-US" sz="1300" dirty="0"/>
          </a:p>
        </p:txBody>
      </p:sp>
      <p:sp>
        <p:nvSpPr>
          <p:cNvPr id="25" name="Text 23"/>
          <p:cNvSpPr/>
          <p:nvPr/>
        </p:nvSpPr>
        <p:spPr>
          <a:xfrm>
            <a:off x="4838700" y="3900140"/>
            <a:ext cx="18705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Run against synthetic test triples</a:t>
            </a:r>
            <a:endParaRPr lang="en-US" sz="1200" dirty="0"/>
          </a:p>
        </p:txBody>
      </p:sp>
      <p:sp>
        <p:nvSpPr>
          <p:cNvPr id="26" name="Shape 24"/>
          <p:cNvSpPr/>
          <p:nvPr/>
        </p:nvSpPr>
        <p:spPr>
          <a:xfrm>
            <a:off x="6991350" y="3530600"/>
            <a:ext cx="2082800" cy="939800"/>
          </a:xfrm>
          <a:prstGeom prst="roundRect">
            <a:avLst>
              <a:gd name="adj" fmla="val 6081"/>
            </a:avLst>
          </a:prstGeom>
          <a:solidFill>
            <a:srgbClr val="FDFCF8"/>
          </a:solidFill>
          <a:ln w="12700">
            <a:solidFill>
              <a:srgbClr val="C9A227"/>
            </a:solidFill>
            <a:prstDash val="solid"/>
          </a:ln>
        </p:spPr>
      </p:sp>
      <p:sp>
        <p:nvSpPr>
          <p:cNvPr id="27" name="Text 25"/>
          <p:cNvSpPr/>
          <p:nvPr/>
        </p:nvSpPr>
        <p:spPr>
          <a:xfrm>
            <a:off x="7124700" y="3663950"/>
            <a:ext cx="18705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IBM Plex Sans" pitchFamily="34" charset="0"/>
                <a:ea typeface="IBM Plex Sans" pitchFamily="34" charset="-122"/>
                <a:cs typeface="IBM Plex Sans" pitchFamily="34" charset="-120"/>
              </a:rPr>
              <a:t>Regression &amp; review</a:t>
            </a:r>
            <a:endParaRPr lang="en-US" sz="1300" dirty="0"/>
          </a:p>
        </p:txBody>
      </p:sp>
      <p:sp>
        <p:nvSpPr>
          <p:cNvPr id="28" name="Text 26"/>
          <p:cNvSpPr/>
          <p:nvPr/>
        </p:nvSpPr>
        <p:spPr>
          <a:xfrm>
            <a:off x="7124700" y="3900140"/>
            <a:ext cx="18705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SPARQL suite plus peer review in Git</a:t>
            </a:r>
            <a:endParaRPr lang="en-US" sz="1200" dirty="0"/>
          </a:p>
        </p:txBody>
      </p:sp>
      <p:sp>
        <p:nvSpPr>
          <p:cNvPr id="29" name="Shape 27"/>
          <p:cNvSpPr/>
          <p:nvPr/>
        </p:nvSpPr>
        <p:spPr>
          <a:xfrm>
            <a:off x="9277350" y="3530600"/>
            <a:ext cx="2082800" cy="939800"/>
          </a:xfrm>
          <a:prstGeom prst="roundRect">
            <a:avLst>
              <a:gd name="adj" fmla="val 6081"/>
            </a:avLst>
          </a:prstGeom>
          <a:solidFill>
            <a:srgbClr val="FDFCF8"/>
          </a:solidFill>
          <a:ln w="12700">
            <a:solidFill>
              <a:srgbClr val="C9A227"/>
            </a:solidFill>
            <a:prstDash val="solid"/>
          </a:ln>
        </p:spPr>
      </p:sp>
      <p:sp>
        <p:nvSpPr>
          <p:cNvPr id="30" name="Text 28"/>
          <p:cNvSpPr/>
          <p:nvPr/>
        </p:nvSpPr>
        <p:spPr>
          <a:xfrm>
            <a:off x="9410700" y="3663950"/>
            <a:ext cx="187058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IBM Plex Sans" pitchFamily="34" charset="0"/>
                <a:ea typeface="IBM Plex Sans" pitchFamily="34" charset="-122"/>
                <a:cs typeface="IBM Plex Sans" pitchFamily="34" charset="-120"/>
              </a:rPr>
              <a:t>Versioned publish</a:t>
            </a:r>
            <a:endParaRPr lang="en-US" sz="1300" dirty="0"/>
          </a:p>
        </p:txBody>
      </p:sp>
      <p:sp>
        <p:nvSpPr>
          <p:cNvPr id="31" name="Text 29"/>
          <p:cNvSpPr/>
          <p:nvPr/>
        </p:nvSpPr>
        <p:spPr>
          <a:xfrm>
            <a:off x="9410700" y="3900140"/>
            <a:ext cx="18705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CI/CD promotes to the triple store</a:t>
            </a:r>
            <a:endParaRPr lang="en-US" sz="1200" dirty="0"/>
          </a:p>
        </p:txBody>
      </p:sp>
      <p:pic>
        <p:nvPicPr>
          <p:cNvPr id="32" name="Image 0" descr="connector">    </p:cNvPr>
          <p:cNvPicPr>
            <a:picLocks noChangeAspect="1"/>
          </p:cNvPicPr>
          <p:nvPr/>
        </p:nvPicPr>
        <p:blipFill>
          <a:blip r:embed="rId1"/>
          <a:srcRect l="0" r="0" t="0" b="0"/>
          <a:stretch/>
        </p:blipFill>
        <p:spPr>
          <a:xfrm>
            <a:off x="3409950" y="2965450"/>
            <a:ext cx="101600" cy="609600"/>
          </a:xfrm>
          <a:prstGeom prst="rect">
            <a:avLst/>
          </a:prstGeom>
        </p:spPr>
      </p:pic>
      <p:pic>
        <p:nvPicPr>
          <p:cNvPr id="33" name="Image 1" descr="connector">    </p:cNvPr>
          <p:cNvPicPr>
            <a:picLocks noChangeAspect="1"/>
          </p:cNvPicPr>
          <p:nvPr/>
        </p:nvPicPr>
        <p:blipFill>
          <a:blip r:embed="rId2"/>
          <a:srcRect l="0" r="0" t="0" b="0"/>
          <a:stretch/>
        </p:blipFill>
        <p:spPr>
          <a:xfrm>
            <a:off x="5695950" y="2965450"/>
            <a:ext cx="101600" cy="609600"/>
          </a:xfrm>
          <a:prstGeom prst="rect">
            <a:avLst/>
          </a:prstGeom>
        </p:spPr>
      </p:pic>
      <p:pic>
        <p:nvPicPr>
          <p:cNvPr id="34" name="Image 2" descr="connector">    </p:cNvPr>
          <p:cNvPicPr>
            <a:picLocks noChangeAspect="1"/>
          </p:cNvPicPr>
          <p:nvPr/>
        </p:nvPicPr>
        <p:blipFill>
          <a:blip r:embed="rId3"/>
          <a:srcRect l="0" r="0" t="0" b="0"/>
          <a:stretch/>
        </p:blipFill>
        <p:spPr>
          <a:xfrm>
            <a:off x="7981950" y="2965450"/>
            <a:ext cx="101600" cy="609600"/>
          </a:xfrm>
          <a:prstGeom prst="rect">
            <a:avLst/>
          </a:prstGeom>
        </p:spPr>
      </p:pic>
      <p:pic>
        <p:nvPicPr>
          <p:cNvPr id="35" name="Image 3" descr="connector">    </p:cNvPr>
          <p:cNvPicPr>
            <a:picLocks noChangeAspect="1"/>
          </p:cNvPicPr>
          <p:nvPr/>
        </p:nvPicPr>
        <p:blipFill>
          <a:blip r:embed="rId4"/>
          <a:srcRect l="0" r="0" t="0" b="0"/>
          <a:stretch/>
        </p:blipFill>
        <p:spPr>
          <a:xfrm>
            <a:off x="10267950" y="2965450"/>
            <a:ext cx="101600" cy="609600"/>
          </a:xfrm>
          <a:prstGeom prst="rect">
            <a:avLst/>
          </a:prstGeom>
        </p:spPr>
      </p:pic>
      <p:pic>
        <p:nvPicPr>
          <p:cNvPr id="36" name="Image 4" descr="connector">    </p:cNvPr>
          <p:cNvPicPr>
            <a:picLocks noChangeAspect="1"/>
          </p:cNvPicPr>
          <p:nvPr/>
        </p:nvPicPr>
        <p:blipFill>
          <a:blip r:embed="rId5"/>
          <a:srcRect l="0" r="0" t="0" b="0"/>
          <a:stretch/>
        </p:blipFill>
        <p:spPr>
          <a:xfrm>
            <a:off x="4470400" y="2946400"/>
            <a:ext cx="266700" cy="647700"/>
          </a:xfrm>
          <a:prstGeom prst="rect">
            <a:avLst/>
          </a:prstGeom>
        </p:spPr>
      </p:pic>
      <p:pic>
        <p:nvPicPr>
          <p:cNvPr id="37" name="Image 5" descr="connector">    </p:cNvPr>
          <p:cNvPicPr>
            <a:picLocks noChangeAspect="1"/>
          </p:cNvPicPr>
          <p:nvPr/>
        </p:nvPicPr>
        <p:blipFill>
          <a:blip r:embed="rId6"/>
          <a:srcRect l="0" r="0" t="0" b="0"/>
          <a:stretch/>
        </p:blipFill>
        <p:spPr>
          <a:xfrm>
            <a:off x="6756400" y="2946400"/>
            <a:ext cx="266700" cy="647700"/>
          </a:xfrm>
          <a:prstGeom prst="rect">
            <a:avLst/>
          </a:prstGeom>
        </p:spPr>
      </p:pic>
      <p:pic>
        <p:nvPicPr>
          <p:cNvPr id="38" name="Image 6" descr="connector">    </p:cNvPr>
          <p:cNvPicPr>
            <a:picLocks noChangeAspect="1"/>
          </p:cNvPicPr>
          <p:nvPr/>
        </p:nvPicPr>
        <p:blipFill>
          <a:blip r:embed="rId7"/>
          <a:srcRect l="0" r="0" t="0" b="0"/>
          <a:stretch/>
        </p:blipFill>
        <p:spPr>
          <a:xfrm>
            <a:off x="9042400" y="2946400"/>
            <a:ext cx="266700" cy="647700"/>
          </a:xfrm>
          <a:prstGeom prst="rect">
            <a:avLst/>
          </a:prstGeom>
        </p:spPr>
      </p:pic>
      <p:sp>
        <p:nvSpPr>
          <p:cNvPr id="39" name="Text 30"/>
          <p:cNvSpPr/>
          <p:nvPr/>
        </p:nvSpPr>
        <p:spPr>
          <a:xfrm>
            <a:off x="812800" y="49022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Invariant:</a:t>
            </a:r>
            <a:r>
              <a:rPr lang="en-US" sz="1400" dirty="0">
                <a:solidFill>
                  <a:srgbClr val="14213D"/>
                </a:solidFill>
                <a:latin typeface="IBM Plex Sans" pitchFamily="34" charset="0"/>
                <a:ea typeface="IBM Plex Sans" pitchFamily="34" charset="-122"/>
                <a:cs typeface="IBM Plex Sans" pitchFamily="34" charset="-120"/>
              </a:rPr>
              <a:t> no model output reaches the triple store without passing every deterministic gate and a human reviewer.</a:t>
            </a:r>
            <a:endParaRPr lang="en-US" sz="1400" dirty="0"/>
          </a:p>
        </p:txBody>
      </p:sp>
      <p:sp>
        <p:nvSpPr>
          <p:cNvPr id="40" name="Text 31"/>
          <p:cNvSpPr/>
          <p:nvPr/>
        </p:nvSpPr>
        <p:spPr>
          <a:xfrm>
            <a:off x="812800" y="6238280"/>
            <a:ext cx="2475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41" name="Text 32"/>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VALUE</a:t>
            </a:r>
            <a:endParaRPr lang="en-US" sz="1200" dirty="0"/>
          </a:p>
        </p:txBody>
      </p:sp>
      <p:sp>
        <p:nvSpPr>
          <p:cNvPr id="3" name="Text 1"/>
          <p:cNvSpPr/>
          <p:nvPr/>
        </p:nvSpPr>
        <p:spPr>
          <a:xfrm>
            <a:off x="812800" y="11277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14213D"/>
                </a:solidFill>
                <a:latin typeface="Source Serif 4" pitchFamily="34" charset="0"/>
                <a:ea typeface="Source Serif 4" pitchFamily="34" charset="-122"/>
                <a:cs typeface="Source Serif 4" pitchFamily="34" charset="-120"/>
              </a:rPr>
              <a:t>Where the time goes today, and what changes</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48730"/>
          <a:ext cx="10553700" cy="1970683"/>
        </p:xfrm>
        <a:graphic>
          <a:graphicData uri="http://schemas.openxmlformats.org/drawingml/2006/table">
            <a:tbl>
              <a:tblPr/>
              <a:tblGrid>
                <a:gridCol w="2110740"/>
                <a:gridCol w="2743962"/>
                <a:gridCol w="2849499"/>
                <a:gridCol w="2849499"/>
              </a:tblGrid>
              <a:tr h="332680">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Capability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Business impact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With Claude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Materialized knowledge graphs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Data and AI grounded in deterministic business semantics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Manual taxonomy and ontology authoring bottlenecks federation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Target: 60–75% shorter authoring and refactoring cycles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Virtualized graph &amp; mapping layer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Consumers protected from source drift without ETL rewrites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Brittle point-to-point mappings break on source change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Mapping drafts and drift analysis by semantic agents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Semantic governance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Audit-grade traceability and change-impact simulation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Reactive breakages; manual change-log reconciliation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Semantic diffing, regression tests, blast-radius analysis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bl>
          </a:graphicData>
        </a:graphic>
      </p:graphicFrame>
      <p:sp>
        <p:nvSpPr>
          <p:cNvPr id="5" name="Text 2"/>
          <p:cNvSpPr/>
          <p:nvPr/>
        </p:nvSpPr>
        <p:spPr>
          <a:xfrm>
            <a:off x="812800" y="3948013"/>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All figures are hypotheses. The pilot measures them against today's baselines before any wider rollout.</a:t>
            </a:r>
            <a:endParaRPr lang="en-US" sz="1300" dirty="0"/>
          </a:p>
        </p:txBody>
      </p:sp>
      <p:sp>
        <p:nvSpPr>
          <p:cNvPr id="6" name="Text 3"/>
          <p:cNvSpPr/>
          <p:nvPr/>
        </p:nvSpPr>
        <p:spPr>
          <a:xfrm>
            <a:off x="812800" y="6238280"/>
            <a:ext cx="2475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7" name="Text 4"/>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FIT FOR PURPOSE</a:t>
            </a:r>
            <a:endParaRPr lang="en-US" sz="1200" dirty="0"/>
          </a:p>
        </p:txBody>
      </p:sp>
      <p:sp>
        <p:nvSpPr>
          <p:cNvPr id="3" name="Text 1"/>
          <p:cNvSpPr/>
          <p:nvPr/>
        </p:nvSpPr>
        <p:spPr>
          <a:xfrm>
            <a:off x="812800" y="11277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14213D"/>
                </a:solidFill>
                <a:latin typeface="Source Serif 4" pitchFamily="34" charset="0"/>
                <a:ea typeface="Source Serif 4" pitchFamily="34" charset="-122"/>
                <a:cs typeface="Source Serif 4" pitchFamily="34" charset="-120"/>
              </a:rPr>
              <a:t>Why this workbench fits formal knowledge engineering</a:t>
            </a:r>
            <a:endParaRPr lang="en-US" sz="2600" dirty="0"/>
          </a:p>
        </p:txBody>
      </p:sp>
      <p:sp>
        <p:nvSpPr>
          <p:cNvPr id="4" name="Shape 2"/>
          <p:cNvSpPr/>
          <p:nvPr/>
        </p:nvSpPr>
        <p:spPr>
          <a:xfrm>
            <a:off x="815975" y="1764605"/>
            <a:ext cx="5187950" cy="1262311"/>
          </a:xfrm>
          <a:prstGeom prst="roundRect">
            <a:avLst>
              <a:gd name="adj" fmla="val 5785"/>
            </a:avLst>
          </a:prstGeom>
          <a:solidFill>
            <a:srgbClr val="FDFCF8"/>
          </a:solidFill>
          <a:ln w="6350">
            <a:solidFill>
              <a:srgbClr val="DAD6CB"/>
            </a:solidFill>
            <a:prstDash val="solid"/>
          </a:ln>
        </p:spPr>
      </p:sp>
      <p:sp>
        <p:nvSpPr>
          <p:cNvPr id="5" name="Text 3"/>
          <p:cNvSpPr/>
          <p:nvPr/>
        </p:nvSpPr>
        <p:spPr>
          <a:xfrm>
            <a:off x="1047750" y="1996380"/>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E6F73"/>
                </a:solidFill>
                <a:latin typeface="IBM Plex Sans" pitchFamily="34" charset="0"/>
                <a:ea typeface="IBM Plex Sans" pitchFamily="34" charset="-122"/>
                <a:cs typeface="IBM Plex Sans" pitchFamily="34" charset="-120"/>
              </a:rPr>
              <a:t>Long context</a:t>
            </a:r>
            <a:endParaRPr lang="en-US" sz="1600" dirty="0"/>
          </a:p>
        </p:txBody>
      </p:sp>
      <p:sp>
        <p:nvSpPr>
          <p:cNvPr id="6" name="Text 4"/>
          <p:cNvSpPr/>
          <p:nvPr/>
        </p:nvSpPr>
        <p:spPr>
          <a:xfrm>
            <a:off x="1047750" y="2316411"/>
            <a:ext cx="486613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Whole ontology modules, BFO / DOLCE / FIBO foundations and SHACL catalogues in one session for coherence checks.</a:t>
            </a:r>
            <a:endParaRPr lang="en-US" sz="1300" dirty="0"/>
          </a:p>
        </p:txBody>
      </p:sp>
      <p:sp>
        <p:nvSpPr>
          <p:cNvPr id="7" name="Shape 5"/>
          <p:cNvSpPr/>
          <p:nvPr/>
        </p:nvSpPr>
        <p:spPr>
          <a:xfrm>
            <a:off x="6188075" y="1764605"/>
            <a:ext cx="5187950" cy="1262311"/>
          </a:xfrm>
          <a:prstGeom prst="roundRect">
            <a:avLst>
              <a:gd name="adj" fmla="val 5785"/>
            </a:avLst>
          </a:prstGeom>
          <a:solidFill>
            <a:srgbClr val="FDFCF8"/>
          </a:solidFill>
          <a:ln w="6350">
            <a:solidFill>
              <a:srgbClr val="DAD6CB"/>
            </a:solidFill>
            <a:prstDash val="solid"/>
          </a:ln>
        </p:spPr>
      </p:sp>
      <p:sp>
        <p:nvSpPr>
          <p:cNvPr id="8" name="Text 6"/>
          <p:cNvSpPr/>
          <p:nvPr/>
        </p:nvSpPr>
        <p:spPr>
          <a:xfrm>
            <a:off x="6419850" y="1996380"/>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E6F73"/>
                </a:solidFill>
                <a:latin typeface="IBM Plex Sans" pitchFamily="34" charset="0"/>
                <a:ea typeface="IBM Plex Sans" pitchFamily="34" charset="-122"/>
                <a:cs typeface="IBM Plex Sans" pitchFamily="34" charset="-120"/>
              </a:rPr>
              <a:t>Formal syntax fluency</a:t>
            </a:r>
            <a:endParaRPr lang="en-US" sz="1600" dirty="0"/>
          </a:p>
        </p:txBody>
      </p:sp>
      <p:sp>
        <p:nvSpPr>
          <p:cNvPr id="9" name="Text 7"/>
          <p:cNvSpPr/>
          <p:nvPr/>
        </p:nvSpPr>
        <p:spPr>
          <a:xfrm>
            <a:off x="6419850" y="2316411"/>
            <a:ext cx="486613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Turtle, SPARQL 1.1, SHACL and OWL 2 Manchester syntax, drafted for our validators to confirm.</a:t>
            </a:r>
            <a:endParaRPr lang="en-US" sz="1300" dirty="0"/>
          </a:p>
        </p:txBody>
      </p:sp>
      <p:sp>
        <p:nvSpPr>
          <p:cNvPr id="10" name="Shape 8"/>
          <p:cNvSpPr/>
          <p:nvPr/>
        </p:nvSpPr>
        <p:spPr>
          <a:xfrm>
            <a:off x="815975" y="3211066"/>
            <a:ext cx="5187950" cy="1262311"/>
          </a:xfrm>
          <a:prstGeom prst="roundRect">
            <a:avLst>
              <a:gd name="adj" fmla="val 5785"/>
            </a:avLst>
          </a:prstGeom>
          <a:solidFill>
            <a:srgbClr val="FDFCF8"/>
          </a:solidFill>
          <a:ln w="6350">
            <a:solidFill>
              <a:srgbClr val="DAD6CB"/>
            </a:solidFill>
            <a:prstDash val="solid"/>
          </a:ln>
        </p:spPr>
      </p:sp>
      <p:sp>
        <p:nvSpPr>
          <p:cNvPr id="11" name="Text 9"/>
          <p:cNvSpPr/>
          <p:nvPr/>
        </p:nvSpPr>
        <p:spPr>
          <a:xfrm>
            <a:off x="1047750" y="3442841"/>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E6F73"/>
                </a:solidFill>
                <a:latin typeface="IBM Plex Sans" pitchFamily="34" charset="0"/>
                <a:ea typeface="IBM Plex Sans" pitchFamily="34" charset="-122"/>
                <a:cs typeface="IBM Plex Sans" pitchFamily="34" charset="-120"/>
              </a:rPr>
              <a:t>Artifacts workbench</a:t>
            </a:r>
            <a:endParaRPr lang="en-US" sz="1600" dirty="0"/>
          </a:p>
        </p:txBody>
      </p:sp>
      <p:sp>
        <p:nvSpPr>
          <p:cNvPr id="12" name="Text 10"/>
          <p:cNvSpPr/>
          <p:nvPr/>
        </p:nvSpPr>
        <p:spPr>
          <a:xfrm>
            <a:off x="1047750" y="3762871"/>
            <a:ext cx="486613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Ontology, shapes and test queries inspected and iterated side by side.</a:t>
            </a:r>
            <a:endParaRPr lang="en-US" sz="1300" dirty="0"/>
          </a:p>
        </p:txBody>
      </p:sp>
      <p:sp>
        <p:nvSpPr>
          <p:cNvPr id="13" name="Shape 11"/>
          <p:cNvSpPr/>
          <p:nvPr/>
        </p:nvSpPr>
        <p:spPr>
          <a:xfrm>
            <a:off x="6188075" y="3211066"/>
            <a:ext cx="5187950" cy="1262311"/>
          </a:xfrm>
          <a:prstGeom prst="roundRect">
            <a:avLst>
              <a:gd name="adj" fmla="val 5785"/>
            </a:avLst>
          </a:prstGeom>
          <a:solidFill>
            <a:srgbClr val="FDFCF8"/>
          </a:solidFill>
          <a:ln w="6350">
            <a:solidFill>
              <a:srgbClr val="DAD6CB"/>
            </a:solidFill>
            <a:prstDash val="solid"/>
          </a:ln>
        </p:spPr>
      </p:sp>
      <p:sp>
        <p:nvSpPr>
          <p:cNvPr id="14" name="Text 12"/>
          <p:cNvSpPr/>
          <p:nvPr/>
        </p:nvSpPr>
        <p:spPr>
          <a:xfrm>
            <a:off x="6419850" y="3442841"/>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E6F73"/>
                </a:solidFill>
                <a:latin typeface="IBM Plex Sans" pitchFamily="34" charset="0"/>
                <a:ea typeface="IBM Plex Sans" pitchFamily="34" charset="-122"/>
                <a:cs typeface="IBM Plex Sans" pitchFamily="34" charset="-120"/>
              </a:rPr>
              <a:t>Project workspaces</a:t>
            </a:r>
            <a:endParaRPr lang="en-US" sz="1600" dirty="0"/>
          </a:p>
        </p:txBody>
      </p:sp>
      <p:sp>
        <p:nvSpPr>
          <p:cNvPr id="15" name="Text 13"/>
          <p:cNvSpPr/>
          <p:nvPr/>
        </p:nvSpPr>
        <p:spPr>
          <a:xfrm>
            <a:off x="6419850" y="3762871"/>
            <a:ext cx="486613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Upper ontology, IRI minting rules and governance policies pinned for every session.</a:t>
            </a:r>
            <a:endParaRPr lang="en-US" sz="1300" dirty="0"/>
          </a:p>
        </p:txBody>
      </p:sp>
      <p:sp>
        <p:nvSpPr>
          <p:cNvPr id="16" name="Text 14"/>
          <p:cNvSpPr/>
          <p:nvPr/>
        </p:nvSpPr>
        <p:spPr>
          <a:xfrm>
            <a:off x="812800" y="6238280"/>
            <a:ext cx="2475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17" name="Text 15"/>
          <p:cNvSpPr/>
          <p:nvPr/>
        </p:nvSpPr>
        <p:spPr>
          <a:xfrm>
            <a:off x="11287720" y="6238280"/>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SECURITY &amp; GOVERNANCE</a:t>
            </a:r>
            <a:endParaRPr lang="en-US" sz="1200" dirty="0"/>
          </a:p>
        </p:txBody>
      </p:sp>
      <p:sp>
        <p:nvSpPr>
          <p:cNvPr id="3" name="Text 1"/>
          <p:cNvSpPr/>
          <p:nvPr/>
        </p:nvSpPr>
        <p:spPr>
          <a:xfrm>
            <a:off x="812800" y="11277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14213D"/>
                </a:solidFill>
                <a:latin typeface="Source Serif 4" pitchFamily="34" charset="0"/>
                <a:ea typeface="Source Serif 4" pitchFamily="34" charset="-122"/>
                <a:cs typeface="Source Serif 4" pitchFamily="34" charset="-120"/>
              </a:rPr>
              <a:t>Guardrails that hold regardless of who authors the change</a:t>
            </a:r>
            <a:endParaRPr lang="en-US" sz="2600" dirty="0"/>
          </a:p>
        </p:txBody>
      </p:sp>
      <p:sp>
        <p:nvSpPr>
          <p:cNvPr id="4" name="Shape 2"/>
          <p:cNvSpPr/>
          <p:nvPr/>
        </p:nvSpPr>
        <p:spPr>
          <a:xfrm>
            <a:off x="815975" y="1815405"/>
            <a:ext cx="3380284" cy="2539206"/>
          </a:xfrm>
          <a:prstGeom prst="roundRect">
            <a:avLst>
              <a:gd name="adj" fmla="val 2876"/>
            </a:avLst>
          </a:prstGeom>
          <a:solidFill>
            <a:srgbClr val="FDFCF8"/>
          </a:solidFill>
          <a:ln w="6350">
            <a:solidFill>
              <a:srgbClr val="DAD6CB"/>
            </a:solidFill>
            <a:prstDash val="solid"/>
          </a:ln>
        </p:spPr>
      </p:sp>
      <p:pic>
        <p:nvPicPr>
          <p:cNvPr id="5" name="Image 0" descr="Lock">    </p:cNvPr>
          <p:cNvPicPr>
            <a:picLocks noChangeAspect="1"/>
          </p:cNvPicPr>
          <p:nvPr/>
        </p:nvPicPr>
        <p:blipFill>
          <a:blip r:embed="rId1"/>
          <a:srcRect l="0" r="0" t="0" b="0"/>
          <a:stretch/>
        </p:blipFill>
        <p:spPr>
          <a:xfrm>
            <a:off x="1073150" y="2072580"/>
            <a:ext cx="355600" cy="355600"/>
          </a:xfrm>
          <a:prstGeom prst="rect">
            <a:avLst/>
          </a:prstGeom>
        </p:spPr>
      </p:pic>
      <p:sp>
        <p:nvSpPr>
          <p:cNvPr id="6" name="Text 3"/>
          <p:cNvSpPr/>
          <p:nvPr/>
        </p:nvSpPr>
        <p:spPr>
          <a:xfrm>
            <a:off x="1073150" y="2542480"/>
            <a:ext cx="295191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Access</a:t>
            </a:r>
            <a:endParaRPr lang="en-US" sz="1600" dirty="0"/>
          </a:p>
        </p:txBody>
      </p:sp>
      <p:sp>
        <p:nvSpPr>
          <p:cNvPr id="7" name="Text 4"/>
          <p:cNvSpPr/>
          <p:nvPr/>
        </p:nvSpPr>
        <p:spPr>
          <a:xfrm>
            <a:off x="1073150" y="2900611"/>
            <a:ext cx="2951912"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Team or Enterprise tier with SSO/SAML and RBAC. Commercial terms that inputs and outputs are not used for training, confirmed in contract.</a:t>
            </a:r>
            <a:endParaRPr lang="en-US" sz="1300" dirty="0"/>
          </a:p>
        </p:txBody>
      </p:sp>
      <p:sp>
        <p:nvSpPr>
          <p:cNvPr id="8" name="Shape 5"/>
          <p:cNvSpPr/>
          <p:nvPr/>
        </p:nvSpPr>
        <p:spPr>
          <a:xfrm>
            <a:off x="4405809" y="1815405"/>
            <a:ext cx="3380333" cy="2539206"/>
          </a:xfrm>
          <a:prstGeom prst="roundRect">
            <a:avLst>
              <a:gd name="adj" fmla="val 2876"/>
            </a:avLst>
          </a:prstGeom>
          <a:solidFill>
            <a:srgbClr val="FDFCF8"/>
          </a:solidFill>
          <a:ln w="6350">
            <a:solidFill>
              <a:srgbClr val="DAD6CB"/>
            </a:solidFill>
            <a:prstDash val="solid"/>
          </a:ln>
        </p:spPr>
      </p:sp>
      <p:pic>
        <p:nvPicPr>
          <p:cNvPr id="9" name="Image 1" descr="Database">    </p:cNvPr>
          <p:cNvPicPr>
            <a:picLocks noChangeAspect="1"/>
          </p:cNvPicPr>
          <p:nvPr/>
        </p:nvPicPr>
        <p:blipFill>
          <a:blip r:embed="rId2"/>
          <a:srcRect l="0" r="0" t="0" b="0"/>
          <a:stretch/>
        </p:blipFill>
        <p:spPr>
          <a:xfrm>
            <a:off x="4662984" y="2072580"/>
            <a:ext cx="355600" cy="355600"/>
          </a:xfrm>
          <a:prstGeom prst="rect">
            <a:avLst/>
          </a:prstGeom>
        </p:spPr>
      </p:pic>
      <p:sp>
        <p:nvSpPr>
          <p:cNvPr id="10" name="Text 6"/>
          <p:cNvSpPr/>
          <p:nvPr/>
        </p:nvSpPr>
        <p:spPr>
          <a:xfrm>
            <a:off x="4662984" y="2542480"/>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Data</a:t>
            </a:r>
            <a:endParaRPr lang="en-US" sz="1600" dirty="0"/>
          </a:p>
        </p:txBody>
      </p:sp>
      <p:sp>
        <p:nvSpPr>
          <p:cNvPr id="11" name="Text 7"/>
          <p:cNvSpPr/>
          <p:nvPr/>
        </p:nvSpPr>
        <p:spPr>
          <a:xfrm>
            <a:off x="4662984" y="2900611"/>
            <a:ext cx="2951963"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Abstract models, axioms, schemas, metadata and synthetic test triples only. No production PII, PHI or customer transactions.</a:t>
            </a:r>
            <a:endParaRPr lang="en-US" sz="1300" dirty="0"/>
          </a:p>
        </p:txBody>
      </p:sp>
      <p:sp>
        <p:nvSpPr>
          <p:cNvPr id="12" name="Shape 8"/>
          <p:cNvSpPr/>
          <p:nvPr/>
        </p:nvSpPr>
        <p:spPr>
          <a:xfrm>
            <a:off x="7995692" y="1815405"/>
            <a:ext cx="3380333" cy="2539206"/>
          </a:xfrm>
          <a:prstGeom prst="roundRect">
            <a:avLst>
              <a:gd name="adj" fmla="val 2876"/>
            </a:avLst>
          </a:prstGeom>
          <a:solidFill>
            <a:srgbClr val="FDFCF8"/>
          </a:solidFill>
          <a:ln w="6350">
            <a:solidFill>
              <a:srgbClr val="DAD6CB"/>
            </a:solidFill>
            <a:prstDash val="solid"/>
          </a:ln>
        </p:spPr>
      </p:sp>
      <p:pic>
        <p:nvPicPr>
          <p:cNvPr id="13" name="Image 2" descr="Verified">    </p:cNvPr>
          <p:cNvPicPr>
            <a:picLocks noChangeAspect="1"/>
          </p:cNvPicPr>
          <p:nvPr/>
        </p:nvPicPr>
        <p:blipFill>
          <a:blip r:embed="rId3"/>
          <a:srcRect l="0" r="0" t="0" b="0"/>
          <a:stretch/>
        </p:blipFill>
        <p:spPr>
          <a:xfrm>
            <a:off x="8252867" y="2072580"/>
            <a:ext cx="355600" cy="355600"/>
          </a:xfrm>
          <a:prstGeom prst="rect">
            <a:avLst/>
          </a:prstGeom>
        </p:spPr>
      </p:pic>
      <p:sp>
        <p:nvSpPr>
          <p:cNvPr id="14" name="Text 9"/>
          <p:cNvSpPr/>
          <p:nvPr/>
        </p:nvSpPr>
        <p:spPr>
          <a:xfrm>
            <a:off x="8252867" y="2542480"/>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Review</a:t>
            </a:r>
            <a:endParaRPr lang="en-US" sz="1600" dirty="0"/>
          </a:p>
        </p:txBody>
      </p:sp>
      <p:sp>
        <p:nvSpPr>
          <p:cNvPr id="15" name="Text 10"/>
          <p:cNvSpPr/>
          <p:nvPr/>
        </p:nvSpPr>
        <p:spPr>
          <a:xfrm>
            <a:off x="8252867" y="2900611"/>
            <a:ext cx="2951963"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All SPARQL, SHACL and ontology output goes through peer review, Git CI/CD and automated reasoning before deployment.</a:t>
            </a:r>
            <a:endParaRPr lang="en-US" sz="1300" dirty="0"/>
          </a:p>
        </p:txBody>
      </p:sp>
      <p:sp>
        <p:nvSpPr>
          <p:cNvPr id="16" name="Text 11"/>
          <p:cNvSpPr/>
          <p:nvPr/>
        </p:nvSpPr>
        <p:spPr>
          <a:xfrm>
            <a:off x="812800" y="6238280"/>
            <a:ext cx="2475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17" name="Text 12"/>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90-DAY PILOT</a:t>
            </a:r>
            <a:endParaRPr lang="en-US" sz="1200" dirty="0"/>
          </a:p>
        </p:txBody>
      </p:sp>
      <p:sp>
        <p:nvSpPr>
          <p:cNvPr id="3" name="Text 1"/>
          <p:cNvSpPr/>
          <p:nvPr/>
        </p:nvSpPr>
        <p:spPr>
          <a:xfrm>
            <a:off x="812800" y="11277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14213D"/>
                </a:solidFill>
                <a:latin typeface="Source Serif 4" pitchFamily="34" charset="0"/>
                <a:ea typeface="Source Serif 4" pitchFamily="34" charset="-122"/>
                <a:cs typeface="Source Serif 4" pitchFamily="34" charset="-120"/>
              </a:rPr>
              <a:t>Three phases, three measures, one go/no-go</a:t>
            </a:r>
            <a:endParaRPr lang="en-US" sz="2600" dirty="0"/>
          </a:p>
        </p:txBody>
      </p:sp>
      <p:sp>
        <p:nvSpPr>
          <p:cNvPr id="4" name="Shape 2"/>
          <p:cNvSpPr/>
          <p:nvPr/>
        </p:nvSpPr>
        <p:spPr>
          <a:xfrm>
            <a:off x="812800" y="1905000"/>
            <a:ext cx="1758950" cy="680641"/>
          </a:xfrm>
          <a:custGeom>
            <a:avLst/>
            <a:gdLst/>
            <a:ahLst/>
            <a:cxnLst/>
            <a:rect l="l" t="t" r="r" b="b"/>
            <a:pathLst>
              <a:path w="1758950" h="680641">
                <a:moveTo>
                  <a:pt x="63500" y="0"/>
                </a:moveTo>
                <a:lnTo>
                  <a:pt x="1758950" y="0"/>
                </a:lnTo>
                <a:lnTo>
                  <a:pt x="1758950" y="680641"/>
                </a:lnTo>
                <a:lnTo>
                  <a:pt x="63500" y="680641"/>
                </a:lnTo>
                <a:arcTo hR="63500" wR="63500" stAng="5400000" swAng="5400000"/>
                <a:lnTo>
                  <a:pt x="0" y="63500"/>
                </a:lnTo>
                <a:arcTo hR="63500" wR="63500" stAng="10800000" swAng="5400000"/>
                <a:close/>
              </a:path>
            </a:pathLst>
          </a:custGeom>
          <a:solidFill>
            <a:srgbClr val="14213D"/>
          </a:solidFill>
          <a:ln/>
        </p:spPr>
      </p:sp>
      <p:sp>
        <p:nvSpPr>
          <p:cNvPr id="5" name="Text 3"/>
          <p:cNvSpPr/>
          <p:nvPr/>
        </p:nvSpPr>
        <p:spPr>
          <a:xfrm>
            <a:off x="965200" y="2032000"/>
            <a:ext cx="15049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Days 0–15</a:t>
            </a:r>
            <a:endParaRPr lang="en-US" sz="1200" dirty="0"/>
          </a:p>
        </p:txBody>
      </p:sp>
      <p:sp>
        <p:nvSpPr>
          <p:cNvPr id="6" name="Text 4"/>
          <p:cNvSpPr/>
          <p:nvPr/>
        </p:nvSpPr>
        <p:spPr>
          <a:xfrm>
            <a:off x="965200" y="2245320"/>
            <a:ext cx="15049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Set up</a:t>
            </a:r>
            <a:endParaRPr lang="en-US" sz="1200" dirty="0"/>
          </a:p>
        </p:txBody>
      </p:sp>
      <p:sp>
        <p:nvSpPr>
          <p:cNvPr id="7" name="Shape 5"/>
          <p:cNvSpPr/>
          <p:nvPr/>
        </p:nvSpPr>
        <p:spPr>
          <a:xfrm>
            <a:off x="2571750" y="1905000"/>
            <a:ext cx="5283200" cy="680641"/>
          </a:xfrm>
          <a:prstGeom prst="rect">
            <a:avLst/>
          </a:prstGeom>
          <a:solidFill>
            <a:srgbClr val="2E6F73"/>
          </a:solidFill>
          <a:ln/>
        </p:spPr>
      </p:sp>
      <p:sp>
        <p:nvSpPr>
          <p:cNvPr id="8" name="Text 6"/>
          <p:cNvSpPr/>
          <p:nvPr/>
        </p:nvSpPr>
        <p:spPr>
          <a:xfrm>
            <a:off x="2724150" y="2032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AF9"/>
                </a:solidFill>
                <a:latin typeface="IBM Plex Sans" pitchFamily="34" charset="0"/>
                <a:ea typeface="IBM Plex Sans" pitchFamily="34" charset="-122"/>
                <a:cs typeface="IBM Plex Sans" pitchFamily="34" charset="-120"/>
              </a:rPr>
              <a:t>Days 15–60</a:t>
            </a:r>
            <a:endParaRPr lang="en-US" sz="1200" dirty="0"/>
          </a:p>
        </p:txBody>
      </p:sp>
      <p:sp>
        <p:nvSpPr>
          <p:cNvPr id="9" name="Text 7"/>
          <p:cNvSpPr/>
          <p:nvPr/>
        </p:nvSpPr>
        <p:spPr>
          <a:xfrm>
            <a:off x="2724150" y="2245320"/>
            <a:ext cx="5127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AF9"/>
                </a:solidFill>
                <a:latin typeface="IBM Plex Sans" pitchFamily="34" charset="0"/>
                <a:ea typeface="IBM Plex Sans" pitchFamily="34" charset="-122"/>
                <a:cs typeface="IBM Plex Sans" pitchFamily="34" charset="-120"/>
              </a:rPr>
              <a:t>Run live workflows</a:t>
            </a:r>
            <a:endParaRPr lang="en-US" sz="1200" dirty="0"/>
          </a:p>
        </p:txBody>
      </p:sp>
      <p:sp>
        <p:nvSpPr>
          <p:cNvPr id="10" name="Shape 8"/>
          <p:cNvSpPr/>
          <p:nvPr/>
        </p:nvSpPr>
        <p:spPr>
          <a:xfrm>
            <a:off x="7854950" y="1905000"/>
            <a:ext cx="3524250" cy="680641"/>
          </a:xfrm>
          <a:custGeom>
            <a:avLst/>
            <a:gdLst/>
            <a:ahLst/>
            <a:cxnLst/>
            <a:rect l="l" t="t" r="r" b="b"/>
            <a:pathLst>
              <a:path w="3524250" h="680641">
                <a:moveTo>
                  <a:pt x="0" y="0"/>
                </a:moveTo>
                <a:lnTo>
                  <a:pt x="3460750" y="0"/>
                </a:lnTo>
                <a:arcTo hR="63500" wR="63500" stAng="16200000" swAng="5400000"/>
                <a:lnTo>
                  <a:pt x="3524250" y="617141"/>
                </a:lnTo>
                <a:arcTo hR="63500" wR="63500" stAng="0" swAng="5400000"/>
                <a:lnTo>
                  <a:pt x="0" y="680641"/>
                </a:lnTo>
                <a:lnTo>
                  <a:pt x="0" y="0"/>
                </a:lnTo>
                <a:close/>
              </a:path>
            </a:pathLst>
          </a:custGeom>
          <a:solidFill>
            <a:srgbClr val="C9A227"/>
          </a:solidFill>
          <a:ln/>
        </p:spPr>
      </p:sp>
      <p:sp>
        <p:nvSpPr>
          <p:cNvPr id="11" name="Text 9"/>
          <p:cNvSpPr/>
          <p:nvPr/>
        </p:nvSpPr>
        <p:spPr>
          <a:xfrm>
            <a:off x="8007350" y="2032000"/>
            <a:ext cx="33160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Days 60–90</a:t>
            </a:r>
            <a:endParaRPr lang="en-US" sz="1200" dirty="0"/>
          </a:p>
        </p:txBody>
      </p:sp>
      <p:sp>
        <p:nvSpPr>
          <p:cNvPr id="12" name="Text 10"/>
          <p:cNvSpPr/>
          <p:nvPr/>
        </p:nvSpPr>
        <p:spPr>
          <a:xfrm>
            <a:off x="8007350" y="2245320"/>
            <a:ext cx="33160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Measure and read out</a:t>
            </a:r>
            <a:endParaRPr lang="en-US" sz="1200" dirty="0"/>
          </a:p>
        </p:txBody>
      </p:sp>
      <p:sp>
        <p:nvSpPr>
          <p:cNvPr id="13" name="Text 11"/>
          <p:cNvSpPr/>
          <p:nvPr/>
        </p:nvSpPr>
        <p:spPr>
          <a:xfrm>
            <a:off x="812800" y="2794000"/>
            <a:ext cx="16827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Seats, SSO, Project Workspaces seeded</a:t>
            </a:r>
            <a:endParaRPr lang="en-US" sz="1200" dirty="0"/>
          </a:p>
        </p:txBody>
      </p:sp>
      <p:sp>
        <p:nvSpPr>
          <p:cNvPr id="14" name="Text 12"/>
          <p:cNvSpPr/>
          <p:nvPr/>
        </p:nvSpPr>
        <p:spPr>
          <a:xfrm>
            <a:off x="2698750" y="2794000"/>
            <a:ext cx="51800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Authoring, drift remediation and SHACL generation on real (non-PII) models through the normal gates</a:t>
            </a:r>
            <a:endParaRPr lang="en-US" sz="1200" dirty="0"/>
          </a:p>
        </p:txBody>
      </p:sp>
      <p:sp>
        <p:nvSpPr>
          <p:cNvPr id="15" name="Text 13"/>
          <p:cNvSpPr/>
          <p:nvPr/>
        </p:nvSpPr>
        <p:spPr>
          <a:xfrm>
            <a:off x="7981950" y="2794000"/>
            <a:ext cx="34991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Compare against baselines; readout to this board</a:t>
            </a:r>
            <a:endParaRPr lang="en-US" sz="1200" dirty="0"/>
          </a:p>
        </p:txBody>
      </p:sp>
      <p:sp>
        <p:nvSpPr>
          <p:cNvPr id="16" name="Shape 14"/>
          <p:cNvSpPr/>
          <p:nvPr/>
        </p:nvSpPr>
        <p:spPr>
          <a:xfrm>
            <a:off x="815975" y="3813175"/>
            <a:ext cx="3380284" cy="930870"/>
          </a:xfrm>
          <a:prstGeom prst="roundRect">
            <a:avLst>
              <a:gd name="adj" fmla="val 7845"/>
            </a:avLst>
          </a:prstGeom>
          <a:solidFill>
            <a:srgbClr val="FDFCF8"/>
          </a:solidFill>
          <a:ln w="6350">
            <a:solidFill>
              <a:srgbClr val="DAD6CB"/>
            </a:solidFill>
            <a:prstDash val="solid"/>
          </a:ln>
        </p:spPr>
      </p:sp>
      <p:sp>
        <p:nvSpPr>
          <p:cNvPr id="17" name="Text 15"/>
          <p:cNvSpPr/>
          <p:nvPr/>
        </p:nvSpPr>
        <p:spPr>
          <a:xfrm>
            <a:off x="1022350" y="4019550"/>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Authoring cycle time</a:t>
            </a:r>
            <a:endParaRPr lang="en-US" sz="1500" dirty="0"/>
          </a:p>
        </p:txBody>
      </p:sp>
      <p:sp>
        <p:nvSpPr>
          <p:cNvPr id="18" name="Text 16"/>
          <p:cNvSpPr/>
          <p:nvPr/>
        </p:nvSpPr>
        <p:spPr>
          <a:xfrm>
            <a:off x="1022350" y="4324350"/>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Baseline [__ weeks] · target [__ weeks]</a:t>
            </a:r>
            <a:endParaRPr lang="en-US" sz="1200" dirty="0"/>
          </a:p>
        </p:txBody>
      </p:sp>
      <p:sp>
        <p:nvSpPr>
          <p:cNvPr id="19" name="Shape 17"/>
          <p:cNvSpPr/>
          <p:nvPr/>
        </p:nvSpPr>
        <p:spPr>
          <a:xfrm>
            <a:off x="4405809" y="3813175"/>
            <a:ext cx="3380333" cy="930870"/>
          </a:xfrm>
          <a:prstGeom prst="roundRect">
            <a:avLst>
              <a:gd name="adj" fmla="val 7845"/>
            </a:avLst>
          </a:prstGeom>
          <a:solidFill>
            <a:srgbClr val="FDFCF8"/>
          </a:solidFill>
          <a:ln w="6350">
            <a:solidFill>
              <a:srgbClr val="DAD6CB"/>
            </a:solidFill>
            <a:prstDash val="solid"/>
          </a:ln>
        </p:spPr>
      </p:sp>
      <p:sp>
        <p:nvSpPr>
          <p:cNvPr id="20" name="Text 18"/>
          <p:cNvSpPr/>
          <p:nvPr/>
        </p:nvSpPr>
        <p:spPr>
          <a:xfrm>
            <a:off x="4612184" y="4019550"/>
            <a:ext cx="30566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Mapping turnaround</a:t>
            </a:r>
            <a:endParaRPr lang="en-US" sz="1500" dirty="0"/>
          </a:p>
        </p:txBody>
      </p:sp>
      <p:sp>
        <p:nvSpPr>
          <p:cNvPr id="21" name="Text 19"/>
          <p:cNvSpPr/>
          <p:nvPr/>
        </p:nvSpPr>
        <p:spPr>
          <a:xfrm>
            <a:off x="4612184" y="4324350"/>
            <a:ext cx="30566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Baseline [__ days] · target [__ days]</a:t>
            </a:r>
            <a:endParaRPr lang="en-US" sz="1200" dirty="0"/>
          </a:p>
        </p:txBody>
      </p:sp>
      <p:sp>
        <p:nvSpPr>
          <p:cNvPr id="22" name="Shape 20"/>
          <p:cNvSpPr/>
          <p:nvPr/>
        </p:nvSpPr>
        <p:spPr>
          <a:xfrm>
            <a:off x="7995692" y="3813175"/>
            <a:ext cx="3380333" cy="930870"/>
          </a:xfrm>
          <a:prstGeom prst="roundRect">
            <a:avLst>
              <a:gd name="adj" fmla="val 7845"/>
            </a:avLst>
          </a:prstGeom>
          <a:solidFill>
            <a:srgbClr val="FDFCF8"/>
          </a:solidFill>
          <a:ln w="6350">
            <a:solidFill>
              <a:srgbClr val="DAD6CB"/>
            </a:solidFill>
            <a:prstDash val="solid"/>
          </a:ln>
        </p:spPr>
      </p:sp>
      <p:sp>
        <p:nvSpPr>
          <p:cNvPr id="23" name="Text 21"/>
          <p:cNvSpPr/>
          <p:nvPr/>
        </p:nvSpPr>
        <p:spPr>
          <a:xfrm>
            <a:off x="8202067" y="4019550"/>
            <a:ext cx="30566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Pre-release defects</a:t>
            </a:r>
            <a:endParaRPr lang="en-US" sz="1500" dirty="0"/>
          </a:p>
        </p:txBody>
      </p:sp>
      <p:sp>
        <p:nvSpPr>
          <p:cNvPr id="24" name="Text 22"/>
          <p:cNvSpPr/>
          <p:nvPr/>
        </p:nvSpPr>
        <p:spPr>
          <a:xfrm>
            <a:off x="8202067" y="4324350"/>
            <a:ext cx="30566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Baseline [__ per build] · target [__]</a:t>
            </a:r>
            <a:endParaRPr lang="en-US" sz="1200" dirty="0"/>
          </a:p>
        </p:txBody>
      </p:sp>
      <p:sp>
        <p:nvSpPr>
          <p:cNvPr id="25" name="Text 23"/>
          <p:cNvSpPr/>
          <p:nvPr/>
        </p:nvSpPr>
        <p:spPr>
          <a:xfrm>
            <a:off x="812800" y="6238280"/>
            <a:ext cx="2475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26" name="Text 24"/>
          <p:cNvSpPr/>
          <p:nvPr/>
        </p:nvSpPr>
        <p:spPr>
          <a:xfrm>
            <a:off x="11196290" y="6238280"/>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pic>
        <p:nvPicPr>
          <p:cNvPr id="2" name="Image 0" descr="Gold North Star">    </p:cNvPr>
          <p:cNvPicPr>
            <a:picLocks noChangeAspect="1"/>
          </p:cNvPicPr>
          <p:nvPr/>
        </p:nvPicPr>
        <p:blipFill>
          <a:blip r:embed="rId1"/>
          <a:srcRect l="0" r="0" t="0" b="0"/>
          <a:stretch/>
        </p:blipFill>
        <p:spPr>
          <a:xfrm>
            <a:off x="10769600" y="812800"/>
            <a:ext cx="609600" cy="6096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227"/>
                </a:solidFill>
                <a:latin typeface="IBM Plex Sans" pitchFamily="34" charset="0"/>
                <a:ea typeface="IBM Plex Sans" pitchFamily="34" charset="-122"/>
                <a:cs typeface="IBM Plex Sans" pitchFamily="34" charset="-120"/>
              </a:rPr>
              <a:t>DECISION REQUESTED</a:t>
            </a:r>
            <a:endParaRPr lang="en-US" sz="1200" dirty="0"/>
          </a:p>
        </p:txBody>
      </p:sp>
      <p:sp>
        <p:nvSpPr>
          <p:cNvPr id="4" name="Text 1"/>
          <p:cNvSpPr/>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6F4EE"/>
                </a:solidFill>
                <a:latin typeface="Source Serif 4" pitchFamily="34" charset="0"/>
                <a:ea typeface="Source Serif 4" pitchFamily="34" charset="-122"/>
                <a:cs typeface="Source Serif 4" pitchFamily="34" charset="-120"/>
              </a:rPr>
              <a:t>Four approvals to set the heading</a:t>
            </a:r>
            <a:endParaRPr lang="en-US" sz="3200" dirty="0"/>
          </a:p>
        </p:txBody>
      </p:sp>
      <p:sp>
        <p:nvSpPr>
          <p:cNvPr id="5" name="Shape 2"/>
          <p:cNvSpPr/>
          <p:nvPr/>
        </p:nvSpPr>
        <p:spPr>
          <a:xfrm>
            <a:off x="812800" y="1852216"/>
            <a:ext cx="10566400" cy="0"/>
          </a:xfrm>
          <a:prstGeom prst="line">
            <a:avLst/>
          </a:prstGeom>
          <a:noFill/>
          <a:ln w="6350">
            <a:solidFill>
              <a:srgbClr val="33436A"/>
            </a:solidFill>
            <a:prstDash val="solid"/>
          </a:ln>
        </p:spPr>
      </p:sp>
      <p:sp>
        <p:nvSpPr>
          <p:cNvPr id="6" name="Text 3"/>
          <p:cNvSpPr/>
          <p:nvPr/>
        </p:nvSpPr>
        <p:spPr>
          <a:xfrm>
            <a:off x="812800" y="1956991"/>
            <a:ext cx="5080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A227"/>
                </a:solidFill>
                <a:latin typeface="Source Serif 4" pitchFamily="34" charset="0"/>
                <a:ea typeface="Source Serif 4" pitchFamily="34" charset="-122"/>
                <a:cs typeface="Source Serif 4" pitchFamily="34" charset="-120"/>
              </a:rPr>
              <a:t>1</a:t>
            </a:r>
            <a:endParaRPr lang="en-US" sz="2200" dirty="0"/>
          </a:p>
        </p:txBody>
      </p:sp>
      <p:sp>
        <p:nvSpPr>
          <p:cNvPr id="7" name="Text 4"/>
          <p:cNvSpPr/>
          <p:nvPr/>
        </p:nvSpPr>
        <p:spPr>
          <a:xfrm>
            <a:off x="1447800" y="2019201"/>
            <a:ext cx="756235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Approve [__] seats on the [Team / Enterprise] tier for the Knowledge Engineering team</a:t>
            </a:r>
            <a:endParaRPr lang="en-US" sz="1500" dirty="0"/>
          </a:p>
        </p:txBody>
      </p:sp>
      <p:sp>
        <p:nvSpPr>
          <p:cNvPr id="8" name="Shape 5"/>
          <p:cNvSpPr/>
          <p:nvPr/>
        </p:nvSpPr>
        <p:spPr>
          <a:xfrm>
            <a:off x="812800" y="2478286"/>
            <a:ext cx="10566400" cy="0"/>
          </a:xfrm>
          <a:prstGeom prst="line">
            <a:avLst/>
          </a:prstGeom>
          <a:noFill/>
          <a:ln w="6350">
            <a:solidFill>
              <a:srgbClr val="33436A"/>
            </a:solidFill>
            <a:prstDash val="solid"/>
          </a:ln>
        </p:spPr>
      </p:sp>
      <p:sp>
        <p:nvSpPr>
          <p:cNvPr id="9" name="Text 6"/>
          <p:cNvSpPr/>
          <p:nvPr/>
        </p:nvSpPr>
        <p:spPr>
          <a:xfrm>
            <a:off x="812800" y="2583061"/>
            <a:ext cx="5080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A227"/>
                </a:solidFill>
                <a:latin typeface="Source Serif 4" pitchFamily="34" charset="0"/>
                <a:ea typeface="Source Serif 4" pitchFamily="34" charset="-122"/>
                <a:cs typeface="Source Serif 4" pitchFamily="34" charset="-120"/>
              </a:rPr>
              <a:t>2</a:t>
            </a:r>
            <a:endParaRPr lang="en-US" sz="2200" dirty="0"/>
          </a:p>
        </p:txBody>
      </p:sp>
      <p:sp>
        <p:nvSpPr>
          <p:cNvPr id="10" name="Text 7"/>
          <p:cNvSpPr/>
          <p:nvPr/>
        </p:nvSpPr>
        <p:spPr>
          <a:xfrm>
            <a:off x="1447800" y="2645271"/>
            <a:ext cx="512790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Name a pilot sponsor and an information security reviewer</a:t>
            </a:r>
            <a:endParaRPr lang="en-US" sz="1500" dirty="0"/>
          </a:p>
        </p:txBody>
      </p:sp>
      <p:sp>
        <p:nvSpPr>
          <p:cNvPr id="11" name="Shape 8"/>
          <p:cNvSpPr/>
          <p:nvPr/>
        </p:nvSpPr>
        <p:spPr>
          <a:xfrm>
            <a:off x="812800" y="3104356"/>
            <a:ext cx="10566400" cy="0"/>
          </a:xfrm>
          <a:prstGeom prst="line">
            <a:avLst/>
          </a:prstGeom>
          <a:noFill/>
          <a:ln w="6350">
            <a:solidFill>
              <a:srgbClr val="33436A"/>
            </a:solidFill>
            <a:prstDash val="solid"/>
          </a:ln>
        </p:spPr>
      </p:sp>
      <p:sp>
        <p:nvSpPr>
          <p:cNvPr id="12" name="Text 9"/>
          <p:cNvSpPr/>
          <p:nvPr/>
        </p:nvSpPr>
        <p:spPr>
          <a:xfrm>
            <a:off x="812800" y="3209131"/>
            <a:ext cx="5080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A227"/>
                </a:solidFill>
                <a:latin typeface="Source Serif 4" pitchFamily="34" charset="0"/>
                <a:ea typeface="Source Serif 4" pitchFamily="34" charset="-122"/>
                <a:cs typeface="Source Serif 4" pitchFamily="34" charset="-120"/>
              </a:rPr>
              <a:t>3</a:t>
            </a:r>
            <a:endParaRPr lang="en-US" sz="2200" dirty="0"/>
          </a:p>
        </p:txBody>
      </p:sp>
      <p:sp>
        <p:nvSpPr>
          <p:cNvPr id="13" name="Text 10"/>
          <p:cNvSpPr/>
          <p:nvPr/>
        </p:nvSpPr>
        <p:spPr>
          <a:xfrm>
            <a:off x="1447800" y="3271341"/>
            <a:ext cx="86148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Endorse the workspace baseline: upper ontology, IRI minting rules, SHACL and SPARQL templates</a:t>
            </a:r>
            <a:endParaRPr lang="en-US" sz="1500" dirty="0"/>
          </a:p>
        </p:txBody>
      </p:sp>
      <p:sp>
        <p:nvSpPr>
          <p:cNvPr id="14" name="Shape 11"/>
          <p:cNvSpPr/>
          <p:nvPr/>
        </p:nvSpPr>
        <p:spPr>
          <a:xfrm>
            <a:off x="812800" y="3730427"/>
            <a:ext cx="10566400" cy="0"/>
          </a:xfrm>
          <a:prstGeom prst="line">
            <a:avLst/>
          </a:prstGeom>
          <a:noFill/>
          <a:ln w="6350">
            <a:solidFill>
              <a:srgbClr val="33436A"/>
            </a:solidFill>
            <a:prstDash val="solid"/>
          </a:ln>
        </p:spPr>
      </p:sp>
      <p:sp>
        <p:nvSpPr>
          <p:cNvPr id="15" name="Text 12"/>
          <p:cNvSpPr/>
          <p:nvPr/>
        </p:nvSpPr>
        <p:spPr>
          <a:xfrm>
            <a:off x="812800" y="3835202"/>
            <a:ext cx="5080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A227"/>
                </a:solidFill>
                <a:latin typeface="Source Serif 4" pitchFamily="34" charset="0"/>
                <a:ea typeface="Source Serif 4" pitchFamily="34" charset="-122"/>
                <a:cs typeface="Source Serif 4" pitchFamily="34" charset="-120"/>
              </a:rPr>
              <a:t>4</a:t>
            </a:r>
            <a:endParaRPr lang="en-US" sz="2200" dirty="0"/>
          </a:p>
        </p:txBody>
      </p:sp>
      <p:sp>
        <p:nvSpPr>
          <p:cNvPr id="16" name="Text 13"/>
          <p:cNvSpPr/>
          <p:nvPr/>
        </p:nvSpPr>
        <p:spPr>
          <a:xfrm>
            <a:off x="1447800" y="3897412"/>
            <a:ext cx="449296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Agree the day-90 go/no-go criteria for wider rollout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 Fabric: Keel &amp; North Star</dc:title>
  <dc:subject>PptxGenJS Presentation</dc:subject>
  <dc:creator>PptxGenJS</dc:creator>
  <cp:lastModifiedBy>PptxGenJS</cp:lastModifiedBy>
  <cp:revision>1</cp:revision>
  <dcterms:created xsi:type="dcterms:W3CDTF">2026-09-29T14:01:32Z</dcterms:created>
  <dcterms:modified xsi:type="dcterms:W3CDTF">2026-09-29T14:01:32Z</dcterms:modified>
</cp:coreProperties>
</file>