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image, not the architecture. Insperity already navigates by a compass; this deck shows what keeps the ship on that heading. Two audiences in the room: section two is for business executives (value, risk, outcomes), section three is for technical leaders (how it works, how it stays vendor-neutral, how it ships). Everything shown is an illustrative strategic concept, not an Insperity-endorsed plan; figures are planning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story in one picture. Compass is the helm: it sets the heading and the guardrails. Copilot is the sails: Jarvis, domain agents and Microsoft 365 Copilot doing the work. The Keel is below the waterline: the holonic semantic layer. Executives rarely see it, yet everything above depends on it. The physics matters: a keel is what lets a sailboat turn a crosswind into forward motion instead of being pushed sideways. For Insperity the wind is regulatory change across 50 states, new AI hiring laws, new platforms like HRScale on Workday, and new agents. Without a keel that force means drift and rework. With one, the same force becomes faster, provable service. The bulb at the bottom is the ballast: L1 knowledge holons, the 142 rules, plan provisions and admitted records that give the whole structure its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metaphor in Insperity's reality. Roughly 300,000 paid worksite employees (per Insperity's 2026 earnings commentary). Every U.S. jurisdiction. A 142-rule policy register across payroll and tax, benefits, compliance and risk, talent, and HR technology. And a platform landscape that keeps growing: HRScale on Workday for the mid-market, Insperity's own payroll and Premier platform, HR360 with its own AI agents, Microsoft 365 for staff, Box for 33 million content records. Each platform and each agent carries its own definition of an eligible employee, a client, a plan year. That is the sideways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executives, reduce the Keel to three promises. One meaning: the same definitions everywhere, so a Power BI report, a Workday screen and a Jarvis answer agree. Author once, enforce everywhere: legal writes the rule once; it is compiled into payroll tests, gateway policies, Workday configuration and agent guardrails. The planning target is law change to production in 10 days in Phase 1, 48 hours by Phase 3. Every answer traceable: provenance is built in, so CPEO, SOC and ESAC evidence is a query, not a quarterly scramble.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Insperity's logo was designed as a compass, so it can become the literal front door: tap the mark anywhere, in a portal, in Teams, in Jarvis, and you are searching and navigating the company's governed knowledge. The holonic layer is what makes that possible. Every question resolves to five coordinates, and they are the same five the governance gateway already enforces: WHO is asking, WHAT they need, WHERE (jurisdiction and client tenant), WHEN (effective date, plan year, rule version), and WHY, the north point, the rule and the law behind the answer. The rings inside the rose are the holon levels a search walks. Note: this graphic uses an original compass rose. Swap in Insperity's own mark only with brand-team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question through. A worksite employee in Colorado taps the compass and asks how much paid family leave they can take. The Keel resolves the five coordinates, retrieves only admitted knowledge, the policy enforcement point removes anything outside that client's tenant and the employee's role, MTBH scores the answer, and the sources travel with it. The same question from an HR business partner or an executive returns a different view of the same truth: the employee sees their entitlement, the HRBP sees eligibility and the payroll rule, the executive sees an aggregate with no personal data. One truth, shaped by who asks. This is illustrative; the figures shown reflect Colorado FAMLI's standard entitlement and should be confirmed against the current register before any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by who receives it. Employees: answers they can trust, with the plan provision cited, and training that arrives when a rule changes rather than once a year. Client employers: a monthly Compliance Assurance Statement, a new, tangible artifact that shows which rules were applied to their workforce and what changed. Service teams: less time assembling, more time advising; the BPA proposal-prep index is a new measure with its baseline set in Phase 0. The enterprise: audit evidence that assembles itself, and zero cross-tenant exposure as a hard gate at every phase. All targets are planning estimates from the program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Keel as risk reduction as much as acceleration. Agent sprawl is already arriving: HR360 agents, Copilot Studio agents, Workday agents, each with its own grounding. Definition drift is the quiet cost: the same question answered three ways. Audit exposure grows with every new system that has to be evidenced. And lock-in: if the knowledge lives in one vendor's format, the vendor owns the roadmap. The Keel answers each with a specific control, not a policy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technical leaders, the key word is contract. Each level has a defined interface to its neighbours, which is what makes the architecture holonic: each domain is a whole in itself and a part of the enterprise. L2 domains are sovereign: adding a sixth or seventh domain never touches the first five. L3 is where Compass runs: every agent call is evaluated against the 5D context bundle, scored by MTBH, and any irreversible action is held by the Simplex gate for a person. L1 is the atomic unit: one clause, one URI, validated and versioned.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engineering pattern. Definition time and run time are kept apart. The canonical rule lives in the graph as an LKIF obligation plus a SHACL shape; here, California daily overtime (register rules PAY-005 and PAY-006). The compiler generates the projections the business already runs on: dbt tests over millions of timesheet rows, Rego policies at the gateway, JSON Schema constraints for Jarvis, Workday validations for HRScale clients, and a Fabric IQ ontology for analytics and agent grounding. Nobody hand-edits a projection; drift is detected in CI. The runtime never reasons over the graph, so there is no latency penalty.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is not a separate product; it is the Keel exposed as navigation. Nothing is findable until it is admitted, which is what keeps a raw 33-million-record content estate from becoming a hallucination source. Anchoring to URIs means the vector index and the graph agree on identity. Resolution to five coordinates reuses the gateway's 5D context bundle, so search and governance share one model. Tenant and role filtering happens at the enforcement point, not in the prompt. MTBH scoring and citations make every result auditable. On Microsoft this maps to Foundry IQ and Azure AI Search behind API Management; on other stacks the same six steps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integration and interoperability concerns. The Keel owns contracts, not products. Canonical knowledge lives in W3C and open standards; each vendor surface receives a generated projection carrying the source URI. Microsoft is a first-class adapter set: Fabric IQ, Foundry IQ, Entra Agent ID, Copilot Studio over MCP, API Management, Purview and Sentinel. Purview DLP and Conditional Access stay as the perimeter; the Keel adds controls they cannot express, such as co-employment allocation and per-client knowledge tenancy. Four decisions back this: canonical truth in open standards, enforcement in the request path outside any model vendor, every agent an identity with a governed profile, and one adapter swap exercised at every phase gate. Workday support for MCP and A2A should be confirmed; where absent, Workday agents reach the Keel through the gateway's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keeps the four IIH phases and gate criteria, and adds a North Star milestone to each so search and navigation deliver value from the first phase. Phase 0: foundation, and a staff search pilot over the first 2,000 admitted assets. Phase 1: the gateway, MTBH and Simplex are live, and employees at three to five pilot clients get cited answers. Full Gate 1: MTBH WHERE at least 99.5%, WHAT at least 97%, P95 under 3 seconds, trip rate at most 2%, deflection at least 40%, zero cross-tenant incidents. Phase 2: all six domain holons, the Workday HRScale adapter with parity tests, and the compass navigator inside client and employee portals. Phase 3: regulatory change discovery, the 50-state rollout, and Insperity's governed HR tools published over MCP into clients' own copilots, which turns the North Star into something clients carry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decisions, not a pitch. The council is the first dependency: without authority over rule changes, author-once cannot work. The Microsoft footprint determines Phase 0 scope and cost. The platform order (HRScale clients on Workday versus Insperity payroll clients) sets the parity test scope for Phase 2. And the compass mark: making the logo the literal entry point is a brand decision as much as a technical one, and it is what turns the architecture into something every employee and client can see. Final line to leave in the room: the mark already points north; the Keel keeps the company on that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A6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C3A63"/>
              </a:gs>
              <a:gs pos="60000">
                <a:srgbClr val="0B1F3A"/>
              </a:gs>
            </a:gsLst>
            <a:path path="circle">
              <a:fillToRect l="78000" t="22000" r="22000" b="78000"/>
            </a:path>
          </a:gradFill>
          <a:ln/>
        </p:spPr>
      </p:sp>
      <p:sp>
        <p:nvSpPr>
          <p:cNvPr id="3" name="Text 1"/>
          <p:cNvSpPr/>
          <p:nvPr/>
        </p:nvSpPr>
        <p:spPr>
          <a:xfrm>
            <a:off x="812800" y="183768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C8A951"/>
                </a:solidFill>
                <a:latin typeface="IBM Plex Sans" pitchFamily="34" charset="0"/>
                <a:ea typeface="IBM Plex Sans" pitchFamily="34" charset="-122"/>
                <a:cs typeface="IBM Plex Sans" pitchFamily="34" charset="-120"/>
              </a:rPr>
              <a:t>INSPERITY · HOLONIC SEMANTIC ARCHITECTURE</a:t>
            </a:r>
            <a:endParaRPr lang="en-US" sz="1300" dirty="0"/>
          </a:p>
        </p:txBody>
      </p:sp>
      <p:sp>
        <p:nvSpPr>
          <p:cNvPr id="4" name="Text 2"/>
          <p:cNvSpPr/>
          <p:nvPr/>
        </p:nvSpPr>
        <p:spPr>
          <a:xfrm>
            <a:off x="812800" y="2322810"/>
            <a:ext cx="8502650"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4F7FB"/>
                </a:solidFill>
                <a:latin typeface="Source Serif 4" pitchFamily="34" charset="0"/>
                <a:ea typeface="Source Serif 4" pitchFamily="34" charset="-122"/>
                <a:cs typeface="Source Serif 4" pitchFamily="34" charset="-120"/>
              </a:rPr>
              <a:t>The Keel and the North Star</a:t>
            </a:r>
            <a:endParaRPr lang="en-US" sz="6000" dirty="0"/>
          </a:p>
        </p:txBody>
      </p:sp>
      <p:sp>
        <p:nvSpPr>
          <p:cNvPr id="5" name="Text 3"/>
          <p:cNvSpPr/>
          <p:nvPr/>
        </p:nvSpPr>
        <p:spPr>
          <a:xfrm>
            <a:off x="812800" y="4177010"/>
            <a:ext cx="771779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6"/>
                </a:solidFill>
                <a:latin typeface="IBM Plex Sans" pitchFamily="34" charset="0"/>
                <a:ea typeface="IBM Plex Sans" pitchFamily="34" charset="-122"/>
                <a:cs typeface="IBM Plex Sans" pitchFamily="34" charset="-120"/>
              </a:rPr>
              <a:t>Why one governed semantic layer belongs beneath every AI agent, platform and search at Insperity</a:t>
            </a:r>
            <a:endParaRPr lang="en-US" sz="1800" dirty="0"/>
          </a:p>
        </p:txBody>
      </p:sp>
      <p:pic>
        <p:nvPicPr>
          <p:cNvPr id="6" name="Image 0" descr="diamond">    </p:cNvPr>
          <p:cNvPicPr>
            <a:picLocks noChangeAspect="1"/>
          </p:cNvPicPr>
          <p:nvPr/>
        </p:nvPicPr>
        <p:blipFill>
          <a:blip r:embed="rId1"/>
          <a:srcRect l="0" r="0" t="0" b="0"/>
          <a:stretch/>
        </p:blipFill>
        <p:spPr>
          <a:xfrm>
            <a:off x="9906000" y="952500"/>
            <a:ext cx="609600" cy="609600"/>
          </a:xfrm>
          <a:prstGeom prst="rect">
            <a:avLst/>
          </a:prstGeom>
        </p:spPr>
      </p:pic>
      <p:pic>
        <p:nvPicPr>
          <p:cNvPr id="7" name="Image 1" descr="diamond">    </p:cNvPr>
          <p:cNvPicPr>
            <a:picLocks noChangeAspect="1"/>
          </p:cNvPicPr>
          <p:nvPr/>
        </p:nvPicPr>
        <p:blipFill>
          <a:blip r:embed="rId2"/>
          <a:srcRect l="0" r="0" t="0" b="0"/>
          <a:stretch/>
        </p:blipFill>
        <p:spPr>
          <a:xfrm>
            <a:off x="10058400" y="1104900"/>
            <a:ext cx="304800" cy="304800"/>
          </a:xfrm>
          <a:prstGeom prst="rect">
            <a:avLst/>
          </a:prstGeom>
        </p:spPr>
      </p:pic>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4D4"/>
                </a:solidFill>
                <a:latin typeface="IBM Plex Sans" pitchFamily="34" charset="0"/>
                <a:ea typeface="IBM Plex Sans" pitchFamily="34" charset="-122"/>
                <a:cs typeface="IBM Plex Sans" pitchFamily="34" charset="-120"/>
              </a:rPr>
              <a:t>Jeffrey Wallk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C"/>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F9FC"/>
              </a:gs>
              <a:gs pos="54000">
                <a:srgbClr val="D9E4F0"/>
              </a:gs>
              <a:gs pos="54000">
                <a:srgbClr val="1C3A63"/>
              </a:gs>
              <a:gs pos="100000">
                <a:srgbClr val="0B1F3A"/>
              </a:gs>
            </a:gsLst>
            <a:lin ang="5400000" scaled="0"/>
          </a:gradFill>
          <a:ln/>
        </p:spPr>
      </p:sp>
      <p:pic>
        <p:nvPicPr>
          <p:cNvPr id="3" name="Image 0" descr="A sailboat: Compass at the helm, Copilot as the sails, and the Keel below the waterline made of holon levels L4, mediation, L2 domains, personal and agent models, and L1 knowledge holons as ballast; wind from the left, forward motion to the right, and a north star ahead.">    </p:cNvPr>
          <p:cNvPicPr>
            <a:picLocks noChangeAspect="1"/>
          </p:cNvPicPr>
          <p:nvPr/>
        </p:nvPicPr>
        <p:blipFill>
          <a:blip r:embed="rId1"/>
          <a:srcRect l="0" r="0" t="0" b="0"/>
          <a:stretch/>
        </p:blipFill>
        <p:spPr>
          <a:xfrm>
            <a:off x="609600" y="0"/>
            <a:ext cx="109728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THE SITUATION</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The wind is already blowing</a:t>
            </a:r>
            <a:endParaRPr lang="en-US" sz="3600" dirty="0"/>
          </a:p>
        </p:txBody>
      </p:sp>
      <p:sp>
        <p:nvSpPr>
          <p:cNvPr id="4" name="Shape 2"/>
          <p:cNvSpPr/>
          <p:nvPr/>
        </p:nvSpPr>
        <p:spPr>
          <a:xfrm>
            <a:off x="815975" y="1989386"/>
            <a:ext cx="2482850" cy="2058591"/>
          </a:xfrm>
          <a:prstGeom prst="roundRect">
            <a:avLst>
              <a:gd name="adj" fmla="val 4781"/>
            </a:avLst>
          </a:prstGeom>
          <a:solidFill>
            <a:srgbClr val="FFFFFF"/>
          </a:solidFill>
          <a:ln w="6350">
            <a:solidFill>
              <a:srgbClr val="D8E1EC"/>
            </a:solidFill>
            <a:prstDash val="solid"/>
          </a:ln>
        </p:spPr>
      </p:sp>
      <p:sp>
        <p:nvSpPr>
          <p:cNvPr id="5" name="Text 3"/>
          <p:cNvSpPr/>
          <p:nvPr/>
        </p:nvSpPr>
        <p:spPr>
          <a:xfrm>
            <a:off x="1047750" y="2221161"/>
            <a:ext cx="207987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B1F3A"/>
                </a:solidFill>
                <a:latin typeface="Source Serif 4" pitchFamily="34" charset="0"/>
                <a:ea typeface="Source Serif 4" pitchFamily="34" charset="-122"/>
                <a:cs typeface="Source Serif 4" pitchFamily="34" charset="-120"/>
              </a:rPr>
              <a:t>300K+</a:t>
            </a:r>
            <a:endParaRPr lang="en-US" sz="4400" dirty="0"/>
          </a:p>
        </p:txBody>
      </p:sp>
      <p:sp>
        <p:nvSpPr>
          <p:cNvPr id="6" name="Text 4"/>
          <p:cNvSpPr/>
          <p:nvPr/>
        </p:nvSpPr>
        <p:spPr>
          <a:xfrm>
            <a:off x="1047750" y="2856161"/>
            <a:ext cx="2079879"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70"/>
                </a:solidFill>
                <a:latin typeface="IBM Plex Sans" pitchFamily="34" charset="0"/>
                <a:ea typeface="IBM Plex Sans" pitchFamily="34" charset="-122"/>
                <a:cs typeface="IBM Plex Sans" pitchFamily="34" charset="-120"/>
              </a:rPr>
              <a:t>worksite employees across thousands of client companies</a:t>
            </a:r>
            <a:endParaRPr lang="en-US" sz="1400" dirty="0"/>
          </a:p>
        </p:txBody>
      </p:sp>
      <p:sp>
        <p:nvSpPr>
          <p:cNvPr id="7" name="Shape 5"/>
          <p:cNvSpPr/>
          <p:nvPr/>
        </p:nvSpPr>
        <p:spPr>
          <a:xfrm>
            <a:off x="3508375" y="1989386"/>
            <a:ext cx="2482850" cy="2058591"/>
          </a:xfrm>
          <a:prstGeom prst="roundRect">
            <a:avLst>
              <a:gd name="adj" fmla="val 4781"/>
            </a:avLst>
          </a:prstGeom>
          <a:solidFill>
            <a:srgbClr val="FFFFFF"/>
          </a:solidFill>
          <a:ln w="6350">
            <a:solidFill>
              <a:srgbClr val="D8E1EC"/>
            </a:solidFill>
            <a:prstDash val="solid"/>
          </a:ln>
        </p:spPr>
      </p:sp>
      <p:sp>
        <p:nvSpPr>
          <p:cNvPr id="8" name="Text 6"/>
          <p:cNvSpPr/>
          <p:nvPr/>
        </p:nvSpPr>
        <p:spPr>
          <a:xfrm>
            <a:off x="3740150" y="2221161"/>
            <a:ext cx="207987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B1F3A"/>
                </a:solidFill>
                <a:latin typeface="Source Serif 4" pitchFamily="34" charset="0"/>
                <a:ea typeface="Source Serif 4" pitchFamily="34" charset="-122"/>
                <a:cs typeface="Source Serif 4" pitchFamily="34" charset="-120"/>
              </a:rPr>
              <a:t>50+</a:t>
            </a:r>
            <a:endParaRPr lang="en-US" sz="4400" dirty="0"/>
          </a:p>
        </p:txBody>
      </p:sp>
      <p:sp>
        <p:nvSpPr>
          <p:cNvPr id="9" name="Text 7"/>
          <p:cNvSpPr/>
          <p:nvPr/>
        </p:nvSpPr>
        <p:spPr>
          <a:xfrm>
            <a:off x="3740150" y="2856161"/>
            <a:ext cx="2079879"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70"/>
                </a:solidFill>
                <a:latin typeface="IBM Plex Sans" pitchFamily="34" charset="0"/>
                <a:ea typeface="IBM Plex Sans" pitchFamily="34" charset="-122"/>
                <a:cs typeface="IBM Plex Sans" pitchFamily="34" charset="-120"/>
              </a:rPr>
              <a:t>states plus local jurisdictions, each with its own wage, leave and tax rules</a:t>
            </a:r>
            <a:endParaRPr lang="en-US" sz="1400" dirty="0"/>
          </a:p>
        </p:txBody>
      </p:sp>
      <p:sp>
        <p:nvSpPr>
          <p:cNvPr id="10" name="Shape 8"/>
          <p:cNvSpPr/>
          <p:nvPr/>
        </p:nvSpPr>
        <p:spPr>
          <a:xfrm>
            <a:off x="6200775" y="1989386"/>
            <a:ext cx="2482850" cy="2058591"/>
          </a:xfrm>
          <a:prstGeom prst="roundRect">
            <a:avLst>
              <a:gd name="adj" fmla="val 4781"/>
            </a:avLst>
          </a:prstGeom>
          <a:solidFill>
            <a:srgbClr val="FFFFFF"/>
          </a:solidFill>
          <a:ln w="6350">
            <a:solidFill>
              <a:srgbClr val="D8E1EC"/>
            </a:solidFill>
            <a:prstDash val="solid"/>
          </a:ln>
        </p:spPr>
      </p:sp>
      <p:sp>
        <p:nvSpPr>
          <p:cNvPr id="11" name="Text 9"/>
          <p:cNvSpPr/>
          <p:nvPr/>
        </p:nvSpPr>
        <p:spPr>
          <a:xfrm>
            <a:off x="6432550" y="2221161"/>
            <a:ext cx="207987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B1F3A"/>
                </a:solidFill>
                <a:latin typeface="Source Serif 4" pitchFamily="34" charset="0"/>
                <a:ea typeface="Source Serif 4" pitchFamily="34" charset="-122"/>
                <a:cs typeface="Source Serif 4" pitchFamily="34" charset="-120"/>
              </a:rPr>
              <a:t>142</a:t>
            </a:r>
            <a:endParaRPr lang="en-US" sz="4400" dirty="0"/>
          </a:p>
        </p:txBody>
      </p:sp>
      <p:sp>
        <p:nvSpPr>
          <p:cNvPr id="12" name="Text 10"/>
          <p:cNvSpPr/>
          <p:nvPr/>
        </p:nvSpPr>
        <p:spPr>
          <a:xfrm>
            <a:off x="6432550" y="2856161"/>
            <a:ext cx="2079879"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70"/>
                </a:solidFill>
                <a:latin typeface="IBM Plex Sans" pitchFamily="34" charset="0"/>
                <a:ea typeface="IBM Plex Sans" pitchFamily="34" charset="-122"/>
                <a:cs typeface="IBM Plex Sans" pitchFamily="34" charset="-120"/>
              </a:rPr>
              <a:t>rules in the policy register across five service domains</a:t>
            </a:r>
            <a:endParaRPr lang="en-US" sz="1400" dirty="0"/>
          </a:p>
        </p:txBody>
      </p:sp>
      <p:sp>
        <p:nvSpPr>
          <p:cNvPr id="13" name="Shape 11"/>
          <p:cNvSpPr/>
          <p:nvPr/>
        </p:nvSpPr>
        <p:spPr>
          <a:xfrm>
            <a:off x="8893175" y="1989386"/>
            <a:ext cx="2482850" cy="2058591"/>
          </a:xfrm>
          <a:prstGeom prst="roundRect">
            <a:avLst>
              <a:gd name="adj" fmla="val 4781"/>
            </a:avLst>
          </a:prstGeom>
          <a:solidFill>
            <a:srgbClr val="FFFFFF"/>
          </a:solidFill>
          <a:ln w="6350">
            <a:solidFill>
              <a:srgbClr val="D8E1EC"/>
            </a:solidFill>
            <a:prstDash val="solid"/>
          </a:ln>
        </p:spPr>
      </p:sp>
      <p:sp>
        <p:nvSpPr>
          <p:cNvPr id="14" name="Text 12"/>
          <p:cNvSpPr/>
          <p:nvPr/>
        </p:nvSpPr>
        <p:spPr>
          <a:xfrm>
            <a:off x="9124950" y="2221161"/>
            <a:ext cx="207987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B1F3A"/>
                </a:solidFill>
                <a:latin typeface="Source Serif 4" pitchFamily="34" charset="0"/>
                <a:ea typeface="Source Serif 4" pitchFamily="34" charset="-122"/>
                <a:cs typeface="Source Serif 4" pitchFamily="34" charset="-120"/>
              </a:rPr>
              <a:t>4+</a:t>
            </a:r>
            <a:endParaRPr lang="en-US" sz="4400" dirty="0"/>
          </a:p>
        </p:txBody>
      </p:sp>
      <p:sp>
        <p:nvSpPr>
          <p:cNvPr id="15" name="Text 13"/>
          <p:cNvSpPr/>
          <p:nvPr/>
        </p:nvSpPr>
        <p:spPr>
          <a:xfrm>
            <a:off x="9124950" y="2856161"/>
            <a:ext cx="2079879"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70"/>
                </a:solidFill>
                <a:latin typeface="IBM Plex Sans" pitchFamily="34" charset="0"/>
                <a:ea typeface="IBM Plex Sans" pitchFamily="34" charset="-122"/>
                <a:cs typeface="IBM Plex Sans" pitchFamily="34" charset="-120"/>
              </a:rPr>
              <a:t>platforms with their own definitions: Workday, payroll, Microsoft 365, Box</a:t>
            </a:r>
            <a:endParaRPr lang="en-US" sz="1400" dirty="0"/>
          </a:p>
        </p:txBody>
      </p:sp>
      <p:sp>
        <p:nvSpPr>
          <p:cNvPr id="16" name="Text 14"/>
          <p:cNvSpPr/>
          <p:nvPr/>
        </p:nvSpPr>
        <p:spPr>
          <a:xfrm>
            <a:off x="812800" y="4406751"/>
            <a:ext cx="9810750" cy="111497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0B1F3A"/>
                </a:solidFill>
                <a:latin typeface="Source Serif 4" pitchFamily="34" charset="0"/>
                <a:ea typeface="Source Serif 4" pitchFamily="34" charset="-122"/>
                <a:cs typeface="Source Serif 4" pitchFamily="34" charset="-120"/>
              </a:rPr>
              <a:t>Every new platform and every new AI agent brings its own meaning for worker, client, plan and rule. </a:t>
            </a:r>
            <a:r>
              <a:rPr lang="en-US" sz="2200" dirty="0">
                <a:solidFill>
                  <a:srgbClr val="2E6E8E"/>
                </a:solidFill>
                <a:latin typeface="Source Serif 4" pitchFamily="34" charset="0"/>
                <a:ea typeface="Source Serif 4" pitchFamily="34" charset="-122"/>
                <a:cs typeface="Source Serif 4" pitchFamily="34" charset="-120"/>
              </a:rPr>
              <a:t>Without a keel, that drift pushes the company sideways.</a:t>
            </a:r>
            <a:endParaRPr lang="en-US" sz="2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The Keel and the North Star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FOR BUSINESS EXECUTIVES</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Three promises the Keel makes</a:t>
            </a:r>
            <a:endParaRPr lang="en-US" sz="3600" dirty="0"/>
          </a:p>
        </p:txBody>
      </p:sp>
      <p:sp>
        <p:nvSpPr>
          <p:cNvPr id="4" name="Shape 2"/>
          <p:cNvSpPr/>
          <p:nvPr/>
        </p:nvSpPr>
        <p:spPr>
          <a:xfrm>
            <a:off x="815975" y="1989386"/>
            <a:ext cx="3380284" cy="2637582"/>
          </a:xfrm>
          <a:prstGeom prst="roundRect">
            <a:avLst>
              <a:gd name="adj" fmla="val 3732"/>
            </a:avLst>
          </a:prstGeom>
          <a:solidFill>
            <a:srgbClr val="FFFFFF"/>
          </a:solidFill>
          <a:ln w="6350">
            <a:solidFill>
              <a:srgbClr val="D8E1EC"/>
            </a:solidFill>
            <a:prstDash val="solid"/>
          </a:ln>
        </p:spPr>
      </p:sp>
      <p:sp>
        <p:nvSpPr>
          <p:cNvPr id="5" name="Text 3"/>
          <p:cNvSpPr/>
          <p:nvPr/>
        </p:nvSpPr>
        <p:spPr>
          <a:xfrm>
            <a:off x="1073150" y="2246561"/>
            <a:ext cx="2951912"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0B1F3A"/>
                </a:solidFill>
                <a:latin typeface="Source Serif 4" pitchFamily="34" charset="0"/>
                <a:ea typeface="Source Serif 4" pitchFamily="34" charset="-122"/>
                <a:cs typeface="Source Serif 4" pitchFamily="34" charset="-120"/>
              </a:rPr>
              <a:t>One meaning</a:t>
            </a:r>
            <a:endParaRPr lang="en-US" sz="2200" dirty="0"/>
          </a:p>
        </p:txBody>
      </p:sp>
      <p:sp>
        <p:nvSpPr>
          <p:cNvPr id="6" name="Text 4"/>
          <p:cNvSpPr/>
          <p:nvPr/>
        </p:nvSpPr>
        <p:spPr>
          <a:xfrm>
            <a:off x="1073150" y="2694831"/>
            <a:ext cx="2951912"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70"/>
                </a:solidFill>
                <a:latin typeface="IBM Plex Sans" pitchFamily="34" charset="0"/>
                <a:ea typeface="IBM Plex Sans" pitchFamily="34" charset="-122"/>
                <a:cs typeface="IBM Plex Sans" pitchFamily="34" charset="-120"/>
              </a:rPr>
              <a:t>Worker, client, plan, jurisdiction and rule mean the same thing in Workday, payroll, Microsoft 365 and every agent.</a:t>
            </a:r>
            <a:endParaRPr lang="en-US" sz="1400" dirty="0"/>
          </a:p>
        </p:txBody>
      </p:sp>
      <p:sp>
        <p:nvSpPr>
          <p:cNvPr id="7" name="Text 5"/>
          <p:cNvSpPr/>
          <p:nvPr/>
        </p:nvSpPr>
        <p:spPr>
          <a:xfrm>
            <a:off x="1073150" y="3817392"/>
            <a:ext cx="2951912"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E6E8E"/>
                </a:solidFill>
                <a:latin typeface="IBM Plex Sans" pitchFamily="34" charset="0"/>
                <a:ea typeface="IBM Plex Sans" pitchFamily="34" charset="-122"/>
                <a:cs typeface="IBM Plex Sans" pitchFamily="34" charset="-120"/>
              </a:rPr>
              <a:t>Reports and AI answers stop disagreeing.</a:t>
            </a:r>
            <a:endParaRPr lang="en-US" sz="1400" dirty="0"/>
          </a:p>
        </p:txBody>
      </p:sp>
      <p:sp>
        <p:nvSpPr>
          <p:cNvPr id="8" name="Shape 6"/>
          <p:cNvSpPr/>
          <p:nvPr/>
        </p:nvSpPr>
        <p:spPr>
          <a:xfrm>
            <a:off x="4405809" y="1989386"/>
            <a:ext cx="3380333" cy="2637582"/>
          </a:xfrm>
          <a:prstGeom prst="roundRect">
            <a:avLst>
              <a:gd name="adj" fmla="val 3732"/>
            </a:avLst>
          </a:prstGeom>
          <a:solidFill>
            <a:srgbClr val="FFFFFF"/>
          </a:solidFill>
          <a:ln w="6350">
            <a:solidFill>
              <a:srgbClr val="D8E1EC"/>
            </a:solidFill>
            <a:prstDash val="solid"/>
          </a:ln>
        </p:spPr>
      </p:sp>
      <p:sp>
        <p:nvSpPr>
          <p:cNvPr id="9" name="Text 7"/>
          <p:cNvSpPr/>
          <p:nvPr/>
        </p:nvSpPr>
        <p:spPr>
          <a:xfrm>
            <a:off x="4662984" y="2246561"/>
            <a:ext cx="2951963" cy="66794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0B1F3A"/>
                </a:solidFill>
                <a:latin typeface="Source Serif 4" pitchFamily="34" charset="0"/>
                <a:ea typeface="Source Serif 4" pitchFamily="34" charset="-122"/>
                <a:cs typeface="Source Serif 4" pitchFamily="34" charset="-120"/>
              </a:rPr>
              <a:t>Author once, enforce everywhere</a:t>
            </a:r>
            <a:endParaRPr lang="en-US" sz="2200" dirty="0"/>
          </a:p>
        </p:txBody>
      </p:sp>
      <p:sp>
        <p:nvSpPr>
          <p:cNvPr id="10" name="Text 8"/>
          <p:cNvSpPr/>
          <p:nvPr/>
        </p:nvSpPr>
        <p:spPr>
          <a:xfrm>
            <a:off x="4662984" y="3016101"/>
            <a:ext cx="295196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70"/>
                </a:solidFill>
                <a:latin typeface="IBM Plex Sans" pitchFamily="34" charset="0"/>
                <a:ea typeface="IBM Plex Sans" pitchFamily="34" charset="-122"/>
                <a:cs typeface="IBM Plex Sans" pitchFamily="34" charset="-120"/>
              </a:rPr>
              <a:t>A law change is written once and compiled into every engine that runs the business.</a:t>
            </a:r>
            <a:endParaRPr lang="en-US" sz="1400" dirty="0"/>
          </a:p>
        </p:txBody>
      </p:sp>
      <p:sp>
        <p:nvSpPr>
          <p:cNvPr id="11" name="Text 9"/>
          <p:cNvSpPr/>
          <p:nvPr/>
        </p:nvSpPr>
        <p:spPr>
          <a:xfrm>
            <a:off x="4662984" y="3889772"/>
            <a:ext cx="2951963"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E6E8E"/>
                </a:solidFill>
                <a:latin typeface="IBM Plex Sans" pitchFamily="34" charset="0"/>
                <a:ea typeface="IBM Plex Sans" pitchFamily="34" charset="-122"/>
                <a:cs typeface="IBM Plex Sans" pitchFamily="34" charset="-120"/>
              </a:rPr>
              <a:t>Law change to production: weeks, then 48 hours.</a:t>
            </a:r>
            <a:endParaRPr lang="en-US" sz="1400" dirty="0"/>
          </a:p>
        </p:txBody>
      </p:sp>
      <p:sp>
        <p:nvSpPr>
          <p:cNvPr id="12" name="Shape 10"/>
          <p:cNvSpPr/>
          <p:nvPr/>
        </p:nvSpPr>
        <p:spPr>
          <a:xfrm>
            <a:off x="7995692" y="1989386"/>
            <a:ext cx="3380284" cy="2637582"/>
          </a:xfrm>
          <a:prstGeom prst="roundRect">
            <a:avLst>
              <a:gd name="adj" fmla="val 3732"/>
            </a:avLst>
          </a:prstGeom>
          <a:solidFill>
            <a:srgbClr val="FFFFFF"/>
          </a:solidFill>
          <a:ln w="6350">
            <a:solidFill>
              <a:srgbClr val="D8E1EC"/>
            </a:solidFill>
            <a:prstDash val="solid"/>
          </a:ln>
        </p:spPr>
      </p:sp>
      <p:sp>
        <p:nvSpPr>
          <p:cNvPr id="13" name="Text 11"/>
          <p:cNvSpPr/>
          <p:nvPr/>
        </p:nvSpPr>
        <p:spPr>
          <a:xfrm>
            <a:off x="8252867" y="2246561"/>
            <a:ext cx="2951912" cy="66794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0B1F3A"/>
                </a:solidFill>
                <a:latin typeface="Source Serif 4" pitchFamily="34" charset="0"/>
                <a:ea typeface="Source Serif 4" pitchFamily="34" charset="-122"/>
                <a:cs typeface="Source Serif 4" pitchFamily="34" charset="-120"/>
              </a:rPr>
              <a:t>Every answer traceable</a:t>
            </a:r>
            <a:endParaRPr lang="en-US" sz="2200" dirty="0"/>
          </a:p>
        </p:txBody>
      </p:sp>
      <p:sp>
        <p:nvSpPr>
          <p:cNvPr id="14" name="Text 12"/>
          <p:cNvSpPr/>
          <p:nvPr/>
        </p:nvSpPr>
        <p:spPr>
          <a:xfrm>
            <a:off x="8252867" y="3016101"/>
            <a:ext cx="295191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70"/>
                </a:solidFill>
                <a:latin typeface="IBM Plex Sans" pitchFamily="34" charset="0"/>
                <a:ea typeface="IBM Plex Sans" pitchFamily="34" charset="-122"/>
                <a:cs typeface="IBM Plex Sans" pitchFamily="34" charset="-120"/>
              </a:rPr>
              <a:t>Each payroll check, AI answer and agent action carries the rule and statute behind it.</a:t>
            </a:r>
            <a:endParaRPr lang="en-US" sz="1400" dirty="0"/>
          </a:p>
        </p:txBody>
      </p:sp>
      <p:sp>
        <p:nvSpPr>
          <p:cNvPr id="15" name="Text 13"/>
          <p:cNvSpPr/>
          <p:nvPr/>
        </p:nvSpPr>
        <p:spPr>
          <a:xfrm>
            <a:off x="8252867" y="3889772"/>
            <a:ext cx="2951912"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E6E8E"/>
                </a:solidFill>
                <a:latin typeface="IBM Plex Sans" pitchFamily="34" charset="0"/>
                <a:ea typeface="IBM Plex Sans" pitchFamily="34" charset="-122"/>
                <a:cs typeface="IBM Plex Sans" pitchFamily="34" charset="-120"/>
              </a:rPr>
              <a:t>Audit evidence assembled continuously.</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The Keel and the North Star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C"/>
        </a:solidFill>
      </p:bgPr>
    </p:bg>
    <p:spTree>
      <p:nvGrpSpPr>
        <p:cNvPr id="1" name=""/>
        <p:cNvGrpSpPr/>
        <p:nvPr/>
      </p:nvGrpSpPr>
      <p:grpSpPr>
        <a:xfrm>
          <a:off x="0" y="0"/>
          <a:ext cx="0" cy="0"/>
          <a:chOff x="0" y="0"/>
          <a:chExt cx="0" cy="0"/>
        </a:xfrm>
      </p:grpSpPr>
      <p:pic>
        <p:nvPicPr>
          <p:cNvPr id="2" name="Image 0" descr="Compass rose titled Every search starts at the compass: north is WHY (the rule and law), east WHAT (services, plans), south WHO (clients, employees, roles, agents), west WHERE (jurisdictions, tenants), and the outer bezel WHEN (effective dates, plan years, rule versions); inner rings are holon levels.">    </p:cNvPr>
          <p:cNvPicPr>
            <a:picLocks noChangeAspect="1"/>
          </p:cNvPicPr>
          <p:nvPr/>
        </p:nvPicPr>
        <p:blipFill>
          <a:blip r:embed="rId1"/>
          <a:srcRect l="0" r="0" t="0" b="0"/>
          <a:stretch/>
        </p:blipFill>
        <p:spPr>
          <a:xfrm>
            <a:off x="609600" y="0"/>
            <a:ext cx="109728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C"/>
        </a:solidFill>
      </p:bgPr>
    </p:bg>
    <p:spTree>
      <p:nvGrpSpPr>
        <p:cNvPr id="1" name=""/>
        <p:cNvGrpSpPr/>
        <p:nvPr/>
      </p:nvGrpSpPr>
      <p:grpSpPr>
        <a:xfrm>
          <a:off x="0" y="0"/>
          <a:ext cx="0" cy="0"/>
          <a:chOff x="0" y="0"/>
          <a:chExt cx="0" cy="0"/>
        </a:xfrm>
      </p:grpSpPr>
      <p:pic>
        <p:nvPicPr>
          <p:cNvPr id="2" name="Image 0" descr="Flow from the compass mark to the answer: a Colorado employee asks about paid family leave; the Keel resolves WHO, WHAT, WHERE, WHEN and WHY, retrieves only admitted knowledge, filters by tenant and role, scores and cites; the employee, HR business partner and executive each see a role-appropriate answer with its source.">    </p:cNvPr>
          <p:cNvPicPr>
            <a:picLocks noChangeAspect="1"/>
          </p:cNvPicPr>
          <p:nvPr/>
        </p:nvPicPr>
        <p:blipFill>
          <a:blip r:embed="rId1"/>
          <a:srcRect l="0" r="0" t="0" b="0"/>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FOR BUSINESS EXECUTIVES</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What each group gets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2925614"/>
        </p:xfrm>
        <a:graphic>
          <a:graphicData uri="http://schemas.openxmlformats.org/drawingml/2006/table">
            <a:tbl>
              <a:tblPr/>
              <a:tblGrid>
                <a:gridCol w="2321814"/>
                <a:gridCol w="4854702"/>
                <a:gridCol w="3377184"/>
              </a:tblGrid>
              <a:tr h="386011">
                <a:tc>
                  <a:txBody>
                    <a:bodyPr/>
                    <a:lstStyle/>
                    <a:p>
                      <a:pPr indent="0" marL="0">
                        <a:lnSpc>
                          <a:spcPts val="1960"/>
                        </a:lnSpc>
                        <a:buNone/>
                      </a:pPr>
                      <a:r>
                        <a:rPr lang="en-US" sz="1400" b="1" dirty="0">
                          <a:solidFill>
                            <a:srgbClr val="20344B"/>
                          </a:solidFill>
                          <a:latin typeface="IBM Plex Sans" pitchFamily="34" charset="0"/>
                          <a:ea typeface="IBM Plex Sans" pitchFamily="34" charset="-122"/>
                          <a:cs typeface="IBM Plex Sans" pitchFamily="34" charset="-120"/>
                        </a:rPr>
                        <a:t>Group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c>
                  <a:txBody>
                    <a:bodyPr/>
                    <a:lstStyle/>
                    <a:p>
                      <a:pPr indent="0" marL="0">
                        <a:lnSpc>
                          <a:spcPts val="1960"/>
                        </a:lnSpc>
                        <a:buNone/>
                      </a:pPr>
                      <a:r>
                        <a:rPr lang="en-US" sz="1400" b="1" dirty="0">
                          <a:solidFill>
                            <a:srgbClr val="20344B"/>
                          </a:solidFill>
                          <a:latin typeface="IBM Plex Sans" pitchFamily="34" charset="0"/>
                          <a:ea typeface="IBM Plex Sans" pitchFamily="34" charset="-122"/>
                          <a:cs typeface="IBM Plex Sans" pitchFamily="34" charset="-120"/>
                        </a:rPr>
                        <a:t>What changes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c>
                  <a:txBody>
                    <a:bodyPr/>
                    <a:lstStyle/>
                    <a:p>
                      <a:pPr indent="0" marL="0">
                        <a:lnSpc>
                          <a:spcPts val="1960"/>
                        </a:lnSpc>
                        <a:buNone/>
                      </a:pPr>
                      <a:r>
                        <a:rPr lang="en-US" sz="1400" b="1" dirty="0">
                          <a:solidFill>
                            <a:srgbClr val="20344B"/>
                          </a:solidFill>
                          <a:latin typeface="IBM Plex Sans" pitchFamily="34" charset="0"/>
                          <a:ea typeface="IBM Plex Sans" pitchFamily="34" charset="-122"/>
                          <a:cs typeface="IBM Plex Sans" pitchFamily="34" charset="-120"/>
                        </a:rPr>
                        <a:t>How we measure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r>
              <a:tr h="634901">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Worksite employees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Cited pay, benefits and leave answers in seconds; training when a rule changes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Self-service resolution 40% to 80%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34901">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Client employers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A monthly Compliance Assurance Statement; law changes applied in days, then hours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Law change to production ≤48 hours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r h="634901">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Service teams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Prep, proposals and case summaries grounded in governed knowledge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Proposal prep time index 100 to 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34901">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Insperity enterprise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Continuous CPEO, SOC and ESAC evidence; no client data crossover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Audit-evidence index 100 to 38; zero cross-tenant incidents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The Keel and the North Star · 7 · Targets are planning estimates set against Phase 0 baselines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FOR BUSINESS EXECUTIVES</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The cost of sailing without a keel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2925614"/>
        </p:xfrm>
        <a:graphic>
          <a:graphicData uri="http://schemas.openxmlformats.org/drawingml/2006/table">
            <a:tbl>
              <a:tblPr/>
              <a:tblGrid>
                <a:gridCol w="2110740"/>
                <a:gridCol w="4221480"/>
                <a:gridCol w="4221480"/>
              </a:tblGrid>
              <a:tr h="386011">
                <a:tc>
                  <a:txBody>
                    <a:bodyPr/>
                    <a:lstStyle/>
                    <a:p>
                      <a:pPr indent="0" marL="0">
                        <a:lnSpc>
                          <a:spcPts val="1960"/>
                        </a:lnSpc>
                        <a:buNone/>
                      </a:pPr>
                      <a:r>
                        <a:rPr lang="en-US" sz="1400" b="1" dirty="0">
                          <a:solidFill>
                            <a:srgbClr val="20344B"/>
                          </a:solidFill>
                          <a:latin typeface="IBM Plex Sans" pitchFamily="34" charset="0"/>
                          <a:ea typeface="IBM Plex Sans" pitchFamily="34" charset="-122"/>
                          <a:cs typeface="IBM Plex Sans" pitchFamily="34" charset="-120"/>
                        </a:rPr>
                        <a:t>Risk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c>
                  <a:txBody>
                    <a:bodyPr/>
                    <a:lstStyle/>
                    <a:p>
                      <a:pPr indent="0" marL="0">
                        <a:lnSpc>
                          <a:spcPts val="1960"/>
                        </a:lnSpc>
                        <a:buNone/>
                      </a:pPr>
                      <a:r>
                        <a:rPr lang="en-US" sz="1400" b="1" dirty="0">
                          <a:solidFill>
                            <a:srgbClr val="20344B"/>
                          </a:solidFill>
                          <a:latin typeface="IBM Plex Sans" pitchFamily="34" charset="0"/>
                          <a:ea typeface="IBM Plex Sans" pitchFamily="34" charset="-122"/>
                          <a:cs typeface="IBM Plex Sans" pitchFamily="34" charset="-120"/>
                        </a:rPr>
                        <a:t>Without a keel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c>
                  <a:txBody>
                    <a:bodyPr/>
                    <a:lstStyle/>
                    <a:p>
                      <a:pPr indent="0" marL="0">
                        <a:lnSpc>
                          <a:spcPts val="1960"/>
                        </a:lnSpc>
                        <a:buNone/>
                      </a:pPr>
                      <a:r>
                        <a:rPr lang="en-US" sz="1400" b="1" dirty="0">
                          <a:solidFill>
                            <a:srgbClr val="20344B"/>
                          </a:solidFill>
                          <a:latin typeface="IBM Plex Sans" pitchFamily="34" charset="0"/>
                          <a:ea typeface="IBM Plex Sans" pitchFamily="34" charset="-122"/>
                          <a:cs typeface="IBM Plex Sans" pitchFamily="34" charset="-120"/>
                        </a:rPr>
                        <a:t>With the Keel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r>
              <a:tr h="634901">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Agent sprawl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Each vendor's agents answer from their own copy of the truth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Every agent registered, identified and routed through one gateway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34901">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Definition drift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Workday, payroll, Fabric and Box each define an eligible employee differently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One canonical definition; the others are generated from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r h="634901">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Audit exposure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Evidence rebuilt by hand before each CPEO, SOC or ESAC review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Evidence emitted continuously, each item tied to its rule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34901">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Vendor lock-in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Knowledge trapped in one product's format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960"/>
                        </a:lnSpc>
                        <a:buNone/>
                      </a:pPr>
                      <a:r>
                        <a:rPr lang="en-US" sz="1400" dirty="0">
                          <a:solidFill>
                            <a:srgbClr val="20344B"/>
                          </a:solidFill>
                          <a:latin typeface="IBM Plex Sans" pitchFamily="34" charset="0"/>
                          <a:ea typeface="IBM Plex Sans" pitchFamily="34" charset="-122"/>
                          <a:cs typeface="IBM Plex Sans" pitchFamily="34" charset="-120"/>
                        </a:rPr>
                        <a:t>Knowledge in open standards; any adapter replaceable within a quarter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The Keel and the North Star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6E8E"/>
                </a:solidFill>
                <a:latin typeface="IBM Plex Sans" pitchFamily="34" charset="0"/>
                <a:ea typeface="IBM Plex Sans" pitchFamily="34" charset="-122"/>
                <a:cs typeface="IBM Plex Sans" pitchFamily="34" charset="-120"/>
              </a:rPr>
              <a:t>FOR TECHNICAL LEADERS</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Inside the Keel: five levels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311"/>
          <a:ext cx="10553700" cy="3311575"/>
        </p:xfrm>
        <a:graphic>
          <a:graphicData uri="http://schemas.openxmlformats.org/drawingml/2006/table">
            <a:tbl>
              <a:tblPr/>
              <a:tblGrid>
                <a:gridCol w="2532888"/>
                <a:gridCol w="4221480"/>
                <a:gridCol w="3799332"/>
              </a:tblGrid>
              <a:tr h="359321">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Level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C1C4"/>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What it holds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9B7BE"/>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Contract to its neighbours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9B7BE"/>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r>
              <a:tr h="59045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L4 Enterprise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isp-core, SKOS vocabularies, ORSD templates, governance council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owl:imports federation; KGCL change records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9045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Mediation holon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Mapping graph, identity and URI registry, harmonization, RAG anchors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Six correspondence types; lineage to every projection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59045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L3 Gateway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5D context bundle, policy enforcement, MTBH circuit breaker, Simplex gate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Every agent call passes one policy decision point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9045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L2 Domain holons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isp-pay, isp-ben, isp-comp, isp-tal, isp-tech, Client, Contractor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Sovereign: own ontology, agent, index and monitors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59045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L1 Knowledge holons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One statute clause, plan provision or policy each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URI, SHACL-valid, KGCL-versioned, bound to its norm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The Keel and the North Star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6E8E"/>
                </a:solidFill>
                <a:latin typeface="IBM Plex Sans" pitchFamily="34" charset="0"/>
                <a:ea typeface="IBM Plex Sans" pitchFamily="34" charset="-122"/>
                <a:cs typeface="IBM Plex Sans" pitchFamily="34" charset="-120"/>
              </a:rPr>
              <a:t>FOR TECHNICAL LEADERS</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Author once, compile everywhere</a:t>
            </a:r>
            <a:endParaRPr lang="en-US" sz="3600" dirty="0"/>
          </a:p>
        </p:txBody>
      </p:sp>
      <p:sp>
        <p:nvSpPr>
          <p:cNvPr id="4" name="Shape 2"/>
          <p:cNvSpPr/>
          <p:nvPr/>
        </p:nvSpPr>
        <p:spPr>
          <a:xfrm>
            <a:off x="812800" y="2139851"/>
            <a:ext cx="4826000" cy="2308820"/>
          </a:xfrm>
          <a:prstGeom prst="roundRect">
            <a:avLst>
              <a:gd name="adj" fmla="val 4401"/>
            </a:avLst>
          </a:prstGeom>
          <a:solidFill>
            <a:srgbClr val="0B1F3A"/>
          </a:solidFill>
          <a:ln/>
        </p:spPr>
      </p:sp>
      <p:sp>
        <p:nvSpPr>
          <p:cNvPr id="5" name="Text 3"/>
          <p:cNvSpPr/>
          <p:nvPr/>
        </p:nvSpPr>
        <p:spPr>
          <a:xfrm>
            <a:off x="1066800" y="2393851"/>
            <a:ext cx="44475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A951"/>
                </a:solidFill>
                <a:latin typeface="IBM Plex Sans" pitchFamily="34" charset="0"/>
                <a:ea typeface="IBM Plex Sans" pitchFamily="34" charset="-122"/>
                <a:cs typeface="IBM Plex Sans" pitchFamily="34" charset="-120"/>
              </a:rPr>
              <a:t>CANONICAL RULE · WRITTEN ONCE</a:t>
            </a:r>
            <a:endParaRPr lang="en-US" sz="1200" dirty="0"/>
          </a:p>
        </p:txBody>
      </p:sp>
      <p:sp>
        <p:nvSpPr>
          <p:cNvPr id="6" name="Text 4"/>
          <p:cNvSpPr/>
          <p:nvPr/>
        </p:nvSpPr>
        <p:spPr>
          <a:xfrm>
            <a:off x="1066800" y="2708771"/>
            <a:ext cx="4447540" cy="15113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7EEF7"/>
                </a:solidFill>
                <a:latin typeface="IBM Plex Mono" pitchFamily="34" charset="0"/>
                <a:ea typeface="IBM Plex Mono" pitchFamily="34" charset="-122"/>
                <a:cs typeface="IBM Plex Mono" pitchFamily="34" charset="-120"/>
              </a:rPr>
              <a:t>isp-pay:CADailyOvertimeNorm</a:t>
            </a:r>
            <a:endParaRPr lang="en-US" sz="1300" dirty="0"/>
          </a:p>
          <a:p>
            <a:pPr algn="l" indent="0" marL="0">
              <a:lnSpc>
                <a:spcPts val="1950"/>
              </a:lnSpc>
              <a:buNone/>
            </a:pPr>
            <a:r>
              <a:rPr lang="en-US" sz="1300" dirty="0">
                <a:solidFill>
                  <a:srgbClr val="E7EEF7"/>
                </a:solidFill>
                <a:latin typeface="IBM Plex Mono" pitchFamily="34" charset="0"/>
                <a:ea typeface="IBM Plex Mono" pitchFamily="34" charset="-122"/>
                <a:cs typeface="IBM Plex Mono" pitchFamily="34" charset="-120"/>
              </a:rPr>
              <a:t>a lkif:Obligation ;</a:t>
            </a:r>
            <a:endParaRPr lang="en-US" sz="1300" dirty="0"/>
          </a:p>
          <a:p>
            <a:pPr algn="l" indent="0" marL="0">
              <a:lnSpc>
                <a:spcPts val="1950"/>
              </a:lnSpc>
              <a:buNone/>
            </a:pPr>
            <a:r>
              <a:rPr lang="en-US" sz="1300" dirty="0">
                <a:solidFill>
                  <a:srgbClr val="E7EEF7"/>
                </a:solidFill>
                <a:latin typeface="IBM Plex Mono" pitchFamily="34" charset="0"/>
                <a:ea typeface="IBM Plex Mono" pitchFamily="34" charset="-122"/>
                <a:cs typeface="IBM Plex Mono" pitchFamily="34" charset="-120"/>
              </a:rPr>
              <a:t>lkif:isSubjectTo "CA Labor Code §510" ;</a:t>
            </a:r>
            <a:endParaRPr lang="en-US" sz="1300" dirty="0"/>
          </a:p>
          <a:p>
            <a:pPr algn="l" indent="0" marL="0">
              <a:lnSpc>
                <a:spcPts val="1950"/>
              </a:lnSpc>
              <a:buNone/>
            </a:pPr>
            <a:r>
              <a:rPr lang="en-US" sz="1300" dirty="0">
                <a:solidFill>
                  <a:srgbClr val="E7EEF7"/>
                </a:solidFill>
                <a:latin typeface="IBM Plex Mono" pitchFamily="34" charset="0"/>
                <a:ea typeface="IBM Plex Mono" pitchFamily="34" charset="-122"/>
                <a:cs typeface="IBM Plex Mono" pitchFamily="34" charset="-120"/>
              </a:rPr>
              <a:t>isp-core:jurisdiction "US-CA" ;</a:t>
            </a:r>
            <a:endParaRPr lang="en-US" sz="1300" dirty="0"/>
          </a:p>
          <a:p>
            <a:pPr algn="l" indent="0" marL="0">
              <a:lnSpc>
                <a:spcPts val="1950"/>
              </a:lnSpc>
              <a:buNone/>
            </a:pPr>
            <a:r>
              <a:rPr lang="en-US" sz="1300" dirty="0">
                <a:solidFill>
                  <a:srgbClr val="E7EEF7"/>
                </a:solidFill>
                <a:latin typeface="IBM Plex Mono" pitchFamily="34" charset="0"/>
                <a:ea typeface="IBM Plex Mono" pitchFamily="34" charset="-122"/>
                <a:cs typeface="IBM Plex Mono" pitchFamily="34" charset="-120"/>
              </a:rPr>
              <a:t>isp-pay:dailyThresholdHours 8.0 ;</a:t>
            </a:r>
            <a:endParaRPr lang="en-US" sz="1300" dirty="0"/>
          </a:p>
          <a:p>
            <a:pPr algn="l" indent="0" marL="0">
              <a:lnSpc>
                <a:spcPts val="1950"/>
              </a:lnSpc>
              <a:buNone/>
            </a:pPr>
            <a:r>
              <a:rPr lang="en-US" sz="1300" dirty="0">
                <a:solidFill>
                  <a:srgbClr val="E7EEF7"/>
                </a:solidFill>
                <a:latin typeface="IBM Plex Mono" pitchFamily="34" charset="0"/>
                <a:ea typeface="IBM Plex Mono" pitchFamily="34" charset="-122"/>
                <a:cs typeface="IBM Plex Mono" pitchFamily="34" charset="-120"/>
              </a:rPr>
              <a:t>isp-pay:rateMultiplier 1.5 .</a:t>
            </a:r>
            <a:endParaRPr lang="en-US" sz="1300" dirty="0"/>
          </a:p>
        </p:txBody>
      </p:sp>
      <p:pic>
        <p:nvPicPr>
          <p:cNvPr id="7" name="Image 0" descr="arrow-right">    </p:cNvPr>
          <p:cNvPicPr>
            <a:picLocks noChangeAspect="1"/>
          </p:cNvPicPr>
          <p:nvPr/>
        </p:nvPicPr>
        <p:blipFill>
          <a:blip r:embed="rId1"/>
          <a:srcRect l="0" r="0" t="0" b="0"/>
          <a:stretch/>
        </p:blipFill>
        <p:spPr>
          <a:xfrm>
            <a:off x="5892800" y="3141861"/>
            <a:ext cx="609600" cy="304800"/>
          </a:xfrm>
          <a:prstGeom prst="rect">
            <a:avLst/>
          </a:prstGeom>
        </p:spPr>
      </p:pic>
      <p:sp>
        <p:nvSpPr>
          <p:cNvPr id="8" name="Shape 5"/>
          <p:cNvSpPr/>
          <p:nvPr/>
        </p:nvSpPr>
        <p:spPr>
          <a:xfrm>
            <a:off x="6759575" y="1938586"/>
            <a:ext cx="4616450" cy="466080"/>
          </a:xfrm>
          <a:prstGeom prst="roundRect">
            <a:avLst>
              <a:gd name="adj" fmla="val 12943"/>
            </a:avLst>
          </a:prstGeom>
          <a:solidFill>
            <a:srgbClr val="FFFFFF"/>
          </a:solidFill>
          <a:ln w="6350">
            <a:solidFill>
              <a:srgbClr val="C9DCE6"/>
            </a:solidFill>
            <a:prstDash val="solid"/>
          </a:ln>
        </p:spPr>
      </p:sp>
      <p:sp>
        <p:nvSpPr>
          <p:cNvPr id="9" name="Text 6"/>
          <p:cNvSpPr/>
          <p:nvPr/>
        </p:nvSpPr>
        <p:spPr>
          <a:xfrm>
            <a:off x="6915150" y="2056061"/>
            <a:ext cx="443445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0344B"/>
                </a:solidFill>
                <a:latin typeface="IBM Plex Sans" pitchFamily="34" charset="0"/>
                <a:ea typeface="IBM Plex Sans" pitchFamily="34" charset="-122"/>
                <a:cs typeface="IBM Plex Sans" pitchFamily="34" charset="-120"/>
              </a:rPr>
              <a:t>dbt / SQL</a:t>
            </a:r>
            <a:r>
              <a:rPr lang="en-US" sz="1400" dirty="0">
                <a:solidFill>
                  <a:srgbClr val="20344B"/>
                </a:solidFill>
                <a:latin typeface="IBM Plex Sans" pitchFamily="34" charset="0"/>
                <a:ea typeface="IBM Plex Sans" pitchFamily="34" charset="-122"/>
                <a:cs typeface="IBM Plex Sans" pitchFamily="34" charset="-120"/>
              </a:rPr>
              <a:t> · batch gross-to-net tests</a:t>
            </a:r>
            <a:endParaRPr lang="en-US" sz="1400" dirty="0"/>
          </a:p>
        </p:txBody>
      </p:sp>
      <p:sp>
        <p:nvSpPr>
          <p:cNvPr id="10" name="Shape 7"/>
          <p:cNvSpPr/>
          <p:nvPr/>
        </p:nvSpPr>
        <p:spPr>
          <a:xfrm>
            <a:off x="6759575" y="2499916"/>
            <a:ext cx="4616450" cy="466080"/>
          </a:xfrm>
          <a:prstGeom prst="roundRect">
            <a:avLst>
              <a:gd name="adj" fmla="val 12943"/>
            </a:avLst>
          </a:prstGeom>
          <a:solidFill>
            <a:srgbClr val="FFFFFF"/>
          </a:solidFill>
          <a:ln w="6350">
            <a:solidFill>
              <a:srgbClr val="C9DCE6"/>
            </a:solidFill>
            <a:prstDash val="solid"/>
          </a:ln>
        </p:spPr>
      </p:sp>
      <p:sp>
        <p:nvSpPr>
          <p:cNvPr id="11" name="Text 8"/>
          <p:cNvSpPr/>
          <p:nvPr/>
        </p:nvSpPr>
        <p:spPr>
          <a:xfrm>
            <a:off x="6915150" y="2617391"/>
            <a:ext cx="443445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0344B"/>
                </a:solidFill>
                <a:latin typeface="IBM Plex Sans" pitchFamily="34" charset="0"/>
                <a:ea typeface="IBM Plex Sans" pitchFamily="34" charset="-122"/>
                <a:cs typeface="IBM Plex Sans" pitchFamily="34" charset="-120"/>
              </a:rPr>
              <a:t>OPA / Rego</a:t>
            </a:r>
            <a:r>
              <a:rPr lang="en-US" sz="1400" dirty="0">
                <a:solidFill>
                  <a:srgbClr val="20344B"/>
                </a:solidFill>
                <a:latin typeface="IBM Plex Sans" pitchFamily="34" charset="0"/>
                <a:ea typeface="IBM Plex Sans" pitchFamily="34" charset="-122"/>
                <a:cs typeface="IBM Plex Sans" pitchFamily="34" charset="-120"/>
              </a:rPr>
              <a:t> · sub-millisecond gateway policy</a:t>
            </a:r>
            <a:endParaRPr lang="en-US" sz="1400" dirty="0"/>
          </a:p>
        </p:txBody>
      </p:sp>
      <p:sp>
        <p:nvSpPr>
          <p:cNvPr id="12" name="Shape 9"/>
          <p:cNvSpPr/>
          <p:nvPr/>
        </p:nvSpPr>
        <p:spPr>
          <a:xfrm>
            <a:off x="6759575" y="3061246"/>
            <a:ext cx="4616450" cy="466080"/>
          </a:xfrm>
          <a:prstGeom prst="roundRect">
            <a:avLst>
              <a:gd name="adj" fmla="val 12943"/>
            </a:avLst>
          </a:prstGeom>
          <a:solidFill>
            <a:srgbClr val="FFFFFF"/>
          </a:solidFill>
          <a:ln w="6350">
            <a:solidFill>
              <a:srgbClr val="C9DCE6"/>
            </a:solidFill>
            <a:prstDash val="solid"/>
          </a:ln>
        </p:spPr>
      </p:sp>
      <p:sp>
        <p:nvSpPr>
          <p:cNvPr id="13" name="Text 10"/>
          <p:cNvSpPr/>
          <p:nvPr/>
        </p:nvSpPr>
        <p:spPr>
          <a:xfrm>
            <a:off x="6915150" y="3178721"/>
            <a:ext cx="443445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0344B"/>
                </a:solidFill>
                <a:latin typeface="IBM Plex Sans" pitchFamily="34" charset="0"/>
                <a:ea typeface="IBM Plex Sans" pitchFamily="34" charset="-122"/>
                <a:cs typeface="IBM Plex Sans" pitchFamily="34" charset="-120"/>
              </a:rPr>
              <a:t>JSON Schema</a:t>
            </a:r>
            <a:r>
              <a:rPr lang="en-US" sz="1400" dirty="0">
                <a:solidFill>
                  <a:srgbClr val="20344B"/>
                </a:solidFill>
                <a:latin typeface="IBM Plex Sans" pitchFamily="34" charset="0"/>
                <a:ea typeface="IBM Plex Sans" pitchFamily="34" charset="-122"/>
                <a:cs typeface="IBM Plex Sans" pitchFamily="34" charset="-120"/>
              </a:rPr>
              <a:t> · Jarvis and agent constraints</a:t>
            </a:r>
            <a:endParaRPr lang="en-US" sz="1400" dirty="0"/>
          </a:p>
        </p:txBody>
      </p:sp>
      <p:sp>
        <p:nvSpPr>
          <p:cNvPr id="14" name="Shape 11"/>
          <p:cNvSpPr/>
          <p:nvPr/>
        </p:nvSpPr>
        <p:spPr>
          <a:xfrm>
            <a:off x="6759575" y="3622576"/>
            <a:ext cx="4616450" cy="466080"/>
          </a:xfrm>
          <a:prstGeom prst="roundRect">
            <a:avLst>
              <a:gd name="adj" fmla="val 12943"/>
            </a:avLst>
          </a:prstGeom>
          <a:solidFill>
            <a:srgbClr val="FFFFFF"/>
          </a:solidFill>
          <a:ln w="6350">
            <a:solidFill>
              <a:srgbClr val="C9DCE6"/>
            </a:solidFill>
            <a:prstDash val="solid"/>
          </a:ln>
        </p:spPr>
      </p:sp>
      <p:sp>
        <p:nvSpPr>
          <p:cNvPr id="15" name="Text 12"/>
          <p:cNvSpPr/>
          <p:nvPr/>
        </p:nvSpPr>
        <p:spPr>
          <a:xfrm>
            <a:off x="6915150" y="3740051"/>
            <a:ext cx="443445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0344B"/>
                </a:solidFill>
                <a:latin typeface="IBM Plex Sans" pitchFamily="34" charset="0"/>
                <a:ea typeface="IBM Plex Sans" pitchFamily="34" charset="-122"/>
                <a:cs typeface="IBM Plex Sans" pitchFamily="34" charset="-120"/>
              </a:rPr>
              <a:t>Workday config</a:t>
            </a:r>
            <a:r>
              <a:rPr lang="en-US" sz="1400" dirty="0">
                <a:solidFill>
                  <a:srgbClr val="20344B"/>
                </a:solidFill>
                <a:latin typeface="IBM Plex Sans" pitchFamily="34" charset="0"/>
                <a:ea typeface="IBM Plex Sans" pitchFamily="34" charset="-122"/>
                <a:cs typeface="IBM Plex Sans" pitchFamily="34" charset="-120"/>
              </a:rPr>
              <a:t> · validations and conditions</a:t>
            </a:r>
            <a:endParaRPr lang="en-US" sz="1400" dirty="0"/>
          </a:p>
        </p:txBody>
      </p:sp>
      <p:sp>
        <p:nvSpPr>
          <p:cNvPr id="16" name="Shape 13"/>
          <p:cNvSpPr/>
          <p:nvPr/>
        </p:nvSpPr>
        <p:spPr>
          <a:xfrm>
            <a:off x="6759575" y="4183906"/>
            <a:ext cx="4616450" cy="466080"/>
          </a:xfrm>
          <a:prstGeom prst="roundRect">
            <a:avLst>
              <a:gd name="adj" fmla="val 12943"/>
            </a:avLst>
          </a:prstGeom>
          <a:solidFill>
            <a:srgbClr val="FFFFFF"/>
          </a:solidFill>
          <a:ln w="6350">
            <a:solidFill>
              <a:srgbClr val="C9DCE6"/>
            </a:solidFill>
            <a:prstDash val="solid"/>
          </a:ln>
        </p:spPr>
      </p:sp>
      <p:sp>
        <p:nvSpPr>
          <p:cNvPr id="17" name="Text 14"/>
          <p:cNvSpPr/>
          <p:nvPr/>
        </p:nvSpPr>
        <p:spPr>
          <a:xfrm>
            <a:off x="6915150" y="4301381"/>
            <a:ext cx="443445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0344B"/>
                </a:solidFill>
                <a:latin typeface="IBM Plex Sans" pitchFamily="34" charset="0"/>
                <a:ea typeface="IBM Plex Sans" pitchFamily="34" charset="-122"/>
                <a:cs typeface="IBM Plex Sans" pitchFamily="34" charset="-120"/>
              </a:rPr>
              <a:t>Fabric IQ ontology</a:t>
            </a:r>
            <a:r>
              <a:rPr lang="en-US" sz="1400" dirty="0">
                <a:solidFill>
                  <a:srgbClr val="20344B"/>
                </a:solidFill>
                <a:latin typeface="IBM Plex Sans" pitchFamily="34" charset="0"/>
                <a:ea typeface="IBM Plex Sans" pitchFamily="34" charset="-122"/>
                <a:cs typeface="IBM Plex Sans" pitchFamily="34" charset="-120"/>
              </a:rPr>
              <a:t> · analytics and grounding</a:t>
            </a:r>
            <a:endParaRPr lang="en-US" sz="1400" dirty="0"/>
          </a:p>
        </p:txBody>
      </p:sp>
      <p:sp>
        <p:nvSpPr>
          <p:cNvPr id="18" name="Text 15"/>
          <p:cNvSpPr/>
          <p:nvPr/>
        </p:nvSpPr>
        <p:spPr>
          <a:xfrm>
            <a:off x="812800" y="4957961"/>
            <a:ext cx="104648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E6E8E"/>
                </a:solidFill>
                <a:latin typeface="IBM Plex Sans" pitchFamily="34" charset="0"/>
                <a:ea typeface="IBM Plex Sans" pitchFamily="34" charset="-122"/>
                <a:cs typeface="IBM Plex Sans" pitchFamily="34" charset="-120"/>
              </a:rPr>
              <a:t>Every generated artifact carries the source shape URI, so a rejected timesheet points straight to its statute.</a:t>
            </a:r>
            <a:endParaRPr lang="en-US" sz="14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The Keel and the North Star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6E8E"/>
                </a:solidFill>
                <a:latin typeface="IBM Plex Sans" pitchFamily="34" charset="0"/>
                <a:ea typeface="IBM Plex Sans" pitchFamily="34" charset="-122"/>
                <a:cs typeface="IBM Plex Sans" pitchFamily="34" charset="-120"/>
              </a:rPr>
              <a:t>FOR TECHNICAL LEADERS</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How North Star search works</a:t>
            </a:r>
            <a:endParaRPr lang="en-US" sz="3600" dirty="0"/>
          </a:p>
        </p:txBody>
      </p:sp>
      <p:sp>
        <p:nvSpPr>
          <p:cNvPr id="4" name="Shape 2"/>
          <p:cNvSpPr/>
          <p:nvPr/>
        </p:nvSpPr>
        <p:spPr>
          <a:xfrm>
            <a:off x="815975" y="1938586"/>
            <a:ext cx="3397250" cy="1487140"/>
          </a:xfrm>
          <a:prstGeom prst="roundRect">
            <a:avLst>
              <a:gd name="adj" fmla="val 6618"/>
            </a:avLst>
          </a:prstGeom>
          <a:solidFill>
            <a:srgbClr val="FFFFFF"/>
          </a:solidFill>
          <a:ln w="6350">
            <a:solidFill>
              <a:srgbClr val="C9DCE6"/>
            </a:solidFill>
            <a:prstDash val="solid"/>
          </a:ln>
        </p:spPr>
      </p:sp>
      <p:sp>
        <p:nvSpPr>
          <p:cNvPr id="5" name="Text 3"/>
          <p:cNvSpPr/>
          <p:nvPr/>
        </p:nvSpPr>
        <p:spPr>
          <a:xfrm>
            <a:off x="1022350" y="2144961"/>
            <a:ext cx="30740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E8E"/>
                </a:solidFill>
                <a:latin typeface="Source Serif 4" pitchFamily="34" charset="0"/>
                <a:ea typeface="Source Serif 4" pitchFamily="34" charset="-122"/>
                <a:cs typeface="Source Serif 4" pitchFamily="34" charset="-120"/>
              </a:rPr>
              <a:t>1</a:t>
            </a:r>
            <a:r>
              <a:rPr lang="en-US" sz="2000" b="1" dirty="0">
                <a:solidFill>
                  <a:srgbClr val="0B1F3A"/>
                </a:solidFill>
                <a:latin typeface="Source Serif 4" pitchFamily="34" charset="0"/>
                <a:ea typeface="Source Serif 4" pitchFamily="34" charset="-122"/>
                <a:cs typeface="Source Serif 4" pitchFamily="34" charset="-120"/>
              </a:rPr>
              <a:t> Admit</a:t>
            </a:r>
            <a:endParaRPr lang="en-US" sz="2000" dirty="0"/>
          </a:p>
        </p:txBody>
      </p:sp>
      <p:sp>
        <p:nvSpPr>
          <p:cNvPr id="6" name="Text 4"/>
          <p:cNvSpPr/>
          <p:nvPr/>
        </p:nvSpPr>
        <p:spPr>
          <a:xfrm>
            <a:off x="1022350" y="2525961"/>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Each item is classified, tagged with its client tenant and PII class, and SHACL-validated before it can be found.</a:t>
            </a:r>
            <a:endParaRPr lang="en-US" sz="1300" dirty="0"/>
          </a:p>
        </p:txBody>
      </p:sp>
      <p:sp>
        <p:nvSpPr>
          <p:cNvPr id="7" name="Shape 5"/>
          <p:cNvSpPr/>
          <p:nvPr/>
        </p:nvSpPr>
        <p:spPr>
          <a:xfrm>
            <a:off x="4397375" y="1938586"/>
            <a:ext cx="3397250" cy="1487140"/>
          </a:xfrm>
          <a:prstGeom prst="roundRect">
            <a:avLst>
              <a:gd name="adj" fmla="val 6618"/>
            </a:avLst>
          </a:prstGeom>
          <a:solidFill>
            <a:srgbClr val="FFFFFF"/>
          </a:solidFill>
          <a:ln w="6350">
            <a:solidFill>
              <a:srgbClr val="C9DCE6"/>
            </a:solidFill>
            <a:prstDash val="solid"/>
          </a:ln>
        </p:spPr>
      </p:sp>
      <p:sp>
        <p:nvSpPr>
          <p:cNvPr id="8" name="Text 6"/>
          <p:cNvSpPr/>
          <p:nvPr/>
        </p:nvSpPr>
        <p:spPr>
          <a:xfrm>
            <a:off x="4603750" y="2144961"/>
            <a:ext cx="30740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E8E"/>
                </a:solidFill>
                <a:latin typeface="Source Serif 4" pitchFamily="34" charset="0"/>
                <a:ea typeface="Source Serif 4" pitchFamily="34" charset="-122"/>
                <a:cs typeface="Source Serif 4" pitchFamily="34" charset="-120"/>
              </a:rPr>
              <a:t>2</a:t>
            </a:r>
            <a:r>
              <a:rPr lang="en-US" sz="2000" b="1" dirty="0">
                <a:solidFill>
                  <a:srgbClr val="0B1F3A"/>
                </a:solidFill>
                <a:latin typeface="Source Serif 4" pitchFamily="34" charset="0"/>
                <a:ea typeface="Source Serif 4" pitchFamily="34" charset="-122"/>
                <a:cs typeface="Source Serif 4" pitchFamily="34" charset="-120"/>
              </a:rPr>
              <a:t> Anchor</a:t>
            </a:r>
            <a:endParaRPr lang="en-US" sz="2000" dirty="0"/>
          </a:p>
        </p:txBody>
      </p:sp>
      <p:sp>
        <p:nvSpPr>
          <p:cNvPr id="9" name="Text 7"/>
          <p:cNvSpPr/>
          <p:nvPr/>
        </p:nvSpPr>
        <p:spPr>
          <a:xfrm>
            <a:off x="4603750" y="2525961"/>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Each admitted item gets a canonical URI, linked to its rules, plans and jurisdictions.</a:t>
            </a:r>
            <a:endParaRPr lang="en-US" sz="1300" dirty="0"/>
          </a:p>
        </p:txBody>
      </p:sp>
      <p:sp>
        <p:nvSpPr>
          <p:cNvPr id="10" name="Shape 8"/>
          <p:cNvSpPr/>
          <p:nvPr/>
        </p:nvSpPr>
        <p:spPr>
          <a:xfrm>
            <a:off x="7978775" y="1938586"/>
            <a:ext cx="3397250" cy="1487140"/>
          </a:xfrm>
          <a:prstGeom prst="roundRect">
            <a:avLst>
              <a:gd name="adj" fmla="val 6618"/>
            </a:avLst>
          </a:prstGeom>
          <a:solidFill>
            <a:srgbClr val="FFFFFF"/>
          </a:solidFill>
          <a:ln w="6350">
            <a:solidFill>
              <a:srgbClr val="C9DCE6"/>
            </a:solidFill>
            <a:prstDash val="solid"/>
          </a:ln>
        </p:spPr>
      </p:sp>
      <p:sp>
        <p:nvSpPr>
          <p:cNvPr id="11" name="Text 9"/>
          <p:cNvSpPr/>
          <p:nvPr/>
        </p:nvSpPr>
        <p:spPr>
          <a:xfrm>
            <a:off x="8185150" y="2144961"/>
            <a:ext cx="30740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E8E"/>
                </a:solidFill>
                <a:latin typeface="Source Serif 4" pitchFamily="34" charset="0"/>
                <a:ea typeface="Source Serif 4" pitchFamily="34" charset="-122"/>
                <a:cs typeface="Source Serif 4" pitchFamily="34" charset="-120"/>
              </a:rPr>
              <a:t>3</a:t>
            </a:r>
            <a:r>
              <a:rPr lang="en-US" sz="2000" b="1" dirty="0">
                <a:solidFill>
                  <a:srgbClr val="0B1F3A"/>
                </a:solidFill>
                <a:latin typeface="Source Serif 4" pitchFamily="34" charset="0"/>
                <a:ea typeface="Source Serif 4" pitchFamily="34" charset="-122"/>
                <a:cs typeface="Source Serif 4" pitchFamily="34" charset="-120"/>
              </a:rPr>
              <a:t> Resolve</a:t>
            </a:r>
            <a:endParaRPr lang="en-US" sz="2000" dirty="0"/>
          </a:p>
        </p:txBody>
      </p:sp>
      <p:sp>
        <p:nvSpPr>
          <p:cNvPr id="12" name="Text 10"/>
          <p:cNvSpPr/>
          <p:nvPr/>
        </p:nvSpPr>
        <p:spPr>
          <a:xfrm>
            <a:off x="8185150" y="2525961"/>
            <a:ext cx="30740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The question becomes five coordinates: WHO, WHAT, WHERE, WHEN, WHY.</a:t>
            </a:r>
            <a:endParaRPr lang="en-US" sz="1300" dirty="0"/>
          </a:p>
        </p:txBody>
      </p:sp>
      <p:sp>
        <p:nvSpPr>
          <p:cNvPr id="13" name="Shape 11"/>
          <p:cNvSpPr/>
          <p:nvPr/>
        </p:nvSpPr>
        <p:spPr>
          <a:xfrm>
            <a:off x="815975" y="3609876"/>
            <a:ext cx="3397250" cy="1487140"/>
          </a:xfrm>
          <a:prstGeom prst="roundRect">
            <a:avLst>
              <a:gd name="adj" fmla="val 6618"/>
            </a:avLst>
          </a:prstGeom>
          <a:solidFill>
            <a:srgbClr val="FFFFFF"/>
          </a:solidFill>
          <a:ln w="6350">
            <a:solidFill>
              <a:srgbClr val="C9DCE6"/>
            </a:solidFill>
            <a:prstDash val="solid"/>
          </a:ln>
        </p:spPr>
      </p:sp>
      <p:sp>
        <p:nvSpPr>
          <p:cNvPr id="14" name="Text 12"/>
          <p:cNvSpPr/>
          <p:nvPr/>
        </p:nvSpPr>
        <p:spPr>
          <a:xfrm>
            <a:off x="1022350" y="3816251"/>
            <a:ext cx="30740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E8E"/>
                </a:solidFill>
                <a:latin typeface="Source Serif 4" pitchFamily="34" charset="0"/>
                <a:ea typeface="Source Serif 4" pitchFamily="34" charset="-122"/>
                <a:cs typeface="Source Serif 4" pitchFamily="34" charset="-120"/>
              </a:rPr>
              <a:t>4</a:t>
            </a:r>
            <a:r>
              <a:rPr lang="en-US" sz="2000" b="1" dirty="0">
                <a:solidFill>
                  <a:srgbClr val="0B1F3A"/>
                </a:solidFill>
                <a:latin typeface="Source Serif 4" pitchFamily="34" charset="0"/>
                <a:ea typeface="Source Serif 4" pitchFamily="34" charset="-122"/>
                <a:cs typeface="Source Serif 4" pitchFamily="34" charset="-120"/>
              </a:rPr>
              <a:t> Retrieve</a:t>
            </a:r>
            <a:endParaRPr lang="en-US" sz="2000" dirty="0"/>
          </a:p>
        </p:txBody>
      </p:sp>
      <p:sp>
        <p:nvSpPr>
          <p:cNvPr id="15" name="Text 13"/>
          <p:cNvSpPr/>
          <p:nvPr/>
        </p:nvSpPr>
        <p:spPr>
          <a:xfrm>
            <a:off x="1022350" y="4197251"/>
            <a:ext cx="30740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Hybrid retrieval: SPARQL over the graph plus vector search, both keyed on URIs.</a:t>
            </a:r>
            <a:endParaRPr lang="en-US" sz="1300" dirty="0"/>
          </a:p>
        </p:txBody>
      </p:sp>
      <p:sp>
        <p:nvSpPr>
          <p:cNvPr id="16" name="Shape 14"/>
          <p:cNvSpPr/>
          <p:nvPr/>
        </p:nvSpPr>
        <p:spPr>
          <a:xfrm>
            <a:off x="4397375" y="3609876"/>
            <a:ext cx="3397250" cy="1487140"/>
          </a:xfrm>
          <a:prstGeom prst="roundRect">
            <a:avLst>
              <a:gd name="adj" fmla="val 6618"/>
            </a:avLst>
          </a:prstGeom>
          <a:solidFill>
            <a:srgbClr val="FFFFFF"/>
          </a:solidFill>
          <a:ln w="6350">
            <a:solidFill>
              <a:srgbClr val="C9DCE6"/>
            </a:solidFill>
            <a:prstDash val="solid"/>
          </a:ln>
        </p:spPr>
      </p:sp>
      <p:sp>
        <p:nvSpPr>
          <p:cNvPr id="17" name="Text 15"/>
          <p:cNvSpPr/>
          <p:nvPr/>
        </p:nvSpPr>
        <p:spPr>
          <a:xfrm>
            <a:off x="4603750" y="3816251"/>
            <a:ext cx="30740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E8E"/>
                </a:solidFill>
                <a:latin typeface="Source Serif 4" pitchFamily="34" charset="0"/>
                <a:ea typeface="Source Serif 4" pitchFamily="34" charset="-122"/>
                <a:cs typeface="Source Serif 4" pitchFamily="34" charset="-120"/>
              </a:rPr>
              <a:t>5</a:t>
            </a:r>
            <a:r>
              <a:rPr lang="en-US" sz="2000" b="1" dirty="0">
                <a:solidFill>
                  <a:srgbClr val="0B1F3A"/>
                </a:solidFill>
                <a:latin typeface="Source Serif 4" pitchFamily="34" charset="0"/>
                <a:ea typeface="Source Serif 4" pitchFamily="34" charset="-122"/>
                <a:cs typeface="Source Serif 4" pitchFamily="34" charset="-120"/>
              </a:rPr>
              <a:t> Filter</a:t>
            </a:r>
            <a:endParaRPr lang="en-US" sz="2000" dirty="0"/>
          </a:p>
        </p:txBody>
      </p:sp>
      <p:sp>
        <p:nvSpPr>
          <p:cNvPr id="18" name="Text 16"/>
          <p:cNvSpPr/>
          <p:nvPr/>
        </p:nvSpPr>
        <p:spPr>
          <a:xfrm>
            <a:off x="4603750" y="4197251"/>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The policy enforcement point removes anything outside the asker's tenant or role.</a:t>
            </a:r>
            <a:endParaRPr lang="en-US" sz="1300" dirty="0"/>
          </a:p>
        </p:txBody>
      </p:sp>
      <p:sp>
        <p:nvSpPr>
          <p:cNvPr id="19" name="Shape 17"/>
          <p:cNvSpPr/>
          <p:nvPr/>
        </p:nvSpPr>
        <p:spPr>
          <a:xfrm>
            <a:off x="7978775" y="3609876"/>
            <a:ext cx="3397250" cy="1487140"/>
          </a:xfrm>
          <a:prstGeom prst="roundRect">
            <a:avLst>
              <a:gd name="adj" fmla="val 6618"/>
            </a:avLst>
          </a:prstGeom>
          <a:solidFill>
            <a:srgbClr val="FFFFFF"/>
          </a:solidFill>
          <a:ln w="6350">
            <a:solidFill>
              <a:srgbClr val="C9DCE6"/>
            </a:solidFill>
            <a:prstDash val="solid"/>
          </a:ln>
        </p:spPr>
      </p:sp>
      <p:sp>
        <p:nvSpPr>
          <p:cNvPr id="20" name="Text 18"/>
          <p:cNvSpPr/>
          <p:nvPr/>
        </p:nvSpPr>
        <p:spPr>
          <a:xfrm>
            <a:off x="8185150" y="3816251"/>
            <a:ext cx="30740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7E6319"/>
                </a:solidFill>
                <a:latin typeface="Source Serif 4" pitchFamily="34" charset="0"/>
                <a:ea typeface="Source Serif 4" pitchFamily="34" charset="-122"/>
                <a:cs typeface="Source Serif 4" pitchFamily="34" charset="-120"/>
              </a:rPr>
              <a:t>6</a:t>
            </a:r>
            <a:r>
              <a:rPr lang="en-US" sz="2000" b="1" dirty="0">
                <a:solidFill>
                  <a:srgbClr val="0B1F3A"/>
                </a:solidFill>
                <a:latin typeface="Source Serif 4" pitchFamily="34" charset="0"/>
                <a:ea typeface="Source Serif 4" pitchFamily="34" charset="-122"/>
                <a:cs typeface="Source Serif 4" pitchFamily="34" charset="-120"/>
              </a:rPr>
              <a:t> Score and cite</a:t>
            </a:r>
            <a:endParaRPr lang="en-US" sz="2000" dirty="0"/>
          </a:p>
        </p:txBody>
      </p:sp>
      <p:sp>
        <p:nvSpPr>
          <p:cNvPr id="21" name="Text 19"/>
          <p:cNvSpPr/>
          <p:nvPr/>
        </p:nvSpPr>
        <p:spPr>
          <a:xfrm>
            <a:off x="8185150" y="4197251"/>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MTBH scores the answer, uncertain ones go to a person, and every answer cites its sources.</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The Keel and the North Star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6E8E"/>
                </a:solidFill>
                <a:latin typeface="IBM Plex Sans" pitchFamily="34" charset="0"/>
                <a:ea typeface="IBM Plex Sans" pitchFamily="34" charset="-122"/>
                <a:cs typeface="IBM Plex Sans" pitchFamily="34" charset="-120"/>
              </a:rPr>
              <a:t>FOR TECHNICAL LEADERS</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Stack independent by contract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1111"/>
          <a:ext cx="10553700" cy="2994124"/>
        </p:xfrm>
        <a:graphic>
          <a:graphicData uri="http://schemas.openxmlformats.org/drawingml/2006/table">
            <a:tbl>
              <a:tblPr/>
              <a:tblGrid>
                <a:gridCol w="1583055"/>
                <a:gridCol w="2532888"/>
                <a:gridCol w="3482721"/>
                <a:gridCol w="2955036"/>
              </a:tblGrid>
              <a:tr h="332680">
                <a:tc>
                  <a:txBody>
                    <a:bodyPr/>
                    <a:lstStyle/>
                    <a:p>
                      <a:pPr indent="0" marL="0">
                        <a:lnSpc>
                          <a:spcPts val="1680"/>
                        </a:lnSpc>
                        <a:buNone/>
                      </a:pPr>
                      <a:r>
                        <a:rPr lang="en-US" sz="1200" b="1" dirty="0">
                          <a:solidFill>
                            <a:srgbClr val="20344B"/>
                          </a:solidFill>
                          <a:latin typeface="IBM Plex Sans" pitchFamily="34" charset="0"/>
                          <a:ea typeface="IBM Plex Sans" pitchFamily="34" charset="-122"/>
                          <a:cs typeface="IBM Plex Sans" pitchFamily="34" charset="-120"/>
                        </a:rPr>
                        <a:t>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c>
                  <a:txBody>
                    <a:bodyPr/>
                    <a:lstStyle/>
                    <a:p>
                      <a:pPr indent="0" marL="0">
                        <a:lnSpc>
                          <a:spcPts val="1680"/>
                        </a:lnSpc>
                        <a:buNone/>
                      </a:pPr>
                      <a:r>
                        <a:rPr lang="en-US" sz="1200" b="1" dirty="0">
                          <a:solidFill>
                            <a:srgbClr val="20344B"/>
                          </a:solidFill>
                          <a:latin typeface="IBM Plex Sans" pitchFamily="34" charset="0"/>
                          <a:ea typeface="IBM Plex Sans" pitchFamily="34" charset="-122"/>
                          <a:cs typeface="IBM Plex Sans" pitchFamily="34" charset="-120"/>
                        </a:rPr>
                        <a:t>Canonical contract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9B7BE"/>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c>
                  <a:txBody>
                    <a:bodyPr/>
                    <a:lstStyle/>
                    <a:p>
                      <a:pPr indent="0" marL="0">
                        <a:lnSpc>
                          <a:spcPts val="1680"/>
                        </a:lnSpc>
                        <a:buNone/>
                      </a:pPr>
                      <a:r>
                        <a:rPr lang="en-US" sz="1200" b="1" dirty="0">
                          <a:solidFill>
                            <a:srgbClr val="20344B"/>
                          </a:solidFill>
                          <a:latin typeface="IBM Plex Sans" pitchFamily="34" charset="0"/>
                          <a:ea typeface="IBM Plex Sans" pitchFamily="34" charset="-122"/>
                          <a:cs typeface="IBM Plex Sans" pitchFamily="34" charset="-120"/>
                        </a:rPr>
                        <a:t>Microsoft adapter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9B7BE"/>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c>
                  <a:txBody>
                    <a:bodyPr/>
                    <a:lstStyle/>
                    <a:p>
                      <a:pPr indent="0" marL="0">
                        <a:lnSpc>
                          <a:spcPts val="1680"/>
                        </a:lnSpc>
                        <a:buNone/>
                      </a:pPr>
                      <a:r>
                        <a:rPr lang="en-US" sz="1200" b="1" dirty="0">
                          <a:solidFill>
                            <a:srgbClr val="20344B"/>
                          </a:solidFill>
                          <a:latin typeface="IBM Plex Sans" pitchFamily="34" charset="0"/>
                          <a:ea typeface="IBM Plex Sans" pitchFamily="34" charset="-122"/>
                          <a:cs typeface="IBM Plex Sans" pitchFamily="34" charset="-120"/>
                        </a:rPr>
                        <a:t>Alternates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9B7BE"/>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Meaning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OWL 2 · SKOS · LKIF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Fabric IQ ontology (generated)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Neptune · GraphDB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SHACL · SWRL · KGCL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Fabric/dbt tests · Power Automate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Workday validations · dbt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Policy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OPA/Rego · JSON Schema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API Management + OPA · Purview DLP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Cedar · Envoy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OIDC · SCIM · URI registry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Entra ID · Entra Agent 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Okta · Keycloak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Grounding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SPARQL · URI-anchored RAG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Foundry IQ · Azure AI Search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Bedrock KB · pgvector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MCP · A2A · OpenAPI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Copilot Studio · Foundry 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LangGraph · Claude · Workday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Telemetry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PROV-O · OpenTelemetry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Monitor · Sentinel · Purview Audit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Datadog · OpenLineage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Analytics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W3C DPROD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OneLake · Power BI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dbt Semantic Layer · Superset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The Keel and the North Star · 12 · The contract column never changes; adapters do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ROADMAP</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Four gated phases over 18 months</a:t>
            </a:r>
            <a:endParaRPr lang="en-US" sz="3600" dirty="0"/>
          </a:p>
        </p:txBody>
      </p:sp>
      <p:sp>
        <p:nvSpPr>
          <p:cNvPr id="4" name="Shape 2"/>
          <p:cNvSpPr/>
          <p:nvPr/>
        </p:nvSpPr>
        <p:spPr>
          <a:xfrm>
            <a:off x="815975" y="1862386"/>
            <a:ext cx="2520950" cy="2632571"/>
          </a:xfrm>
          <a:prstGeom prst="roundRect">
            <a:avLst>
              <a:gd name="adj" fmla="val 3401"/>
            </a:avLst>
          </a:prstGeom>
          <a:solidFill>
            <a:srgbClr val="FFFFFF"/>
          </a:solidFill>
          <a:ln w="6350">
            <a:solidFill>
              <a:srgbClr val="D8E1EC"/>
            </a:solidFill>
            <a:prstDash val="solid"/>
          </a:ln>
        </p:spPr>
      </p:sp>
      <p:sp>
        <p:nvSpPr>
          <p:cNvPr id="5" name="Text 3"/>
          <p:cNvSpPr/>
          <p:nvPr/>
        </p:nvSpPr>
        <p:spPr>
          <a:xfrm>
            <a:off x="996950" y="204336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P0 · Months 1–2</a:t>
            </a:r>
            <a:endParaRPr lang="en-US" sz="1200" dirty="0"/>
          </a:p>
        </p:txBody>
      </p:sp>
      <p:sp>
        <p:nvSpPr>
          <p:cNvPr id="6" name="Text 4"/>
          <p:cNvSpPr/>
          <p:nvPr/>
        </p:nvSpPr>
        <p:spPr>
          <a:xfrm>
            <a:off x="996950" y="2345581"/>
            <a:ext cx="2223770" cy="2590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0B1F3A"/>
                </a:solidFill>
                <a:latin typeface="Source Serif 4" pitchFamily="34" charset="0"/>
                <a:ea typeface="Source Serif 4" pitchFamily="34" charset="-122"/>
                <a:cs typeface="Source Serif 4" pitchFamily="34" charset="-120"/>
              </a:rPr>
              <a:t>Foundation</a:t>
            </a:r>
            <a:endParaRPr lang="en-US" sz="1600" dirty="0"/>
          </a:p>
        </p:txBody>
      </p:sp>
      <p:sp>
        <p:nvSpPr>
          <p:cNvPr id="7" name="Text 5"/>
          <p:cNvSpPr/>
          <p:nvPr/>
        </p:nvSpPr>
        <p:spPr>
          <a:xfrm>
            <a:off x="996950" y="2668141"/>
            <a:ext cx="2223770"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0344B"/>
                </a:solidFill>
                <a:latin typeface="IBM Plex Sans" pitchFamily="34" charset="0"/>
                <a:ea typeface="IBM Plex Sans" pitchFamily="34" charset="-122"/>
                <a:cs typeface="IBM Plex Sans" pitchFamily="34" charset="-120"/>
              </a:rPr>
              <a:t>Keel:</a:t>
            </a:r>
            <a:r>
              <a:rPr lang="en-US" sz="1200" dirty="0">
                <a:solidFill>
                  <a:srgbClr val="20344B"/>
                </a:solidFill>
                <a:latin typeface="IBM Plex Sans" pitchFamily="34" charset="0"/>
                <a:ea typeface="IBM Plex Sans" pitchFamily="34" charset="-122"/>
                <a:cs typeface="IBM Plex Sans" pitchFamily="34" charset="-120"/>
              </a:rPr>
              <a:t> isp-core; 142 rules keyed; URI registry; 2,000 assets admitted</a:t>
            </a:r>
            <a:endParaRPr lang="en-US" sz="1200" dirty="0"/>
          </a:p>
        </p:txBody>
      </p:sp>
      <p:sp>
        <p:nvSpPr>
          <p:cNvPr id="8" name="Text 6"/>
          <p:cNvSpPr/>
          <p:nvPr/>
        </p:nvSpPr>
        <p:spPr>
          <a:xfrm>
            <a:off x="996950" y="3374231"/>
            <a:ext cx="2223770"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0344B"/>
                </a:solidFill>
                <a:latin typeface="IBM Plex Sans" pitchFamily="34" charset="0"/>
                <a:ea typeface="IBM Plex Sans" pitchFamily="34" charset="-122"/>
                <a:cs typeface="IBM Plex Sans" pitchFamily="34" charset="-120"/>
              </a:rPr>
              <a:t>North Star:</a:t>
            </a:r>
            <a:r>
              <a:rPr lang="en-US" sz="1200" dirty="0">
                <a:solidFill>
                  <a:srgbClr val="20344B"/>
                </a:solidFill>
                <a:latin typeface="IBM Plex Sans" pitchFamily="34" charset="0"/>
                <a:ea typeface="IBM Plex Sans" pitchFamily="34" charset="-122"/>
                <a:cs typeface="IBM Plex Sans" pitchFamily="34" charset="-120"/>
              </a:rPr>
              <a:t> staff search pilot</a:t>
            </a:r>
            <a:endParaRPr lang="en-US" sz="1200" dirty="0"/>
          </a:p>
        </p:txBody>
      </p:sp>
      <p:sp>
        <p:nvSpPr>
          <p:cNvPr id="9" name="Text 7"/>
          <p:cNvSpPr/>
          <p:nvPr/>
        </p:nvSpPr>
        <p:spPr>
          <a:xfrm>
            <a:off x="996950" y="3668861"/>
            <a:ext cx="222377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7188"/>
                </a:solidFill>
                <a:latin typeface="IBM Plex Sans" pitchFamily="34" charset="0"/>
                <a:ea typeface="IBM Plex Sans" pitchFamily="34" charset="-122"/>
                <a:cs typeface="IBM Plex Sans" pitchFamily="34" charset="-120"/>
              </a:rPr>
              <a:t>Gate: SHACL pass ≥98%</a:t>
            </a:r>
            <a:endParaRPr lang="en-US" sz="1200" dirty="0"/>
          </a:p>
        </p:txBody>
      </p:sp>
      <p:sp>
        <p:nvSpPr>
          <p:cNvPr id="10" name="Shape 8"/>
          <p:cNvSpPr/>
          <p:nvPr/>
        </p:nvSpPr>
        <p:spPr>
          <a:xfrm>
            <a:off x="3495675" y="1862386"/>
            <a:ext cx="2520950" cy="2632571"/>
          </a:xfrm>
          <a:prstGeom prst="roundRect">
            <a:avLst>
              <a:gd name="adj" fmla="val 3401"/>
            </a:avLst>
          </a:prstGeom>
          <a:solidFill>
            <a:srgbClr val="FFFFFF"/>
          </a:solidFill>
          <a:ln w="6350">
            <a:solidFill>
              <a:srgbClr val="D8E1EC"/>
            </a:solidFill>
            <a:prstDash val="solid"/>
          </a:ln>
        </p:spPr>
      </p:sp>
      <p:sp>
        <p:nvSpPr>
          <p:cNvPr id="11" name="Text 9"/>
          <p:cNvSpPr/>
          <p:nvPr/>
        </p:nvSpPr>
        <p:spPr>
          <a:xfrm>
            <a:off x="3676650" y="204336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P1 · Months 3–6</a:t>
            </a:r>
            <a:endParaRPr lang="en-US" sz="1200" dirty="0"/>
          </a:p>
        </p:txBody>
      </p:sp>
      <p:sp>
        <p:nvSpPr>
          <p:cNvPr id="12" name="Text 10"/>
          <p:cNvSpPr/>
          <p:nvPr/>
        </p:nvSpPr>
        <p:spPr>
          <a:xfrm>
            <a:off x="3676650" y="2345581"/>
            <a:ext cx="2223770" cy="49272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0B1F3A"/>
                </a:solidFill>
                <a:latin typeface="Source Serif 4" pitchFamily="34" charset="0"/>
                <a:ea typeface="Source Serif 4" pitchFamily="34" charset="-122"/>
                <a:cs typeface="Source Serif 4" pitchFamily="34" charset="-120"/>
              </a:rPr>
              <a:t>Governed Copilot MVP</a:t>
            </a:r>
            <a:endParaRPr lang="en-US" sz="1600" dirty="0"/>
          </a:p>
        </p:txBody>
      </p:sp>
      <p:sp>
        <p:nvSpPr>
          <p:cNvPr id="13" name="Text 11"/>
          <p:cNvSpPr/>
          <p:nvPr/>
        </p:nvSpPr>
        <p:spPr>
          <a:xfrm>
            <a:off x="3676650" y="2901801"/>
            <a:ext cx="2223770"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0344B"/>
                </a:solidFill>
                <a:latin typeface="IBM Plex Sans" pitchFamily="34" charset="0"/>
                <a:ea typeface="IBM Plex Sans" pitchFamily="34" charset="-122"/>
                <a:cs typeface="IBM Plex Sans" pitchFamily="34" charset="-120"/>
              </a:rPr>
              <a:t>Keel:</a:t>
            </a:r>
            <a:r>
              <a:rPr lang="en-US" sz="1200" dirty="0">
                <a:solidFill>
                  <a:srgbClr val="20344B"/>
                </a:solidFill>
                <a:latin typeface="IBM Plex Sans" pitchFamily="34" charset="0"/>
                <a:ea typeface="IBM Plex Sans" pitchFamily="34" charset="-122"/>
                <a:cs typeface="IBM Plex Sans" pitchFamily="34" charset="-120"/>
              </a:rPr>
              <a:t> payroll and benefits holons; compiler; gateway</a:t>
            </a:r>
            <a:endParaRPr lang="en-US" sz="1200" dirty="0"/>
          </a:p>
        </p:txBody>
      </p:sp>
      <p:sp>
        <p:nvSpPr>
          <p:cNvPr id="14" name="Text 12"/>
          <p:cNvSpPr/>
          <p:nvPr/>
        </p:nvSpPr>
        <p:spPr>
          <a:xfrm>
            <a:off x="3676650" y="3402161"/>
            <a:ext cx="2223770"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0344B"/>
                </a:solidFill>
                <a:latin typeface="IBM Plex Sans" pitchFamily="34" charset="0"/>
                <a:ea typeface="IBM Plex Sans" pitchFamily="34" charset="-122"/>
                <a:cs typeface="IBM Plex Sans" pitchFamily="34" charset="-120"/>
              </a:rPr>
              <a:t>North Star:</a:t>
            </a:r>
            <a:r>
              <a:rPr lang="en-US" sz="1200" dirty="0">
                <a:solidFill>
                  <a:srgbClr val="20344B"/>
                </a:solidFill>
                <a:latin typeface="IBM Plex Sans" pitchFamily="34" charset="0"/>
                <a:ea typeface="IBM Plex Sans" pitchFamily="34" charset="-122"/>
                <a:cs typeface="IBM Plex Sans" pitchFamily="34" charset="-120"/>
              </a:rPr>
              <a:t> cited answers at 3–5 pilot clients</a:t>
            </a:r>
            <a:endParaRPr lang="en-US" sz="1200" dirty="0"/>
          </a:p>
        </p:txBody>
      </p:sp>
      <p:sp>
        <p:nvSpPr>
          <p:cNvPr id="15" name="Text 13"/>
          <p:cNvSpPr/>
          <p:nvPr/>
        </p:nvSpPr>
        <p:spPr>
          <a:xfrm>
            <a:off x="3676650" y="3902521"/>
            <a:ext cx="222377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7188"/>
                </a:solidFill>
                <a:latin typeface="IBM Plex Sans" pitchFamily="34" charset="0"/>
                <a:ea typeface="IBM Plex Sans" pitchFamily="34" charset="-122"/>
                <a:cs typeface="IBM Plex Sans" pitchFamily="34" charset="-120"/>
              </a:rPr>
              <a:t>Gate: P95 ≤3 s; zero cross-tenant</a:t>
            </a:r>
            <a:endParaRPr lang="en-US" sz="1200" dirty="0"/>
          </a:p>
        </p:txBody>
      </p:sp>
      <p:sp>
        <p:nvSpPr>
          <p:cNvPr id="16" name="Shape 14"/>
          <p:cNvSpPr/>
          <p:nvPr/>
        </p:nvSpPr>
        <p:spPr>
          <a:xfrm>
            <a:off x="6175375" y="1862386"/>
            <a:ext cx="2520950" cy="2632571"/>
          </a:xfrm>
          <a:prstGeom prst="roundRect">
            <a:avLst>
              <a:gd name="adj" fmla="val 3401"/>
            </a:avLst>
          </a:prstGeom>
          <a:solidFill>
            <a:srgbClr val="FFFFFF"/>
          </a:solidFill>
          <a:ln w="6350">
            <a:solidFill>
              <a:srgbClr val="D8E1EC"/>
            </a:solidFill>
            <a:prstDash val="solid"/>
          </a:ln>
        </p:spPr>
      </p:sp>
      <p:sp>
        <p:nvSpPr>
          <p:cNvPr id="17" name="Text 15"/>
          <p:cNvSpPr/>
          <p:nvPr/>
        </p:nvSpPr>
        <p:spPr>
          <a:xfrm>
            <a:off x="6356350" y="204336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P2 · Months 7–12</a:t>
            </a:r>
            <a:endParaRPr lang="en-US" sz="1200" dirty="0"/>
          </a:p>
        </p:txBody>
      </p:sp>
      <p:sp>
        <p:nvSpPr>
          <p:cNvPr id="18" name="Text 16"/>
          <p:cNvSpPr/>
          <p:nvPr/>
        </p:nvSpPr>
        <p:spPr>
          <a:xfrm>
            <a:off x="6356350" y="2345581"/>
            <a:ext cx="2223770" cy="2590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0B1F3A"/>
                </a:solidFill>
                <a:latin typeface="Source Serif 4" pitchFamily="34" charset="0"/>
                <a:ea typeface="Source Serif 4" pitchFamily="34" charset="-122"/>
                <a:cs typeface="Source Serif 4" pitchFamily="34" charset="-120"/>
              </a:rPr>
              <a:t>Domain copilots</a:t>
            </a:r>
            <a:endParaRPr lang="en-US" sz="1600" dirty="0"/>
          </a:p>
        </p:txBody>
      </p:sp>
      <p:sp>
        <p:nvSpPr>
          <p:cNvPr id="19" name="Text 17"/>
          <p:cNvSpPr/>
          <p:nvPr/>
        </p:nvSpPr>
        <p:spPr>
          <a:xfrm>
            <a:off x="6356350" y="2668141"/>
            <a:ext cx="2223770"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0344B"/>
                </a:solidFill>
                <a:latin typeface="IBM Plex Sans" pitchFamily="34" charset="0"/>
                <a:ea typeface="IBM Plex Sans" pitchFamily="34" charset="-122"/>
                <a:cs typeface="IBM Plex Sans" pitchFamily="34" charset="-120"/>
              </a:rPr>
              <a:t>Keel:</a:t>
            </a:r>
            <a:r>
              <a:rPr lang="en-US" sz="1200" dirty="0">
                <a:solidFill>
                  <a:srgbClr val="20344B"/>
                </a:solidFill>
                <a:latin typeface="IBM Plex Sans" pitchFamily="34" charset="0"/>
                <a:ea typeface="IBM Plex Sans" pitchFamily="34" charset="-122"/>
                <a:cs typeface="IBM Plex Sans" pitchFamily="34" charset="-120"/>
              </a:rPr>
              <a:t> six domain holons; personal models; Workday adapter</a:t>
            </a:r>
            <a:endParaRPr lang="en-US" sz="1200" dirty="0"/>
          </a:p>
        </p:txBody>
      </p:sp>
      <p:sp>
        <p:nvSpPr>
          <p:cNvPr id="20" name="Text 18"/>
          <p:cNvSpPr/>
          <p:nvPr/>
        </p:nvSpPr>
        <p:spPr>
          <a:xfrm>
            <a:off x="6356350" y="3374231"/>
            <a:ext cx="2223770"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0344B"/>
                </a:solidFill>
                <a:latin typeface="IBM Plex Sans" pitchFamily="34" charset="0"/>
                <a:ea typeface="IBM Plex Sans" pitchFamily="34" charset="-122"/>
                <a:cs typeface="IBM Plex Sans" pitchFamily="34" charset="-120"/>
              </a:rPr>
              <a:t>North Star:</a:t>
            </a:r>
            <a:r>
              <a:rPr lang="en-US" sz="1200" dirty="0">
                <a:solidFill>
                  <a:srgbClr val="20344B"/>
                </a:solidFill>
                <a:latin typeface="IBM Plex Sans" pitchFamily="34" charset="0"/>
                <a:ea typeface="IBM Plex Sans" pitchFamily="34" charset="-122"/>
                <a:cs typeface="IBM Plex Sans" pitchFamily="34" charset="-120"/>
              </a:rPr>
              <a:t> compass navigator in portals</a:t>
            </a:r>
            <a:endParaRPr lang="en-US" sz="1200" dirty="0"/>
          </a:p>
        </p:txBody>
      </p:sp>
      <p:sp>
        <p:nvSpPr>
          <p:cNvPr id="21" name="Text 19"/>
          <p:cNvSpPr/>
          <p:nvPr/>
        </p:nvSpPr>
        <p:spPr>
          <a:xfrm>
            <a:off x="6356350" y="3874591"/>
            <a:ext cx="222377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7188"/>
                </a:solidFill>
                <a:latin typeface="IBM Plex Sans" pitchFamily="34" charset="0"/>
                <a:ea typeface="IBM Plex Sans" pitchFamily="34" charset="-122"/>
                <a:cs typeface="IBM Plex Sans" pitchFamily="34" charset="-120"/>
              </a:rPr>
              <a:t>Gate: MTBH ≥96%; 25–40 clients</a:t>
            </a:r>
            <a:endParaRPr lang="en-US" sz="1200" dirty="0"/>
          </a:p>
        </p:txBody>
      </p:sp>
      <p:sp>
        <p:nvSpPr>
          <p:cNvPr id="22" name="Shape 20"/>
          <p:cNvSpPr/>
          <p:nvPr/>
        </p:nvSpPr>
        <p:spPr>
          <a:xfrm>
            <a:off x="8855075" y="1862386"/>
            <a:ext cx="2520950" cy="2632571"/>
          </a:xfrm>
          <a:prstGeom prst="roundRect">
            <a:avLst>
              <a:gd name="adj" fmla="val 3401"/>
            </a:avLst>
          </a:prstGeom>
          <a:solidFill>
            <a:srgbClr val="FFFFFF"/>
          </a:solidFill>
          <a:ln w="6350">
            <a:solidFill>
              <a:srgbClr val="D8E1EC"/>
            </a:solidFill>
            <a:prstDash val="solid"/>
          </a:ln>
        </p:spPr>
      </p:sp>
      <p:sp>
        <p:nvSpPr>
          <p:cNvPr id="23" name="Text 21"/>
          <p:cNvSpPr/>
          <p:nvPr/>
        </p:nvSpPr>
        <p:spPr>
          <a:xfrm>
            <a:off x="9036050" y="204336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P3 · Months 13–18</a:t>
            </a:r>
            <a:endParaRPr lang="en-US" sz="1200" dirty="0"/>
          </a:p>
        </p:txBody>
      </p:sp>
      <p:sp>
        <p:nvSpPr>
          <p:cNvPr id="24" name="Text 22"/>
          <p:cNvSpPr/>
          <p:nvPr/>
        </p:nvSpPr>
        <p:spPr>
          <a:xfrm>
            <a:off x="9036050" y="2345581"/>
            <a:ext cx="2223770" cy="2590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0B1F3A"/>
                </a:solidFill>
                <a:latin typeface="Source Serif 4" pitchFamily="34" charset="0"/>
                <a:ea typeface="Source Serif 4" pitchFamily="34" charset="-122"/>
                <a:cs typeface="Source Serif 4" pitchFamily="34" charset="-120"/>
              </a:rPr>
              <a:t>Governed autonomy</a:t>
            </a:r>
            <a:endParaRPr lang="en-US" sz="1600" dirty="0"/>
          </a:p>
        </p:txBody>
      </p:sp>
      <p:sp>
        <p:nvSpPr>
          <p:cNvPr id="25" name="Text 23"/>
          <p:cNvSpPr/>
          <p:nvPr/>
        </p:nvSpPr>
        <p:spPr>
          <a:xfrm>
            <a:off x="9036050" y="2668141"/>
            <a:ext cx="2223770"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0344B"/>
                </a:solidFill>
                <a:latin typeface="IBM Plex Sans" pitchFamily="34" charset="0"/>
                <a:ea typeface="IBM Plex Sans" pitchFamily="34" charset="-122"/>
                <a:cs typeface="IBM Plex Sans" pitchFamily="34" charset="-120"/>
              </a:rPr>
              <a:t>Keel:</a:t>
            </a:r>
            <a:r>
              <a:rPr lang="en-US" sz="1200" dirty="0">
                <a:solidFill>
                  <a:srgbClr val="20344B"/>
                </a:solidFill>
                <a:latin typeface="IBM Plex Sans" pitchFamily="34" charset="0"/>
                <a:ea typeface="IBM Plex Sans" pitchFamily="34" charset="-122"/>
                <a:cs typeface="IBM Plex Sans" pitchFamily="34" charset="-120"/>
              </a:rPr>
              <a:t> regulatory change discovery; 50 states</a:t>
            </a:r>
            <a:endParaRPr lang="en-US" sz="1200" dirty="0"/>
          </a:p>
        </p:txBody>
      </p:sp>
      <p:sp>
        <p:nvSpPr>
          <p:cNvPr id="26" name="Text 24"/>
          <p:cNvSpPr/>
          <p:nvPr/>
        </p:nvSpPr>
        <p:spPr>
          <a:xfrm>
            <a:off x="9036050" y="3168501"/>
            <a:ext cx="2223770"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0344B"/>
                </a:solidFill>
                <a:latin typeface="IBM Plex Sans" pitchFamily="34" charset="0"/>
                <a:ea typeface="IBM Plex Sans" pitchFamily="34" charset="-122"/>
                <a:cs typeface="IBM Plex Sans" pitchFamily="34" charset="-120"/>
              </a:rPr>
              <a:t>North Star:</a:t>
            </a:r>
            <a:r>
              <a:rPr lang="en-US" sz="1200" dirty="0">
                <a:solidFill>
                  <a:srgbClr val="20344B"/>
                </a:solidFill>
                <a:latin typeface="IBM Plex Sans" pitchFamily="34" charset="0"/>
                <a:ea typeface="IBM Plex Sans" pitchFamily="34" charset="-122"/>
                <a:cs typeface="IBM Plex Sans" pitchFamily="34" charset="-120"/>
              </a:rPr>
              <a:t> governed tools in clients' own copilots</a:t>
            </a:r>
            <a:endParaRPr lang="en-US" sz="1200" dirty="0"/>
          </a:p>
        </p:txBody>
      </p:sp>
      <p:sp>
        <p:nvSpPr>
          <p:cNvPr id="27" name="Text 25"/>
          <p:cNvSpPr/>
          <p:nvPr/>
        </p:nvSpPr>
        <p:spPr>
          <a:xfrm>
            <a:off x="9036050" y="3668861"/>
            <a:ext cx="222377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7188"/>
                </a:solidFill>
                <a:latin typeface="IBM Plex Sans" pitchFamily="34" charset="0"/>
                <a:ea typeface="IBM Plex Sans" pitchFamily="34" charset="-122"/>
                <a:cs typeface="IBM Plex Sans" pitchFamily="34" charset="-120"/>
              </a:rPr>
              <a:t>Gate: MTBH ≥97% sustained</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The Keel and the North Star · 13 · Gates follow the IIH roadmap; no phase opens until the last gate passes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8A951"/>
                </a:solidFill>
                <a:latin typeface="IBM Plex Sans" pitchFamily="34" charset="0"/>
                <a:ea typeface="IBM Plex Sans" pitchFamily="34" charset="-122"/>
                <a:cs typeface="IBM Plex Sans" pitchFamily="34" charset="-120"/>
              </a:rPr>
              <a:t>NEXT STEPS</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4F7FB"/>
                </a:solidFill>
                <a:latin typeface="Source Serif 4" pitchFamily="34" charset="0"/>
                <a:ea typeface="Source Serif 4" pitchFamily="34" charset="-122"/>
                <a:cs typeface="Source Serif 4" pitchFamily="34" charset="-120"/>
              </a:rPr>
              <a:t>Four decisions to start</a:t>
            </a:r>
            <a:endParaRPr lang="en-US" sz="3600" dirty="0"/>
          </a:p>
        </p:txBody>
      </p:sp>
      <p:sp>
        <p:nvSpPr>
          <p:cNvPr id="4" name="Shape 2"/>
          <p:cNvSpPr/>
          <p:nvPr/>
        </p:nvSpPr>
        <p:spPr>
          <a:xfrm>
            <a:off x="812800" y="1935411"/>
            <a:ext cx="5194300" cy="1175990"/>
          </a:xfrm>
          <a:prstGeom prst="roundRect">
            <a:avLst>
              <a:gd name="adj" fmla="val 8640"/>
            </a:avLst>
          </a:prstGeom>
          <a:solidFill>
            <a:srgbClr val="12305A"/>
          </a:solidFill>
          <a:ln/>
        </p:spPr>
      </p:sp>
      <p:sp>
        <p:nvSpPr>
          <p:cNvPr id="5" name="Text 3"/>
          <p:cNvSpPr/>
          <p:nvPr/>
        </p:nvSpPr>
        <p:spPr>
          <a:xfrm>
            <a:off x="1016000" y="2138611"/>
            <a:ext cx="493153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4C572"/>
                </a:solidFill>
                <a:latin typeface="IBM Plex Sans" pitchFamily="34" charset="0"/>
                <a:ea typeface="IBM Plex Sans" pitchFamily="34" charset="-122"/>
                <a:cs typeface="IBM Plex Sans" pitchFamily="34" charset="-120"/>
              </a:rPr>
              <a:t>1 · Charter the council</a:t>
            </a:r>
            <a:endParaRPr lang="en-US" sz="1600" dirty="0"/>
          </a:p>
        </p:txBody>
      </p:sp>
      <p:sp>
        <p:nvSpPr>
          <p:cNvPr id="6" name="Text 4"/>
          <p:cNvSpPr/>
          <p:nvPr/>
        </p:nvSpPr>
        <p:spPr>
          <a:xfrm>
            <a:off x="1016000" y="2445941"/>
            <a:ext cx="493153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6"/>
                </a:solidFill>
                <a:latin typeface="IBM Plex Sans" pitchFamily="34" charset="0"/>
                <a:ea typeface="IBM Plex Sans" pitchFamily="34" charset="-122"/>
                <a:cs typeface="IBM Plex Sans" pitchFamily="34" charset="-120"/>
              </a:rPr>
              <a:t>Legal, compliance, domain owners and architecture, with authority over rule changes</a:t>
            </a:r>
            <a:endParaRPr lang="en-US" sz="1300" dirty="0"/>
          </a:p>
        </p:txBody>
      </p:sp>
      <p:sp>
        <p:nvSpPr>
          <p:cNvPr id="7" name="Shape 5"/>
          <p:cNvSpPr/>
          <p:nvPr/>
        </p:nvSpPr>
        <p:spPr>
          <a:xfrm>
            <a:off x="6184900" y="1935411"/>
            <a:ext cx="5194300" cy="1175990"/>
          </a:xfrm>
          <a:prstGeom prst="roundRect">
            <a:avLst>
              <a:gd name="adj" fmla="val 8640"/>
            </a:avLst>
          </a:prstGeom>
          <a:solidFill>
            <a:srgbClr val="12305A"/>
          </a:solidFill>
          <a:ln/>
        </p:spPr>
      </p:sp>
      <p:sp>
        <p:nvSpPr>
          <p:cNvPr id="8" name="Text 6"/>
          <p:cNvSpPr/>
          <p:nvPr/>
        </p:nvSpPr>
        <p:spPr>
          <a:xfrm>
            <a:off x="6388100" y="2138611"/>
            <a:ext cx="493153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4C572"/>
                </a:solidFill>
                <a:latin typeface="IBM Plex Sans" pitchFamily="34" charset="0"/>
                <a:ea typeface="IBM Plex Sans" pitchFamily="34" charset="-122"/>
                <a:cs typeface="IBM Plex Sans" pitchFamily="34" charset="-120"/>
              </a:rPr>
              <a:t>2 · Confirm the Microsoft footprint</a:t>
            </a:r>
            <a:endParaRPr lang="en-US" sz="1600" dirty="0"/>
          </a:p>
        </p:txBody>
      </p:sp>
      <p:sp>
        <p:nvSpPr>
          <p:cNvPr id="9" name="Text 7"/>
          <p:cNvSpPr/>
          <p:nvPr/>
        </p:nvSpPr>
        <p:spPr>
          <a:xfrm>
            <a:off x="6388100" y="2445941"/>
            <a:ext cx="493153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6"/>
                </a:solidFill>
                <a:latin typeface="IBM Plex Sans" pitchFamily="34" charset="0"/>
                <a:ea typeface="IBM Plex Sans" pitchFamily="34" charset="-122"/>
                <a:cs typeface="IBM Plex Sans" pitchFamily="34" charset="-120"/>
              </a:rPr>
              <a:t>Purview, Fabric capacity and Copilot Studio licensing set which adapters go first</a:t>
            </a:r>
            <a:endParaRPr lang="en-US" sz="1300" dirty="0"/>
          </a:p>
        </p:txBody>
      </p:sp>
      <p:sp>
        <p:nvSpPr>
          <p:cNvPr id="10" name="Shape 8"/>
          <p:cNvSpPr/>
          <p:nvPr/>
        </p:nvSpPr>
        <p:spPr>
          <a:xfrm>
            <a:off x="812800" y="3289201"/>
            <a:ext cx="5194300" cy="1175990"/>
          </a:xfrm>
          <a:prstGeom prst="roundRect">
            <a:avLst>
              <a:gd name="adj" fmla="val 8640"/>
            </a:avLst>
          </a:prstGeom>
          <a:solidFill>
            <a:srgbClr val="12305A"/>
          </a:solidFill>
          <a:ln/>
        </p:spPr>
      </p:sp>
      <p:sp>
        <p:nvSpPr>
          <p:cNvPr id="11" name="Text 9"/>
          <p:cNvSpPr/>
          <p:nvPr/>
        </p:nvSpPr>
        <p:spPr>
          <a:xfrm>
            <a:off x="1016000" y="3492401"/>
            <a:ext cx="493153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4C572"/>
                </a:solidFill>
                <a:latin typeface="IBM Plex Sans" pitchFamily="34" charset="0"/>
                <a:ea typeface="IBM Plex Sans" pitchFamily="34" charset="-122"/>
                <a:cs typeface="IBM Plex Sans" pitchFamily="34" charset="-120"/>
              </a:rPr>
              <a:t>3 · Set the platform order</a:t>
            </a:r>
            <a:endParaRPr lang="en-US" sz="1600" dirty="0"/>
          </a:p>
        </p:txBody>
      </p:sp>
      <p:sp>
        <p:nvSpPr>
          <p:cNvPr id="12" name="Text 10"/>
          <p:cNvSpPr/>
          <p:nvPr/>
        </p:nvSpPr>
        <p:spPr>
          <a:xfrm>
            <a:off x="1016000" y="3799731"/>
            <a:ext cx="493153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6"/>
                </a:solidFill>
                <a:latin typeface="IBM Plex Sans" pitchFamily="34" charset="0"/>
                <a:ea typeface="IBM Plex Sans" pitchFamily="34" charset="-122"/>
                <a:cs typeface="IBM Plex Sans" pitchFamily="34" charset="-120"/>
              </a:rPr>
              <a:t>HRScale on Workday and Insperity payroll decide the parity test scope</a:t>
            </a:r>
            <a:endParaRPr lang="en-US" sz="1300" dirty="0"/>
          </a:p>
        </p:txBody>
      </p:sp>
      <p:sp>
        <p:nvSpPr>
          <p:cNvPr id="13" name="Shape 11"/>
          <p:cNvSpPr/>
          <p:nvPr/>
        </p:nvSpPr>
        <p:spPr>
          <a:xfrm>
            <a:off x="6184900" y="3289201"/>
            <a:ext cx="5194300" cy="1175990"/>
          </a:xfrm>
          <a:prstGeom prst="roundRect">
            <a:avLst>
              <a:gd name="adj" fmla="val 8640"/>
            </a:avLst>
          </a:prstGeom>
          <a:solidFill>
            <a:srgbClr val="12305A"/>
          </a:solidFill>
          <a:ln/>
        </p:spPr>
      </p:sp>
      <p:sp>
        <p:nvSpPr>
          <p:cNvPr id="14" name="Text 12"/>
          <p:cNvSpPr/>
          <p:nvPr/>
        </p:nvSpPr>
        <p:spPr>
          <a:xfrm>
            <a:off x="6388100" y="3492401"/>
            <a:ext cx="493153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4C572"/>
                </a:solidFill>
                <a:latin typeface="IBM Plex Sans" pitchFamily="34" charset="0"/>
                <a:ea typeface="IBM Plex Sans" pitchFamily="34" charset="-122"/>
                <a:cs typeface="IBM Plex Sans" pitchFamily="34" charset="-120"/>
              </a:rPr>
              <a:t>4 · Bring the compass mark in</a:t>
            </a:r>
            <a:endParaRPr lang="en-US" sz="1600" dirty="0"/>
          </a:p>
        </p:txBody>
      </p:sp>
      <p:sp>
        <p:nvSpPr>
          <p:cNvPr id="15" name="Text 13"/>
          <p:cNvSpPr/>
          <p:nvPr/>
        </p:nvSpPr>
        <p:spPr>
          <a:xfrm>
            <a:off x="6388100" y="3799731"/>
            <a:ext cx="493153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6"/>
                </a:solidFill>
                <a:latin typeface="IBM Plex Sans" pitchFamily="34" charset="0"/>
                <a:ea typeface="IBM Plex Sans" pitchFamily="34" charset="-122"/>
                <a:cs typeface="IBM Plex Sans" pitchFamily="34" charset="-120"/>
              </a:rPr>
              <a:t>The brand team approves the mark as the entry point for search and navigation</a:t>
            </a:r>
            <a:endParaRPr lang="en-US" sz="1300" dirty="0"/>
          </a:p>
        </p:txBody>
      </p:sp>
      <p:sp>
        <p:nvSpPr>
          <p:cNvPr id="16" name="Text 14"/>
          <p:cNvSpPr/>
          <p:nvPr/>
        </p:nvSpPr>
        <p:spPr>
          <a:xfrm>
            <a:off x="812800" y="4769991"/>
            <a:ext cx="1046480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F4F7FB"/>
                </a:solidFill>
                <a:latin typeface="Source Serif 4" pitchFamily="34" charset="0"/>
                <a:ea typeface="Source Serif 4" pitchFamily="34" charset="-122"/>
                <a:cs typeface="Source Serif 4" pitchFamily="34" charset="-120"/>
              </a:rPr>
              <a:t>The mark already points north. </a:t>
            </a:r>
            <a:r>
              <a:rPr lang="en-US" sz="2200" dirty="0">
                <a:solidFill>
                  <a:srgbClr val="C8A951"/>
                </a:solidFill>
                <a:latin typeface="Source Serif 4" pitchFamily="34" charset="0"/>
                <a:ea typeface="Source Serif 4" pitchFamily="34" charset="-122"/>
                <a:cs typeface="Source Serif 4" pitchFamily="34" charset="-120"/>
              </a:rPr>
              <a:t>The Keel keeps the company on that heading.</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Keel and the North Star</dc:title>
  <dc:subject>PptxGenJS Presentation</dc:subject>
  <dc:creator>PptxGenJS</dc:creator>
  <cp:lastModifiedBy>PptxGenJS</cp:lastModifiedBy>
  <cp:revision>1</cp:revision>
  <dcterms:created xsi:type="dcterms:W3CDTF">2026-09-26T16:40:28Z</dcterms:created>
  <dcterms:modified xsi:type="dcterms:W3CDTF">2026-09-26T16:40:28Z</dcterms:modified>
</cp:coreProperties>
</file>