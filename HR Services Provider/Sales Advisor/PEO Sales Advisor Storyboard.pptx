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this storyboard: walk technical leaders through the approach and design of the PEO Sales Advisor, why it is split into separate function points, how the two hard problems (metadata mining and human review of agentic learning) are handled, and what each of the seven working artifacts shows. All figures and rule IDs come from the prototypes; values in them are illustrative or proposed, not live Insperity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problem, not the technology. Three failure modes: content without shared metadata, search that returns documents instead of claims, and AI answers nobody can audit. The design goal in the band at the bottom is the test every later slide is held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keel keeps the ship on course and holds Insperity's IP: ontologies, rules and mappings that do not drift with any one tool. The North Star is the governed, traceable meaning behind every decision and AI answer, and the outcomes it is measured against. The agent fabric between them is replaceable; the Keel is not. This is what lets the solution sit on HRScale (Workday) and extend Copilot without being locked into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Sources never talk to personas directly: every item passes the same seven pipeline stages and lands in the Keel as validated RDF. The agent fabric only reads what the Keel has released. The feedback loop is what makes this a learning system without letting it learn unsupervised: monitors propose changes back into the Keel, where people review them. Full interactive version: Architecture tab of the PEO Sales Advisor console.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same six accelerators from the Accelerator Console, now with concrete jobs in one solution. The last line on each card names the artifact where you can see it working. Violet: governance and decision structure. Teal: the Keel. Gold: delivery. Red: the safety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rationale for technical leaders. A monolithic advisor would bind sources, models, rules and UI together, so any change risks everything and nothing can be reused. Splitting into function points with versioned contracts means a SharePoint restructure, a new LLM, a rule change or a Copilot update each lands in one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across each row: what the function point owns, the only thing the others are allowed to depend on, and who else can use it. Note the AI fabric row: enrichment never publishes on its own. It produces candidates that the SSOT rules and SHACL validation must pass before anything reaches the Keel. That boundary is what makes agentic enrichment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direct about the current state: there is no formal modeling environment in place. That is not a blocker because the assets are standards-based files, not tool-specific models. Vocabularies and taxonomies come first because the AI fabric needs them to tag content; ontologies and SHACL shapes follow so the pipeline can validate what it publishes. Once access to the sources is granted, the sandbox assets drive a working prototype on one SharePoint library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hardest engineering problem in the solution and should be named as such. The content management systems were never designed to carry persona, job step, claim or validity metadata. The AI fabric mines it, but under rules: every enrichment is a candidate with a confidence score, governed by an EXT rule in the SSOT, and published only after SHACL validation. Precision of the whole advisor is bounded by the precision of this step, which is why the P1 gate requires classification precision of at least 0.90 on a labeled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example left to right. Stage 4 is where entitlements matter: the slide with internal margin assumptions is excluded from any persona assembly by rule EXT-006, so it can never leak into a brief. Stage 5 is the AI fabric at work: atomic claims keep their exact slide and cell span (EXT-007), which is what lets a brief cite precisely. Stage 6 binds claims to SSOT rules such as BEN-003, so when the rule changes, the impact agent knows which claims and briefs to refresh. Try it live in the Pipelines tab of the Sales Advisor console.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step in the chain is a separate service, which is the function-point principle applied to search. The mapping step is what lets the same question find content written in Insperity terms, competitor terms and regulator terms. The pills are the phase P2 gate targets from the roadmap. Try a persona question in the Advisor tab of the console to watch the chain run and read the assembled brief with citations and access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agents are deliberately small and single-purpose. Logic they share lives in the 25 microservices (for example the Policy Decision Service), so the same capability is not re-implemented per agent. The autonomy level is a governed attribute in the Agent Editor: Advise agents produce candidates for a person or a downstream gate; Act agents can write, but only to their declared target. The PII detector is the one enrichment agent that may act, and only to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component in the supply chain, from a vocabulary term to an agent, uses the same four-state lifecycle that the SSOT Editor and Agent Editor already implement. Automated checks move a Draft to Candidate; only a named person moves Candidate to Approved. Downloads and deployments build from Released versions only. The reviewer roles shown are a proposed starting point to confirm with Insperity; the Semantic Governance Council is the body the rules map already routes proposals to. Change severity is MAJOR, MINOR or PATCH, and MAJOR changes force re-testing of every consumer.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quality by design applied to AI. The unit of control is the decision question, not the model. Each question's baseline record pins the data, content, knowledge, mappings and transformations its answer depends on, plus the answer itself. Tier H questions, the ones that change a decision or create legal or financial exposure, get stricter grounding floors and breaker thresholds. The point for technical leaders: learning is allowed, but only through the same gated lifecycle as every other component, and a breaking change is caught before a prospect sees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the tour here. Eight tabs: Architecture, Pipelines, Agents, Advisor, SSOT rules, Value gaps, Change and causal, Roadmap. The Advisor tab is the best demo: choose a Client Admin or HR Specialist question, watch the faceted search chain, read the brief with its citations and access labels, then choose a decision and see the orchestrated events and which later decisions it changes. Rule IDs from the HR Compliance SSOT are real register IDs; EXT rules, namespaces, agents and metrics are proposed extensions with synthetic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personas reuse an existing persona ontology rather than inventing a new one; only one class is missing (the ontology has PersonaType subclasses for engineering roles only), so each buyer persona is asserted as a new isp-sal subclass pending steward review. Baselines are filled only where the advisor's value-gap monitor already measures them; importance and satisfaction columns are left empty for an outcome survey with real buyers.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personas, six job steps each, one decision and four questions per step: 48 questions. Golden answers are authored by subject-matter experts and frozen at gate G1. Each question has lineage back to the data, content, knowledge, mappings and transformations it depends on. The circuit breakers tab shows the state machine and lets you push an agent toward a trip. This artifact is the concrete answer to "how do you validate agentic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proposed rules use the register's own 14-field format, so they slot into the existing HR Compliance SSOT rather than a parallel store. Families include governance on demand, controls mapped to ISO/IEC 27001 Annex A, SOC 2 and NIST 800-53, decision rights, event patterns, agent governance (an MTBH breaker and owner for every agent) and sales conduct. Published calcs carry pinned rule versions and small-cut suppression (k of at least 5). Standards applicability, for example insurance producer licensing and state AI laws, still needs counsel confirmation.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human-in-the-loop review for the Keel actually happens: rules and concepts move Draft, Candidate, Approved, Released, with CI-style checks and MAJOR, MINOR or PATCH change severity. It can load the existing policy rules register, so it works with what Insperity already has. Pair it with the Rules and Standards Map: the map says what must exist; the editor is where it is authored and released.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Editor is the sibling of the SSOT Editor: same lifecycle, same review discipline, applied to agents and microservices. Downloads of Copilot code always build from Released versions, so nothing unreviewed can ship. This answers the integration and interoperability question directly: Copilot and Foundry consume the agents, but the rules and meaning they rely on stay in the Keel.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compresses the design console's sequential roadmap into overlapping phases: a later phase starts as soon as the interface contracts and upstream items it needs exist, while gates stay the decision points. Buffer consumption is shown green, amber and red; a red buffer is the signal to replan before its gate. Business value weights are equal by default until the sponsor sets them at G0, and no component has been assessed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phase opens its North Star work until the Keel work it depends on is Released. Gate figures are the design targets from the console's Roadmap tab. Full P1 gate also requires at least 20,000 content objects published; P2 also requires every decision bound to a Released metric card; P3 also requires each causal finding reviewed by an owner within 10 days. Decide with the sponsor which schedule to commit to: the sequential 15-month plan or the compressed plan in the PLM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specific about the asks. The semantic assets can be built now in the sandbox; a working prototype needs access to real sources. A thin vertical slice proves every function point and contract end to end before scaling out to more sources and job steps. Access should be read-only throughout; the advisor never writes back to source systems except through orchestrated events that are themselves governed.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reuse, because it is the payoff of separating the function points. The second team does not rebuild ingestion, enrichment, rules or governance; it adds its personas, job steps and questions to the Keel and calls the same released services. The next consumers listed are candidates to validate with Insperity's leaders, not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F6F9"/>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558800"/>
          </a:xfrm>
          <a:prstGeom prst="rect">
            <a:avLst/>
          </a:prstGeom>
          <a:noFill/>
          <a:ln/>
        </p:spPr>
        <p:txBody>
          <a:bodyPr wrap="square" lIns="0" tIns="0" rIns="0" bIns="0" rtlCol="0" anchor="t"/>
          <a:lstStyle>
            <a:lvl1pPr algn="l" indent="0" marL="0">
              <a:lnSpc>
                <a:spcPct val="115000"/>
              </a:lnSpc>
              <a:buNone/>
              <a:defRPr lang="en-US" sz="3600" dirty="0">
                <a:solidFill>
                  <a:srgbClr val="16202B"/>
                </a:solidFill>
                <a:latin typeface="Big Shoulders" pitchFamily="34" charset="0"/>
                <a:ea typeface="Big Shoulders" pitchFamily="34" charset="-122"/>
                <a:cs typeface="Big Shoulder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65920"/>
            <a:ext cx="10566400" cy="4079280"/>
          </a:xfrm>
          <a:prstGeom prst="rect">
            <a:avLst/>
          </a:prstGeom>
          <a:noFill/>
          <a:ln/>
        </p:spPr>
        <p:txBody>
          <a:bodyPr wrap="square" lIns="0" tIns="0" rIns="0" bIns="0" rtlCol="0" anchor="t"/>
          <a:lstStyle>
            <a:lvl1pPr algn="l" indent="0" marL="0">
              <a:lnSpc>
                <a:spcPct val="140000"/>
              </a:lnSpc>
              <a:buNone/>
              <a:defRPr lang="en-US" sz="1600" dirty="0">
                <a:solidFill>
                  <a:srgbClr val="1620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6F9"/>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558800"/>
          </a:xfrm>
          <a:prstGeom prst="rect">
            <a:avLst/>
          </a:prstGeom>
          <a:noFill/>
          <a:ln/>
        </p:spPr>
        <p:txBody>
          <a:bodyPr wrap="square" lIns="0" tIns="0" rIns="0" bIns="0" rtlCol="0" anchor="t"/>
          <a:lstStyle>
            <a:lvl1pPr algn="l" indent="0" marL="0">
              <a:lnSpc>
                <a:spcPct val="115000"/>
              </a:lnSpc>
              <a:buNone/>
              <a:defRPr lang="en-US" sz="3600" dirty="0">
                <a:solidFill>
                  <a:srgbClr val="16202B"/>
                </a:solidFill>
                <a:latin typeface="Big Shoulders" pitchFamily="34" charset="0"/>
                <a:ea typeface="Big Shoulders" pitchFamily="34" charset="-122"/>
                <a:cs typeface="Big Shoulder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65920"/>
            <a:ext cx="10566400" cy="4079280"/>
          </a:xfrm>
          <a:prstGeom prst="rect">
            <a:avLst/>
          </a:prstGeom>
          <a:noFill/>
          <a:ln/>
        </p:spPr>
        <p:txBody>
          <a:bodyPr wrap="square" lIns="0" tIns="0" rIns="0" bIns="0" rtlCol="0" anchor="t"/>
          <a:lstStyle>
            <a:lvl1pPr algn="l" indent="0" marL="0">
              <a:lnSpc>
                <a:spcPct val="140000"/>
              </a:lnSpc>
              <a:buNone/>
              <a:defRPr lang="en-US" sz="1600" dirty="0">
                <a:solidFill>
                  <a:srgbClr val="1620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claude.ai/artifact/WJWtngyvc82be89ncRqNrB" TargetMode="External"/><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claude.ai/artifact/MMaBGE42ZaGuQU3AThYsMK" TargetMode="Externa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claude.ai/artifact/VpSSKx3ETaSpYxeJfM1Kkn" TargetMode="External"/><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claude.ai/artifact/Fyf4a8jVGgBrLbkAuDVUFv" TargetMode="External"/><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claude.ai/artifact/BzAWvkVadS2h1mmUAMqNHR" TargetMode="External"/><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claude.ai/artifact/XaWZRRxCDcC4gg7Y4s8nv6" TargetMode="External"/><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claude.ai/artifact/NoaCv8KqSdch8EmbL2mwRW" TargetMode="External"/><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2.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2B"/>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gradFill rotWithShape="1">
            <a:gsLst>
              <a:gs pos="0">
                <a:srgbClr val="1F6E8C"/>
              </a:gs>
              <a:gs pos="55000">
                <a:srgbClr val="1F6E8C"/>
              </a:gs>
              <a:gs pos="55000">
                <a:srgbClr val="E2B44E"/>
              </a:gs>
              <a:gs pos="100000">
                <a:srgbClr val="E2B44E"/>
              </a:gs>
            </a:gsLst>
            <a:lin ang="5400000" scaled="0"/>
          </a:gradFill>
          <a:ln/>
        </p:spPr>
      </p:sp>
      <p:sp>
        <p:nvSpPr>
          <p:cNvPr id="3" name="Text 1"/>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E2B44E"/>
                </a:solidFill>
                <a:latin typeface="IBM Plex Mono" pitchFamily="49" charset="0"/>
                <a:ea typeface="IBM Plex Mono" pitchFamily="49" charset="-122"/>
                <a:cs typeface="IBM Plex Mono" pitchFamily="49" charset="-120"/>
              </a:rPr>
              <a:t>STORYBOARD · APPROACH AND DESIGN</a:t>
            </a:r>
            <a:endParaRPr lang="en-US" sz="1400" dirty="0"/>
          </a:p>
        </p:txBody>
      </p:sp>
      <p:sp>
        <p:nvSpPr>
          <p:cNvPr id="4" name="Text 2"/>
          <p:cNvSpPr/>
          <p:nvPr>
            <p:ph type="title"/>
          </p:nvPr>
        </p:nvSpPr>
        <p:spPr>
          <a:xfrm>
            <a:off x="812800" y="2439095"/>
            <a:ext cx="10883392" cy="1111250"/>
          </a:xfrm>
          <a:prstGeom prst="rect">
            <a:avLst/>
          </a:prstGeom>
          <a:noFill/>
          <a:ln/>
        </p:spPr>
        <p:txBody>
          <a:bodyPr wrap="square" lIns="0" tIns="0" rIns="0" bIns="0" rtlCol="0" anchor="t">
            <a:normAutofit/>
          </a:bodyPr>
          <a:lstStyle/>
          <a:p>
            <a:pPr algn="l" indent="0" marL="0">
              <a:lnSpc>
                <a:spcPts val="8550"/>
              </a:lnSpc>
              <a:buNone/>
            </a:pPr>
            <a:r>
              <a:rPr lang="en-US" sz="9000" b="1" i="0" dirty="0">
                <a:solidFill>
                  <a:srgbClr val="EAF0F6"/>
                </a:solidFill>
                <a:latin typeface="Big Shoulders" pitchFamily="34" charset="0"/>
                <a:ea typeface="Big Shoulders" pitchFamily="34" charset="-122"/>
                <a:cs typeface="Big Shoulders" pitchFamily="34" charset="-120"/>
              </a:rPr>
              <a:t>PEO Sales Advisor</a:t>
            </a:r>
            <a:endParaRPr lang="en-US" sz="9000" dirty="0"/>
          </a:p>
        </p:txBody>
      </p:sp>
      <p:sp>
        <p:nvSpPr>
          <p:cNvPr id="5" name="Text 3"/>
          <p:cNvSpPr/>
          <p:nvPr/>
        </p:nvSpPr>
        <p:spPr>
          <a:xfrm>
            <a:off x="812800" y="3728145"/>
            <a:ext cx="9156700" cy="75178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D5E0"/>
                </a:solidFill>
                <a:latin typeface="IBM Plex Sans" pitchFamily="34" charset="0"/>
                <a:ea typeface="IBM Plex Sans" pitchFamily="34" charset="-122"/>
                <a:cs typeface="IBM Plex Sans" pitchFamily="34" charset="-120"/>
              </a:rPr>
              <a:t>A governed advisor for the Client Admin and HR Specialist, built on the Keel &amp; North Star architecture and the six accelerators</a:t>
            </a:r>
            <a:endParaRPr lang="en-US" sz="2200" dirty="0"/>
          </a:p>
        </p:txBody>
      </p:sp>
      <p:sp>
        <p:nvSpPr>
          <p:cNvPr id="6" name="Text 4"/>
          <p:cNvSpPr/>
          <p:nvPr/>
        </p:nvSpPr>
        <p:spPr>
          <a:xfrm>
            <a:off x="812800" y="5831880"/>
            <a:ext cx="26822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B3D2"/>
                </a:solidFill>
                <a:latin typeface="IBM Plex Mono" pitchFamily="49" charset="0"/>
                <a:ea typeface="IBM Plex Mono" pitchFamily="49" charset="-122"/>
                <a:cs typeface="IBM Plex Mono" pitchFamily="49" charset="-120"/>
              </a:rPr>
              <a:t>KEEL · what must stay true</a:t>
            </a:r>
            <a:endParaRPr lang="en-US" sz="1200" dirty="0"/>
          </a:p>
        </p:txBody>
      </p:sp>
      <p:sp>
        <p:nvSpPr>
          <p:cNvPr id="7" name="Text 5"/>
          <p:cNvSpPr/>
          <p:nvPr/>
        </p:nvSpPr>
        <p:spPr>
          <a:xfrm>
            <a:off x="3495080" y="5831880"/>
            <a:ext cx="36210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2B44E"/>
                </a:solidFill>
                <a:latin typeface="IBM Plex Mono" pitchFamily="49" charset="0"/>
                <a:ea typeface="IBM Plex Mono" pitchFamily="49" charset="-122"/>
                <a:cs typeface="IBM Plex Mono" pitchFamily="49" charset="-120"/>
              </a:rPr>
              <a:t>NORTH STAR · what personas act on</a:t>
            </a:r>
            <a:endParaRPr lang="en-US" sz="1200" dirty="0"/>
          </a:p>
        </p:txBody>
      </p:sp>
      <p:sp>
        <p:nvSpPr>
          <p:cNvPr id="8" name="Text 6"/>
          <p:cNvSpPr/>
          <p:nvPr/>
        </p:nvSpPr>
        <p:spPr>
          <a:xfrm>
            <a:off x="7300020" y="5831880"/>
            <a:ext cx="48919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3A3B4"/>
                </a:solidFill>
                <a:latin typeface="IBM Plex Sans" pitchFamily="34" charset="0"/>
                <a:ea typeface="IBM Plex Sans" pitchFamily="34" charset="-122"/>
                <a:cs typeface="IBM Plex Sans" pitchFamily="34" charset="-120"/>
              </a:rPr>
              <a:t>Jeffrey Wallk · The Value Enablement Group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6141"/>
          </a:xfrm>
          <a:prstGeom prst="rect">
            <a:avLst/>
          </a:prstGeom>
          <a:noFill/>
          <a:ln/>
        </p:spPr>
        <p:txBody>
          <a:bodyPr wrap="square" lIns="0" tIns="0" rIns="0" bIns="0" rtlCol="0" anchor="t">
            <a:normAutofit/>
          </a:bodyPr>
          <a:lstStyle/>
          <a:p>
            <a:pPr algn="l" indent="0" marL="0">
              <a:lnSpc>
                <a:spcPts val="1675"/>
              </a:lnSpc>
              <a:buNone/>
            </a:pPr>
            <a:r>
              <a:rPr lang="en-US" sz="1196" spc="150" kern="0" dirty="0">
                <a:solidFill>
                  <a:srgbClr val="1F6E8C"/>
                </a:solidFill>
                <a:latin typeface="IBM Plex Mono" pitchFamily="49" charset="0"/>
                <a:ea typeface="IBM Plex Mono" pitchFamily="49" charset="-122"/>
                <a:cs typeface="IBM Plex Mono" pitchFamily="49" charset="-120"/>
              </a:rPr>
              <a:t>THE PROBLEM</a:t>
            </a:r>
            <a:endParaRPr lang="en-US" sz="1196" dirty="0"/>
          </a:p>
        </p:txBody>
      </p:sp>
      <p:sp>
        <p:nvSpPr>
          <p:cNvPr id="3" name="Text 1"/>
          <p:cNvSpPr/>
          <p:nvPr>
            <p:ph type="title"/>
          </p:nvPr>
        </p:nvSpPr>
        <p:spPr>
          <a:xfrm>
            <a:off x="812800" y="1099741"/>
            <a:ext cx="10883392" cy="973882"/>
          </a:xfrm>
          <a:prstGeom prst="rect">
            <a:avLst/>
          </a:prstGeom>
          <a:noFill/>
          <a:ln/>
        </p:spPr>
        <p:txBody>
          <a:bodyPr wrap="square" lIns="0" tIns="0" rIns="0" bIns="0" rtlCol="0" anchor="t">
            <a:normAutofit/>
          </a:bodyPr>
          <a:lstStyle/>
          <a:p>
            <a:pPr algn="l" indent="0" marL="0">
              <a:lnSpc>
                <a:spcPts val="3733"/>
              </a:lnSpc>
              <a:buNone/>
            </a:pPr>
            <a:r>
              <a:rPr lang="en-US" sz="3555" b="1" i="0" dirty="0">
                <a:solidFill>
                  <a:srgbClr val="16202B"/>
                </a:solidFill>
                <a:latin typeface="Big Shoulders" pitchFamily="34" charset="0"/>
                <a:ea typeface="Big Shoulders" pitchFamily="34" charset="-122"/>
                <a:cs typeface="Big Shoulders" pitchFamily="34" charset="-120"/>
              </a:rPr>
              <a:t>Sales knowledge is everywhere, and nowhere you can trust it</a:t>
            </a:r>
            <a:endParaRPr lang="en-US" sz="3555" dirty="0"/>
          </a:p>
        </p:txBody>
      </p:sp>
      <p:sp>
        <p:nvSpPr>
          <p:cNvPr id="4" name="Shape 2"/>
          <p:cNvSpPr/>
          <p:nvPr/>
        </p:nvSpPr>
        <p:spPr>
          <a:xfrm>
            <a:off x="812800" y="2353022"/>
            <a:ext cx="3386634" cy="2164507"/>
          </a:xfrm>
          <a:prstGeom prst="roundRect">
            <a:avLst>
              <a:gd name="adj" fmla="val 3520"/>
            </a:avLst>
          </a:prstGeom>
          <a:solidFill>
            <a:srgbClr val="FCFDFE"/>
          </a:solidFill>
          <a:ln/>
          <a:effectLst>
            <a:outerShdw sx="100000" sy="100000" kx="0" ky="0" algn="bl" rotWithShape="0" blurRad="63500" dist="12700" dir="5400000">
              <a:srgbClr val="16202B">
                <a:alpha val="8000"/>
              </a:srgbClr>
            </a:outerShdw>
          </a:effectLst>
        </p:spPr>
      </p:sp>
      <p:sp>
        <p:nvSpPr>
          <p:cNvPr id="5" name="Shape 3"/>
          <p:cNvSpPr/>
          <p:nvPr/>
        </p:nvSpPr>
        <p:spPr>
          <a:xfrm>
            <a:off x="812800" y="2353022"/>
            <a:ext cx="3386634" cy="2164507"/>
          </a:xfrm>
          <a:custGeom>
            <a:avLst/>
            <a:gdLst/>
            <a:ahLst/>
            <a:cxnLst/>
            <a:rect l="l" t="t" r="r" b="b"/>
            <a:pathLst>
              <a:path w="3386634" h="2164507">
                <a:moveTo>
                  <a:pt x="0" y="76200"/>
                </a:moveTo>
                <a:lnTo>
                  <a:pt x="0" y="76200"/>
                </a:lnTo>
                <a:arcTo hR="76200" wR="76200" stAng="10800000" swAng="5400000"/>
                <a:lnTo>
                  <a:pt x="3310434" y="0"/>
                </a:lnTo>
                <a:arcTo hR="76200" wR="76200" stAng="16200000" swAng="5400000"/>
                <a:lnTo>
                  <a:pt x="3386634" y="76200"/>
                </a:lnTo>
                <a:arcTo hR="25400" wR="76200" stAng="0" swAng="-5400000"/>
                <a:lnTo>
                  <a:pt x="76200" y="50800"/>
                </a:lnTo>
                <a:arcTo hR="25400" wR="76200" stAng="16200000" swAng="-5400000"/>
                <a:close/>
              </a:path>
            </a:pathLst>
          </a:custGeom>
          <a:solidFill>
            <a:srgbClr val="5D6E80"/>
          </a:solidFill>
          <a:ln/>
        </p:spPr>
      </p:sp>
      <p:sp>
        <p:nvSpPr>
          <p:cNvPr id="6" name="Text 4"/>
          <p:cNvSpPr/>
          <p:nvPr/>
        </p:nvSpPr>
        <p:spPr>
          <a:xfrm>
            <a:off x="1041400" y="2632422"/>
            <a:ext cx="3017317" cy="355402"/>
          </a:xfrm>
          <a:prstGeom prst="rect">
            <a:avLst/>
          </a:prstGeom>
          <a:noFill/>
          <a:ln/>
        </p:spPr>
        <p:txBody>
          <a:bodyPr wrap="square" lIns="0" tIns="0" rIns="0" bIns="0" rtlCol="0" anchor="t">
            <a:normAutofit/>
          </a:bodyPr>
          <a:lstStyle/>
          <a:p>
            <a:pPr algn="l" indent="0" marL="0">
              <a:lnSpc>
                <a:spcPts val="2624"/>
              </a:lnSpc>
              <a:buNone/>
            </a:pPr>
            <a:r>
              <a:rPr lang="en-US" sz="2186" b="1" dirty="0">
                <a:solidFill>
                  <a:srgbClr val="16202B"/>
                </a:solidFill>
                <a:latin typeface="Big Shoulders" pitchFamily="34" charset="0"/>
                <a:ea typeface="Big Shoulders" pitchFamily="34" charset="-122"/>
                <a:cs typeface="Big Shoulders" pitchFamily="34" charset="-120"/>
              </a:rPr>
              <a:t>Scattered content</a:t>
            </a:r>
            <a:endParaRPr lang="en-US" sz="2186" dirty="0"/>
          </a:p>
        </p:txBody>
      </p:sp>
      <p:sp>
        <p:nvSpPr>
          <p:cNvPr id="7" name="Text 5"/>
          <p:cNvSpPr/>
          <p:nvPr/>
        </p:nvSpPr>
        <p:spPr>
          <a:xfrm>
            <a:off x="1041400" y="3064024"/>
            <a:ext cx="3017317" cy="1250305"/>
          </a:xfrm>
          <a:prstGeom prst="rect">
            <a:avLst/>
          </a:prstGeom>
          <a:noFill/>
          <a:ln/>
        </p:spPr>
        <p:txBody>
          <a:bodyPr wrap="square" lIns="0" tIns="0" rIns="0" bIns="0" rtlCol="0" anchor="t">
            <a:normAutofit/>
          </a:bodyPr>
          <a:lstStyle/>
          <a:p>
            <a:pPr algn="l" indent="0" marL="0">
              <a:lnSpc>
                <a:spcPts val="1929"/>
              </a:lnSpc>
              <a:buNone/>
            </a:pPr>
            <a:r>
              <a:rPr lang="en-US" sz="1378" dirty="0">
                <a:solidFill>
                  <a:srgbClr val="3A4A5A"/>
                </a:solidFill>
                <a:latin typeface="IBM Plex Sans" pitchFamily="34" charset="0"/>
                <a:ea typeface="IBM Plex Sans" pitchFamily="34" charset="-122"/>
                <a:cs typeface="IBM Plex Sans" pitchFamily="34" charset="-120"/>
              </a:rPr>
              <a:t>SharePoint libraries, public sites and third-party feeds each carry thin, local metadata. Nothing says which persona, job step, jurisdiction or date range a piece serves.</a:t>
            </a:r>
            <a:endParaRPr lang="en-US" sz="1378" dirty="0"/>
          </a:p>
        </p:txBody>
      </p:sp>
      <p:sp>
        <p:nvSpPr>
          <p:cNvPr id="8" name="Shape 6"/>
          <p:cNvSpPr/>
          <p:nvPr/>
        </p:nvSpPr>
        <p:spPr>
          <a:xfrm>
            <a:off x="4402634" y="2353022"/>
            <a:ext cx="3386683" cy="2164507"/>
          </a:xfrm>
          <a:prstGeom prst="roundRect">
            <a:avLst>
              <a:gd name="adj" fmla="val 3520"/>
            </a:avLst>
          </a:prstGeom>
          <a:solidFill>
            <a:srgbClr val="FCFDFE"/>
          </a:solidFill>
          <a:ln/>
          <a:effectLst>
            <a:outerShdw sx="100000" sy="100000" kx="0" ky="0" algn="bl" rotWithShape="0" blurRad="63500" dist="12700" dir="5400000">
              <a:srgbClr val="16202B">
                <a:alpha val="8000"/>
              </a:srgbClr>
            </a:outerShdw>
          </a:effectLst>
        </p:spPr>
      </p:sp>
      <p:sp>
        <p:nvSpPr>
          <p:cNvPr id="9" name="Shape 7"/>
          <p:cNvSpPr/>
          <p:nvPr/>
        </p:nvSpPr>
        <p:spPr>
          <a:xfrm>
            <a:off x="4402634" y="2353022"/>
            <a:ext cx="3386683" cy="2164507"/>
          </a:xfrm>
          <a:custGeom>
            <a:avLst/>
            <a:gdLst/>
            <a:ahLst/>
            <a:cxnLst/>
            <a:rect l="l" t="t" r="r" b="b"/>
            <a:pathLst>
              <a:path w="3386683" h="2164507">
                <a:moveTo>
                  <a:pt x="0" y="76200"/>
                </a:moveTo>
                <a:lnTo>
                  <a:pt x="0" y="76200"/>
                </a:lnTo>
                <a:arcTo hR="76200" wR="76200" stAng="10800000" swAng="5400000"/>
                <a:lnTo>
                  <a:pt x="3310483" y="0"/>
                </a:lnTo>
                <a:arcTo hR="76200" wR="76200" stAng="16200000" swAng="5400000"/>
                <a:lnTo>
                  <a:pt x="3386683" y="76200"/>
                </a:lnTo>
                <a:arcTo hR="25400" wR="76200" stAng="0" swAng="-5400000"/>
                <a:lnTo>
                  <a:pt x="76200" y="50800"/>
                </a:lnTo>
                <a:arcTo hR="25400" wR="76200" stAng="16200000" swAng="-5400000"/>
                <a:close/>
              </a:path>
            </a:pathLst>
          </a:custGeom>
          <a:solidFill>
            <a:srgbClr val="5D6E80"/>
          </a:solidFill>
          <a:ln/>
        </p:spPr>
      </p:sp>
      <p:sp>
        <p:nvSpPr>
          <p:cNvPr id="10" name="Text 8"/>
          <p:cNvSpPr/>
          <p:nvPr/>
        </p:nvSpPr>
        <p:spPr>
          <a:xfrm>
            <a:off x="4631234" y="2632422"/>
            <a:ext cx="301736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6202B"/>
                </a:solidFill>
                <a:latin typeface="Big Shoulders" pitchFamily="34" charset="0"/>
                <a:ea typeface="Big Shoulders" pitchFamily="34" charset="-122"/>
                <a:cs typeface="Big Shoulders" pitchFamily="34" charset="-120"/>
              </a:rPr>
              <a:t>Imprecise search</a:t>
            </a:r>
            <a:endParaRPr lang="en-US" sz="2200" dirty="0"/>
          </a:p>
        </p:txBody>
      </p:sp>
      <p:sp>
        <p:nvSpPr>
          <p:cNvPr id="11" name="Text 9"/>
          <p:cNvSpPr/>
          <p:nvPr/>
        </p:nvSpPr>
        <p:spPr>
          <a:xfrm>
            <a:off x="4631234" y="3069282"/>
            <a:ext cx="3017368"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A5A"/>
                </a:solidFill>
                <a:latin typeface="IBM Plex Sans" pitchFamily="34" charset="0"/>
                <a:ea typeface="IBM Plex Sans" pitchFamily="34" charset="-122"/>
                <a:cs typeface="IBM Plex Sans" pitchFamily="34" charset="-120"/>
              </a:rPr>
              <a:t>Reps and agents get whole documents back, not the precise, current, permitted claim they need at that step of the sale.</a:t>
            </a:r>
            <a:endParaRPr lang="en-US" sz="1400" dirty="0"/>
          </a:p>
        </p:txBody>
      </p:sp>
      <p:sp>
        <p:nvSpPr>
          <p:cNvPr id="12" name="Shape 10"/>
          <p:cNvSpPr/>
          <p:nvPr/>
        </p:nvSpPr>
        <p:spPr>
          <a:xfrm>
            <a:off x="7992517" y="2353022"/>
            <a:ext cx="3386683" cy="2164507"/>
          </a:xfrm>
          <a:prstGeom prst="roundRect">
            <a:avLst>
              <a:gd name="adj" fmla="val 3520"/>
            </a:avLst>
          </a:prstGeom>
          <a:solidFill>
            <a:srgbClr val="FCFDFE"/>
          </a:solidFill>
          <a:ln/>
          <a:effectLst>
            <a:outerShdw sx="100000" sy="100000" kx="0" ky="0" algn="bl" rotWithShape="0" blurRad="63500" dist="12700" dir="5400000">
              <a:srgbClr val="16202B">
                <a:alpha val="8000"/>
              </a:srgbClr>
            </a:outerShdw>
          </a:effectLst>
        </p:spPr>
      </p:sp>
      <p:sp>
        <p:nvSpPr>
          <p:cNvPr id="13" name="Shape 11"/>
          <p:cNvSpPr/>
          <p:nvPr/>
        </p:nvSpPr>
        <p:spPr>
          <a:xfrm>
            <a:off x="7992517" y="2353022"/>
            <a:ext cx="3386683" cy="2164507"/>
          </a:xfrm>
          <a:custGeom>
            <a:avLst/>
            <a:gdLst/>
            <a:ahLst/>
            <a:cxnLst/>
            <a:rect l="l" t="t" r="r" b="b"/>
            <a:pathLst>
              <a:path w="3386683" h="2164507">
                <a:moveTo>
                  <a:pt x="0" y="76200"/>
                </a:moveTo>
                <a:lnTo>
                  <a:pt x="0" y="76200"/>
                </a:lnTo>
                <a:arcTo hR="76200" wR="76200" stAng="10800000" swAng="5400000"/>
                <a:lnTo>
                  <a:pt x="3310483" y="0"/>
                </a:lnTo>
                <a:arcTo hR="76200" wR="76200" stAng="16200000" swAng="5400000"/>
                <a:lnTo>
                  <a:pt x="3386683" y="76200"/>
                </a:lnTo>
                <a:arcTo hR="25400" wR="76200" stAng="0" swAng="-5400000"/>
                <a:lnTo>
                  <a:pt x="76200" y="50800"/>
                </a:lnTo>
                <a:arcTo hR="25400" wR="76200" stAng="16200000" swAng="-5400000"/>
                <a:close/>
              </a:path>
            </a:pathLst>
          </a:custGeom>
          <a:solidFill>
            <a:srgbClr val="5D6E80"/>
          </a:solidFill>
          <a:ln/>
        </p:spPr>
      </p:sp>
      <p:sp>
        <p:nvSpPr>
          <p:cNvPr id="14" name="Text 12"/>
          <p:cNvSpPr/>
          <p:nvPr/>
        </p:nvSpPr>
        <p:spPr>
          <a:xfrm>
            <a:off x="8221117" y="2632422"/>
            <a:ext cx="301736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6202B"/>
                </a:solidFill>
                <a:latin typeface="Big Shoulders" pitchFamily="34" charset="0"/>
                <a:ea typeface="Big Shoulders" pitchFamily="34" charset="-122"/>
                <a:cs typeface="Big Shoulders" pitchFamily="34" charset="-120"/>
              </a:rPr>
              <a:t>Unauditable AI</a:t>
            </a:r>
            <a:endParaRPr lang="en-US" sz="2200" dirty="0"/>
          </a:p>
        </p:txBody>
      </p:sp>
      <p:sp>
        <p:nvSpPr>
          <p:cNvPr id="15" name="Text 13"/>
          <p:cNvSpPr/>
          <p:nvPr/>
        </p:nvSpPr>
        <p:spPr>
          <a:xfrm>
            <a:off x="8221117" y="3069282"/>
            <a:ext cx="3017368"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A5A"/>
                </a:solidFill>
                <a:latin typeface="IBM Plex Sans" pitchFamily="34" charset="0"/>
                <a:ea typeface="IBM Plex Sans" pitchFamily="34" charset="-122"/>
                <a:cs typeface="IBM Plex Sans" pitchFamily="34" charset="-120"/>
              </a:rPr>
              <a:t>An answer that cannot cite its source, rule version and sensitivity label cannot be put in front of a prospect.</a:t>
            </a:r>
            <a:endParaRPr lang="en-US" sz="1400" dirty="0"/>
          </a:p>
        </p:txBody>
      </p:sp>
      <p:sp>
        <p:nvSpPr>
          <p:cNvPr id="16" name="Shape 14"/>
          <p:cNvSpPr/>
          <p:nvPr/>
        </p:nvSpPr>
        <p:spPr>
          <a:xfrm>
            <a:off x="812800" y="4822329"/>
            <a:ext cx="10566400" cy="1019671"/>
          </a:xfrm>
          <a:prstGeom prst="roundRect">
            <a:avLst>
              <a:gd name="adj" fmla="val 7473"/>
            </a:avLst>
          </a:prstGeom>
          <a:solidFill>
            <a:srgbClr val="1F3A5F"/>
          </a:solidFill>
          <a:ln/>
        </p:spPr>
      </p:sp>
      <p:sp>
        <p:nvSpPr>
          <p:cNvPr id="17" name="Text 15"/>
          <p:cNvSpPr/>
          <p:nvPr/>
        </p:nvSpPr>
        <p:spPr>
          <a:xfrm>
            <a:off x="1092200" y="5050929"/>
            <a:ext cx="10307828" cy="587871"/>
          </a:xfrm>
          <a:prstGeom prst="rect">
            <a:avLst/>
          </a:prstGeom>
          <a:noFill/>
          <a:ln/>
        </p:spPr>
        <p:txBody>
          <a:bodyPr wrap="square" lIns="0" tIns="0" rIns="0" bIns="0" rtlCol="0" anchor="t">
            <a:normAutofit/>
          </a:bodyPr>
          <a:lstStyle/>
          <a:p>
            <a:pPr algn="l" indent="0" marL="0">
              <a:lnSpc>
                <a:spcPts val="2233"/>
              </a:lnSpc>
              <a:buNone/>
            </a:pPr>
            <a:r>
              <a:rPr lang="en-US" sz="1595" dirty="0">
                <a:solidFill>
                  <a:srgbClr val="EAF0F6"/>
                </a:solidFill>
                <a:latin typeface="IBM Plex Sans" pitchFamily="34" charset="0"/>
                <a:ea typeface="IBM Plex Sans" pitchFamily="34" charset="-122"/>
                <a:cs typeface="IBM Plex Sans" pitchFamily="34" charset="-120"/>
              </a:rPr>
              <a:t>The Sales Advisor answers each persona's decision questions with </a:t>
            </a:r>
            <a:r>
              <a:rPr lang="en-US" sz="1595" b="1" dirty="0">
                <a:solidFill>
                  <a:srgbClr val="EAF0F6"/>
                </a:solidFill>
                <a:latin typeface="IBM Plex Sans" pitchFamily="34" charset="0"/>
                <a:ea typeface="IBM Plex Sans" pitchFamily="34" charset="-122"/>
                <a:cs typeface="IBM Plex Sans" pitchFamily="34" charset="-120"/>
              </a:rPr>
              <a:t>cited, current, permitted</a:t>
            </a:r>
            <a:r>
              <a:rPr lang="en-US" sz="1595" dirty="0">
                <a:solidFill>
                  <a:srgbClr val="EAF0F6"/>
                </a:solidFill>
                <a:latin typeface="IBM Plex Sans" pitchFamily="34" charset="0"/>
                <a:ea typeface="IBM Plex Sans" pitchFamily="34" charset="-122"/>
                <a:cs typeface="IBM Plex Sans" pitchFamily="34" charset="-120"/>
              </a:rPr>
              <a:t> content, records the decision against the outcome it commits to, and </a:t>
            </a:r>
            <a:r>
              <a:rPr lang="en-US" sz="1595" b="1" dirty="0">
                <a:solidFill>
                  <a:srgbClr val="EAF0F6"/>
                </a:solidFill>
                <a:latin typeface="IBM Plex Sans" pitchFamily="34" charset="0"/>
                <a:ea typeface="IBM Plex Sans" pitchFamily="34" charset="-122"/>
                <a:cs typeface="IBM Plex Sans" pitchFamily="34" charset="-120"/>
              </a:rPr>
              <a:t>measures whether it helped</a:t>
            </a:r>
            <a:r>
              <a:rPr lang="en-US" sz="1595" dirty="0">
                <a:solidFill>
                  <a:srgbClr val="EAF0F6"/>
                </a:solidFill>
                <a:latin typeface="IBM Plex Sans" pitchFamily="34" charset="0"/>
                <a:ea typeface="IBM Plex Sans" pitchFamily="34" charset="-122"/>
                <a:cs typeface="IBM Plex Sans" pitchFamily="34" charset="-120"/>
              </a:rPr>
              <a:t>.</a:t>
            </a:r>
            <a:endParaRPr lang="en-US" sz="1595"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E80"/>
                </a:solidFill>
                <a:latin typeface="IBM Plex Mono" pitchFamily="49" charset="0"/>
                <a:ea typeface="IBM Plex Mono" pitchFamily="49" charset="-122"/>
                <a:cs typeface="IBM Plex Mono" pitchFamily="49" charset="-120"/>
              </a:rPr>
              <a:t>PEO Sales Advisor · Storyboard · 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6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1F6E8C"/>
                </a:solidFill>
                <a:latin typeface="IBM Plex Mono" pitchFamily="49" charset="0"/>
                <a:ea typeface="IBM Plex Mono" pitchFamily="49" charset="-122"/>
                <a:cs typeface="IBM Plex Mono" pitchFamily="49" charset="-120"/>
              </a:rPr>
              <a:t>THE ARCHITECTURE</a:t>
            </a:r>
            <a:endParaRPr lang="en-US" sz="1200" dirty="0"/>
          </a:p>
        </p:txBody>
      </p:sp>
      <p:sp>
        <p:nvSpPr>
          <p:cNvPr id="3" name="Text 1"/>
          <p:cNvSpPr/>
          <p:nvPr>
            <p:ph type="title"/>
          </p:nvPr>
        </p:nvSpPr>
        <p:spPr>
          <a:xfrm>
            <a:off x="812800" y="1102320"/>
            <a:ext cx="10883392" cy="985441"/>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6202B"/>
                </a:solidFill>
                <a:latin typeface="Big Shoulders" pitchFamily="34" charset="0"/>
                <a:ea typeface="Big Shoulders" pitchFamily="34" charset="-122"/>
                <a:cs typeface="Big Shoulders" pitchFamily="34" charset="-120"/>
              </a:rPr>
              <a:t>Keel and North Star: what stays true, and what people act on</a:t>
            </a:r>
            <a:endParaRPr lang="en-US" sz="3600" dirty="0"/>
          </a:p>
        </p:txBody>
      </p:sp>
      <p:sp>
        <p:nvSpPr>
          <p:cNvPr id="4" name="Shape 2"/>
          <p:cNvSpPr/>
          <p:nvPr/>
        </p:nvSpPr>
        <p:spPr>
          <a:xfrm>
            <a:off x="812800" y="2316361"/>
            <a:ext cx="4051300" cy="2687042"/>
          </a:xfrm>
          <a:prstGeom prst="roundRect">
            <a:avLst>
              <a:gd name="adj" fmla="val 2836"/>
            </a:avLst>
          </a:prstGeom>
          <a:solidFill>
            <a:srgbClr val="FCFDFE"/>
          </a:solidFill>
          <a:ln/>
          <a:effectLst>
            <a:outerShdw sx="100000" sy="100000" kx="0" ky="0" algn="bl" rotWithShape="0" blurRad="63500" dist="12700" dir="5400000">
              <a:srgbClr val="16202B">
                <a:alpha val="8000"/>
              </a:srgbClr>
            </a:outerShdw>
          </a:effectLst>
        </p:spPr>
      </p:sp>
      <p:sp>
        <p:nvSpPr>
          <p:cNvPr id="5" name="Shape 3"/>
          <p:cNvSpPr/>
          <p:nvPr/>
        </p:nvSpPr>
        <p:spPr>
          <a:xfrm>
            <a:off x="812800" y="2316361"/>
            <a:ext cx="4051300" cy="2687042"/>
          </a:xfrm>
          <a:custGeom>
            <a:avLst/>
            <a:gdLst/>
            <a:ahLst/>
            <a:cxnLst/>
            <a:rect l="l" t="t" r="r" b="b"/>
            <a:pathLst>
              <a:path w="4051300" h="2687042">
                <a:moveTo>
                  <a:pt x="0" y="76200"/>
                </a:moveTo>
                <a:lnTo>
                  <a:pt x="0" y="76200"/>
                </a:lnTo>
                <a:arcTo hR="76200" wR="76200" stAng="10800000" swAng="5400000"/>
                <a:lnTo>
                  <a:pt x="3975100" y="0"/>
                </a:lnTo>
                <a:arcTo hR="76200" wR="76200" stAng="16200000" swAng="5400000"/>
                <a:lnTo>
                  <a:pt x="4051300" y="76200"/>
                </a:lnTo>
                <a:arcTo hR="12700" wR="76200" stAng="0" swAng="-5400000"/>
                <a:lnTo>
                  <a:pt x="76200" y="63500"/>
                </a:lnTo>
                <a:arcTo hR="12700" wR="76200" stAng="16200000" swAng="-5400000"/>
                <a:close/>
              </a:path>
            </a:pathLst>
          </a:custGeom>
          <a:solidFill>
            <a:srgbClr val="1F6E8C"/>
          </a:solidFill>
          <a:ln/>
        </p:spPr>
      </p:sp>
      <p:sp>
        <p:nvSpPr>
          <p:cNvPr id="6" name="Text 4"/>
          <p:cNvSpPr/>
          <p:nvPr/>
        </p:nvSpPr>
        <p:spPr>
          <a:xfrm>
            <a:off x="1016000" y="2583061"/>
            <a:ext cx="3754247"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F6E8C"/>
                </a:solidFill>
                <a:latin typeface="IBM Plex Mono" pitchFamily="49" charset="0"/>
                <a:ea typeface="IBM Plex Mono" pitchFamily="49" charset="-122"/>
                <a:cs typeface="IBM Plex Mono" pitchFamily="49" charset="-120"/>
              </a:rPr>
              <a:t>KEEL · GOVERNED SEMANTICS</a:t>
            </a:r>
            <a:endParaRPr lang="en-US" sz="1200" dirty="0"/>
          </a:p>
        </p:txBody>
      </p:sp>
      <p:sp>
        <p:nvSpPr>
          <p:cNvPr id="7" name="Text 5"/>
          <p:cNvSpPr/>
          <p:nvPr/>
        </p:nvSpPr>
        <p:spPr>
          <a:xfrm>
            <a:off x="1101344" y="2885281"/>
            <a:ext cx="3661283" cy="1700957"/>
          </a:xfrm>
          <a:prstGeom prst="rect">
            <a:avLst/>
          </a:prstGeom>
          <a:noFill/>
          <a:ln/>
        </p:spPr>
        <p:txBody>
          <a:bodyPr wrap="square" lIns="0" tIns="0" rIns="0" bIns="0" rtlCol="0" anchor="t">
            <a:normAutofit/>
          </a:bodyPr>
          <a:lstStyle/>
          <a:p>
            <a:pPr algn="l" marL="168656" indent="-168656">
              <a:lnSpc>
                <a:spcPts val="1885"/>
              </a:lnSpc>
              <a:buSzPct val="100000"/>
              <a:buChar char="•"/>
            </a:pPr>
            <a:r>
              <a:rPr lang="en-US" sz="1300" dirty="0">
                <a:solidFill>
                  <a:srgbClr val="2A3846"/>
                </a:solidFill>
                <a:latin typeface="IBM Plex Sans" pitchFamily="34" charset="0"/>
                <a:ea typeface="IBM Plex Sans" pitchFamily="34" charset="-122"/>
                <a:cs typeface="IBM Plex Sans" pitchFamily="34" charset="-120"/>
              </a:rPr>
              <a:t>Ontologies: isp-core, isp-sal, isp-cnt, isp-dec</a:t>
            </a:r>
            <a:endParaRPr lang="en-US" sz="1300" dirty="0"/>
          </a:p>
          <a:p>
            <a:pPr algn="l" marL="168656" indent="-168656">
              <a:lnSpc>
                <a:spcPts val="1885"/>
              </a:lnSpc>
              <a:buSzPct val="100000"/>
              <a:buChar char="•"/>
            </a:pPr>
            <a:r>
              <a:rPr lang="en-US" sz="1300" dirty="0">
                <a:solidFill>
                  <a:srgbClr val="2A3846"/>
                </a:solidFill>
                <a:latin typeface="IBM Plex Sans" pitchFamily="34" charset="0"/>
                <a:ea typeface="IBM Plex Sans" pitchFamily="34" charset="-122"/>
                <a:cs typeface="IBM Plex Sans" pitchFamily="34" charset="-120"/>
              </a:rPr>
              <a:t>SSOT register: rules, constraints, logic</a:t>
            </a:r>
            <a:endParaRPr lang="en-US" sz="1300" dirty="0"/>
          </a:p>
          <a:p>
            <a:pPr algn="l" marL="168656" indent="-168656">
              <a:lnSpc>
                <a:spcPts val="1885"/>
              </a:lnSpc>
              <a:buSzPct val="100000"/>
              <a:buChar char="•"/>
            </a:pPr>
            <a:r>
              <a:rPr lang="en-US" sz="1300" dirty="0">
                <a:solidFill>
                  <a:srgbClr val="2A3846"/>
                </a:solidFill>
                <a:latin typeface="IBM Plex Sans" pitchFamily="34" charset="0"/>
                <a:ea typeface="IBM Plex Sans" pitchFamily="34" charset="-122"/>
                <a:cs typeface="IBM Plex Sans" pitchFamily="34" charset="-120"/>
              </a:rPr>
              <a:t>RDF content graph: objects, chunks, claims</a:t>
            </a:r>
            <a:endParaRPr lang="en-US" sz="1300" dirty="0"/>
          </a:p>
          <a:p>
            <a:pPr algn="l" marL="168656" indent="-168656">
              <a:lnSpc>
                <a:spcPts val="1885"/>
              </a:lnSpc>
              <a:buSzPct val="100000"/>
              <a:buChar char="•"/>
            </a:pPr>
            <a:r>
              <a:rPr lang="en-US" sz="1300" dirty="0">
                <a:solidFill>
                  <a:srgbClr val="2A3846"/>
                </a:solidFill>
                <a:latin typeface="IBM Plex Sans" pitchFamily="34" charset="0"/>
                <a:ea typeface="IBM Plex Sans" pitchFamily="34" charset="-122"/>
                <a:cs typeface="IBM Plex Sans" pitchFamily="34" charset="-120"/>
              </a:rPr>
              <a:t>Mapping graph (GOV-006)</a:t>
            </a:r>
            <a:endParaRPr lang="en-US" sz="1300" dirty="0"/>
          </a:p>
          <a:p>
            <a:pPr algn="l" marL="168656" indent="-168656">
              <a:lnSpc>
                <a:spcPts val="1885"/>
              </a:lnSpc>
              <a:buSzPct val="100000"/>
              <a:buChar char="•"/>
            </a:pPr>
            <a:r>
              <a:rPr lang="en-US" sz="1300" dirty="0">
                <a:solidFill>
                  <a:srgbClr val="2A3846"/>
                </a:solidFill>
                <a:latin typeface="IBM Plex Sans" pitchFamily="34" charset="0"/>
                <a:ea typeface="IBM Plex Sans" pitchFamily="34" charset="-122"/>
                <a:cs typeface="IBM Plex Sans" pitchFamily="34" charset="-120"/>
              </a:rPr>
              <a:t>Identity registry (GOV-007)</a:t>
            </a:r>
            <a:endParaRPr lang="en-US" sz="1300" dirty="0"/>
          </a:p>
          <a:p>
            <a:pPr algn="l" marL="168656" indent="-168656">
              <a:lnSpc>
                <a:spcPts val="1885"/>
              </a:lnSpc>
              <a:buSzPct val="100000"/>
              <a:buChar char="•"/>
            </a:pPr>
            <a:r>
              <a:rPr lang="en-US" sz="1300" dirty="0">
                <a:solidFill>
                  <a:srgbClr val="2A3846"/>
                </a:solidFill>
                <a:latin typeface="IBM Plex Sans" pitchFamily="34" charset="0"/>
                <a:ea typeface="IBM Plex Sans" pitchFamily="34" charset="-122"/>
                <a:cs typeface="IBM Plex Sans" pitchFamily="34" charset="-120"/>
              </a:rPr>
              <a:t>KGCL provenance for every change (GOV-018)</a:t>
            </a:r>
            <a:endParaRPr lang="en-US" sz="1300" dirty="0"/>
          </a:p>
        </p:txBody>
      </p:sp>
      <p:sp>
        <p:nvSpPr>
          <p:cNvPr id="8" name="Shape 6"/>
          <p:cNvSpPr/>
          <p:nvPr/>
        </p:nvSpPr>
        <p:spPr>
          <a:xfrm>
            <a:off x="5016500" y="2316361"/>
            <a:ext cx="2159000" cy="2687042"/>
          </a:xfrm>
          <a:prstGeom prst="roundRect">
            <a:avLst>
              <a:gd name="adj" fmla="val 3529"/>
            </a:avLst>
          </a:prstGeom>
          <a:solidFill>
            <a:srgbClr val="1F3A5F"/>
          </a:solidFill>
          <a:ln/>
        </p:spPr>
      </p:sp>
      <p:sp>
        <p:nvSpPr>
          <p:cNvPr id="9" name="Text 7"/>
          <p:cNvSpPr/>
          <p:nvPr/>
        </p:nvSpPr>
        <p:spPr>
          <a:xfrm>
            <a:off x="5219700" y="2924572"/>
            <a:ext cx="180517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9CC0EA"/>
                </a:solidFill>
                <a:latin typeface="IBM Plex Mono" pitchFamily="49" charset="0"/>
                <a:ea typeface="IBM Plex Mono" pitchFamily="49" charset="-122"/>
                <a:cs typeface="IBM Plex Mono" pitchFamily="49" charset="-120"/>
              </a:rPr>
              <a:t>AGENT FABRIC</a:t>
            </a:r>
            <a:endParaRPr lang="en-US" sz="1200" dirty="0"/>
          </a:p>
        </p:txBody>
      </p:sp>
      <p:sp>
        <p:nvSpPr>
          <p:cNvPr id="10" name="Text 8"/>
          <p:cNvSpPr/>
          <p:nvPr/>
        </p:nvSpPr>
        <p:spPr>
          <a:xfrm>
            <a:off x="5219700" y="3239492"/>
            <a:ext cx="1805178" cy="118105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AF0F6"/>
                </a:solidFill>
                <a:latin typeface="IBM Plex Sans" pitchFamily="34" charset="0"/>
                <a:ea typeface="IBM Plex Sans" pitchFamily="34" charset="-122"/>
                <a:cs typeface="IBM Plex Sans" pitchFamily="34" charset="-120"/>
              </a:rPr>
              <a:t>Seven agent families read the Keel, serve the North Star, and send changes and measurements back.</a:t>
            </a:r>
            <a:endParaRPr lang="en-US" sz="1300" dirty="0"/>
          </a:p>
        </p:txBody>
      </p:sp>
      <p:sp>
        <p:nvSpPr>
          <p:cNvPr id="11" name="Shape 9"/>
          <p:cNvSpPr/>
          <p:nvPr/>
        </p:nvSpPr>
        <p:spPr>
          <a:xfrm>
            <a:off x="7327900" y="2316361"/>
            <a:ext cx="4051300" cy="2687042"/>
          </a:xfrm>
          <a:prstGeom prst="roundRect">
            <a:avLst>
              <a:gd name="adj" fmla="val 2836"/>
            </a:avLst>
          </a:prstGeom>
          <a:solidFill>
            <a:srgbClr val="FCFDFE"/>
          </a:solidFill>
          <a:ln/>
          <a:effectLst>
            <a:outerShdw sx="100000" sy="100000" kx="0" ky="0" algn="bl" rotWithShape="0" blurRad="63500" dist="12700" dir="5400000">
              <a:srgbClr val="16202B">
                <a:alpha val="8000"/>
              </a:srgbClr>
            </a:outerShdw>
          </a:effectLst>
        </p:spPr>
      </p:sp>
      <p:sp>
        <p:nvSpPr>
          <p:cNvPr id="12" name="Shape 10"/>
          <p:cNvSpPr/>
          <p:nvPr/>
        </p:nvSpPr>
        <p:spPr>
          <a:xfrm>
            <a:off x="7327900" y="2316361"/>
            <a:ext cx="4051300" cy="2687042"/>
          </a:xfrm>
          <a:custGeom>
            <a:avLst/>
            <a:gdLst/>
            <a:ahLst/>
            <a:cxnLst/>
            <a:rect l="l" t="t" r="r" b="b"/>
            <a:pathLst>
              <a:path w="4051300" h="2687042">
                <a:moveTo>
                  <a:pt x="0" y="76200"/>
                </a:moveTo>
                <a:lnTo>
                  <a:pt x="0" y="76200"/>
                </a:lnTo>
                <a:arcTo hR="76200" wR="76200" stAng="10800000" swAng="5400000"/>
                <a:lnTo>
                  <a:pt x="3975100" y="0"/>
                </a:lnTo>
                <a:arcTo hR="76200" wR="76200" stAng="16200000" swAng="5400000"/>
                <a:lnTo>
                  <a:pt x="4051300" y="76200"/>
                </a:lnTo>
                <a:arcTo hR="12700" wR="76200" stAng="0" swAng="-5400000"/>
                <a:lnTo>
                  <a:pt x="76200" y="63500"/>
                </a:lnTo>
                <a:arcTo hR="12700" wR="76200" stAng="16200000" swAng="-5400000"/>
                <a:close/>
              </a:path>
            </a:pathLst>
          </a:custGeom>
          <a:solidFill>
            <a:srgbClr val="B07A12"/>
          </a:solidFill>
          <a:ln/>
        </p:spPr>
      </p:sp>
      <p:sp>
        <p:nvSpPr>
          <p:cNvPr id="13" name="Text 11"/>
          <p:cNvSpPr/>
          <p:nvPr/>
        </p:nvSpPr>
        <p:spPr>
          <a:xfrm>
            <a:off x="7531100" y="2583061"/>
            <a:ext cx="3754247"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5E0A"/>
                </a:solidFill>
                <a:latin typeface="IBM Plex Mono" pitchFamily="49" charset="0"/>
                <a:ea typeface="IBM Plex Mono" pitchFamily="49" charset="-122"/>
                <a:cs typeface="IBM Plex Mono" pitchFamily="49" charset="-120"/>
              </a:rPr>
              <a:t>NORTH STAR · PERSONA OUTCOMES</a:t>
            </a:r>
            <a:endParaRPr lang="en-US" sz="1200" dirty="0"/>
          </a:p>
        </p:txBody>
      </p:sp>
      <p:sp>
        <p:nvSpPr>
          <p:cNvPr id="14" name="Text 12"/>
          <p:cNvSpPr/>
          <p:nvPr/>
        </p:nvSpPr>
        <p:spPr>
          <a:xfrm>
            <a:off x="7616444" y="2885281"/>
            <a:ext cx="3661283" cy="1940322"/>
          </a:xfrm>
          <a:prstGeom prst="rect">
            <a:avLst/>
          </a:prstGeom>
          <a:noFill/>
          <a:ln/>
        </p:spPr>
        <p:txBody>
          <a:bodyPr wrap="square" lIns="0" tIns="0" rIns="0" bIns="0" rtlCol="0" anchor="t">
            <a:normAutofit/>
          </a:bodyPr>
          <a:lstStyle/>
          <a:p>
            <a:pPr algn="l" marL="168656" indent="-168656">
              <a:lnSpc>
                <a:spcPts val="1885"/>
              </a:lnSpc>
              <a:buSzPct val="100000"/>
              <a:buChar char="•"/>
            </a:pPr>
            <a:r>
              <a:rPr lang="en-US" sz="1300" dirty="0">
                <a:solidFill>
                  <a:srgbClr val="2A3846"/>
                </a:solidFill>
                <a:latin typeface="IBM Plex Sans" pitchFamily="34" charset="0"/>
                <a:ea typeface="IBM Plex Sans" pitchFamily="34" charset="-122"/>
                <a:cs typeface="IBM Plex Sans" pitchFamily="34" charset="-120"/>
              </a:rPr>
              <a:t>Assembled briefs for the Client Admin and HR Specialist</a:t>
            </a:r>
            <a:endParaRPr lang="en-US" sz="1300" dirty="0"/>
          </a:p>
          <a:p>
            <a:pPr algn="l" marL="168656" indent="-168656">
              <a:lnSpc>
                <a:spcPts val="1885"/>
              </a:lnSpc>
              <a:buSzPct val="100000"/>
              <a:buChar char="•"/>
            </a:pPr>
            <a:r>
              <a:rPr lang="en-US" sz="1300" dirty="0">
                <a:solidFill>
                  <a:srgbClr val="2A3846"/>
                </a:solidFill>
                <a:latin typeface="IBM Plex Sans" pitchFamily="34" charset="0"/>
                <a:ea typeface="IBM Plex Sans" pitchFamily="34" charset="-122"/>
                <a:cs typeface="IBM Plex Sans" pitchFamily="34" charset="-120"/>
              </a:rPr>
              <a:t>Decisions recorded with bound outcomes (MET-014)</a:t>
            </a:r>
            <a:endParaRPr lang="en-US" sz="1300" dirty="0"/>
          </a:p>
          <a:p>
            <a:pPr algn="l" marL="168656" indent="-168656">
              <a:lnSpc>
                <a:spcPts val="1885"/>
              </a:lnSpc>
              <a:buSzPct val="100000"/>
              <a:buChar char="•"/>
            </a:pPr>
            <a:r>
              <a:rPr lang="en-US" sz="1300" dirty="0">
                <a:solidFill>
                  <a:srgbClr val="2A3846"/>
                </a:solidFill>
                <a:latin typeface="IBM Plex Sans" pitchFamily="34" charset="0"/>
                <a:ea typeface="IBM Plex Sans" pitchFamily="34" charset="-122"/>
                <a:cs typeface="IBM Plex Sans" pitchFamily="34" charset="-120"/>
              </a:rPr>
              <a:t>Orchestrated events into CRM, quoting, onboarding</a:t>
            </a:r>
            <a:endParaRPr lang="en-US" sz="1300" dirty="0"/>
          </a:p>
          <a:p>
            <a:pPr algn="l" marL="168656" indent="-168656">
              <a:lnSpc>
                <a:spcPts val="1885"/>
              </a:lnSpc>
              <a:buSzPct val="100000"/>
              <a:buChar char="•"/>
            </a:pPr>
            <a:r>
              <a:rPr lang="en-US" sz="1300" dirty="0">
                <a:solidFill>
                  <a:srgbClr val="2A3846"/>
                </a:solidFill>
                <a:latin typeface="IBM Plex Sans" pitchFamily="34" charset="0"/>
                <a:ea typeface="IBM Plex Sans" pitchFamily="34" charset="-122"/>
                <a:cs typeface="IBM Plex Sans" pitchFamily="34" charset="-120"/>
              </a:rPr>
              <a:t>Measured outcomes: value gaps and causal findings</a:t>
            </a:r>
            <a:endParaRPr lang="en-US" sz="1300" dirty="0"/>
          </a:p>
        </p:txBody>
      </p:sp>
      <p:sp>
        <p:nvSpPr>
          <p:cNvPr id="15" name="Text 13"/>
          <p:cNvSpPr/>
          <p:nvPr/>
        </p:nvSpPr>
        <p:spPr>
          <a:xfrm>
            <a:off x="812800" y="5257403"/>
            <a:ext cx="1088339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A5A"/>
                </a:solidFill>
                <a:latin typeface="IBM Plex Sans" pitchFamily="34" charset="0"/>
                <a:ea typeface="IBM Plex Sans" pitchFamily="34" charset="-122"/>
                <a:cs typeface="IBM Plex Sans" pitchFamily="34" charset="-120"/>
              </a:rPr>
              <a:t>The Keel is deterministic and versioned; the North Star is where value is proven. Nothing reaches a persona that the Keel has not released.</a:t>
            </a:r>
            <a:endParaRPr lang="en-US" sz="14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E80"/>
                </a:solidFill>
                <a:latin typeface="IBM Plex Mono" pitchFamily="49" charset="0"/>
                <a:ea typeface="IBM Plex Mono" pitchFamily="49" charset="-122"/>
                <a:cs typeface="IBM Plex Mono" pitchFamily="49" charset="-120"/>
              </a:rPr>
              <a:t>PEO Sales Advisor · Storyboard · 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1F6E8C"/>
                </a:solidFill>
                <a:latin typeface="IBM Plex Mono" pitchFamily="49" charset="0"/>
                <a:ea typeface="IBM Plex Mono" pitchFamily="49" charset="-122"/>
                <a:cs typeface="IBM Plex Mono" pitchFamily="49" charset="-120"/>
              </a:rPr>
              <a:t>END TO END</a:t>
            </a:r>
            <a:endParaRPr lang="en-US" sz="1200" dirty="0"/>
          </a:p>
        </p:txBody>
      </p:sp>
      <p:sp>
        <p:nvSpPr>
          <p:cNvPr id="3" name="Text 1"/>
          <p:cNvSpPr/>
          <p:nvPr>
            <p:ph type="title"/>
          </p:nvPr>
        </p:nvSpPr>
        <p:spPr>
          <a:xfrm>
            <a:off x="812800" y="110232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6202B"/>
                </a:solidFill>
                <a:latin typeface="Big Shoulders" pitchFamily="34" charset="0"/>
                <a:ea typeface="Big Shoulders" pitchFamily="34" charset="-122"/>
                <a:cs typeface="Big Shoulders" pitchFamily="34" charset="-120"/>
              </a:rPr>
              <a:t>From sources to persona decisions</a:t>
            </a:r>
            <a:endParaRPr lang="en-US" sz="3600" dirty="0"/>
          </a:p>
        </p:txBody>
      </p:sp>
      <p:sp>
        <p:nvSpPr>
          <p:cNvPr id="4" name="Shape 2"/>
          <p:cNvSpPr/>
          <p:nvPr/>
        </p:nvSpPr>
        <p:spPr>
          <a:xfrm>
            <a:off x="812800" y="1785541"/>
            <a:ext cx="1788120" cy="2730252"/>
          </a:xfrm>
          <a:prstGeom prst="roundRect">
            <a:avLst>
              <a:gd name="adj" fmla="val 3551"/>
            </a:avLst>
          </a:prstGeom>
          <a:solidFill>
            <a:srgbClr val="E8EDF2"/>
          </a:solidFill>
          <a:ln/>
        </p:spPr>
      </p:sp>
      <p:sp>
        <p:nvSpPr>
          <p:cNvPr id="5" name="Shape 3"/>
          <p:cNvSpPr/>
          <p:nvPr/>
        </p:nvSpPr>
        <p:spPr>
          <a:xfrm>
            <a:off x="812800" y="1785541"/>
            <a:ext cx="1788120" cy="2730252"/>
          </a:xfrm>
          <a:custGeom>
            <a:avLst/>
            <a:gdLst/>
            <a:ahLst/>
            <a:cxnLst/>
            <a:rect l="l" t="t" r="r" b="b"/>
            <a:pathLst>
              <a:path w="1788120" h="2730252">
                <a:moveTo>
                  <a:pt x="0" y="63500"/>
                </a:moveTo>
                <a:lnTo>
                  <a:pt x="0" y="63500"/>
                </a:lnTo>
                <a:arcTo hR="63500" wR="63500" stAng="10800000" swAng="5400000"/>
                <a:lnTo>
                  <a:pt x="1724620" y="0"/>
                </a:lnTo>
                <a:arcTo hR="63500" wR="63500" stAng="16200000" swAng="5400000"/>
                <a:lnTo>
                  <a:pt x="1788120" y="63500"/>
                </a:lnTo>
                <a:arcTo hR="25400" wR="63500" stAng="0" swAng="-5400000"/>
                <a:lnTo>
                  <a:pt x="63500" y="38100"/>
                </a:lnTo>
                <a:arcTo hR="25400" wR="63500" stAng="16200000" swAng="-5400000"/>
                <a:close/>
              </a:path>
            </a:pathLst>
          </a:custGeom>
          <a:solidFill>
            <a:srgbClr val="5D6E80"/>
          </a:solidFill>
          <a:ln/>
        </p:spPr>
      </p:sp>
      <p:sp>
        <p:nvSpPr>
          <p:cNvPr id="6" name="Text 4"/>
          <p:cNvSpPr/>
          <p:nvPr/>
        </p:nvSpPr>
        <p:spPr>
          <a:xfrm>
            <a:off x="914400" y="1925241"/>
            <a:ext cx="16357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IBM Plex Mono" pitchFamily="49" charset="0"/>
                <a:ea typeface="IBM Plex Mono" pitchFamily="49" charset="-122"/>
                <a:cs typeface="IBM Plex Mono" pitchFamily="49" charset="-120"/>
              </a:rPr>
              <a:t>SOURCES</a:t>
            </a:r>
            <a:endParaRPr lang="en-US" sz="1200" dirty="0"/>
          </a:p>
        </p:txBody>
      </p:sp>
      <p:sp>
        <p:nvSpPr>
          <p:cNvPr id="7" name="Text 5"/>
          <p:cNvSpPr/>
          <p:nvPr/>
        </p:nvSpPr>
        <p:spPr>
          <a:xfrm>
            <a:off x="914400" y="2189361"/>
            <a:ext cx="1584920" cy="325090"/>
          </a:xfrm>
          <a:prstGeom prst="roundRect">
            <a:avLst>
              <a:gd name="adj" fmla="val 15626"/>
            </a:avLst>
          </a:prstGeom>
          <a:solidFill>
            <a:srgbClr val="FCFDFE"/>
          </a:solidFill>
          <a:ln/>
        </p:spPr>
        <p:txBody>
          <a:bodyPr wrap="square" lIns="74021" tIns="48621" rIns="23221" bIns="23221" rtlCol="0" anchor="t">
            <a:normAutofit/>
          </a:bodyPr>
          <a:lstStyle/>
          <a:p>
            <a:pPr algn="l" indent="0" marL="0">
              <a:lnSpc>
                <a:spcPts val="1560"/>
              </a:lnSpc>
              <a:buNone/>
            </a:pPr>
            <a:r>
              <a:rPr lang="en-US" sz="1200" dirty="0">
                <a:solidFill>
                  <a:srgbClr val="16202B"/>
                </a:solidFill>
                <a:latin typeface="IBM Plex Sans" pitchFamily="34" charset="0"/>
                <a:ea typeface="IBM Plex Sans" pitchFamily="34" charset="-122"/>
                <a:cs typeface="IBM Plex Sans" pitchFamily="34" charset="-120"/>
              </a:rPr>
              <a:t>SharePoint libraries</a:t>
            </a:r>
            <a:endParaRPr lang="en-US" sz="1200" dirty="0"/>
          </a:p>
        </p:txBody>
      </p:sp>
      <p:sp>
        <p:nvSpPr>
          <p:cNvPr id="8" name="Text 6"/>
          <p:cNvSpPr/>
          <p:nvPr/>
        </p:nvSpPr>
        <p:spPr>
          <a:xfrm>
            <a:off x="914400" y="2565251"/>
            <a:ext cx="1584920" cy="325090"/>
          </a:xfrm>
          <a:prstGeom prst="roundRect">
            <a:avLst>
              <a:gd name="adj" fmla="val 15626"/>
            </a:avLst>
          </a:prstGeom>
          <a:solidFill>
            <a:srgbClr val="FCFDFE"/>
          </a:solidFill>
          <a:ln/>
        </p:spPr>
        <p:txBody>
          <a:bodyPr wrap="square" lIns="74021" tIns="48621" rIns="23221" bIns="23221" rtlCol="0" anchor="t">
            <a:normAutofit/>
          </a:bodyPr>
          <a:lstStyle/>
          <a:p>
            <a:pPr algn="l" indent="0" marL="0">
              <a:lnSpc>
                <a:spcPts val="1560"/>
              </a:lnSpc>
              <a:buNone/>
            </a:pPr>
            <a:r>
              <a:rPr lang="en-US" sz="1200" dirty="0">
                <a:solidFill>
                  <a:srgbClr val="16202B"/>
                </a:solidFill>
                <a:latin typeface="IBM Plex Sans" pitchFamily="34" charset="0"/>
                <a:ea typeface="IBM Plex Sans" pitchFamily="34" charset="-122"/>
                <a:cs typeface="IBM Plex Sans" pitchFamily="34" charset="-120"/>
              </a:rPr>
              <a:t>Public websites</a:t>
            </a:r>
            <a:endParaRPr lang="en-US" sz="1200" dirty="0"/>
          </a:p>
        </p:txBody>
      </p:sp>
      <p:sp>
        <p:nvSpPr>
          <p:cNvPr id="9" name="Text 7"/>
          <p:cNvSpPr/>
          <p:nvPr/>
        </p:nvSpPr>
        <p:spPr>
          <a:xfrm>
            <a:off x="914400" y="2941141"/>
            <a:ext cx="1584920" cy="523180"/>
          </a:xfrm>
          <a:prstGeom prst="roundRect">
            <a:avLst>
              <a:gd name="adj" fmla="val 9710"/>
            </a:avLst>
          </a:prstGeom>
          <a:solidFill>
            <a:srgbClr val="FCFDFE"/>
          </a:solidFill>
          <a:ln/>
        </p:spPr>
        <p:txBody>
          <a:bodyPr wrap="square" lIns="74021" tIns="48621" rIns="23221" bIns="23221" rtlCol="0" anchor="t">
            <a:normAutofit/>
          </a:bodyPr>
          <a:lstStyle/>
          <a:p>
            <a:pPr algn="l" indent="0" marL="0">
              <a:lnSpc>
                <a:spcPts val="1560"/>
              </a:lnSpc>
              <a:buNone/>
            </a:pPr>
            <a:r>
              <a:rPr lang="en-US" sz="1200" dirty="0">
                <a:solidFill>
                  <a:srgbClr val="16202B"/>
                </a:solidFill>
                <a:latin typeface="IBM Plex Sans" pitchFamily="34" charset="0"/>
                <a:ea typeface="IBM Plex Sans" pitchFamily="34" charset="-122"/>
                <a:cs typeface="IBM Plex Sans" pitchFamily="34" charset="-120"/>
              </a:rPr>
              <a:t>Regulatory and firmographic feeds</a:t>
            </a:r>
            <a:endParaRPr lang="en-US" sz="1200" dirty="0"/>
          </a:p>
        </p:txBody>
      </p:sp>
      <p:sp>
        <p:nvSpPr>
          <p:cNvPr id="10" name="Text 8"/>
          <p:cNvSpPr/>
          <p:nvPr/>
        </p:nvSpPr>
        <p:spPr>
          <a:xfrm>
            <a:off x="914400" y="3515122"/>
            <a:ext cx="1584920" cy="325090"/>
          </a:xfrm>
          <a:prstGeom prst="roundRect">
            <a:avLst>
              <a:gd name="adj" fmla="val 15626"/>
            </a:avLst>
          </a:prstGeom>
          <a:solidFill>
            <a:srgbClr val="FCFDFE"/>
          </a:solidFill>
          <a:ln/>
        </p:spPr>
        <p:txBody>
          <a:bodyPr wrap="square" lIns="74021" tIns="48621" rIns="23221" bIns="23221" rtlCol="0" anchor="t">
            <a:normAutofit/>
          </a:bodyPr>
          <a:lstStyle/>
          <a:p>
            <a:pPr algn="l" indent="0" marL="0">
              <a:lnSpc>
                <a:spcPts val="1560"/>
              </a:lnSpc>
              <a:buNone/>
            </a:pPr>
            <a:r>
              <a:rPr lang="en-US" sz="1200" dirty="0">
                <a:solidFill>
                  <a:srgbClr val="16202B"/>
                </a:solidFill>
                <a:latin typeface="IBM Plex Sans" pitchFamily="34" charset="0"/>
                <a:ea typeface="IBM Plex Sans" pitchFamily="34" charset="-122"/>
                <a:cs typeface="IBM Plex Sans" pitchFamily="34" charset="-120"/>
              </a:rPr>
              <a:t>CRM, quoting, ATS</a:t>
            </a:r>
            <a:endParaRPr lang="en-US" sz="1200" dirty="0"/>
          </a:p>
        </p:txBody>
      </p:sp>
      <p:pic>
        <p:nvPicPr>
          <p:cNvPr id="11" name="Image 0" descr="arrow-right">    </p:cNvPr>
          <p:cNvPicPr>
            <a:picLocks noChangeAspect="1"/>
          </p:cNvPicPr>
          <p:nvPr/>
        </p:nvPicPr>
        <p:blipFill>
          <a:blip r:embed="rId1"/>
          <a:srcRect l="0" r="0" t="0" b="0"/>
          <a:stretch/>
        </p:blipFill>
        <p:spPr>
          <a:xfrm>
            <a:off x="2677120" y="3087142"/>
            <a:ext cx="254000" cy="127000"/>
          </a:xfrm>
          <a:prstGeom prst="rect">
            <a:avLst/>
          </a:prstGeom>
        </p:spPr>
      </p:pic>
      <p:sp>
        <p:nvSpPr>
          <p:cNvPr id="12" name="Shape 9"/>
          <p:cNvSpPr/>
          <p:nvPr/>
        </p:nvSpPr>
        <p:spPr>
          <a:xfrm>
            <a:off x="3007320" y="1785541"/>
            <a:ext cx="1788170" cy="2730252"/>
          </a:xfrm>
          <a:prstGeom prst="roundRect">
            <a:avLst>
              <a:gd name="adj" fmla="val 3551"/>
            </a:avLst>
          </a:prstGeom>
          <a:solidFill>
            <a:srgbClr val="E8EDF2"/>
          </a:solidFill>
          <a:ln/>
        </p:spPr>
      </p:sp>
      <p:sp>
        <p:nvSpPr>
          <p:cNvPr id="13" name="Shape 10"/>
          <p:cNvSpPr/>
          <p:nvPr/>
        </p:nvSpPr>
        <p:spPr>
          <a:xfrm>
            <a:off x="3007320" y="1785541"/>
            <a:ext cx="1788170" cy="2730252"/>
          </a:xfrm>
          <a:custGeom>
            <a:avLst/>
            <a:gdLst/>
            <a:ahLst/>
            <a:cxnLst/>
            <a:rect l="l" t="t" r="r" b="b"/>
            <a:pathLst>
              <a:path w="1788170" h="2730252">
                <a:moveTo>
                  <a:pt x="0" y="63500"/>
                </a:moveTo>
                <a:lnTo>
                  <a:pt x="0" y="63500"/>
                </a:lnTo>
                <a:arcTo hR="63500" wR="63500" stAng="10800000" swAng="5400000"/>
                <a:lnTo>
                  <a:pt x="1724670" y="0"/>
                </a:lnTo>
                <a:arcTo hR="63500" wR="63500" stAng="16200000" swAng="5400000"/>
                <a:lnTo>
                  <a:pt x="1788170" y="63500"/>
                </a:lnTo>
                <a:arcTo hR="25400" wR="63500" stAng="0" swAng="-5400000"/>
                <a:lnTo>
                  <a:pt x="63500" y="38100"/>
                </a:lnTo>
                <a:arcTo hR="25400" wR="63500" stAng="16200000" swAng="-5400000"/>
                <a:close/>
              </a:path>
            </a:pathLst>
          </a:custGeom>
          <a:solidFill>
            <a:srgbClr val="4A3AA7"/>
          </a:solidFill>
          <a:ln/>
        </p:spPr>
      </p:sp>
      <p:sp>
        <p:nvSpPr>
          <p:cNvPr id="14" name="Text 11"/>
          <p:cNvSpPr/>
          <p:nvPr/>
        </p:nvSpPr>
        <p:spPr>
          <a:xfrm>
            <a:off x="3108920" y="1925241"/>
            <a:ext cx="1635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3AA7"/>
                </a:solidFill>
                <a:latin typeface="IBM Plex Mono" pitchFamily="49" charset="0"/>
                <a:ea typeface="IBM Plex Mono" pitchFamily="49" charset="-122"/>
                <a:cs typeface="IBM Plex Mono" pitchFamily="49" charset="-120"/>
              </a:rPr>
              <a:t>PIPELINES</a:t>
            </a:r>
            <a:endParaRPr lang="en-US" sz="1200" dirty="0"/>
          </a:p>
        </p:txBody>
      </p:sp>
      <p:sp>
        <p:nvSpPr>
          <p:cNvPr id="15" name="Text 12"/>
          <p:cNvSpPr/>
          <p:nvPr/>
        </p:nvSpPr>
        <p:spPr>
          <a:xfrm>
            <a:off x="3108920" y="2189361"/>
            <a:ext cx="1584970" cy="325090"/>
          </a:xfrm>
          <a:prstGeom prst="roundRect">
            <a:avLst>
              <a:gd name="adj" fmla="val 15626"/>
            </a:avLst>
          </a:prstGeom>
          <a:solidFill>
            <a:srgbClr val="FCFDFE"/>
          </a:solidFill>
          <a:ln/>
        </p:spPr>
        <p:txBody>
          <a:bodyPr wrap="square" lIns="74021" tIns="48621" rIns="23221" bIns="23221" rtlCol="0" anchor="t">
            <a:normAutofit/>
          </a:bodyPr>
          <a:lstStyle/>
          <a:p>
            <a:pPr algn="l" indent="0" marL="0">
              <a:lnSpc>
                <a:spcPts val="1560"/>
              </a:lnSpc>
              <a:buNone/>
            </a:pPr>
            <a:r>
              <a:rPr lang="en-US" sz="1200" dirty="0">
                <a:solidFill>
                  <a:srgbClr val="16202B"/>
                </a:solidFill>
                <a:latin typeface="IBM Plex Sans" pitchFamily="34" charset="0"/>
                <a:ea typeface="IBM Plex Sans" pitchFamily="34" charset="-122"/>
                <a:cs typeface="IBM Plex Sans" pitchFamily="34" charset="-120"/>
              </a:rPr>
              <a:t>1 Ingest · 2 Identify</a:t>
            </a:r>
            <a:endParaRPr lang="en-US" sz="1200" dirty="0"/>
          </a:p>
        </p:txBody>
      </p:sp>
      <p:sp>
        <p:nvSpPr>
          <p:cNvPr id="16" name="Text 13"/>
          <p:cNvSpPr/>
          <p:nvPr/>
        </p:nvSpPr>
        <p:spPr>
          <a:xfrm>
            <a:off x="3108920" y="2565251"/>
            <a:ext cx="1584970" cy="523180"/>
          </a:xfrm>
          <a:prstGeom prst="roundRect">
            <a:avLst>
              <a:gd name="adj" fmla="val 9710"/>
            </a:avLst>
          </a:prstGeom>
          <a:solidFill>
            <a:srgbClr val="FCFDFE"/>
          </a:solidFill>
          <a:ln/>
        </p:spPr>
        <p:txBody>
          <a:bodyPr wrap="square" lIns="74021" tIns="48621" rIns="23221" bIns="23221" rtlCol="0" anchor="t">
            <a:normAutofit/>
          </a:bodyPr>
          <a:lstStyle/>
          <a:p>
            <a:pPr algn="l" indent="0" marL="0">
              <a:lnSpc>
                <a:spcPts val="1560"/>
              </a:lnSpc>
              <a:buNone/>
            </a:pPr>
            <a:r>
              <a:rPr lang="en-US" sz="1200" dirty="0">
                <a:solidFill>
                  <a:srgbClr val="16202B"/>
                </a:solidFill>
                <a:latin typeface="IBM Plex Sans" pitchFamily="34" charset="0"/>
                <a:ea typeface="IBM Plex Sans" pitchFamily="34" charset="-122"/>
                <a:cs typeface="IBM Plex Sans" pitchFamily="34" charset="-120"/>
              </a:rPr>
              <a:t>3 Classify · 4 Control</a:t>
            </a:r>
            <a:endParaRPr lang="en-US" sz="1200" dirty="0"/>
          </a:p>
        </p:txBody>
      </p:sp>
      <p:sp>
        <p:nvSpPr>
          <p:cNvPr id="17" name="Text 14"/>
          <p:cNvSpPr/>
          <p:nvPr/>
        </p:nvSpPr>
        <p:spPr>
          <a:xfrm>
            <a:off x="3108920" y="3139232"/>
            <a:ext cx="1584970" cy="325090"/>
          </a:xfrm>
          <a:prstGeom prst="roundRect">
            <a:avLst>
              <a:gd name="adj" fmla="val 15626"/>
            </a:avLst>
          </a:prstGeom>
          <a:solidFill>
            <a:srgbClr val="FCFDFE"/>
          </a:solidFill>
          <a:ln/>
        </p:spPr>
        <p:txBody>
          <a:bodyPr wrap="square" lIns="74021" tIns="48621" rIns="23221" bIns="23221" rtlCol="0" anchor="t">
            <a:normAutofit/>
          </a:bodyPr>
          <a:lstStyle/>
          <a:p>
            <a:pPr algn="l" indent="0" marL="0">
              <a:lnSpc>
                <a:spcPts val="1560"/>
              </a:lnSpc>
              <a:buNone/>
            </a:pPr>
            <a:r>
              <a:rPr lang="en-US" sz="1200" dirty="0">
                <a:solidFill>
                  <a:srgbClr val="16202B"/>
                </a:solidFill>
                <a:latin typeface="IBM Plex Sans" pitchFamily="34" charset="0"/>
                <a:ea typeface="IBM Plex Sans" pitchFamily="34" charset="-122"/>
                <a:cs typeface="IBM Plex Sans" pitchFamily="34" charset="-120"/>
              </a:rPr>
              <a:t>5 Enrich (AI fabric)</a:t>
            </a:r>
            <a:endParaRPr lang="en-US" sz="1200" dirty="0"/>
          </a:p>
        </p:txBody>
      </p:sp>
      <p:sp>
        <p:nvSpPr>
          <p:cNvPr id="18" name="Text 15"/>
          <p:cNvSpPr/>
          <p:nvPr/>
        </p:nvSpPr>
        <p:spPr>
          <a:xfrm>
            <a:off x="3108920" y="3515122"/>
            <a:ext cx="1584970" cy="325090"/>
          </a:xfrm>
          <a:prstGeom prst="roundRect">
            <a:avLst>
              <a:gd name="adj" fmla="val 15626"/>
            </a:avLst>
          </a:prstGeom>
          <a:solidFill>
            <a:srgbClr val="FCFDFE"/>
          </a:solidFill>
          <a:ln/>
        </p:spPr>
        <p:txBody>
          <a:bodyPr wrap="square" lIns="74021" tIns="48621" rIns="23221" bIns="23221" rtlCol="0" anchor="t">
            <a:normAutofit/>
          </a:bodyPr>
          <a:lstStyle/>
          <a:p>
            <a:pPr algn="l" indent="0" marL="0">
              <a:lnSpc>
                <a:spcPts val="1560"/>
              </a:lnSpc>
              <a:buNone/>
            </a:pPr>
            <a:r>
              <a:rPr lang="en-US" sz="1200" dirty="0">
                <a:solidFill>
                  <a:srgbClr val="16202B"/>
                </a:solidFill>
                <a:latin typeface="IBM Plex Sans" pitchFamily="34" charset="0"/>
                <a:ea typeface="IBM Plex Sans" pitchFamily="34" charset="-122"/>
                <a:cs typeface="IBM Plex Sans" pitchFamily="34" charset="-120"/>
              </a:rPr>
              <a:t>6 Combine and map</a:t>
            </a:r>
            <a:endParaRPr lang="en-US" sz="1200" dirty="0"/>
          </a:p>
        </p:txBody>
      </p:sp>
      <p:sp>
        <p:nvSpPr>
          <p:cNvPr id="19" name="Text 16"/>
          <p:cNvSpPr/>
          <p:nvPr/>
        </p:nvSpPr>
        <p:spPr>
          <a:xfrm>
            <a:off x="3108920" y="3891012"/>
            <a:ext cx="1584970" cy="523180"/>
          </a:xfrm>
          <a:prstGeom prst="roundRect">
            <a:avLst>
              <a:gd name="adj" fmla="val 9710"/>
            </a:avLst>
          </a:prstGeom>
          <a:solidFill>
            <a:srgbClr val="FCFDFE"/>
          </a:solidFill>
          <a:ln/>
        </p:spPr>
        <p:txBody>
          <a:bodyPr wrap="square" lIns="74021" tIns="48621" rIns="23221" bIns="23221" rtlCol="0" anchor="t">
            <a:normAutofit/>
          </a:bodyPr>
          <a:lstStyle/>
          <a:p>
            <a:pPr algn="l" indent="0" marL="0">
              <a:lnSpc>
                <a:spcPts val="1560"/>
              </a:lnSpc>
              <a:buNone/>
            </a:pPr>
            <a:r>
              <a:rPr lang="en-US" sz="1200" dirty="0">
                <a:solidFill>
                  <a:srgbClr val="16202B"/>
                </a:solidFill>
                <a:latin typeface="IBM Plex Sans" pitchFamily="34" charset="0"/>
                <a:ea typeface="IBM Plex Sans" pitchFamily="34" charset="-122"/>
                <a:cs typeface="IBM Plex Sans" pitchFamily="34" charset="-120"/>
              </a:rPr>
              <a:t>7 Publish RDF after SHACL</a:t>
            </a:r>
            <a:endParaRPr lang="en-US" sz="1200" dirty="0"/>
          </a:p>
        </p:txBody>
      </p:sp>
      <p:pic>
        <p:nvPicPr>
          <p:cNvPr id="20" name="Image 1" descr="arrow-right">    </p:cNvPr>
          <p:cNvPicPr>
            <a:picLocks noChangeAspect="1"/>
          </p:cNvPicPr>
          <p:nvPr/>
        </p:nvPicPr>
        <p:blipFill>
          <a:blip r:embed="rId2"/>
          <a:srcRect l="0" r="0" t="0" b="0"/>
          <a:stretch/>
        </p:blipFill>
        <p:spPr>
          <a:xfrm>
            <a:off x="4871690" y="3087142"/>
            <a:ext cx="254000" cy="127000"/>
          </a:xfrm>
          <a:prstGeom prst="rect">
            <a:avLst/>
          </a:prstGeom>
        </p:spPr>
      </p:pic>
      <p:sp>
        <p:nvSpPr>
          <p:cNvPr id="21" name="Shape 17"/>
          <p:cNvSpPr/>
          <p:nvPr/>
        </p:nvSpPr>
        <p:spPr>
          <a:xfrm>
            <a:off x="5201890" y="1785541"/>
            <a:ext cx="1788170" cy="2730252"/>
          </a:xfrm>
          <a:prstGeom prst="roundRect">
            <a:avLst>
              <a:gd name="adj" fmla="val 3551"/>
            </a:avLst>
          </a:prstGeom>
          <a:solidFill>
            <a:srgbClr val="E3EFF3"/>
          </a:solidFill>
          <a:ln/>
        </p:spPr>
      </p:sp>
      <p:sp>
        <p:nvSpPr>
          <p:cNvPr id="22" name="Shape 18"/>
          <p:cNvSpPr/>
          <p:nvPr/>
        </p:nvSpPr>
        <p:spPr>
          <a:xfrm>
            <a:off x="5201890" y="1785541"/>
            <a:ext cx="1788170" cy="2730252"/>
          </a:xfrm>
          <a:custGeom>
            <a:avLst/>
            <a:gdLst/>
            <a:ahLst/>
            <a:cxnLst/>
            <a:rect l="l" t="t" r="r" b="b"/>
            <a:pathLst>
              <a:path w="1788170" h="2730252">
                <a:moveTo>
                  <a:pt x="0" y="63500"/>
                </a:moveTo>
                <a:lnTo>
                  <a:pt x="0" y="63500"/>
                </a:lnTo>
                <a:arcTo hR="63500" wR="63500" stAng="10800000" swAng="5400000"/>
                <a:lnTo>
                  <a:pt x="1724670" y="0"/>
                </a:lnTo>
                <a:arcTo hR="63500" wR="63500" stAng="16200000" swAng="5400000"/>
                <a:lnTo>
                  <a:pt x="1788170" y="63500"/>
                </a:lnTo>
                <a:arcTo hR="25400" wR="63500" stAng="0" swAng="-5400000"/>
                <a:lnTo>
                  <a:pt x="63500" y="38100"/>
                </a:lnTo>
                <a:arcTo hR="25400" wR="63500" stAng="16200000" swAng="-5400000"/>
                <a:close/>
              </a:path>
            </a:pathLst>
          </a:custGeom>
          <a:solidFill>
            <a:srgbClr val="1F6E8C"/>
          </a:solidFill>
          <a:ln/>
        </p:spPr>
      </p:sp>
      <p:sp>
        <p:nvSpPr>
          <p:cNvPr id="23" name="Text 19"/>
          <p:cNvSpPr/>
          <p:nvPr/>
        </p:nvSpPr>
        <p:spPr>
          <a:xfrm>
            <a:off x="5303490" y="1925241"/>
            <a:ext cx="1635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E8C"/>
                </a:solidFill>
                <a:latin typeface="IBM Plex Mono" pitchFamily="49" charset="0"/>
                <a:ea typeface="IBM Plex Mono" pitchFamily="49" charset="-122"/>
                <a:cs typeface="IBM Plex Mono" pitchFamily="49" charset="-120"/>
              </a:rPr>
              <a:t>KEEL</a:t>
            </a:r>
            <a:endParaRPr lang="en-US" sz="1200" dirty="0"/>
          </a:p>
        </p:txBody>
      </p:sp>
      <p:sp>
        <p:nvSpPr>
          <p:cNvPr id="24" name="Text 20"/>
          <p:cNvSpPr/>
          <p:nvPr/>
        </p:nvSpPr>
        <p:spPr>
          <a:xfrm>
            <a:off x="5303490" y="2189361"/>
            <a:ext cx="1584970" cy="325090"/>
          </a:xfrm>
          <a:prstGeom prst="roundRect">
            <a:avLst>
              <a:gd name="adj" fmla="val 15626"/>
            </a:avLst>
          </a:prstGeom>
          <a:solidFill>
            <a:srgbClr val="FCFDFE"/>
          </a:solidFill>
          <a:ln/>
        </p:spPr>
        <p:txBody>
          <a:bodyPr wrap="square" lIns="74021" tIns="48621" rIns="23221" bIns="23221" rtlCol="0" anchor="t">
            <a:normAutofit/>
          </a:bodyPr>
          <a:lstStyle/>
          <a:p>
            <a:pPr algn="l" indent="0" marL="0">
              <a:lnSpc>
                <a:spcPts val="1560"/>
              </a:lnSpc>
              <a:buNone/>
            </a:pPr>
            <a:r>
              <a:rPr lang="en-US" sz="1200" dirty="0">
                <a:solidFill>
                  <a:srgbClr val="16202B"/>
                </a:solidFill>
                <a:latin typeface="IBM Plex Sans" pitchFamily="34" charset="0"/>
                <a:ea typeface="IBM Plex Sans" pitchFamily="34" charset="-122"/>
                <a:cs typeface="IBM Plex Sans" pitchFamily="34" charset="-120"/>
              </a:rPr>
              <a:t>Ontologies</a:t>
            </a:r>
            <a:endParaRPr lang="en-US" sz="1200" dirty="0"/>
          </a:p>
        </p:txBody>
      </p:sp>
      <p:sp>
        <p:nvSpPr>
          <p:cNvPr id="25" name="Text 21"/>
          <p:cNvSpPr/>
          <p:nvPr/>
        </p:nvSpPr>
        <p:spPr>
          <a:xfrm>
            <a:off x="5303490" y="2565251"/>
            <a:ext cx="1584970" cy="325090"/>
          </a:xfrm>
          <a:prstGeom prst="roundRect">
            <a:avLst>
              <a:gd name="adj" fmla="val 15626"/>
            </a:avLst>
          </a:prstGeom>
          <a:solidFill>
            <a:srgbClr val="FCFDFE"/>
          </a:solidFill>
          <a:ln/>
        </p:spPr>
        <p:txBody>
          <a:bodyPr wrap="square" lIns="74021" tIns="48621" rIns="23221" bIns="23221" rtlCol="0" anchor="t">
            <a:normAutofit/>
          </a:bodyPr>
          <a:lstStyle/>
          <a:p>
            <a:pPr algn="l" indent="0" marL="0">
              <a:lnSpc>
                <a:spcPts val="1560"/>
              </a:lnSpc>
              <a:buNone/>
            </a:pPr>
            <a:r>
              <a:rPr lang="en-US" sz="1200" dirty="0">
                <a:solidFill>
                  <a:srgbClr val="16202B"/>
                </a:solidFill>
                <a:latin typeface="IBM Plex Sans" pitchFamily="34" charset="0"/>
                <a:ea typeface="IBM Plex Sans" pitchFamily="34" charset="-122"/>
                <a:cs typeface="IBM Plex Sans" pitchFamily="34" charset="-120"/>
              </a:rPr>
              <a:t>SSOT register</a:t>
            </a:r>
            <a:endParaRPr lang="en-US" sz="1200" dirty="0"/>
          </a:p>
        </p:txBody>
      </p:sp>
      <p:sp>
        <p:nvSpPr>
          <p:cNvPr id="26" name="Text 22"/>
          <p:cNvSpPr/>
          <p:nvPr/>
        </p:nvSpPr>
        <p:spPr>
          <a:xfrm>
            <a:off x="5303490" y="2941141"/>
            <a:ext cx="1584970" cy="325090"/>
          </a:xfrm>
          <a:prstGeom prst="roundRect">
            <a:avLst>
              <a:gd name="adj" fmla="val 15626"/>
            </a:avLst>
          </a:prstGeom>
          <a:solidFill>
            <a:srgbClr val="FCFDFE"/>
          </a:solidFill>
          <a:ln/>
        </p:spPr>
        <p:txBody>
          <a:bodyPr wrap="square" lIns="74021" tIns="48621" rIns="23221" bIns="23221" rtlCol="0" anchor="t">
            <a:normAutofit/>
          </a:bodyPr>
          <a:lstStyle/>
          <a:p>
            <a:pPr algn="l" indent="0" marL="0">
              <a:lnSpc>
                <a:spcPts val="1560"/>
              </a:lnSpc>
              <a:buNone/>
            </a:pPr>
            <a:r>
              <a:rPr lang="en-US" sz="1200" dirty="0">
                <a:solidFill>
                  <a:srgbClr val="16202B"/>
                </a:solidFill>
                <a:latin typeface="IBM Plex Sans" pitchFamily="34" charset="0"/>
                <a:ea typeface="IBM Plex Sans" pitchFamily="34" charset="-122"/>
                <a:cs typeface="IBM Plex Sans" pitchFamily="34" charset="-120"/>
              </a:rPr>
              <a:t>RDF content graph</a:t>
            </a:r>
            <a:endParaRPr lang="en-US" sz="1200" dirty="0"/>
          </a:p>
        </p:txBody>
      </p:sp>
      <p:sp>
        <p:nvSpPr>
          <p:cNvPr id="27" name="Text 23"/>
          <p:cNvSpPr/>
          <p:nvPr/>
        </p:nvSpPr>
        <p:spPr>
          <a:xfrm>
            <a:off x="5303490" y="3317032"/>
            <a:ext cx="1584970" cy="325090"/>
          </a:xfrm>
          <a:prstGeom prst="roundRect">
            <a:avLst>
              <a:gd name="adj" fmla="val 15626"/>
            </a:avLst>
          </a:prstGeom>
          <a:solidFill>
            <a:srgbClr val="FCFDFE"/>
          </a:solidFill>
          <a:ln/>
        </p:spPr>
        <p:txBody>
          <a:bodyPr wrap="square" lIns="74021" tIns="48621" rIns="23221" bIns="23221" rtlCol="0" anchor="t">
            <a:normAutofit/>
          </a:bodyPr>
          <a:lstStyle/>
          <a:p>
            <a:pPr algn="l" indent="0" marL="0">
              <a:lnSpc>
                <a:spcPts val="1560"/>
              </a:lnSpc>
              <a:buNone/>
            </a:pPr>
            <a:r>
              <a:rPr lang="en-US" sz="1200" dirty="0">
                <a:solidFill>
                  <a:srgbClr val="16202B"/>
                </a:solidFill>
                <a:latin typeface="IBM Plex Sans" pitchFamily="34" charset="0"/>
                <a:ea typeface="IBM Plex Sans" pitchFamily="34" charset="-122"/>
                <a:cs typeface="IBM Plex Sans" pitchFamily="34" charset="-120"/>
              </a:rPr>
              <a:t>Mapping graph</a:t>
            </a:r>
            <a:endParaRPr lang="en-US" sz="1200" dirty="0"/>
          </a:p>
        </p:txBody>
      </p:sp>
      <p:sp>
        <p:nvSpPr>
          <p:cNvPr id="28" name="Text 24"/>
          <p:cNvSpPr/>
          <p:nvPr/>
        </p:nvSpPr>
        <p:spPr>
          <a:xfrm>
            <a:off x="5303490" y="3692922"/>
            <a:ext cx="1584970" cy="523180"/>
          </a:xfrm>
          <a:prstGeom prst="roundRect">
            <a:avLst>
              <a:gd name="adj" fmla="val 9710"/>
            </a:avLst>
          </a:prstGeom>
          <a:solidFill>
            <a:srgbClr val="FCFDFE"/>
          </a:solidFill>
          <a:ln/>
        </p:spPr>
        <p:txBody>
          <a:bodyPr wrap="square" lIns="74021" tIns="48621" rIns="23221" bIns="23221" rtlCol="0" anchor="t">
            <a:normAutofit/>
          </a:bodyPr>
          <a:lstStyle/>
          <a:p>
            <a:pPr algn="l" indent="0" marL="0">
              <a:lnSpc>
                <a:spcPts val="1560"/>
              </a:lnSpc>
              <a:buNone/>
            </a:pPr>
            <a:r>
              <a:rPr lang="en-US" sz="1200" dirty="0">
                <a:solidFill>
                  <a:srgbClr val="16202B"/>
                </a:solidFill>
                <a:latin typeface="IBM Plex Sans" pitchFamily="34" charset="0"/>
                <a:ea typeface="IBM Plex Sans" pitchFamily="34" charset="-122"/>
                <a:cs typeface="IBM Plex Sans" pitchFamily="34" charset="-120"/>
              </a:rPr>
              <a:t>Identity, provenance</a:t>
            </a:r>
            <a:endParaRPr lang="en-US" sz="1200" dirty="0"/>
          </a:p>
        </p:txBody>
      </p:sp>
      <p:pic>
        <p:nvPicPr>
          <p:cNvPr id="29" name="Image 2" descr="arrow-right">    </p:cNvPr>
          <p:cNvPicPr>
            <a:picLocks noChangeAspect="1"/>
          </p:cNvPicPr>
          <p:nvPr/>
        </p:nvPicPr>
        <p:blipFill>
          <a:blip r:embed="rId3"/>
          <a:srcRect l="0" r="0" t="0" b="0"/>
          <a:stretch/>
        </p:blipFill>
        <p:spPr>
          <a:xfrm>
            <a:off x="7066260" y="3087142"/>
            <a:ext cx="254000" cy="127000"/>
          </a:xfrm>
          <a:prstGeom prst="rect">
            <a:avLst/>
          </a:prstGeom>
        </p:spPr>
      </p:pic>
      <p:sp>
        <p:nvSpPr>
          <p:cNvPr id="30" name="Shape 25"/>
          <p:cNvSpPr/>
          <p:nvPr/>
        </p:nvSpPr>
        <p:spPr>
          <a:xfrm>
            <a:off x="7396460" y="1785541"/>
            <a:ext cx="1788170" cy="2730252"/>
          </a:xfrm>
          <a:prstGeom prst="roundRect">
            <a:avLst>
              <a:gd name="adj" fmla="val 3551"/>
            </a:avLst>
          </a:prstGeom>
          <a:solidFill>
            <a:srgbClr val="E8EDF2"/>
          </a:solidFill>
          <a:ln/>
        </p:spPr>
      </p:sp>
      <p:sp>
        <p:nvSpPr>
          <p:cNvPr id="31" name="Shape 26"/>
          <p:cNvSpPr/>
          <p:nvPr/>
        </p:nvSpPr>
        <p:spPr>
          <a:xfrm>
            <a:off x="7396460" y="1785541"/>
            <a:ext cx="1788170" cy="2730252"/>
          </a:xfrm>
          <a:custGeom>
            <a:avLst/>
            <a:gdLst/>
            <a:ahLst/>
            <a:cxnLst/>
            <a:rect l="l" t="t" r="r" b="b"/>
            <a:pathLst>
              <a:path w="1788170" h="2730252">
                <a:moveTo>
                  <a:pt x="0" y="63500"/>
                </a:moveTo>
                <a:lnTo>
                  <a:pt x="0" y="63500"/>
                </a:lnTo>
                <a:arcTo hR="63500" wR="63500" stAng="10800000" swAng="5400000"/>
                <a:lnTo>
                  <a:pt x="1724670" y="0"/>
                </a:lnTo>
                <a:arcTo hR="63500" wR="63500" stAng="16200000" swAng="5400000"/>
                <a:lnTo>
                  <a:pt x="1788170" y="63500"/>
                </a:lnTo>
                <a:arcTo hR="25400" wR="63500" stAng="0" swAng="-5400000"/>
                <a:lnTo>
                  <a:pt x="63500" y="38100"/>
                </a:lnTo>
                <a:arcTo hR="25400" wR="63500" stAng="16200000" swAng="-5400000"/>
                <a:close/>
              </a:path>
            </a:pathLst>
          </a:custGeom>
          <a:solidFill>
            <a:srgbClr val="2A5FA0"/>
          </a:solidFill>
          <a:ln/>
        </p:spPr>
      </p:sp>
      <p:sp>
        <p:nvSpPr>
          <p:cNvPr id="32" name="Text 27"/>
          <p:cNvSpPr/>
          <p:nvPr/>
        </p:nvSpPr>
        <p:spPr>
          <a:xfrm>
            <a:off x="7498060" y="1925241"/>
            <a:ext cx="1635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5FA0"/>
                </a:solidFill>
                <a:latin typeface="IBM Plex Mono" pitchFamily="49" charset="0"/>
                <a:ea typeface="IBM Plex Mono" pitchFamily="49" charset="-122"/>
                <a:cs typeface="IBM Plex Mono" pitchFamily="49" charset="-120"/>
              </a:rPr>
              <a:t>AGENT FABRIC</a:t>
            </a:r>
            <a:endParaRPr lang="en-US" sz="1200" dirty="0"/>
          </a:p>
        </p:txBody>
      </p:sp>
      <p:sp>
        <p:nvSpPr>
          <p:cNvPr id="33" name="Text 28"/>
          <p:cNvSpPr/>
          <p:nvPr/>
        </p:nvSpPr>
        <p:spPr>
          <a:xfrm>
            <a:off x="7498060" y="2189361"/>
            <a:ext cx="1584970" cy="325090"/>
          </a:xfrm>
          <a:prstGeom prst="roundRect">
            <a:avLst>
              <a:gd name="adj" fmla="val 15626"/>
            </a:avLst>
          </a:prstGeom>
          <a:solidFill>
            <a:srgbClr val="FCFDFE"/>
          </a:solidFill>
          <a:ln/>
        </p:spPr>
        <p:txBody>
          <a:bodyPr wrap="square" lIns="74021" tIns="48621" rIns="23221" bIns="23221" rtlCol="0" anchor="t">
            <a:normAutofit/>
          </a:bodyPr>
          <a:lstStyle/>
          <a:p>
            <a:pPr algn="l" indent="0" marL="0">
              <a:lnSpc>
                <a:spcPts val="1560"/>
              </a:lnSpc>
              <a:buNone/>
            </a:pPr>
            <a:r>
              <a:rPr lang="en-US" sz="1200" dirty="0">
                <a:solidFill>
                  <a:srgbClr val="16202B"/>
                </a:solidFill>
                <a:latin typeface="IBM Plex Sans" pitchFamily="34" charset="0"/>
                <a:ea typeface="IBM Plex Sans" pitchFamily="34" charset="-122"/>
                <a:cs typeface="IBM Plex Sans" pitchFamily="34" charset="-120"/>
              </a:rPr>
              <a:t>Faceted search</a:t>
            </a:r>
            <a:endParaRPr lang="en-US" sz="1200" dirty="0"/>
          </a:p>
        </p:txBody>
      </p:sp>
      <p:sp>
        <p:nvSpPr>
          <p:cNvPr id="34" name="Text 29"/>
          <p:cNvSpPr/>
          <p:nvPr/>
        </p:nvSpPr>
        <p:spPr>
          <a:xfrm>
            <a:off x="7498060" y="2565251"/>
            <a:ext cx="1584970" cy="325090"/>
          </a:xfrm>
          <a:prstGeom prst="roundRect">
            <a:avLst>
              <a:gd name="adj" fmla="val 15626"/>
            </a:avLst>
          </a:prstGeom>
          <a:solidFill>
            <a:srgbClr val="FCFDFE"/>
          </a:solidFill>
          <a:ln/>
        </p:spPr>
        <p:txBody>
          <a:bodyPr wrap="square" lIns="74021" tIns="48621" rIns="23221" bIns="23221" rtlCol="0" anchor="t">
            <a:normAutofit/>
          </a:bodyPr>
          <a:lstStyle/>
          <a:p>
            <a:pPr algn="l" indent="0" marL="0">
              <a:lnSpc>
                <a:spcPts val="1560"/>
              </a:lnSpc>
              <a:buNone/>
            </a:pPr>
            <a:r>
              <a:rPr lang="en-US" sz="1200" dirty="0">
                <a:solidFill>
                  <a:srgbClr val="16202B"/>
                </a:solidFill>
                <a:latin typeface="IBM Plex Sans" pitchFamily="34" charset="0"/>
                <a:ea typeface="IBM Plex Sans" pitchFamily="34" charset="-122"/>
                <a:cs typeface="IBM Plex Sans" pitchFamily="34" charset="-120"/>
              </a:rPr>
              <a:t>Brief assembly</a:t>
            </a:r>
            <a:endParaRPr lang="en-US" sz="1200" dirty="0"/>
          </a:p>
        </p:txBody>
      </p:sp>
      <p:sp>
        <p:nvSpPr>
          <p:cNvPr id="35" name="Text 30"/>
          <p:cNvSpPr/>
          <p:nvPr/>
        </p:nvSpPr>
        <p:spPr>
          <a:xfrm>
            <a:off x="7498060" y="2941141"/>
            <a:ext cx="1584970" cy="523180"/>
          </a:xfrm>
          <a:prstGeom prst="roundRect">
            <a:avLst>
              <a:gd name="adj" fmla="val 9710"/>
            </a:avLst>
          </a:prstGeom>
          <a:solidFill>
            <a:srgbClr val="FCFDFE"/>
          </a:solidFill>
          <a:ln/>
        </p:spPr>
        <p:txBody>
          <a:bodyPr wrap="square" lIns="74021" tIns="48621" rIns="23221" bIns="23221" rtlCol="0" anchor="t">
            <a:normAutofit/>
          </a:bodyPr>
          <a:lstStyle/>
          <a:p>
            <a:pPr algn="l" indent="0" marL="0">
              <a:lnSpc>
                <a:spcPts val="1560"/>
              </a:lnSpc>
              <a:buNone/>
            </a:pPr>
            <a:r>
              <a:rPr lang="en-US" sz="1200" dirty="0">
                <a:solidFill>
                  <a:srgbClr val="16202B"/>
                </a:solidFill>
                <a:latin typeface="IBM Plex Sans" pitchFamily="34" charset="0"/>
                <a:ea typeface="IBM Plex Sans" pitchFamily="34" charset="-122"/>
                <a:cs typeface="IBM Plex Sans" pitchFamily="34" charset="-120"/>
              </a:rPr>
              <a:t>RDSG gateway, MTBH</a:t>
            </a:r>
            <a:endParaRPr lang="en-US" sz="1200" dirty="0"/>
          </a:p>
        </p:txBody>
      </p:sp>
      <p:sp>
        <p:nvSpPr>
          <p:cNvPr id="36" name="Text 31"/>
          <p:cNvSpPr/>
          <p:nvPr/>
        </p:nvSpPr>
        <p:spPr>
          <a:xfrm>
            <a:off x="7504410" y="3521472"/>
            <a:ext cx="1572270" cy="337790"/>
          </a:xfrm>
          <a:prstGeom prst="roundRect">
            <a:avLst>
              <a:gd name="adj" fmla="val 13159"/>
            </a:avLst>
          </a:prstGeom>
          <a:solidFill>
            <a:srgbClr val="FCFDFE"/>
          </a:solidFill>
          <a:ln w="12700">
            <a:solidFill>
              <a:srgbClr val="93A3B4"/>
            </a:solidFill>
            <a:prstDash val="dash"/>
          </a:ln>
        </p:spPr>
        <p:txBody>
          <a:bodyPr wrap="square" lIns="82231" tIns="56831" rIns="31431" bIns="31431" rtlCol="0" anchor="t">
            <a:normAutofit/>
          </a:bodyPr>
          <a:lstStyle/>
          <a:p>
            <a:pPr algn="l" indent="0" marL="0">
              <a:lnSpc>
                <a:spcPts val="1560"/>
              </a:lnSpc>
              <a:buNone/>
            </a:pPr>
            <a:r>
              <a:rPr lang="en-US" sz="1200" dirty="0">
                <a:solidFill>
                  <a:srgbClr val="16202B"/>
                </a:solidFill>
                <a:latin typeface="IBM Plex Sans" pitchFamily="34" charset="0"/>
                <a:ea typeface="IBM Plex Sans" pitchFamily="34" charset="-122"/>
                <a:cs typeface="IBM Plex Sans" pitchFamily="34" charset="-120"/>
              </a:rPr>
              <a:t>Change and impact</a:t>
            </a:r>
            <a:endParaRPr lang="en-US" sz="1200" dirty="0"/>
          </a:p>
        </p:txBody>
      </p:sp>
      <p:sp>
        <p:nvSpPr>
          <p:cNvPr id="37" name="Text 32"/>
          <p:cNvSpPr/>
          <p:nvPr/>
        </p:nvSpPr>
        <p:spPr>
          <a:xfrm>
            <a:off x="7504410" y="3922762"/>
            <a:ext cx="1572270" cy="337790"/>
          </a:xfrm>
          <a:prstGeom prst="roundRect">
            <a:avLst>
              <a:gd name="adj" fmla="val 13159"/>
            </a:avLst>
          </a:prstGeom>
          <a:solidFill>
            <a:srgbClr val="FCFDFE"/>
          </a:solidFill>
          <a:ln w="12700">
            <a:solidFill>
              <a:srgbClr val="93A3B4"/>
            </a:solidFill>
            <a:prstDash val="dash"/>
          </a:ln>
        </p:spPr>
        <p:txBody>
          <a:bodyPr wrap="square" lIns="82231" tIns="56831" rIns="31431" bIns="31431" rtlCol="0" anchor="t">
            <a:normAutofit/>
          </a:bodyPr>
          <a:lstStyle/>
          <a:p>
            <a:pPr algn="l" indent="0" marL="0">
              <a:lnSpc>
                <a:spcPts val="1560"/>
              </a:lnSpc>
              <a:buNone/>
            </a:pPr>
            <a:r>
              <a:rPr lang="en-US" sz="1200" dirty="0">
                <a:solidFill>
                  <a:srgbClr val="16202B"/>
                </a:solidFill>
                <a:latin typeface="IBM Plex Sans" pitchFamily="34" charset="0"/>
                <a:ea typeface="IBM Plex Sans" pitchFamily="34" charset="-122"/>
                <a:cs typeface="IBM Plex Sans" pitchFamily="34" charset="-120"/>
              </a:rPr>
              <a:t>Value gaps, causal</a:t>
            </a:r>
            <a:endParaRPr lang="en-US" sz="1200" dirty="0"/>
          </a:p>
        </p:txBody>
      </p:sp>
      <p:pic>
        <p:nvPicPr>
          <p:cNvPr id="38" name="Image 3" descr="arrow-right">    </p:cNvPr>
          <p:cNvPicPr>
            <a:picLocks noChangeAspect="1"/>
          </p:cNvPicPr>
          <p:nvPr/>
        </p:nvPicPr>
        <p:blipFill>
          <a:blip r:embed="rId4"/>
          <a:srcRect l="0" r="0" t="0" b="0"/>
          <a:stretch/>
        </p:blipFill>
        <p:spPr>
          <a:xfrm>
            <a:off x="9260830" y="3087142"/>
            <a:ext cx="254000" cy="127000"/>
          </a:xfrm>
          <a:prstGeom prst="rect">
            <a:avLst/>
          </a:prstGeom>
        </p:spPr>
      </p:pic>
      <p:sp>
        <p:nvSpPr>
          <p:cNvPr id="39" name="Shape 33"/>
          <p:cNvSpPr/>
          <p:nvPr/>
        </p:nvSpPr>
        <p:spPr>
          <a:xfrm>
            <a:off x="9591030" y="1785541"/>
            <a:ext cx="1788170" cy="2730252"/>
          </a:xfrm>
          <a:prstGeom prst="roundRect">
            <a:avLst>
              <a:gd name="adj" fmla="val 3551"/>
            </a:avLst>
          </a:prstGeom>
          <a:solidFill>
            <a:srgbClr val="F6EFE1"/>
          </a:solidFill>
          <a:ln/>
        </p:spPr>
      </p:sp>
      <p:sp>
        <p:nvSpPr>
          <p:cNvPr id="40" name="Shape 34"/>
          <p:cNvSpPr/>
          <p:nvPr/>
        </p:nvSpPr>
        <p:spPr>
          <a:xfrm>
            <a:off x="9591030" y="1785541"/>
            <a:ext cx="1788170" cy="2730252"/>
          </a:xfrm>
          <a:custGeom>
            <a:avLst/>
            <a:gdLst/>
            <a:ahLst/>
            <a:cxnLst/>
            <a:rect l="l" t="t" r="r" b="b"/>
            <a:pathLst>
              <a:path w="1788170" h="2730252">
                <a:moveTo>
                  <a:pt x="0" y="63500"/>
                </a:moveTo>
                <a:lnTo>
                  <a:pt x="0" y="63500"/>
                </a:lnTo>
                <a:arcTo hR="63500" wR="63500" stAng="10800000" swAng="5400000"/>
                <a:lnTo>
                  <a:pt x="1724670" y="0"/>
                </a:lnTo>
                <a:arcTo hR="63500" wR="63500" stAng="16200000" swAng="5400000"/>
                <a:lnTo>
                  <a:pt x="1788170" y="63500"/>
                </a:lnTo>
                <a:arcTo hR="25400" wR="63500" stAng="0" swAng="-5400000"/>
                <a:lnTo>
                  <a:pt x="63500" y="38100"/>
                </a:lnTo>
                <a:arcTo hR="25400" wR="63500" stAng="16200000" swAng="-5400000"/>
                <a:close/>
              </a:path>
            </a:pathLst>
          </a:custGeom>
          <a:solidFill>
            <a:srgbClr val="B07A12"/>
          </a:solidFill>
          <a:ln/>
        </p:spPr>
      </p:sp>
      <p:sp>
        <p:nvSpPr>
          <p:cNvPr id="41" name="Text 35"/>
          <p:cNvSpPr/>
          <p:nvPr/>
        </p:nvSpPr>
        <p:spPr>
          <a:xfrm>
            <a:off x="9692630" y="1925241"/>
            <a:ext cx="1635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5E0A"/>
                </a:solidFill>
                <a:latin typeface="IBM Plex Mono" pitchFamily="49" charset="0"/>
                <a:ea typeface="IBM Plex Mono" pitchFamily="49" charset="-122"/>
                <a:cs typeface="IBM Plex Mono" pitchFamily="49" charset="-120"/>
              </a:rPr>
              <a:t>NORTH STAR</a:t>
            </a:r>
            <a:endParaRPr lang="en-US" sz="1200" dirty="0"/>
          </a:p>
        </p:txBody>
      </p:sp>
      <p:sp>
        <p:nvSpPr>
          <p:cNvPr id="42" name="Text 36"/>
          <p:cNvSpPr/>
          <p:nvPr/>
        </p:nvSpPr>
        <p:spPr>
          <a:xfrm>
            <a:off x="9692630" y="2189361"/>
            <a:ext cx="1584970" cy="325090"/>
          </a:xfrm>
          <a:prstGeom prst="roundRect">
            <a:avLst>
              <a:gd name="adj" fmla="val 15626"/>
            </a:avLst>
          </a:prstGeom>
          <a:solidFill>
            <a:srgbClr val="FCFDFE"/>
          </a:solidFill>
          <a:ln/>
        </p:spPr>
        <p:txBody>
          <a:bodyPr wrap="square" lIns="74021" tIns="48621" rIns="23221" bIns="23221" rtlCol="0" anchor="t">
            <a:normAutofit/>
          </a:bodyPr>
          <a:lstStyle/>
          <a:p>
            <a:pPr algn="l" indent="0" marL="0">
              <a:lnSpc>
                <a:spcPts val="1560"/>
              </a:lnSpc>
              <a:buNone/>
            </a:pPr>
            <a:r>
              <a:rPr lang="en-US" sz="1200" dirty="0">
                <a:solidFill>
                  <a:srgbClr val="16202B"/>
                </a:solidFill>
                <a:latin typeface="IBM Plex Sans" pitchFamily="34" charset="0"/>
                <a:ea typeface="IBM Plex Sans" pitchFamily="34" charset="-122"/>
                <a:cs typeface="IBM Plex Sans" pitchFamily="34" charset="-120"/>
              </a:rPr>
              <a:t>Client Admin</a:t>
            </a:r>
            <a:endParaRPr lang="en-US" sz="1200" dirty="0"/>
          </a:p>
        </p:txBody>
      </p:sp>
      <p:sp>
        <p:nvSpPr>
          <p:cNvPr id="43" name="Text 37"/>
          <p:cNvSpPr/>
          <p:nvPr/>
        </p:nvSpPr>
        <p:spPr>
          <a:xfrm>
            <a:off x="9692630" y="2565251"/>
            <a:ext cx="1584970" cy="325090"/>
          </a:xfrm>
          <a:prstGeom prst="roundRect">
            <a:avLst>
              <a:gd name="adj" fmla="val 15626"/>
            </a:avLst>
          </a:prstGeom>
          <a:solidFill>
            <a:srgbClr val="FCFDFE"/>
          </a:solidFill>
          <a:ln/>
        </p:spPr>
        <p:txBody>
          <a:bodyPr wrap="square" lIns="74021" tIns="48621" rIns="23221" bIns="23221" rtlCol="0" anchor="t">
            <a:normAutofit/>
          </a:bodyPr>
          <a:lstStyle/>
          <a:p>
            <a:pPr algn="l" indent="0" marL="0">
              <a:lnSpc>
                <a:spcPts val="1560"/>
              </a:lnSpc>
              <a:buNone/>
            </a:pPr>
            <a:r>
              <a:rPr lang="en-US" sz="1200" dirty="0">
                <a:solidFill>
                  <a:srgbClr val="16202B"/>
                </a:solidFill>
                <a:latin typeface="IBM Plex Sans" pitchFamily="34" charset="0"/>
                <a:ea typeface="IBM Plex Sans" pitchFamily="34" charset="-122"/>
                <a:cs typeface="IBM Plex Sans" pitchFamily="34" charset="-120"/>
              </a:rPr>
              <a:t>HR Specialist</a:t>
            </a:r>
            <a:endParaRPr lang="en-US" sz="1200" dirty="0"/>
          </a:p>
        </p:txBody>
      </p:sp>
      <p:sp>
        <p:nvSpPr>
          <p:cNvPr id="44" name="Text 38"/>
          <p:cNvSpPr/>
          <p:nvPr/>
        </p:nvSpPr>
        <p:spPr>
          <a:xfrm>
            <a:off x="9692630" y="2941141"/>
            <a:ext cx="1584970" cy="325090"/>
          </a:xfrm>
          <a:prstGeom prst="roundRect">
            <a:avLst>
              <a:gd name="adj" fmla="val 15626"/>
            </a:avLst>
          </a:prstGeom>
          <a:solidFill>
            <a:srgbClr val="FCFDFE"/>
          </a:solidFill>
          <a:ln/>
        </p:spPr>
        <p:txBody>
          <a:bodyPr wrap="square" lIns="74021" tIns="48621" rIns="23221" bIns="23221" rtlCol="0" anchor="t">
            <a:normAutofit/>
          </a:bodyPr>
          <a:lstStyle/>
          <a:p>
            <a:pPr algn="l" indent="0" marL="0">
              <a:lnSpc>
                <a:spcPts val="1560"/>
              </a:lnSpc>
              <a:buNone/>
            </a:pPr>
            <a:r>
              <a:rPr lang="en-US" sz="1200" dirty="0">
                <a:solidFill>
                  <a:srgbClr val="16202B"/>
                </a:solidFill>
                <a:latin typeface="IBM Plex Sans" pitchFamily="34" charset="0"/>
                <a:ea typeface="IBM Plex Sans" pitchFamily="34" charset="-122"/>
                <a:cs typeface="IBM Plex Sans" pitchFamily="34" charset="-120"/>
              </a:rPr>
              <a:t>Decisions</a:t>
            </a:r>
            <a:endParaRPr lang="en-US" sz="1200" dirty="0"/>
          </a:p>
        </p:txBody>
      </p:sp>
      <p:sp>
        <p:nvSpPr>
          <p:cNvPr id="45" name="Text 39"/>
          <p:cNvSpPr/>
          <p:nvPr/>
        </p:nvSpPr>
        <p:spPr>
          <a:xfrm>
            <a:off x="9692630" y="3317032"/>
            <a:ext cx="1584970" cy="325090"/>
          </a:xfrm>
          <a:prstGeom prst="roundRect">
            <a:avLst>
              <a:gd name="adj" fmla="val 15626"/>
            </a:avLst>
          </a:prstGeom>
          <a:solidFill>
            <a:srgbClr val="FCFDFE"/>
          </a:solidFill>
          <a:ln/>
        </p:spPr>
        <p:txBody>
          <a:bodyPr wrap="square" lIns="74021" tIns="48621" rIns="23221" bIns="23221" rtlCol="0" anchor="t">
            <a:normAutofit/>
          </a:bodyPr>
          <a:lstStyle/>
          <a:p>
            <a:pPr algn="l" indent="0" marL="0">
              <a:lnSpc>
                <a:spcPts val="1560"/>
              </a:lnSpc>
              <a:buNone/>
            </a:pPr>
            <a:r>
              <a:rPr lang="en-US" sz="1200" dirty="0">
                <a:solidFill>
                  <a:srgbClr val="16202B"/>
                </a:solidFill>
                <a:latin typeface="IBM Plex Sans" pitchFamily="34" charset="0"/>
                <a:ea typeface="IBM Plex Sans" pitchFamily="34" charset="-122"/>
                <a:cs typeface="IBM Plex Sans" pitchFamily="34" charset="-120"/>
              </a:rPr>
              <a:t>Orchestrated events</a:t>
            </a:r>
            <a:endParaRPr lang="en-US" sz="1200" dirty="0"/>
          </a:p>
        </p:txBody>
      </p:sp>
      <p:sp>
        <p:nvSpPr>
          <p:cNvPr id="46" name="Text 40"/>
          <p:cNvSpPr/>
          <p:nvPr/>
        </p:nvSpPr>
        <p:spPr>
          <a:xfrm>
            <a:off x="9692630" y="3692922"/>
            <a:ext cx="1584970" cy="325090"/>
          </a:xfrm>
          <a:prstGeom prst="roundRect">
            <a:avLst>
              <a:gd name="adj" fmla="val 15626"/>
            </a:avLst>
          </a:prstGeom>
          <a:solidFill>
            <a:srgbClr val="FCFDFE"/>
          </a:solidFill>
          <a:ln/>
        </p:spPr>
        <p:txBody>
          <a:bodyPr wrap="square" lIns="74021" tIns="48621" rIns="23221" bIns="23221" rtlCol="0" anchor="t">
            <a:normAutofit/>
          </a:bodyPr>
          <a:lstStyle/>
          <a:p>
            <a:pPr algn="l" indent="0" marL="0">
              <a:lnSpc>
                <a:spcPts val="1560"/>
              </a:lnSpc>
              <a:buNone/>
            </a:pPr>
            <a:r>
              <a:rPr lang="en-US" sz="1200" dirty="0">
                <a:solidFill>
                  <a:srgbClr val="16202B"/>
                </a:solidFill>
                <a:latin typeface="IBM Plex Sans" pitchFamily="34" charset="0"/>
                <a:ea typeface="IBM Plex Sans" pitchFamily="34" charset="-122"/>
                <a:cs typeface="IBM Plex Sans" pitchFamily="34" charset="-120"/>
              </a:rPr>
              <a:t>Measured outcomes</a:t>
            </a:r>
            <a:endParaRPr lang="en-US" sz="1200" dirty="0"/>
          </a:p>
        </p:txBody>
      </p:sp>
      <p:sp>
        <p:nvSpPr>
          <p:cNvPr id="47" name="Text 41"/>
          <p:cNvSpPr/>
          <p:nvPr/>
        </p:nvSpPr>
        <p:spPr>
          <a:xfrm>
            <a:off x="812800" y="4718993"/>
            <a:ext cx="1088339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A5A"/>
                </a:solidFill>
                <a:latin typeface="IBM Plex Sans" pitchFamily="34" charset="0"/>
                <a:ea typeface="IBM Plex Sans" pitchFamily="34" charset="-122"/>
                <a:cs typeface="IBM Plex Sans" pitchFamily="34" charset="-120"/>
              </a:rPr>
              <a:t>Solid boxes carry content and queries forward. Dashed boxes carry change signals and measurements back to the Keel, as KGCL change requests or causal findings.</a:t>
            </a:r>
            <a:endParaRPr lang="en-US" sz="1300" dirty="0"/>
          </a:p>
        </p:txBody>
      </p:sp>
      <p:sp>
        <p:nvSpPr>
          <p:cNvPr id="48" name="Text 4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E80"/>
                </a:solidFill>
                <a:latin typeface="IBM Plex Mono" pitchFamily="49" charset="0"/>
                <a:ea typeface="IBM Plex Mono" pitchFamily="49" charset="-122"/>
                <a:cs typeface="IBM Plex Mono" pitchFamily="49" charset="-120"/>
              </a:rPr>
              <a:t>PEO Sales Advisor · Storyboard · 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1F6E8C"/>
                </a:solidFill>
                <a:latin typeface="IBM Plex Mono" pitchFamily="49" charset="0"/>
                <a:ea typeface="IBM Plex Mono" pitchFamily="49" charset="-122"/>
                <a:cs typeface="IBM Plex Mono" pitchFamily="49" charset="-120"/>
              </a:rPr>
              <a:t>THE ACCELERATORS</a:t>
            </a:r>
            <a:endParaRPr lang="en-US" sz="1200" dirty="0"/>
          </a:p>
        </p:txBody>
      </p:sp>
      <p:sp>
        <p:nvSpPr>
          <p:cNvPr id="3" name="Text 1"/>
          <p:cNvSpPr/>
          <p:nvPr>
            <p:ph type="title"/>
          </p:nvPr>
        </p:nvSpPr>
        <p:spPr>
          <a:xfrm>
            <a:off x="812800" y="110232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6202B"/>
                </a:solidFill>
                <a:latin typeface="Big Shoulders" pitchFamily="34" charset="0"/>
                <a:ea typeface="Big Shoulders" pitchFamily="34" charset="-122"/>
                <a:cs typeface="Big Shoulders" pitchFamily="34" charset="-120"/>
              </a:rPr>
              <a:t>Six accelerators, each with a job in the advisor</a:t>
            </a:r>
            <a:endParaRPr lang="en-US" sz="3600" dirty="0"/>
          </a:p>
        </p:txBody>
      </p:sp>
      <p:sp>
        <p:nvSpPr>
          <p:cNvPr id="4" name="Shape 2"/>
          <p:cNvSpPr/>
          <p:nvPr/>
        </p:nvSpPr>
        <p:spPr>
          <a:xfrm>
            <a:off x="812800" y="1836341"/>
            <a:ext cx="3420517" cy="1656011"/>
          </a:xfrm>
          <a:prstGeom prst="roundRect">
            <a:avLst>
              <a:gd name="adj" fmla="val 4601"/>
            </a:avLst>
          </a:prstGeom>
          <a:solidFill>
            <a:srgbClr val="FCFDFE"/>
          </a:solidFill>
          <a:ln/>
          <a:effectLst>
            <a:outerShdw sx="100000" sy="100000" kx="0" ky="0" algn="bl" rotWithShape="0" blurRad="63500" dist="12700" dir="5400000">
              <a:srgbClr val="16202B">
                <a:alpha val="8000"/>
              </a:srgbClr>
            </a:outerShdw>
          </a:effectLst>
        </p:spPr>
      </p:sp>
      <p:sp>
        <p:nvSpPr>
          <p:cNvPr id="5" name="Shape 3"/>
          <p:cNvSpPr/>
          <p:nvPr/>
        </p:nvSpPr>
        <p:spPr>
          <a:xfrm>
            <a:off x="812800" y="1836341"/>
            <a:ext cx="3420517" cy="1656011"/>
          </a:xfrm>
          <a:custGeom>
            <a:avLst/>
            <a:gdLst/>
            <a:ahLst/>
            <a:cxnLst/>
            <a:rect l="l" t="t" r="r" b="b"/>
            <a:pathLst>
              <a:path w="3420517" h="1656011">
                <a:moveTo>
                  <a:pt x="0" y="76200"/>
                </a:moveTo>
                <a:lnTo>
                  <a:pt x="0" y="76200"/>
                </a:lnTo>
                <a:arcTo hR="76200" wR="76200" stAng="10800000" swAng="5400000"/>
                <a:lnTo>
                  <a:pt x="3344317" y="0"/>
                </a:lnTo>
                <a:arcTo hR="76200" wR="76200" stAng="16200000" swAng="5400000"/>
                <a:lnTo>
                  <a:pt x="3420517" y="76200"/>
                </a:lnTo>
                <a:arcTo hR="38100" wR="76200" stAng="0" swAng="-5400000"/>
                <a:lnTo>
                  <a:pt x="76200" y="38100"/>
                </a:lnTo>
                <a:arcTo hR="38100" wR="76200" stAng="16200000" swAng="-5400000"/>
                <a:close/>
              </a:path>
            </a:pathLst>
          </a:custGeom>
          <a:solidFill>
            <a:srgbClr val="4A3AA7"/>
          </a:solidFill>
          <a:ln/>
        </p:spPr>
      </p:sp>
      <p:sp>
        <p:nvSpPr>
          <p:cNvPr id="6" name="Text 4"/>
          <p:cNvSpPr/>
          <p:nvPr/>
        </p:nvSpPr>
        <p:spPr>
          <a:xfrm>
            <a:off x="990600" y="2052241"/>
            <a:ext cx="315686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02B"/>
                </a:solidFill>
                <a:latin typeface="Big Shoulders" pitchFamily="34" charset="0"/>
                <a:ea typeface="Big Shoulders" pitchFamily="34" charset="-122"/>
                <a:cs typeface="Big Shoulders" pitchFamily="34" charset="-120"/>
              </a:rPr>
              <a:t>01 · HSGA</a:t>
            </a:r>
            <a:endParaRPr lang="en-US" sz="2000" dirty="0"/>
          </a:p>
        </p:txBody>
      </p:sp>
      <p:sp>
        <p:nvSpPr>
          <p:cNvPr id="7" name="Text 5"/>
          <p:cNvSpPr/>
          <p:nvPr/>
        </p:nvSpPr>
        <p:spPr>
          <a:xfrm>
            <a:off x="990600" y="2420541"/>
            <a:ext cx="3156864"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A5A"/>
                </a:solidFill>
                <a:latin typeface="IBM Plex Sans" pitchFamily="34" charset="0"/>
                <a:ea typeface="IBM Plex Sans" pitchFamily="34" charset="-122"/>
                <a:cs typeface="IBM Plex Sans" pitchFamily="34" charset="-120"/>
              </a:rPr>
              <a:t>Persona, content and rule scopes nest as holons, so a brief resolves only what applies to that prospect.</a:t>
            </a:r>
            <a:endParaRPr lang="en-US" sz="1200" dirty="0"/>
          </a:p>
        </p:txBody>
      </p:sp>
      <p:sp>
        <p:nvSpPr>
          <p:cNvPr id="8" name="Text 6"/>
          <p:cNvSpPr/>
          <p:nvPr/>
        </p:nvSpPr>
        <p:spPr>
          <a:xfrm>
            <a:off x="990600" y="3101231"/>
            <a:ext cx="31568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3AA7"/>
                </a:solidFill>
                <a:latin typeface="IBM Plex Mono" pitchFamily="49" charset="0"/>
                <a:ea typeface="IBM Plex Mono" pitchFamily="49" charset="-122"/>
                <a:cs typeface="IBM Plex Mono" pitchFamily="49" charset="-120"/>
              </a:rPr>
              <a:t>Rules Map · Advisor</a:t>
            </a:r>
            <a:endParaRPr lang="en-US" sz="1200" dirty="0"/>
          </a:p>
        </p:txBody>
      </p:sp>
      <p:sp>
        <p:nvSpPr>
          <p:cNvPr id="9" name="Shape 7"/>
          <p:cNvSpPr/>
          <p:nvPr/>
        </p:nvSpPr>
        <p:spPr>
          <a:xfrm>
            <a:off x="4385717" y="1836341"/>
            <a:ext cx="3420517" cy="1656011"/>
          </a:xfrm>
          <a:prstGeom prst="roundRect">
            <a:avLst>
              <a:gd name="adj" fmla="val 4601"/>
            </a:avLst>
          </a:prstGeom>
          <a:solidFill>
            <a:srgbClr val="FCFDFE"/>
          </a:solidFill>
          <a:ln/>
          <a:effectLst>
            <a:outerShdw sx="100000" sy="100000" kx="0" ky="0" algn="bl" rotWithShape="0" blurRad="63500" dist="12700" dir="5400000">
              <a:srgbClr val="16202B">
                <a:alpha val="8000"/>
              </a:srgbClr>
            </a:outerShdw>
          </a:effectLst>
        </p:spPr>
      </p:sp>
      <p:sp>
        <p:nvSpPr>
          <p:cNvPr id="10" name="Shape 8"/>
          <p:cNvSpPr/>
          <p:nvPr/>
        </p:nvSpPr>
        <p:spPr>
          <a:xfrm>
            <a:off x="4385717" y="1836341"/>
            <a:ext cx="3420517" cy="1656011"/>
          </a:xfrm>
          <a:custGeom>
            <a:avLst/>
            <a:gdLst/>
            <a:ahLst/>
            <a:cxnLst/>
            <a:rect l="l" t="t" r="r" b="b"/>
            <a:pathLst>
              <a:path w="3420517" h="1656011">
                <a:moveTo>
                  <a:pt x="0" y="76200"/>
                </a:moveTo>
                <a:lnTo>
                  <a:pt x="0" y="76200"/>
                </a:lnTo>
                <a:arcTo hR="76200" wR="76200" stAng="10800000" swAng="5400000"/>
                <a:lnTo>
                  <a:pt x="3344317" y="0"/>
                </a:lnTo>
                <a:arcTo hR="76200" wR="76200" stAng="16200000" swAng="5400000"/>
                <a:lnTo>
                  <a:pt x="3420517" y="76200"/>
                </a:lnTo>
                <a:arcTo hR="38100" wR="76200" stAng="0" swAng="-5400000"/>
                <a:lnTo>
                  <a:pt x="76200" y="38100"/>
                </a:lnTo>
                <a:arcTo hR="38100" wR="76200" stAng="16200000" swAng="-5400000"/>
                <a:close/>
              </a:path>
            </a:pathLst>
          </a:custGeom>
          <a:solidFill>
            <a:srgbClr val="4A3AA7"/>
          </a:solidFill>
          <a:ln/>
        </p:spPr>
      </p:sp>
      <p:sp>
        <p:nvSpPr>
          <p:cNvPr id="11" name="Text 9"/>
          <p:cNvSpPr/>
          <p:nvPr/>
        </p:nvSpPr>
        <p:spPr>
          <a:xfrm>
            <a:off x="4563517" y="2052241"/>
            <a:ext cx="315686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02B"/>
                </a:solidFill>
                <a:latin typeface="Big Shoulders" pitchFamily="34" charset="0"/>
                <a:ea typeface="Big Shoulders" pitchFamily="34" charset="-122"/>
                <a:cs typeface="Big Shoulders" pitchFamily="34" charset="-120"/>
              </a:rPr>
              <a:t>02 · Decision Modeling</a:t>
            </a:r>
            <a:endParaRPr lang="en-US" sz="2000" dirty="0"/>
          </a:p>
        </p:txBody>
      </p:sp>
      <p:sp>
        <p:nvSpPr>
          <p:cNvPr id="12" name="Text 10"/>
          <p:cNvSpPr/>
          <p:nvPr/>
        </p:nvSpPr>
        <p:spPr>
          <a:xfrm>
            <a:off x="4563517" y="2420541"/>
            <a:ext cx="3156864"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A5A"/>
                </a:solidFill>
                <a:latin typeface="IBM Plex Sans" pitchFamily="34" charset="0"/>
                <a:ea typeface="IBM Plex Sans" pitchFamily="34" charset="-122"/>
                <a:cs typeface="IBM Plex Sans" pitchFamily="34" charset="-120"/>
              </a:rPr>
              <a:t>One decision per job step, recorded against an outcome bound to a Metric Definition Card (MET-014).</a:t>
            </a:r>
            <a:endParaRPr lang="en-US" sz="1200" dirty="0"/>
          </a:p>
        </p:txBody>
      </p:sp>
      <p:sp>
        <p:nvSpPr>
          <p:cNvPr id="13" name="Text 11"/>
          <p:cNvSpPr/>
          <p:nvPr/>
        </p:nvSpPr>
        <p:spPr>
          <a:xfrm>
            <a:off x="4563517" y="3101231"/>
            <a:ext cx="31568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3AA7"/>
                </a:solidFill>
                <a:latin typeface="IBM Plex Mono" pitchFamily="49" charset="0"/>
                <a:ea typeface="IBM Plex Mono" pitchFamily="49" charset="-122"/>
                <a:cs typeface="IBM Plex Mono" pitchFamily="49" charset="-120"/>
              </a:rPr>
              <a:t>Baseline · Advisor</a:t>
            </a:r>
            <a:endParaRPr lang="en-US" sz="1200" dirty="0"/>
          </a:p>
        </p:txBody>
      </p:sp>
      <p:sp>
        <p:nvSpPr>
          <p:cNvPr id="14" name="Shape 12"/>
          <p:cNvSpPr/>
          <p:nvPr/>
        </p:nvSpPr>
        <p:spPr>
          <a:xfrm>
            <a:off x="7958634" y="1836341"/>
            <a:ext cx="3420566" cy="1656011"/>
          </a:xfrm>
          <a:prstGeom prst="roundRect">
            <a:avLst>
              <a:gd name="adj" fmla="val 4601"/>
            </a:avLst>
          </a:prstGeom>
          <a:solidFill>
            <a:srgbClr val="FCFDFE"/>
          </a:solidFill>
          <a:ln/>
          <a:effectLst>
            <a:outerShdw sx="100000" sy="100000" kx="0" ky="0" algn="bl" rotWithShape="0" blurRad="63500" dist="12700" dir="5400000">
              <a:srgbClr val="16202B">
                <a:alpha val="8000"/>
              </a:srgbClr>
            </a:outerShdw>
          </a:effectLst>
        </p:spPr>
      </p:sp>
      <p:sp>
        <p:nvSpPr>
          <p:cNvPr id="15" name="Shape 13"/>
          <p:cNvSpPr/>
          <p:nvPr/>
        </p:nvSpPr>
        <p:spPr>
          <a:xfrm>
            <a:off x="7958634" y="1836341"/>
            <a:ext cx="3420566" cy="1656011"/>
          </a:xfrm>
          <a:custGeom>
            <a:avLst/>
            <a:gdLst/>
            <a:ahLst/>
            <a:cxnLst/>
            <a:rect l="l" t="t" r="r" b="b"/>
            <a:pathLst>
              <a:path w="3420566" h="1656011">
                <a:moveTo>
                  <a:pt x="0" y="76200"/>
                </a:moveTo>
                <a:lnTo>
                  <a:pt x="0" y="76200"/>
                </a:lnTo>
                <a:arcTo hR="76200" wR="76200" stAng="10800000" swAng="5400000"/>
                <a:lnTo>
                  <a:pt x="3344366" y="0"/>
                </a:lnTo>
                <a:arcTo hR="76200" wR="76200" stAng="16200000" swAng="5400000"/>
                <a:lnTo>
                  <a:pt x="3420566" y="76200"/>
                </a:lnTo>
                <a:arcTo hR="38100" wR="76200" stAng="0" swAng="-5400000"/>
                <a:lnTo>
                  <a:pt x="76200" y="38100"/>
                </a:lnTo>
                <a:arcTo hR="38100" wR="76200" stAng="16200000" swAng="-5400000"/>
                <a:close/>
              </a:path>
            </a:pathLst>
          </a:custGeom>
          <a:solidFill>
            <a:srgbClr val="1F6E8C"/>
          </a:solidFill>
          <a:ln/>
        </p:spPr>
      </p:sp>
      <p:sp>
        <p:nvSpPr>
          <p:cNvPr id="16" name="Text 14"/>
          <p:cNvSpPr/>
          <p:nvPr/>
        </p:nvSpPr>
        <p:spPr>
          <a:xfrm>
            <a:off x="8136434" y="2052241"/>
            <a:ext cx="315691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02B"/>
                </a:solidFill>
                <a:latin typeface="Big Shoulders" pitchFamily="34" charset="0"/>
                <a:ea typeface="Big Shoulders" pitchFamily="34" charset="-122"/>
                <a:cs typeface="Big Shoulders" pitchFamily="34" charset="-120"/>
              </a:rPr>
              <a:t>03 · SSOT</a:t>
            </a:r>
            <a:endParaRPr lang="en-US" sz="2000" dirty="0"/>
          </a:p>
        </p:txBody>
      </p:sp>
      <p:sp>
        <p:nvSpPr>
          <p:cNvPr id="17" name="Text 15"/>
          <p:cNvSpPr/>
          <p:nvPr/>
        </p:nvSpPr>
        <p:spPr>
          <a:xfrm>
            <a:off x="8136434" y="2420541"/>
            <a:ext cx="3156915"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A5A"/>
                </a:solidFill>
                <a:latin typeface="IBM Plex Sans" pitchFamily="34" charset="0"/>
                <a:ea typeface="IBM Plex Sans" pitchFamily="34" charset="-122"/>
                <a:cs typeface="IBM Plex Sans" pitchFamily="34" charset="-120"/>
              </a:rPr>
              <a:t>Extraction, control and assembly rules sit beside policy rules in one register, compiled to Rego, SHACL and dbt.</a:t>
            </a:r>
            <a:endParaRPr lang="en-US" sz="1200" dirty="0"/>
          </a:p>
        </p:txBody>
      </p:sp>
      <p:sp>
        <p:nvSpPr>
          <p:cNvPr id="18" name="Text 16"/>
          <p:cNvSpPr/>
          <p:nvPr/>
        </p:nvSpPr>
        <p:spPr>
          <a:xfrm>
            <a:off x="8136434" y="3101231"/>
            <a:ext cx="31569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E8C"/>
                </a:solidFill>
                <a:latin typeface="IBM Plex Mono" pitchFamily="49" charset="0"/>
                <a:ea typeface="IBM Plex Mono" pitchFamily="49" charset="-122"/>
                <a:cs typeface="IBM Plex Mono" pitchFamily="49" charset="-120"/>
              </a:rPr>
              <a:t>SSOT Editor · Rules Map</a:t>
            </a:r>
            <a:endParaRPr lang="en-US" sz="1200" dirty="0"/>
          </a:p>
        </p:txBody>
      </p:sp>
      <p:sp>
        <p:nvSpPr>
          <p:cNvPr id="19" name="Shape 17"/>
          <p:cNvSpPr/>
          <p:nvPr/>
        </p:nvSpPr>
        <p:spPr>
          <a:xfrm>
            <a:off x="812800" y="3644751"/>
            <a:ext cx="3420517" cy="1656011"/>
          </a:xfrm>
          <a:prstGeom prst="roundRect">
            <a:avLst>
              <a:gd name="adj" fmla="val 4601"/>
            </a:avLst>
          </a:prstGeom>
          <a:solidFill>
            <a:srgbClr val="FCFDFE"/>
          </a:solidFill>
          <a:ln/>
          <a:effectLst>
            <a:outerShdw sx="100000" sy="100000" kx="0" ky="0" algn="bl" rotWithShape="0" blurRad="63500" dist="12700" dir="5400000">
              <a:srgbClr val="16202B">
                <a:alpha val="8000"/>
              </a:srgbClr>
            </a:outerShdw>
          </a:effectLst>
        </p:spPr>
      </p:sp>
      <p:sp>
        <p:nvSpPr>
          <p:cNvPr id="20" name="Shape 18"/>
          <p:cNvSpPr/>
          <p:nvPr/>
        </p:nvSpPr>
        <p:spPr>
          <a:xfrm>
            <a:off x="812800" y="3644751"/>
            <a:ext cx="3420517" cy="1656011"/>
          </a:xfrm>
          <a:custGeom>
            <a:avLst/>
            <a:gdLst/>
            <a:ahLst/>
            <a:cxnLst/>
            <a:rect l="l" t="t" r="r" b="b"/>
            <a:pathLst>
              <a:path w="3420517" h="1656011">
                <a:moveTo>
                  <a:pt x="0" y="76200"/>
                </a:moveTo>
                <a:lnTo>
                  <a:pt x="0" y="76200"/>
                </a:lnTo>
                <a:arcTo hR="76200" wR="76200" stAng="10800000" swAng="5400000"/>
                <a:lnTo>
                  <a:pt x="3344317" y="0"/>
                </a:lnTo>
                <a:arcTo hR="76200" wR="76200" stAng="16200000" swAng="5400000"/>
                <a:lnTo>
                  <a:pt x="3420517" y="76200"/>
                </a:lnTo>
                <a:arcTo hR="38100" wR="76200" stAng="0" swAng="-5400000"/>
                <a:lnTo>
                  <a:pt x="76200" y="38100"/>
                </a:lnTo>
                <a:arcTo hR="38100" wR="76200" stAng="16200000" swAng="-5400000"/>
                <a:close/>
              </a:path>
            </a:pathLst>
          </a:custGeom>
          <a:solidFill>
            <a:srgbClr val="1F6E8C"/>
          </a:solidFill>
          <a:ln/>
        </p:spPr>
      </p:sp>
      <p:sp>
        <p:nvSpPr>
          <p:cNvPr id="21" name="Text 19"/>
          <p:cNvSpPr/>
          <p:nvPr/>
        </p:nvSpPr>
        <p:spPr>
          <a:xfrm>
            <a:off x="990600" y="3860651"/>
            <a:ext cx="315686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02B"/>
                </a:solidFill>
                <a:latin typeface="Big Shoulders" pitchFamily="34" charset="0"/>
                <a:ea typeface="Big Shoulders" pitchFamily="34" charset="-122"/>
                <a:cs typeface="Big Shoulders" pitchFamily="34" charset="-120"/>
              </a:rPr>
              <a:t>04 · RDSG Gateway</a:t>
            </a:r>
            <a:endParaRPr lang="en-US" sz="2000" dirty="0"/>
          </a:p>
        </p:txBody>
      </p:sp>
      <p:sp>
        <p:nvSpPr>
          <p:cNvPr id="22" name="Text 20"/>
          <p:cNvSpPr/>
          <p:nvPr/>
        </p:nvSpPr>
        <p:spPr>
          <a:xfrm>
            <a:off x="990600" y="4228951"/>
            <a:ext cx="3156864"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A5A"/>
                </a:solidFill>
                <a:latin typeface="IBM Plex Sans" pitchFamily="34" charset="0"/>
                <a:ea typeface="IBM Plex Sans" pitchFamily="34" charset="-122"/>
                <a:cs typeface="IBM Plex Sans" pitchFamily="34" charset="-120"/>
              </a:rPr>
              <a:t>Every persona question and agent action passes the gateway and policy enforcement points first.</a:t>
            </a:r>
            <a:endParaRPr lang="en-US" sz="1200" dirty="0"/>
          </a:p>
        </p:txBody>
      </p:sp>
      <p:sp>
        <p:nvSpPr>
          <p:cNvPr id="23" name="Text 21"/>
          <p:cNvSpPr/>
          <p:nvPr/>
        </p:nvSpPr>
        <p:spPr>
          <a:xfrm>
            <a:off x="990600" y="4909641"/>
            <a:ext cx="31568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E8C"/>
                </a:solidFill>
                <a:latin typeface="IBM Plex Mono" pitchFamily="49" charset="0"/>
                <a:ea typeface="IBM Plex Mono" pitchFamily="49" charset="-122"/>
                <a:cs typeface="IBM Plex Mono" pitchFamily="49" charset="-120"/>
              </a:rPr>
              <a:t>Advisor · Agent Editor</a:t>
            </a:r>
            <a:endParaRPr lang="en-US" sz="1200" dirty="0"/>
          </a:p>
        </p:txBody>
      </p:sp>
      <p:sp>
        <p:nvSpPr>
          <p:cNvPr id="24" name="Shape 22"/>
          <p:cNvSpPr/>
          <p:nvPr/>
        </p:nvSpPr>
        <p:spPr>
          <a:xfrm>
            <a:off x="4385717" y="3644751"/>
            <a:ext cx="3420517" cy="1656011"/>
          </a:xfrm>
          <a:prstGeom prst="roundRect">
            <a:avLst>
              <a:gd name="adj" fmla="val 4601"/>
            </a:avLst>
          </a:prstGeom>
          <a:solidFill>
            <a:srgbClr val="FCFDFE"/>
          </a:solidFill>
          <a:ln/>
          <a:effectLst>
            <a:outerShdw sx="100000" sy="100000" kx="0" ky="0" algn="bl" rotWithShape="0" blurRad="63500" dist="12700" dir="5400000">
              <a:srgbClr val="16202B">
                <a:alpha val="8000"/>
              </a:srgbClr>
            </a:outerShdw>
          </a:effectLst>
        </p:spPr>
      </p:sp>
      <p:sp>
        <p:nvSpPr>
          <p:cNvPr id="25" name="Shape 23"/>
          <p:cNvSpPr/>
          <p:nvPr/>
        </p:nvSpPr>
        <p:spPr>
          <a:xfrm>
            <a:off x="4385717" y="3644751"/>
            <a:ext cx="3420517" cy="1656011"/>
          </a:xfrm>
          <a:custGeom>
            <a:avLst/>
            <a:gdLst/>
            <a:ahLst/>
            <a:cxnLst/>
            <a:rect l="l" t="t" r="r" b="b"/>
            <a:pathLst>
              <a:path w="3420517" h="1656011">
                <a:moveTo>
                  <a:pt x="0" y="76200"/>
                </a:moveTo>
                <a:lnTo>
                  <a:pt x="0" y="76200"/>
                </a:lnTo>
                <a:arcTo hR="76200" wR="76200" stAng="10800000" swAng="5400000"/>
                <a:lnTo>
                  <a:pt x="3344317" y="0"/>
                </a:lnTo>
                <a:arcTo hR="76200" wR="76200" stAng="16200000" swAng="5400000"/>
                <a:lnTo>
                  <a:pt x="3420517" y="76200"/>
                </a:lnTo>
                <a:arcTo hR="38100" wR="76200" stAng="0" swAng="-5400000"/>
                <a:lnTo>
                  <a:pt x="76200" y="38100"/>
                </a:lnTo>
                <a:arcTo hR="38100" wR="76200" stAng="16200000" swAng="-5400000"/>
                <a:close/>
              </a:path>
            </a:pathLst>
          </a:custGeom>
          <a:solidFill>
            <a:srgbClr val="B07A12"/>
          </a:solidFill>
          <a:ln/>
        </p:spPr>
      </p:sp>
      <p:sp>
        <p:nvSpPr>
          <p:cNvPr id="26" name="Text 24"/>
          <p:cNvSpPr/>
          <p:nvPr/>
        </p:nvSpPr>
        <p:spPr>
          <a:xfrm>
            <a:off x="4563517" y="3860651"/>
            <a:ext cx="315686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02B"/>
                </a:solidFill>
                <a:latin typeface="Big Shoulders" pitchFamily="34" charset="0"/>
                <a:ea typeface="Big Shoulders" pitchFamily="34" charset="-122"/>
                <a:cs typeface="Big Shoulders" pitchFamily="34" charset="-120"/>
              </a:rPr>
              <a:t>05 · PLM Dashboard</a:t>
            </a:r>
            <a:endParaRPr lang="en-US" sz="2000" dirty="0"/>
          </a:p>
        </p:txBody>
      </p:sp>
      <p:sp>
        <p:nvSpPr>
          <p:cNvPr id="27" name="Text 25"/>
          <p:cNvSpPr/>
          <p:nvPr/>
        </p:nvSpPr>
        <p:spPr>
          <a:xfrm>
            <a:off x="4563517" y="4228951"/>
            <a:ext cx="3156864"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A5A"/>
                </a:solidFill>
                <a:latin typeface="IBM Plex Sans" pitchFamily="34" charset="0"/>
                <a:ea typeface="IBM Plex Sans" pitchFamily="34" charset="-122"/>
                <a:cs typeface="IBM Plex Sans" pitchFamily="34" charset="-120"/>
              </a:rPr>
              <a:t>Phases, gates, dependencies and risk for building the advisor itself, tied to Keel releases.</a:t>
            </a:r>
            <a:endParaRPr lang="en-US" sz="1200" dirty="0"/>
          </a:p>
        </p:txBody>
      </p:sp>
      <p:sp>
        <p:nvSpPr>
          <p:cNvPr id="28" name="Text 26"/>
          <p:cNvSpPr/>
          <p:nvPr/>
        </p:nvSpPr>
        <p:spPr>
          <a:xfrm>
            <a:off x="4563517" y="4909641"/>
            <a:ext cx="31568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5E0A"/>
                </a:solidFill>
                <a:latin typeface="IBM Plex Mono" pitchFamily="49" charset="0"/>
                <a:ea typeface="IBM Plex Mono" pitchFamily="49" charset="-122"/>
                <a:cs typeface="IBM Plex Mono" pitchFamily="49" charset="-120"/>
              </a:rPr>
              <a:t>PLM Dashboard</a:t>
            </a:r>
            <a:endParaRPr lang="en-US" sz="1200" dirty="0"/>
          </a:p>
        </p:txBody>
      </p:sp>
      <p:sp>
        <p:nvSpPr>
          <p:cNvPr id="29" name="Shape 27"/>
          <p:cNvSpPr/>
          <p:nvPr/>
        </p:nvSpPr>
        <p:spPr>
          <a:xfrm>
            <a:off x="7958634" y="3644751"/>
            <a:ext cx="3420566" cy="1656011"/>
          </a:xfrm>
          <a:prstGeom prst="roundRect">
            <a:avLst>
              <a:gd name="adj" fmla="val 4601"/>
            </a:avLst>
          </a:prstGeom>
          <a:solidFill>
            <a:srgbClr val="FCFDFE"/>
          </a:solidFill>
          <a:ln/>
          <a:effectLst>
            <a:outerShdw sx="100000" sy="100000" kx="0" ky="0" algn="bl" rotWithShape="0" blurRad="63500" dist="12700" dir="5400000">
              <a:srgbClr val="16202B">
                <a:alpha val="8000"/>
              </a:srgbClr>
            </a:outerShdw>
          </a:effectLst>
        </p:spPr>
      </p:sp>
      <p:sp>
        <p:nvSpPr>
          <p:cNvPr id="30" name="Shape 28"/>
          <p:cNvSpPr/>
          <p:nvPr/>
        </p:nvSpPr>
        <p:spPr>
          <a:xfrm>
            <a:off x="7958634" y="3644751"/>
            <a:ext cx="3420566" cy="1656011"/>
          </a:xfrm>
          <a:custGeom>
            <a:avLst/>
            <a:gdLst/>
            <a:ahLst/>
            <a:cxnLst/>
            <a:rect l="l" t="t" r="r" b="b"/>
            <a:pathLst>
              <a:path w="3420566" h="1656011">
                <a:moveTo>
                  <a:pt x="0" y="76200"/>
                </a:moveTo>
                <a:lnTo>
                  <a:pt x="0" y="76200"/>
                </a:lnTo>
                <a:arcTo hR="76200" wR="76200" stAng="10800000" swAng="5400000"/>
                <a:lnTo>
                  <a:pt x="3344366" y="0"/>
                </a:lnTo>
                <a:arcTo hR="76200" wR="76200" stAng="16200000" swAng="5400000"/>
                <a:lnTo>
                  <a:pt x="3420566" y="76200"/>
                </a:lnTo>
                <a:arcTo hR="38100" wR="76200" stAng="0" swAng="-5400000"/>
                <a:lnTo>
                  <a:pt x="76200" y="38100"/>
                </a:lnTo>
                <a:arcTo hR="38100" wR="76200" stAng="16200000" swAng="-5400000"/>
                <a:close/>
              </a:path>
            </a:pathLst>
          </a:custGeom>
          <a:solidFill>
            <a:srgbClr val="C0392B"/>
          </a:solidFill>
          <a:ln/>
        </p:spPr>
      </p:sp>
      <p:sp>
        <p:nvSpPr>
          <p:cNvPr id="31" name="Text 29"/>
          <p:cNvSpPr/>
          <p:nvPr/>
        </p:nvSpPr>
        <p:spPr>
          <a:xfrm>
            <a:off x="8136434" y="3860651"/>
            <a:ext cx="315691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02B"/>
                </a:solidFill>
                <a:latin typeface="Big Shoulders" pitchFamily="34" charset="0"/>
                <a:ea typeface="Big Shoulders" pitchFamily="34" charset="-122"/>
                <a:cs typeface="Big Shoulders" pitchFamily="34" charset="-120"/>
              </a:rPr>
              <a:t>06 · AI Circuit Breaker</a:t>
            </a:r>
            <a:endParaRPr lang="en-US" sz="2000" dirty="0"/>
          </a:p>
        </p:txBody>
      </p:sp>
      <p:sp>
        <p:nvSpPr>
          <p:cNvPr id="32" name="Text 30"/>
          <p:cNvSpPr/>
          <p:nvPr/>
        </p:nvSpPr>
        <p:spPr>
          <a:xfrm>
            <a:off x="8136434" y="4228951"/>
            <a:ext cx="3156915"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A5A"/>
                </a:solidFill>
                <a:latin typeface="IBM Plex Sans" pitchFamily="34" charset="0"/>
                <a:ea typeface="IBM Plex Sans" pitchFamily="34" charset="-122"/>
                <a:cs typeface="IBM Plex Sans" pitchFamily="34" charset="-120"/>
              </a:rPr>
              <a:t>Each evaluating agent carries an MTBH breaker; irreversible actions below threshold go to a person.</a:t>
            </a:r>
            <a:endParaRPr lang="en-US" sz="1200" dirty="0"/>
          </a:p>
        </p:txBody>
      </p:sp>
      <p:sp>
        <p:nvSpPr>
          <p:cNvPr id="33" name="Text 31"/>
          <p:cNvSpPr/>
          <p:nvPr/>
        </p:nvSpPr>
        <p:spPr>
          <a:xfrm>
            <a:off x="8136434" y="4909641"/>
            <a:ext cx="31569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322A"/>
                </a:solidFill>
                <a:latin typeface="IBM Plex Mono" pitchFamily="49" charset="0"/>
                <a:ea typeface="IBM Plex Mono" pitchFamily="49" charset="-122"/>
                <a:cs typeface="IBM Plex Mono" pitchFamily="49" charset="-120"/>
              </a:rPr>
              <a:t>Baseline · Agent Editor</a:t>
            </a:r>
            <a:endParaRPr lang="en-US" sz="1200" dirty="0"/>
          </a:p>
        </p:txBody>
      </p:sp>
      <p:sp>
        <p:nvSpPr>
          <p:cNvPr id="34" name="Text 3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E80"/>
                </a:solidFill>
                <a:latin typeface="IBM Plex Mono" pitchFamily="49" charset="0"/>
                <a:ea typeface="IBM Plex Mono" pitchFamily="49" charset="-122"/>
                <a:cs typeface="IBM Plex Mono" pitchFamily="49" charset="-120"/>
              </a:rPr>
              <a:t>PEO Sales Advisor · Storyboard · 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20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2B44E"/>
                </a:solidFill>
                <a:latin typeface="IBM Plex Mono" pitchFamily="49" charset="0"/>
                <a:ea typeface="IBM Plex Mono" pitchFamily="49" charset="-122"/>
                <a:cs typeface="IBM Plex Mono" pitchFamily="49" charset="-120"/>
              </a:rPr>
              <a:t>DESIGN PRINCIPLE</a:t>
            </a:r>
            <a:endParaRPr lang="en-US" sz="1200" dirty="0"/>
          </a:p>
        </p:txBody>
      </p:sp>
      <p:sp>
        <p:nvSpPr>
          <p:cNvPr id="3" name="Text 1"/>
          <p:cNvSpPr/>
          <p:nvPr>
            <p:ph type="title"/>
          </p:nvPr>
        </p:nvSpPr>
        <p:spPr>
          <a:xfrm>
            <a:off x="812800" y="1153120"/>
            <a:ext cx="10883392" cy="1890663"/>
          </a:xfrm>
          <a:prstGeom prst="rect">
            <a:avLst/>
          </a:prstGeom>
          <a:noFill/>
          <a:ln/>
        </p:spPr>
        <p:txBody>
          <a:bodyPr wrap="square" lIns="0" tIns="0" rIns="0" bIns="0" rtlCol="0" anchor="t">
            <a:normAutofit/>
          </a:bodyPr>
          <a:lstStyle/>
          <a:p>
            <a:pPr algn="l" indent="0" marL="0">
              <a:lnSpc>
                <a:spcPts val="4896"/>
              </a:lnSpc>
              <a:buNone/>
            </a:pPr>
            <a:r>
              <a:rPr lang="en-US" sz="4800" b="1" i="0" dirty="0">
                <a:solidFill>
                  <a:srgbClr val="EAF0F6"/>
                </a:solidFill>
                <a:latin typeface="Big Shoulders" pitchFamily="34" charset="0"/>
                <a:ea typeface="Big Shoulders" pitchFamily="34" charset="-122"/>
                <a:cs typeface="Big Shoulders" pitchFamily="34" charset="-120"/>
              </a:rPr>
              <a:t>Separate the function points, so each can change, be tested and be reused on its own</a:t>
            </a:r>
            <a:endParaRPr lang="en-US" sz="4800" dirty="0"/>
          </a:p>
        </p:txBody>
      </p:sp>
      <p:sp>
        <p:nvSpPr>
          <p:cNvPr id="4" name="Shape 2"/>
          <p:cNvSpPr/>
          <p:nvPr/>
        </p:nvSpPr>
        <p:spPr>
          <a:xfrm>
            <a:off x="812800" y="4224189"/>
            <a:ext cx="2527300" cy="1617811"/>
          </a:xfrm>
          <a:prstGeom prst="roundRect">
            <a:avLst>
              <a:gd name="adj" fmla="val 4710"/>
            </a:avLst>
          </a:prstGeom>
          <a:solidFill>
            <a:srgbClr val="1F2C3A"/>
          </a:solidFill>
          <a:ln/>
        </p:spPr>
      </p:sp>
      <p:sp>
        <p:nvSpPr>
          <p:cNvPr id="5" name="Shape 3"/>
          <p:cNvSpPr/>
          <p:nvPr/>
        </p:nvSpPr>
        <p:spPr>
          <a:xfrm>
            <a:off x="812800" y="4224189"/>
            <a:ext cx="2527300" cy="1617811"/>
          </a:xfrm>
          <a:custGeom>
            <a:avLst/>
            <a:gdLst/>
            <a:ahLst/>
            <a:cxnLst/>
            <a:rect l="l" t="t" r="r" b="b"/>
            <a:pathLst>
              <a:path w="2527300" h="1617811">
                <a:moveTo>
                  <a:pt x="0" y="76200"/>
                </a:moveTo>
                <a:lnTo>
                  <a:pt x="0" y="76200"/>
                </a:lnTo>
                <a:arcTo hR="76200" wR="76200" stAng="10800000" swAng="5400000"/>
                <a:lnTo>
                  <a:pt x="2451100" y="0"/>
                </a:lnTo>
                <a:arcTo hR="76200" wR="76200" stAng="16200000" swAng="5400000"/>
                <a:lnTo>
                  <a:pt x="2527300" y="76200"/>
                </a:lnTo>
                <a:arcTo hR="38100" wR="76200" stAng="0" swAng="-5400000"/>
                <a:lnTo>
                  <a:pt x="76200" y="38100"/>
                </a:lnTo>
                <a:arcTo hR="38100" wR="76200" stAng="16200000" swAng="-5400000"/>
                <a:close/>
              </a:path>
            </a:pathLst>
          </a:custGeom>
          <a:solidFill>
            <a:srgbClr val="5FB3D2"/>
          </a:solidFill>
          <a:ln/>
        </p:spPr>
      </p:sp>
      <p:sp>
        <p:nvSpPr>
          <p:cNvPr id="6" name="Text 4"/>
          <p:cNvSpPr/>
          <p:nvPr/>
        </p:nvSpPr>
        <p:spPr>
          <a:xfrm>
            <a:off x="1016000" y="4465489"/>
            <a:ext cx="218452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AF0F6"/>
                </a:solidFill>
                <a:latin typeface="IBM Plex Sans" pitchFamily="34" charset="0"/>
                <a:ea typeface="IBM Plex Sans" pitchFamily="34" charset="-122"/>
                <a:cs typeface="IBM Plex Sans" pitchFamily="34" charset="-120"/>
              </a:rPr>
              <a:t>Insulation</a:t>
            </a:r>
            <a:endParaRPr lang="en-US" sz="1600" dirty="0"/>
          </a:p>
        </p:txBody>
      </p:sp>
      <p:sp>
        <p:nvSpPr>
          <p:cNvPr id="7" name="Text 5"/>
          <p:cNvSpPr/>
          <p:nvPr/>
        </p:nvSpPr>
        <p:spPr>
          <a:xfrm>
            <a:off x="1016000" y="4785519"/>
            <a:ext cx="2184527"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5E0"/>
                </a:solidFill>
                <a:latin typeface="IBM Plex Sans" pitchFamily="34" charset="0"/>
                <a:ea typeface="IBM Plex Sans" pitchFamily="34" charset="-122"/>
                <a:cs typeface="IBM Plex Sans" pitchFamily="34" charset="-120"/>
              </a:rPr>
              <a:t>A change to a source, model or tool is absorbed in one layer. The others see only a versioned contract.</a:t>
            </a:r>
            <a:endParaRPr lang="en-US" sz="1200" dirty="0"/>
          </a:p>
        </p:txBody>
      </p:sp>
      <p:sp>
        <p:nvSpPr>
          <p:cNvPr id="8" name="Shape 6"/>
          <p:cNvSpPr/>
          <p:nvPr/>
        </p:nvSpPr>
        <p:spPr>
          <a:xfrm>
            <a:off x="3492500" y="4224189"/>
            <a:ext cx="2527300" cy="1617811"/>
          </a:xfrm>
          <a:prstGeom prst="roundRect">
            <a:avLst>
              <a:gd name="adj" fmla="val 4710"/>
            </a:avLst>
          </a:prstGeom>
          <a:solidFill>
            <a:srgbClr val="1F2C3A"/>
          </a:solidFill>
          <a:ln/>
        </p:spPr>
      </p:sp>
      <p:sp>
        <p:nvSpPr>
          <p:cNvPr id="9" name="Shape 7"/>
          <p:cNvSpPr/>
          <p:nvPr/>
        </p:nvSpPr>
        <p:spPr>
          <a:xfrm>
            <a:off x="3492500" y="4224189"/>
            <a:ext cx="2527300" cy="1617811"/>
          </a:xfrm>
          <a:custGeom>
            <a:avLst/>
            <a:gdLst/>
            <a:ahLst/>
            <a:cxnLst/>
            <a:rect l="l" t="t" r="r" b="b"/>
            <a:pathLst>
              <a:path w="2527300" h="1617811">
                <a:moveTo>
                  <a:pt x="0" y="76200"/>
                </a:moveTo>
                <a:lnTo>
                  <a:pt x="0" y="76200"/>
                </a:lnTo>
                <a:arcTo hR="76200" wR="76200" stAng="10800000" swAng="5400000"/>
                <a:lnTo>
                  <a:pt x="2451100" y="0"/>
                </a:lnTo>
                <a:arcTo hR="76200" wR="76200" stAng="16200000" swAng="5400000"/>
                <a:lnTo>
                  <a:pt x="2527300" y="76200"/>
                </a:lnTo>
                <a:arcTo hR="38100" wR="76200" stAng="0" swAng="-5400000"/>
                <a:lnTo>
                  <a:pt x="76200" y="38100"/>
                </a:lnTo>
                <a:arcTo hR="38100" wR="76200" stAng="16200000" swAng="-5400000"/>
                <a:close/>
              </a:path>
            </a:pathLst>
          </a:custGeom>
          <a:solidFill>
            <a:srgbClr val="5FB3D2"/>
          </a:solidFill>
          <a:ln/>
        </p:spPr>
      </p:sp>
      <p:sp>
        <p:nvSpPr>
          <p:cNvPr id="10" name="Text 8"/>
          <p:cNvSpPr/>
          <p:nvPr/>
        </p:nvSpPr>
        <p:spPr>
          <a:xfrm>
            <a:off x="3695700" y="4465489"/>
            <a:ext cx="218452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AF0F6"/>
                </a:solidFill>
                <a:latin typeface="IBM Plex Sans" pitchFamily="34" charset="0"/>
                <a:ea typeface="IBM Plex Sans" pitchFamily="34" charset="-122"/>
                <a:cs typeface="IBM Plex Sans" pitchFamily="34" charset="-120"/>
              </a:rPr>
              <a:t>Reuse</a:t>
            </a:r>
            <a:endParaRPr lang="en-US" sz="1600" dirty="0"/>
          </a:p>
        </p:txBody>
      </p:sp>
      <p:sp>
        <p:nvSpPr>
          <p:cNvPr id="11" name="Text 9"/>
          <p:cNvSpPr/>
          <p:nvPr/>
        </p:nvSpPr>
        <p:spPr>
          <a:xfrm>
            <a:off x="3695700" y="4785519"/>
            <a:ext cx="2184527"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5E0"/>
                </a:solidFill>
                <a:latin typeface="IBM Plex Sans" pitchFamily="34" charset="0"/>
                <a:ea typeface="IBM Plex Sans" pitchFamily="34" charset="-122"/>
                <a:cs typeface="IBM Plex Sans" pitchFamily="34" charset="-120"/>
              </a:rPr>
              <a:t>Keel assets and microservices are released once and called by any agent, team or product.</a:t>
            </a:r>
            <a:endParaRPr lang="en-US" sz="1200" dirty="0"/>
          </a:p>
        </p:txBody>
      </p:sp>
      <p:sp>
        <p:nvSpPr>
          <p:cNvPr id="12" name="Shape 10"/>
          <p:cNvSpPr/>
          <p:nvPr/>
        </p:nvSpPr>
        <p:spPr>
          <a:xfrm>
            <a:off x="6172200" y="4224189"/>
            <a:ext cx="2527300" cy="1617811"/>
          </a:xfrm>
          <a:prstGeom prst="roundRect">
            <a:avLst>
              <a:gd name="adj" fmla="val 4710"/>
            </a:avLst>
          </a:prstGeom>
          <a:solidFill>
            <a:srgbClr val="1F2C3A"/>
          </a:solidFill>
          <a:ln/>
        </p:spPr>
      </p:sp>
      <p:sp>
        <p:nvSpPr>
          <p:cNvPr id="13" name="Shape 11"/>
          <p:cNvSpPr/>
          <p:nvPr/>
        </p:nvSpPr>
        <p:spPr>
          <a:xfrm>
            <a:off x="6172200" y="4224189"/>
            <a:ext cx="2527300" cy="1617811"/>
          </a:xfrm>
          <a:custGeom>
            <a:avLst/>
            <a:gdLst/>
            <a:ahLst/>
            <a:cxnLst/>
            <a:rect l="l" t="t" r="r" b="b"/>
            <a:pathLst>
              <a:path w="2527300" h="1617811">
                <a:moveTo>
                  <a:pt x="0" y="76200"/>
                </a:moveTo>
                <a:lnTo>
                  <a:pt x="0" y="76200"/>
                </a:lnTo>
                <a:arcTo hR="76200" wR="76200" stAng="10800000" swAng="5400000"/>
                <a:lnTo>
                  <a:pt x="2451100" y="0"/>
                </a:lnTo>
                <a:arcTo hR="76200" wR="76200" stAng="16200000" swAng="5400000"/>
                <a:lnTo>
                  <a:pt x="2527300" y="76200"/>
                </a:lnTo>
                <a:arcTo hR="38100" wR="76200" stAng="0" swAng="-5400000"/>
                <a:lnTo>
                  <a:pt x="76200" y="38100"/>
                </a:lnTo>
                <a:arcTo hR="38100" wR="76200" stAng="16200000" swAng="-5400000"/>
                <a:close/>
              </a:path>
            </a:pathLst>
          </a:custGeom>
          <a:solidFill>
            <a:srgbClr val="E2B44E"/>
          </a:solidFill>
          <a:ln/>
        </p:spPr>
      </p:sp>
      <p:sp>
        <p:nvSpPr>
          <p:cNvPr id="14" name="Text 12"/>
          <p:cNvSpPr/>
          <p:nvPr/>
        </p:nvSpPr>
        <p:spPr>
          <a:xfrm>
            <a:off x="6375400" y="4465489"/>
            <a:ext cx="218452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AF0F6"/>
                </a:solidFill>
                <a:latin typeface="IBM Plex Sans" pitchFamily="34" charset="0"/>
                <a:ea typeface="IBM Plex Sans" pitchFamily="34" charset="-122"/>
                <a:cs typeface="IBM Plex Sans" pitchFamily="34" charset="-120"/>
              </a:rPr>
              <a:t>Independent release</a:t>
            </a:r>
            <a:endParaRPr lang="en-US" sz="1600" dirty="0"/>
          </a:p>
        </p:txBody>
      </p:sp>
      <p:sp>
        <p:nvSpPr>
          <p:cNvPr id="15" name="Text 13"/>
          <p:cNvSpPr/>
          <p:nvPr/>
        </p:nvSpPr>
        <p:spPr>
          <a:xfrm>
            <a:off x="6375400" y="4785519"/>
            <a:ext cx="2184527"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5E0"/>
                </a:solidFill>
                <a:latin typeface="IBM Plex Sans" pitchFamily="34" charset="0"/>
                <a:ea typeface="IBM Plex Sans" pitchFamily="34" charset="-122"/>
                <a:cs typeface="IBM Plex Sans" pitchFamily="34" charset="-120"/>
              </a:rPr>
              <a:t>Each component moves through its own lifecycle; agents pin the versions they were tested with.</a:t>
            </a:r>
            <a:endParaRPr lang="en-US" sz="1200" dirty="0"/>
          </a:p>
        </p:txBody>
      </p:sp>
      <p:sp>
        <p:nvSpPr>
          <p:cNvPr id="16" name="Shape 14"/>
          <p:cNvSpPr/>
          <p:nvPr/>
        </p:nvSpPr>
        <p:spPr>
          <a:xfrm>
            <a:off x="8851900" y="4224189"/>
            <a:ext cx="2527300" cy="1617811"/>
          </a:xfrm>
          <a:prstGeom prst="roundRect">
            <a:avLst>
              <a:gd name="adj" fmla="val 4710"/>
            </a:avLst>
          </a:prstGeom>
          <a:solidFill>
            <a:srgbClr val="1F2C3A"/>
          </a:solidFill>
          <a:ln/>
        </p:spPr>
      </p:sp>
      <p:sp>
        <p:nvSpPr>
          <p:cNvPr id="17" name="Shape 15"/>
          <p:cNvSpPr/>
          <p:nvPr/>
        </p:nvSpPr>
        <p:spPr>
          <a:xfrm>
            <a:off x="8851900" y="4224189"/>
            <a:ext cx="2527300" cy="1617811"/>
          </a:xfrm>
          <a:custGeom>
            <a:avLst/>
            <a:gdLst/>
            <a:ahLst/>
            <a:cxnLst/>
            <a:rect l="l" t="t" r="r" b="b"/>
            <a:pathLst>
              <a:path w="2527300" h="1617811">
                <a:moveTo>
                  <a:pt x="0" y="76200"/>
                </a:moveTo>
                <a:lnTo>
                  <a:pt x="0" y="76200"/>
                </a:lnTo>
                <a:arcTo hR="76200" wR="76200" stAng="10800000" swAng="5400000"/>
                <a:lnTo>
                  <a:pt x="2451100" y="0"/>
                </a:lnTo>
                <a:arcTo hR="76200" wR="76200" stAng="16200000" swAng="5400000"/>
                <a:lnTo>
                  <a:pt x="2527300" y="76200"/>
                </a:lnTo>
                <a:arcTo hR="38100" wR="76200" stAng="0" swAng="-5400000"/>
                <a:lnTo>
                  <a:pt x="76200" y="38100"/>
                </a:lnTo>
                <a:arcTo hR="38100" wR="76200" stAng="16200000" swAng="-5400000"/>
                <a:close/>
              </a:path>
            </a:pathLst>
          </a:custGeom>
          <a:solidFill>
            <a:srgbClr val="E2B44E"/>
          </a:solidFill>
          <a:ln/>
        </p:spPr>
      </p:sp>
      <p:sp>
        <p:nvSpPr>
          <p:cNvPr id="18" name="Text 16"/>
          <p:cNvSpPr/>
          <p:nvPr/>
        </p:nvSpPr>
        <p:spPr>
          <a:xfrm>
            <a:off x="9055100" y="4465489"/>
            <a:ext cx="218452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AF0F6"/>
                </a:solidFill>
                <a:latin typeface="IBM Plex Sans" pitchFamily="34" charset="0"/>
                <a:ea typeface="IBM Plex Sans" pitchFamily="34" charset="-122"/>
                <a:cs typeface="IBM Plex Sans" pitchFamily="34" charset="-120"/>
              </a:rPr>
              <a:t>Auditability</a:t>
            </a:r>
            <a:endParaRPr lang="en-US" sz="1600" dirty="0"/>
          </a:p>
        </p:txBody>
      </p:sp>
      <p:sp>
        <p:nvSpPr>
          <p:cNvPr id="19" name="Text 17"/>
          <p:cNvSpPr/>
          <p:nvPr/>
        </p:nvSpPr>
        <p:spPr>
          <a:xfrm>
            <a:off x="9055100" y="4785519"/>
            <a:ext cx="2184527"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5E0"/>
                </a:solidFill>
                <a:latin typeface="IBM Plex Sans" pitchFamily="34" charset="0"/>
                <a:ea typeface="IBM Plex Sans" pitchFamily="34" charset="-122"/>
                <a:cs typeface="IBM Plex Sans" pitchFamily="34" charset="-120"/>
              </a:rPr>
              <a:t>Every answer traces back through the contracts: source span, rule version, mapping, agent, decision.</a:t>
            </a:r>
            <a:endParaRPr lang="en-US" sz="12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3A3B4"/>
                </a:solidFill>
                <a:latin typeface="IBM Plex Mono" pitchFamily="49" charset="0"/>
                <a:ea typeface="IBM Plex Mono" pitchFamily="49" charset="-122"/>
                <a:cs typeface="IBM Plex Mono" pitchFamily="49" charset="-120"/>
              </a:rPr>
              <a:t>PEO Sales Advisor · Storyboard · 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6F9"/>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6202B"/>
                </a:solidFill>
                <a:latin typeface="Big Shoulders" pitchFamily="34" charset="0"/>
                <a:ea typeface="Big Shoulders" pitchFamily="34" charset="-122"/>
                <a:cs typeface="Big Shoulders" pitchFamily="34" charset="-120"/>
              </a:rPr>
              <a:t>Six function points, each behind a contract</a:t>
            </a:r>
            <a:endParaRPr lang="en-US" sz="3600" dirty="0"/>
          </a:p>
        </p:txBody>
      </p:sp>
      <p:sp>
        <p:nvSpPr>
          <p:cNvPr id="3" name="Shape 1"/>
          <p:cNvSpPr/>
          <p:nvPr/>
        </p:nvSpPr>
        <p:spPr>
          <a:xfrm>
            <a:off x="812800" y="1521420"/>
            <a:ext cx="10566400" cy="3408065"/>
          </a:xfrm>
          <a:prstGeom prst="rect">
            <a:avLst/>
          </a:prstGeom>
          <a:solidFill>
            <a:srgbClr val="FCFDFE"/>
          </a:solidFill>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534120"/>
          <a:ext cx="10553700" cy="3395365"/>
        </p:xfrm>
        <a:graphic>
          <a:graphicData uri="http://schemas.openxmlformats.org/drawingml/2006/table">
            <a:tbl>
              <a:tblPr/>
              <a:tblGrid>
                <a:gridCol w="2110740"/>
                <a:gridCol w="2955036"/>
                <a:gridCol w="2955036"/>
                <a:gridCol w="2532888"/>
              </a:tblGrid>
              <a:tr h="332680">
                <a:tc>
                  <a:txBody>
                    <a:bodyPr/>
                    <a:lstStyle/>
                    <a:p>
                      <a:pPr indent="0" marL="0">
                        <a:lnSpc>
                          <a:spcPts val="1680"/>
                        </a:lnSpc>
                        <a:buNone/>
                      </a:pPr>
                      <a:r>
                        <a:rPr lang="en-US" sz="1200" b="1" dirty="0">
                          <a:solidFill>
                            <a:srgbClr val="2A3846"/>
                          </a:solidFill>
                          <a:latin typeface="IBM Plex Sans" pitchFamily="34" charset="0"/>
                          <a:ea typeface="IBM Plex Sans" pitchFamily="34" charset="-122"/>
                          <a:cs typeface="IBM Plex Sans" pitchFamily="34" charset="-120"/>
                        </a:rPr>
                        <a:t>Function point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BABBBB"/>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BABBBB"/>
                      </a:solidFill>
                      <a:prstDash val="solid"/>
                      <a:round/>
                      <a:headEnd type="none" w="med" len="med"/>
                      <a:tailEnd type="none" w="med" len="med"/>
                    </a:lnB>
                    <a:solidFill>
                      <a:srgbClr val="E9EAEB"/>
                    </a:solidFill>
                  </a:tcPr>
                </a:tc>
                <a:tc>
                  <a:txBody>
                    <a:bodyPr/>
                    <a:lstStyle/>
                    <a:p>
                      <a:pPr indent="0" marL="0">
                        <a:lnSpc>
                          <a:spcPts val="1680"/>
                        </a:lnSpc>
                        <a:buNone/>
                      </a:pPr>
                      <a:r>
                        <a:rPr lang="en-US" sz="1200" b="1" dirty="0">
                          <a:solidFill>
                            <a:srgbClr val="2A3846"/>
                          </a:solidFill>
                          <a:latin typeface="IBM Plex Sans" pitchFamily="34" charset="0"/>
                          <a:ea typeface="IBM Plex Sans" pitchFamily="34" charset="-122"/>
                          <a:cs typeface="IBM Plex Sans" pitchFamily="34" charset="-120"/>
                        </a:rPr>
                        <a:t>Owns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BBB"/>
                      </a:solidFill>
                      <a:prstDash val="solid"/>
                      <a:round/>
                      <a:headEnd type="none" w="med" len="med"/>
                      <a:tailEnd type="none" w="med" len="med"/>
                    </a:lnL>
                    <a:lnR w="12700" cap="flat" cmpd="sng" algn="ctr">
                      <a:solidFill>
                        <a:srgbClr val="BABBBB"/>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BABBBB"/>
                      </a:solidFill>
                      <a:prstDash val="solid"/>
                      <a:round/>
                      <a:headEnd type="none" w="med" len="med"/>
                      <a:tailEnd type="none" w="med" len="med"/>
                    </a:lnB>
                    <a:solidFill>
                      <a:srgbClr val="E9EAEB"/>
                    </a:solidFill>
                  </a:tcPr>
                </a:tc>
                <a:tc>
                  <a:txBody>
                    <a:bodyPr/>
                    <a:lstStyle/>
                    <a:p>
                      <a:pPr indent="0" marL="0">
                        <a:lnSpc>
                          <a:spcPts val="1680"/>
                        </a:lnSpc>
                        <a:buNone/>
                      </a:pPr>
                      <a:r>
                        <a:rPr lang="en-US" sz="1200" b="1" dirty="0">
                          <a:solidFill>
                            <a:srgbClr val="2A3846"/>
                          </a:solidFill>
                          <a:latin typeface="IBM Plex Sans" pitchFamily="34" charset="0"/>
                          <a:ea typeface="IBM Plex Sans" pitchFamily="34" charset="-122"/>
                          <a:cs typeface="IBM Plex Sans" pitchFamily="34" charset="-120"/>
                        </a:rPr>
                        <a:t>Contract with the others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BBB"/>
                      </a:solidFill>
                      <a:prstDash val="solid"/>
                      <a:round/>
                      <a:headEnd type="none" w="med" len="med"/>
                      <a:tailEnd type="none" w="med" len="med"/>
                    </a:lnL>
                    <a:lnR w="12700" cap="flat" cmpd="sng" algn="ctr">
                      <a:solidFill>
                        <a:srgbClr val="BABBBB"/>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BABBBB"/>
                      </a:solidFill>
                      <a:prstDash val="solid"/>
                      <a:round/>
                      <a:headEnd type="none" w="med" len="med"/>
                      <a:tailEnd type="none" w="med" len="med"/>
                    </a:lnB>
                    <a:solidFill>
                      <a:srgbClr val="E9EAEB"/>
                    </a:solidFill>
                  </a:tcPr>
                </a:tc>
                <a:tc>
                  <a:txBody>
                    <a:bodyPr/>
                    <a:lstStyle/>
                    <a:p>
                      <a:pPr indent="0" marL="0">
                        <a:lnSpc>
                          <a:spcPts val="1680"/>
                        </a:lnSpc>
                        <a:buNone/>
                      </a:pPr>
                      <a:r>
                        <a:rPr lang="en-US" sz="1200" b="1" dirty="0">
                          <a:solidFill>
                            <a:srgbClr val="2A3846"/>
                          </a:solidFill>
                          <a:latin typeface="IBM Plex Sans" pitchFamily="34" charset="0"/>
                          <a:ea typeface="IBM Plex Sans" pitchFamily="34" charset="-122"/>
                          <a:cs typeface="IBM Plex Sans" pitchFamily="34" charset="-120"/>
                        </a:rPr>
                        <a:t>Reused by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BBB"/>
                      </a:solidFill>
                      <a:prstDash val="solid"/>
                      <a:round/>
                      <a:headEnd type="none" w="med" len="med"/>
                      <a:tailEnd type="none" w="med" len="med"/>
                    </a:lnL>
                    <a:lnR w="12700" cap="flat" cmpd="sng" algn="ctr">
                      <a:solidFill>
                        <a:srgbClr val="BABBBB"/>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BABBBB"/>
                      </a:solidFill>
                      <a:prstDash val="solid"/>
                      <a:round/>
                      <a:headEnd type="none" w="med" len="med"/>
                      <a:tailEnd type="none" w="med" len="med"/>
                    </a:lnB>
                    <a:solidFill>
                      <a:srgbClr val="E9EAEB"/>
                    </a:solidFill>
                  </a:tcPr>
                </a:tc>
              </a:tr>
              <a:tr h="332680">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Connectors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BABBBB"/>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Pulling each source; change capture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BABBBB"/>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Normalized items with canonical URIs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BABBBB"/>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Any team using the same sources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BABBBB"/>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r>
              <a:tr h="546001">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AI fabric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6F9"/>
                    </a:solidFill>
                  </a:tcPr>
                </a:tc>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Mining type, persona, job step, claims, validity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6F9"/>
                    </a:solidFill>
                  </a:tcPr>
                </a:tc>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Candidate tags with confidence; never publishes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6F9"/>
                    </a:solidFill>
                  </a:tcPr>
                </a:tc>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Marketing and service content search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6F9"/>
                    </a:solidFill>
                  </a:tcPr>
                </a:tc>
              </a:tr>
              <a:tr h="546001">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Keel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Ontologies, vocabularies, mappings, RDF content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Graph queries against Released versions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Every agent and analytic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r>
              <a:tr h="546001">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SSOT service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6F9"/>
                    </a:solidFill>
                  </a:tcPr>
                </a:tc>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Policy, extraction, control, assembly rules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6F9"/>
                    </a:solidFill>
                  </a:tcPr>
                </a:tc>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Versioned rule calls; compiled Rego, SHACL, dbt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6F9"/>
                    </a:solidFill>
                  </a:tcPr>
                </a:tc>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HR assistant, compliance, insights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6F9"/>
                    </a:solidFill>
                  </a:tcPr>
                </a:tc>
              </a:tr>
              <a:tr h="546001">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Agents and services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Search, assembly, binding, monitoring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Declared inputs, outputs and autonomy level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Copilot and Foundry surfaces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r>
              <a:tr h="546001">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Persona surfaces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6F9"/>
                    </a:solidFill>
                  </a:tcPr>
                </a:tc>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Briefs, decisions, events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6F9"/>
                    </a:solidFill>
                  </a:tcPr>
                </a:tc>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CloudEvents to CRM, quoting, onboarding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6F9"/>
                    </a:solidFill>
                  </a:tcPr>
                </a:tc>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Sales now; service and onboarding next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6F9"/>
                    </a:solidFill>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E80"/>
                </a:solidFill>
                <a:latin typeface="IBM Plex Mono" pitchFamily="49" charset="0"/>
                <a:ea typeface="IBM Plex Mono" pitchFamily="49" charset="-122"/>
                <a:cs typeface="IBM Plex Mono" pitchFamily="49" charset="-120"/>
              </a:rPr>
              <a:t>PEO Sales Advisor · Storyboard · 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6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1F6E8C"/>
                </a:solidFill>
                <a:latin typeface="IBM Plex Mono" pitchFamily="49" charset="0"/>
                <a:ea typeface="IBM Plex Mono" pitchFamily="49" charset="-122"/>
                <a:cs typeface="IBM Plex Mono" pitchFamily="49" charset="-120"/>
              </a:rPr>
              <a:t>SEMANTIC KNOWLEDGE LAYER</a:t>
            </a:r>
            <a:endParaRPr lang="en-US" sz="1200" dirty="0"/>
          </a:p>
        </p:txBody>
      </p:sp>
      <p:sp>
        <p:nvSpPr>
          <p:cNvPr id="3" name="Text 1"/>
          <p:cNvSpPr/>
          <p:nvPr>
            <p:ph type="title"/>
          </p:nvPr>
        </p:nvSpPr>
        <p:spPr>
          <a:xfrm>
            <a:off x="812800" y="110232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6202B"/>
                </a:solidFill>
                <a:latin typeface="Big Shoulders" pitchFamily="34" charset="0"/>
                <a:ea typeface="Big Shoulders" pitchFamily="34" charset="-122"/>
                <a:cs typeface="Big Shoulders" pitchFamily="34" charset="-120"/>
              </a:rPr>
              <a:t>Build the Keel assets in a sandbox now, port them later</a:t>
            </a:r>
            <a:endParaRPr lang="en-US" sz="3600" dirty="0"/>
          </a:p>
        </p:txBody>
      </p:sp>
      <p:sp>
        <p:nvSpPr>
          <p:cNvPr id="4" name="Shape 2"/>
          <p:cNvSpPr/>
          <p:nvPr/>
        </p:nvSpPr>
        <p:spPr>
          <a:xfrm>
            <a:off x="812800" y="1836341"/>
            <a:ext cx="3420517" cy="2082701"/>
          </a:xfrm>
          <a:prstGeom prst="roundRect">
            <a:avLst>
              <a:gd name="adj" fmla="val 3659"/>
            </a:avLst>
          </a:prstGeom>
          <a:solidFill>
            <a:srgbClr val="FCFDFE"/>
          </a:solidFill>
          <a:ln/>
          <a:effectLst>
            <a:outerShdw sx="100000" sy="100000" kx="0" ky="0" algn="bl" rotWithShape="0" blurRad="63500" dist="12700" dir="5400000">
              <a:srgbClr val="16202B">
                <a:alpha val="8000"/>
              </a:srgbClr>
            </a:outerShdw>
          </a:effectLst>
        </p:spPr>
      </p:sp>
      <p:sp>
        <p:nvSpPr>
          <p:cNvPr id="5" name="Shape 3"/>
          <p:cNvSpPr/>
          <p:nvPr/>
        </p:nvSpPr>
        <p:spPr>
          <a:xfrm>
            <a:off x="812800" y="1836341"/>
            <a:ext cx="3420517" cy="2082701"/>
          </a:xfrm>
          <a:custGeom>
            <a:avLst/>
            <a:gdLst/>
            <a:ahLst/>
            <a:cxnLst/>
            <a:rect l="l" t="t" r="r" b="b"/>
            <a:pathLst>
              <a:path w="3420517" h="2082701">
                <a:moveTo>
                  <a:pt x="0" y="76200"/>
                </a:moveTo>
                <a:lnTo>
                  <a:pt x="0" y="76200"/>
                </a:lnTo>
                <a:arcTo hR="76200" wR="76200" stAng="10800000" swAng="5400000"/>
                <a:lnTo>
                  <a:pt x="3344317" y="0"/>
                </a:lnTo>
                <a:arcTo hR="76200" wR="76200" stAng="16200000" swAng="5400000"/>
                <a:lnTo>
                  <a:pt x="3420517" y="76200"/>
                </a:lnTo>
                <a:arcTo hR="25400" wR="76200" stAng="0" swAng="-5400000"/>
                <a:lnTo>
                  <a:pt x="76200" y="50800"/>
                </a:lnTo>
                <a:arcTo hR="25400" wR="76200" stAng="16200000" swAng="-5400000"/>
                <a:close/>
              </a:path>
            </a:pathLst>
          </a:custGeom>
          <a:solidFill>
            <a:srgbClr val="1F6E8C"/>
          </a:solidFill>
          <a:ln/>
        </p:spPr>
      </p:sp>
      <p:sp>
        <p:nvSpPr>
          <p:cNvPr id="6" name="Text 4"/>
          <p:cNvSpPr/>
          <p:nvPr/>
        </p:nvSpPr>
        <p:spPr>
          <a:xfrm>
            <a:off x="1016000" y="2090341"/>
            <a:ext cx="310454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6202B"/>
                </a:solidFill>
                <a:latin typeface="Big Shoulders" pitchFamily="34" charset="0"/>
                <a:ea typeface="Big Shoulders" pitchFamily="34" charset="-122"/>
                <a:cs typeface="Big Shoulders" pitchFamily="34" charset="-120"/>
              </a:rPr>
              <a:t>Vocabularies</a:t>
            </a:r>
            <a:endParaRPr lang="en-US" sz="2200" dirty="0"/>
          </a:p>
        </p:txBody>
      </p:sp>
      <p:sp>
        <p:nvSpPr>
          <p:cNvPr id="7" name="Text 5"/>
          <p:cNvSpPr/>
          <p:nvPr/>
        </p:nvSpPr>
        <p:spPr>
          <a:xfrm>
            <a:off x="1016000" y="2501801"/>
            <a:ext cx="31045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E8C"/>
                </a:solidFill>
                <a:latin typeface="IBM Plex Mono" pitchFamily="49" charset="0"/>
                <a:ea typeface="IBM Plex Mono" pitchFamily="49" charset="-122"/>
                <a:cs typeface="IBM Plex Mono" pitchFamily="49" charset="-120"/>
              </a:rPr>
              <a:t>SKOS concept schemes</a:t>
            </a:r>
            <a:endParaRPr lang="en-US" sz="1200" dirty="0"/>
          </a:p>
        </p:txBody>
      </p:sp>
      <p:sp>
        <p:nvSpPr>
          <p:cNvPr id="8" name="Text 6"/>
          <p:cNvSpPr/>
          <p:nvPr/>
        </p:nvSpPr>
        <p:spPr>
          <a:xfrm>
            <a:off x="1016000" y="2791321"/>
            <a:ext cx="3104540"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A5A"/>
                </a:solidFill>
                <a:latin typeface="IBM Plex Sans" pitchFamily="34" charset="0"/>
                <a:ea typeface="IBM Plex Sans" pitchFamily="34" charset="-122"/>
                <a:cs typeface="IBM Plex Sans" pitchFamily="34" charset="-120"/>
              </a:rPr>
              <a:t>Content types, pipeline stages, sensitivity labels, jurisdictions: the controlled terms every tag and facet uses.</a:t>
            </a:r>
            <a:endParaRPr lang="en-US" sz="1300" dirty="0"/>
          </a:p>
        </p:txBody>
      </p:sp>
      <p:sp>
        <p:nvSpPr>
          <p:cNvPr id="9" name="Shape 7"/>
          <p:cNvSpPr/>
          <p:nvPr/>
        </p:nvSpPr>
        <p:spPr>
          <a:xfrm>
            <a:off x="4385717" y="1836341"/>
            <a:ext cx="3420566" cy="2082701"/>
          </a:xfrm>
          <a:prstGeom prst="roundRect">
            <a:avLst>
              <a:gd name="adj" fmla="val 3659"/>
            </a:avLst>
          </a:prstGeom>
          <a:solidFill>
            <a:srgbClr val="FCFDFE"/>
          </a:solidFill>
          <a:ln/>
          <a:effectLst>
            <a:outerShdw sx="100000" sy="100000" kx="0" ky="0" algn="bl" rotWithShape="0" blurRad="63500" dist="12700" dir="5400000">
              <a:srgbClr val="16202B">
                <a:alpha val="8000"/>
              </a:srgbClr>
            </a:outerShdw>
          </a:effectLst>
        </p:spPr>
      </p:sp>
      <p:sp>
        <p:nvSpPr>
          <p:cNvPr id="10" name="Shape 8"/>
          <p:cNvSpPr/>
          <p:nvPr/>
        </p:nvSpPr>
        <p:spPr>
          <a:xfrm>
            <a:off x="4385717" y="1836341"/>
            <a:ext cx="3420566" cy="2082701"/>
          </a:xfrm>
          <a:custGeom>
            <a:avLst/>
            <a:gdLst/>
            <a:ahLst/>
            <a:cxnLst/>
            <a:rect l="l" t="t" r="r" b="b"/>
            <a:pathLst>
              <a:path w="3420566" h="2082701">
                <a:moveTo>
                  <a:pt x="0" y="76200"/>
                </a:moveTo>
                <a:lnTo>
                  <a:pt x="0" y="76200"/>
                </a:lnTo>
                <a:arcTo hR="76200" wR="76200" stAng="10800000" swAng="5400000"/>
                <a:lnTo>
                  <a:pt x="3344366" y="0"/>
                </a:lnTo>
                <a:arcTo hR="76200" wR="76200" stAng="16200000" swAng="5400000"/>
                <a:lnTo>
                  <a:pt x="3420566" y="76200"/>
                </a:lnTo>
                <a:arcTo hR="25400" wR="76200" stAng="0" swAng="-5400000"/>
                <a:lnTo>
                  <a:pt x="76200" y="50800"/>
                </a:lnTo>
                <a:arcTo hR="25400" wR="76200" stAng="16200000" swAng="-5400000"/>
                <a:close/>
              </a:path>
            </a:pathLst>
          </a:custGeom>
          <a:solidFill>
            <a:srgbClr val="1F6E8C"/>
          </a:solidFill>
          <a:ln/>
        </p:spPr>
      </p:sp>
      <p:sp>
        <p:nvSpPr>
          <p:cNvPr id="11" name="Text 9"/>
          <p:cNvSpPr/>
          <p:nvPr/>
        </p:nvSpPr>
        <p:spPr>
          <a:xfrm>
            <a:off x="4588917" y="2090341"/>
            <a:ext cx="3104591"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6202B"/>
                </a:solidFill>
                <a:latin typeface="Big Shoulders" pitchFamily="34" charset="0"/>
                <a:ea typeface="Big Shoulders" pitchFamily="34" charset="-122"/>
                <a:cs typeface="Big Shoulders" pitchFamily="34" charset="-120"/>
              </a:rPr>
              <a:t>Taxonomies</a:t>
            </a:r>
            <a:endParaRPr lang="en-US" sz="2200" dirty="0"/>
          </a:p>
        </p:txBody>
      </p:sp>
      <p:sp>
        <p:nvSpPr>
          <p:cNvPr id="12" name="Text 10"/>
          <p:cNvSpPr/>
          <p:nvPr/>
        </p:nvSpPr>
        <p:spPr>
          <a:xfrm>
            <a:off x="4588917" y="2501801"/>
            <a:ext cx="31045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E8C"/>
                </a:solidFill>
                <a:latin typeface="IBM Plex Mono" pitchFamily="49" charset="0"/>
                <a:ea typeface="IBM Plex Mono" pitchFamily="49" charset="-122"/>
                <a:cs typeface="IBM Plex Mono" pitchFamily="49" charset="-120"/>
              </a:rPr>
              <a:t>broader / narrower</a:t>
            </a:r>
            <a:endParaRPr lang="en-US" sz="1200" dirty="0"/>
          </a:p>
        </p:txBody>
      </p:sp>
      <p:sp>
        <p:nvSpPr>
          <p:cNvPr id="13" name="Text 11"/>
          <p:cNvSpPr/>
          <p:nvPr/>
        </p:nvSpPr>
        <p:spPr>
          <a:xfrm>
            <a:off x="4588917" y="2791321"/>
            <a:ext cx="3104591"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A5A"/>
                </a:solidFill>
                <a:latin typeface="IBM Plex Sans" pitchFamily="34" charset="0"/>
                <a:ea typeface="IBM Plex Sans" pitchFamily="34" charset="-122"/>
                <a:cs typeface="IBM Plex Sans" pitchFamily="34" charset="-120"/>
              </a:rPr>
              <a:t>Persona → job → job step → desired outcome, and the content and service hierarchies search navigates by.</a:t>
            </a:r>
            <a:endParaRPr lang="en-US" sz="1300" dirty="0"/>
          </a:p>
        </p:txBody>
      </p:sp>
      <p:sp>
        <p:nvSpPr>
          <p:cNvPr id="14" name="Shape 12"/>
          <p:cNvSpPr/>
          <p:nvPr/>
        </p:nvSpPr>
        <p:spPr>
          <a:xfrm>
            <a:off x="7958683" y="1836341"/>
            <a:ext cx="3420517" cy="2082701"/>
          </a:xfrm>
          <a:prstGeom prst="roundRect">
            <a:avLst>
              <a:gd name="adj" fmla="val 3659"/>
            </a:avLst>
          </a:prstGeom>
          <a:solidFill>
            <a:srgbClr val="FCFDFE"/>
          </a:solidFill>
          <a:ln/>
          <a:effectLst>
            <a:outerShdw sx="100000" sy="100000" kx="0" ky="0" algn="bl" rotWithShape="0" blurRad="63500" dist="12700" dir="5400000">
              <a:srgbClr val="16202B">
                <a:alpha val="8000"/>
              </a:srgbClr>
            </a:outerShdw>
          </a:effectLst>
        </p:spPr>
      </p:sp>
      <p:sp>
        <p:nvSpPr>
          <p:cNvPr id="15" name="Shape 13"/>
          <p:cNvSpPr/>
          <p:nvPr/>
        </p:nvSpPr>
        <p:spPr>
          <a:xfrm>
            <a:off x="7958683" y="1836341"/>
            <a:ext cx="3420517" cy="2082701"/>
          </a:xfrm>
          <a:custGeom>
            <a:avLst/>
            <a:gdLst/>
            <a:ahLst/>
            <a:cxnLst/>
            <a:rect l="l" t="t" r="r" b="b"/>
            <a:pathLst>
              <a:path w="3420517" h="2082701">
                <a:moveTo>
                  <a:pt x="0" y="76200"/>
                </a:moveTo>
                <a:lnTo>
                  <a:pt x="0" y="76200"/>
                </a:lnTo>
                <a:arcTo hR="76200" wR="76200" stAng="10800000" swAng="5400000"/>
                <a:lnTo>
                  <a:pt x="3344317" y="0"/>
                </a:lnTo>
                <a:arcTo hR="76200" wR="76200" stAng="16200000" swAng="5400000"/>
                <a:lnTo>
                  <a:pt x="3420517" y="76200"/>
                </a:lnTo>
                <a:arcTo hR="25400" wR="76200" stAng="0" swAng="-5400000"/>
                <a:lnTo>
                  <a:pt x="76200" y="50800"/>
                </a:lnTo>
                <a:arcTo hR="25400" wR="76200" stAng="16200000" swAng="-5400000"/>
                <a:close/>
              </a:path>
            </a:pathLst>
          </a:custGeom>
          <a:solidFill>
            <a:srgbClr val="1F6E8C"/>
          </a:solidFill>
          <a:ln/>
        </p:spPr>
      </p:sp>
      <p:sp>
        <p:nvSpPr>
          <p:cNvPr id="16" name="Text 14"/>
          <p:cNvSpPr/>
          <p:nvPr/>
        </p:nvSpPr>
        <p:spPr>
          <a:xfrm>
            <a:off x="8161883" y="2090341"/>
            <a:ext cx="310454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6202B"/>
                </a:solidFill>
                <a:latin typeface="Big Shoulders" pitchFamily="34" charset="0"/>
                <a:ea typeface="Big Shoulders" pitchFamily="34" charset="-122"/>
                <a:cs typeface="Big Shoulders" pitchFamily="34" charset="-120"/>
              </a:rPr>
              <a:t>Ontologies</a:t>
            </a:r>
            <a:endParaRPr lang="en-US" sz="2200" dirty="0"/>
          </a:p>
        </p:txBody>
      </p:sp>
      <p:sp>
        <p:nvSpPr>
          <p:cNvPr id="17" name="Text 15"/>
          <p:cNvSpPr/>
          <p:nvPr/>
        </p:nvSpPr>
        <p:spPr>
          <a:xfrm>
            <a:off x="8161883" y="2501801"/>
            <a:ext cx="31045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E8C"/>
                </a:solidFill>
                <a:latin typeface="IBM Plex Mono" pitchFamily="49" charset="0"/>
                <a:ea typeface="IBM Plex Mono" pitchFamily="49" charset="-122"/>
                <a:cs typeface="IBM Plex Mono" pitchFamily="49" charset="-120"/>
              </a:rPr>
              <a:t>OWL + SHACL</a:t>
            </a:r>
            <a:endParaRPr lang="en-US" sz="1200" dirty="0"/>
          </a:p>
        </p:txBody>
      </p:sp>
      <p:sp>
        <p:nvSpPr>
          <p:cNvPr id="18" name="Text 16"/>
          <p:cNvSpPr/>
          <p:nvPr/>
        </p:nvSpPr>
        <p:spPr>
          <a:xfrm>
            <a:off x="8161883" y="2791321"/>
            <a:ext cx="310454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A5A"/>
                </a:solidFill>
                <a:latin typeface="IBM Plex Sans" pitchFamily="34" charset="0"/>
                <a:ea typeface="IBM Plex Sans" pitchFamily="34" charset="-122"/>
                <a:cs typeface="IBM Plex Sans" pitchFamily="34" charset="-120"/>
              </a:rPr>
              <a:t>isp-sal (sales), isp-cnt (content), isp-dec (decisions), aligned to isp-core and BFO, with shapes that validate every triple.</a:t>
            </a:r>
            <a:endParaRPr lang="en-US" sz="1300" dirty="0"/>
          </a:p>
        </p:txBody>
      </p:sp>
      <p:sp>
        <p:nvSpPr>
          <p:cNvPr id="19" name="Shape 17"/>
          <p:cNvSpPr/>
          <p:nvPr/>
        </p:nvSpPr>
        <p:spPr>
          <a:xfrm>
            <a:off x="812800" y="4173041"/>
            <a:ext cx="10566400" cy="817860"/>
          </a:xfrm>
          <a:prstGeom prst="roundRect">
            <a:avLst>
              <a:gd name="adj" fmla="val 9317"/>
            </a:avLst>
          </a:prstGeom>
          <a:solidFill>
            <a:srgbClr val="E3EFF3"/>
          </a:solidFill>
          <a:ln/>
        </p:spPr>
      </p:sp>
      <p:pic>
        <p:nvPicPr>
          <p:cNvPr id="20" name="Image 0" descr="Wrench">    </p:cNvPr>
          <p:cNvPicPr>
            <a:picLocks noChangeAspect="1"/>
          </p:cNvPicPr>
          <p:nvPr/>
        </p:nvPicPr>
        <p:blipFill>
          <a:blip r:embed="rId1"/>
          <a:srcRect l="0" r="0" t="0" b="0"/>
          <a:stretch/>
        </p:blipFill>
        <p:spPr>
          <a:xfrm>
            <a:off x="1041400" y="4404171"/>
            <a:ext cx="355600" cy="355600"/>
          </a:xfrm>
          <a:prstGeom prst="rect">
            <a:avLst/>
          </a:prstGeom>
        </p:spPr>
      </p:pic>
      <p:sp>
        <p:nvSpPr>
          <p:cNvPr id="21" name="Text 18"/>
          <p:cNvSpPr/>
          <p:nvPr/>
        </p:nvSpPr>
        <p:spPr>
          <a:xfrm>
            <a:off x="1549400" y="4350841"/>
            <a:ext cx="988923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No formal modeling environment yet, so assets are authored in open standards (SKOS, OWL, SHACL, KGCL) and move unchanged into whichever platform is chosen. The SSOT Editor is the interim workbench; a working prototype follows source access.</a:t>
            </a:r>
            <a:endParaRPr lang="en-US" sz="1300" dirty="0"/>
          </a:p>
        </p:txBody>
      </p:sp>
      <p:sp>
        <p:nvSpPr>
          <p:cNvPr id="22"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E80"/>
                </a:solidFill>
                <a:latin typeface="IBM Plex Mono" pitchFamily="49" charset="0"/>
                <a:ea typeface="IBM Plex Mono" pitchFamily="49" charset="-122"/>
                <a:cs typeface="IBM Plex Mono" pitchFamily="49" charset="-120"/>
              </a:rPr>
              <a:t>PEO Sales Advisor · Storyboard · 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A8322A"/>
                </a:solidFill>
                <a:latin typeface="IBM Plex Mono" pitchFamily="49" charset="0"/>
                <a:ea typeface="IBM Plex Mono" pitchFamily="49" charset="-122"/>
                <a:cs typeface="IBM Plex Mono" pitchFamily="49" charset="-120"/>
              </a:rPr>
              <a:t>KEY CHALLENGE 1</a:t>
            </a:r>
            <a:endParaRPr lang="en-US" sz="1200" dirty="0"/>
          </a:p>
        </p:txBody>
      </p:sp>
      <p:sp>
        <p:nvSpPr>
          <p:cNvPr id="3" name="Text 1"/>
          <p:cNvSpPr/>
          <p:nvPr>
            <p:ph type="title"/>
          </p:nvPr>
        </p:nvSpPr>
        <p:spPr>
          <a:xfrm>
            <a:off x="812800" y="110232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6202B"/>
                </a:solidFill>
                <a:latin typeface="Big Shoulders" pitchFamily="34" charset="0"/>
                <a:ea typeface="Big Shoulders" pitchFamily="34" charset="-122"/>
                <a:cs typeface="Big Shoulders" pitchFamily="34" charset="-120"/>
              </a:rPr>
              <a:t>Mining the metadata the content libraries never held</a:t>
            </a:r>
            <a:endParaRPr lang="en-US" sz="3600" dirty="0"/>
          </a:p>
        </p:txBody>
      </p:sp>
      <p:sp>
        <p:nvSpPr>
          <p:cNvPr id="4" name="Shape 2"/>
          <p:cNvSpPr/>
          <p:nvPr/>
        </p:nvSpPr>
        <p:spPr>
          <a:xfrm>
            <a:off x="812800" y="1985566"/>
            <a:ext cx="3302000" cy="1686520"/>
          </a:xfrm>
          <a:prstGeom prst="roundRect">
            <a:avLst>
              <a:gd name="adj" fmla="val 4518"/>
            </a:avLst>
          </a:prstGeom>
          <a:solidFill>
            <a:srgbClr val="E8EDF2"/>
          </a:solidFill>
          <a:ln/>
        </p:spPr>
      </p:sp>
      <p:sp>
        <p:nvSpPr>
          <p:cNvPr id="5" name="Text 3"/>
          <p:cNvSpPr/>
          <p:nvPr/>
        </p:nvSpPr>
        <p:spPr>
          <a:xfrm>
            <a:off x="1016000" y="2188766"/>
            <a:ext cx="29824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IBM Plex Mono" pitchFamily="49" charset="0"/>
                <a:ea typeface="IBM Plex Mono" pitchFamily="49" charset="-122"/>
                <a:cs typeface="IBM Plex Mono" pitchFamily="49" charset="-120"/>
              </a:rPr>
              <a:t>WHAT THE SOURCES HOLD</a:t>
            </a:r>
            <a:endParaRPr lang="en-US" sz="1200" dirty="0"/>
          </a:p>
        </p:txBody>
      </p:sp>
      <p:sp>
        <p:nvSpPr>
          <p:cNvPr id="6" name="Text 4"/>
          <p:cNvSpPr/>
          <p:nvPr/>
        </p:nvSpPr>
        <p:spPr>
          <a:xfrm>
            <a:off x="1101344" y="2478286"/>
            <a:ext cx="2889504" cy="1016000"/>
          </a:xfrm>
          <a:prstGeom prst="rect">
            <a:avLst/>
          </a:prstGeom>
          <a:noFill/>
          <a:ln/>
        </p:spPr>
        <p:txBody>
          <a:bodyPr wrap="square" lIns="0" tIns="0" rIns="0" bIns="0" rtlCol="0" anchor="t">
            <a:normAutofit/>
          </a:bodyPr>
          <a:lstStyle/>
          <a:p>
            <a:pPr algn="l" marL="168656" indent="-168656">
              <a:lnSpc>
                <a:spcPts val="1950"/>
              </a:lnSpc>
              <a:buSzPct val="100000"/>
              <a:buChar char="•"/>
            </a:pPr>
            <a:r>
              <a:rPr lang="en-US" sz="1300" dirty="0">
                <a:solidFill>
                  <a:srgbClr val="3A4A5A"/>
                </a:solidFill>
                <a:latin typeface="IBM Plex Sans" pitchFamily="34" charset="0"/>
                <a:ea typeface="IBM Plex Sans" pitchFamily="34" charset="-122"/>
                <a:cs typeface="IBM Plex Sans" pitchFamily="34" charset="-120"/>
              </a:rPr>
              <a:t>File name and folder</a:t>
            </a:r>
            <a:endParaRPr lang="en-US" sz="1300" dirty="0"/>
          </a:p>
          <a:p>
            <a:pPr algn="l" marL="168656" indent="-168656">
              <a:lnSpc>
                <a:spcPts val="1950"/>
              </a:lnSpc>
              <a:buSzPct val="100000"/>
              <a:buChar char="•"/>
            </a:pPr>
            <a:r>
              <a:rPr lang="en-US" sz="1300" dirty="0">
                <a:solidFill>
                  <a:srgbClr val="3A4A5A"/>
                </a:solidFill>
                <a:latin typeface="IBM Plex Sans" pitchFamily="34" charset="0"/>
                <a:ea typeface="IBM Plex Sans" pitchFamily="34" charset="-122"/>
                <a:cs typeface="IBM Plex Sans" pitchFamily="34" charset="-120"/>
              </a:rPr>
              <a:t>Author and modified date</a:t>
            </a:r>
            <a:endParaRPr lang="en-US" sz="1300" dirty="0"/>
          </a:p>
          <a:p>
            <a:pPr algn="l" marL="168656" indent="-168656">
              <a:lnSpc>
                <a:spcPts val="1950"/>
              </a:lnSpc>
              <a:buSzPct val="100000"/>
              <a:buChar char="•"/>
            </a:pPr>
            <a:r>
              <a:rPr lang="en-US" sz="1300" dirty="0">
                <a:solidFill>
                  <a:srgbClr val="3A4A5A"/>
                </a:solidFill>
                <a:latin typeface="IBM Plex Sans" pitchFamily="34" charset="0"/>
                <a:ea typeface="IBM Plex Sans" pitchFamily="34" charset="-122"/>
                <a:cs typeface="IBM Plex Sans" pitchFamily="34" charset="-120"/>
              </a:rPr>
              <a:t>Free text, slides, tables</a:t>
            </a:r>
            <a:endParaRPr lang="en-US" sz="1300" dirty="0"/>
          </a:p>
          <a:p>
            <a:pPr algn="l" marL="168656" indent="-168656">
              <a:lnSpc>
                <a:spcPts val="1950"/>
              </a:lnSpc>
              <a:buSzPct val="100000"/>
              <a:buChar char="•"/>
            </a:pPr>
            <a:r>
              <a:rPr lang="en-US" sz="1300" dirty="0">
                <a:solidFill>
                  <a:srgbClr val="3A4A5A"/>
                </a:solidFill>
                <a:latin typeface="IBM Plex Sans" pitchFamily="34" charset="0"/>
                <a:ea typeface="IBM Plex Sans" pitchFamily="34" charset="-122"/>
                <a:cs typeface="IBM Plex Sans" pitchFamily="34" charset="-120"/>
              </a:rPr>
              <a:t>Page snapshots, feed items</a:t>
            </a:r>
            <a:endParaRPr lang="en-US" sz="1300" dirty="0"/>
          </a:p>
        </p:txBody>
      </p:sp>
      <p:pic>
        <p:nvPicPr>
          <p:cNvPr id="7" name="Image 0" descr="arrow-right">    </p:cNvPr>
          <p:cNvPicPr>
            <a:picLocks noChangeAspect="1"/>
          </p:cNvPicPr>
          <p:nvPr/>
        </p:nvPicPr>
        <p:blipFill>
          <a:blip r:embed="rId1"/>
          <a:srcRect l="0" r="0" t="0" b="0"/>
          <a:stretch/>
        </p:blipFill>
        <p:spPr>
          <a:xfrm>
            <a:off x="4762500" y="2240806"/>
            <a:ext cx="1016000" cy="457200"/>
          </a:xfrm>
          <a:prstGeom prst="rect">
            <a:avLst/>
          </a:prstGeom>
        </p:spPr>
      </p:pic>
      <p:sp>
        <p:nvSpPr>
          <p:cNvPr id="8" name="Text 5"/>
          <p:cNvSpPr/>
          <p:nvPr/>
        </p:nvSpPr>
        <p:spPr>
          <a:xfrm>
            <a:off x="4289425" y="2799606"/>
            <a:ext cx="1962150" cy="642590"/>
          </a:xfrm>
          <a:prstGeom prst="rect">
            <a:avLst/>
          </a:prstGeom>
          <a:noFill/>
          <a:ln/>
        </p:spPr>
        <p:txBody>
          <a:bodyPr wrap="square" lIns="0" tIns="0" rIns="0" bIns="0" rtlCol="0" anchor="t">
            <a:normAutofit/>
          </a:bodyPr>
          <a:lstStyle/>
          <a:p>
            <a:pPr algn="ctr" indent="0" marL="0">
              <a:lnSpc>
                <a:spcPts val="1620"/>
              </a:lnSpc>
              <a:buNone/>
            </a:pPr>
            <a:r>
              <a:rPr lang="en-US" sz="1200" dirty="0">
                <a:solidFill>
                  <a:srgbClr val="4A3AA7"/>
                </a:solidFill>
                <a:latin typeface="IBM Plex Sans" pitchFamily="34" charset="0"/>
                <a:ea typeface="IBM Plex Sans" pitchFamily="34" charset="-122"/>
                <a:cs typeface="IBM Plex Sans" pitchFamily="34" charset="-120"/>
              </a:rPr>
              <a:t>AI fabric proposes, SSOT rules decide, SHACL validates</a:t>
            </a:r>
            <a:endParaRPr lang="en-US" sz="1200" dirty="0"/>
          </a:p>
        </p:txBody>
      </p:sp>
      <p:sp>
        <p:nvSpPr>
          <p:cNvPr id="9" name="Shape 6"/>
          <p:cNvSpPr/>
          <p:nvPr/>
        </p:nvSpPr>
        <p:spPr>
          <a:xfrm>
            <a:off x="6426200" y="1836341"/>
            <a:ext cx="4953000" cy="1984970"/>
          </a:xfrm>
          <a:prstGeom prst="roundRect">
            <a:avLst>
              <a:gd name="adj" fmla="val 3839"/>
            </a:avLst>
          </a:prstGeom>
          <a:solidFill>
            <a:srgbClr val="FCFDFE"/>
          </a:solidFill>
          <a:ln/>
          <a:effectLst>
            <a:outerShdw sx="100000" sy="100000" kx="0" ky="0" algn="bl" rotWithShape="0" blurRad="63500" dist="12700" dir="5400000">
              <a:srgbClr val="16202B">
                <a:alpha val="8000"/>
              </a:srgbClr>
            </a:outerShdw>
          </a:effectLst>
        </p:spPr>
      </p:sp>
      <p:sp>
        <p:nvSpPr>
          <p:cNvPr id="10" name="Shape 7"/>
          <p:cNvSpPr/>
          <p:nvPr/>
        </p:nvSpPr>
        <p:spPr>
          <a:xfrm>
            <a:off x="6426200" y="1836341"/>
            <a:ext cx="4953000" cy="1984970"/>
          </a:xfrm>
          <a:custGeom>
            <a:avLst/>
            <a:gdLst/>
            <a:ahLst/>
            <a:cxnLst/>
            <a:rect l="l" t="t" r="r" b="b"/>
            <a:pathLst>
              <a:path w="4953000" h="1984970">
                <a:moveTo>
                  <a:pt x="0" y="76200"/>
                </a:moveTo>
                <a:lnTo>
                  <a:pt x="0" y="76200"/>
                </a:lnTo>
                <a:arcTo hR="76200" wR="76200" stAng="10800000" swAng="5400000"/>
                <a:lnTo>
                  <a:pt x="4876800" y="0"/>
                </a:lnTo>
                <a:arcTo hR="76200" wR="76200" stAng="16200000" swAng="5400000"/>
                <a:lnTo>
                  <a:pt x="4953000" y="76200"/>
                </a:lnTo>
                <a:arcTo hR="25400" wR="76200" stAng="0" swAng="-5400000"/>
                <a:lnTo>
                  <a:pt x="76200" y="50800"/>
                </a:lnTo>
                <a:arcTo hR="25400" wR="76200" stAng="16200000" swAng="-5400000"/>
                <a:close/>
              </a:path>
            </a:pathLst>
          </a:custGeom>
          <a:solidFill>
            <a:srgbClr val="1F6E8C"/>
          </a:solidFill>
          <a:ln/>
        </p:spPr>
      </p:sp>
      <p:sp>
        <p:nvSpPr>
          <p:cNvPr id="11" name="Text 8"/>
          <p:cNvSpPr/>
          <p:nvPr/>
        </p:nvSpPr>
        <p:spPr>
          <a:xfrm>
            <a:off x="6629400" y="2090341"/>
            <a:ext cx="46829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E8C"/>
                </a:solidFill>
                <a:latin typeface="IBM Plex Mono" pitchFamily="49" charset="0"/>
                <a:ea typeface="IBM Plex Mono" pitchFamily="49" charset="-122"/>
                <a:cs typeface="IBM Plex Mono" pitchFamily="49" charset="-120"/>
              </a:rPr>
              <a:t>WHAT PRECISION SEARCH NEEDS</a:t>
            </a:r>
            <a:endParaRPr lang="en-US" sz="1200" dirty="0"/>
          </a:p>
        </p:txBody>
      </p:sp>
      <p:sp>
        <p:nvSpPr>
          <p:cNvPr id="12" name="Text 9"/>
          <p:cNvSpPr/>
          <p:nvPr/>
        </p:nvSpPr>
        <p:spPr>
          <a:xfrm>
            <a:off x="6714744" y="2379861"/>
            <a:ext cx="4590034" cy="1263650"/>
          </a:xfrm>
          <a:prstGeom prst="rect">
            <a:avLst/>
          </a:prstGeom>
          <a:noFill/>
          <a:ln/>
        </p:spPr>
        <p:txBody>
          <a:bodyPr wrap="square" lIns="0" tIns="0" rIns="0" bIns="0" rtlCol="0" anchor="t">
            <a:normAutofit/>
          </a:bodyPr>
          <a:lstStyle/>
          <a:p>
            <a:pPr algn="l" marL="168656" indent="-168656">
              <a:lnSpc>
                <a:spcPts val="1950"/>
              </a:lnSpc>
              <a:buSzPct val="100000"/>
              <a:buChar char="•"/>
            </a:pPr>
            <a:r>
              <a:rPr lang="en-US" sz="1300" dirty="0">
                <a:solidFill>
                  <a:srgbClr val="2A3846"/>
                </a:solidFill>
                <a:latin typeface="IBM Plex Sans" pitchFamily="34" charset="0"/>
                <a:ea typeface="IBM Plex Sans" pitchFamily="34" charset="-122"/>
                <a:cs typeface="IBM Plex Sans" pitchFamily="34" charset="-120"/>
              </a:rPr>
              <a:t>Content type, persona, job step, pipeline stage</a:t>
            </a:r>
            <a:endParaRPr lang="en-US" sz="1300" dirty="0"/>
          </a:p>
          <a:p>
            <a:pPr algn="l" marL="168656" indent="-168656">
              <a:lnSpc>
                <a:spcPts val="1950"/>
              </a:lnSpc>
              <a:buSzPct val="100000"/>
              <a:buChar char="•"/>
            </a:pPr>
            <a:r>
              <a:rPr lang="en-US" sz="1300" dirty="0">
                <a:solidFill>
                  <a:srgbClr val="2A3846"/>
                </a:solidFill>
                <a:latin typeface="IBM Plex Sans" pitchFamily="34" charset="0"/>
                <a:ea typeface="IBM Plex Sans" pitchFamily="34" charset="-122"/>
                <a:cs typeface="IBM Plex Sans" pitchFamily="34" charset="-120"/>
              </a:rPr>
              <a:t>Atomic claims with their source span</a:t>
            </a:r>
            <a:endParaRPr lang="en-US" sz="1300" dirty="0"/>
          </a:p>
          <a:p>
            <a:pPr algn="l" marL="168656" indent="-168656">
              <a:lnSpc>
                <a:spcPts val="1950"/>
              </a:lnSpc>
              <a:buSzPct val="100000"/>
              <a:buChar char="•"/>
            </a:pPr>
            <a:r>
              <a:rPr lang="en-US" sz="1300" dirty="0">
                <a:solidFill>
                  <a:srgbClr val="2A3846"/>
                </a:solidFill>
                <a:latin typeface="IBM Plex Sans" pitchFamily="34" charset="0"/>
                <a:ea typeface="IBM Plex Sans" pitchFamily="34" charset="-122"/>
                <a:cs typeface="IBM Plex Sans" pitchFamily="34" charset="-120"/>
              </a:rPr>
              <a:t>Jurisdictions, valid-from and valid-until</a:t>
            </a:r>
            <a:endParaRPr lang="en-US" sz="1300" dirty="0"/>
          </a:p>
          <a:p>
            <a:pPr algn="l" marL="168656" indent="-168656">
              <a:lnSpc>
                <a:spcPts val="1950"/>
              </a:lnSpc>
              <a:buSzPct val="100000"/>
              <a:buChar char="•"/>
            </a:pPr>
            <a:r>
              <a:rPr lang="en-US" sz="1300" dirty="0">
                <a:solidFill>
                  <a:srgbClr val="2A3846"/>
                </a:solidFill>
                <a:latin typeface="IBM Plex Sans" pitchFamily="34" charset="0"/>
                <a:ea typeface="IBM Plex Sans" pitchFamily="34" charset="-122"/>
                <a:cs typeface="IBM Plex Sans" pitchFamily="34" charset="-120"/>
              </a:rPr>
              <a:t>Sensitivity label and entitlements</a:t>
            </a:r>
            <a:endParaRPr lang="en-US" sz="1300" dirty="0"/>
          </a:p>
          <a:p>
            <a:pPr algn="l" marL="168656" indent="-168656">
              <a:lnSpc>
                <a:spcPts val="1950"/>
              </a:lnSpc>
              <a:buSzPct val="100000"/>
              <a:buChar char="•"/>
            </a:pPr>
            <a:r>
              <a:rPr lang="en-US" sz="1300" dirty="0">
                <a:solidFill>
                  <a:srgbClr val="2A3846"/>
                </a:solidFill>
                <a:latin typeface="IBM Plex Sans" pitchFamily="34" charset="0"/>
                <a:ea typeface="IBM Plex Sans" pitchFamily="34" charset="-122"/>
                <a:cs typeface="IBM Plex Sans" pitchFamily="34" charset="-120"/>
              </a:rPr>
              <a:t>Mapped concepts and bound SSOT rules</a:t>
            </a:r>
            <a:endParaRPr lang="en-US" sz="1300" dirty="0"/>
          </a:p>
        </p:txBody>
      </p:sp>
      <p:sp>
        <p:nvSpPr>
          <p:cNvPr id="13" name="Text 10"/>
          <p:cNvSpPr/>
          <p:nvPr/>
        </p:nvSpPr>
        <p:spPr>
          <a:xfrm>
            <a:off x="812800" y="4075311"/>
            <a:ext cx="1088339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A5A"/>
                </a:solidFill>
                <a:latin typeface="IBM Plex Sans" pitchFamily="34" charset="0"/>
                <a:ea typeface="IBM Plex Sans" pitchFamily="34" charset="-122"/>
                <a:cs typeface="IBM Plex Sans" pitchFamily="34" charset="-120"/>
              </a:rPr>
              <a:t>Without this layer, agents can only return documents. With it, they can return the one current, permitted claim a persona needs, and cite it.</a:t>
            </a:r>
            <a:endParaRPr lang="en-US" sz="1400" dirty="0"/>
          </a:p>
        </p:txBody>
      </p:sp>
      <p:sp>
        <p:nvSpPr>
          <p:cNvPr id="14"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E80"/>
                </a:solidFill>
                <a:latin typeface="IBM Plex Mono" pitchFamily="49" charset="0"/>
                <a:ea typeface="IBM Plex Mono" pitchFamily="49" charset="-122"/>
                <a:cs typeface="IBM Plex Mono" pitchFamily="49" charset="-120"/>
              </a:rPr>
              <a:t>PEO Sales Advisor · Storyboard · 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6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1F6E8C"/>
                </a:solidFill>
                <a:latin typeface="IBM Plex Mono" pitchFamily="49" charset="0"/>
                <a:ea typeface="IBM Plex Mono" pitchFamily="49" charset="-122"/>
                <a:cs typeface="IBM Plex Mono" pitchFamily="49" charset="-120"/>
              </a:rPr>
              <a:t>SEVEN-STAGE PIPELINE · WORKED EXAMPLE</a:t>
            </a:r>
            <a:endParaRPr lang="en-US" sz="1200" dirty="0"/>
          </a:p>
        </p:txBody>
      </p:sp>
      <p:sp>
        <p:nvSpPr>
          <p:cNvPr id="3" name="Text 1"/>
          <p:cNvSpPr/>
          <p:nvPr>
            <p:ph type="title"/>
          </p:nvPr>
        </p:nvSpPr>
        <p:spPr>
          <a:xfrm>
            <a:off x="812800" y="110232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6202B"/>
                </a:solidFill>
                <a:latin typeface="Big Shoulders" pitchFamily="34" charset="0"/>
                <a:ea typeface="Big Shoulders" pitchFamily="34" charset="-122"/>
                <a:cs typeface="Big Shoulders" pitchFamily="34" charset="-120"/>
              </a:rPr>
              <a:t>One deck from the Sales Enablement library</a:t>
            </a:r>
            <a:endParaRPr lang="en-US" sz="3600" dirty="0"/>
          </a:p>
        </p:txBody>
      </p:sp>
      <p:sp>
        <p:nvSpPr>
          <p:cNvPr id="4" name="Text 2"/>
          <p:cNvSpPr/>
          <p:nvPr/>
        </p:nvSpPr>
        <p:spPr>
          <a:xfrm>
            <a:off x="812800" y="178554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IBM Plex Mono" pitchFamily="49" charset="0"/>
                <a:ea typeface="IBM Plex Mono" pitchFamily="49" charset="-122"/>
                <a:cs typeface="IBM Plex Mono" pitchFamily="49" charset="-120"/>
              </a:rPr>
              <a:t>2027 Small-Group Benefits Plan Comparison.pptx · SharePoint</a:t>
            </a:r>
            <a:endParaRPr lang="en-US" sz="1200" dirty="0"/>
          </a:p>
        </p:txBody>
      </p:sp>
      <p:sp>
        <p:nvSpPr>
          <p:cNvPr id="5" name="Shape 3"/>
          <p:cNvSpPr/>
          <p:nvPr/>
        </p:nvSpPr>
        <p:spPr>
          <a:xfrm>
            <a:off x="812800" y="2202061"/>
            <a:ext cx="1444129" cy="1521271"/>
          </a:xfrm>
          <a:prstGeom prst="roundRect">
            <a:avLst>
              <a:gd name="adj" fmla="val 4397"/>
            </a:avLst>
          </a:prstGeom>
          <a:solidFill>
            <a:srgbClr val="FCFDFE"/>
          </a:solidFill>
          <a:ln/>
        </p:spPr>
      </p:sp>
      <p:sp>
        <p:nvSpPr>
          <p:cNvPr id="6" name="Shape 4"/>
          <p:cNvSpPr/>
          <p:nvPr/>
        </p:nvSpPr>
        <p:spPr>
          <a:xfrm>
            <a:off x="812800" y="2202061"/>
            <a:ext cx="1444129" cy="1521271"/>
          </a:xfrm>
          <a:custGeom>
            <a:avLst/>
            <a:gdLst/>
            <a:ahLst/>
            <a:cxnLst/>
            <a:rect l="l" t="t" r="r" b="b"/>
            <a:pathLst>
              <a:path w="1444129" h="1521271">
                <a:moveTo>
                  <a:pt x="0" y="63500"/>
                </a:moveTo>
                <a:lnTo>
                  <a:pt x="0" y="63500"/>
                </a:lnTo>
                <a:arcTo hR="63500" wR="63500" stAng="10800000" swAng="5400000"/>
                <a:lnTo>
                  <a:pt x="1380629" y="0"/>
                </a:lnTo>
                <a:arcTo hR="63500" wR="63500" stAng="16200000" swAng="5400000"/>
                <a:lnTo>
                  <a:pt x="1444129" y="63500"/>
                </a:lnTo>
                <a:arcTo hR="25400" wR="63500" stAng="0" swAng="-5400000"/>
                <a:lnTo>
                  <a:pt x="63500" y="38100"/>
                </a:lnTo>
                <a:arcTo hR="25400" wR="63500" stAng="16200000" swAng="-5400000"/>
                <a:close/>
              </a:path>
            </a:pathLst>
          </a:custGeom>
          <a:solidFill>
            <a:srgbClr val="1BAF7A"/>
          </a:solidFill>
          <a:ln/>
        </p:spPr>
      </p:sp>
      <p:sp>
        <p:nvSpPr>
          <p:cNvPr id="7" name="Text 5"/>
          <p:cNvSpPr/>
          <p:nvPr/>
        </p:nvSpPr>
        <p:spPr>
          <a:xfrm>
            <a:off x="927100" y="2354461"/>
            <a:ext cx="126632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B"/>
                </a:solidFill>
                <a:latin typeface="IBM Plex Sans" pitchFamily="34" charset="0"/>
                <a:ea typeface="IBM Plex Sans" pitchFamily="34" charset="-122"/>
                <a:cs typeface="IBM Plex Sans" pitchFamily="34" charset="-120"/>
              </a:rPr>
              <a:t>1 Ingest</a:t>
            </a:r>
            <a:endParaRPr lang="en-US" sz="1400" dirty="0"/>
          </a:p>
        </p:txBody>
      </p:sp>
      <p:sp>
        <p:nvSpPr>
          <p:cNvPr id="8" name="Text 6"/>
          <p:cNvSpPr/>
          <p:nvPr/>
        </p:nvSpPr>
        <p:spPr>
          <a:xfrm>
            <a:off x="927100" y="2618581"/>
            <a:ext cx="1266329"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A5A"/>
                </a:solidFill>
                <a:latin typeface="IBM Plex Sans" pitchFamily="34" charset="0"/>
                <a:ea typeface="IBM Plex Sans" pitchFamily="34" charset="-122"/>
                <a:cs typeface="IBM Plex Sans" pitchFamily="34" charset="-120"/>
              </a:rPr>
              <a:t>Delta query picks up version 14: 22 slides, 4 tables.</a:t>
            </a:r>
            <a:endParaRPr lang="en-US" sz="1200" dirty="0"/>
          </a:p>
        </p:txBody>
      </p:sp>
      <p:sp>
        <p:nvSpPr>
          <p:cNvPr id="9" name="Shape 7"/>
          <p:cNvSpPr/>
          <p:nvPr/>
        </p:nvSpPr>
        <p:spPr>
          <a:xfrm>
            <a:off x="2333129" y="2202061"/>
            <a:ext cx="1444179" cy="1521271"/>
          </a:xfrm>
          <a:prstGeom prst="roundRect">
            <a:avLst>
              <a:gd name="adj" fmla="val 4397"/>
            </a:avLst>
          </a:prstGeom>
          <a:solidFill>
            <a:srgbClr val="FCFDFE"/>
          </a:solidFill>
          <a:ln/>
        </p:spPr>
      </p:sp>
      <p:sp>
        <p:nvSpPr>
          <p:cNvPr id="10" name="Shape 8"/>
          <p:cNvSpPr/>
          <p:nvPr/>
        </p:nvSpPr>
        <p:spPr>
          <a:xfrm>
            <a:off x="2333129" y="2202061"/>
            <a:ext cx="1444179" cy="1521271"/>
          </a:xfrm>
          <a:custGeom>
            <a:avLst/>
            <a:gdLst/>
            <a:ahLst/>
            <a:cxnLst/>
            <a:rect l="l" t="t" r="r" b="b"/>
            <a:pathLst>
              <a:path w="1444179" h="1521271">
                <a:moveTo>
                  <a:pt x="0" y="63500"/>
                </a:moveTo>
                <a:lnTo>
                  <a:pt x="0" y="63500"/>
                </a:lnTo>
                <a:arcTo hR="63500" wR="63500" stAng="10800000" swAng="5400000"/>
                <a:lnTo>
                  <a:pt x="1380679" y="0"/>
                </a:lnTo>
                <a:arcTo hR="63500" wR="63500" stAng="16200000" swAng="5400000"/>
                <a:lnTo>
                  <a:pt x="1444179" y="63500"/>
                </a:lnTo>
                <a:arcTo hR="25400" wR="63500" stAng="0" swAng="-5400000"/>
                <a:lnTo>
                  <a:pt x="63500" y="38100"/>
                </a:lnTo>
                <a:arcTo hR="25400" wR="63500" stAng="16200000" swAng="-5400000"/>
                <a:close/>
              </a:path>
            </a:pathLst>
          </a:custGeom>
          <a:solidFill>
            <a:srgbClr val="1BAF7A"/>
          </a:solidFill>
          <a:ln/>
        </p:spPr>
      </p:sp>
      <p:sp>
        <p:nvSpPr>
          <p:cNvPr id="11" name="Text 9"/>
          <p:cNvSpPr/>
          <p:nvPr/>
        </p:nvSpPr>
        <p:spPr>
          <a:xfrm>
            <a:off x="2447429" y="2354461"/>
            <a:ext cx="126637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B"/>
                </a:solidFill>
                <a:latin typeface="IBM Plex Sans" pitchFamily="34" charset="0"/>
                <a:ea typeface="IBM Plex Sans" pitchFamily="34" charset="-122"/>
                <a:cs typeface="IBM Plex Sans" pitchFamily="34" charset="-120"/>
              </a:rPr>
              <a:t>2 Identify</a:t>
            </a:r>
            <a:endParaRPr lang="en-US" sz="1400" dirty="0"/>
          </a:p>
        </p:txBody>
      </p:sp>
      <p:sp>
        <p:nvSpPr>
          <p:cNvPr id="12" name="Text 10"/>
          <p:cNvSpPr/>
          <p:nvPr/>
        </p:nvSpPr>
        <p:spPr>
          <a:xfrm>
            <a:off x="2447429" y="2618581"/>
            <a:ext cx="1266379" cy="81776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A5A"/>
                </a:solidFill>
                <a:latin typeface="IBM Plex Sans" pitchFamily="34" charset="0"/>
                <a:ea typeface="IBM Plex Sans" pitchFamily="34" charset="-122"/>
                <a:cs typeface="IBM Plex Sans" pitchFamily="34" charset="-120"/>
              </a:rPr>
              <a:t>Canonical URI from item ID and hash; v13 linked as prior.</a:t>
            </a:r>
            <a:endParaRPr lang="en-US" sz="1200" dirty="0"/>
          </a:p>
        </p:txBody>
      </p:sp>
      <p:sp>
        <p:nvSpPr>
          <p:cNvPr id="13" name="Shape 11"/>
          <p:cNvSpPr/>
          <p:nvPr/>
        </p:nvSpPr>
        <p:spPr>
          <a:xfrm>
            <a:off x="3853507" y="2202061"/>
            <a:ext cx="1444179" cy="1521271"/>
          </a:xfrm>
          <a:prstGeom prst="roundRect">
            <a:avLst>
              <a:gd name="adj" fmla="val 4397"/>
            </a:avLst>
          </a:prstGeom>
          <a:solidFill>
            <a:srgbClr val="FCFDFE"/>
          </a:solidFill>
          <a:ln/>
        </p:spPr>
      </p:sp>
      <p:sp>
        <p:nvSpPr>
          <p:cNvPr id="14" name="Shape 12"/>
          <p:cNvSpPr/>
          <p:nvPr/>
        </p:nvSpPr>
        <p:spPr>
          <a:xfrm>
            <a:off x="3853507" y="2202061"/>
            <a:ext cx="1444179" cy="1521271"/>
          </a:xfrm>
          <a:custGeom>
            <a:avLst/>
            <a:gdLst/>
            <a:ahLst/>
            <a:cxnLst/>
            <a:rect l="l" t="t" r="r" b="b"/>
            <a:pathLst>
              <a:path w="1444179" h="1521271">
                <a:moveTo>
                  <a:pt x="0" y="63500"/>
                </a:moveTo>
                <a:lnTo>
                  <a:pt x="0" y="63500"/>
                </a:lnTo>
                <a:arcTo hR="63500" wR="63500" stAng="10800000" swAng="5400000"/>
                <a:lnTo>
                  <a:pt x="1380679" y="0"/>
                </a:lnTo>
                <a:arcTo hR="63500" wR="63500" stAng="16200000" swAng="5400000"/>
                <a:lnTo>
                  <a:pt x="1444179" y="63500"/>
                </a:lnTo>
                <a:arcTo hR="25400" wR="63500" stAng="0" swAng="-5400000"/>
                <a:lnTo>
                  <a:pt x="63500" y="38100"/>
                </a:lnTo>
                <a:arcTo hR="25400" wR="63500" stAng="16200000" swAng="-5400000"/>
                <a:close/>
              </a:path>
            </a:pathLst>
          </a:custGeom>
          <a:solidFill>
            <a:srgbClr val="1BAF7A"/>
          </a:solidFill>
          <a:ln/>
        </p:spPr>
      </p:sp>
      <p:sp>
        <p:nvSpPr>
          <p:cNvPr id="15" name="Text 13"/>
          <p:cNvSpPr/>
          <p:nvPr/>
        </p:nvSpPr>
        <p:spPr>
          <a:xfrm>
            <a:off x="3967807" y="2354461"/>
            <a:ext cx="126637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B"/>
                </a:solidFill>
                <a:latin typeface="IBM Plex Sans" pitchFamily="34" charset="0"/>
                <a:ea typeface="IBM Plex Sans" pitchFamily="34" charset="-122"/>
                <a:cs typeface="IBM Plex Sans" pitchFamily="34" charset="-120"/>
              </a:rPr>
              <a:t>3 Classify</a:t>
            </a:r>
            <a:endParaRPr lang="en-US" sz="1400" dirty="0"/>
          </a:p>
        </p:txBody>
      </p:sp>
      <p:sp>
        <p:nvSpPr>
          <p:cNvPr id="16" name="Text 14"/>
          <p:cNvSpPr/>
          <p:nvPr/>
        </p:nvSpPr>
        <p:spPr>
          <a:xfrm>
            <a:off x="3967807" y="2618581"/>
            <a:ext cx="1266379" cy="81776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A5A"/>
                </a:solidFill>
                <a:latin typeface="IBM Plex Sans" pitchFamily="34" charset="0"/>
                <a:ea typeface="IBM Plex Sans" pitchFamily="34" charset="-122"/>
                <a:cs typeface="IBM Plex Sans" pitchFamily="34" charset="-120"/>
              </a:rPr>
              <a:t>Plan comparison (0.94); HR Specialist (0.91); Evaluate stage.</a:t>
            </a:r>
            <a:endParaRPr lang="en-US" sz="1200" dirty="0"/>
          </a:p>
        </p:txBody>
      </p:sp>
      <p:sp>
        <p:nvSpPr>
          <p:cNvPr id="17" name="Shape 15"/>
          <p:cNvSpPr/>
          <p:nvPr/>
        </p:nvSpPr>
        <p:spPr>
          <a:xfrm>
            <a:off x="5373886" y="2202061"/>
            <a:ext cx="1444179" cy="1521271"/>
          </a:xfrm>
          <a:prstGeom prst="roundRect">
            <a:avLst>
              <a:gd name="adj" fmla="val 4397"/>
            </a:avLst>
          </a:prstGeom>
          <a:solidFill>
            <a:srgbClr val="FBF1D9"/>
          </a:solidFill>
          <a:ln/>
        </p:spPr>
      </p:sp>
      <p:sp>
        <p:nvSpPr>
          <p:cNvPr id="18" name="Shape 16"/>
          <p:cNvSpPr/>
          <p:nvPr/>
        </p:nvSpPr>
        <p:spPr>
          <a:xfrm>
            <a:off x="5373886" y="2202061"/>
            <a:ext cx="1444179" cy="1521271"/>
          </a:xfrm>
          <a:custGeom>
            <a:avLst/>
            <a:gdLst/>
            <a:ahLst/>
            <a:cxnLst/>
            <a:rect l="l" t="t" r="r" b="b"/>
            <a:pathLst>
              <a:path w="1444179" h="1521271">
                <a:moveTo>
                  <a:pt x="0" y="63500"/>
                </a:moveTo>
                <a:lnTo>
                  <a:pt x="0" y="63500"/>
                </a:lnTo>
                <a:arcTo hR="63500" wR="63500" stAng="10800000" swAng="5400000"/>
                <a:lnTo>
                  <a:pt x="1380679" y="0"/>
                </a:lnTo>
                <a:arcTo hR="63500" wR="63500" stAng="16200000" swAng="5400000"/>
                <a:lnTo>
                  <a:pt x="1444179" y="63500"/>
                </a:lnTo>
                <a:arcTo hR="25400" wR="63500" stAng="0" swAng="-5400000"/>
                <a:lnTo>
                  <a:pt x="63500" y="38100"/>
                </a:lnTo>
                <a:arcTo hR="25400" wR="63500" stAng="16200000" swAng="-5400000"/>
                <a:close/>
              </a:path>
            </a:pathLst>
          </a:custGeom>
          <a:solidFill>
            <a:srgbClr val="C98500"/>
          </a:solidFill>
          <a:ln/>
        </p:spPr>
      </p:sp>
      <p:sp>
        <p:nvSpPr>
          <p:cNvPr id="19" name="Text 17"/>
          <p:cNvSpPr/>
          <p:nvPr/>
        </p:nvSpPr>
        <p:spPr>
          <a:xfrm>
            <a:off x="5488186" y="2354461"/>
            <a:ext cx="126637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B"/>
                </a:solidFill>
                <a:latin typeface="IBM Plex Sans" pitchFamily="34" charset="0"/>
                <a:ea typeface="IBM Plex Sans" pitchFamily="34" charset="-122"/>
                <a:cs typeface="IBM Plex Sans" pitchFamily="34" charset="-120"/>
              </a:rPr>
              <a:t>4 Control</a:t>
            </a:r>
            <a:endParaRPr lang="en-US" sz="1400" dirty="0"/>
          </a:p>
        </p:txBody>
      </p:sp>
      <p:sp>
        <p:nvSpPr>
          <p:cNvPr id="20" name="Text 18"/>
          <p:cNvSpPr/>
          <p:nvPr/>
        </p:nvSpPr>
        <p:spPr>
          <a:xfrm>
            <a:off x="5488186" y="2618581"/>
            <a:ext cx="1266379" cy="81776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A5A"/>
                </a:solidFill>
                <a:latin typeface="IBM Plex Sans" pitchFamily="34" charset="0"/>
                <a:ea typeface="IBM Plex Sans" pitchFamily="34" charset="-122"/>
                <a:cs typeface="IBM Plex Sans" pitchFamily="34" charset="-120"/>
              </a:rPr>
              <a:t>Client-shareable label. Slide 19 margins excluded (EXT-006).</a:t>
            </a:r>
            <a:endParaRPr lang="en-US" sz="1200" dirty="0"/>
          </a:p>
        </p:txBody>
      </p:sp>
      <p:sp>
        <p:nvSpPr>
          <p:cNvPr id="21" name="Shape 19"/>
          <p:cNvSpPr/>
          <p:nvPr/>
        </p:nvSpPr>
        <p:spPr>
          <a:xfrm>
            <a:off x="6894264" y="2202061"/>
            <a:ext cx="1444179" cy="1521271"/>
          </a:xfrm>
          <a:prstGeom prst="roundRect">
            <a:avLst>
              <a:gd name="adj" fmla="val 4397"/>
            </a:avLst>
          </a:prstGeom>
          <a:solidFill>
            <a:srgbClr val="FCFDFE"/>
          </a:solidFill>
          <a:ln/>
        </p:spPr>
      </p:sp>
      <p:sp>
        <p:nvSpPr>
          <p:cNvPr id="22" name="Shape 20"/>
          <p:cNvSpPr/>
          <p:nvPr/>
        </p:nvSpPr>
        <p:spPr>
          <a:xfrm>
            <a:off x="6894264" y="2202061"/>
            <a:ext cx="1444179" cy="1521271"/>
          </a:xfrm>
          <a:custGeom>
            <a:avLst/>
            <a:gdLst/>
            <a:ahLst/>
            <a:cxnLst/>
            <a:rect l="l" t="t" r="r" b="b"/>
            <a:pathLst>
              <a:path w="1444179" h="1521271">
                <a:moveTo>
                  <a:pt x="0" y="63500"/>
                </a:moveTo>
                <a:lnTo>
                  <a:pt x="0" y="63500"/>
                </a:lnTo>
                <a:arcTo hR="63500" wR="63500" stAng="10800000" swAng="5400000"/>
                <a:lnTo>
                  <a:pt x="1380679" y="0"/>
                </a:lnTo>
                <a:arcTo hR="63500" wR="63500" stAng="16200000" swAng="5400000"/>
                <a:lnTo>
                  <a:pt x="1444179" y="63500"/>
                </a:lnTo>
                <a:arcTo hR="25400" wR="63500" stAng="0" swAng="-5400000"/>
                <a:lnTo>
                  <a:pt x="63500" y="38100"/>
                </a:lnTo>
                <a:arcTo hR="25400" wR="63500" stAng="16200000" swAng="-5400000"/>
                <a:close/>
              </a:path>
            </a:pathLst>
          </a:custGeom>
          <a:solidFill>
            <a:srgbClr val="1BAF7A"/>
          </a:solidFill>
          <a:ln/>
        </p:spPr>
      </p:sp>
      <p:sp>
        <p:nvSpPr>
          <p:cNvPr id="23" name="Text 21"/>
          <p:cNvSpPr/>
          <p:nvPr/>
        </p:nvSpPr>
        <p:spPr>
          <a:xfrm>
            <a:off x="7008564" y="2354461"/>
            <a:ext cx="126637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B"/>
                </a:solidFill>
                <a:latin typeface="IBM Plex Sans" pitchFamily="34" charset="0"/>
                <a:ea typeface="IBM Plex Sans" pitchFamily="34" charset="-122"/>
                <a:cs typeface="IBM Plex Sans" pitchFamily="34" charset="-120"/>
              </a:rPr>
              <a:t>5 Enrich</a:t>
            </a:r>
            <a:endParaRPr lang="en-US" sz="1400" dirty="0"/>
          </a:p>
        </p:txBody>
      </p:sp>
      <p:sp>
        <p:nvSpPr>
          <p:cNvPr id="24" name="Text 22"/>
          <p:cNvSpPr/>
          <p:nvPr/>
        </p:nvSpPr>
        <p:spPr>
          <a:xfrm>
            <a:off x="7008564" y="2618581"/>
            <a:ext cx="1266379" cy="101585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A5A"/>
                </a:solidFill>
                <a:latin typeface="IBM Plex Sans" pitchFamily="34" charset="0"/>
                <a:ea typeface="IBM Plex Sans" pitchFamily="34" charset="-122"/>
                <a:cs typeface="IBM Plex Sans" pitchFamily="34" charset="-120"/>
              </a:rPr>
              <a:t>31 claims, 6 jurisdictions, valid for 2027, each with its span.</a:t>
            </a:r>
            <a:endParaRPr lang="en-US" sz="1200" dirty="0"/>
          </a:p>
        </p:txBody>
      </p:sp>
      <p:sp>
        <p:nvSpPr>
          <p:cNvPr id="25" name="Shape 23"/>
          <p:cNvSpPr/>
          <p:nvPr/>
        </p:nvSpPr>
        <p:spPr>
          <a:xfrm>
            <a:off x="8414643" y="2202061"/>
            <a:ext cx="1444179" cy="1521271"/>
          </a:xfrm>
          <a:prstGeom prst="roundRect">
            <a:avLst>
              <a:gd name="adj" fmla="val 4397"/>
            </a:avLst>
          </a:prstGeom>
          <a:solidFill>
            <a:srgbClr val="FCFDFE"/>
          </a:solidFill>
          <a:ln/>
        </p:spPr>
      </p:sp>
      <p:sp>
        <p:nvSpPr>
          <p:cNvPr id="26" name="Shape 24"/>
          <p:cNvSpPr/>
          <p:nvPr/>
        </p:nvSpPr>
        <p:spPr>
          <a:xfrm>
            <a:off x="8414643" y="2202061"/>
            <a:ext cx="1444179" cy="1521271"/>
          </a:xfrm>
          <a:custGeom>
            <a:avLst/>
            <a:gdLst/>
            <a:ahLst/>
            <a:cxnLst/>
            <a:rect l="l" t="t" r="r" b="b"/>
            <a:pathLst>
              <a:path w="1444179" h="1521271">
                <a:moveTo>
                  <a:pt x="0" y="63500"/>
                </a:moveTo>
                <a:lnTo>
                  <a:pt x="0" y="63500"/>
                </a:lnTo>
                <a:arcTo hR="63500" wR="63500" stAng="10800000" swAng="5400000"/>
                <a:lnTo>
                  <a:pt x="1380679" y="0"/>
                </a:lnTo>
                <a:arcTo hR="63500" wR="63500" stAng="16200000" swAng="5400000"/>
                <a:lnTo>
                  <a:pt x="1444179" y="63500"/>
                </a:lnTo>
                <a:arcTo hR="25400" wR="63500" stAng="0" swAng="-5400000"/>
                <a:lnTo>
                  <a:pt x="63500" y="38100"/>
                </a:lnTo>
                <a:arcTo hR="25400" wR="63500" stAng="16200000" swAng="-5400000"/>
                <a:close/>
              </a:path>
            </a:pathLst>
          </a:custGeom>
          <a:solidFill>
            <a:srgbClr val="1BAF7A"/>
          </a:solidFill>
          <a:ln/>
        </p:spPr>
      </p:sp>
      <p:sp>
        <p:nvSpPr>
          <p:cNvPr id="27" name="Text 25"/>
          <p:cNvSpPr/>
          <p:nvPr/>
        </p:nvSpPr>
        <p:spPr>
          <a:xfrm>
            <a:off x="8528943" y="2354461"/>
            <a:ext cx="126637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B"/>
                </a:solidFill>
                <a:latin typeface="IBM Plex Sans" pitchFamily="34" charset="0"/>
                <a:ea typeface="IBM Plex Sans" pitchFamily="34" charset="-122"/>
                <a:cs typeface="IBM Plex Sans" pitchFamily="34" charset="-120"/>
              </a:rPr>
              <a:t>6 Map</a:t>
            </a:r>
            <a:endParaRPr lang="en-US" sz="1400" dirty="0"/>
          </a:p>
        </p:txBody>
      </p:sp>
      <p:sp>
        <p:nvSpPr>
          <p:cNvPr id="28" name="Text 26"/>
          <p:cNvSpPr/>
          <p:nvPr/>
        </p:nvSpPr>
        <p:spPr>
          <a:xfrm>
            <a:off x="8528943" y="2618581"/>
            <a:ext cx="1266379" cy="101585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A5A"/>
                </a:solidFill>
                <a:latin typeface="IBM Plex Sans" pitchFamily="34" charset="0"/>
                <a:ea typeface="IBM Plex Sans" pitchFamily="34" charset="-122"/>
                <a:cs typeface="IBM Plex Sans" pitchFamily="34" charset="-120"/>
              </a:rPr>
              <a:t>Plans mapped to hr: concepts; affordability bound to BEN-003.</a:t>
            </a:r>
            <a:endParaRPr lang="en-US" sz="1200" dirty="0"/>
          </a:p>
        </p:txBody>
      </p:sp>
      <p:sp>
        <p:nvSpPr>
          <p:cNvPr id="29" name="Shape 27"/>
          <p:cNvSpPr/>
          <p:nvPr/>
        </p:nvSpPr>
        <p:spPr>
          <a:xfrm>
            <a:off x="9935021" y="2202061"/>
            <a:ext cx="1444179" cy="1521271"/>
          </a:xfrm>
          <a:prstGeom prst="roundRect">
            <a:avLst>
              <a:gd name="adj" fmla="val 4397"/>
            </a:avLst>
          </a:prstGeom>
          <a:solidFill>
            <a:srgbClr val="FCFDFE"/>
          </a:solidFill>
          <a:ln/>
        </p:spPr>
      </p:sp>
      <p:sp>
        <p:nvSpPr>
          <p:cNvPr id="30" name="Shape 28"/>
          <p:cNvSpPr/>
          <p:nvPr/>
        </p:nvSpPr>
        <p:spPr>
          <a:xfrm>
            <a:off x="9935021" y="2202061"/>
            <a:ext cx="1444179" cy="1521271"/>
          </a:xfrm>
          <a:custGeom>
            <a:avLst/>
            <a:gdLst/>
            <a:ahLst/>
            <a:cxnLst/>
            <a:rect l="l" t="t" r="r" b="b"/>
            <a:pathLst>
              <a:path w="1444179" h="1521271">
                <a:moveTo>
                  <a:pt x="0" y="63500"/>
                </a:moveTo>
                <a:lnTo>
                  <a:pt x="0" y="63500"/>
                </a:lnTo>
                <a:arcTo hR="63500" wR="63500" stAng="10800000" swAng="5400000"/>
                <a:lnTo>
                  <a:pt x="1380679" y="0"/>
                </a:lnTo>
                <a:arcTo hR="63500" wR="63500" stAng="16200000" swAng="5400000"/>
                <a:lnTo>
                  <a:pt x="1444179" y="63500"/>
                </a:lnTo>
                <a:arcTo hR="25400" wR="63500" stAng="0" swAng="-5400000"/>
                <a:lnTo>
                  <a:pt x="63500" y="38100"/>
                </a:lnTo>
                <a:arcTo hR="25400" wR="63500" stAng="16200000" swAng="-5400000"/>
                <a:close/>
              </a:path>
            </a:pathLst>
          </a:custGeom>
          <a:solidFill>
            <a:srgbClr val="1BAF7A"/>
          </a:solidFill>
          <a:ln/>
        </p:spPr>
      </p:sp>
      <p:sp>
        <p:nvSpPr>
          <p:cNvPr id="31" name="Text 29"/>
          <p:cNvSpPr/>
          <p:nvPr/>
        </p:nvSpPr>
        <p:spPr>
          <a:xfrm>
            <a:off x="10049321" y="2354461"/>
            <a:ext cx="126637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B"/>
                </a:solidFill>
                <a:latin typeface="IBM Plex Sans" pitchFamily="34" charset="0"/>
                <a:ea typeface="IBM Plex Sans" pitchFamily="34" charset="-122"/>
                <a:cs typeface="IBM Plex Sans" pitchFamily="34" charset="-120"/>
              </a:rPr>
              <a:t>7 Publish</a:t>
            </a:r>
            <a:endParaRPr lang="en-US" sz="1400" dirty="0"/>
          </a:p>
        </p:txBody>
      </p:sp>
      <p:sp>
        <p:nvSpPr>
          <p:cNvPr id="32" name="Text 30"/>
          <p:cNvSpPr/>
          <p:nvPr/>
        </p:nvSpPr>
        <p:spPr>
          <a:xfrm>
            <a:off x="10049321" y="2618581"/>
            <a:ext cx="1266379" cy="81776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A5A"/>
                </a:solidFill>
                <a:latin typeface="IBM Plex Sans" pitchFamily="34" charset="0"/>
                <a:ea typeface="IBM Plex Sans" pitchFamily="34" charset="-122"/>
                <a:cs typeface="IBM Plex Sans" pitchFamily="34" charset="-120"/>
              </a:rPr>
              <a:t>RDF written only after SHACL passes, with a KGCL record.</a:t>
            </a:r>
            <a:endParaRPr lang="en-US" sz="1200" dirty="0"/>
          </a:p>
        </p:txBody>
      </p:sp>
      <p:sp>
        <p:nvSpPr>
          <p:cNvPr id="33" name="Text 31"/>
          <p:cNvSpPr/>
          <p:nvPr/>
        </p:nvSpPr>
        <p:spPr>
          <a:xfrm>
            <a:off x="812800" y="3926532"/>
            <a:ext cx="1088339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A5A"/>
                </a:solidFill>
                <a:latin typeface="IBM Plex Sans" pitchFamily="34" charset="0"/>
                <a:ea typeface="IBM Plex Sans" pitchFamily="34" charset="-122"/>
                <a:cs typeface="IBM Plex Sans" pitchFamily="34" charset="-120"/>
              </a:rPr>
              <a:t>The same seven stages run for every source family; only the connector and its EXT rule differ. Amber marks a stage that passed with an exclusion the persona never sees.</a:t>
            </a:r>
            <a:endParaRPr lang="en-US" sz="1300" dirty="0"/>
          </a:p>
        </p:txBody>
      </p:sp>
      <p:sp>
        <p:nvSpPr>
          <p:cNvPr id="34" name="Text 3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E80"/>
                </a:solidFill>
                <a:latin typeface="IBM Plex Mono" pitchFamily="49" charset="0"/>
                <a:ea typeface="IBM Plex Mono" pitchFamily="49" charset="-122"/>
                <a:cs typeface="IBM Plex Mono" pitchFamily="49" charset="-120"/>
              </a:rPr>
              <a:t>PEO Sales Advisor · Storyboard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6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1F6E8C"/>
                </a:solidFill>
                <a:latin typeface="IBM Plex Mono" pitchFamily="49" charset="0"/>
                <a:ea typeface="IBM Plex Mono" pitchFamily="49" charset="-122"/>
                <a:cs typeface="IBM Plex Mono" pitchFamily="49" charset="-120"/>
              </a:rPr>
              <a:t>PRECISION SEARCH</a:t>
            </a:r>
            <a:endParaRPr lang="en-US" sz="1200" dirty="0"/>
          </a:p>
        </p:txBody>
      </p:sp>
      <p:sp>
        <p:nvSpPr>
          <p:cNvPr id="3" name="Text 1"/>
          <p:cNvSpPr/>
          <p:nvPr>
            <p:ph type="title"/>
          </p:nvPr>
        </p:nvSpPr>
        <p:spPr>
          <a:xfrm>
            <a:off x="812800" y="110232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6202B"/>
                </a:solidFill>
                <a:latin typeface="Big Shoulders" pitchFamily="34" charset="0"/>
                <a:ea typeface="Big Shoulders" pitchFamily="34" charset="-122"/>
                <a:cs typeface="Big Shoulders" pitchFamily="34" charset="-120"/>
              </a:rPr>
              <a:t>Faceted search runs as a chain, not a single lookup</a:t>
            </a:r>
            <a:endParaRPr lang="en-US" sz="3600" dirty="0"/>
          </a:p>
        </p:txBody>
      </p:sp>
      <p:sp>
        <p:nvSpPr>
          <p:cNvPr id="4" name="Shape 2"/>
          <p:cNvSpPr/>
          <p:nvPr/>
        </p:nvSpPr>
        <p:spPr>
          <a:xfrm>
            <a:off x="812800" y="1836341"/>
            <a:ext cx="1788120" cy="1892250"/>
          </a:xfrm>
          <a:prstGeom prst="roundRect">
            <a:avLst>
              <a:gd name="adj" fmla="val 3551"/>
            </a:avLst>
          </a:prstGeom>
          <a:solidFill>
            <a:srgbClr val="FCFDFE"/>
          </a:solidFill>
          <a:ln/>
        </p:spPr>
      </p:sp>
      <p:sp>
        <p:nvSpPr>
          <p:cNvPr id="5" name="Shape 3"/>
          <p:cNvSpPr/>
          <p:nvPr/>
        </p:nvSpPr>
        <p:spPr>
          <a:xfrm>
            <a:off x="812800" y="1836341"/>
            <a:ext cx="1788120" cy="1892250"/>
          </a:xfrm>
          <a:custGeom>
            <a:avLst/>
            <a:gdLst/>
            <a:ahLst/>
            <a:cxnLst/>
            <a:rect l="l" t="t" r="r" b="b"/>
            <a:pathLst>
              <a:path w="1788120" h="1892250">
                <a:moveTo>
                  <a:pt x="0" y="63500"/>
                </a:moveTo>
                <a:lnTo>
                  <a:pt x="0" y="63500"/>
                </a:lnTo>
                <a:arcTo hR="63500" wR="63500" stAng="10800000" swAng="5400000"/>
                <a:lnTo>
                  <a:pt x="1724620" y="0"/>
                </a:lnTo>
                <a:arcTo hR="63500" wR="63500" stAng="16200000" swAng="5400000"/>
                <a:lnTo>
                  <a:pt x="1788120" y="63500"/>
                </a:lnTo>
                <a:arcTo hR="25400" wR="63500" stAng="0" swAng="-5400000"/>
                <a:lnTo>
                  <a:pt x="63500" y="38100"/>
                </a:lnTo>
                <a:arcTo hR="25400" wR="63500" stAng="16200000" swAng="-5400000"/>
                <a:close/>
              </a:path>
            </a:pathLst>
          </a:custGeom>
          <a:solidFill>
            <a:srgbClr val="2A5FA0"/>
          </a:solidFill>
          <a:ln/>
        </p:spPr>
      </p:sp>
      <p:sp>
        <p:nvSpPr>
          <p:cNvPr id="6" name="Text 4"/>
          <p:cNvSpPr/>
          <p:nvPr/>
        </p:nvSpPr>
        <p:spPr>
          <a:xfrm>
            <a:off x="965200" y="2026841"/>
            <a:ext cx="163572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02B"/>
                </a:solidFill>
                <a:latin typeface="IBM Plex Sans" pitchFamily="34" charset="0"/>
                <a:ea typeface="IBM Plex Sans" pitchFamily="34" charset="-122"/>
                <a:cs typeface="IBM Plex Sans" pitchFamily="34" charset="-120"/>
              </a:rPr>
              <a:t>Federated query</a:t>
            </a:r>
            <a:endParaRPr lang="en-US" sz="1500" dirty="0"/>
          </a:p>
        </p:txBody>
      </p:sp>
      <p:sp>
        <p:nvSpPr>
          <p:cNvPr id="7" name="Text 5"/>
          <p:cNvSpPr/>
          <p:nvPr/>
        </p:nvSpPr>
        <p:spPr>
          <a:xfrm>
            <a:off x="965200" y="2318941"/>
            <a:ext cx="1534120" cy="12597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A5A"/>
                </a:solidFill>
                <a:latin typeface="IBM Plex Sans" pitchFamily="34" charset="0"/>
                <a:ea typeface="IBM Plex Sans" pitchFamily="34" charset="-122"/>
                <a:cs typeface="IBM Plex Sans" pitchFamily="34" charset="-120"/>
              </a:rPr>
              <a:t>The persona question becomes one graph query over content, CRM and quoting, through a virtual graph with no copies.</a:t>
            </a:r>
            <a:endParaRPr lang="en-US" sz="1200" dirty="0"/>
          </a:p>
        </p:txBody>
      </p:sp>
      <p:pic>
        <p:nvPicPr>
          <p:cNvPr id="8" name="Image 0" descr="arrow-right">    </p:cNvPr>
          <p:cNvPicPr>
            <a:picLocks noChangeAspect="1"/>
          </p:cNvPicPr>
          <p:nvPr/>
        </p:nvPicPr>
        <p:blipFill>
          <a:blip r:embed="rId1"/>
          <a:srcRect l="0" r="0" t="0" b="0"/>
          <a:stretch/>
        </p:blipFill>
        <p:spPr>
          <a:xfrm>
            <a:off x="2677120" y="2718941"/>
            <a:ext cx="254000" cy="127000"/>
          </a:xfrm>
          <a:prstGeom prst="rect">
            <a:avLst/>
          </a:prstGeom>
        </p:spPr>
      </p:pic>
      <p:sp>
        <p:nvSpPr>
          <p:cNvPr id="9" name="Shape 6"/>
          <p:cNvSpPr/>
          <p:nvPr/>
        </p:nvSpPr>
        <p:spPr>
          <a:xfrm>
            <a:off x="3007320" y="1836341"/>
            <a:ext cx="1788170" cy="1892250"/>
          </a:xfrm>
          <a:prstGeom prst="roundRect">
            <a:avLst>
              <a:gd name="adj" fmla="val 3551"/>
            </a:avLst>
          </a:prstGeom>
          <a:solidFill>
            <a:srgbClr val="FCFDFE"/>
          </a:solidFill>
          <a:ln/>
        </p:spPr>
      </p:sp>
      <p:sp>
        <p:nvSpPr>
          <p:cNvPr id="10" name="Shape 7"/>
          <p:cNvSpPr/>
          <p:nvPr/>
        </p:nvSpPr>
        <p:spPr>
          <a:xfrm>
            <a:off x="3007320" y="1836341"/>
            <a:ext cx="1788170" cy="1892250"/>
          </a:xfrm>
          <a:custGeom>
            <a:avLst/>
            <a:gdLst/>
            <a:ahLst/>
            <a:cxnLst/>
            <a:rect l="l" t="t" r="r" b="b"/>
            <a:pathLst>
              <a:path w="1788170" h="1892250">
                <a:moveTo>
                  <a:pt x="0" y="63500"/>
                </a:moveTo>
                <a:lnTo>
                  <a:pt x="0" y="63500"/>
                </a:lnTo>
                <a:arcTo hR="63500" wR="63500" stAng="10800000" swAng="5400000"/>
                <a:lnTo>
                  <a:pt x="1724670" y="0"/>
                </a:lnTo>
                <a:arcTo hR="63500" wR="63500" stAng="16200000" swAng="5400000"/>
                <a:lnTo>
                  <a:pt x="1788170" y="63500"/>
                </a:lnTo>
                <a:arcTo hR="25400" wR="63500" stAng="0" swAng="-5400000"/>
                <a:lnTo>
                  <a:pt x="63500" y="38100"/>
                </a:lnTo>
                <a:arcTo hR="25400" wR="63500" stAng="16200000" swAng="-5400000"/>
                <a:close/>
              </a:path>
            </a:pathLst>
          </a:custGeom>
          <a:solidFill>
            <a:srgbClr val="2A5FA0"/>
          </a:solidFill>
          <a:ln/>
        </p:spPr>
      </p:sp>
      <p:sp>
        <p:nvSpPr>
          <p:cNvPr id="11" name="Text 8"/>
          <p:cNvSpPr/>
          <p:nvPr/>
        </p:nvSpPr>
        <p:spPr>
          <a:xfrm>
            <a:off x="3159720" y="2026841"/>
            <a:ext cx="153417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02B"/>
                </a:solidFill>
                <a:latin typeface="IBM Plex Sans" pitchFamily="34" charset="0"/>
                <a:ea typeface="IBM Plex Sans" pitchFamily="34" charset="-122"/>
                <a:cs typeface="IBM Plex Sans" pitchFamily="34" charset="-120"/>
              </a:rPr>
              <a:t>Mappings</a:t>
            </a:r>
            <a:endParaRPr lang="en-US" sz="1500" dirty="0"/>
          </a:p>
        </p:txBody>
      </p:sp>
      <p:sp>
        <p:nvSpPr>
          <p:cNvPr id="12" name="Text 9"/>
          <p:cNvSpPr/>
          <p:nvPr/>
        </p:nvSpPr>
        <p:spPr>
          <a:xfrm>
            <a:off x="3159720" y="2318941"/>
            <a:ext cx="1534170" cy="105405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A5A"/>
                </a:solidFill>
                <a:latin typeface="IBM Plex Sans" pitchFamily="34" charset="0"/>
                <a:ea typeface="IBM Plex Sans" pitchFamily="34" charset="-122"/>
                <a:cs typeface="IBM Plex Sans" pitchFamily="34" charset="-120"/>
              </a:rPr>
              <a:t>The mapping graph (GOV-006) resolves in-house and external terms to one set of concepts.</a:t>
            </a:r>
            <a:endParaRPr lang="en-US" sz="1200" dirty="0"/>
          </a:p>
        </p:txBody>
      </p:sp>
      <p:pic>
        <p:nvPicPr>
          <p:cNvPr id="13" name="Image 1" descr="arrow-right">    </p:cNvPr>
          <p:cNvPicPr>
            <a:picLocks noChangeAspect="1"/>
          </p:cNvPicPr>
          <p:nvPr/>
        </p:nvPicPr>
        <p:blipFill>
          <a:blip r:embed="rId2"/>
          <a:srcRect l="0" r="0" t="0" b="0"/>
          <a:stretch/>
        </p:blipFill>
        <p:spPr>
          <a:xfrm>
            <a:off x="4871690" y="2718941"/>
            <a:ext cx="254000" cy="127000"/>
          </a:xfrm>
          <a:prstGeom prst="rect">
            <a:avLst/>
          </a:prstGeom>
        </p:spPr>
      </p:pic>
      <p:sp>
        <p:nvSpPr>
          <p:cNvPr id="14" name="Shape 10"/>
          <p:cNvSpPr/>
          <p:nvPr/>
        </p:nvSpPr>
        <p:spPr>
          <a:xfrm>
            <a:off x="5201890" y="1836341"/>
            <a:ext cx="1788170" cy="1892250"/>
          </a:xfrm>
          <a:prstGeom prst="roundRect">
            <a:avLst>
              <a:gd name="adj" fmla="val 3551"/>
            </a:avLst>
          </a:prstGeom>
          <a:solidFill>
            <a:srgbClr val="FCFDFE"/>
          </a:solidFill>
          <a:ln/>
        </p:spPr>
      </p:sp>
      <p:sp>
        <p:nvSpPr>
          <p:cNvPr id="15" name="Shape 11"/>
          <p:cNvSpPr/>
          <p:nvPr/>
        </p:nvSpPr>
        <p:spPr>
          <a:xfrm>
            <a:off x="5201890" y="1836341"/>
            <a:ext cx="1788170" cy="1892250"/>
          </a:xfrm>
          <a:custGeom>
            <a:avLst/>
            <a:gdLst/>
            <a:ahLst/>
            <a:cxnLst/>
            <a:rect l="l" t="t" r="r" b="b"/>
            <a:pathLst>
              <a:path w="1788170" h="1892250">
                <a:moveTo>
                  <a:pt x="0" y="63500"/>
                </a:moveTo>
                <a:lnTo>
                  <a:pt x="0" y="63500"/>
                </a:lnTo>
                <a:arcTo hR="63500" wR="63500" stAng="10800000" swAng="5400000"/>
                <a:lnTo>
                  <a:pt x="1724670" y="0"/>
                </a:lnTo>
                <a:arcTo hR="63500" wR="63500" stAng="16200000" swAng="5400000"/>
                <a:lnTo>
                  <a:pt x="1788170" y="63500"/>
                </a:lnTo>
                <a:arcTo hR="25400" wR="63500" stAng="0" swAng="-5400000"/>
                <a:lnTo>
                  <a:pt x="63500" y="38100"/>
                </a:lnTo>
                <a:arcTo hR="25400" wR="63500" stAng="16200000" swAng="-5400000"/>
                <a:close/>
              </a:path>
            </a:pathLst>
          </a:custGeom>
          <a:solidFill>
            <a:srgbClr val="2A5FA0"/>
          </a:solidFill>
          <a:ln/>
        </p:spPr>
      </p:sp>
      <p:sp>
        <p:nvSpPr>
          <p:cNvPr id="16" name="Text 12"/>
          <p:cNvSpPr/>
          <p:nvPr/>
        </p:nvSpPr>
        <p:spPr>
          <a:xfrm>
            <a:off x="5354290" y="2026841"/>
            <a:ext cx="153417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02B"/>
                </a:solidFill>
                <a:latin typeface="IBM Plex Sans" pitchFamily="34" charset="0"/>
                <a:ea typeface="IBM Plex Sans" pitchFamily="34" charset="-122"/>
                <a:cs typeface="IBM Plex Sans" pitchFamily="34" charset="-120"/>
              </a:rPr>
              <a:t>RDF content</a:t>
            </a:r>
            <a:endParaRPr lang="en-US" sz="1500" dirty="0"/>
          </a:p>
        </p:txBody>
      </p:sp>
      <p:sp>
        <p:nvSpPr>
          <p:cNvPr id="17" name="Text 13"/>
          <p:cNvSpPr/>
          <p:nvPr/>
        </p:nvSpPr>
        <p:spPr>
          <a:xfrm>
            <a:off x="5354290" y="2318941"/>
            <a:ext cx="1534170" cy="105405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A5A"/>
                </a:solidFill>
                <a:latin typeface="IBM Plex Sans" pitchFamily="34" charset="0"/>
                <a:ea typeface="IBM Plex Sans" pitchFamily="34" charset="-122"/>
                <a:cs typeface="IBM Plex Sans" pitchFamily="34" charset="-120"/>
              </a:rPr>
              <a:t>Objects, chunks and claims filtered by persona, job step, jurisdiction and validity.</a:t>
            </a:r>
            <a:endParaRPr lang="en-US" sz="1200" dirty="0"/>
          </a:p>
        </p:txBody>
      </p:sp>
      <p:pic>
        <p:nvPicPr>
          <p:cNvPr id="18" name="Image 2" descr="arrow-right">    </p:cNvPr>
          <p:cNvPicPr>
            <a:picLocks noChangeAspect="1"/>
          </p:cNvPicPr>
          <p:nvPr/>
        </p:nvPicPr>
        <p:blipFill>
          <a:blip r:embed="rId3"/>
          <a:srcRect l="0" r="0" t="0" b="0"/>
          <a:stretch/>
        </p:blipFill>
        <p:spPr>
          <a:xfrm>
            <a:off x="7066260" y="2718941"/>
            <a:ext cx="254000" cy="127000"/>
          </a:xfrm>
          <a:prstGeom prst="rect">
            <a:avLst/>
          </a:prstGeom>
        </p:spPr>
      </p:pic>
      <p:sp>
        <p:nvSpPr>
          <p:cNvPr id="19" name="Shape 14"/>
          <p:cNvSpPr/>
          <p:nvPr/>
        </p:nvSpPr>
        <p:spPr>
          <a:xfrm>
            <a:off x="7396460" y="1836341"/>
            <a:ext cx="1788170" cy="1892250"/>
          </a:xfrm>
          <a:prstGeom prst="roundRect">
            <a:avLst>
              <a:gd name="adj" fmla="val 3551"/>
            </a:avLst>
          </a:prstGeom>
          <a:solidFill>
            <a:srgbClr val="FCFDFE"/>
          </a:solidFill>
          <a:ln/>
        </p:spPr>
      </p:sp>
      <p:sp>
        <p:nvSpPr>
          <p:cNvPr id="20" name="Shape 15"/>
          <p:cNvSpPr/>
          <p:nvPr/>
        </p:nvSpPr>
        <p:spPr>
          <a:xfrm>
            <a:off x="7396460" y="1836341"/>
            <a:ext cx="1788170" cy="1892250"/>
          </a:xfrm>
          <a:custGeom>
            <a:avLst/>
            <a:gdLst/>
            <a:ahLst/>
            <a:cxnLst/>
            <a:rect l="l" t="t" r="r" b="b"/>
            <a:pathLst>
              <a:path w="1788170" h="1892250">
                <a:moveTo>
                  <a:pt x="0" y="63500"/>
                </a:moveTo>
                <a:lnTo>
                  <a:pt x="0" y="63500"/>
                </a:lnTo>
                <a:arcTo hR="63500" wR="63500" stAng="10800000" swAng="5400000"/>
                <a:lnTo>
                  <a:pt x="1724670" y="0"/>
                </a:lnTo>
                <a:arcTo hR="63500" wR="63500" stAng="16200000" swAng="5400000"/>
                <a:lnTo>
                  <a:pt x="1788170" y="63500"/>
                </a:lnTo>
                <a:arcTo hR="25400" wR="63500" stAng="0" swAng="-5400000"/>
                <a:lnTo>
                  <a:pt x="63500" y="38100"/>
                </a:lnTo>
                <a:arcTo hR="25400" wR="63500" stAng="16200000" swAng="-5400000"/>
                <a:close/>
              </a:path>
            </a:pathLst>
          </a:custGeom>
          <a:solidFill>
            <a:srgbClr val="2A5FA0"/>
          </a:solidFill>
          <a:ln/>
        </p:spPr>
      </p:sp>
      <p:sp>
        <p:nvSpPr>
          <p:cNvPr id="21" name="Text 16"/>
          <p:cNvSpPr/>
          <p:nvPr/>
        </p:nvSpPr>
        <p:spPr>
          <a:xfrm>
            <a:off x="7548860" y="2026841"/>
            <a:ext cx="1534170"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02B"/>
                </a:solidFill>
                <a:latin typeface="IBM Plex Sans" pitchFamily="34" charset="0"/>
                <a:ea typeface="IBM Plex Sans" pitchFamily="34" charset="-122"/>
                <a:cs typeface="IBM Plex Sans" pitchFamily="34" charset="-120"/>
              </a:rPr>
              <a:t>Precision extraction</a:t>
            </a:r>
            <a:endParaRPr lang="en-US" sz="1500" dirty="0"/>
          </a:p>
        </p:txBody>
      </p:sp>
      <p:sp>
        <p:nvSpPr>
          <p:cNvPr id="22" name="Text 17"/>
          <p:cNvSpPr/>
          <p:nvPr/>
        </p:nvSpPr>
        <p:spPr>
          <a:xfrm>
            <a:off x="7548860" y="2547541"/>
            <a:ext cx="1534170" cy="105405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A5A"/>
                </a:solidFill>
                <a:latin typeface="IBM Plex Sans" pitchFamily="34" charset="0"/>
                <a:ea typeface="IBM Plex Sans" pitchFamily="34" charset="-122"/>
                <a:cs typeface="IBM Plex Sans" pitchFamily="34" charset="-120"/>
              </a:rPr>
              <a:t>Only the claims that answer the question, each with its source span and rule binding.</a:t>
            </a:r>
            <a:endParaRPr lang="en-US" sz="1200" dirty="0"/>
          </a:p>
        </p:txBody>
      </p:sp>
      <p:pic>
        <p:nvPicPr>
          <p:cNvPr id="23" name="Image 3" descr="arrow-right">    </p:cNvPr>
          <p:cNvPicPr>
            <a:picLocks noChangeAspect="1"/>
          </p:cNvPicPr>
          <p:nvPr/>
        </p:nvPicPr>
        <p:blipFill>
          <a:blip r:embed="rId4"/>
          <a:srcRect l="0" r="0" t="0" b="0"/>
          <a:stretch/>
        </p:blipFill>
        <p:spPr>
          <a:xfrm>
            <a:off x="9260830" y="2718941"/>
            <a:ext cx="254000" cy="127000"/>
          </a:xfrm>
          <a:prstGeom prst="rect">
            <a:avLst/>
          </a:prstGeom>
        </p:spPr>
      </p:pic>
      <p:sp>
        <p:nvSpPr>
          <p:cNvPr id="24" name="Shape 18"/>
          <p:cNvSpPr/>
          <p:nvPr/>
        </p:nvSpPr>
        <p:spPr>
          <a:xfrm>
            <a:off x="9591030" y="1836341"/>
            <a:ext cx="1788170" cy="1892250"/>
          </a:xfrm>
          <a:prstGeom prst="roundRect">
            <a:avLst>
              <a:gd name="adj" fmla="val 3551"/>
            </a:avLst>
          </a:prstGeom>
          <a:solidFill>
            <a:srgbClr val="F6EFE1"/>
          </a:solidFill>
          <a:ln/>
        </p:spPr>
      </p:sp>
      <p:sp>
        <p:nvSpPr>
          <p:cNvPr id="25" name="Shape 19"/>
          <p:cNvSpPr/>
          <p:nvPr/>
        </p:nvSpPr>
        <p:spPr>
          <a:xfrm>
            <a:off x="9591030" y="1836341"/>
            <a:ext cx="1788170" cy="1892250"/>
          </a:xfrm>
          <a:custGeom>
            <a:avLst/>
            <a:gdLst/>
            <a:ahLst/>
            <a:cxnLst/>
            <a:rect l="l" t="t" r="r" b="b"/>
            <a:pathLst>
              <a:path w="1788170" h="1892250">
                <a:moveTo>
                  <a:pt x="0" y="63500"/>
                </a:moveTo>
                <a:lnTo>
                  <a:pt x="0" y="63500"/>
                </a:lnTo>
                <a:arcTo hR="63500" wR="63500" stAng="10800000" swAng="5400000"/>
                <a:lnTo>
                  <a:pt x="1724670" y="0"/>
                </a:lnTo>
                <a:arcTo hR="63500" wR="63500" stAng="16200000" swAng="5400000"/>
                <a:lnTo>
                  <a:pt x="1788170" y="63500"/>
                </a:lnTo>
                <a:arcTo hR="25400" wR="63500" stAng="0" swAng="-5400000"/>
                <a:lnTo>
                  <a:pt x="63500" y="38100"/>
                </a:lnTo>
                <a:arcTo hR="25400" wR="63500" stAng="16200000" swAng="-5400000"/>
                <a:close/>
              </a:path>
            </a:pathLst>
          </a:custGeom>
          <a:solidFill>
            <a:srgbClr val="B07A12"/>
          </a:solidFill>
          <a:ln/>
        </p:spPr>
      </p:sp>
      <p:sp>
        <p:nvSpPr>
          <p:cNvPr id="26" name="Text 20"/>
          <p:cNvSpPr/>
          <p:nvPr/>
        </p:nvSpPr>
        <p:spPr>
          <a:xfrm>
            <a:off x="9743430" y="2026841"/>
            <a:ext cx="153417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02B"/>
                </a:solidFill>
                <a:latin typeface="IBM Plex Sans" pitchFamily="34" charset="0"/>
                <a:ea typeface="IBM Plex Sans" pitchFamily="34" charset="-122"/>
                <a:cs typeface="IBM Plex Sans" pitchFamily="34" charset="-120"/>
              </a:rPr>
              <a:t>Assembly</a:t>
            </a:r>
            <a:endParaRPr lang="en-US" sz="1500" dirty="0"/>
          </a:p>
        </p:txBody>
      </p:sp>
      <p:sp>
        <p:nvSpPr>
          <p:cNvPr id="27" name="Text 21"/>
          <p:cNvSpPr/>
          <p:nvPr/>
        </p:nvSpPr>
        <p:spPr>
          <a:xfrm>
            <a:off x="9743430" y="2318941"/>
            <a:ext cx="1534170" cy="105405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A5A"/>
                </a:solidFill>
                <a:latin typeface="IBM Plex Sans" pitchFamily="34" charset="0"/>
                <a:ea typeface="IBM Plex Sans" pitchFamily="34" charset="-122"/>
                <a:cs typeface="IBM Plex Sans" pitchFamily="34" charset="-120"/>
              </a:rPr>
              <a:t>A cited brief for a person, or a JSON-LD package for another agent, checked by the Grounding Guard.</a:t>
            </a:r>
            <a:endParaRPr lang="en-US" sz="1200" dirty="0"/>
          </a:p>
        </p:txBody>
      </p:sp>
      <p:sp>
        <p:nvSpPr>
          <p:cNvPr id="28" name="Text 22"/>
          <p:cNvSpPr/>
          <p:nvPr/>
        </p:nvSpPr>
        <p:spPr>
          <a:xfrm>
            <a:off x="812800" y="3982591"/>
            <a:ext cx="2972147" cy="340320"/>
          </a:xfrm>
          <a:prstGeom prst="roundRect">
            <a:avLst>
              <a:gd name="adj" fmla="val 44781"/>
            </a:avLst>
          </a:prstGeom>
          <a:solidFill>
            <a:srgbClr val="E3EFF3"/>
          </a:solidFill>
          <a:ln/>
        </p:spPr>
        <p:txBody>
          <a:bodyPr wrap="none" lIns="0" tIns="0" rIns="0" bIns="0" rtlCol="0" anchor="ctr">
            <a:normAutofit/>
          </a:bodyPr>
          <a:lstStyle/>
          <a:p>
            <a:pPr algn="ctr" indent="0" marL="0">
              <a:lnSpc>
                <a:spcPts val="1680"/>
              </a:lnSpc>
              <a:buNone/>
            </a:pPr>
            <a:r>
              <a:rPr lang="en-US" sz="1200" dirty="0">
                <a:solidFill>
                  <a:srgbClr val="16202B"/>
                </a:solidFill>
                <a:latin typeface="IBM Plex Mono" pitchFamily="49" charset="0"/>
                <a:ea typeface="IBM Plex Mono" pitchFamily="49" charset="-122"/>
                <a:cs typeface="IBM Plex Mono" pitchFamily="49" charset="-120"/>
              </a:rPr>
              <a:t>Gate: grounding ≥ 0.90 average</a:t>
            </a:r>
            <a:endParaRPr lang="en-US" sz="1200" dirty="0"/>
          </a:p>
        </p:txBody>
      </p:sp>
      <p:sp>
        <p:nvSpPr>
          <p:cNvPr id="29" name="Text 23"/>
          <p:cNvSpPr/>
          <p:nvPr/>
        </p:nvSpPr>
        <p:spPr>
          <a:xfrm>
            <a:off x="3886547" y="3982591"/>
            <a:ext cx="1966317" cy="340320"/>
          </a:xfrm>
          <a:prstGeom prst="roundRect">
            <a:avLst>
              <a:gd name="adj" fmla="val 44781"/>
            </a:avLst>
          </a:prstGeom>
          <a:solidFill>
            <a:srgbClr val="E3EFF3"/>
          </a:solidFill>
          <a:ln/>
        </p:spPr>
        <p:txBody>
          <a:bodyPr wrap="none" lIns="0" tIns="0" rIns="0" bIns="0" rtlCol="0" anchor="ctr">
            <a:normAutofit/>
          </a:bodyPr>
          <a:lstStyle/>
          <a:p>
            <a:pPr algn="ctr" indent="0" marL="0">
              <a:lnSpc>
                <a:spcPts val="1680"/>
              </a:lnSpc>
              <a:buNone/>
            </a:pPr>
            <a:r>
              <a:rPr lang="en-US" sz="1200" dirty="0">
                <a:solidFill>
                  <a:srgbClr val="16202B"/>
                </a:solidFill>
                <a:latin typeface="IBM Plex Mono" pitchFamily="49" charset="0"/>
                <a:ea typeface="IBM Plex Mono" pitchFamily="49" charset="-122"/>
                <a:cs typeface="IBM Plex Mono" pitchFamily="49" charset="-120"/>
              </a:rPr>
              <a:t>MTBH trip rate ≤ 2%</a:t>
            </a:r>
            <a:endParaRPr lang="en-US" sz="1200" dirty="0"/>
          </a:p>
        </p:txBody>
      </p:sp>
      <p:sp>
        <p:nvSpPr>
          <p:cNvPr id="30" name="Text 24"/>
          <p:cNvSpPr/>
          <p:nvPr/>
        </p:nvSpPr>
        <p:spPr>
          <a:xfrm>
            <a:off x="5954464" y="3982591"/>
            <a:ext cx="1691977" cy="340320"/>
          </a:xfrm>
          <a:prstGeom prst="roundRect">
            <a:avLst>
              <a:gd name="adj" fmla="val 44781"/>
            </a:avLst>
          </a:prstGeom>
          <a:solidFill>
            <a:srgbClr val="E3EFF3"/>
          </a:solidFill>
          <a:ln/>
        </p:spPr>
        <p:txBody>
          <a:bodyPr wrap="none" lIns="0" tIns="0" rIns="0" bIns="0" rtlCol="0" anchor="ctr">
            <a:normAutofit/>
          </a:bodyPr>
          <a:lstStyle/>
          <a:p>
            <a:pPr algn="ctr" indent="0" marL="0">
              <a:lnSpc>
                <a:spcPts val="1680"/>
              </a:lnSpc>
              <a:buNone/>
            </a:pPr>
            <a:r>
              <a:rPr lang="en-US" sz="1200" dirty="0">
                <a:solidFill>
                  <a:srgbClr val="16202B"/>
                </a:solidFill>
                <a:latin typeface="IBM Plex Mono" pitchFamily="49" charset="0"/>
                <a:ea typeface="IBM Plex Mono" pitchFamily="49" charset="-122"/>
                <a:cs typeface="IBM Plex Mono" pitchFamily="49" charset="-120"/>
              </a:rPr>
              <a:t>P95 answer ≤ 4 s</a:t>
            </a:r>
            <a:endParaRPr lang="en-US" sz="1200" dirty="0"/>
          </a:p>
        </p:txBody>
      </p:sp>
      <p:sp>
        <p:nvSpPr>
          <p:cNvPr id="31" name="Text 25"/>
          <p:cNvSpPr/>
          <p:nvPr/>
        </p:nvSpPr>
        <p:spPr>
          <a:xfrm>
            <a:off x="812800" y="4424511"/>
            <a:ext cx="3886200" cy="340320"/>
          </a:xfrm>
          <a:prstGeom prst="roundRect">
            <a:avLst>
              <a:gd name="adj" fmla="val 44781"/>
            </a:avLst>
          </a:prstGeom>
          <a:solidFill>
            <a:srgbClr val="E3EFF3"/>
          </a:solidFill>
          <a:ln/>
        </p:spPr>
        <p:txBody>
          <a:bodyPr wrap="none" lIns="0" tIns="0" rIns="0" bIns="0" rtlCol="0" anchor="ctr">
            <a:normAutofit/>
          </a:bodyPr>
          <a:lstStyle/>
          <a:p>
            <a:pPr algn="ctr" indent="0" marL="0">
              <a:lnSpc>
                <a:spcPts val="1680"/>
              </a:lnSpc>
              <a:buNone/>
            </a:pPr>
            <a:r>
              <a:rPr lang="en-US" sz="1200" dirty="0">
                <a:solidFill>
                  <a:srgbClr val="16202B"/>
                </a:solidFill>
                <a:latin typeface="IBM Plex Mono" pitchFamily="49" charset="0"/>
                <a:ea typeface="IBM Plex Mono" pitchFamily="49" charset="-122"/>
                <a:cs typeface="IBM Plex Mono" pitchFamily="49" charset="-120"/>
              </a:rPr>
              <a:t>100% of decisions bound to a metric card</a:t>
            </a:r>
            <a:endParaRPr lang="en-US" sz="1200" dirty="0"/>
          </a:p>
        </p:txBody>
      </p:sp>
      <p:sp>
        <p:nvSpPr>
          <p:cNvPr id="32" name="Text 2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E80"/>
                </a:solidFill>
                <a:latin typeface="IBM Plex Mono" pitchFamily="49" charset="0"/>
                <a:ea typeface="IBM Plex Mono" pitchFamily="49" charset="-122"/>
                <a:cs typeface="IBM Plex Mono" pitchFamily="49" charset="-120"/>
              </a:rPr>
              <a:t>PEO Sales Advisor · Storyboard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1F6E8C"/>
                </a:solidFill>
                <a:latin typeface="IBM Plex Mono" pitchFamily="49" charset="0"/>
                <a:ea typeface="IBM Plex Mono" pitchFamily="49" charset="-122"/>
                <a:cs typeface="IBM Plex Mono" pitchFamily="49" charset="-120"/>
              </a:rPr>
              <a:t>AGENTS AND MICROSERVICES</a:t>
            </a:r>
            <a:endParaRPr lang="en-US" sz="1200" dirty="0"/>
          </a:p>
        </p:txBody>
      </p:sp>
      <p:sp>
        <p:nvSpPr>
          <p:cNvPr id="3" name="Text 1"/>
          <p:cNvSpPr/>
          <p:nvPr>
            <p:ph type="title"/>
          </p:nvPr>
        </p:nvSpPr>
        <p:spPr>
          <a:xfrm>
            <a:off x="812800" y="110232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6202B"/>
                </a:solidFill>
                <a:latin typeface="Big Shoulders" pitchFamily="34" charset="0"/>
                <a:ea typeface="Big Shoulders" pitchFamily="34" charset="-122"/>
                <a:cs typeface="Big Shoulders" pitchFamily="34" charset="-120"/>
              </a:rPr>
              <a:t>38 agents in seven families, over 25 microservices</a:t>
            </a:r>
            <a:endParaRPr lang="en-US" sz="3600" dirty="0"/>
          </a:p>
        </p:txBody>
      </p:sp>
      <p:sp>
        <p:nvSpPr>
          <p:cNvPr id="4" name="Shape 2"/>
          <p:cNvSpPr/>
          <p:nvPr/>
        </p:nvSpPr>
        <p:spPr>
          <a:xfrm>
            <a:off x="812800" y="1785541"/>
            <a:ext cx="10566400" cy="2674144"/>
          </a:xfrm>
          <a:prstGeom prst="rect">
            <a:avLst/>
          </a:prstGeom>
          <a:solidFill>
            <a:srgbClr val="FCFDFE"/>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8241"/>
          <a:ext cx="10553700" cy="2661444"/>
        </p:xfrm>
        <a:graphic>
          <a:graphicData uri="http://schemas.openxmlformats.org/drawingml/2006/table">
            <a:tbl>
              <a:tblPr/>
              <a:tblGrid>
                <a:gridCol w="2743962"/>
                <a:gridCol w="3799332"/>
                <a:gridCol w="4010406"/>
              </a:tblGrid>
              <a:tr h="332680">
                <a:tc>
                  <a:txBody>
                    <a:bodyPr/>
                    <a:lstStyle/>
                    <a:p>
                      <a:pPr indent="0" marL="0">
                        <a:lnSpc>
                          <a:spcPts val="1680"/>
                        </a:lnSpc>
                        <a:buNone/>
                      </a:pPr>
                      <a:r>
                        <a:rPr lang="en-US" sz="1200" b="1" dirty="0">
                          <a:solidFill>
                            <a:srgbClr val="2A3846"/>
                          </a:solidFill>
                          <a:latin typeface="IBM Plex Sans" pitchFamily="34" charset="0"/>
                          <a:ea typeface="IBM Plex Sans" pitchFamily="34" charset="-122"/>
                          <a:cs typeface="IBM Plex Sans" pitchFamily="34" charset="-120"/>
                        </a:rPr>
                        <a:t>Family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BABBBB"/>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BABBBB"/>
                      </a:solidFill>
                      <a:prstDash val="solid"/>
                      <a:round/>
                      <a:headEnd type="none" w="med" len="med"/>
                      <a:tailEnd type="none" w="med" len="med"/>
                    </a:lnB>
                    <a:solidFill>
                      <a:srgbClr val="E9EAEB"/>
                    </a:solidFill>
                  </a:tcPr>
                </a:tc>
                <a:tc>
                  <a:txBody>
                    <a:bodyPr/>
                    <a:lstStyle/>
                    <a:p>
                      <a:pPr indent="0" marL="0">
                        <a:lnSpc>
                          <a:spcPts val="1680"/>
                        </a:lnSpc>
                        <a:buNone/>
                      </a:pPr>
                      <a:r>
                        <a:rPr lang="en-US" sz="1200" b="1" dirty="0">
                          <a:solidFill>
                            <a:srgbClr val="2A3846"/>
                          </a:solidFill>
                          <a:latin typeface="IBM Plex Sans" pitchFamily="34" charset="0"/>
                          <a:ea typeface="IBM Plex Sans" pitchFamily="34" charset="-122"/>
                          <a:cs typeface="IBM Plex Sans" pitchFamily="34" charset="-120"/>
                        </a:rPr>
                        <a:t>Job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BBB"/>
                      </a:solidFill>
                      <a:prstDash val="solid"/>
                      <a:round/>
                      <a:headEnd type="none" w="med" len="med"/>
                      <a:tailEnd type="none" w="med" len="med"/>
                    </a:lnL>
                    <a:lnR w="12700" cap="flat" cmpd="sng" algn="ctr">
                      <a:solidFill>
                        <a:srgbClr val="BABBBB"/>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BABBBB"/>
                      </a:solidFill>
                      <a:prstDash val="solid"/>
                      <a:round/>
                      <a:headEnd type="none" w="med" len="med"/>
                      <a:tailEnd type="none" w="med" len="med"/>
                    </a:lnB>
                    <a:solidFill>
                      <a:srgbClr val="E9EAEB"/>
                    </a:solidFill>
                  </a:tcPr>
                </a:tc>
                <a:tc>
                  <a:txBody>
                    <a:bodyPr/>
                    <a:lstStyle/>
                    <a:p>
                      <a:pPr indent="0" marL="0">
                        <a:lnSpc>
                          <a:spcPts val="1680"/>
                        </a:lnSpc>
                        <a:buNone/>
                      </a:pPr>
                      <a:r>
                        <a:rPr lang="en-US" sz="1200" b="1" dirty="0">
                          <a:solidFill>
                            <a:srgbClr val="2A3846"/>
                          </a:solidFill>
                          <a:latin typeface="IBM Plex Sans" pitchFamily="34" charset="0"/>
                          <a:ea typeface="IBM Plex Sans" pitchFamily="34" charset="-122"/>
                          <a:cs typeface="IBM Plex Sans" pitchFamily="34" charset="-120"/>
                        </a:rPr>
                        <a:t>Example agents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BBB"/>
                      </a:solidFill>
                      <a:prstDash val="solid"/>
                      <a:round/>
                      <a:headEnd type="none" w="med" len="med"/>
                      <a:tailEnd type="none" w="med" len="med"/>
                    </a:lnL>
                    <a:lnR w="12700" cap="flat" cmpd="sng" algn="ctr">
                      <a:solidFill>
                        <a:srgbClr val="BABBBB"/>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BABBBB"/>
                      </a:solidFill>
                      <a:prstDash val="solid"/>
                      <a:round/>
                      <a:headEnd type="none" w="med" len="med"/>
                      <a:tailEnd type="none" w="med" len="med"/>
                    </a:lnB>
                    <a:solidFill>
                      <a:srgbClr val="E9EAEB"/>
                    </a:solidFill>
                  </a:tcPr>
                </a:tc>
              </a:tr>
              <a:tr h="332680">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Ingestion and identity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BABBBB"/>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Pull each source; one identity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BABBBB"/>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SharePoint Delta, Web Crawl, Resolver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BABBBB"/>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r>
              <a:tr h="332680">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AI fabric enrichment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6F9"/>
                    </a:solidFill>
                  </a:tcPr>
                </a:tc>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Mine metadata the CMS never held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6F9"/>
                    </a:solidFill>
                  </a:tcPr>
                </a:tc>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Classifier, Tagger, Claim Extractor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6F9"/>
                    </a:solidFill>
                  </a:tcPr>
                </a:tc>
              </a:tr>
              <a:tr h="332680">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Mapping and publishing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Map to ontologies; publish RDF</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Concept Mapping, SHACL Publisher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r>
              <a:tr h="332680">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Search and assembly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6F9"/>
                    </a:solidFill>
                  </a:tcPr>
                </a:tc>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Answer precisely and safely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6F9"/>
                    </a:solidFill>
                  </a:tcPr>
                </a:tc>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Query Planner, Brief Assembler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6F9"/>
                    </a:solidFill>
                  </a:tcPr>
                </a:tc>
              </a:tr>
              <a:tr h="332680">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Value-gap monitoring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Desired versus delivered outcomes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Monitors per persona job step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r>
              <a:tr h="332680">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Change and impact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6F9"/>
                    </a:solidFill>
                  </a:tcPr>
                </a:tc>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Watch upstream; refresh in place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6F9"/>
                    </a:solidFill>
                  </a:tcPr>
                </a:tc>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Drift Sentinel, impact, refresh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6F9"/>
                    </a:solidFill>
                  </a:tcPr>
                </a:tc>
              </a:tr>
              <a:tr h="332680">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Causal analysis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Turn change into risk, opportunity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Causal agent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r>
            </a:tbl>
          </a:graphicData>
        </a:graphic>
      </p:graphicFrame>
      <p:sp>
        <p:nvSpPr>
          <p:cNvPr id="6" name="Text 3"/>
          <p:cNvSpPr/>
          <p:nvPr/>
        </p:nvSpPr>
        <p:spPr>
          <a:xfrm>
            <a:off x="812800" y="4662884"/>
            <a:ext cx="1088339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A5A"/>
                </a:solidFill>
                <a:latin typeface="IBM Plex Sans" pitchFamily="34" charset="0"/>
                <a:ea typeface="IBM Plex Sans" pitchFamily="34" charset="-122"/>
                <a:cs typeface="IBM Plex Sans" pitchFamily="34" charset="-120"/>
              </a:rPr>
              <a:t>Every agent reads only what its rules allow, writes only to its declared target, pins an EXT rule version, and carries an identity and an autonomy level: </a:t>
            </a:r>
            <a:r>
              <a:rPr lang="en-US" sz="1300" b="1" dirty="0">
                <a:solidFill>
                  <a:srgbClr val="3A4A5A"/>
                </a:solidFill>
                <a:latin typeface="IBM Plex Sans" pitchFamily="34" charset="0"/>
                <a:ea typeface="IBM Plex Sans" pitchFamily="34" charset="-122"/>
                <a:cs typeface="IBM Plex Sans" pitchFamily="34" charset="-120"/>
              </a:rPr>
              <a:t>Act</a:t>
            </a:r>
            <a:r>
              <a:rPr lang="en-US" sz="1300" dirty="0">
                <a:solidFill>
                  <a:srgbClr val="3A4A5A"/>
                </a:solidFill>
                <a:latin typeface="IBM Plex Sans" pitchFamily="34" charset="0"/>
                <a:ea typeface="IBM Plex Sans" pitchFamily="34" charset="-122"/>
                <a:cs typeface="IBM Plex Sans" pitchFamily="34" charset="-120"/>
              </a:rPr>
              <a:t> or </a:t>
            </a:r>
            <a:r>
              <a:rPr lang="en-US" sz="1300" b="1" dirty="0">
                <a:solidFill>
                  <a:srgbClr val="3A4A5A"/>
                </a:solidFill>
                <a:latin typeface="IBM Plex Sans" pitchFamily="34" charset="0"/>
                <a:ea typeface="IBM Plex Sans" pitchFamily="34" charset="-122"/>
                <a:cs typeface="IBM Plex Sans" pitchFamily="34" charset="-120"/>
              </a:rPr>
              <a:t>Advise</a:t>
            </a:r>
            <a:r>
              <a:rPr lang="en-US" sz="1300" dirty="0">
                <a:solidFill>
                  <a:srgbClr val="3A4A5A"/>
                </a:solidFill>
                <a:latin typeface="IBM Plex Sans" pitchFamily="34" charset="0"/>
                <a:ea typeface="IBM Plex Sans" pitchFamily="34" charset="-122"/>
                <a:cs typeface="IBM Plex Sans" pitchFamily="34" charset="-120"/>
              </a:rPr>
              <a:t>. Enrichment agents advise; they never publish.</a:t>
            </a:r>
            <a:endParaRPr lang="en-US" sz="13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E80"/>
                </a:solidFill>
                <a:latin typeface="IBM Plex Mono" pitchFamily="49" charset="0"/>
                <a:ea typeface="IBM Plex Mono" pitchFamily="49" charset="-122"/>
                <a:cs typeface="IBM Plex Mono" pitchFamily="49" charset="-120"/>
              </a:rPr>
              <a:t>PEO Sales Advisor · Storyboard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6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A8322A"/>
                </a:solidFill>
                <a:latin typeface="IBM Plex Mono" pitchFamily="49" charset="0"/>
                <a:ea typeface="IBM Plex Mono" pitchFamily="49" charset="-122"/>
                <a:cs typeface="IBM Plex Mono" pitchFamily="49" charset="-120"/>
              </a:rPr>
              <a:t>KEY CHALLENGE 2</a:t>
            </a:r>
            <a:endParaRPr lang="en-US" sz="1200" dirty="0"/>
          </a:p>
        </p:txBody>
      </p:sp>
      <p:sp>
        <p:nvSpPr>
          <p:cNvPr id="3" name="Text 1"/>
          <p:cNvSpPr/>
          <p:nvPr>
            <p:ph type="title"/>
          </p:nvPr>
        </p:nvSpPr>
        <p:spPr>
          <a:xfrm>
            <a:off x="812800" y="110232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6202B"/>
                </a:solidFill>
                <a:latin typeface="Big Shoulders" pitchFamily="34" charset="0"/>
                <a:ea typeface="Big Shoulders" pitchFamily="34" charset="-122"/>
                <a:cs typeface="Big Shoulders" pitchFamily="34" charset="-120"/>
              </a:rPr>
              <a:t>Human review across the component supply chain</a:t>
            </a:r>
            <a:endParaRPr lang="en-US" sz="3600" dirty="0"/>
          </a:p>
        </p:txBody>
      </p:sp>
      <p:sp>
        <p:nvSpPr>
          <p:cNvPr id="4" name="Text 2"/>
          <p:cNvSpPr/>
          <p:nvPr/>
        </p:nvSpPr>
        <p:spPr>
          <a:xfrm>
            <a:off x="812800" y="1785541"/>
            <a:ext cx="2336800" cy="665460"/>
          </a:xfrm>
          <a:prstGeom prst="roundRect">
            <a:avLst>
              <a:gd name="adj" fmla="val 9542"/>
            </a:avLst>
          </a:prstGeom>
          <a:solidFill>
            <a:srgbClr val="E8EDF2"/>
          </a:solidFill>
          <a:ln/>
        </p:spPr>
        <p:txBody>
          <a:bodyPr wrap="square" lIns="108401" tIns="83001" rIns="45917" bIns="57601" rtlCol="0" anchor="t">
            <a:normAutofit/>
          </a:bodyPr>
          <a:lstStyle/>
          <a:p>
            <a:pPr algn="l" indent="0" marL="0">
              <a:lnSpc>
                <a:spcPts val="1820"/>
              </a:lnSpc>
              <a:buNone/>
            </a:pPr>
            <a:r>
              <a:rPr lang="en-US" sz="1300" b="1" dirty="0">
                <a:solidFill>
                  <a:srgbClr val="16202B"/>
                </a:solidFill>
                <a:latin typeface="IBM Plex Sans" pitchFamily="34" charset="0"/>
                <a:ea typeface="IBM Plex Sans" pitchFamily="34" charset="-122"/>
                <a:cs typeface="IBM Plex Sans" pitchFamily="34" charset="-120"/>
              </a:rPr>
              <a:t>Draft</a:t>
            </a:r>
            <a:r>
              <a:rPr lang="en-US" sz="1300" dirty="0">
                <a:solidFill>
                  <a:srgbClr val="16202B"/>
                </a:solidFill>
                <a:latin typeface="IBM Plex Sans" pitchFamily="34" charset="0"/>
                <a:ea typeface="IBM Plex Sans" pitchFamily="34" charset="-122"/>
                <a:cs typeface="IBM Plex Sans" pitchFamily="34" charset="-120"/>
              </a:rPr>
              <a:t> · author or agent proposes</a:t>
            </a:r>
            <a:endParaRPr lang="en-US" sz="1300" dirty="0"/>
          </a:p>
        </p:txBody>
      </p:sp>
      <p:pic>
        <p:nvPicPr>
          <p:cNvPr id="5" name="Image 0" descr="arrow-right">    </p:cNvPr>
          <p:cNvPicPr>
            <a:picLocks noChangeAspect="1"/>
          </p:cNvPicPr>
          <p:nvPr/>
        </p:nvPicPr>
        <p:blipFill>
          <a:blip r:embed="rId1"/>
          <a:srcRect l="0" r="0" t="0" b="0"/>
          <a:stretch/>
        </p:blipFill>
        <p:spPr>
          <a:xfrm>
            <a:off x="3225800" y="2054771"/>
            <a:ext cx="254000" cy="127000"/>
          </a:xfrm>
          <a:prstGeom prst="rect">
            <a:avLst/>
          </a:prstGeom>
        </p:spPr>
      </p:pic>
      <p:sp>
        <p:nvSpPr>
          <p:cNvPr id="6" name="Text 3"/>
          <p:cNvSpPr/>
          <p:nvPr/>
        </p:nvSpPr>
        <p:spPr>
          <a:xfrm>
            <a:off x="3556000" y="1785541"/>
            <a:ext cx="2336800" cy="665460"/>
          </a:xfrm>
          <a:prstGeom prst="roundRect">
            <a:avLst>
              <a:gd name="adj" fmla="val 9542"/>
            </a:avLst>
          </a:prstGeom>
          <a:solidFill>
            <a:srgbClr val="FBF1D9"/>
          </a:solidFill>
          <a:ln/>
        </p:spPr>
        <p:txBody>
          <a:bodyPr wrap="square" lIns="108401" tIns="83001" rIns="45917" bIns="57601" rtlCol="0" anchor="t">
            <a:normAutofit/>
          </a:bodyPr>
          <a:lstStyle/>
          <a:p>
            <a:pPr algn="l" indent="0" marL="0">
              <a:lnSpc>
                <a:spcPts val="1820"/>
              </a:lnSpc>
              <a:buNone/>
            </a:pPr>
            <a:r>
              <a:rPr lang="en-US" sz="1300" b="1" dirty="0">
                <a:solidFill>
                  <a:srgbClr val="16202B"/>
                </a:solidFill>
                <a:latin typeface="IBM Plex Sans" pitchFamily="34" charset="0"/>
                <a:ea typeface="IBM Plex Sans" pitchFamily="34" charset="-122"/>
                <a:cs typeface="IBM Plex Sans" pitchFamily="34" charset="-120"/>
              </a:rPr>
              <a:t>Candidate</a:t>
            </a:r>
            <a:r>
              <a:rPr lang="en-US" sz="1300" dirty="0">
                <a:solidFill>
                  <a:srgbClr val="16202B"/>
                </a:solidFill>
                <a:latin typeface="IBM Plex Sans" pitchFamily="34" charset="0"/>
                <a:ea typeface="IBM Plex Sans" pitchFamily="34" charset="-122"/>
                <a:cs typeface="IBM Plex Sans" pitchFamily="34" charset="-120"/>
              </a:rPr>
              <a:t> · automated checks pass</a:t>
            </a:r>
            <a:endParaRPr lang="en-US" sz="1300" dirty="0"/>
          </a:p>
        </p:txBody>
      </p:sp>
      <p:pic>
        <p:nvPicPr>
          <p:cNvPr id="7" name="Image 1" descr="arrow-right">    </p:cNvPr>
          <p:cNvPicPr>
            <a:picLocks noChangeAspect="1"/>
          </p:cNvPicPr>
          <p:nvPr/>
        </p:nvPicPr>
        <p:blipFill>
          <a:blip r:embed="rId2"/>
          <a:srcRect l="0" r="0" t="0" b="0"/>
          <a:stretch/>
        </p:blipFill>
        <p:spPr>
          <a:xfrm>
            <a:off x="5969000" y="2054771"/>
            <a:ext cx="254000" cy="127000"/>
          </a:xfrm>
          <a:prstGeom prst="rect">
            <a:avLst/>
          </a:prstGeom>
        </p:spPr>
      </p:pic>
      <p:sp>
        <p:nvSpPr>
          <p:cNvPr id="8" name="Text 4"/>
          <p:cNvSpPr/>
          <p:nvPr/>
        </p:nvSpPr>
        <p:spPr>
          <a:xfrm>
            <a:off x="6299200" y="1785541"/>
            <a:ext cx="2336800" cy="665460"/>
          </a:xfrm>
          <a:prstGeom prst="roundRect">
            <a:avLst>
              <a:gd name="adj" fmla="val 9542"/>
            </a:avLst>
          </a:prstGeom>
          <a:solidFill>
            <a:srgbClr val="E3F3EA"/>
          </a:solidFill>
          <a:ln/>
        </p:spPr>
        <p:txBody>
          <a:bodyPr wrap="square" lIns="108401" tIns="83001" rIns="45917" bIns="57601" rtlCol="0" anchor="t">
            <a:normAutofit/>
          </a:bodyPr>
          <a:lstStyle/>
          <a:p>
            <a:pPr algn="l" indent="0" marL="0">
              <a:lnSpc>
                <a:spcPts val="1820"/>
              </a:lnSpc>
              <a:buNone/>
            </a:pPr>
            <a:r>
              <a:rPr lang="en-US" sz="1300" b="1" dirty="0">
                <a:solidFill>
                  <a:srgbClr val="16202B"/>
                </a:solidFill>
                <a:latin typeface="IBM Plex Sans" pitchFamily="34" charset="0"/>
                <a:ea typeface="IBM Plex Sans" pitchFamily="34" charset="-122"/>
                <a:cs typeface="IBM Plex Sans" pitchFamily="34" charset="-120"/>
              </a:rPr>
              <a:t>Approved</a:t>
            </a:r>
            <a:r>
              <a:rPr lang="en-US" sz="1300" dirty="0">
                <a:solidFill>
                  <a:srgbClr val="16202B"/>
                </a:solidFill>
                <a:latin typeface="IBM Plex Sans" pitchFamily="34" charset="0"/>
                <a:ea typeface="IBM Plex Sans" pitchFamily="34" charset="-122"/>
                <a:cs typeface="IBM Plex Sans" pitchFamily="34" charset="-120"/>
              </a:rPr>
              <a:t> · named reviewer signs</a:t>
            </a:r>
            <a:endParaRPr lang="en-US" sz="1300" dirty="0"/>
          </a:p>
        </p:txBody>
      </p:sp>
      <p:pic>
        <p:nvPicPr>
          <p:cNvPr id="9" name="Image 2" descr="arrow-right">    </p:cNvPr>
          <p:cNvPicPr>
            <a:picLocks noChangeAspect="1"/>
          </p:cNvPicPr>
          <p:nvPr/>
        </p:nvPicPr>
        <p:blipFill>
          <a:blip r:embed="rId3"/>
          <a:srcRect l="0" r="0" t="0" b="0"/>
          <a:stretch/>
        </p:blipFill>
        <p:spPr>
          <a:xfrm>
            <a:off x="8712200" y="2054771"/>
            <a:ext cx="254000" cy="127000"/>
          </a:xfrm>
          <a:prstGeom prst="rect">
            <a:avLst/>
          </a:prstGeom>
        </p:spPr>
      </p:pic>
      <p:sp>
        <p:nvSpPr>
          <p:cNvPr id="10" name="Text 5"/>
          <p:cNvSpPr/>
          <p:nvPr/>
        </p:nvSpPr>
        <p:spPr>
          <a:xfrm>
            <a:off x="9042400" y="1901081"/>
            <a:ext cx="2336800" cy="434330"/>
          </a:xfrm>
          <a:prstGeom prst="roundRect">
            <a:avLst>
              <a:gd name="adj" fmla="val 14620"/>
            </a:avLst>
          </a:prstGeom>
          <a:solidFill>
            <a:srgbClr val="1F3A5F"/>
          </a:solidFill>
          <a:ln/>
        </p:spPr>
        <p:txBody>
          <a:bodyPr wrap="square" lIns="108401" tIns="83001" rIns="45917" bIns="57601" rtlCol="0" anchor="t">
            <a:normAutofit/>
          </a:bodyPr>
          <a:lstStyle/>
          <a:p>
            <a:pPr algn="l" indent="0" marL="0">
              <a:lnSpc>
                <a:spcPts val="1820"/>
              </a:lnSpc>
              <a:buNone/>
            </a:pPr>
            <a:r>
              <a:rPr lang="en-US" sz="1300" b="1" dirty="0">
                <a:solidFill>
                  <a:srgbClr val="EAF0F6"/>
                </a:solidFill>
                <a:latin typeface="IBM Plex Sans" pitchFamily="34" charset="0"/>
                <a:ea typeface="IBM Plex Sans" pitchFamily="34" charset="-122"/>
                <a:cs typeface="IBM Plex Sans" pitchFamily="34" charset="-120"/>
              </a:rPr>
              <a:t>Released</a:t>
            </a:r>
            <a:r>
              <a:rPr lang="en-US" sz="1300" dirty="0">
                <a:solidFill>
                  <a:srgbClr val="EAF0F6"/>
                </a:solidFill>
                <a:latin typeface="IBM Plex Sans" pitchFamily="34" charset="0"/>
                <a:ea typeface="IBM Plex Sans" pitchFamily="34" charset="-122"/>
                <a:cs typeface="IBM Plex Sans" pitchFamily="34" charset="-120"/>
              </a:rPr>
              <a:t> · consumers pin it</a:t>
            </a:r>
            <a:endParaRPr lang="en-US" sz="1300" dirty="0"/>
          </a:p>
        </p:txBody>
      </p:sp>
      <p:sp>
        <p:nvSpPr>
          <p:cNvPr id="11" name="Shape 6"/>
          <p:cNvSpPr/>
          <p:nvPr/>
        </p:nvSpPr>
        <p:spPr>
          <a:xfrm>
            <a:off x="812800" y="2654201"/>
            <a:ext cx="10566400" cy="2008783"/>
          </a:xfrm>
          <a:prstGeom prst="rect">
            <a:avLst/>
          </a:prstGeom>
          <a:solidFill>
            <a:srgbClr val="FCFDFE"/>
          </a:solidFill>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25500" y="2666901"/>
          <a:ext cx="10553700" cy="1996083"/>
        </p:xfrm>
        <a:graphic>
          <a:graphicData uri="http://schemas.openxmlformats.org/drawingml/2006/table">
            <a:tbl>
              <a:tblPr/>
              <a:tblGrid>
                <a:gridCol w="3588258"/>
                <a:gridCol w="3377184"/>
                <a:gridCol w="3588258"/>
              </a:tblGrid>
              <a:tr h="332680">
                <a:tc>
                  <a:txBody>
                    <a:bodyPr/>
                    <a:lstStyle/>
                    <a:p>
                      <a:pPr indent="0" marL="0">
                        <a:lnSpc>
                          <a:spcPts val="1680"/>
                        </a:lnSpc>
                        <a:buNone/>
                      </a:pPr>
                      <a:r>
                        <a:rPr lang="en-US" sz="1200" b="1" dirty="0">
                          <a:solidFill>
                            <a:srgbClr val="2A3846"/>
                          </a:solidFill>
                          <a:latin typeface="IBM Plex Sans" pitchFamily="34" charset="0"/>
                          <a:ea typeface="IBM Plex Sans" pitchFamily="34" charset="-122"/>
                          <a:cs typeface="IBM Plex Sans" pitchFamily="34" charset="-120"/>
                        </a:rPr>
                        <a:t>Component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BABBBB"/>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BABBBB"/>
                      </a:solidFill>
                      <a:prstDash val="solid"/>
                      <a:round/>
                      <a:headEnd type="none" w="med" len="med"/>
                      <a:tailEnd type="none" w="med" len="med"/>
                    </a:lnB>
                    <a:solidFill>
                      <a:srgbClr val="E9EAEB"/>
                    </a:solidFill>
                  </a:tcPr>
                </a:tc>
                <a:tc>
                  <a:txBody>
                    <a:bodyPr/>
                    <a:lstStyle/>
                    <a:p>
                      <a:pPr indent="0" marL="0">
                        <a:lnSpc>
                          <a:spcPts val="1680"/>
                        </a:lnSpc>
                        <a:buNone/>
                      </a:pPr>
                      <a:r>
                        <a:rPr lang="en-US" sz="1200" b="1" dirty="0">
                          <a:solidFill>
                            <a:srgbClr val="2A3846"/>
                          </a:solidFill>
                          <a:latin typeface="IBM Plex Sans" pitchFamily="34" charset="0"/>
                          <a:ea typeface="IBM Plex Sans" pitchFamily="34" charset="-122"/>
                          <a:cs typeface="IBM Plex Sans" pitchFamily="34" charset="-120"/>
                        </a:rPr>
                        <a:t>Reviewed by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BBB"/>
                      </a:solidFill>
                      <a:prstDash val="solid"/>
                      <a:round/>
                      <a:headEnd type="none" w="med" len="med"/>
                      <a:tailEnd type="none" w="med" len="med"/>
                    </a:lnL>
                    <a:lnR w="12700" cap="flat" cmpd="sng" algn="ctr">
                      <a:solidFill>
                        <a:srgbClr val="BABBBB"/>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BABBBB"/>
                      </a:solidFill>
                      <a:prstDash val="solid"/>
                      <a:round/>
                      <a:headEnd type="none" w="med" len="med"/>
                      <a:tailEnd type="none" w="med" len="med"/>
                    </a:lnB>
                    <a:solidFill>
                      <a:srgbClr val="E9EAEB"/>
                    </a:solidFill>
                  </a:tcPr>
                </a:tc>
                <a:tc>
                  <a:txBody>
                    <a:bodyPr/>
                    <a:lstStyle/>
                    <a:p>
                      <a:pPr indent="0" marL="0">
                        <a:lnSpc>
                          <a:spcPts val="1680"/>
                        </a:lnSpc>
                        <a:buNone/>
                      </a:pPr>
                      <a:r>
                        <a:rPr lang="en-US" sz="1200" b="1" dirty="0">
                          <a:solidFill>
                            <a:srgbClr val="2A3846"/>
                          </a:solidFill>
                          <a:latin typeface="IBM Plex Sans" pitchFamily="34" charset="0"/>
                          <a:ea typeface="IBM Plex Sans" pitchFamily="34" charset="-122"/>
                          <a:cs typeface="IBM Plex Sans" pitchFamily="34" charset="-120"/>
                        </a:rPr>
                        <a:t>Checks before review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BBB"/>
                      </a:solidFill>
                      <a:prstDash val="solid"/>
                      <a:round/>
                      <a:headEnd type="none" w="med" len="med"/>
                      <a:tailEnd type="none" w="med" len="med"/>
                    </a:lnL>
                    <a:lnR w="12700" cap="flat" cmpd="sng" algn="ctr">
                      <a:solidFill>
                        <a:srgbClr val="BABBBB"/>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BABBBB"/>
                      </a:solidFill>
                      <a:prstDash val="solid"/>
                      <a:round/>
                      <a:headEnd type="none" w="med" len="med"/>
                      <a:tailEnd type="none" w="med" len="med"/>
                    </a:lnB>
                    <a:solidFill>
                      <a:srgbClr val="E9EAEB"/>
                    </a:solidFill>
                  </a:tcPr>
                </a:tc>
              </a:tr>
              <a:tr h="332680">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Ontologies, vocabularies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BABBBB"/>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Semantic Governance Council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BABBBB"/>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SHACL, alignment to isp-core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BABBBB"/>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r>
              <a:tr h="332680">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SSOT and EXT rules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6F9"/>
                    </a:solidFill>
                  </a:tcPr>
                </a:tc>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Council; counsel where legal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6F9"/>
                    </a:solidFill>
                  </a:tcPr>
                </a:tc>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Scenario tests, conflict checks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6F9"/>
                    </a:solidFill>
                  </a:tcPr>
                </a:tc>
              </a:tr>
              <a:tr h="332680">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Mappings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Knowledge engineers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Match scores, Drift Sentinel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r>
              <a:tr h="332680">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Agents and microservices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6F9"/>
                    </a:solidFill>
                  </a:tcPr>
                </a:tc>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Agent owner, platform team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6F9"/>
                    </a:solidFill>
                  </a:tcPr>
                </a:tc>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SSOT check, change severity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A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6F9"/>
                    </a:solidFill>
                  </a:tcPr>
                </a:tc>
              </a:tr>
              <a:tr h="332680">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Briefs and golden answers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Sales leaders and BPAs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c>
                  <a:txBody>
                    <a:bodyPr/>
                    <a:lstStyle/>
                    <a:p>
                      <a:pPr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Grounding, baseline comparison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A"/>
                      </a:solidFill>
                      <a:prstDash val="solid"/>
                      <a:round/>
                      <a:headEnd type="none" w="med" len="med"/>
                      <a:tailEnd type="none" w="med" len="med"/>
                    </a:lnL>
                    <a:lnR w="12700" cap="flat" cmpd="sng" algn="ctr">
                      <a:solidFill>
                        <a:srgbClr val="C9CA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ACA"/>
                      </a:solidFill>
                      <a:prstDash val="solid"/>
                      <a:round/>
                      <a:headEnd type="none" w="med" len="med"/>
                      <a:tailEnd type="none" w="med" len="med"/>
                    </a:lnB>
                  </a:tcPr>
                </a:tc>
              </a:tr>
            </a:tbl>
          </a:graphicData>
        </a:graphic>
      </p:graphicFrame>
      <p:sp>
        <p:nvSpPr>
          <p:cNvPr id="13"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E80"/>
                </a:solidFill>
                <a:latin typeface="IBM Plex Mono" pitchFamily="49" charset="0"/>
                <a:ea typeface="IBM Plex Mono" pitchFamily="49" charset="-122"/>
                <a:cs typeface="IBM Plex Mono" pitchFamily="49" charset="-120"/>
              </a:rPr>
              <a:t>PEO Sales Advisor · Storyboard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A8322A"/>
                </a:solidFill>
                <a:latin typeface="IBM Plex Mono" pitchFamily="49" charset="0"/>
                <a:ea typeface="IBM Plex Mono" pitchFamily="49" charset="-122"/>
                <a:cs typeface="IBM Plex Mono" pitchFamily="49" charset="-120"/>
              </a:rPr>
              <a:t>VALIDATION OF AGENTIC LEARNING</a:t>
            </a:r>
            <a:endParaRPr lang="en-US" sz="1200" dirty="0"/>
          </a:p>
        </p:txBody>
      </p:sp>
      <p:sp>
        <p:nvSpPr>
          <p:cNvPr id="3" name="Text 1"/>
          <p:cNvSpPr/>
          <p:nvPr>
            <p:ph type="title"/>
          </p:nvPr>
        </p:nvSpPr>
        <p:spPr>
          <a:xfrm>
            <a:off x="812800" y="1102320"/>
            <a:ext cx="10883392" cy="985441"/>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6202B"/>
                </a:solidFill>
                <a:latin typeface="Big Shoulders" pitchFamily="34" charset="0"/>
                <a:ea typeface="Big Shoulders" pitchFamily="34" charset="-122"/>
                <a:cs typeface="Big Shoulders" pitchFamily="34" charset="-120"/>
              </a:rPr>
              <a:t>Every change is re-tested against the decisions it can affect</a:t>
            </a:r>
            <a:endParaRPr lang="en-US" sz="3600" dirty="0"/>
          </a:p>
        </p:txBody>
      </p:sp>
      <p:sp>
        <p:nvSpPr>
          <p:cNvPr id="4" name="Text 2"/>
          <p:cNvSpPr/>
          <p:nvPr/>
        </p:nvSpPr>
        <p:spPr>
          <a:xfrm>
            <a:off x="812800" y="2265561"/>
            <a:ext cx="1088339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A5A"/>
                </a:solidFill>
                <a:latin typeface="IBM Plex Sans" pitchFamily="34" charset="0"/>
                <a:ea typeface="IBM Plex Sans" pitchFamily="34" charset="-122"/>
                <a:cs typeface="IBM Plex Sans" pitchFamily="34" charset="-120"/>
              </a:rPr>
              <a:t>48 decision questions, each with an SME-authored golden answer frozen at gate G1. When any pinned input changes, the affected questions re-run and the new answer is compared with the baseline.</a:t>
            </a:r>
            <a:endParaRPr lang="en-US" sz="1300" dirty="0"/>
          </a:p>
        </p:txBody>
      </p:sp>
      <p:sp>
        <p:nvSpPr>
          <p:cNvPr id="5" name="Shape 3"/>
          <p:cNvSpPr/>
          <p:nvPr/>
        </p:nvSpPr>
        <p:spPr>
          <a:xfrm>
            <a:off x="812800" y="2931021"/>
            <a:ext cx="3420517" cy="1353691"/>
          </a:xfrm>
          <a:prstGeom prst="roundRect">
            <a:avLst>
              <a:gd name="adj" fmla="val 5629"/>
            </a:avLst>
          </a:prstGeom>
          <a:solidFill>
            <a:srgbClr val="E3F3EA"/>
          </a:solidFill>
          <a:ln/>
        </p:spPr>
      </p:sp>
      <p:sp>
        <p:nvSpPr>
          <p:cNvPr id="6" name="Shape 4"/>
          <p:cNvSpPr/>
          <p:nvPr/>
        </p:nvSpPr>
        <p:spPr>
          <a:xfrm>
            <a:off x="812800" y="2931021"/>
            <a:ext cx="3420517" cy="1353691"/>
          </a:xfrm>
          <a:custGeom>
            <a:avLst/>
            <a:gdLst/>
            <a:ahLst/>
            <a:cxnLst/>
            <a:rect l="l" t="t" r="r" b="b"/>
            <a:pathLst>
              <a:path w="3420517" h="1353691">
                <a:moveTo>
                  <a:pt x="0" y="76200"/>
                </a:moveTo>
                <a:lnTo>
                  <a:pt x="0" y="76200"/>
                </a:lnTo>
                <a:arcTo hR="76200" wR="76200" stAng="10800000" swAng="5400000"/>
                <a:lnTo>
                  <a:pt x="3344317" y="0"/>
                </a:lnTo>
                <a:arcTo hR="76200" wR="76200" stAng="16200000" swAng="5400000"/>
                <a:lnTo>
                  <a:pt x="3420517" y="76200"/>
                </a:lnTo>
                <a:arcTo hR="25400" wR="76200" stAng="0" swAng="-5400000"/>
                <a:lnTo>
                  <a:pt x="76200" y="50800"/>
                </a:lnTo>
                <a:arcTo hR="25400" wR="76200" stAng="16200000" swAng="-5400000"/>
                <a:close/>
              </a:path>
            </a:pathLst>
          </a:custGeom>
          <a:solidFill>
            <a:srgbClr val="1B8F5F"/>
          </a:solidFill>
          <a:ln/>
        </p:spPr>
      </p:sp>
      <p:sp>
        <p:nvSpPr>
          <p:cNvPr id="7" name="Text 5"/>
          <p:cNvSpPr/>
          <p:nvPr/>
        </p:nvSpPr>
        <p:spPr>
          <a:xfrm>
            <a:off x="990600" y="3159621"/>
            <a:ext cx="315686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583A"/>
                </a:solidFill>
                <a:latin typeface="IBM Plex Sans" pitchFamily="34" charset="0"/>
                <a:ea typeface="IBM Plex Sans" pitchFamily="34" charset="-122"/>
                <a:cs typeface="IBM Plex Sans" pitchFamily="34" charset="-120"/>
              </a:rPr>
              <a:t>Benign</a:t>
            </a:r>
            <a:endParaRPr lang="en-US" sz="1600" dirty="0"/>
          </a:p>
        </p:txBody>
      </p:sp>
      <p:sp>
        <p:nvSpPr>
          <p:cNvPr id="8" name="Text 6"/>
          <p:cNvSpPr/>
          <p:nvPr/>
        </p:nvSpPr>
        <p:spPr>
          <a:xfrm>
            <a:off x="990600" y="3466951"/>
            <a:ext cx="315686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Same claims, only wording or citation versions moved. Re-baseline automatically.</a:t>
            </a:r>
            <a:endParaRPr lang="en-US" sz="1200" dirty="0"/>
          </a:p>
        </p:txBody>
      </p:sp>
      <p:sp>
        <p:nvSpPr>
          <p:cNvPr id="9" name="Shape 7"/>
          <p:cNvSpPr/>
          <p:nvPr/>
        </p:nvSpPr>
        <p:spPr>
          <a:xfrm>
            <a:off x="4385717" y="2931021"/>
            <a:ext cx="3420566" cy="1353691"/>
          </a:xfrm>
          <a:prstGeom prst="roundRect">
            <a:avLst>
              <a:gd name="adj" fmla="val 5629"/>
            </a:avLst>
          </a:prstGeom>
          <a:solidFill>
            <a:srgbClr val="FBF1D9"/>
          </a:solidFill>
          <a:ln/>
        </p:spPr>
      </p:sp>
      <p:sp>
        <p:nvSpPr>
          <p:cNvPr id="10" name="Shape 8"/>
          <p:cNvSpPr/>
          <p:nvPr/>
        </p:nvSpPr>
        <p:spPr>
          <a:xfrm>
            <a:off x="4385717" y="2931021"/>
            <a:ext cx="3420566" cy="1353691"/>
          </a:xfrm>
          <a:custGeom>
            <a:avLst/>
            <a:gdLst/>
            <a:ahLst/>
            <a:cxnLst/>
            <a:rect l="l" t="t" r="r" b="b"/>
            <a:pathLst>
              <a:path w="3420566" h="1353691">
                <a:moveTo>
                  <a:pt x="0" y="76200"/>
                </a:moveTo>
                <a:lnTo>
                  <a:pt x="0" y="76200"/>
                </a:lnTo>
                <a:arcTo hR="76200" wR="76200" stAng="10800000" swAng="5400000"/>
                <a:lnTo>
                  <a:pt x="3344366" y="0"/>
                </a:lnTo>
                <a:arcTo hR="76200" wR="76200" stAng="16200000" swAng="5400000"/>
                <a:lnTo>
                  <a:pt x="3420566" y="76200"/>
                </a:lnTo>
                <a:arcTo hR="25400" wR="76200" stAng="0" swAng="-5400000"/>
                <a:lnTo>
                  <a:pt x="76200" y="50800"/>
                </a:lnTo>
                <a:arcTo hR="25400" wR="76200" stAng="16200000" swAng="-5400000"/>
                <a:close/>
              </a:path>
            </a:pathLst>
          </a:custGeom>
          <a:solidFill>
            <a:srgbClr val="C98500"/>
          </a:solidFill>
          <a:ln/>
        </p:spPr>
      </p:sp>
      <p:sp>
        <p:nvSpPr>
          <p:cNvPr id="11" name="Text 9"/>
          <p:cNvSpPr/>
          <p:nvPr/>
        </p:nvSpPr>
        <p:spPr>
          <a:xfrm>
            <a:off x="4563517" y="3159621"/>
            <a:ext cx="315691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A5200"/>
                </a:solidFill>
                <a:latin typeface="IBM Plex Sans" pitchFamily="34" charset="0"/>
                <a:ea typeface="IBM Plex Sans" pitchFamily="34" charset="-122"/>
                <a:cs typeface="IBM Plex Sans" pitchFamily="34" charset="-120"/>
              </a:rPr>
              <a:t>Material</a:t>
            </a:r>
            <a:endParaRPr lang="en-US" sz="1600" dirty="0"/>
          </a:p>
        </p:txBody>
      </p:sp>
      <p:sp>
        <p:nvSpPr>
          <p:cNvPr id="12" name="Text 10"/>
          <p:cNvSpPr/>
          <p:nvPr/>
        </p:nvSpPr>
        <p:spPr>
          <a:xfrm>
            <a:off x="4563517" y="3466951"/>
            <a:ext cx="315691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A claim changed, explained by a Released upstream change. An SME confirms, then re-baselines.</a:t>
            </a:r>
            <a:endParaRPr lang="en-US" sz="1200" dirty="0"/>
          </a:p>
        </p:txBody>
      </p:sp>
      <p:sp>
        <p:nvSpPr>
          <p:cNvPr id="13" name="Shape 11"/>
          <p:cNvSpPr/>
          <p:nvPr/>
        </p:nvSpPr>
        <p:spPr>
          <a:xfrm>
            <a:off x="7958683" y="2931021"/>
            <a:ext cx="3420517" cy="1353691"/>
          </a:xfrm>
          <a:prstGeom prst="roundRect">
            <a:avLst>
              <a:gd name="adj" fmla="val 5629"/>
            </a:avLst>
          </a:prstGeom>
          <a:solidFill>
            <a:srgbClr val="FBE6E4"/>
          </a:solidFill>
          <a:ln/>
        </p:spPr>
      </p:sp>
      <p:sp>
        <p:nvSpPr>
          <p:cNvPr id="14" name="Shape 12"/>
          <p:cNvSpPr/>
          <p:nvPr/>
        </p:nvSpPr>
        <p:spPr>
          <a:xfrm>
            <a:off x="7958683" y="2931021"/>
            <a:ext cx="3420517" cy="1353691"/>
          </a:xfrm>
          <a:custGeom>
            <a:avLst/>
            <a:gdLst/>
            <a:ahLst/>
            <a:cxnLst/>
            <a:rect l="l" t="t" r="r" b="b"/>
            <a:pathLst>
              <a:path w="3420517" h="1353691">
                <a:moveTo>
                  <a:pt x="0" y="76200"/>
                </a:moveTo>
                <a:lnTo>
                  <a:pt x="0" y="76200"/>
                </a:lnTo>
                <a:arcTo hR="76200" wR="76200" stAng="10800000" swAng="5400000"/>
                <a:lnTo>
                  <a:pt x="3344317" y="0"/>
                </a:lnTo>
                <a:arcTo hR="76200" wR="76200" stAng="16200000" swAng="5400000"/>
                <a:lnTo>
                  <a:pt x="3420517" y="76200"/>
                </a:lnTo>
                <a:arcTo hR="25400" wR="76200" stAng="0" swAng="-5400000"/>
                <a:lnTo>
                  <a:pt x="76200" y="50800"/>
                </a:lnTo>
                <a:arcTo hR="25400" wR="76200" stAng="16200000" swAng="-5400000"/>
                <a:close/>
              </a:path>
            </a:pathLst>
          </a:custGeom>
          <a:solidFill>
            <a:srgbClr val="C0392B"/>
          </a:solidFill>
          <a:ln/>
        </p:spPr>
      </p:sp>
      <p:sp>
        <p:nvSpPr>
          <p:cNvPr id="15" name="Text 13"/>
          <p:cNvSpPr/>
          <p:nvPr/>
        </p:nvSpPr>
        <p:spPr>
          <a:xfrm>
            <a:off x="8136483" y="3159621"/>
            <a:ext cx="315686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8E2A20"/>
                </a:solidFill>
                <a:latin typeface="IBM Plex Sans" pitchFamily="34" charset="0"/>
                <a:ea typeface="IBM Plex Sans" pitchFamily="34" charset="-122"/>
                <a:cs typeface="IBM Plex Sans" pitchFamily="34" charset="-120"/>
              </a:rPr>
              <a:t>Breaking</a:t>
            </a:r>
            <a:endParaRPr lang="en-US" sz="1600" dirty="0"/>
          </a:p>
        </p:txBody>
      </p:sp>
      <p:sp>
        <p:nvSpPr>
          <p:cNvPr id="16" name="Text 14"/>
          <p:cNvSpPr/>
          <p:nvPr/>
        </p:nvSpPr>
        <p:spPr>
          <a:xfrm>
            <a:off x="8136483" y="3466951"/>
            <a:ext cx="315686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3846"/>
                </a:solidFill>
                <a:latin typeface="IBM Plex Sans" pitchFamily="34" charset="0"/>
                <a:ea typeface="IBM Plex Sans" pitchFamily="34" charset="-122"/>
                <a:cs typeface="IBM Plex Sans" pitchFamily="34" charset="-120"/>
              </a:rPr>
              <a:t>Unexplained change, missing claim or weak grounding. The brief is withdrawn and its agents re-tested.</a:t>
            </a:r>
            <a:endParaRPr lang="en-US" sz="1200" dirty="0"/>
          </a:p>
        </p:txBody>
      </p:sp>
      <p:sp>
        <p:nvSpPr>
          <p:cNvPr id="17" name="Shape 15"/>
          <p:cNvSpPr/>
          <p:nvPr/>
        </p:nvSpPr>
        <p:spPr>
          <a:xfrm>
            <a:off x="812800" y="4487912"/>
            <a:ext cx="10566400" cy="817860"/>
          </a:xfrm>
          <a:prstGeom prst="roundRect">
            <a:avLst>
              <a:gd name="adj" fmla="val 9317"/>
            </a:avLst>
          </a:prstGeom>
          <a:solidFill>
            <a:srgbClr val="16202B"/>
          </a:solidFill>
          <a:ln/>
        </p:spPr>
      </p:sp>
      <p:pic>
        <p:nvPicPr>
          <p:cNvPr id="18" name="Image 0" descr="Lightning">    </p:cNvPr>
          <p:cNvPicPr>
            <a:picLocks noChangeAspect="1"/>
          </p:cNvPicPr>
          <p:nvPr/>
        </p:nvPicPr>
        <p:blipFill>
          <a:blip r:embed="rId1"/>
          <a:srcRect l="0" r="0" t="0" b="0"/>
          <a:stretch/>
        </p:blipFill>
        <p:spPr>
          <a:xfrm>
            <a:off x="1041400" y="4719042"/>
            <a:ext cx="355600" cy="355600"/>
          </a:xfrm>
          <a:prstGeom prst="rect">
            <a:avLst/>
          </a:prstGeom>
        </p:spPr>
      </p:pic>
      <p:sp>
        <p:nvSpPr>
          <p:cNvPr id="19" name="Text 16"/>
          <p:cNvSpPr/>
          <p:nvPr/>
        </p:nvSpPr>
        <p:spPr>
          <a:xfrm>
            <a:off x="1549400" y="4665712"/>
            <a:ext cx="988923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AF0F6"/>
                </a:solidFill>
                <a:latin typeface="IBM Plex Sans" pitchFamily="34" charset="0"/>
                <a:ea typeface="IBM Plex Sans" pitchFamily="34" charset="-122"/>
                <a:cs typeface="IBM Plex Sans" pitchFamily="34" charset="-120"/>
              </a:rPr>
              <a:t>Agents never promote what they learn: a retrained classifier or a new mapping enters as a Draft and must clear the baseline. MTBH breakers stop an agent that drifts, and irreversible actions go through the Simplex action gate to a person.</a:t>
            </a:r>
            <a:endParaRPr lang="en-US" sz="1300" dirty="0"/>
          </a:p>
        </p:txBody>
      </p:sp>
      <p:sp>
        <p:nvSpPr>
          <p:cNvPr id="20"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E80"/>
                </a:solidFill>
                <a:latin typeface="IBM Plex Mono" pitchFamily="49" charset="0"/>
                <a:ea typeface="IBM Plex Mono" pitchFamily="49" charset="-122"/>
                <a:cs typeface="IBM Plex Mono" pitchFamily="49" charset="-120"/>
              </a:rPr>
              <a:t>PEO Sales Advisor · Storyboard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6F9"/>
        </a:solidFill>
      </p:bgPr>
    </p:bg>
    <p:spTree>
      <p:nvGrpSpPr>
        <p:cNvPr id="1" name=""/>
        <p:cNvGrpSpPr/>
        <p:nvPr/>
      </p:nvGrpSpPr>
      <p:grpSpPr>
        <a:xfrm>
          <a:off x="0" y="0"/>
          <a:ext cx="0" cy="0"/>
          <a:chOff x="0" y="0"/>
          <a:chExt cx="0" cy="0"/>
        </a:xfrm>
      </p:grpSpPr>
      <p:sp>
        <p:nvSpPr>
          <p:cNvPr id="2" name="Text 0"/>
          <p:cNvSpPr/>
          <p:nvPr/>
        </p:nvSpPr>
        <p:spPr>
          <a:xfrm>
            <a:off x="812800" y="812800"/>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1F6E8C"/>
                </a:solidFill>
                <a:latin typeface="IBM Plex Mono" pitchFamily="49" charset="0"/>
                <a:ea typeface="IBM Plex Mono" pitchFamily="49" charset="-122"/>
                <a:cs typeface="IBM Plex Mono" pitchFamily="49" charset="-120"/>
              </a:rPr>
              <a:t>LINK 1 OF 7 · SOLUTION BLUEPRINT</a:t>
            </a:r>
            <a:endParaRPr lang="en-US" sz="1200" dirty="0"/>
          </a:p>
        </p:txBody>
      </p:sp>
      <p:sp>
        <p:nvSpPr>
          <p:cNvPr id="3" name="Text 1"/>
          <p:cNvSpPr/>
          <p:nvPr>
            <p:ph type="title"/>
          </p:nvPr>
        </p:nvSpPr>
        <p:spPr>
          <a:xfrm>
            <a:off x="812800" y="1178520"/>
            <a:ext cx="5258562" cy="584200"/>
          </a:xfrm>
          <a:prstGeom prst="rect">
            <a:avLst/>
          </a:prstGeom>
          <a:noFill/>
          <a:ln/>
        </p:spPr>
        <p:txBody>
          <a:bodyPr wrap="square" lIns="0" tIns="0" rIns="0" bIns="0" rtlCol="0" anchor="t">
            <a:normAutofit/>
          </a:bodyPr>
          <a:lstStyle/>
          <a:p>
            <a:pPr algn="l" indent="0" marL="0">
              <a:lnSpc>
                <a:spcPts val="4400"/>
              </a:lnSpc>
              <a:buNone/>
            </a:pPr>
            <a:r>
              <a:rPr lang="en-US" sz="4400" b="1" i="0" dirty="0">
                <a:solidFill>
                  <a:srgbClr val="16202B"/>
                </a:solidFill>
                <a:latin typeface="Big Shoulders" pitchFamily="34" charset="0"/>
                <a:ea typeface="Big Shoulders" pitchFamily="34" charset="-122"/>
                <a:cs typeface="Big Shoulders" pitchFamily="34" charset="-120"/>
              </a:rPr>
              <a:t>PEO Sales Advisor</a:t>
            </a:r>
            <a:endParaRPr lang="en-US" sz="4400" dirty="0"/>
          </a:p>
        </p:txBody>
      </p:sp>
      <p:sp>
        <p:nvSpPr>
          <p:cNvPr id="4" name="Text 2"/>
          <p:cNvSpPr/>
          <p:nvPr/>
        </p:nvSpPr>
        <p:spPr>
          <a:xfrm>
            <a:off x="812800" y="1889720"/>
            <a:ext cx="5258562"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16202B"/>
                </a:solidFill>
                <a:latin typeface="IBM Plex Mono" pitchFamily="49" charset="0"/>
                <a:ea typeface="IBM Plex Mono" pitchFamily="49" charset="-122"/>
                <a:cs typeface="IBM Plex Mono" pitchFamily="49" charset="-120"/>
                <a:hlinkClick r:id="rId1" invalidUrl="" action="" tgtFrame="" tooltip="" history="1" highlightClick="0" endSnd="0">
                  <a:extLst>
                    <a:ext uri="{A12FA001-AC4F-418D-AE19-62706E023703}">
                      <ahyp:hlinkClr xmlns:ahyp="http://schemas.microsoft.com/office/drawing/2018/hyperlinkcolor" val="tx"/>
                    </a:ext>
                  </a:extLst>
                </a:hlinkClick>
              </a:rPr>
              <a:t>Open the design console</a:t>
            </a:r>
            <a:endParaRPr lang="en-US" sz="1200" dirty="0"/>
          </a:p>
        </p:txBody>
      </p:sp>
      <p:sp>
        <p:nvSpPr>
          <p:cNvPr id="5" name="Text 3"/>
          <p:cNvSpPr/>
          <p:nvPr/>
        </p:nvSpPr>
        <p:spPr>
          <a:xfrm>
            <a:off x="812800" y="2255441"/>
            <a:ext cx="5258562" cy="113030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2A3846"/>
                </a:solidFill>
                <a:latin typeface="IBM Plex Sans" pitchFamily="34" charset="0"/>
                <a:ea typeface="IBM Plex Sans" pitchFamily="34" charset="-122"/>
                <a:cs typeface="IBM Plex Sans" pitchFamily="34" charset="-120"/>
              </a:rPr>
              <a:t>The design console for the whole solution: eight views over one Keel and one North Star, from architecture and pipelines to the advisor at work, value gaps and the roadmap.</a:t>
            </a:r>
            <a:endParaRPr lang="en-US" sz="1500" dirty="0"/>
          </a:p>
        </p:txBody>
      </p:sp>
      <p:sp>
        <p:nvSpPr>
          <p:cNvPr id="6" name="Shape 4"/>
          <p:cNvSpPr/>
          <p:nvPr/>
        </p:nvSpPr>
        <p:spPr>
          <a:xfrm>
            <a:off x="6273800" y="812800"/>
            <a:ext cx="5105400" cy="1932880"/>
          </a:xfrm>
          <a:prstGeom prst="roundRect">
            <a:avLst>
              <a:gd name="adj" fmla="val 3942"/>
            </a:avLst>
          </a:prstGeom>
          <a:solidFill>
            <a:srgbClr val="FCFDFE"/>
          </a:solidFill>
          <a:ln/>
          <a:effectLst>
            <a:outerShdw sx="100000" sy="100000" kx="0" ky="0" algn="bl" rotWithShape="0" blurRad="63500" dist="12700" dir="5400000">
              <a:srgbClr val="16202B">
                <a:alpha val="8000"/>
              </a:srgbClr>
            </a:outerShdw>
          </a:effectLst>
        </p:spPr>
      </p:sp>
      <p:sp>
        <p:nvSpPr>
          <p:cNvPr id="7" name="Shape 5"/>
          <p:cNvSpPr/>
          <p:nvPr/>
        </p:nvSpPr>
        <p:spPr>
          <a:xfrm>
            <a:off x="6273800" y="812800"/>
            <a:ext cx="5105400" cy="1932880"/>
          </a:xfrm>
          <a:custGeom>
            <a:avLst/>
            <a:gdLst/>
            <a:ahLst/>
            <a:cxnLst/>
            <a:rect l="l" t="t" r="r" b="b"/>
            <a:pathLst>
              <a:path w="5105400" h="1932880">
                <a:moveTo>
                  <a:pt x="0" y="76200"/>
                </a:moveTo>
                <a:lnTo>
                  <a:pt x="0" y="76200"/>
                </a:lnTo>
                <a:arcTo hR="76200" wR="76200" stAng="10800000" swAng="5400000"/>
                <a:lnTo>
                  <a:pt x="5029200" y="0"/>
                </a:lnTo>
                <a:arcTo hR="76200" wR="76200" stAng="16200000" swAng="5400000"/>
                <a:lnTo>
                  <a:pt x="5105400" y="76200"/>
                </a:lnTo>
                <a:arcTo hR="25400" wR="76200" stAng="0" swAng="-5400000"/>
                <a:lnTo>
                  <a:pt x="76200" y="50800"/>
                </a:lnTo>
                <a:arcTo hR="25400" wR="76200" stAng="16200000" swAng="-5400000"/>
                <a:close/>
              </a:path>
            </a:pathLst>
          </a:custGeom>
          <a:solidFill>
            <a:srgbClr val="1F6E8C"/>
          </a:solidFill>
          <a:ln/>
        </p:spPr>
      </p:sp>
      <p:sp>
        <p:nvSpPr>
          <p:cNvPr id="8" name="Text 6"/>
          <p:cNvSpPr/>
          <p:nvPr/>
        </p:nvSpPr>
        <p:spPr>
          <a:xfrm>
            <a:off x="6477000" y="1066800"/>
            <a:ext cx="483997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B"/>
                </a:solidFill>
                <a:latin typeface="IBM Plex Sans" pitchFamily="34" charset="0"/>
                <a:ea typeface="IBM Plex Sans" pitchFamily="34" charset="-122"/>
                <a:cs typeface="IBM Plex Sans" pitchFamily="34" charset="-120"/>
              </a:rPr>
              <a:t>What to look at</a:t>
            </a:r>
            <a:endParaRPr lang="en-US" sz="1600" dirty="0"/>
          </a:p>
        </p:txBody>
      </p:sp>
      <p:sp>
        <p:nvSpPr>
          <p:cNvPr id="9" name="Text 7"/>
          <p:cNvSpPr/>
          <p:nvPr/>
        </p:nvSpPr>
        <p:spPr>
          <a:xfrm>
            <a:off x="6562344" y="1386830"/>
            <a:ext cx="4747006" cy="1181050"/>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2A3846"/>
                </a:solidFill>
                <a:latin typeface="IBM Plex Sans" pitchFamily="34" charset="0"/>
                <a:ea typeface="IBM Plex Sans" pitchFamily="34" charset="-122"/>
                <a:cs typeface="IBM Plex Sans" pitchFamily="34" charset="-120"/>
              </a:rPr>
              <a:t>Architecture: forward content flow and the feedback loop</a:t>
            </a:r>
            <a:endParaRPr lang="en-US" sz="1300" dirty="0"/>
          </a:p>
          <a:p>
            <a:pPr algn="l" marL="168656" indent="-168656">
              <a:lnSpc>
                <a:spcPts val="1820"/>
              </a:lnSpc>
              <a:buSzPct val="100000"/>
              <a:buChar char="•"/>
            </a:pPr>
            <a:r>
              <a:rPr lang="en-US" sz="1300" dirty="0">
                <a:solidFill>
                  <a:srgbClr val="2A3846"/>
                </a:solidFill>
                <a:latin typeface="IBM Plex Sans" pitchFamily="34" charset="0"/>
                <a:ea typeface="IBM Plex Sans" pitchFamily="34" charset="-122"/>
                <a:cs typeface="IBM Plex Sans" pitchFamily="34" charset="-120"/>
              </a:rPr>
              <a:t>Pipelines: run a source item through all seven stages</a:t>
            </a:r>
            <a:endParaRPr lang="en-US" sz="1300" dirty="0"/>
          </a:p>
          <a:p>
            <a:pPr algn="l" marL="168656" indent="-168656">
              <a:lnSpc>
                <a:spcPts val="1820"/>
              </a:lnSpc>
              <a:buSzPct val="100000"/>
              <a:buChar char="•"/>
            </a:pPr>
            <a:r>
              <a:rPr lang="en-US" sz="1300" dirty="0">
                <a:solidFill>
                  <a:srgbClr val="2A3846"/>
                </a:solidFill>
                <a:latin typeface="IBM Plex Sans" pitchFamily="34" charset="0"/>
                <a:ea typeface="IBM Plex Sans" pitchFamily="34" charset="-122"/>
                <a:cs typeface="IBM Plex Sans" pitchFamily="34" charset="-120"/>
              </a:rPr>
              <a:t>Advisor: ask a persona question, read the cited brief, record a decision</a:t>
            </a:r>
            <a:endParaRPr lang="en-US" sz="1300" dirty="0"/>
          </a:p>
          <a:p>
            <a:pPr algn="l" marL="168656" indent="-168656">
              <a:lnSpc>
                <a:spcPts val="1820"/>
              </a:lnSpc>
              <a:buSzPct val="100000"/>
              <a:buChar char="•"/>
            </a:pPr>
            <a:r>
              <a:rPr lang="en-US" sz="1300" dirty="0">
                <a:solidFill>
                  <a:srgbClr val="2A3846"/>
                </a:solidFill>
                <a:latin typeface="IBM Plex Sans" pitchFamily="34" charset="0"/>
                <a:ea typeface="IBM Plex Sans" pitchFamily="34" charset="-122"/>
                <a:cs typeface="IBM Plex Sans" pitchFamily="34" charset="-120"/>
              </a:rPr>
              <a:t>Change and causal: what a change touches downstream</a:t>
            </a:r>
            <a:endParaRPr lang="en-US" sz="1300" dirty="0"/>
          </a:p>
        </p:txBody>
      </p:sp>
      <p:sp>
        <p:nvSpPr>
          <p:cNvPr id="10" name="Shape 8"/>
          <p:cNvSpPr/>
          <p:nvPr/>
        </p:nvSpPr>
        <p:spPr>
          <a:xfrm>
            <a:off x="6273800" y="2898080"/>
            <a:ext cx="5105400" cy="1419820"/>
          </a:xfrm>
          <a:prstGeom prst="roundRect">
            <a:avLst>
              <a:gd name="adj" fmla="val 5367"/>
            </a:avLst>
          </a:prstGeom>
          <a:solidFill>
            <a:srgbClr val="1F3A5F"/>
          </a:solidFill>
          <a:ln/>
        </p:spPr>
      </p:sp>
      <p:sp>
        <p:nvSpPr>
          <p:cNvPr id="11" name="Text 9"/>
          <p:cNvSpPr/>
          <p:nvPr/>
        </p:nvSpPr>
        <p:spPr>
          <a:xfrm>
            <a:off x="6477000" y="3101280"/>
            <a:ext cx="483997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AF0F6"/>
                </a:solidFill>
                <a:latin typeface="IBM Plex Sans" pitchFamily="34" charset="0"/>
                <a:ea typeface="IBM Plex Sans" pitchFamily="34" charset="-122"/>
                <a:cs typeface="IBM Plex Sans" pitchFamily="34" charset="-120"/>
              </a:rPr>
              <a:t>Why it matters</a:t>
            </a:r>
            <a:endParaRPr lang="en-US" sz="1600" dirty="0"/>
          </a:p>
        </p:txBody>
      </p:sp>
      <p:sp>
        <p:nvSpPr>
          <p:cNvPr id="12" name="Text 10"/>
          <p:cNvSpPr/>
          <p:nvPr/>
        </p:nvSpPr>
        <p:spPr>
          <a:xfrm>
            <a:off x="6477000" y="3421311"/>
            <a:ext cx="483997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6E1F0"/>
                </a:solidFill>
                <a:latin typeface="IBM Plex Sans" pitchFamily="34" charset="0"/>
                <a:ea typeface="IBM Plex Sans" pitchFamily="34" charset="-122"/>
                <a:cs typeface="IBM Plex Sans" pitchFamily="34" charset="-120"/>
              </a:rPr>
              <a:t>It shows the contract between every function point before any is built, so design reviews happen against working behavior, not diagrams.</a:t>
            </a:r>
            <a:endParaRPr lang="en-US" sz="13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E80"/>
                </a:solidFill>
                <a:latin typeface="IBM Plex Mono" pitchFamily="49" charset="0"/>
                <a:ea typeface="IBM Plex Mono" pitchFamily="49" charset="-122"/>
                <a:cs typeface="IBM Plex Mono" pitchFamily="49" charset="-120"/>
              </a:rPr>
              <a:t>PEO Sales Advisor · Storyboard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6F9"/>
        </a:solidFill>
      </p:bgPr>
    </p:bg>
    <p:spTree>
      <p:nvGrpSpPr>
        <p:cNvPr id="1" name=""/>
        <p:cNvGrpSpPr/>
        <p:nvPr/>
      </p:nvGrpSpPr>
      <p:grpSpPr>
        <a:xfrm>
          <a:off x="0" y="0"/>
          <a:ext cx="0" cy="0"/>
          <a:chOff x="0" y="0"/>
          <a:chExt cx="0" cy="0"/>
        </a:xfrm>
      </p:grpSpPr>
      <p:sp>
        <p:nvSpPr>
          <p:cNvPr id="2" name="Text 0"/>
          <p:cNvSpPr/>
          <p:nvPr/>
        </p:nvSpPr>
        <p:spPr>
          <a:xfrm>
            <a:off x="812800" y="812800"/>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1F6E8C"/>
                </a:solidFill>
                <a:latin typeface="IBM Plex Mono" pitchFamily="49" charset="0"/>
                <a:ea typeface="IBM Plex Mono" pitchFamily="49" charset="-122"/>
                <a:cs typeface="IBM Plex Mono" pitchFamily="49" charset="-120"/>
              </a:rPr>
              <a:t>LINK 2 OF 7 · DEMAND MODEL</a:t>
            </a:r>
            <a:endParaRPr lang="en-US" sz="1200" dirty="0"/>
          </a:p>
        </p:txBody>
      </p:sp>
      <p:sp>
        <p:nvSpPr>
          <p:cNvPr id="3" name="Text 1"/>
          <p:cNvSpPr/>
          <p:nvPr>
            <p:ph type="title"/>
          </p:nvPr>
        </p:nvSpPr>
        <p:spPr>
          <a:xfrm>
            <a:off x="812800" y="1178520"/>
            <a:ext cx="5258562" cy="584200"/>
          </a:xfrm>
          <a:prstGeom prst="rect">
            <a:avLst/>
          </a:prstGeom>
          <a:noFill/>
          <a:ln/>
        </p:spPr>
        <p:txBody>
          <a:bodyPr wrap="square" lIns="0" tIns="0" rIns="0" bIns="0" rtlCol="0" anchor="t">
            <a:normAutofit/>
          </a:bodyPr>
          <a:lstStyle/>
          <a:p>
            <a:pPr algn="l" indent="0" marL="0">
              <a:lnSpc>
                <a:spcPts val="4400"/>
              </a:lnSpc>
              <a:buNone/>
            </a:pPr>
            <a:r>
              <a:rPr lang="en-US" sz="4400" b="1" i="0" dirty="0">
                <a:solidFill>
                  <a:srgbClr val="16202B"/>
                </a:solidFill>
                <a:latin typeface="Big Shoulders" pitchFamily="34" charset="0"/>
                <a:ea typeface="Big Shoulders" pitchFamily="34" charset="-122"/>
                <a:cs typeface="Big Shoulders" pitchFamily="34" charset="-120"/>
              </a:rPr>
              <a:t>PEO Buyer Personas</a:t>
            </a:r>
            <a:endParaRPr lang="en-US" sz="4400" dirty="0"/>
          </a:p>
        </p:txBody>
      </p:sp>
      <p:sp>
        <p:nvSpPr>
          <p:cNvPr id="4" name="Text 2"/>
          <p:cNvSpPr/>
          <p:nvPr/>
        </p:nvSpPr>
        <p:spPr>
          <a:xfrm>
            <a:off x="812800" y="1889720"/>
            <a:ext cx="5258562"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16202B"/>
                </a:solidFill>
                <a:latin typeface="IBM Plex Mono" pitchFamily="49" charset="0"/>
                <a:ea typeface="IBM Plex Mono" pitchFamily="49" charset="-122"/>
                <a:cs typeface="IBM Plex Mono" pitchFamily="49" charset="-120"/>
                <a:hlinkClick r:id="rId1" invalidUrl="" action="" tgtFrame="" tooltip="" history="1" highlightClick="0" endSnd="0">
                  <a:extLst>
                    <a:ext uri="{A12FA001-AC4F-418D-AE19-62706E023703}">
                      <ahyp:hlinkClr xmlns:ahyp="http://schemas.microsoft.com/office/drawing/2018/hyperlinkcolor" val="tx"/>
                    </a:ext>
                  </a:extLst>
                </a:hlinkClick>
              </a:rPr>
              <a:t>Open the personas</a:t>
            </a:r>
            <a:endParaRPr lang="en-US" sz="1200" dirty="0"/>
          </a:p>
        </p:txBody>
      </p:sp>
      <p:sp>
        <p:nvSpPr>
          <p:cNvPr id="5" name="Text 3"/>
          <p:cNvSpPr/>
          <p:nvPr/>
        </p:nvSpPr>
        <p:spPr>
          <a:xfrm>
            <a:off x="812800" y="2255441"/>
            <a:ext cx="5258562"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2A3846"/>
                </a:solidFill>
                <a:latin typeface="IBM Plex Sans" pitchFamily="34" charset="0"/>
                <a:ea typeface="IBM Plex Sans" pitchFamily="34" charset="-122"/>
                <a:cs typeface="IBM Plex Sans" pitchFamily="34" charset="-120"/>
              </a:rPr>
              <a:t>The Client Admin and HR Specialist as instances of the persona ontology, with their jobs, job steps and desired outcomes, in Explore, Graph and Job study views.</a:t>
            </a:r>
            <a:endParaRPr lang="en-US" sz="1500" dirty="0"/>
          </a:p>
        </p:txBody>
      </p:sp>
      <p:sp>
        <p:nvSpPr>
          <p:cNvPr id="6" name="Shape 4"/>
          <p:cNvSpPr/>
          <p:nvPr/>
        </p:nvSpPr>
        <p:spPr>
          <a:xfrm>
            <a:off x="6273800" y="812800"/>
            <a:ext cx="5105400" cy="2164011"/>
          </a:xfrm>
          <a:prstGeom prst="roundRect">
            <a:avLst>
              <a:gd name="adj" fmla="val 3521"/>
            </a:avLst>
          </a:prstGeom>
          <a:solidFill>
            <a:srgbClr val="FCFDFE"/>
          </a:solidFill>
          <a:ln/>
          <a:effectLst>
            <a:outerShdw sx="100000" sy="100000" kx="0" ky="0" algn="bl" rotWithShape="0" blurRad="63500" dist="12700" dir="5400000">
              <a:srgbClr val="16202B">
                <a:alpha val="8000"/>
              </a:srgbClr>
            </a:outerShdw>
          </a:effectLst>
        </p:spPr>
      </p:sp>
      <p:sp>
        <p:nvSpPr>
          <p:cNvPr id="7" name="Shape 5"/>
          <p:cNvSpPr/>
          <p:nvPr/>
        </p:nvSpPr>
        <p:spPr>
          <a:xfrm>
            <a:off x="6273800" y="812800"/>
            <a:ext cx="5105400" cy="2164011"/>
          </a:xfrm>
          <a:custGeom>
            <a:avLst/>
            <a:gdLst/>
            <a:ahLst/>
            <a:cxnLst/>
            <a:rect l="l" t="t" r="r" b="b"/>
            <a:pathLst>
              <a:path w="5105400" h="2164011">
                <a:moveTo>
                  <a:pt x="0" y="76200"/>
                </a:moveTo>
                <a:lnTo>
                  <a:pt x="0" y="76200"/>
                </a:lnTo>
                <a:arcTo hR="76200" wR="76200" stAng="10800000" swAng="5400000"/>
                <a:lnTo>
                  <a:pt x="5029200" y="0"/>
                </a:lnTo>
                <a:arcTo hR="76200" wR="76200" stAng="16200000" swAng="5400000"/>
                <a:lnTo>
                  <a:pt x="5105400" y="76200"/>
                </a:lnTo>
                <a:arcTo hR="25400" wR="76200" stAng="0" swAng="-5400000"/>
                <a:lnTo>
                  <a:pt x="76200" y="50800"/>
                </a:lnTo>
                <a:arcTo hR="25400" wR="76200" stAng="16200000" swAng="-5400000"/>
                <a:close/>
              </a:path>
            </a:pathLst>
          </a:custGeom>
          <a:solidFill>
            <a:srgbClr val="1F6E8C"/>
          </a:solidFill>
          <a:ln/>
        </p:spPr>
      </p:sp>
      <p:sp>
        <p:nvSpPr>
          <p:cNvPr id="8" name="Text 6"/>
          <p:cNvSpPr/>
          <p:nvPr/>
        </p:nvSpPr>
        <p:spPr>
          <a:xfrm>
            <a:off x="6477000" y="1066800"/>
            <a:ext cx="483997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B"/>
                </a:solidFill>
                <a:latin typeface="IBM Plex Sans" pitchFamily="34" charset="0"/>
                <a:ea typeface="IBM Plex Sans" pitchFamily="34" charset="-122"/>
                <a:cs typeface="IBM Plex Sans" pitchFamily="34" charset="-120"/>
              </a:rPr>
              <a:t>What to look at</a:t>
            </a:r>
            <a:endParaRPr lang="en-US" sz="1600" dirty="0"/>
          </a:p>
        </p:txBody>
      </p:sp>
      <p:sp>
        <p:nvSpPr>
          <p:cNvPr id="9" name="Text 7"/>
          <p:cNvSpPr/>
          <p:nvPr/>
        </p:nvSpPr>
        <p:spPr>
          <a:xfrm>
            <a:off x="6562344" y="1386830"/>
            <a:ext cx="4747006" cy="1412180"/>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2A3846"/>
                </a:solidFill>
                <a:latin typeface="IBM Plex Sans" pitchFamily="34" charset="0"/>
                <a:ea typeface="IBM Plex Sans" pitchFamily="34" charset="-122"/>
                <a:cs typeface="IBM Plex Sans" pitchFamily="34" charset="-120"/>
              </a:rPr>
              <a:t>Job study: outcomes as Minimize or Maximize statements with metric, target and metric card</a:t>
            </a:r>
            <a:endParaRPr lang="en-US" sz="1300" dirty="0"/>
          </a:p>
          <a:p>
            <a:pPr algn="l" marL="168656" indent="-168656">
              <a:lnSpc>
                <a:spcPts val="1820"/>
              </a:lnSpc>
              <a:buSzPct val="100000"/>
              <a:buChar char="•"/>
            </a:pPr>
            <a:r>
              <a:rPr lang="en-US" sz="1300" dirty="0">
                <a:solidFill>
                  <a:srgbClr val="2A3846"/>
                </a:solidFill>
                <a:latin typeface="IBM Plex Sans" pitchFamily="34" charset="0"/>
                <a:ea typeface="IBM Plex Sans" pitchFamily="34" charset="-122"/>
                <a:cs typeface="IBM Plex Sans" pitchFamily="34" charset="-120"/>
              </a:rPr>
              <a:t>Fields from the advisor model versus illustrative placeholders</a:t>
            </a:r>
            <a:endParaRPr lang="en-US" sz="1300" dirty="0"/>
          </a:p>
          <a:p>
            <a:pPr algn="l" marL="168656" indent="-168656">
              <a:lnSpc>
                <a:spcPts val="1820"/>
              </a:lnSpc>
              <a:buSzPct val="100000"/>
              <a:buChar char="•"/>
            </a:pPr>
            <a:r>
              <a:rPr lang="en-US" sz="1300" dirty="0">
                <a:solidFill>
                  <a:srgbClr val="2A3846"/>
                </a:solidFill>
                <a:latin typeface="IBM Plex Sans" pitchFamily="34" charset="0"/>
                <a:ea typeface="IBM Plex Sans" pitchFamily="34" charset="-122"/>
                <a:cs typeface="IBM Plex Sans" pitchFamily="34" charset="-120"/>
              </a:rPr>
              <a:t>The one proposed extension: buyer personas as isp-sal subclasses</a:t>
            </a:r>
            <a:endParaRPr lang="en-US" sz="1300" dirty="0"/>
          </a:p>
        </p:txBody>
      </p:sp>
      <p:sp>
        <p:nvSpPr>
          <p:cNvPr id="10" name="Shape 8"/>
          <p:cNvSpPr/>
          <p:nvPr/>
        </p:nvSpPr>
        <p:spPr>
          <a:xfrm>
            <a:off x="6273800" y="3129211"/>
            <a:ext cx="5105400" cy="1419820"/>
          </a:xfrm>
          <a:prstGeom prst="roundRect">
            <a:avLst>
              <a:gd name="adj" fmla="val 5367"/>
            </a:avLst>
          </a:prstGeom>
          <a:solidFill>
            <a:srgbClr val="1F3A5F"/>
          </a:solidFill>
          <a:ln/>
        </p:spPr>
      </p:sp>
      <p:sp>
        <p:nvSpPr>
          <p:cNvPr id="11" name="Text 9"/>
          <p:cNvSpPr/>
          <p:nvPr/>
        </p:nvSpPr>
        <p:spPr>
          <a:xfrm>
            <a:off x="6477000" y="3332411"/>
            <a:ext cx="483997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AF0F6"/>
                </a:solidFill>
                <a:latin typeface="IBM Plex Sans" pitchFamily="34" charset="0"/>
                <a:ea typeface="IBM Plex Sans" pitchFamily="34" charset="-122"/>
                <a:cs typeface="IBM Plex Sans" pitchFamily="34" charset="-120"/>
              </a:rPr>
              <a:t>Why it matters</a:t>
            </a:r>
            <a:endParaRPr lang="en-US" sz="1600" dirty="0"/>
          </a:p>
        </p:txBody>
      </p:sp>
      <p:sp>
        <p:nvSpPr>
          <p:cNvPr id="12" name="Text 10"/>
          <p:cNvSpPr/>
          <p:nvPr/>
        </p:nvSpPr>
        <p:spPr>
          <a:xfrm>
            <a:off x="6477000" y="3652441"/>
            <a:ext cx="483997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6E1F0"/>
                </a:solidFill>
                <a:latin typeface="IBM Plex Sans" pitchFamily="34" charset="0"/>
                <a:ea typeface="IBM Plex Sans" pitchFamily="34" charset="-122"/>
                <a:cs typeface="IBM Plex Sans" pitchFamily="34" charset="-120"/>
              </a:rPr>
              <a:t>Personas are ontology classes, not slideware. They drive tagging, facets, brief templates and the question baseline, and other teams can add their own.</a:t>
            </a:r>
            <a:endParaRPr lang="en-US" sz="13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E80"/>
                </a:solidFill>
                <a:latin typeface="IBM Plex Mono" pitchFamily="49" charset="0"/>
                <a:ea typeface="IBM Plex Mono" pitchFamily="49" charset="-122"/>
                <a:cs typeface="IBM Plex Mono" pitchFamily="49" charset="-120"/>
              </a:rPr>
              <a:t>PEO Sales Advisor · Storyboard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6F9"/>
        </a:solidFill>
      </p:bgPr>
    </p:bg>
    <p:spTree>
      <p:nvGrpSpPr>
        <p:cNvPr id="1" name=""/>
        <p:cNvGrpSpPr/>
        <p:nvPr/>
      </p:nvGrpSpPr>
      <p:grpSpPr>
        <a:xfrm>
          <a:off x="0" y="0"/>
          <a:ext cx="0" cy="0"/>
          <a:chOff x="0" y="0"/>
          <a:chExt cx="0" cy="0"/>
        </a:xfrm>
      </p:grpSpPr>
      <p:sp>
        <p:nvSpPr>
          <p:cNvPr id="2" name="Text 0"/>
          <p:cNvSpPr/>
          <p:nvPr/>
        </p:nvSpPr>
        <p:spPr>
          <a:xfrm>
            <a:off x="812800" y="812800"/>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1F6E8C"/>
                </a:solidFill>
                <a:latin typeface="IBM Plex Mono" pitchFamily="49" charset="0"/>
                <a:ea typeface="IBM Plex Mono" pitchFamily="49" charset="-122"/>
                <a:cs typeface="IBM Plex Mono" pitchFamily="49" charset="-120"/>
              </a:rPr>
              <a:t>LINK 3 OF 7 · QUALITY AND VALIDATION</a:t>
            </a:r>
            <a:endParaRPr lang="en-US" sz="1200" dirty="0"/>
          </a:p>
        </p:txBody>
      </p:sp>
      <p:sp>
        <p:nvSpPr>
          <p:cNvPr id="3" name="Text 1"/>
          <p:cNvSpPr/>
          <p:nvPr>
            <p:ph type="title"/>
          </p:nvPr>
        </p:nvSpPr>
        <p:spPr>
          <a:xfrm>
            <a:off x="812800" y="1178520"/>
            <a:ext cx="5258562" cy="1143000"/>
          </a:xfrm>
          <a:prstGeom prst="rect">
            <a:avLst/>
          </a:prstGeom>
          <a:noFill/>
          <a:ln/>
        </p:spPr>
        <p:txBody>
          <a:bodyPr wrap="square" lIns="0" tIns="0" rIns="0" bIns="0" rtlCol="0" anchor="t">
            <a:normAutofit/>
          </a:bodyPr>
          <a:lstStyle/>
          <a:p>
            <a:pPr algn="l" indent="0" marL="0">
              <a:lnSpc>
                <a:spcPts val="4400"/>
              </a:lnSpc>
              <a:buNone/>
            </a:pPr>
            <a:r>
              <a:rPr lang="en-US" sz="4400" b="1" i="0" dirty="0">
                <a:solidFill>
                  <a:srgbClr val="16202B"/>
                </a:solidFill>
                <a:latin typeface="Big Shoulders" pitchFamily="34" charset="0"/>
                <a:ea typeface="Big Shoulders" pitchFamily="34" charset="-122"/>
                <a:cs typeface="Big Shoulders" pitchFamily="34" charset="-120"/>
              </a:rPr>
              <a:t>Decision Question Baseline</a:t>
            </a:r>
            <a:endParaRPr lang="en-US" sz="4400" dirty="0"/>
          </a:p>
        </p:txBody>
      </p:sp>
      <p:sp>
        <p:nvSpPr>
          <p:cNvPr id="4" name="Text 2"/>
          <p:cNvSpPr/>
          <p:nvPr/>
        </p:nvSpPr>
        <p:spPr>
          <a:xfrm>
            <a:off x="812800" y="2448520"/>
            <a:ext cx="5258562"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16202B"/>
                </a:solidFill>
                <a:latin typeface="IBM Plex Mono" pitchFamily="49" charset="0"/>
                <a:ea typeface="IBM Plex Mono" pitchFamily="49" charset="-122"/>
                <a:cs typeface="IBM Plex Mono" pitchFamily="49" charset="-120"/>
                <a:hlinkClick r:id="rId1" invalidUrl="" action="" tgtFrame="" tooltip="" history="1" highlightClick="0" endSnd="0">
                  <a:extLst>
                    <a:ext uri="{A12FA001-AC4F-418D-AE19-62706E023703}">
                      <ahyp:hlinkClr xmlns:ahyp="http://schemas.microsoft.com/office/drawing/2018/hyperlinkcolor" val="tx"/>
                    </a:ext>
                  </a:extLst>
                </a:hlinkClick>
              </a:rPr>
              <a:t>Open the baseline</a:t>
            </a:r>
            <a:endParaRPr lang="en-US" sz="1200" dirty="0"/>
          </a:p>
        </p:txBody>
      </p:sp>
      <p:sp>
        <p:nvSpPr>
          <p:cNvPr id="5" name="Text 3"/>
          <p:cNvSpPr/>
          <p:nvPr/>
        </p:nvSpPr>
        <p:spPr>
          <a:xfrm>
            <a:off x="812800" y="2814241"/>
            <a:ext cx="5258562"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2A3846"/>
                </a:solidFill>
                <a:latin typeface="IBM Plex Sans" pitchFamily="34" charset="0"/>
                <a:ea typeface="IBM Plex Sans" pitchFamily="34" charset="-122"/>
                <a:cs typeface="IBM Plex Sans" pitchFamily="34" charset="-120"/>
              </a:rPr>
              <a:t>The 48 questions each persona must answer well to make the decision at each job step, baselined so every upstream change can be traced to the decisions it puts at risk.</a:t>
            </a:r>
            <a:endParaRPr lang="en-US" sz="1500" dirty="0"/>
          </a:p>
        </p:txBody>
      </p:sp>
      <p:sp>
        <p:nvSpPr>
          <p:cNvPr id="6" name="Shape 4"/>
          <p:cNvSpPr/>
          <p:nvPr/>
        </p:nvSpPr>
        <p:spPr>
          <a:xfrm>
            <a:off x="6273800" y="812800"/>
            <a:ext cx="5105400" cy="2164011"/>
          </a:xfrm>
          <a:prstGeom prst="roundRect">
            <a:avLst>
              <a:gd name="adj" fmla="val 3521"/>
            </a:avLst>
          </a:prstGeom>
          <a:solidFill>
            <a:srgbClr val="FCFDFE"/>
          </a:solidFill>
          <a:ln/>
          <a:effectLst>
            <a:outerShdw sx="100000" sy="100000" kx="0" ky="0" algn="bl" rotWithShape="0" blurRad="63500" dist="12700" dir="5400000">
              <a:srgbClr val="16202B">
                <a:alpha val="8000"/>
              </a:srgbClr>
            </a:outerShdw>
          </a:effectLst>
        </p:spPr>
      </p:sp>
      <p:sp>
        <p:nvSpPr>
          <p:cNvPr id="7" name="Shape 5"/>
          <p:cNvSpPr/>
          <p:nvPr/>
        </p:nvSpPr>
        <p:spPr>
          <a:xfrm>
            <a:off x="6273800" y="812800"/>
            <a:ext cx="5105400" cy="2164011"/>
          </a:xfrm>
          <a:custGeom>
            <a:avLst/>
            <a:gdLst/>
            <a:ahLst/>
            <a:cxnLst/>
            <a:rect l="l" t="t" r="r" b="b"/>
            <a:pathLst>
              <a:path w="5105400" h="2164011">
                <a:moveTo>
                  <a:pt x="0" y="76200"/>
                </a:moveTo>
                <a:lnTo>
                  <a:pt x="0" y="76200"/>
                </a:lnTo>
                <a:arcTo hR="76200" wR="76200" stAng="10800000" swAng="5400000"/>
                <a:lnTo>
                  <a:pt x="5029200" y="0"/>
                </a:lnTo>
                <a:arcTo hR="76200" wR="76200" stAng="16200000" swAng="5400000"/>
                <a:lnTo>
                  <a:pt x="5105400" y="76200"/>
                </a:lnTo>
                <a:arcTo hR="25400" wR="76200" stAng="0" swAng="-5400000"/>
                <a:lnTo>
                  <a:pt x="76200" y="50800"/>
                </a:lnTo>
                <a:arcTo hR="25400" wR="76200" stAng="16200000" swAng="-5400000"/>
                <a:close/>
              </a:path>
            </a:pathLst>
          </a:custGeom>
          <a:solidFill>
            <a:srgbClr val="1F6E8C"/>
          </a:solidFill>
          <a:ln/>
        </p:spPr>
      </p:sp>
      <p:sp>
        <p:nvSpPr>
          <p:cNvPr id="8" name="Text 6"/>
          <p:cNvSpPr/>
          <p:nvPr/>
        </p:nvSpPr>
        <p:spPr>
          <a:xfrm>
            <a:off x="6477000" y="1066800"/>
            <a:ext cx="483997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B"/>
                </a:solidFill>
                <a:latin typeface="IBM Plex Sans" pitchFamily="34" charset="0"/>
                <a:ea typeface="IBM Plex Sans" pitchFamily="34" charset="-122"/>
                <a:cs typeface="IBM Plex Sans" pitchFamily="34" charset="-120"/>
              </a:rPr>
              <a:t>What to look at</a:t>
            </a:r>
            <a:endParaRPr lang="en-US" sz="1600" dirty="0"/>
          </a:p>
        </p:txBody>
      </p:sp>
      <p:sp>
        <p:nvSpPr>
          <p:cNvPr id="9" name="Text 7"/>
          <p:cNvSpPr/>
          <p:nvPr/>
        </p:nvSpPr>
        <p:spPr>
          <a:xfrm>
            <a:off x="6562344" y="1386830"/>
            <a:ext cx="4747006" cy="1412180"/>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2A3846"/>
                </a:solidFill>
                <a:latin typeface="IBM Plex Sans" pitchFamily="34" charset="0"/>
                <a:ea typeface="IBM Plex Sans" pitchFamily="34" charset="-122"/>
                <a:cs typeface="IBM Plex Sans" pitchFamily="34" charset="-120"/>
              </a:rPr>
              <a:t>Decision questions: one decision and four questions per job step, tiered H, M, L</a:t>
            </a:r>
            <a:endParaRPr lang="en-US" sz="1300" dirty="0"/>
          </a:p>
          <a:p>
            <a:pPr algn="l" marL="168656" indent="-168656">
              <a:lnSpc>
                <a:spcPts val="1820"/>
              </a:lnSpc>
              <a:buSzPct val="100000"/>
              <a:buChar char="•"/>
            </a:pPr>
            <a:r>
              <a:rPr lang="en-US" sz="1300" dirty="0">
                <a:solidFill>
                  <a:srgbClr val="2A3846"/>
                </a:solidFill>
                <a:latin typeface="IBM Plex Sans" pitchFamily="34" charset="0"/>
                <a:ea typeface="IBM Plex Sans" pitchFamily="34" charset="-122"/>
                <a:cs typeface="IBM Plex Sans" pitchFamily="34" charset="-120"/>
              </a:rPr>
              <a:t>Quality by design: the baseline record and how a change is classified</a:t>
            </a:r>
            <a:endParaRPr lang="en-US" sz="1300" dirty="0"/>
          </a:p>
          <a:p>
            <a:pPr algn="l" marL="168656" indent="-168656">
              <a:lnSpc>
                <a:spcPts val="1820"/>
              </a:lnSpc>
              <a:buSzPct val="100000"/>
              <a:buChar char="•"/>
            </a:pPr>
            <a:r>
              <a:rPr lang="en-US" sz="1300" dirty="0">
                <a:solidFill>
                  <a:srgbClr val="2A3846"/>
                </a:solidFill>
                <a:latin typeface="IBM Plex Sans" pitchFamily="34" charset="0"/>
                <a:ea typeface="IBM Plex Sans" pitchFamily="34" charset="-122"/>
                <a:cs typeface="IBM Plex Sans" pitchFamily="34" charset="-120"/>
              </a:rPr>
              <a:t>Circuit breakers: per-agent MTBH states and a live simulation</a:t>
            </a:r>
            <a:endParaRPr lang="en-US" sz="1300" dirty="0"/>
          </a:p>
        </p:txBody>
      </p:sp>
      <p:sp>
        <p:nvSpPr>
          <p:cNvPr id="10" name="Shape 8"/>
          <p:cNvSpPr/>
          <p:nvPr/>
        </p:nvSpPr>
        <p:spPr>
          <a:xfrm>
            <a:off x="6273800" y="3129211"/>
            <a:ext cx="5105400" cy="1419820"/>
          </a:xfrm>
          <a:prstGeom prst="roundRect">
            <a:avLst>
              <a:gd name="adj" fmla="val 5367"/>
            </a:avLst>
          </a:prstGeom>
          <a:solidFill>
            <a:srgbClr val="1F3A5F"/>
          </a:solidFill>
          <a:ln/>
        </p:spPr>
      </p:sp>
      <p:sp>
        <p:nvSpPr>
          <p:cNvPr id="11" name="Text 9"/>
          <p:cNvSpPr/>
          <p:nvPr/>
        </p:nvSpPr>
        <p:spPr>
          <a:xfrm>
            <a:off x="6477000" y="3332411"/>
            <a:ext cx="483997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AF0F6"/>
                </a:solidFill>
                <a:latin typeface="IBM Plex Sans" pitchFamily="34" charset="0"/>
                <a:ea typeface="IBM Plex Sans" pitchFamily="34" charset="-122"/>
                <a:cs typeface="IBM Plex Sans" pitchFamily="34" charset="-120"/>
              </a:rPr>
              <a:t>Why it matters</a:t>
            </a:r>
            <a:endParaRPr lang="en-US" sz="1600" dirty="0"/>
          </a:p>
        </p:txBody>
      </p:sp>
      <p:sp>
        <p:nvSpPr>
          <p:cNvPr id="12" name="Text 10"/>
          <p:cNvSpPr/>
          <p:nvPr/>
        </p:nvSpPr>
        <p:spPr>
          <a:xfrm>
            <a:off x="6477000" y="3652441"/>
            <a:ext cx="483997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6E1F0"/>
                </a:solidFill>
                <a:latin typeface="IBM Plex Sans" pitchFamily="34" charset="0"/>
                <a:ea typeface="IBM Plex Sans" pitchFamily="34" charset="-122"/>
                <a:cs typeface="IBM Plex Sans" pitchFamily="34" charset="-120"/>
              </a:rPr>
              <a:t>It is the regression suite for agentic behavior. Quality is tested against business decisions, not model scores, so learning can be allowed safely.</a:t>
            </a:r>
            <a:endParaRPr lang="en-US" sz="13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E80"/>
                </a:solidFill>
                <a:latin typeface="IBM Plex Mono" pitchFamily="49" charset="0"/>
                <a:ea typeface="IBM Plex Mono" pitchFamily="49" charset="-122"/>
                <a:cs typeface="IBM Plex Mono" pitchFamily="49" charset="-120"/>
              </a:rPr>
              <a:t>PEO Sales Advisor · Storyboard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6F9"/>
        </a:solidFill>
      </p:bgPr>
    </p:bg>
    <p:spTree>
      <p:nvGrpSpPr>
        <p:cNvPr id="1" name=""/>
        <p:cNvGrpSpPr/>
        <p:nvPr/>
      </p:nvGrpSpPr>
      <p:grpSpPr>
        <a:xfrm>
          <a:off x="0" y="0"/>
          <a:ext cx="0" cy="0"/>
          <a:chOff x="0" y="0"/>
          <a:chExt cx="0" cy="0"/>
        </a:xfrm>
      </p:grpSpPr>
      <p:sp>
        <p:nvSpPr>
          <p:cNvPr id="2" name="Text 0"/>
          <p:cNvSpPr/>
          <p:nvPr/>
        </p:nvSpPr>
        <p:spPr>
          <a:xfrm>
            <a:off x="812800" y="812800"/>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1F6E8C"/>
                </a:solidFill>
                <a:latin typeface="IBM Plex Mono" pitchFamily="49" charset="0"/>
                <a:ea typeface="IBM Plex Mono" pitchFamily="49" charset="-122"/>
                <a:cs typeface="IBM Plex Mono" pitchFamily="49" charset="-120"/>
              </a:rPr>
              <a:t>LINK 4 OF 7 · POLICY AND LOGIC</a:t>
            </a:r>
            <a:endParaRPr lang="en-US" sz="1200" dirty="0"/>
          </a:p>
        </p:txBody>
      </p:sp>
      <p:sp>
        <p:nvSpPr>
          <p:cNvPr id="3" name="Text 1"/>
          <p:cNvSpPr/>
          <p:nvPr>
            <p:ph type="title"/>
          </p:nvPr>
        </p:nvSpPr>
        <p:spPr>
          <a:xfrm>
            <a:off x="812800" y="1178520"/>
            <a:ext cx="5258562" cy="1143000"/>
          </a:xfrm>
          <a:prstGeom prst="rect">
            <a:avLst/>
          </a:prstGeom>
          <a:noFill/>
          <a:ln/>
        </p:spPr>
        <p:txBody>
          <a:bodyPr wrap="square" lIns="0" tIns="0" rIns="0" bIns="0" rtlCol="0" anchor="t">
            <a:normAutofit/>
          </a:bodyPr>
          <a:lstStyle/>
          <a:p>
            <a:pPr algn="l" indent="0" marL="0">
              <a:lnSpc>
                <a:spcPts val="4400"/>
              </a:lnSpc>
              <a:buNone/>
            </a:pPr>
            <a:r>
              <a:rPr lang="en-US" sz="4400" b="1" i="0" dirty="0">
                <a:solidFill>
                  <a:srgbClr val="16202B"/>
                </a:solidFill>
                <a:latin typeface="Big Shoulders" pitchFamily="34" charset="0"/>
                <a:ea typeface="Big Shoulders" pitchFamily="34" charset="-122"/>
                <a:cs typeface="Big Shoulders" pitchFamily="34" charset="-120"/>
              </a:rPr>
              <a:t>SSOT Rules and Standards Map</a:t>
            </a:r>
            <a:endParaRPr lang="en-US" sz="4400" dirty="0"/>
          </a:p>
        </p:txBody>
      </p:sp>
      <p:sp>
        <p:nvSpPr>
          <p:cNvPr id="4" name="Text 2"/>
          <p:cNvSpPr/>
          <p:nvPr/>
        </p:nvSpPr>
        <p:spPr>
          <a:xfrm>
            <a:off x="812800" y="2448520"/>
            <a:ext cx="5258562"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16202B"/>
                </a:solidFill>
                <a:latin typeface="IBM Plex Mono" pitchFamily="49" charset="0"/>
                <a:ea typeface="IBM Plex Mono" pitchFamily="49" charset="-122"/>
                <a:cs typeface="IBM Plex Mono" pitchFamily="49" charset="-120"/>
                <a:hlinkClick r:id="rId1" invalidUrl="" action="" tgtFrame="" tooltip="" history="1" highlightClick="0" endSnd="0">
                  <a:extLst>
                    <a:ext uri="{A12FA001-AC4F-418D-AE19-62706E023703}">
                      <ahyp:hlinkClr xmlns:ahyp="http://schemas.microsoft.com/office/drawing/2018/hyperlinkcolor" val="tx"/>
                    </a:ext>
                  </a:extLst>
                </a:hlinkClick>
              </a:rPr>
              <a:t>Open the rules map</a:t>
            </a:r>
            <a:endParaRPr lang="en-US" sz="1200" dirty="0"/>
          </a:p>
        </p:txBody>
      </p:sp>
      <p:sp>
        <p:nvSpPr>
          <p:cNvPr id="5" name="Text 3"/>
          <p:cNvSpPr/>
          <p:nvPr/>
        </p:nvSpPr>
        <p:spPr>
          <a:xfrm>
            <a:off x="812800" y="2814241"/>
            <a:ext cx="5258562" cy="113030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2A3846"/>
                </a:solidFill>
                <a:latin typeface="IBM Plex Sans" pitchFamily="34" charset="0"/>
                <a:ea typeface="IBM Plex Sans" pitchFamily="34" charset="-122"/>
                <a:cs typeface="IBM Plex Sans" pitchFamily="34" charset="-120"/>
              </a:rPr>
              <a:t>What the SSOT must hold to run the advisor: 94 proposed rules beside the existing register, 51 executable constraints and 50 analytics calcs, each mapped to the standards it implements.</a:t>
            </a:r>
            <a:endParaRPr lang="en-US" sz="1500" dirty="0"/>
          </a:p>
        </p:txBody>
      </p:sp>
      <p:sp>
        <p:nvSpPr>
          <p:cNvPr id="6" name="Shape 4"/>
          <p:cNvSpPr/>
          <p:nvPr/>
        </p:nvSpPr>
        <p:spPr>
          <a:xfrm>
            <a:off x="6273800" y="812800"/>
            <a:ext cx="5105400" cy="1701750"/>
          </a:xfrm>
          <a:prstGeom prst="roundRect">
            <a:avLst>
              <a:gd name="adj" fmla="val 4478"/>
            </a:avLst>
          </a:prstGeom>
          <a:solidFill>
            <a:srgbClr val="FCFDFE"/>
          </a:solidFill>
          <a:ln/>
          <a:effectLst>
            <a:outerShdw sx="100000" sy="100000" kx="0" ky="0" algn="bl" rotWithShape="0" blurRad="63500" dist="12700" dir="5400000">
              <a:srgbClr val="16202B">
                <a:alpha val="8000"/>
              </a:srgbClr>
            </a:outerShdw>
          </a:effectLst>
        </p:spPr>
      </p:sp>
      <p:sp>
        <p:nvSpPr>
          <p:cNvPr id="7" name="Shape 5"/>
          <p:cNvSpPr/>
          <p:nvPr/>
        </p:nvSpPr>
        <p:spPr>
          <a:xfrm>
            <a:off x="6273800" y="812800"/>
            <a:ext cx="5105400" cy="1701750"/>
          </a:xfrm>
          <a:custGeom>
            <a:avLst/>
            <a:gdLst/>
            <a:ahLst/>
            <a:cxnLst/>
            <a:rect l="l" t="t" r="r" b="b"/>
            <a:pathLst>
              <a:path w="5105400" h="1701750">
                <a:moveTo>
                  <a:pt x="0" y="76200"/>
                </a:moveTo>
                <a:lnTo>
                  <a:pt x="0" y="76200"/>
                </a:lnTo>
                <a:arcTo hR="76200" wR="76200" stAng="10800000" swAng="5400000"/>
                <a:lnTo>
                  <a:pt x="5029200" y="0"/>
                </a:lnTo>
                <a:arcTo hR="76200" wR="76200" stAng="16200000" swAng="5400000"/>
                <a:lnTo>
                  <a:pt x="5105400" y="76200"/>
                </a:lnTo>
                <a:arcTo hR="25400" wR="76200" stAng="0" swAng="-5400000"/>
                <a:lnTo>
                  <a:pt x="76200" y="50800"/>
                </a:lnTo>
                <a:arcTo hR="25400" wR="76200" stAng="16200000" swAng="-5400000"/>
                <a:close/>
              </a:path>
            </a:pathLst>
          </a:custGeom>
          <a:solidFill>
            <a:srgbClr val="1F6E8C"/>
          </a:solidFill>
          <a:ln/>
        </p:spPr>
      </p:sp>
      <p:sp>
        <p:nvSpPr>
          <p:cNvPr id="8" name="Text 6"/>
          <p:cNvSpPr/>
          <p:nvPr/>
        </p:nvSpPr>
        <p:spPr>
          <a:xfrm>
            <a:off x="6477000" y="1066800"/>
            <a:ext cx="483997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B"/>
                </a:solidFill>
                <a:latin typeface="IBM Plex Sans" pitchFamily="34" charset="0"/>
                <a:ea typeface="IBM Plex Sans" pitchFamily="34" charset="-122"/>
                <a:cs typeface="IBM Plex Sans" pitchFamily="34" charset="-120"/>
              </a:rPr>
              <a:t>What to look at</a:t>
            </a:r>
            <a:endParaRPr lang="en-US" sz="1600" dirty="0"/>
          </a:p>
        </p:txBody>
      </p:sp>
      <p:sp>
        <p:nvSpPr>
          <p:cNvPr id="9" name="Text 7"/>
          <p:cNvSpPr/>
          <p:nvPr/>
        </p:nvSpPr>
        <p:spPr>
          <a:xfrm>
            <a:off x="6562344" y="1386830"/>
            <a:ext cx="4747006" cy="949920"/>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2A3846"/>
                </a:solidFill>
                <a:latin typeface="IBM Plex Sans" pitchFamily="34" charset="0"/>
                <a:ea typeface="IBM Plex Sans" pitchFamily="34" charset="-122"/>
                <a:cs typeface="IBM Plex Sans" pitchFamily="34" charset="-120"/>
              </a:rPr>
              <a:t>Overview: governance, controls, decisions and events working at run time</a:t>
            </a:r>
            <a:endParaRPr lang="en-US" sz="1300" dirty="0"/>
          </a:p>
          <a:p>
            <a:pPr algn="l" marL="168656" indent="-168656">
              <a:lnSpc>
                <a:spcPts val="1820"/>
              </a:lnSpc>
              <a:buSzPct val="100000"/>
              <a:buChar char="•"/>
            </a:pPr>
            <a:r>
              <a:rPr lang="en-US" sz="1300" dirty="0">
                <a:solidFill>
                  <a:srgbClr val="2A3846"/>
                </a:solidFill>
                <a:latin typeface="IBM Plex Sans" pitchFamily="34" charset="0"/>
                <a:ea typeface="IBM Plex Sans" pitchFamily="34" charset="-122"/>
                <a:cs typeface="IBM Plex Sans" pitchFamily="34" charset="-120"/>
              </a:rPr>
              <a:t>ISO/IEC 27001 Annex A: the controls the advisor exercises</a:t>
            </a:r>
            <a:endParaRPr lang="en-US" sz="1300" dirty="0"/>
          </a:p>
          <a:p>
            <a:pPr algn="l" marL="168656" indent="-168656">
              <a:lnSpc>
                <a:spcPts val="1820"/>
              </a:lnSpc>
              <a:buSzPct val="100000"/>
              <a:buChar char="•"/>
            </a:pPr>
            <a:r>
              <a:rPr lang="en-US" sz="1300" dirty="0">
                <a:solidFill>
                  <a:srgbClr val="2A3846"/>
                </a:solidFill>
                <a:latin typeface="IBM Plex Sans" pitchFamily="34" charset="0"/>
                <a:ea typeface="IBM Plex Sans" pitchFamily="34" charset="-122"/>
                <a:cs typeface="IBM Plex Sans" pitchFamily="34" charset="-120"/>
              </a:rPr>
              <a:t>Consumers: which agents and services use each rule</a:t>
            </a:r>
            <a:endParaRPr lang="en-US" sz="1300" dirty="0"/>
          </a:p>
        </p:txBody>
      </p:sp>
      <p:sp>
        <p:nvSpPr>
          <p:cNvPr id="10" name="Shape 8"/>
          <p:cNvSpPr/>
          <p:nvPr/>
        </p:nvSpPr>
        <p:spPr>
          <a:xfrm>
            <a:off x="6273800" y="2666950"/>
            <a:ext cx="5105400" cy="1188690"/>
          </a:xfrm>
          <a:prstGeom prst="roundRect">
            <a:avLst>
              <a:gd name="adj" fmla="val 6410"/>
            </a:avLst>
          </a:prstGeom>
          <a:solidFill>
            <a:srgbClr val="1F3A5F"/>
          </a:solidFill>
          <a:ln/>
        </p:spPr>
      </p:sp>
      <p:sp>
        <p:nvSpPr>
          <p:cNvPr id="11" name="Text 9"/>
          <p:cNvSpPr/>
          <p:nvPr/>
        </p:nvSpPr>
        <p:spPr>
          <a:xfrm>
            <a:off x="6477000" y="2870150"/>
            <a:ext cx="483997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AF0F6"/>
                </a:solidFill>
                <a:latin typeface="IBM Plex Sans" pitchFamily="34" charset="0"/>
                <a:ea typeface="IBM Plex Sans" pitchFamily="34" charset="-122"/>
                <a:cs typeface="IBM Plex Sans" pitchFamily="34" charset="-120"/>
              </a:rPr>
              <a:t>Why it matters</a:t>
            </a:r>
            <a:endParaRPr lang="en-US" sz="1600" dirty="0"/>
          </a:p>
        </p:txBody>
      </p:sp>
      <p:sp>
        <p:nvSpPr>
          <p:cNvPr id="12" name="Text 10"/>
          <p:cNvSpPr/>
          <p:nvPr/>
        </p:nvSpPr>
        <p:spPr>
          <a:xfrm>
            <a:off x="6477000" y="3190180"/>
            <a:ext cx="483997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6E1F0"/>
                </a:solidFill>
                <a:latin typeface="IBM Plex Sans" pitchFamily="34" charset="0"/>
                <a:ea typeface="IBM Plex Sans" pitchFamily="34" charset="-122"/>
                <a:cs typeface="IBM Plex Sans" pitchFamily="34" charset="-120"/>
              </a:rPr>
              <a:t>Rules become a callable service, every obligation gets a tested control, and the same source drives enforcement and analytics.</a:t>
            </a:r>
            <a:endParaRPr lang="en-US" sz="13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E80"/>
                </a:solidFill>
                <a:latin typeface="IBM Plex Mono" pitchFamily="49" charset="0"/>
                <a:ea typeface="IBM Plex Mono" pitchFamily="49" charset="-122"/>
                <a:cs typeface="IBM Plex Mono" pitchFamily="49" charset="-120"/>
              </a:rPr>
              <a:t>PEO Sales Advisor · Storyboard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F6F9"/>
        </a:solidFill>
      </p:bgPr>
    </p:bg>
    <p:spTree>
      <p:nvGrpSpPr>
        <p:cNvPr id="1" name=""/>
        <p:cNvGrpSpPr/>
        <p:nvPr/>
      </p:nvGrpSpPr>
      <p:grpSpPr>
        <a:xfrm>
          <a:off x="0" y="0"/>
          <a:ext cx="0" cy="0"/>
          <a:chOff x="0" y="0"/>
          <a:chExt cx="0" cy="0"/>
        </a:xfrm>
      </p:grpSpPr>
      <p:sp>
        <p:nvSpPr>
          <p:cNvPr id="2" name="Text 0"/>
          <p:cNvSpPr/>
          <p:nvPr/>
        </p:nvSpPr>
        <p:spPr>
          <a:xfrm>
            <a:off x="812800" y="812800"/>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1F6E8C"/>
                </a:solidFill>
                <a:latin typeface="IBM Plex Mono" pitchFamily="49" charset="0"/>
                <a:ea typeface="IBM Plex Mono" pitchFamily="49" charset="-122"/>
                <a:cs typeface="IBM Plex Mono" pitchFamily="49" charset="-120"/>
              </a:rPr>
              <a:t>LINK 5 OF 7 · SEMANTIC AUTHORING</a:t>
            </a:r>
            <a:endParaRPr lang="en-US" sz="1200" dirty="0"/>
          </a:p>
        </p:txBody>
      </p:sp>
      <p:sp>
        <p:nvSpPr>
          <p:cNvPr id="3" name="Text 1"/>
          <p:cNvSpPr/>
          <p:nvPr>
            <p:ph type="title"/>
          </p:nvPr>
        </p:nvSpPr>
        <p:spPr>
          <a:xfrm>
            <a:off x="812800" y="1178520"/>
            <a:ext cx="5258562" cy="584200"/>
          </a:xfrm>
          <a:prstGeom prst="rect">
            <a:avLst/>
          </a:prstGeom>
          <a:noFill/>
          <a:ln/>
        </p:spPr>
        <p:txBody>
          <a:bodyPr wrap="square" lIns="0" tIns="0" rIns="0" bIns="0" rtlCol="0" anchor="t">
            <a:normAutofit/>
          </a:bodyPr>
          <a:lstStyle/>
          <a:p>
            <a:pPr algn="l" indent="0" marL="0">
              <a:lnSpc>
                <a:spcPts val="4400"/>
              </a:lnSpc>
              <a:buNone/>
            </a:pPr>
            <a:r>
              <a:rPr lang="en-US" sz="4400" b="1" i="0" dirty="0">
                <a:solidFill>
                  <a:srgbClr val="16202B"/>
                </a:solidFill>
                <a:latin typeface="Big Shoulders" pitchFamily="34" charset="0"/>
                <a:ea typeface="Big Shoulders" pitchFamily="34" charset="-122"/>
                <a:cs typeface="Big Shoulders" pitchFamily="34" charset="-120"/>
              </a:rPr>
              <a:t>SSOT Editor</a:t>
            </a:r>
            <a:endParaRPr lang="en-US" sz="4400" dirty="0"/>
          </a:p>
        </p:txBody>
      </p:sp>
      <p:sp>
        <p:nvSpPr>
          <p:cNvPr id="4" name="Text 2"/>
          <p:cNvSpPr/>
          <p:nvPr/>
        </p:nvSpPr>
        <p:spPr>
          <a:xfrm>
            <a:off x="812800" y="1889720"/>
            <a:ext cx="5258562"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16202B"/>
                </a:solidFill>
                <a:latin typeface="IBM Plex Mono" pitchFamily="49" charset="0"/>
                <a:ea typeface="IBM Plex Mono" pitchFamily="49" charset="-122"/>
                <a:cs typeface="IBM Plex Mono" pitchFamily="49" charset="-120"/>
                <a:hlinkClick r:id="rId1" invalidUrl="" action="" tgtFrame="" tooltip="" history="1" highlightClick="0" endSnd="0">
                  <a:extLst>
                    <a:ext uri="{A12FA001-AC4F-418D-AE19-62706E023703}">
                      <ahyp:hlinkClr xmlns:ahyp="http://schemas.microsoft.com/office/drawing/2018/hyperlinkcolor" val="tx"/>
                    </a:ext>
                  </a:extLst>
                </a:hlinkClick>
              </a:rPr>
              <a:t>Open the SSOT Editor</a:t>
            </a:r>
            <a:endParaRPr lang="en-US" sz="1200" dirty="0"/>
          </a:p>
        </p:txBody>
      </p:sp>
      <p:sp>
        <p:nvSpPr>
          <p:cNvPr id="5" name="Text 3"/>
          <p:cNvSpPr/>
          <p:nvPr/>
        </p:nvSpPr>
        <p:spPr>
          <a:xfrm>
            <a:off x="812800" y="2255441"/>
            <a:ext cx="5258562"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2A3846"/>
                </a:solidFill>
                <a:latin typeface="IBM Plex Sans" pitchFamily="34" charset="0"/>
                <a:ea typeface="IBM Plex Sans" pitchFamily="34" charset="-122"/>
                <a:cs typeface="IBM Plex Sans" pitchFamily="34" charset="-120"/>
              </a:rPr>
              <a:t>The authoring and governance workbench for rules, constraints, calculations and vocabularies, and the interim sandbox until a formal modeling environment is in place.</a:t>
            </a:r>
            <a:endParaRPr lang="en-US" sz="1500" dirty="0"/>
          </a:p>
        </p:txBody>
      </p:sp>
      <p:sp>
        <p:nvSpPr>
          <p:cNvPr id="6" name="Shape 4"/>
          <p:cNvSpPr/>
          <p:nvPr/>
        </p:nvSpPr>
        <p:spPr>
          <a:xfrm>
            <a:off x="6273800" y="812800"/>
            <a:ext cx="5105400" cy="1701750"/>
          </a:xfrm>
          <a:prstGeom prst="roundRect">
            <a:avLst>
              <a:gd name="adj" fmla="val 4478"/>
            </a:avLst>
          </a:prstGeom>
          <a:solidFill>
            <a:srgbClr val="FCFDFE"/>
          </a:solidFill>
          <a:ln/>
          <a:effectLst>
            <a:outerShdw sx="100000" sy="100000" kx="0" ky="0" algn="bl" rotWithShape="0" blurRad="63500" dist="12700" dir="5400000">
              <a:srgbClr val="16202B">
                <a:alpha val="8000"/>
              </a:srgbClr>
            </a:outerShdw>
          </a:effectLst>
        </p:spPr>
      </p:sp>
      <p:sp>
        <p:nvSpPr>
          <p:cNvPr id="7" name="Shape 5"/>
          <p:cNvSpPr/>
          <p:nvPr/>
        </p:nvSpPr>
        <p:spPr>
          <a:xfrm>
            <a:off x="6273800" y="812800"/>
            <a:ext cx="5105400" cy="1701750"/>
          </a:xfrm>
          <a:custGeom>
            <a:avLst/>
            <a:gdLst/>
            <a:ahLst/>
            <a:cxnLst/>
            <a:rect l="l" t="t" r="r" b="b"/>
            <a:pathLst>
              <a:path w="5105400" h="1701750">
                <a:moveTo>
                  <a:pt x="0" y="76200"/>
                </a:moveTo>
                <a:lnTo>
                  <a:pt x="0" y="76200"/>
                </a:lnTo>
                <a:arcTo hR="76200" wR="76200" stAng="10800000" swAng="5400000"/>
                <a:lnTo>
                  <a:pt x="5029200" y="0"/>
                </a:lnTo>
                <a:arcTo hR="76200" wR="76200" stAng="16200000" swAng="5400000"/>
                <a:lnTo>
                  <a:pt x="5105400" y="76200"/>
                </a:lnTo>
                <a:arcTo hR="25400" wR="76200" stAng="0" swAng="-5400000"/>
                <a:lnTo>
                  <a:pt x="76200" y="50800"/>
                </a:lnTo>
                <a:arcTo hR="25400" wR="76200" stAng="16200000" swAng="-5400000"/>
                <a:close/>
              </a:path>
            </a:pathLst>
          </a:custGeom>
          <a:solidFill>
            <a:srgbClr val="1F6E8C"/>
          </a:solidFill>
          <a:ln/>
        </p:spPr>
      </p:sp>
      <p:sp>
        <p:nvSpPr>
          <p:cNvPr id="8" name="Text 6"/>
          <p:cNvSpPr/>
          <p:nvPr/>
        </p:nvSpPr>
        <p:spPr>
          <a:xfrm>
            <a:off x="6477000" y="1066800"/>
            <a:ext cx="483997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B"/>
                </a:solidFill>
                <a:latin typeface="IBM Plex Sans" pitchFamily="34" charset="0"/>
                <a:ea typeface="IBM Plex Sans" pitchFamily="34" charset="-122"/>
                <a:cs typeface="IBM Plex Sans" pitchFamily="34" charset="-120"/>
              </a:rPr>
              <a:t>What to look at</a:t>
            </a:r>
            <a:endParaRPr lang="en-US" sz="1600" dirty="0"/>
          </a:p>
        </p:txBody>
      </p:sp>
      <p:sp>
        <p:nvSpPr>
          <p:cNvPr id="9" name="Text 7"/>
          <p:cNvSpPr/>
          <p:nvPr/>
        </p:nvSpPr>
        <p:spPr>
          <a:xfrm>
            <a:off x="6562344" y="1386830"/>
            <a:ext cx="4747006" cy="949920"/>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2A3846"/>
                </a:solidFill>
                <a:latin typeface="IBM Plex Sans" pitchFamily="34" charset="0"/>
                <a:ea typeface="IBM Plex Sans" pitchFamily="34" charset="-122"/>
                <a:cs typeface="IBM Plex Sans" pitchFamily="34" charset="-120"/>
              </a:rPr>
              <a:t>The SKOS concept browser for vocabularies and taxonomies</a:t>
            </a:r>
            <a:endParaRPr lang="en-US" sz="1300" dirty="0"/>
          </a:p>
          <a:p>
            <a:pPr algn="l" marL="168656" indent="-168656">
              <a:lnSpc>
                <a:spcPts val="1820"/>
              </a:lnSpc>
              <a:buSzPct val="100000"/>
              <a:buChar char="•"/>
            </a:pPr>
            <a:r>
              <a:rPr lang="en-US" sz="1300" dirty="0">
                <a:solidFill>
                  <a:srgbClr val="2A3846"/>
                </a:solidFill>
                <a:latin typeface="IBM Plex Sans" pitchFamily="34" charset="0"/>
                <a:ea typeface="IBM Plex Sans" pitchFamily="34" charset="-122"/>
                <a:cs typeface="IBM Plex Sans" pitchFamily="34" charset="-120"/>
              </a:rPr>
              <a:t>The dependency map between rules, services and concepts</a:t>
            </a:r>
            <a:endParaRPr lang="en-US" sz="1300" dirty="0"/>
          </a:p>
          <a:p>
            <a:pPr algn="l" marL="168656" indent="-168656">
              <a:lnSpc>
                <a:spcPts val="1820"/>
              </a:lnSpc>
              <a:buSzPct val="100000"/>
              <a:buChar char="•"/>
            </a:pPr>
            <a:r>
              <a:rPr lang="en-US" sz="1300" dirty="0">
                <a:solidFill>
                  <a:srgbClr val="2A3846"/>
                </a:solidFill>
                <a:latin typeface="IBM Plex Sans" pitchFamily="34" charset="0"/>
                <a:ea typeface="IBM Plex Sans" pitchFamily="34" charset="-122"/>
                <a:cs typeface="IBM Plex Sans" pitchFamily="34" charset="-120"/>
              </a:rPr>
              <a:t>The release stepper, CI checks and versioned diffs</a:t>
            </a:r>
            <a:endParaRPr lang="en-US" sz="1300" dirty="0"/>
          </a:p>
        </p:txBody>
      </p:sp>
      <p:sp>
        <p:nvSpPr>
          <p:cNvPr id="10" name="Shape 8"/>
          <p:cNvSpPr/>
          <p:nvPr/>
        </p:nvSpPr>
        <p:spPr>
          <a:xfrm>
            <a:off x="6273800" y="2666950"/>
            <a:ext cx="5105400" cy="1419820"/>
          </a:xfrm>
          <a:prstGeom prst="roundRect">
            <a:avLst>
              <a:gd name="adj" fmla="val 5367"/>
            </a:avLst>
          </a:prstGeom>
          <a:solidFill>
            <a:srgbClr val="1F3A5F"/>
          </a:solidFill>
          <a:ln/>
        </p:spPr>
      </p:sp>
      <p:sp>
        <p:nvSpPr>
          <p:cNvPr id="11" name="Text 9"/>
          <p:cNvSpPr/>
          <p:nvPr/>
        </p:nvSpPr>
        <p:spPr>
          <a:xfrm>
            <a:off x="6477000" y="2870150"/>
            <a:ext cx="483997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AF0F6"/>
                </a:solidFill>
                <a:latin typeface="IBM Plex Sans" pitchFamily="34" charset="0"/>
                <a:ea typeface="IBM Plex Sans" pitchFamily="34" charset="-122"/>
                <a:cs typeface="IBM Plex Sans" pitchFamily="34" charset="-120"/>
              </a:rPr>
              <a:t>Why it matters</a:t>
            </a:r>
            <a:endParaRPr lang="en-US" sz="1600" dirty="0"/>
          </a:p>
        </p:txBody>
      </p:sp>
      <p:sp>
        <p:nvSpPr>
          <p:cNvPr id="12" name="Text 10"/>
          <p:cNvSpPr/>
          <p:nvPr/>
        </p:nvSpPr>
        <p:spPr>
          <a:xfrm>
            <a:off x="6477000" y="3190180"/>
            <a:ext cx="483997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6E1F0"/>
                </a:solidFill>
                <a:latin typeface="IBM Plex Sans" pitchFamily="34" charset="0"/>
                <a:ea typeface="IBM Plex Sans" pitchFamily="34" charset="-122"/>
                <a:cs typeface="IBM Plex Sans" pitchFamily="34" charset="-120"/>
              </a:rPr>
              <a:t>Semantic assets get the same discipline as code: one place to author, review, version and release, with lineage to everything that consumes them.</a:t>
            </a:r>
            <a:endParaRPr lang="en-US" sz="13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E80"/>
                </a:solidFill>
                <a:latin typeface="IBM Plex Mono" pitchFamily="49" charset="0"/>
                <a:ea typeface="IBM Plex Mono" pitchFamily="49" charset="-122"/>
                <a:cs typeface="IBM Plex Mono" pitchFamily="49" charset="-120"/>
              </a:rPr>
              <a:t>PEO Sales Advisor · Storyboard · 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F6F9"/>
        </a:solidFill>
      </p:bgPr>
    </p:bg>
    <p:spTree>
      <p:nvGrpSpPr>
        <p:cNvPr id="1" name=""/>
        <p:cNvGrpSpPr/>
        <p:nvPr/>
      </p:nvGrpSpPr>
      <p:grpSpPr>
        <a:xfrm>
          <a:off x="0" y="0"/>
          <a:ext cx="0" cy="0"/>
          <a:chOff x="0" y="0"/>
          <a:chExt cx="0" cy="0"/>
        </a:xfrm>
      </p:grpSpPr>
      <p:sp>
        <p:nvSpPr>
          <p:cNvPr id="2" name="Text 0"/>
          <p:cNvSpPr/>
          <p:nvPr/>
        </p:nvSpPr>
        <p:spPr>
          <a:xfrm>
            <a:off x="812800" y="812800"/>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1F6E8C"/>
                </a:solidFill>
                <a:latin typeface="IBM Plex Mono" pitchFamily="49" charset="0"/>
                <a:ea typeface="IBM Plex Mono" pitchFamily="49" charset="-122"/>
                <a:cs typeface="IBM Plex Mono" pitchFamily="49" charset="-120"/>
              </a:rPr>
              <a:t>LINK 6 OF 7 · AGENT AND SERVICE REGISTRY</a:t>
            </a:r>
            <a:endParaRPr lang="en-US" sz="1200" dirty="0"/>
          </a:p>
        </p:txBody>
      </p:sp>
      <p:sp>
        <p:nvSpPr>
          <p:cNvPr id="3" name="Text 1"/>
          <p:cNvSpPr/>
          <p:nvPr>
            <p:ph type="title"/>
          </p:nvPr>
        </p:nvSpPr>
        <p:spPr>
          <a:xfrm>
            <a:off x="812800" y="1178520"/>
            <a:ext cx="5258562" cy="584200"/>
          </a:xfrm>
          <a:prstGeom prst="rect">
            <a:avLst/>
          </a:prstGeom>
          <a:noFill/>
          <a:ln/>
        </p:spPr>
        <p:txBody>
          <a:bodyPr wrap="square" lIns="0" tIns="0" rIns="0" bIns="0" rtlCol="0" anchor="t">
            <a:normAutofit/>
          </a:bodyPr>
          <a:lstStyle/>
          <a:p>
            <a:pPr algn="l" indent="0" marL="0">
              <a:lnSpc>
                <a:spcPts val="4400"/>
              </a:lnSpc>
              <a:buNone/>
            </a:pPr>
            <a:r>
              <a:rPr lang="en-US" sz="4400" b="1" i="0" dirty="0">
                <a:solidFill>
                  <a:srgbClr val="16202B"/>
                </a:solidFill>
                <a:latin typeface="Big Shoulders" pitchFamily="34" charset="0"/>
                <a:ea typeface="Big Shoulders" pitchFamily="34" charset="-122"/>
                <a:cs typeface="Big Shoulders" pitchFamily="34" charset="-120"/>
              </a:rPr>
              <a:t>Agent Editor</a:t>
            </a:r>
            <a:endParaRPr lang="en-US" sz="4400" dirty="0"/>
          </a:p>
        </p:txBody>
      </p:sp>
      <p:sp>
        <p:nvSpPr>
          <p:cNvPr id="4" name="Text 2"/>
          <p:cNvSpPr/>
          <p:nvPr/>
        </p:nvSpPr>
        <p:spPr>
          <a:xfrm>
            <a:off x="812800" y="1889720"/>
            <a:ext cx="5258562"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16202B"/>
                </a:solidFill>
                <a:latin typeface="IBM Plex Mono" pitchFamily="49" charset="0"/>
                <a:ea typeface="IBM Plex Mono" pitchFamily="49" charset="-122"/>
                <a:cs typeface="IBM Plex Mono" pitchFamily="49" charset="-120"/>
                <a:hlinkClick r:id="rId1" invalidUrl="" action="" tgtFrame="" tooltip="" history="1" highlightClick="0" endSnd="0">
                  <a:extLst>
                    <a:ext uri="{A12FA001-AC4F-418D-AE19-62706E023703}">
                      <ahyp:hlinkClr xmlns:ahyp="http://schemas.microsoft.com/office/drawing/2018/hyperlinkcolor" val="tx"/>
                    </a:ext>
                  </a:extLst>
                </a:hlinkClick>
              </a:rPr>
              <a:t>Open the Agent Editor</a:t>
            </a:r>
            <a:endParaRPr lang="en-US" sz="1200" dirty="0"/>
          </a:p>
        </p:txBody>
      </p:sp>
      <p:sp>
        <p:nvSpPr>
          <p:cNvPr id="5" name="Text 3"/>
          <p:cNvSpPr/>
          <p:nvPr/>
        </p:nvSpPr>
        <p:spPr>
          <a:xfrm>
            <a:off x="812800" y="2255441"/>
            <a:ext cx="5258562"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2A3846"/>
                </a:solidFill>
                <a:latin typeface="IBM Plex Sans" pitchFamily="34" charset="0"/>
                <a:ea typeface="IBM Plex Sans" pitchFamily="34" charset="-122"/>
                <a:cs typeface="IBM Plex Sans" pitchFamily="34" charset="-120"/>
              </a:rPr>
              <a:t>One governed registry for the 38 agents, the advisor's front door and the 25 microservices they call: edit, check against the SSOT, see the generated code, and release.</a:t>
            </a:r>
            <a:endParaRPr lang="en-US" sz="1500" dirty="0"/>
          </a:p>
        </p:txBody>
      </p:sp>
      <p:sp>
        <p:nvSpPr>
          <p:cNvPr id="6" name="Shape 4"/>
          <p:cNvSpPr/>
          <p:nvPr/>
        </p:nvSpPr>
        <p:spPr>
          <a:xfrm>
            <a:off x="6273800" y="812800"/>
            <a:ext cx="5105400" cy="1932880"/>
          </a:xfrm>
          <a:prstGeom prst="roundRect">
            <a:avLst>
              <a:gd name="adj" fmla="val 3942"/>
            </a:avLst>
          </a:prstGeom>
          <a:solidFill>
            <a:srgbClr val="FCFDFE"/>
          </a:solidFill>
          <a:ln/>
          <a:effectLst>
            <a:outerShdw sx="100000" sy="100000" kx="0" ky="0" algn="bl" rotWithShape="0" blurRad="63500" dist="12700" dir="5400000">
              <a:srgbClr val="16202B">
                <a:alpha val="8000"/>
              </a:srgbClr>
            </a:outerShdw>
          </a:effectLst>
        </p:spPr>
      </p:sp>
      <p:sp>
        <p:nvSpPr>
          <p:cNvPr id="7" name="Shape 5"/>
          <p:cNvSpPr/>
          <p:nvPr/>
        </p:nvSpPr>
        <p:spPr>
          <a:xfrm>
            <a:off x="6273800" y="812800"/>
            <a:ext cx="5105400" cy="1932880"/>
          </a:xfrm>
          <a:custGeom>
            <a:avLst/>
            <a:gdLst/>
            <a:ahLst/>
            <a:cxnLst/>
            <a:rect l="l" t="t" r="r" b="b"/>
            <a:pathLst>
              <a:path w="5105400" h="1932880">
                <a:moveTo>
                  <a:pt x="0" y="76200"/>
                </a:moveTo>
                <a:lnTo>
                  <a:pt x="0" y="76200"/>
                </a:lnTo>
                <a:arcTo hR="76200" wR="76200" stAng="10800000" swAng="5400000"/>
                <a:lnTo>
                  <a:pt x="5029200" y="0"/>
                </a:lnTo>
                <a:arcTo hR="76200" wR="76200" stAng="16200000" swAng="5400000"/>
                <a:lnTo>
                  <a:pt x="5105400" y="76200"/>
                </a:lnTo>
                <a:arcTo hR="25400" wR="76200" stAng="0" swAng="-5400000"/>
                <a:lnTo>
                  <a:pt x="76200" y="50800"/>
                </a:lnTo>
                <a:arcTo hR="25400" wR="76200" stAng="16200000" swAng="-5400000"/>
                <a:close/>
              </a:path>
            </a:pathLst>
          </a:custGeom>
          <a:solidFill>
            <a:srgbClr val="1F6E8C"/>
          </a:solidFill>
          <a:ln/>
        </p:spPr>
      </p:sp>
      <p:sp>
        <p:nvSpPr>
          <p:cNvPr id="8" name="Text 6"/>
          <p:cNvSpPr/>
          <p:nvPr/>
        </p:nvSpPr>
        <p:spPr>
          <a:xfrm>
            <a:off x="6477000" y="1066800"/>
            <a:ext cx="483997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B"/>
                </a:solidFill>
                <a:latin typeface="IBM Plex Sans" pitchFamily="34" charset="0"/>
                <a:ea typeface="IBM Plex Sans" pitchFamily="34" charset="-122"/>
                <a:cs typeface="IBM Plex Sans" pitchFamily="34" charset="-120"/>
              </a:rPr>
              <a:t>What to look at</a:t>
            </a:r>
            <a:endParaRPr lang="en-US" sz="1600" dirty="0"/>
          </a:p>
        </p:txBody>
      </p:sp>
      <p:sp>
        <p:nvSpPr>
          <p:cNvPr id="9" name="Text 7"/>
          <p:cNvSpPr/>
          <p:nvPr/>
        </p:nvSpPr>
        <p:spPr>
          <a:xfrm>
            <a:off x="6562344" y="1386830"/>
            <a:ext cx="4747006" cy="1181050"/>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2A3846"/>
                </a:solidFill>
                <a:latin typeface="IBM Plex Sans" pitchFamily="34" charset="0"/>
                <a:ea typeface="IBM Plex Sans" pitchFamily="34" charset="-122"/>
                <a:cs typeface="IBM Plex Sans" pitchFamily="34" charset="-120"/>
              </a:rPr>
              <a:t>Overview: how the agents run in Copilot, declarative or Foundry-hosted</a:t>
            </a:r>
            <a:endParaRPr lang="en-US" sz="1300" dirty="0"/>
          </a:p>
          <a:p>
            <a:pPr algn="l" marL="168656" indent="-168656">
              <a:lnSpc>
                <a:spcPts val="1820"/>
              </a:lnSpc>
              <a:buSzPct val="100000"/>
              <a:buChar char="•"/>
            </a:pPr>
            <a:r>
              <a:rPr lang="en-US" sz="1300" dirty="0">
                <a:solidFill>
                  <a:srgbClr val="2A3846"/>
                </a:solidFill>
                <a:latin typeface="IBM Plex Sans" pitchFamily="34" charset="0"/>
                <a:ea typeface="IBM Plex Sans" pitchFamily="34" charset="-122"/>
                <a:cs typeface="IBM Plex Sans" pitchFamily="34" charset="-120"/>
              </a:rPr>
              <a:t>Agents and Microservices: inputs, outputs, autonomy, SSOT links</a:t>
            </a:r>
            <a:endParaRPr lang="en-US" sz="1300" dirty="0"/>
          </a:p>
          <a:p>
            <a:pPr algn="l" marL="168656" indent="-168656">
              <a:lnSpc>
                <a:spcPts val="1820"/>
              </a:lnSpc>
              <a:buSzPct val="100000"/>
              <a:buChar char="•"/>
            </a:pPr>
            <a:r>
              <a:rPr lang="en-US" sz="1300" dirty="0">
                <a:solidFill>
                  <a:srgbClr val="2A3846"/>
                </a:solidFill>
                <a:latin typeface="IBM Plex Sans" pitchFamily="34" charset="0"/>
                <a:ea typeface="IBM Plex Sans" pitchFamily="34" charset="-122"/>
                <a:cs typeface="IBM Plex Sans" pitchFamily="34" charset="-120"/>
              </a:rPr>
              <a:t>Change requests: severity and the release path</a:t>
            </a:r>
            <a:endParaRPr lang="en-US" sz="1300" dirty="0"/>
          </a:p>
        </p:txBody>
      </p:sp>
      <p:sp>
        <p:nvSpPr>
          <p:cNvPr id="10" name="Shape 8"/>
          <p:cNvSpPr/>
          <p:nvPr/>
        </p:nvSpPr>
        <p:spPr>
          <a:xfrm>
            <a:off x="6273800" y="2898080"/>
            <a:ext cx="5105400" cy="1419820"/>
          </a:xfrm>
          <a:prstGeom prst="roundRect">
            <a:avLst>
              <a:gd name="adj" fmla="val 5367"/>
            </a:avLst>
          </a:prstGeom>
          <a:solidFill>
            <a:srgbClr val="1F3A5F"/>
          </a:solidFill>
          <a:ln/>
        </p:spPr>
      </p:sp>
      <p:sp>
        <p:nvSpPr>
          <p:cNvPr id="11" name="Text 9"/>
          <p:cNvSpPr/>
          <p:nvPr/>
        </p:nvSpPr>
        <p:spPr>
          <a:xfrm>
            <a:off x="6477000" y="3101280"/>
            <a:ext cx="483997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AF0F6"/>
                </a:solidFill>
                <a:latin typeface="IBM Plex Sans" pitchFamily="34" charset="0"/>
                <a:ea typeface="IBM Plex Sans" pitchFamily="34" charset="-122"/>
                <a:cs typeface="IBM Plex Sans" pitchFamily="34" charset="-120"/>
              </a:rPr>
              <a:t>Why it matters</a:t>
            </a:r>
            <a:endParaRPr lang="en-US" sz="1600" dirty="0"/>
          </a:p>
        </p:txBody>
      </p:sp>
      <p:sp>
        <p:nvSpPr>
          <p:cNvPr id="12" name="Text 10"/>
          <p:cNvSpPr/>
          <p:nvPr/>
        </p:nvSpPr>
        <p:spPr>
          <a:xfrm>
            <a:off x="6477000" y="3421311"/>
            <a:ext cx="483997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6E1F0"/>
                </a:solidFill>
                <a:latin typeface="IBM Plex Sans" pitchFamily="34" charset="0"/>
                <a:ea typeface="IBM Plex Sans" pitchFamily="34" charset="-122"/>
                <a:cs typeface="IBM Plex Sans" pitchFamily="34" charset="-120"/>
              </a:rPr>
              <a:t>Agents are governed like controls. The Microsoft stack is the deployment target, not where the semantics live, so the Keel stays portable.</a:t>
            </a:r>
            <a:endParaRPr lang="en-US" sz="13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E80"/>
                </a:solidFill>
                <a:latin typeface="IBM Plex Mono" pitchFamily="49" charset="0"/>
                <a:ea typeface="IBM Plex Mono" pitchFamily="49" charset="-122"/>
                <a:cs typeface="IBM Plex Mono" pitchFamily="49" charset="-120"/>
              </a:rPr>
              <a:t>PEO Sales Advisor · Storyboard · 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3F6F9"/>
        </a:solidFill>
      </p:bgPr>
    </p:bg>
    <p:spTree>
      <p:nvGrpSpPr>
        <p:cNvPr id="1" name=""/>
        <p:cNvGrpSpPr/>
        <p:nvPr/>
      </p:nvGrpSpPr>
      <p:grpSpPr>
        <a:xfrm>
          <a:off x="0" y="0"/>
          <a:ext cx="0" cy="0"/>
          <a:chOff x="0" y="0"/>
          <a:chExt cx="0" cy="0"/>
        </a:xfrm>
      </p:grpSpPr>
      <p:sp>
        <p:nvSpPr>
          <p:cNvPr id="2" name="Text 0"/>
          <p:cNvSpPr/>
          <p:nvPr/>
        </p:nvSpPr>
        <p:spPr>
          <a:xfrm>
            <a:off x="812800" y="812800"/>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1F6E8C"/>
                </a:solidFill>
                <a:latin typeface="IBM Plex Mono" pitchFamily="49" charset="0"/>
                <a:ea typeface="IBM Plex Mono" pitchFamily="49" charset="-122"/>
                <a:cs typeface="IBM Plex Mono" pitchFamily="49" charset="-120"/>
              </a:rPr>
              <a:t>LINK 7 OF 7 · DELIVERY GOVERNANCE</a:t>
            </a:r>
            <a:endParaRPr lang="en-US" sz="1200" dirty="0"/>
          </a:p>
        </p:txBody>
      </p:sp>
      <p:sp>
        <p:nvSpPr>
          <p:cNvPr id="3" name="Text 1"/>
          <p:cNvSpPr/>
          <p:nvPr>
            <p:ph type="title"/>
          </p:nvPr>
        </p:nvSpPr>
        <p:spPr>
          <a:xfrm>
            <a:off x="812800" y="1178520"/>
            <a:ext cx="5258562" cy="1143000"/>
          </a:xfrm>
          <a:prstGeom prst="rect">
            <a:avLst/>
          </a:prstGeom>
          <a:noFill/>
          <a:ln/>
        </p:spPr>
        <p:txBody>
          <a:bodyPr wrap="square" lIns="0" tIns="0" rIns="0" bIns="0" rtlCol="0" anchor="t">
            <a:normAutofit/>
          </a:bodyPr>
          <a:lstStyle/>
          <a:p>
            <a:pPr algn="l" indent="0" marL="0">
              <a:lnSpc>
                <a:spcPts val="4400"/>
              </a:lnSpc>
              <a:buNone/>
            </a:pPr>
            <a:r>
              <a:rPr lang="en-US" sz="4400" b="1" i="0" dirty="0">
                <a:solidFill>
                  <a:srgbClr val="16202B"/>
                </a:solidFill>
                <a:latin typeface="Big Shoulders" pitchFamily="34" charset="0"/>
                <a:ea typeface="Big Shoulders" pitchFamily="34" charset="-122"/>
                <a:cs typeface="Big Shoulders" pitchFamily="34" charset="-120"/>
              </a:rPr>
              <a:t>PLM Lifecycle Dashboard</a:t>
            </a:r>
            <a:endParaRPr lang="en-US" sz="4400" dirty="0"/>
          </a:p>
        </p:txBody>
      </p:sp>
      <p:sp>
        <p:nvSpPr>
          <p:cNvPr id="4" name="Text 2"/>
          <p:cNvSpPr/>
          <p:nvPr/>
        </p:nvSpPr>
        <p:spPr>
          <a:xfrm>
            <a:off x="812800" y="2448520"/>
            <a:ext cx="5258562"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16202B"/>
                </a:solidFill>
                <a:latin typeface="IBM Plex Mono" pitchFamily="49" charset="0"/>
                <a:ea typeface="IBM Plex Mono" pitchFamily="49" charset="-122"/>
                <a:cs typeface="IBM Plex Mono" pitchFamily="49" charset="-120"/>
                <a:hlinkClick r:id="rId1" invalidUrl="" action="" tgtFrame="" tooltip="" history="1" highlightClick="0" endSnd="0">
                  <a:extLst>
                    <a:ext uri="{A12FA001-AC4F-418D-AE19-62706E023703}">
                      <ahyp:hlinkClr xmlns:ahyp="http://schemas.microsoft.com/office/drawing/2018/hyperlinkcolor" val="tx"/>
                    </a:ext>
                  </a:extLst>
                </a:hlinkClick>
              </a:rPr>
              <a:t>Open the PLM dashboard</a:t>
            </a:r>
            <a:endParaRPr lang="en-US" sz="1200" dirty="0"/>
          </a:p>
        </p:txBody>
      </p:sp>
      <p:sp>
        <p:nvSpPr>
          <p:cNvPr id="5" name="Text 3"/>
          <p:cNvSpPr/>
          <p:nvPr/>
        </p:nvSpPr>
        <p:spPr>
          <a:xfrm>
            <a:off x="812800" y="2814241"/>
            <a:ext cx="5258562"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2A3846"/>
                </a:solidFill>
                <a:latin typeface="IBM Plex Sans" pitchFamily="34" charset="0"/>
                <a:ea typeface="IBM Plex Sans" pitchFamily="34" charset="-122"/>
                <a:cs typeface="IBM Plex Sans" pitchFamily="34" charset="-120"/>
              </a:rPr>
              <a:t>The delivery plan for the eight component sets: overlapping phases with buffers and gates, scored for impact and risk against business value and persona outcomes.</a:t>
            </a:r>
            <a:endParaRPr lang="en-US" sz="1500" dirty="0"/>
          </a:p>
        </p:txBody>
      </p:sp>
      <p:sp>
        <p:nvSpPr>
          <p:cNvPr id="6" name="Shape 4"/>
          <p:cNvSpPr/>
          <p:nvPr/>
        </p:nvSpPr>
        <p:spPr>
          <a:xfrm>
            <a:off x="6273800" y="812800"/>
            <a:ext cx="5105400" cy="1932880"/>
          </a:xfrm>
          <a:prstGeom prst="roundRect">
            <a:avLst>
              <a:gd name="adj" fmla="val 3942"/>
            </a:avLst>
          </a:prstGeom>
          <a:solidFill>
            <a:srgbClr val="FCFDFE"/>
          </a:solidFill>
          <a:ln/>
          <a:effectLst>
            <a:outerShdw sx="100000" sy="100000" kx="0" ky="0" algn="bl" rotWithShape="0" blurRad="63500" dist="12700" dir="5400000">
              <a:srgbClr val="16202B">
                <a:alpha val="8000"/>
              </a:srgbClr>
            </a:outerShdw>
          </a:effectLst>
        </p:spPr>
      </p:sp>
      <p:sp>
        <p:nvSpPr>
          <p:cNvPr id="7" name="Shape 5"/>
          <p:cNvSpPr/>
          <p:nvPr/>
        </p:nvSpPr>
        <p:spPr>
          <a:xfrm>
            <a:off x="6273800" y="812800"/>
            <a:ext cx="5105400" cy="1932880"/>
          </a:xfrm>
          <a:custGeom>
            <a:avLst/>
            <a:gdLst/>
            <a:ahLst/>
            <a:cxnLst/>
            <a:rect l="l" t="t" r="r" b="b"/>
            <a:pathLst>
              <a:path w="5105400" h="1932880">
                <a:moveTo>
                  <a:pt x="0" y="76200"/>
                </a:moveTo>
                <a:lnTo>
                  <a:pt x="0" y="76200"/>
                </a:lnTo>
                <a:arcTo hR="76200" wR="76200" stAng="10800000" swAng="5400000"/>
                <a:lnTo>
                  <a:pt x="5029200" y="0"/>
                </a:lnTo>
                <a:arcTo hR="76200" wR="76200" stAng="16200000" swAng="5400000"/>
                <a:lnTo>
                  <a:pt x="5105400" y="76200"/>
                </a:lnTo>
                <a:arcTo hR="25400" wR="76200" stAng="0" swAng="-5400000"/>
                <a:lnTo>
                  <a:pt x="76200" y="50800"/>
                </a:lnTo>
                <a:arcTo hR="25400" wR="76200" stAng="16200000" swAng="-5400000"/>
                <a:close/>
              </a:path>
            </a:pathLst>
          </a:custGeom>
          <a:solidFill>
            <a:srgbClr val="1F6E8C"/>
          </a:solidFill>
          <a:ln/>
        </p:spPr>
      </p:sp>
      <p:sp>
        <p:nvSpPr>
          <p:cNvPr id="8" name="Text 6"/>
          <p:cNvSpPr/>
          <p:nvPr/>
        </p:nvSpPr>
        <p:spPr>
          <a:xfrm>
            <a:off x="6477000" y="1066800"/>
            <a:ext cx="483997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B"/>
                </a:solidFill>
                <a:latin typeface="IBM Plex Sans" pitchFamily="34" charset="0"/>
                <a:ea typeface="IBM Plex Sans" pitchFamily="34" charset="-122"/>
                <a:cs typeface="IBM Plex Sans" pitchFamily="34" charset="-120"/>
              </a:rPr>
              <a:t>What to look at</a:t>
            </a:r>
            <a:endParaRPr lang="en-US" sz="1600" dirty="0"/>
          </a:p>
        </p:txBody>
      </p:sp>
      <p:sp>
        <p:nvSpPr>
          <p:cNvPr id="9" name="Text 7"/>
          <p:cNvSpPr/>
          <p:nvPr/>
        </p:nvSpPr>
        <p:spPr>
          <a:xfrm>
            <a:off x="6562344" y="1386830"/>
            <a:ext cx="4747006" cy="1181050"/>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2A3846"/>
                </a:solidFill>
                <a:latin typeface="IBM Plex Sans" pitchFamily="34" charset="0"/>
                <a:ea typeface="IBM Plex Sans" pitchFamily="34" charset="-122"/>
                <a:cs typeface="IBM Plex Sans" pitchFamily="34" charset="-120"/>
              </a:rPr>
              <a:t>Roadmap: dependencies, critical path and a slip control</a:t>
            </a:r>
            <a:endParaRPr lang="en-US" sz="1300" dirty="0"/>
          </a:p>
          <a:p>
            <a:pPr algn="l" marL="168656" indent="-168656">
              <a:lnSpc>
                <a:spcPts val="1820"/>
              </a:lnSpc>
              <a:buSzPct val="100000"/>
              <a:buChar char="•"/>
            </a:pPr>
            <a:r>
              <a:rPr lang="en-US" sz="1300" dirty="0">
                <a:solidFill>
                  <a:srgbClr val="2A3846"/>
                </a:solidFill>
                <a:latin typeface="IBM Plex Sans" pitchFamily="34" charset="0"/>
                <a:ea typeface="IBM Plex Sans" pitchFamily="34" charset="-122"/>
                <a:cs typeface="IBM Plex Sans" pitchFamily="34" charset="-120"/>
              </a:rPr>
              <a:t>Impact and risk: which job steps depend on which components</a:t>
            </a:r>
            <a:endParaRPr lang="en-US" sz="1300" dirty="0"/>
          </a:p>
          <a:p>
            <a:pPr algn="l" marL="168656" indent="-168656">
              <a:lnSpc>
                <a:spcPts val="1820"/>
              </a:lnSpc>
              <a:buSzPct val="100000"/>
              <a:buChar char="•"/>
            </a:pPr>
            <a:r>
              <a:rPr lang="en-US" sz="1300" dirty="0">
                <a:solidFill>
                  <a:srgbClr val="2A3846"/>
                </a:solidFill>
                <a:latin typeface="IBM Plex Sans" pitchFamily="34" charset="0"/>
                <a:ea typeface="IBM Plex Sans" pitchFamily="34" charset="-122"/>
                <a:cs typeface="IBM Plex Sans" pitchFamily="34" charset="-120"/>
              </a:rPr>
              <a:t>Lifecycle gates, readiness gaps and the proposed Go / No-Go rule</a:t>
            </a:r>
            <a:endParaRPr lang="en-US" sz="1300" dirty="0"/>
          </a:p>
        </p:txBody>
      </p:sp>
      <p:sp>
        <p:nvSpPr>
          <p:cNvPr id="10" name="Shape 8"/>
          <p:cNvSpPr/>
          <p:nvPr/>
        </p:nvSpPr>
        <p:spPr>
          <a:xfrm>
            <a:off x="6273800" y="2898080"/>
            <a:ext cx="5105400" cy="1419820"/>
          </a:xfrm>
          <a:prstGeom prst="roundRect">
            <a:avLst>
              <a:gd name="adj" fmla="val 5367"/>
            </a:avLst>
          </a:prstGeom>
          <a:solidFill>
            <a:srgbClr val="1F3A5F"/>
          </a:solidFill>
          <a:ln/>
        </p:spPr>
      </p:sp>
      <p:sp>
        <p:nvSpPr>
          <p:cNvPr id="11" name="Text 9"/>
          <p:cNvSpPr/>
          <p:nvPr/>
        </p:nvSpPr>
        <p:spPr>
          <a:xfrm>
            <a:off x="6477000" y="3101280"/>
            <a:ext cx="483997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AF0F6"/>
                </a:solidFill>
                <a:latin typeface="IBM Plex Sans" pitchFamily="34" charset="0"/>
                <a:ea typeface="IBM Plex Sans" pitchFamily="34" charset="-122"/>
                <a:cs typeface="IBM Plex Sans" pitchFamily="34" charset="-120"/>
              </a:rPr>
              <a:t>Why it matters</a:t>
            </a:r>
            <a:endParaRPr lang="en-US" sz="1600" dirty="0"/>
          </a:p>
        </p:txBody>
      </p:sp>
      <p:sp>
        <p:nvSpPr>
          <p:cNvPr id="12" name="Text 10"/>
          <p:cNvSpPr/>
          <p:nvPr/>
        </p:nvSpPr>
        <p:spPr>
          <a:xfrm>
            <a:off x="6477000" y="3421311"/>
            <a:ext cx="483997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6E1F0"/>
                </a:solidFill>
                <a:latin typeface="IBM Plex Sans" pitchFamily="34" charset="0"/>
                <a:ea typeface="IBM Plex Sans" pitchFamily="34" charset="-122"/>
                <a:cs typeface="IBM Plex Sans" pitchFamily="34" charset="-120"/>
              </a:rPr>
              <a:t>The build is governed too: every schedule risk is stated as the persona outcomes and decisions it puts at risk, not only as dates.</a:t>
            </a:r>
            <a:endParaRPr lang="en-US" sz="13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E80"/>
                </a:solidFill>
                <a:latin typeface="IBM Plex Mono" pitchFamily="49" charset="0"/>
                <a:ea typeface="IBM Plex Mono" pitchFamily="49" charset="-122"/>
                <a:cs typeface="IBM Plex Mono" pitchFamily="49" charset="-120"/>
              </a:rPr>
              <a:t>PEO Sales Advisor · Storyboard · 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BFCF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1F6E8C"/>
                </a:solidFill>
                <a:latin typeface="IBM Plex Mono" pitchFamily="49" charset="0"/>
                <a:ea typeface="IBM Plex Mono" pitchFamily="49" charset="-122"/>
                <a:cs typeface="IBM Plex Mono" pitchFamily="49" charset="-120"/>
              </a:rPr>
              <a:t>ROADMAP</a:t>
            </a:r>
            <a:endParaRPr lang="en-US" sz="1200" dirty="0"/>
          </a:p>
        </p:txBody>
      </p:sp>
      <p:sp>
        <p:nvSpPr>
          <p:cNvPr id="3" name="Text 1"/>
          <p:cNvSpPr/>
          <p:nvPr>
            <p:ph type="title"/>
          </p:nvPr>
        </p:nvSpPr>
        <p:spPr>
          <a:xfrm>
            <a:off x="812800" y="110232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6202B"/>
                </a:solidFill>
                <a:latin typeface="Big Shoulders" pitchFamily="34" charset="0"/>
                <a:ea typeface="Big Shoulders" pitchFamily="34" charset="-122"/>
                <a:cs typeface="Big Shoulders" pitchFamily="34" charset="-120"/>
              </a:rPr>
              <a:t>Four gated phases, Keel first in each</a:t>
            </a:r>
            <a:endParaRPr lang="en-US" sz="3600" dirty="0"/>
          </a:p>
        </p:txBody>
      </p:sp>
      <p:sp>
        <p:nvSpPr>
          <p:cNvPr id="4" name="Shape 2"/>
          <p:cNvSpPr/>
          <p:nvPr/>
        </p:nvSpPr>
        <p:spPr>
          <a:xfrm>
            <a:off x="812800" y="1785541"/>
            <a:ext cx="2527300" cy="2717701"/>
          </a:xfrm>
          <a:prstGeom prst="roundRect">
            <a:avLst>
              <a:gd name="adj" fmla="val 3015"/>
            </a:avLst>
          </a:prstGeom>
          <a:solidFill>
            <a:srgbClr val="FCFDFE"/>
          </a:solidFill>
          <a:ln/>
          <a:effectLst>
            <a:outerShdw sx="100000" sy="100000" kx="0" ky="0" algn="bl" rotWithShape="0" blurRad="63500" dist="12700" dir="5400000">
              <a:srgbClr val="16202B">
                <a:alpha val="8000"/>
              </a:srgbClr>
            </a:outerShdw>
          </a:effectLst>
        </p:spPr>
      </p:sp>
      <p:sp>
        <p:nvSpPr>
          <p:cNvPr id="5" name="Shape 3"/>
          <p:cNvSpPr/>
          <p:nvPr/>
        </p:nvSpPr>
        <p:spPr>
          <a:xfrm>
            <a:off x="812800" y="1785541"/>
            <a:ext cx="2527300" cy="2717701"/>
          </a:xfrm>
          <a:custGeom>
            <a:avLst/>
            <a:gdLst/>
            <a:ahLst/>
            <a:cxnLst/>
            <a:rect l="l" t="t" r="r" b="b"/>
            <a:pathLst>
              <a:path w="2527300" h="2717701">
                <a:moveTo>
                  <a:pt x="0" y="76200"/>
                </a:moveTo>
                <a:lnTo>
                  <a:pt x="0" y="76200"/>
                </a:lnTo>
                <a:arcTo hR="76200" wR="76200" stAng="10800000" swAng="5400000"/>
                <a:lnTo>
                  <a:pt x="2451100" y="0"/>
                </a:lnTo>
                <a:arcTo hR="76200" wR="76200" stAng="16200000" swAng="5400000"/>
                <a:lnTo>
                  <a:pt x="2527300" y="76200"/>
                </a:lnTo>
                <a:arcTo hR="25400" wR="76200" stAng="0" swAng="-5400000"/>
                <a:lnTo>
                  <a:pt x="76200" y="50800"/>
                </a:lnTo>
                <a:arcTo hR="25400" wR="76200" stAng="16200000" swAng="-5400000"/>
                <a:close/>
              </a:path>
            </a:pathLst>
          </a:custGeom>
          <a:solidFill>
            <a:srgbClr val="1F6E8C"/>
          </a:solidFill>
          <a:ln/>
        </p:spPr>
      </p:sp>
      <p:sp>
        <p:nvSpPr>
          <p:cNvPr id="6" name="Text 4"/>
          <p:cNvSpPr/>
          <p:nvPr/>
        </p:nvSpPr>
        <p:spPr>
          <a:xfrm>
            <a:off x="990600" y="2014141"/>
            <a:ext cx="223685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E8C"/>
                </a:solidFill>
                <a:latin typeface="IBM Plex Mono" pitchFamily="49" charset="0"/>
                <a:ea typeface="IBM Plex Mono" pitchFamily="49" charset="-122"/>
                <a:cs typeface="IBM Plex Mono" pitchFamily="49" charset="-120"/>
              </a:rPr>
              <a:t>P0</a:t>
            </a:r>
            <a:endParaRPr lang="en-US" sz="1200" dirty="0"/>
          </a:p>
        </p:txBody>
      </p:sp>
      <p:sp>
        <p:nvSpPr>
          <p:cNvPr id="7" name="Text 5"/>
          <p:cNvSpPr/>
          <p:nvPr/>
        </p:nvSpPr>
        <p:spPr>
          <a:xfrm>
            <a:off x="990600" y="2303661"/>
            <a:ext cx="223685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02B"/>
                </a:solidFill>
                <a:latin typeface="IBM Plex Sans" pitchFamily="34" charset="0"/>
                <a:ea typeface="IBM Plex Sans" pitchFamily="34" charset="-122"/>
                <a:cs typeface="IBM Plex Sans" pitchFamily="34" charset="-120"/>
              </a:rPr>
              <a:t>Keel foundations</a:t>
            </a:r>
            <a:endParaRPr lang="en-US" sz="1500" dirty="0"/>
          </a:p>
        </p:txBody>
      </p:sp>
      <p:sp>
        <p:nvSpPr>
          <p:cNvPr id="8" name="Text 6"/>
          <p:cNvSpPr/>
          <p:nvPr/>
        </p:nvSpPr>
        <p:spPr>
          <a:xfrm>
            <a:off x="990600" y="2608461"/>
            <a:ext cx="2236851"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A5A"/>
                </a:solidFill>
                <a:latin typeface="IBM Plex Sans" pitchFamily="34" charset="0"/>
                <a:ea typeface="IBM Plex Sans" pitchFamily="34" charset="-122"/>
                <a:cs typeface="IBM Plex Sans" pitchFamily="34" charset="-120"/>
              </a:rPr>
              <a:t>Personas, jobs and outcomes; isp-sal and isp-cnt; SKOS vocabularies; EXT-001 to 008.</a:t>
            </a:r>
            <a:endParaRPr lang="en-US" sz="1200" dirty="0"/>
          </a:p>
        </p:txBody>
      </p:sp>
      <p:sp>
        <p:nvSpPr>
          <p:cNvPr id="9" name="Text 7"/>
          <p:cNvSpPr/>
          <p:nvPr/>
        </p:nvSpPr>
        <p:spPr>
          <a:xfrm>
            <a:off x="990600" y="3301851"/>
            <a:ext cx="2171700" cy="1000720"/>
          </a:xfrm>
          <a:prstGeom prst="roundRect">
            <a:avLst>
              <a:gd name="adj" fmla="val 5076"/>
            </a:avLst>
          </a:prstGeom>
          <a:solidFill>
            <a:srgbClr val="E3EFF3"/>
          </a:solidFill>
          <a:ln/>
        </p:spPr>
        <p:txBody>
          <a:bodyPr wrap="square" lIns="74021" tIns="74021" rIns="14204" bIns="48621" rtlCol="0" anchor="t">
            <a:normAutofit/>
          </a:bodyPr>
          <a:lstStyle/>
          <a:p>
            <a:pPr algn="l" indent="0" marL="0">
              <a:lnSpc>
                <a:spcPts val="1620"/>
              </a:lnSpc>
              <a:buNone/>
            </a:pPr>
            <a:r>
              <a:rPr lang="en-US" sz="1200" b="1" dirty="0">
                <a:solidFill>
                  <a:srgbClr val="16202B"/>
                </a:solidFill>
                <a:latin typeface="IBM Plex Sans" pitchFamily="34" charset="0"/>
                <a:ea typeface="IBM Plex Sans" pitchFamily="34" charset="-122"/>
                <a:cs typeface="IBM Plex Sans" pitchFamily="34" charset="-120"/>
              </a:rPr>
              <a:t>Gate:</a:t>
            </a:r>
            <a:r>
              <a:rPr lang="en-US" sz="1200" dirty="0">
                <a:solidFill>
                  <a:srgbClr val="16202B"/>
                </a:solidFill>
                <a:latin typeface="IBM Plex Sans" pitchFamily="34" charset="0"/>
                <a:ea typeface="IBM Plex Sans" pitchFamily="34" charset="-122"/>
                <a:cs typeface="IBM Plex Sans" pitchFamily="34" charset="-120"/>
              </a:rPr>
              <a:t> ontologies Released; 12 job steps with measurable outcomes; rules pass scenario tests.</a:t>
            </a:r>
            <a:endParaRPr lang="en-US" sz="1200" dirty="0"/>
          </a:p>
        </p:txBody>
      </p:sp>
      <p:sp>
        <p:nvSpPr>
          <p:cNvPr id="10" name="Shape 8"/>
          <p:cNvSpPr/>
          <p:nvPr/>
        </p:nvSpPr>
        <p:spPr>
          <a:xfrm>
            <a:off x="3492500" y="1785541"/>
            <a:ext cx="2527300" cy="2717701"/>
          </a:xfrm>
          <a:prstGeom prst="roundRect">
            <a:avLst>
              <a:gd name="adj" fmla="val 3015"/>
            </a:avLst>
          </a:prstGeom>
          <a:solidFill>
            <a:srgbClr val="FCFDFE"/>
          </a:solidFill>
          <a:ln/>
          <a:effectLst>
            <a:outerShdw sx="100000" sy="100000" kx="0" ky="0" algn="bl" rotWithShape="0" blurRad="63500" dist="12700" dir="5400000">
              <a:srgbClr val="16202B">
                <a:alpha val="8000"/>
              </a:srgbClr>
            </a:outerShdw>
          </a:effectLst>
        </p:spPr>
      </p:sp>
      <p:sp>
        <p:nvSpPr>
          <p:cNvPr id="11" name="Shape 9"/>
          <p:cNvSpPr/>
          <p:nvPr/>
        </p:nvSpPr>
        <p:spPr>
          <a:xfrm>
            <a:off x="3492500" y="1785541"/>
            <a:ext cx="2527300" cy="2717701"/>
          </a:xfrm>
          <a:custGeom>
            <a:avLst/>
            <a:gdLst/>
            <a:ahLst/>
            <a:cxnLst/>
            <a:rect l="l" t="t" r="r" b="b"/>
            <a:pathLst>
              <a:path w="2527300" h="2717701">
                <a:moveTo>
                  <a:pt x="0" y="76200"/>
                </a:moveTo>
                <a:lnTo>
                  <a:pt x="0" y="76200"/>
                </a:lnTo>
                <a:arcTo hR="76200" wR="76200" stAng="10800000" swAng="5400000"/>
                <a:lnTo>
                  <a:pt x="2451100" y="0"/>
                </a:lnTo>
                <a:arcTo hR="76200" wR="76200" stAng="16200000" swAng="5400000"/>
                <a:lnTo>
                  <a:pt x="2527300" y="76200"/>
                </a:lnTo>
                <a:arcTo hR="25400" wR="76200" stAng="0" swAng="-5400000"/>
                <a:lnTo>
                  <a:pt x="76200" y="50800"/>
                </a:lnTo>
                <a:arcTo hR="25400" wR="76200" stAng="16200000" swAng="-5400000"/>
                <a:close/>
              </a:path>
            </a:pathLst>
          </a:custGeom>
          <a:solidFill>
            <a:srgbClr val="1F6E8C"/>
          </a:solidFill>
          <a:ln/>
        </p:spPr>
      </p:sp>
      <p:sp>
        <p:nvSpPr>
          <p:cNvPr id="12" name="Text 10"/>
          <p:cNvSpPr/>
          <p:nvPr/>
        </p:nvSpPr>
        <p:spPr>
          <a:xfrm>
            <a:off x="3670300" y="2014141"/>
            <a:ext cx="223685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E8C"/>
                </a:solidFill>
                <a:latin typeface="IBM Plex Mono" pitchFamily="49" charset="0"/>
                <a:ea typeface="IBM Plex Mono" pitchFamily="49" charset="-122"/>
                <a:cs typeface="IBM Plex Mono" pitchFamily="49" charset="-120"/>
              </a:rPr>
              <a:t>P1</a:t>
            </a:r>
            <a:endParaRPr lang="en-US" sz="1200" dirty="0"/>
          </a:p>
        </p:txBody>
      </p:sp>
      <p:sp>
        <p:nvSpPr>
          <p:cNvPr id="13" name="Text 11"/>
          <p:cNvSpPr/>
          <p:nvPr/>
        </p:nvSpPr>
        <p:spPr>
          <a:xfrm>
            <a:off x="3670300" y="2303661"/>
            <a:ext cx="2236851"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02B"/>
                </a:solidFill>
                <a:latin typeface="IBM Plex Sans" pitchFamily="34" charset="0"/>
                <a:ea typeface="IBM Plex Sans" pitchFamily="34" charset="-122"/>
                <a:cs typeface="IBM Plex Sans" pitchFamily="34" charset="-120"/>
              </a:rPr>
              <a:t>Content graph and AI fabric</a:t>
            </a:r>
            <a:endParaRPr lang="en-US" sz="1500" dirty="0"/>
          </a:p>
        </p:txBody>
      </p:sp>
      <p:sp>
        <p:nvSpPr>
          <p:cNvPr id="14" name="Text 12"/>
          <p:cNvSpPr/>
          <p:nvPr/>
        </p:nvSpPr>
        <p:spPr>
          <a:xfrm>
            <a:off x="3670300" y="2837061"/>
            <a:ext cx="2236851"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A5A"/>
                </a:solidFill>
                <a:latin typeface="IBM Plex Sans" pitchFamily="34" charset="0"/>
                <a:ea typeface="IBM Plex Sans" pitchFamily="34" charset="-122"/>
                <a:cs typeface="IBM Plex Sans" pitchFamily="34" charset="-120"/>
              </a:rPr>
              <a:t>RDF for in-house and external content; enrichment agents; first read-only briefs.</a:t>
            </a:r>
            <a:endParaRPr lang="en-US" sz="1200" dirty="0"/>
          </a:p>
        </p:txBody>
      </p:sp>
      <p:sp>
        <p:nvSpPr>
          <p:cNvPr id="15" name="Text 13"/>
          <p:cNvSpPr/>
          <p:nvPr/>
        </p:nvSpPr>
        <p:spPr>
          <a:xfrm>
            <a:off x="3670300" y="3530451"/>
            <a:ext cx="2171700" cy="794990"/>
          </a:xfrm>
          <a:prstGeom prst="roundRect">
            <a:avLst>
              <a:gd name="adj" fmla="val 6390"/>
            </a:avLst>
          </a:prstGeom>
          <a:solidFill>
            <a:srgbClr val="E3EFF3"/>
          </a:solidFill>
          <a:ln/>
        </p:spPr>
        <p:txBody>
          <a:bodyPr wrap="square" lIns="74021" tIns="74021" rIns="14204" bIns="48621" rtlCol="0" anchor="t">
            <a:normAutofit/>
          </a:bodyPr>
          <a:lstStyle/>
          <a:p>
            <a:pPr algn="l" indent="0" marL="0">
              <a:lnSpc>
                <a:spcPts val="1620"/>
              </a:lnSpc>
              <a:buNone/>
            </a:pPr>
            <a:r>
              <a:rPr lang="en-US" sz="1200" b="1" dirty="0">
                <a:solidFill>
                  <a:srgbClr val="16202B"/>
                </a:solidFill>
                <a:latin typeface="IBM Plex Sans" pitchFamily="34" charset="0"/>
                <a:ea typeface="IBM Plex Sans" pitchFamily="34" charset="-122"/>
                <a:cs typeface="IBM Plex Sans" pitchFamily="34" charset="-120"/>
              </a:rPr>
              <a:t>Gate:</a:t>
            </a:r>
            <a:r>
              <a:rPr lang="en-US" sz="1200" dirty="0">
                <a:solidFill>
                  <a:srgbClr val="16202B"/>
                </a:solidFill>
                <a:latin typeface="IBM Plex Sans" pitchFamily="34" charset="0"/>
                <a:ea typeface="IBM Plex Sans" pitchFamily="34" charset="-122"/>
                <a:cs typeface="IBM Plex Sans" pitchFamily="34" charset="-120"/>
              </a:rPr>
              <a:t> SHACL pass ≥ 98%; zero PII leaks in red-team; precision ≥ 0.90.</a:t>
            </a:r>
            <a:endParaRPr lang="en-US" sz="1200" dirty="0"/>
          </a:p>
        </p:txBody>
      </p:sp>
      <p:sp>
        <p:nvSpPr>
          <p:cNvPr id="16" name="Shape 14"/>
          <p:cNvSpPr/>
          <p:nvPr/>
        </p:nvSpPr>
        <p:spPr>
          <a:xfrm>
            <a:off x="6172200" y="1785541"/>
            <a:ext cx="2527300" cy="2717701"/>
          </a:xfrm>
          <a:prstGeom prst="roundRect">
            <a:avLst>
              <a:gd name="adj" fmla="val 3015"/>
            </a:avLst>
          </a:prstGeom>
          <a:solidFill>
            <a:srgbClr val="FCFDFE"/>
          </a:solidFill>
          <a:ln/>
          <a:effectLst>
            <a:outerShdw sx="100000" sy="100000" kx="0" ky="0" algn="bl" rotWithShape="0" blurRad="63500" dist="12700" dir="5400000">
              <a:srgbClr val="16202B">
                <a:alpha val="8000"/>
              </a:srgbClr>
            </a:outerShdw>
          </a:effectLst>
        </p:spPr>
      </p:sp>
      <p:sp>
        <p:nvSpPr>
          <p:cNvPr id="17" name="Shape 15"/>
          <p:cNvSpPr/>
          <p:nvPr/>
        </p:nvSpPr>
        <p:spPr>
          <a:xfrm>
            <a:off x="6172200" y="1785541"/>
            <a:ext cx="2527300" cy="2717701"/>
          </a:xfrm>
          <a:custGeom>
            <a:avLst/>
            <a:gdLst/>
            <a:ahLst/>
            <a:cxnLst/>
            <a:rect l="l" t="t" r="r" b="b"/>
            <a:pathLst>
              <a:path w="2527300" h="2717701">
                <a:moveTo>
                  <a:pt x="0" y="76200"/>
                </a:moveTo>
                <a:lnTo>
                  <a:pt x="0" y="76200"/>
                </a:lnTo>
                <a:arcTo hR="76200" wR="76200" stAng="10800000" swAng="5400000"/>
                <a:lnTo>
                  <a:pt x="2451100" y="0"/>
                </a:lnTo>
                <a:arcTo hR="76200" wR="76200" stAng="16200000" swAng="5400000"/>
                <a:lnTo>
                  <a:pt x="2527300" y="76200"/>
                </a:lnTo>
                <a:arcTo hR="25400" wR="76200" stAng="0" swAng="-5400000"/>
                <a:lnTo>
                  <a:pt x="76200" y="50800"/>
                </a:lnTo>
                <a:arcTo hR="25400" wR="76200" stAng="16200000" swAng="-5400000"/>
                <a:close/>
              </a:path>
            </a:pathLst>
          </a:custGeom>
          <a:solidFill>
            <a:srgbClr val="B07A12"/>
          </a:solidFill>
          <a:ln/>
        </p:spPr>
      </p:sp>
      <p:sp>
        <p:nvSpPr>
          <p:cNvPr id="18" name="Text 16"/>
          <p:cNvSpPr/>
          <p:nvPr/>
        </p:nvSpPr>
        <p:spPr>
          <a:xfrm>
            <a:off x="6350000" y="2014141"/>
            <a:ext cx="223685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5E0A"/>
                </a:solidFill>
                <a:latin typeface="IBM Plex Mono" pitchFamily="49" charset="0"/>
                <a:ea typeface="IBM Plex Mono" pitchFamily="49" charset="-122"/>
                <a:cs typeface="IBM Plex Mono" pitchFamily="49" charset="-120"/>
              </a:rPr>
              <a:t>P2</a:t>
            </a:r>
            <a:endParaRPr lang="en-US" sz="1200" dirty="0"/>
          </a:p>
        </p:txBody>
      </p:sp>
      <p:sp>
        <p:nvSpPr>
          <p:cNvPr id="19" name="Text 17"/>
          <p:cNvSpPr/>
          <p:nvPr/>
        </p:nvSpPr>
        <p:spPr>
          <a:xfrm>
            <a:off x="6350000" y="2303661"/>
            <a:ext cx="2236851"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02B"/>
                </a:solidFill>
                <a:latin typeface="IBM Plex Sans" pitchFamily="34" charset="0"/>
                <a:ea typeface="IBM Plex Sans" pitchFamily="34" charset="-122"/>
                <a:cs typeface="IBM Plex Sans" pitchFamily="34" charset="-120"/>
              </a:rPr>
              <a:t>Faceted search and advisor</a:t>
            </a:r>
            <a:endParaRPr lang="en-US" sz="1500" dirty="0"/>
          </a:p>
        </p:txBody>
      </p:sp>
      <p:sp>
        <p:nvSpPr>
          <p:cNvPr id="20" name="Text 18"/>
          <p:cNvSpPr/>
          <p:nvPr/>
        </p:nvSpPr>
        <p:spPr>
          <a:xfrm>
            <a:off x="6350000" y="2837061"/>
            <a:ext cx="2236851"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A5A"/>
                </a:solidFill>
                <a:latin typeface="IBM Plex Sans" pitchFamily="34" charset="0"/>
                <a:ea typeface="IBM Plex Sans" pitchFamily="34" charset="-122"/>
                <a:cs typeface="IBM Plex Sans" pitchFamily="34" charset="-120"/>
              </a:rPr>
              <a:t>Mapping agents; virtual graph over CRM and quoting; advisor live for both personas.</a:t>
            </a:r>
            <a:endParaRPr lang="en-US" sz="1200" dirty="0"/>
          </a:p>
        </p:txBody>
      </p:sp>
      <p:sp>
        <p:nvSpPr>
          <p:cNvPr id="21" name="Text 19"/>
          <p:cNvSpPr/>
          <p:nvPr/>
        </p:nvSpPr>
        <p:spPr>
          <a:xfrm>
            <a:off x="6350000" y="3530451"/>
            <a:ext cx="2171700" cy="589260"/>
          </a:xfrm>
          <a:prstGeom prst="roundRect">
            <a:avLst>
              <a:gd name="adj" fmla="val 8621"/>
            </a:avLst>
          </a:prstGeom>
          <a:solidFill>
            <a:srgbClr val="F6EFE1"/>
          </a:solidFill>
          <a:ln/>
        </p:spPr>
        <p:txBody>
          <a:bodyPr wrap="square" lIns="74021" tIns="74021" rIns="14204" bIns="48621" rtlCol="0" anchor="t">
            <a:normAutofit/>
          </a:bodyPr>
          <a:lstStyle/>
          <a:p>
            <a:pPr algn="l" indent="0" marL="0">
              <a:lnSpc>
                <a:spcPts val="1620"/>
              </a:lnSpc>
              <a:buNone/>
            </a:pPr>
            <a:r>
              <a:rPr lang="en-US" sz="1200" b="1" dirty="0">
                <a:solidFill>
                  <a:srgbClr val="16202B"/>
                </a:solidFill>
                <a:latin typeface="IBM Plex Sans" pitchFamily="34" charset="0"/>
                <a:ea typeface="IBM Plex Sans" pitchFamily="34" charset="-122"/>
                <a:cs typeface="IBM Plex Sans" pitchFamily="34" charset="-120"/>
              </a:rPr>
              <a:t>Gate:</a:t>
            </a:r>
            <a:r>
              <a:rPr lang="en-US" sz="1200" dirty="0">
                <a:solidFill>
                  <a:srgbClr val="16202B"/>
                </a:solidFill>
                <a:latin typeface="IBM Plex Sans" pitchFamily="34" charset="0"/>
                <a:ea typeface="IBM Plex Sans" pitchFamily="34" charset="-122"/>
                <a:cs typeface="IBM Plex Sans" pitchFamily="34" charset="-120"/>
              </a:rPr>
              <a:t> grounding ≥ 0.90; MTBH trips ≤ 2%; P95 ≤ 4 s.</a:t>
            </a:r>
            <a:endParaRPr lang="en-US" sz="1200" dirty="0"/>
          </a:p>
        </p:txBody>
      </p:sp>
      <p:sp>
        <p:nvSpPr>
          <p:cNvPr id="22" name="Shape 20"/>
          <p:cNvSpPr/>
          <p:nvPr/>
        </p:nvSpPr>
        <p:spPr>
          <a:xfrm>
            <a:off x="8851900" y="1785541"/>
            <a:ext cx="2527300" cy="2717701"/>
          </a:xfrm>
          <a:prstGeom prst="roundRect">
            <a:avLst>
              <a:gd name="adj" fmla="val 3015"/>
            </a:avLst>
          </a:prstGeom>
          <a:solidFill>
            <a:srgbClr val="FCFDFE"/>
          </a:solidFill>
          <a:ln/>
          <a:effectLst>
            <a:outerShdw sx="100000" sy="100000" kx="0" ky="0" algn="bl" rotWithShape="0" blurRad="63500" dist="12700" dir="5400000">
              <a:srgbClr val="16202B">
                <a:alpha val="8000"/>
              </a:srgbClr>
            </a:outerShdw>
          </a:effectLst>
        </p:spPr>
      </p:sp>
      <p:sp>
        <p:nvSpPr>
          <p:cNvPr id="23" name="Shape 21"/>
          <p:cNvSpPr/>
          <p:nvPr/>
        </p:nvSpPr>
        <p:spPr>
          <a:xfrm>
            <a:off x="8851900" y="1785541"/>
            <a:ext cx="2527300" cy="2717701"/>
          </a:xfrm>
          <a:custGeom>
            <a:avLst/>
            <a:gdLst/>
            <a:ahLst/>
            <a:cxnLst/>
            <a:rect l="l" t="t" r="r" b="b"/>
            <a:pathLst>
              <a:path w="2527300" h="2717701">
                <a:moveTo>
                  <a:pt x="0" y="76200"/>
                </a:moveTo>
                <a:lnTo>
                  <a:pt x="0" y="76200"/>
                </a:lnTo>
                <a:arcTo hR="76200" wR="76200" stAng="10800000" swAng="5400000"/>
                <a:lnTo>
                  <a:pt x="2451100" y="0"/>
                </a:lnTo>
                <a:arcTo hR="76200" wR="76200" stAng="16200000" swAng="5400000"/>
                <a:lnTo>
                  <a:pt x="2527300" y="76200"/>
                </a:lnTo>
                <a:arcTo hR="25400" wR="76200" stAng="0" swAng="-5400000"/>
                <a:lnTo>
                  <a:pt x="76200" y="50800"/>
                </a:lnTo>
                <a:arcTo hR="25400" wR="76200" stAng="16200000" swAng="-5400000"/>
                <a:close/>
              </a:path>
            </a:pathLst>
          </a:custGeom>
          <a:solidFill>
            <a:srgbClr val="B07A12"/>
          </a:solidFill>
          <a:ln/>
        </p:spPr>
      </p:sp>
      <p:sp>
        <p:nvSpPr>
          <p:cNvPr id="24" name="Text 22"/>
          <p:cNvSpPr/>
          <p:nvPr/>
        </p:nvSpPr>
        <p:spPr>
          <a:xfrm>
            <a:off x="9029700" y="2014141"/>
            <a:ext cx="223685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5E0A"/>
                </a:solidFill>
                <a:latin typeface="IBM Plex Mono" pitchFamily="49" charset="0"/>
                <a:ea typeface="IBM Plex Mono" pitchFamily="49" charset="-122"/>
                <a:cs typeface="IBM Plex Mono" pitchFamily="49" charset="-120"/>
              </a:rPr>
              <a:t>P3</a:t>
            </a:r>
            <a:endParaRPr lang="en-US" sz="1200" dirty="0"/>
          </a:p>
        </p:txBody>
      </p:sp>
      <p:sp>
        <p:nvSpPr>
          <p:cNvPr id="25" name="Text 23"/>
          <p:cNvSpPr/>
          <p:nvPr/>
        </p:nvSpPr>
        <p:spPr>
          <a:xfrm>
            <a:off x="9029700" y="2303661"/>
            <a:ext cx="223685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02B"/>
                </a:solidFill>
                <a:latin typeface="IBM Plex Sans" pitchFamily="34" charset="0"/>
                <a:ea typeface="IBM Plex Sans" pitchFamily="34" charset="-122"/>
                <a:cs typeface="IBM Plex Sans" pitchFamily="34" charset="-120"/>
              </a:rPr>
              <a:t>Measure, monitor, learn</a:t>
            </a:r>
            <a:endParaRPr lang="en-US" sz="1500" dirty="0"/>
          </a:p>
        </p:txBody>
      </p:sp>
      <p:sp>
        <p:nvSpPr>
          <p:cNvPr id="26" name="Text 24"/>
          <p:cNvSpPr/>
          <p:nvPr/>
        </p:nvSpPr>
        <p:spPr>
          <a:xfrm>
            <a:off x="9029700" y="2608461"/>
            <a:ext cx="2236851"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A5A"/>
                </a:solidFill>
                <a:latin typeface="IBM Plex Sans" pitchFamily="34" charset="0"/>
                <a:ea typeface="IBM Plex Sans" pitchFamily="34" charset="-122"/>
                <a:cs typeface="IBM Plex Sans" pitchFamily="34" charset="-120"/>
              </a:rPr>
              <a:t>Change monitors, incremental refresh, value-gap and causal analysis.</a:t>
            </a:r>
            <a:endParaRPr lang="en-US" sz="1200" dirty="0"/>
          </a:p>
        </p:txBody>
      </p:sp>
      <p:sp>
        <p:nvSpPr>
          <p:cNvPr id="27" name="Text 25"/>
          <p:cNvSpPr/>
          <p:nvPr/>
        </p:nvSpPr>
        <p:spPr>
          <a:xfrm>
            <a:off x="9029700" y="3301851"/>
            <a:ext cx="2171700" cy="1000720"/>
          </a:xfrm>
          <a:prstGeom prst="roundRect">
            <a:avLst>
              <a:gd name="adj" fmla="val 5076"/>
            </a:avLst>
          </a:prstGeom>
          <a:solidFill>
            <a:srgbClr val="F6EFE1"/>
          </a:solidFill>
          <a:ln/>
        </p:spPr>
        <p:txBody>
          <a:bodyPr wrap="square" lIns="74021" tIns="74021" rIns="14204" bIns="48621" rtlCol="0" anchor="t">
            <a:normAutofit/>
          </a:bodyPr>
          <a:lstStyle/>
          <a:p>
            <a:pPr algn="l" indent="0" marL="0">
              <a:lnSpc>
                <a:spcPts val="1620"/>
              </a:lnSpc>
              <a:buNone/>
            </a:pPr>
            <a:r>
              <a:rPr lang="en-US" sz="1200" b="1" dirty="0">
                <a:solidFill>
                  <a:srgbClr val="16202B"/>
                </a:solidFill>
                <a:latin typeface="IBM Plex Sans" pitchFamily="34" charset="0"/>
                <a:ea typeface="IBM Plex Sans" pitchFamily="34" charset="-122"/>
                <a:cs typeface="IBM Plex Sans" pitchFamily="34" charset="-120"/>
              </a:rPr>
              <a:t>Gate:</a:t>
            </a:r>
            <a:r>
              <a:rPr lang="en-US" sz="1200" dirty="0">
                <a:solidFill>
                  <a:srgbClr val="16202B"/>
                </a:solidFill>
                <a:latin typeface="IBM Plex Sans" pitchFamily="34" charset="0"/>
                <a:ea typeface="IBM Plex Sans" pitchFamily="34" charset="-122"/>
                <a:cs typeface="IBM Plex Sans" pitchFamily="34" charset="-120"/>
              </a:rPr>
              <a:t> affected briefs withdrawn within 1 hour; ≥ 80% of job steps meet outcome.</a:t>
            </a:r>
            <a:endParaRPr lang="en-US" sz="1200" dirty="0"/>
          </a:p>
        </p:txBody>
      </p:sp>
      <p:sp>
        <p:nvSpPr>
          <p:cNvPr id="28" name="Text 26"/>
          <p:cNvSpPr/>
          <p:nvPr/>
        </p:nvSpPr>
        <p:spPr>
          <a:xfrm>
            <a:off x="812800" y="4706441"/>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5A"/>
                </a:solidFill>
                <a:latin typeface="IBM Plex Sans" pitchFamily="34" charset="0"/>
                <a:ea typeface="IBM Plex Sans" pitchFamily="34" charset="-122"/>
                <a:cs typeface="IBM Plex Sans" pitchFamily="34" charset="-120"/>
              </a:rPr>
              <a:t>The design console sequences these over 15 months. The PLM Dashboard overlaps them with buffers, targeting the eight component sets by end of Q1 2027.</a:t>
            </a:r>
            <a:endParaRPr lang="en-US" sz="1200" dirty="0"/>
          </a:p>
        </p:txBody>
      </p:sp>
      <p:sp>
        <p:nvSpPr>
          <p:cNvPr id="29" name="Text 2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E80"/>
                </a:solidFill>
                <a:latin typeface="IBM Plex Mono" pitchFamily="49" charset="0"/>
                <a:ea typeface="IBM Plex Mono" pitchFamily="49" charset="-122"/>
                <a:cs typeface="IBM Plex Mono" pitchFamily="49" charset="-120"/>
              </a:rPr>
              <a:t>PEO Sales Advisor · Storyboard · 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3F6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1F6E8C"/>
                </a:solidFill>
                <a:latin typeface="IBM Plex Mono" pitchFamily="49" charset="0"/>
                <a:ea typeface="IBM Plex Mono" pitchFamily="49" charset="-122"/>
                <a:cs typeface="IBM Plex Mono" pitchFamily="49" charset="-120"/>
              </a:rPr>
              <a:t>WHAT IT TAKES</a:t>
            </a:r>
            <a:endParaRPr lang="en-US" sz="1200" dirty="0"/>
          </a:p>
        </p:txBody>
      </p:sp>
      <p:sp>
        <p:nvSpPr>
          <p:cNvPr id="3" name="Text 1"/>
          <p:cNvSpPr/>
          <p:nvPr>
            <p:ph type="title"/>
          </p:nvPr>
        </p:nvSpPr>
        <p:spPr>
          <a:xfrm>
            <a:off x="812800" y="110232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6202B"/>
                </a:solidFill>
                <a:latin typeface="Big Shoulders" pitchFamily="34" charset="0"/>
                <a:ea typeface="Big Shoulders" pitchFamily="34" charset="-122"/>
                <a:cs typeface="Big Shoulders" pitchFamily="34" charset="-120"/>
              </a:rPr>
              <a:t>From sandbox to a working prototype</a:t>
            </a:r>
            <a:endParaRPr lang="en-US" sz="3600" dirty="0"/>
          </a:p>
        </p:txBody>
      </p:sp>
      <p:sp>
        <p:nvSpPr>
          <p:cNvPr id="4" name="Shape 2"/>
          <p:cNvSpPr/>
          <p:nvPr/>
        </p:nvSpPr>
        <p:spPr>
          <a:xfrm>
            <a:off x="812800" y="1785541"/>
            <a:ext cx="3437434" cy="1173411"/>
          </a:xfrm>
          <a:prstGeom prst="roundRect">
            <a:avLst>
              <a:gd name="adj" fmla="val 6494"/>
            </a:avLst>
          </a:prstGeom>
          <a:solidFill>
            <a:srgbClr val="FCFDFE"/>
          </a:solidFill>
          <a:ln/>
          <a:effectLst>
            <a:outerShdw sx="100000" sy="100000" kx="0" ky="0" algn="bl" rotWithShape="0" blurRad="63500" dist="12700" dir="5400000">
              <a:srgbClr val="16202B">
                <a:alpha val="8000"/>
              </a:srgbClr>
            </a:outerShdw>
          </a:effectLst>
        </p:spPr>
      </p:sp>
      <p:pic>
        <p:nvPicPr>
          <p:cNvPr id="5" name="Image 0" descr="Database">    </p:cNvPr>
          <p:cNvPicPr>
            <a:picLocks noChangeAspect="1"/>
          </p:cNvPicPr>
          <p:nvPr/>
        </p:nvPicPr>
        <p:blipFill>
          <a:blip r:embed="rId1"/>
          <a:srcRect l="0" r="0" t="0" b="0"/>
          <a:stretch/>
        </p:blipFill>
        <p:spPr>
          <a:xfrm>
            <a:off x="965200" y="1937941"/>
            <a:ext cx="304800" cy="304800"/>
          </a:xfrm>
          <a:prstGeom prst="rect">
            <a:avLst/>
          </a:prstGeom>
        </p:spPr>
      </p:pic>
      <p:sp>
        <p:nvSpPr>
          <p:cNvPr id="6" name="Text 3"/>
          <p:cNvSpPr/>
          <p:nvPr/>
        </p:nvSpPr>
        <p:spPr>
          <a:xfrm>
            <a:off x="1371600" y="1937941"/>
            <a:ext cx="280802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B"/>
                </a:solidFill>
                <a:latin typeface="IBM Plex Sans" pitchFamily="34" charset="0"/>
                <a:ea typeface="IBM Plex Sans" pitchFamily="34" charset="-122"/>
                <a:cs typeface="IBM Plex Sans" pitchFamily="34" charset="-120"/>
              </a:rPr>
              <a:t>Content sources</a:t>
            </a:r>
            <a:endParaRPr lang="en-US" sz="1400" dirty="0"/>
          </a:p>
        </p:txBody>
      </p:sp>
      <p:sp>
        <p:nvSpPr>
          <p:cNvPr id="7" name="Text 4"/>
          <p:cNvSpPr/>
          <p:nvPr/>
        </p:nvSpPr>
        <p:spPr>
          <a:xfrm>
            <a:off x="1371600" y="2189361"/>
            <a:ext cx="2808021"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A5A"/>
                </a:solidFill>
                <a:latin typeface="IBM Plex Sans" pitchFamily="34" charset="0"/>
                <a:ea typeface="IBM Plex Sans" pitchFamily="34" charset="-122"/>
                <a:cs typeface="IBM Plex Sans" pitchFamily="34" charset="-120"/>
              </a:rPr>
              <a:t>Read access to the sales and enablement libraries, with change notifications.</a:t>
            </a:r>
            <a:endParaRPr lang="en-US" sz="1200" dirty="0"/>
          </a:p>
        </p:txBody>
      </p:sp>
      <p:sp>
        <p:nvSpPr>
          <p:cNvPr id="8" name="Shape 5"/>
          <p:cNvSpPr/>
          <p:nvPr/>
        </p:nvSpPr>
        <p:spPr>
          <a:xfrm>
            <a:off x="4377234" y="1785541"/>
            <a:ext cx="3437483" cy="1173411"/>
          </a:xfrm>
          <a:prstGeom prst="roundRect">
            <a:avLst>
              <a:gd name="adj" fmla="val 6494"/>
            </a:avLst>
          </a:prstGeom>
          <a:solidFill>
            <a:srgbClr val="FCFDFE"/>
          </a:solidFill>
          <a:ln/>
          <a:effectLst>
            <a:outerShdw sx="100000" sy="100000" kx="0" ky="0" algn="bl" rotWithShape="0" blurRad="63500" dist="12700" dir="5400000">
              <a:srgbClr val="16202B">
                <a:alpha val="8000"/>
              </a:srgbClr>
            </a:outerShdw>
          </a:effectLst>
        </p:spPr>
      </p:sp>
      <p:pic>
        <p:nvPicPr>
          <p:cNvPr id="9" name="Image 1" descr="Globe">    </p:cNvPr>
          <p:cNvPicPr>
            <a:picLocks noChangeAspect="1"/>
          </p:cNvPicPr>
          <p:nvPr/>
        </p:nvPicPr>
        <p:blipFill>
          <a:blip r:embed="rId2"/>
          <a:srcRect l="0" r="0" t="0" b="0"/>
          <a:stretch/>
        </p:blipFill>
        <p:spPr>
          <a:xfrm>
            <a:off x="4529634" y="1937941"/>
            <a:ext cx="304800" cy="304800"/>
          </a:xfrm>
          <a:prstGeom prst="rect">
            <a:avLst/>
          </a:prstGeom>
        </p:spPr>
      </p:pic>
      <p:sp>
        <p:nvSpPr>
          <p:cNvPr id="10" name="Text 6"/>
          <p:cNvSpPr/>
          <p:nvPr/>
        </p:nvSpPr>
        <p:spPr>
          <a:xfrm>
            <a:off x="4936034" y="1937941"/>
            <a:ext cx="280807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B"/>
                </a:solidFill>
                <a:latin typeface="IBM Plex Sans" pitchFamily="34" charset="0"/>
                <a:ea typeface="IBM Plex Sans" pitchFamily="34" charset="-122"/>
                <a:cs typeface="IBM Plex Sans" pitchFamily="34" charset="-120"/>
              </a:rPr>
              <a:t>Web and feeds</a:t>
            </a:r>
            <a:endParaRPr lang="en-US" sz="1400" dirty="0"/>
          </a:p>
        </p:txBody>
      </p:sp>
      <p:sp>
        <p:nvSpPr>
          <p:cNvPr id="11" name="Text 7"/>
          <p:cNvSpPr/>
          <p:nvPr/>
        </p:nvSpPr>
        <p:spPr>
          <a:xfrm>
            <a:off x="4936034" y="2189361"/>
            <a:ext cx="2808072"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A5A"/>
                </a:solidFill>
                <a:latin typeface="IBM Plex Sans" pitchFamily="34" charset="0"/>
                <a:ea typeface="IBM Plex Sans" pitchFamily="34" charset="-122"/>
                <a:cs typeface="IBM Plex Sans" pitchFamily="34" charset="-120"/>
              </a:rPr>
              <a:t>An allow-list of public pages and the regulatory and firmographic feeds in scope.</a:t>
            </a:r>
            <a:endParaRPr lang="en-US" sz="1200" dirty="0"/>
          </a:p>
        </p:txBody>
      </p:sp>
      <p:sp>
        <p:nvSpPr>
          <p:cNvPr id="12" name="Shape 8"/>
          <p:cNvSpPr/>
          <p:nvPr/>
        </p:nvSpPr>
        <p:spPr>
          <a:xfrm>
            <a:off x="7941717" y="1785541"/>
            <a:ext cx="3437434" cy="1173411"/>
          </a:xfrm>
          <a:prstGeom prst="roundRect">
            <a:avLst>
              <a:gd name="adj" fmla="val 6494"/>
            </a:avLst>
          </a:prstGeom>
          <a:solidFill>
            <a:srgbClr val="FCFDFE"/>
          </a:solidFill>
          <a:ln/>
          <a:effectLst>
            <a:outerShdw sx="100000" sy="100000" kx="0" ky="0" algn="bl" rotWithShape="0" blurRad="63500" dist="12700" dir="5400000">
              <a:srgbClr val="16202B">
                <a:alpha val="8000"/>
              </a:srgbClr>
            </a:outerShdw>
          </a:effectLst>
        </p:spPr>
      </p:sp>
      <p:pic>
        <p:nvPicPr>
          <p:cNvPr id="13" name="Image 2" descr="Link">    </p:cNvPr>
          <p:cNvPicPr>
            <a:picLocks noChangeAspect="1"/>
          </p:cNvPicPr>
          <p:nvPr/>
        </p:nvPicPr>
        <p:blipFill>
          <a:blip r:embed="rId3"/>
          <a:srcRect l="0" r="0" t="0" b="0"/>
          <a:stretch/>
        </p:blipFill>
        <p:spPr>
          <a:xfrm>
            <a:off x="8094117" y="1937941"/>
            <a:ext cx="304800" cy="304800"/>
          </a:xfrm>
          <a:prstGeom prst="rect">
            <a:avLst/>
          </a:prstGeom>
        </p:spPr>
      </p:pic>
      <p:sp>
        <p:nvSpPr>
          <p:cNvPr id="14" name="Text 9"/>
          <p:cNvSpPr/>
          <p:nvPr/>
        </p:nvSpPr>
        <p:spPr>
          <a:xfrm>
            <a:off x="8500517" y="1937941"/>
            <a:ext cx="280802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B"/>
                </a:solidFill>
                <a:latin typeface="IBM Plex Sans" pitchFamily="34" charset="0"/>
                <a:ea typeface="IBM Plex Sans" pitchFamily="34" charset="-122"/>
                <a:cs typeface="IBM Plex Sans" pitchFamily="34" charset="-120"/>
              </a:rPr>
              <a:t>Systems of record</a:t>
            </a:r>
            <a:endParaRPr lang="en-US" sz="1400" dirty="0"/>
          </a:p>
        </p:txBody>
      </p:sp>
      <p:sp>
        <p:nvSpPr>
          <p:cNvPr id="15" name="Text 10"/>
          <p:cNvSpPr/>
          <p:nvPr/>
        </p:nvSpPr>
        <p:spPr>
          <a:xfrm>
            <a:off x="8500517" y="2189361"/>
            <a:ext cx="2808021"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A5A"/>
                </a:solidFill>
                <a:latin typeface="IBM Plex Sans" pitchFamily="34" charset="0"/>
                <a:ea typeface="IBM Plex Sans" pitchFamily="34" charset="-122"/>
                <a:cs typeface="IBM Plex Sans" pitchFamily="34" charset="-120"/>
              </a:rPr>
              <a:t>Read-only CRM and quoting access through a virtual graph, with no copies.</a:t>
            </a:r>
            <a:endParaRPr lang="en-US" sz="1200" dirty="0"/>
          </a:p>
        </p:txBody>
      </p:sp>
      <p:sp>
        <p:nvSpPr>
          <p:cNvPr id="16" name="Shape 11"/>
          <p:cNvSpPr/>
          <p:nvPr/>
        </p:nvSpPr>
        <p:spPr>
          <a:xfrm>
            <a:off x="812800" y="3085951"/>
            <a:ext cx="3437434" cy="967680"/>
          </a:xfrm>
          <a:prstGeom prst="roundRect">
            <a:avLst>
              <a:gd name="adj" fmla="val 7875"/>
            </a:avLst>
          </a:prstGeom>
          <a:solidFill>
            <a:srgbClr val="FCFDFE"/>
          </a:solidFill>
          <a:ln/>
          <a:effectLst>
            <a:outerShdw sx="100000" sy="100000" kx="0" ky="0" algn="bl" rotWithShape="0" blurRad="63500" dist="12700" dir="5400000">
              <a:srgbClr val="16202B">
                <a:alpha val="8000"/>
              </a:srgbClr>
            </a:outerShdw>
          </a:effectLst>
        </p:spPr>
      </p:sp>
      <p:pic>
        <p:nvPicPr>
          <p:cNvPr id="17" name="Image 3" descr="Users">    </p:cNvPr>
          <p:cNvPicPr>
            <a:picLocks noChangeAspect="1"/>
          </p:cNvPicPr>
          <p:nvPr/>
        </p:nvPicPr>
        <p:blipFill>
          <a:blip r:embed="rId4"/>
          <a:srcRect l="0" r="0" t="0" b="0"/>
          <a:stretch/>
        </p:blipFill>
        <p:spPr>
          <a:xfrm>
            <a:off x="965200" y="3238351"/>
            <a:ext cx="304800" cy="304800"/>
          </a:xfrm>
          <a:prstGeom prst="rect">
            <a:avLst/>
          </a:prstGeom>
        </p:spPr>
      </p:pic>
      <p:sp>
        <p:nvSpPr>
          <p:cNvPr id="18" name="Text 12"/>
          <p:cNvSpPr/>
          <p:nvPr/>
        </p:nvSpPr>
        <p:spPr>
          <a:xfrm>
            <a:off x="1371600" y="3238351"/>
            <a:ext cx="280802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B"/>
                </a:solidFill>
                <a:latin typeface="IBM Plex Sans" pitchFamily="34" charset="0"/>
                <a:ea typeface="IBM Plex Sans" pitchFamily="34" charset="-122"/>
                <a:cs typeface="IBM Plex Sans" pitchFamily="34" charset="-120"/>
              </a:rPr>
              <a:t>Expert time</a:t>
            </a:r>
            <a:endParaRPr lang="en-US" sz="1400" dirty="0"/>
          </a:p>
        </p:txBody>
      </p:sp>
      <p:sp>
        <p:nvSpPr>
          <p:cNvPr id="19" name="Text 13"/>
          <p:cNvSpPr/>
          <p:nvPr/>
        </p:nvSpPr>
        <p:spPr>
          <a:xfrm>
            <a:off x="1371600" y="3489771"/>
            <a:ext cx="2808021"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A5A"/>
                </a:solidFill>
                <a:latin typeface="IBM Plex Sans" pitchFamily="34" charset="0"/>
                <a:ea typeface="IBM Plex Sans" pitchFamily="34" charset="-122"/>
                <a:cs typeface="IBM Plex Sans" pitchFamily="34" charset="-120"/>
              </a:rPr>
              <a:t>Sales leaders and BPAs to confirm job steps, outcomes and golden answers.</a:t>
            </a:r>
            <a:endParaRPr lang="en-US" sz="1200" dirty="0"/>
          </a:p>
        </p:txBody>
      </p:sp>
      <p:sp>
        <p:nvSpPr>
          <p:cNvPr id="20" name="Shape 14"/>
          <p:cNvSpPr/>
          <p:nvPr/>
        </p:nvSpPr>
        <p:spPr>
          <a:xfrm>
            <a:off x="4377234" y="3085951"/>
            <a:ext cx="3437483" cy="967680"/>
          </a:xfrm>
          <a:prstGeom prst="roundRect">
            <a:avLst>
              <a:gd name="adj" fmla="val 7875"/>
            </a:avLst>
          </a:prstGeom>
          <a:solidFill>
            <a:srgbClr val="FCFDFE"/>
          </a:solidFill>
          <a:ln/>
          <a:effectLst>
            <a:outerShdw sx="100000" sy="100000" kx="0" ky="0" algn="bl" rotWithShape="0" blurRad="63500" dist="12700" dir="5400000">
              <a:srgbClr val="16202B">
                <a:alpha val="8000"/>
              </a:srgbClr>
            </a:outerShdw>
          </a:effectLst>
        </p:spPr>
      </p:sp>
      <p:pic>
        <p:nvPicPr>
          <p:cNvPr id="21" name="Image 4" descr="Verified">    </p:cNvPr>
          <p:cNvPicPr>
            <a:picLocks noChangeAspect="1"/>
          </p:cNvPicPr>
          <p:nvPr/>
        </p:nvPicPr>
        <p:blipFill>
          <a:blip r:embed="rId5"/>
          <a:srcRect l="0" r="0" t="0" b="0"/>
          <a:stretch/>
        </p:blipFill>
        <p:spPr>
          <a:xfrm>
            <a:off x="4529634" y="3238351"/>
            <a:ext cx="304800" cy="304800"/>
          </a:xfrm>
          <a:prstGeom prst="rect">
            <a:avLst/>
          </a:prstGeom>
        </p:spPr>
      </p:pic>
      <p:sp>
        <p:nvSpPr>
          <p:cNvPr id="22" name="Text 15"/>
          <p:cNvSpPr/>
          <p:nvPr/>
        </p:nvSpPr>
        <p:spPr>
          <a:xfrm>
            <a:off x="4936034" y="3238351"/>
            <a:ext cx="280807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B"/>
                </a:solidFill>
                <a:latin typeface="IBM Plex Sans" pitchFamily="34" charset="0"/>
                <a:ea typeface="IBM Plex Sans" pitchFamily="34" charset="-122"/>
                <a:cs typeface="IBM Plex Sans" pitchFamily="34" charset="-120"/>
              </a:rPr>
              <a:t>Named reviewers</a:t>
            </a:r>
            <a:endParaRPr lang="en-US" sz="1400" dirty="0"/>
          </a:p>
        </p:txBody>
      </p:sp>
      <p:sp>
        <p:nvSpPr>
          <p:cNvPr id="23" name="Text 16"/>
          <p:cNvSpPr/>
          <p:nvPr/>
        </p:nvSpPr>
        <p:spPr>
          <a:xfrm>
            <a:off x="4936034" y="3489771"/>
            <a:ext cx="2808072"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A5A"/>
                </a:solidFill>
                <a:latin typeface="IBM Plex Sans" pitchFamily="34" charset="0"/>
                <a:ea typeface="IBM Plex Sans" pitchFamily="34" charset="-122"/>
                <a:cs typeface="IBM Plex Sans" pitchFamily="34" charset="-120"/>
              </a:rPr>
              <a:t>An owner for each gate: semantics, rules, agents and briefs.</a:t>
            </a:r>
            <a:endParaRPr lang="en-US" sz="1200" dirty="0"/>
          </a:p>
        </p:txBody>
      </p:sp>
      <p:sp>
        <p:nvSpPr>
          <p:cNvPr id="24" name="Shape 17"/>
          <p:cNvSpPr/>
          <p:nvPr/>
        </p:nvSpPr>
        <p:spPr>
          <a:xfrm>
            <a:off x="7941717" y="3085951"/>
            <a:ext cx="3437434" cy="967680"/>
          </a:xfrm>
          <a:prstGeom prst="roundRect">
            <a:avLst>
              <a:gd name="adj" fmla="val 7875"/>
            </a:avLst>
          </a:prstGeom>
          <a:solidFill>
            <a:srgbClr val="FCFDFE"/>
          </a:solidFill>
          <a:ln/>
          <a:effectLst>
            <a:outerShdw sx="100000" sy="100000" kx="0" ky="0" algn="bl" rotWithShape="0" blurRad="63500" dist="12700" dir="5400000">
              <a:srgbClr val="16202B">
                <a:alpha val="8000"/>
              </a:srgbClr>
            </a:outerShdw>
          </a:effectLst>
        </p:spPr>
      </p:sp>
      <p:pic>
        <p:nvPicPr>
          <p:cNvPr id="25" name="Image 5" descr="Settings">    </p:cNvPr>
          <p:cNvPicPr>
            <a:picLocks noChangeAspect="1"/>
          </p:cNvPicPr>
          <p:nvPr/>
        </p:nvPicPr>
        <p:blipFill>
          <a:blip r:embed="rId6"/>
          <a:srcRect l="0" r="0" t="0" b="0"/>
          <a:stretch/>
        </p:blipFill>
        <p:spPr>
          <a:xfrm>
            <a:off x="8094117" y="3238351"/>
            <a:ext cx="304800" cy="304800"/>
          </a:xfrm>
          <a:prstGeom prst="rect">
            <a:avLst/>
          </a:prstGeom>
        </p:spPr>
      </p:pic>
      <p:sp>
        <p:nvSpPr>
          <p:cNvPr id="26" name="Text 18"/>
          <p:cNvSpPr/>
          <p:nvPr/>
        </p:nvSpPr>
        <p:spPr>
          <a:xfrm>
            <a:off x="8500517" y="3238351"/>
            <a:ext cx="280802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B"/>
                </a:solidFill>
                <a:latin typeface="IBM Plex Sans" pitchFamily="34" charset="0"/>
                <a:ea typeface="IBM Plex Sans" pitchFamily="34" charset="-122"/>
                <a:cs typeface="IBM Plex Sans" pitchFamily="34" charset="-120"/>
              </a:rPr>
              <a:t>A sandbox</a:t>
            </a:r>
            <a:endParaRPr lang="en-US" sz="1400" dirty="0"/>
          </a:p>
        </p:txBody>
      </p:sp>
      <p:sp>
        <p:nvSpPr>
          <p:cNvPr id="27" name="Text 19"/>
          <p:cNvSpPr/>
          <p:nvPr/>
        </p:nvSpPr>
        <p:spPr>
          <a:xfrm>
            <a:off x="8500517" y="3489771"/>
            <a:ext cx="2808021"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A5A"/>
                </a:solidFill>
                <a:latin typeface="IBM Plex Sans" pitchFamily="34" charset="0"/>
                <a:ea typeface="IBM Plex Sans" pitchFamily="34" charset="-122"/>
                <a:cs typeface="IBM Plex Sans" pitchFamily="34" charset="-120"/>
              </a:rPr>
              <a:t>Somewhere to run the graph store, pipelines and agents safely.</a:t>
            </a:r>
            <a:endParaRPr lang="en-US" sz="1200" dirty="0"/>
          </a:p>
        </p:txBody>
      </p:sp>
      <p:sp>
        <p:nvSpPr>
          <p:cNvPr id="28" name="Text 20"/>
          <p:cNvSpPr/>
          <p:nvPr/>
        </p:nvSpPr>
        <p:spPr>
          <a:xfrm>
            <a:off x="812800" y="4256832"/>
            <a:ext cx="10566400" cy="853380"/>
          </a:xfrm>
          <a:prstGeom prst="roundRect">
            <a:avLst>
              <a:gd name="adj" fmla="val 8929"/>
            </a:avLst>
          </a:prstGeom>
          <a:solidFill>
            <a:srgbClr val="1F3A5F"/>
          </a:solidFill>
          <a:ln/>
        </p:spPr>
        <p:txBody>
          <a:bodyPr wrap="square" lIns="206282" tIns="155482" rIns="0" bIns="130082" rtlCol="0" anchor="t">
            <a:normAutofit/>
          </a:bodyPr>
          <a:lstStyle/>
          <a:p>
            <a:pPr algn="l" indent="0" marL="0">
              <a:lnSpc>
                <a:spcPts val="1960"/>
              </a:lnSpc>
              <a:buNone/>
            </a:pPr>
            <a:r>
              <a:rPr lang="en-US" sz="1400" b="1" dirty="0">
                <a:solidFill>
                  <a:srgbClr val="EAF0F6"/>
                </a:solidFill>
                <a:latin typeface="IBM Plex Sans" pitchFamily="34" charset="0"/>
                <a:ea typeface="IBM Plex Sans" pitchFamily="34" charset="-122"/>
                <a:cs typeface="IBM Plex Sans" pitchFamily="34" charset="-120"/>
              </a:rPr>
              <a:t>Proposed first slice:</a:t>
            </a:r>
            <a:r>
              <a:rPr lang="en-US" sz="1400" dirty="0">
                <a:solidFill>
                  <a:srgbClr val="EAF0F6"/>
                </a:solidFill>
                <a:latin typeface="IBM Plex Sans" pitchFamily="34" charset="0"/>
                <a:ea typeface="IBM Plex Sans" pitchFamily="34" charset="-122"/>
                <a:cs typeface="IBM Plex Sans" pitchFamily="34" charset="-120"/>
              </a:rPr>
              <a:t> one SharePoint library through all seven stages, serving one persona job step, measured against its question baseline.</a:t>
            </a:r>
            <a:endParaRPr lang="en-US" sz="1400" dirty="0"/>
          </a:p>
        </p:txBody>
      </p:sp>
      <p:sp>
        <p:nvSpPr>
          <p:cNvPr id="29"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E80"/>
                </a:solidFill>
                <a:latin typeface="IBM Plex Mono" pitchFamily="49" charset="0"/>
                <a:ea typeface="IBM Plex Mono" pitchFamily="49" charset="-122"/>
                <a:cs typeface="IBM Plex Mono" pitchFamily="49" charset="-120"/>
              </a:rPr>
              <a:t>PEO Sales Advisor · Storyboard · 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620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2B44E"/>
                </a:solidFill>
                <a:latin typeface="IBM Plex Mono" pitchFamily="49" charset="0"/>
                <a:ea typeface="IBM Plex Mono" pitchFamily="49" charset="-122"/>
                <a:cs typeface="IBM Plex Mono" pitchFamily="49" charset="-120"/>
              </a:rPr>
              <a:t>FUTURE STATE</a:t>
            </a:r>
            <a:endParaRPr lang="en-US" sz="1200" dirty="0"/>
          </a:p>
        </p:txBody>
      </p:sp>
      <p:sp>
        <p:nvSpPr>
          <p:cNvPr id="3" name="Text 1"/>
          <p:cNvSpPr/>
          <p:nvPr>
            <p:ph type="title"/>
          </p:nvPr>
        </p:nvSpPr>
        <p:spPr>
          <a:xfrm>
            <a:off x="812800" y="110232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EAF0F6"/>
                </a:solidFill>
                <a:latin typeface="Big Shoulders" pitchFamily="34" charset="0"/>
                <a:ea typeface="Big Shoulders" pitchFamily="34" charset="-122"/>
                <a:cs typeface="Big Shoulders" pitchFamily="34" charset="-120"/>
              </a:rPr>
              <a:t>Built for sales, released for everyone</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23641"/>
          <a:ext cx="10553700" cy="2155924"/>
        </p:xfrm>
        <a:graphic>
          <a:graphicData uri="http://schemas.openxmlformats.org/drawingml/2006/table">
            <a:tbl>
              <a:tblPr/>
              <a:tblGrid>
                <a:gridCol w="4432554"/>
                <a:gridCol w="6121146"/>
              </a:tblGrid>
              <a:tr h="359321">
                <a:tc>
                  <a:txBody>
                    <a:bodyPr/>
                    <a:lstStyle/>
                    <a:p>
                      <a:pPr indent="0" marL="0">
                        <a:lnSpc>
                          <a:spcPts val="1820"/>
                        </a:lnSpc>
                        <a:buNone/>
                      </a:pPr>
                      <a:r>
                        <a:rPr lang="en-US" sz="1300" b="1" dirty="0">
                          <a:solidFill>
                            <a:srgbClr val="93A3B4"/>
                          </a:solidFill>
                          <a:latin typeface="IBM Plex Sans" pitchFamily="34" charset="0"/>
                          <a:ea typeface="IBM Plex Sans" pitchFamily="34" charset="-122"/>
                          <a:cs typeface="IBM Plex Sans" pitchFamily="34" charset="-120"/>
                        </a:rPr>
                        <a:t>Released once in the Keel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85057"/>
                      </a:solidFill>
                      <a:prstDash val="solid"/>
                      <a:round/>
                      <a:headEnd type="none" w="med" len="med"/>
                      <a:tailEnd type="none" w="med" len="med"/>
                    </a:lnL>
                    <a:lnR w="12700" cap="flat" cmpd="sng" algn="ctr">
                      <a:solidFill>
                        <a:srgbClr val="565D64"/>
                      </a:solidFill>
                      <a:prstDash val="solid"/>
                      <a:round/>
                      <a:headEnd type="none" w="med" len="med"/>
                      <a:tailEnd type="none" w="med" len="med"/>
                    </a:lnR>
                    <a:lnT w="12700" cap="flat" cmpd="sng" algn="ctr">
                      <a:solidFill>
                        <a:srgbClr val="485057"/>
                      </a:solidFill>
                      <a:prstDash val="solid"/>
                      <a:round/>
                      <a:headEnd type="none" w="med" len="med"/>
                      <a:tailEnd type="none" w="med" len="med"/>
                    </a:lnT>
                    <a:lnB w="12700" cap="flat" cmpd="sng" algn="ctr">
                      <a:solidFill>
                        <a:srgbClr val="565D64"/>
                      </a:solidFill>
                      <a:prstDash val="solid"/>
                      <a:round/>
                      <a:headEnd type="none" w="med" len="med"/>
                      <a:tailEnd type="none" w="med" len="med"/>
                    </a:lnB>
                    <a:solidFill>
                      <a:srgbClr val="28313B"/>
                    </a:solidFill>
                  </a:tcPr>
                </a:tc>
                <a:tc>
                  <a:txBody>
                    <a:bodyPr/>
                    <a:lstStyle/>
                    <a:p>
                      <a:pPr indent="0" marL="0">
                        <a:lnSpc>
                          <a:spcPts val="1820"/>
                        </a:lnSpc>
                        <a:buNone/>
                      </a:pPr>
                      <a:r>
                        <a:rPr lang="en-US" sz="1300" b="1" dirty="0">
                          <a:solidFill>
                            <a:srgbClr val="93A3B4"/>
                          </a:solidFill>
                          <a:latin typeface="IBM Plex Sans" pitchFamily="34" charset="0"/>
                          <a:ea typeface="IBM Plex Sans" pitchFamily="34" charset="-122"/>
                          <a:cs typeface="IBM Plex Sans" pitchFamily="34" charset="-120"/>
                        </a:rPr>
                        <a:t>Reused next by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565D64"/>
                      </a:solidFill>
                      <a:prstDash val="solid"/>
                      <a:round/>
                      <a:headEnd type="none" w="med" len="med"/>
                      <a:tailEnd type="none" w="med" len="med"/>
                    </a:lnL>
                    <a:lnR w="12700" cap="flat" cmpd="sng" algn="ctr">
                      <a:solidFill>
                        <a:srgbClr val="565D64"/>
                      </a:solidFill>
                      <a:prstDash val="solid"/>
                      <a:round/>
                      <a:headEnd type="none" w="med" len="med"/>
                      <a:tailEnd type="none" w="med" len="med"/>
                    </a:lnR>
                    <a:lnT w="12700" cap="flat" cmpd="sng" algn="ctr">
                      <a:solidFill>
                        <a:srgbClr val="485057"/>
                      </a:solidFill>
                      <a:prstDash val="solid"/>
                      <a:round/>
                      <a:headEnd type="none" w="med" len="med"/>
                      <a:tailEnd type="none" w="med" len="med"/>
                    </a:lnT>
                    <a:lnB w="12700" cap="flat" cmpd="sng" algn="ctr">
                      <a:solidFill>
                        <a:srgbClr val="565D64"/>
                      </a:solidFill>
                      <a:prstDash val="solid"/>
                      <a:round/>
                      <a:headEnd type="none" w="med" len="med"/>
                      <a:tailEnd type="none" w="med" len="med"/>
                    </a:lnB>
                    <a:solidFill>
                      <a:srgbClr val="28313B"/>
                    </a:solidFill>
                  </a:tcPr>
                </a:tc>
              </a:tr>
              <a:tr h="359321">
                <a:tc>
                  <a:txBody>
                    <a:bodyPr/>
                    <a:lstStyle/>
                    <a:p>
                      <a:pPr indent="0" marL="0">
                        <a:lnSpc>
                          <a:spcPts val="1820"/>
                        </a:lnSpc>
                        <a:buNone/>
                      </a:pPr>
                      <a:r>
                        <a:rPr lang="en-US" sz="1300" dirty="0">
                          <a:solidFill>
                            <a:srgbClr val="D6E1F0"/>
                          </a:solidFill>
                          <a:latin typeface="IBM Plex Sans" pitchFamily="34" charset="0"/>
                          <a:ea typeface="IBM Plex Sans" pitchFamily="34" charset="-122"/>
                          <a:cs typeface="IBM Plex Sans" pitchFamily="34" charset="-120"/>
                        </a:rPr>
                        <a:t>Content graph and pipelines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85057"/>
                      </a:solidFill>
                      <a:prstDash val="solid"/>
                      <a:round/>
                      <a:headEnd type="none" w="med" len="med"/>
                      <a:tailEnd type="none" w="med" len="med"/>
                    </a:lnL>
                    <a:lnR w="12700" cap="flat" cmpd="sng" algn="ctr">
                      <a:solidFill>
                        <a:srgbClr val="485057"/>
                      </a:solidFill>
                      <a:prstDash val="solid"/>
                      <a:round/>
                      <a:headEnd type="none" w="med" len="med"/>
                      <a:tailEnd type="none" w="med" len="med"/>
                    </a:lnR>
                    <a:lnT w="12700" cap="flat" cmpd="sng" algn="ctr">
                      <a:solidFill>
                        <a:srgbClr val="565D64"/>
                      </a:solidFill>
                      <a:prstDash val="solid"/>
                      <a:round/>
                      <a:headEnd type="none" w="med" len="med"/>
                      <a:tailEnd type="none" w="med" len="med"/>
                    </a:lnT>
                    <a:lnB w="12700" cap="flat" cmpd="sng" algn="ctr">
                      <a:solidFill>
                        <a:srgbClr val="485057"/>
                      </a:solidFill>
                      <a:prstDash val="solid"/>
                      <a:round/>
                      <a:headEnd type="none" w="med" len="med"/>
                      <a:tailEnd type="none" w="med" len="med"/>
                    </a:lnB>
                  </a:tcPr>
                </a:tc>
                <a:tc>
                  <a:txBody>
                    <a:bodyPr/>
                    <a:lstStyle/>
                    <a:p>
                      <a:pPr indent="0" marL="0">
                        <a:lnSpc>
                          <a:spcPts val="1820"/>
                        </a:lnSpc>
                        <a:buNone/>
                      </a:pPr>
                      <a:r>
                        <a:rPr lang="en-US" sz="1300" dirty="0">
                          <a:solidFill>
                            <a:srgbClr val="D6E1F0"/>
                          </a:solidFill>
                          <a:latin typeface="IBM Plex Sans" pitchFamily="34" charset="0"/>
                          <a:ea typeface="IBM Plex Sans" pitchFamily="34" charset="-122"/>
                          <a:cs typeface="IBM Plex Sans" pitchFamily="34" charset="-120"/>
                        </a:rPr>
                        <a:t>Marketing, enablement and service content search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85057"/>
                      </a:solidFill>
                      <a:prstDash val="solid"/>
                      <a:round/>
                      <a:headEnd type="none" w="med" len="med"/>
                      <a:tailEnd type="none" w="med" len="med"/>
                    </a:lnL>
                    <a:lnR w="12700" cap="flat" cmpd="sng" algn="ctr">
                      <a:solidFill>
                        <a:srgbClr val="485057"/>
                      </a:solidFill>
                      <a:prstDash val="solid"/>
                      <a:round/>
                      <a:headEnd type="none" w="med" len="med"/>
                      <a:tailEnd type="none" w="med" len="med"/>
                    </a:lnR>
                    <a:lnT w="12700" cap="flat" cmpd="sng" algn="ctr">
                      <a:solidFill>
                        <a:srgbClr val="565D64"/>
                      </a:solidFill>
                      <a:prstDash val="solid"/>
                      <a:round/>
                      <a:headEnd type="none" w="med" len="med"/>
                      <a:tailEnd type="none" w="med" len="med"/>
                    </a:lnT>
                    <a:lnB w="12700" cap="flat" cmpd="sng" algn="ctr">
                      <a:solidFill>
                        <a:srgbClr val="485057"/>
                      </a:solidFill>
                      <a:prstDash val="solid"/>
                      <a:round/>
                      <a:headEnd type="none" w="med" len="med"/>
                      <a:tailEnd type="none" w="med" len="med"/>
                    </a:lnB>
                  </a:tcPr>
                </a:tc>
              </a:tr>
              <a:tr h="359321">
                <a:tc>
                  <a:txBody>
                    <a:bodyPr/>
                    <a:lstStyle/>
                    <a:p>
                      <a:pPr indent="0" marL="0">
                        <a:lnSpc>
                          <a:spcPts val="1820"/>
                        </a:lnSpc>
                        <a:buNone/>
                      </a:pPr>
                      <a:r>
                        <a:rPr lang="en-US" sz="1300" dirty="0">
                          <a:solidFill>
                            <a:srgbClr val="D6E1F0"/>
                          </a:solidFill>
                          <a:latin typeface="IBM Plex Sans" pitchFamily="34" charset="0"/>
                          <a:ea typeface="IBM Plex Sans" pitchFamily="34" charset="-122"/>
                          <a:cs typeface="IBM Plex Sans" pitchFamily="34" charset="-120"/>
                        </a:rPr>
                        <a:t>SSOT rules service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85057"/>
                      </a:solidFill>
                      <a:prstDash val="solid"/>
                      <a:round/>
                      <a:headEnd type="none" w="med" len="med"/>
                      <a:tailEnd type="none" w="med" len="med"/>
                    </a:lnL>
                    <a:lnR w="12700" cap="flat" cmpd="sng" algn="ctr">
                      <a:solidFill>
                        <a:srgbClr val="485057"/>
                      </a:solidFill>
                      <a:prstDash val="solid"/>
                      <a:round/>
                      <a:headEnd type="none" w="med" len="med"/>
                      <a:tailEnd type="none" w="med" len="med"/>
                    </a:lnR>
                    <a:lnT w="12700" cap="flat" cmpd="sng" algn="ctr">
                      <a:solidFill>
                        <a:srgbClr val="485057"/>
                      </a:solidFill>
                      <a:prstDash val="solid"/>
                      <a:round/>
                      <a:headEnd type="none" w="med" len="med"/>
                      <a:tailEnd type="none" w="med" len="med"/>
                    </a:lnT>
                    <a:lnB w="12700" cap="flat" cmpd="sng" algn="ctr">
                      <a:solidFill>
                        <a:srgbClr val="485057"/>
                      </a:solidFill>
                      <a:prstDash val="solid"/>
                      <a:round/>
                      <a:headEnd type="none" w="med" len="med"/>
                      <a:tailEnd type="none" w="med" len="med"/>
                    </a:lnB>
                  </a:tcPr>
                </a:tc>
                <a:tc>
                  <a:txBody>
                    <a:bodyPr/>
                    <a:lstStyle/>
                    <a:p>
                      <a:pPr indent="0" marL="0">
                        <a:lnSpc>
                          <a:spcPts val="1820"/>
                        </a:lnSpc>
                        <a:buNone/>
                      </a:pPr>
                      <a:r>
                        <a:rPr lang="en-US" sz="1300" dirty="0">
                          <a:solidFill>
                            <a:srgbClr val="D6E1F0"/>
                          </a:solidFill>
                          <a:latin typeface="IBM Plex Sans" pitchFamily="34" charset="0"/>
                          <a:ea typeface="IBM Plex Sans" pitchFamily="34" charset="-122"/>
                          <a:cs typeface="IBM Plex Sans" pitchFamily="34" charset="-120"/>
                        </a:rPr>
                        <a:t>HR assistant, compliance checks, insights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85057"/>
                      </a:solidFill>
                      <a:prstDash val="solid"/>
                      <a:round/>
                      <a:headEnd type="none" w="med" len="med"/>
                      <a:tailEnd type="none" w="med" len="med"/>
                    </a:lnL>
                    <a:lnR w="12700" cap="flat" cmpd="sng" algn="ctr">
                      <a:solidFill>
                        <a:srgbClr val="485057"/>
                      </a:solidFill>
                      <a:prstDash val="solid"/>
                      <a:round/>
                      <a:headEnd type="none" w="med" len="med"/>
                      <a:tailEnd type="none" w="med" len="med"/>
                    </a:lnR>
                    <a:lnT w="12700" cap="flat" cmpd="sng" algn="ctr">
                      <a:solidFill>
                        <a:srgbClr val="485057"/>
                      </a:solidFill>
                      <a:prstDash val="solid"/>
                      <a:round/>
                      <a:headEnd type="none" w="med" len="med"/>
                      <a:tailEnd type="none" w="med" len="med"/>
                    </a:lnT>
                    <a:lnB w="12700" cap="flat" cmpd="sng" algn="ctr">
                      <a:solidFill>
                        <a:srgbClr val="485057"/>
                      </a:solidFill>
                      <a:prstDash val="solid"/>
                      <a:round/>
                      <a:headEnd type="none" w="med" len="med"/>
                      <a:tailEnd type="none" w="med" len="med"/>
                    </a:lnB>
                  </a:tcPr>
                </a:tc>
              </a:tr>
              <a:tr h="359321">
                <a:tc>
                  <a:txBody>
                    <a:bodyPr/>
                    <a:lstStyle/>
                    <a:p>
                      <a:pPr indent="0" marL="0">
                        <a:lnSpc>
                          <a:spcPts val="1820"/>
                        </a:lnSpc>
                        <a:buNone/>
                      </a:pPr>
                      <a:r>
                        <a:rPr lang="en-US" sz="1300" dirty="0">
                          <a:solidFill>
                            <a:srgbClr val="D6E1F0"/>
                          </a:solidFill>
                          <a:latin typeface="IBM Plex Sans" pitchFamily="34" charset="0"/>
                          <a:ea typeface="IBM Plex Sans" pitchFamily="34" charset="-122"/>
                          <a:cs typeface="IBM Plex Sans" pitchFamily="34" charset="-120"/>
                        </a:rPr>
                        <a:t>Persona and job ontology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85057"/>
                      </a:solidFill>
                      <a:prstDash val="solid"/>
                      <a:round/>
                      <a:headEnd type="none" w="med" len="med"/>
                      <a:tailEnd type="none" w="med" len="med"/>
                    </a:lnL>
                    <a:lnR w="12700" cap="flat" cmpd="sng" algn="ctr">
                      <a:solidFill>
                        <a:srgbClr val="485057"/>
                      </a:solidFill>
                      <a:prstDash val="solid"/>
                      <a:round/>
                      <a:headEnd type="none" w="med" len="med"/>
                      <a:tailEnd type="none" w="med" len="med"/>
                    </a:lnR>
                    <a:lnT w="12700" cap="flat" cmpd="sng" algn="ctr">
                      <a:solidFill>
                        <a:srgbClr val="485057"/>
                      </a:solidFill>
                      <a:prstDash val="solid"/>
                      <a:round/>
                      <a:headEnd type="none" w="med" len="med"/>
                      <a:tailEnd type="none" w="med" len="med"/>
                    </a:lnT>
                    <a:lnB w="12700" cap="flat" cmpd="sng" algn="ctr">
                      <a:solidFill>
                        <a:srgbClr val="485057"/>
                      </a:solidFill>
                      <a:prstDash val="solid"/>
                      <a:round/>
                      <a:headEnd type="none" w="med" len="med"/>
                      <a:tailEnd type="none" w="med" len="med"/>
                    </a:lnB>
                  </a:tcPr>
                </a:tc>
                <a:tc>
                  <a:txBody>
                    <a:bodyPr/>
                    <a:lstStyle/>
                    <a:p>
                      <a:pPr indent="0" marL="0">
                        <a:lnSpc>
                          <a:spcPts val="1820"/>
                        </a:lnSpc>
                        <a:buNone/>
                      </a:pPr>
                      <a:r>
                        <a:rPr lang="en-US" sz="1300" dirty="0">
                          <a:solidFill>
                            <a:srgbClr val="D6E1F0"/>
                          </a:solidFill>
                          <a:latin typeface="IBM Plex Sans" pitchFamily="34" charset="0"/>
                          <a:ea typeface="IBM Plex Sans" pitchFamily="34" charset="-122"/>
                          <a:cs typeface="IBM Plex Sans" pitchFamily="34" charset="-120"/>
                        </a:rPr>
                        <a:t>Onboarding, client service, product discovery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85057"/>
                      </a:solidFill>
                      <a:prstDash val="solid"/>
                      <a:round/>
                      <a:headEnd type="none" w="med" len="med"/>
                      <a:tailEnd type="none" w="med" len="med"/>
                    </a:lnL>
                    <a:lnR w="12700" cap="flat" cmpd="sng" algn="ctr">
                      <a:solidFill>
                        <a:srgbClr val="485057"/>
                      </a:solidFill>
                      <a:prstDash val="solid"/>
                      <a:round/>
                      <a:headEnd type="none" w="med" len="med"/>
                      <a:tailEnd type="none" w="med" len="med"/>
                    </a:lnR>
                    <a:lnT w="12700" cap="flat" cmpd="sng" algn="ctr">
                      <a:solidFill>
                        <a:srgbClr val="485057"/>
                      </a:solidFill>
                      <a:prstDash val="solid"/>
                      <a:round/>
                      <a:headEnd type="none" w="med" len="med"/>
                      <a:tailEnd type="none" w="med" len="med"/>
                    </a:lnT>
                    <a:lnB w="12700" cap="flat" cmpd="sng" algn="ctr">
                      <a:solidFill>
                        <a:srgbClr val="485057"/>
                      </a:solidFill>
                      <a:prstDash val="solid"/>
                      <a:round/>
                      <a:headEnd type="none" w="med" len="med"/>
                      <a:tailEnd type="none" w="med" len="med"/>
                    </a:lnB>
                  </a:tcPr>
                </a:tc>
              </a:tr>
              <a:tr h="359321">
                <a:tc>
                  <a:txBody>
                    <a:bodyPr/>
                    <a:lstStyle/>
                    <a:p>
                      <a:pPr indent="0" marL="0">
                        <a:lnSpc>
                          <a:spcPts val="1820"/>
                        </a:lnSpc>
                        <a:buNone/>
                      </a:pPr>
                      <a:r>
                        <a:rPr lang="en-US" sz="1300" dirty="0">
                          <a:solidFill>
                            <a:srgbClr val="D6E1F0"/>
                          </a:solidFill>
                          <a:latin typeface="IBM Plex Sans" pitchFamily="34" charset="0"/>
                          <a:ea typeface="IBM Plex Sans" pitchFamily="34" charset="-122"/>
                          <a:cs typeface="IBM Plex Sans" pitchFamily="34" charset="-120"/>
                        </a:rPr>
                        <a:t>Decisions and outcome metrics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85057"/>
                      </a:solidFill>
                      <a:prstDash val="solid"/>
                      <a:round/>
                      <a:headEnd type="none" w="med" len="med"/>
                      <a:tailEnd type="none" w="med" len="med"/>
                    </a:lnL>
                    <a:lnR w="12700" cap="flat" cmpd="sng" algn="ctr">
                      <a:solidFill>
                        <a:srgbClr val="485057"/>
                      </a:solidFill>
                      <a:prstDash val="solid"/>
                      <a:round/>
                      <a:headEnd type="none" w="med" len="med"/>
                      <a:tailEnd type="none" w="med" len="med"/>
                    </a:lnR>
                    <a:lnT w="12700" cap="flat" cmpd="sng" algn="ctr">
                      <a:solidFill>
                        <a:srgbClr val="485057"/>
                      </a:solidFill>
                      <a:prstDash val="solid"/>
                      <a:round/>
                      <a:headEnd type="none" w="med" len="med"/>
                      <a:tailEnd type="none" w="med" len="med"/>
                    </a:lnT>
                    <a:lnB w="12700" cap="flat" cmpd="sng" algn="ctr">
                      <a:solidFill>
                        <a:srgbClr val="485057"/>
                      </a:solidFill>
                      <a:prstDash val="solid"/>
                      <a:round/>
                      <a:headEnd type="none" w="med" len="med"/>
                      <a:tailEnd type="none" w="med" len="med"/>
                    </a:lnB>
                  </a:tcPr>
                </a:tc>
                <a:tc>
                  <a:txBody>
                    <a:bodyPr/>
                    <a:lstStyle/>
                    <a:p>
                      <a:pPr indent="0" marL="0">
                        <a:lnSpc>
                          <a:spcPts val="1820"/>
                        </a:lnSpc>
                        <a:buNone/>
                      </a:pPr>
                      <a:r>
                        <a:rPr lang="en-US" sz="1300" dirty="0">
                          <a:solidFill>
                            <a:srgbClr val="D6E1F0"/>
                          </a:solidFill>
                          <a:latin typeface="IBM Plex Sans" pitchFamily="34" charset="0"/>
                          <a:ea typeface="IBM Plex Sans" pitchFamily="34" charset="-122"/>
                          <a:cs typeface="IBM Plex Sans" pitchFamily="34" charset="-120"/>
                        </a:rPr>
                        <a:t>Insights, competitive intelligence, investment choices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85057"/>
                      </a:solidFill>
                      <a:prstDash val="solid"/>
                      <a:round/>
                      <a:headEnd type="none" w="med" len="med"/>
                      <a:tailEnd type="none" w="med" len="med"/>
                    </a:lnL>
                    <a:lnR w="12700" cap="flat" cmpd="sng" algn="ctr">
                      <a:solidFill>
                        <a:srgbClr val="485057"/>
                      </a:solidFill>
                      <a:prstDash val="solid"/>
                      <a:round/>
                      <a:headEnd type="none" w="med" len="med"/>
                      <a:tailEnd type="none" w="med" len="med"/>
                    </a:lnR>
                    <a:lnT w="12700" cap="flat" cmpd="sng" algn="ctr">
                      <a:solidFill>
                        <a:srgbClr val="485057"/>
                      </a:solidFill>
                      <a:prstDash val="solid"/>
                      <a:round/>
                      <a:headEnd type="none" w="med" len="med"/>
                      <a:tailEnd type="none" w="med" len="med"/>
                    </a:lnT>
                    <a:lnB w="12700" cap="flat" cmpd="sng" algn="ctr">
                      <a:solidFill>
                        <a:srgbClr val="485057"/>
                      </a:solidFill>
                      <a:prstDash val="solid"/>
                      <a:round/>
                      <a:headEnd type="none" w="med" len="med"/>
                      <a:tailEnd type="none" w="med" len="med"/>
                    </a:lnB>
                  </a:tcPr>
                </a:tc>
              </a:tr>
              <a:tr h="359321">
                <a:tc>
                  <a:txBody>
                    <a:bodyPr/>
                    <a:lstStyle/>
                    <a:p>
                      <a:pPr indent="0" marL="0">
                        <a:lnSpc>
                          <a:spcPts val="1820"/>
                        </a:lnSpc>
                        <a:buNone/>
                      </a:pPr>
                      <a:r>
                        <a:rPr lang="en-US" sz="1300" dirty="0">
                          <a:solidFill>
                            <a:srgbClr val="D6E1F0"/>
                          </a:solidFill>
                          <a:latin typeface="IBM Plex Sans" pitchFamily="34" charset="0"/>
                          <a:ea typeface="IBM Plex Sans" pitchFamily="34" charset="-122"/>
                          <a:cs typeface="IBM Plex Sans" pitchFamily="34" charset="-120"/>
                        </a:rPr>
                        <a:t>Agent registry, breakers, baseline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85057"/>
                      </a:solidFill>
                      <a:prstDash val="solid"/>
                      <a:round/>
                      <a:headEnd type="none" w="med" len="med"/>
                      <a:tailEnd type="none" w="med" len="med"/>
                    </a:lnL>
                    <a:lnR w="12700" cap="flat" cmpd="sng" algn="ctr">
                      <a:solidFill>
                        <a:srgbClr val="485057"/>
                      </a:solidFill>
                      <a:prstDash val="solid"/>
                      <a:round/>
                      <a:headEnd type="none" w="med" len="med"/>
                      <a:tailEnd type="none" w="med" len="med"/>
                    </a:lnR>
                    <a:lnT w="12700" cap="flat" cmpd="sng" algn="ctr">
                      <a:solidFill>
                        <a:srgbClr val="485057"/>
                      </a:solidFill>
                      <a:prstDash val="solid"/>
                      <a:round/>
                      <a:headEnd type="none" w="med" len="med"/>
                      <a:tailEnd type="none" w="med" len="med"/>
                    </a:lnT>
                    <a:lnB w="12700" cap="flat" cmpd="sng" algn="ctr">
                      <a:solidFill>
                        <a:srgbClr val="485057"/>
                      </a:solidFill>
                      <a:prstDash val="solid"/>
                      <a:round/>
                      <a:headEnd type="none" w="med" len="med"/>
                      <a:tailEnd type="none" w="med" len="med"/>
                    </a:lnB>
                  </a:tcPr>
                </a:tc>
                <a:tc>
                  <a:txBody>
                    <a:bodyPr/>
                    <a:lstStyle/>
                    <a:p>
                      <a:pPr indent="0" marL="0">
                        <a:lnSpc>
                          <a:spcPts val="1820"/>
                        </a:lnSpc>
                        <a:buNone/>
                      </a:pPr>
                      <a:r>
                        <a:rPr lang="en-US" sz="1300" dirty="0">
                          <a:solidFill>
                            <a:srgbClr val="D6E1F0"/>
                          </a:solidFill>
                          <a:latin typeface="IBM Plex Sans" pitchFamily="34" charset="0"/>
                          <a:ea typeface="IBM Plex Sans" pitchFamily="34" charset="-122"/>
                          <a:cs typeface="IBM Plex Sans" pitchFamily="34" charset="-120"/>
                        </a:rPr>
                        <a:t>Every team's agents in Copilot and Foundry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85057"/>
                      </a:solidFill>
                      <a:prstDash val="solid"/>
                      <a:round/>
                      <a:headEnd type="none" w="med" len="med"/>
                      <a:tailEnd type="none" w="med" len="med"/>
                    </a:lnL>
                    <a:lnR w="12700" cap="flat" cmpd="sng" algn="ctr">
                      <a:solidFill>
                        <a:srgbClr val="485057"/>
                      </a:solidFill>
                      <a:prstDash val="solid"/>
                      <a:round/>
                      <a:headEnd type="none" w="med" len="med"/>
                      <a:tailEnd type="none" w="med" len="med"/>
                    </a:lnR>
                    <a:lnT w="12700" cap="flat" cmpd="sng" algn="ctr">
                      <a:solidFill>
                        <a:srgbClr val="485057"/>
                      </a:solidFill>
                      <a:prstDash val="solid"/>
                      <a:round/>
                      <a:headEnd type="none" w="med" len="med"/>
                      <a:tailEnd type="none" w="med" len="med"/>
                    </a:lnT>
                    <a:lnB w="12700" cap="flat" cmpd="sng" algn="ctr">
                      <a:solidFill>
                        <a:srgbClr val="485057"/>
                      </a:solidFill>
                      <a:prstDash val="solid"/>
                      <a:round/>
                      <a:headEnd type="none" w="med" len="med"/>
                      <a:tailEnd type="none" w="med" len="med"/>
                    </a:lnB>
                  </a:tcPr>
                </a:tc>
              </a:tr>
            </a:tbl>
          </a:graphicData>
        </a:graphic>
      </p:graphicFrame>
      <p:sp>
        <p:nvSpPr>
          <p:cNvPr id="5" name="Text 2"/>
          <p:cNvSpPr/>
          <p:nvPr/>
        </p:nvSpPr>
        <p:spPr>
          <a:xfrm>
            <a:off x="812800" y="4208165"/>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E2B44E"/>
                </a:solidFill>
                <a:latin typeface="Big Shoulders" pitchFamily="34" charset="0"/>
                <a:ea typeface="Big Shoulders" pitchFamily="34" charset="-122"/>
                <a:cs typeface="Big Shoulders" pitchFamily="34" charset="-120"/>
              </a:rPr>
              <a:t>Operationalize in sales. Industrialize across teams. Then scale to clients.</a:t>
            </a:r>
            <a:endParaRPr lang="en-US" sz="28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3A3B4"/>
                </a:solidFill>
                <a:latin typeface="IBM Plex Mono" pitchFamily="49" charset="0"/>
                <a:ea typeface="IBM Plex Mono" pitchFamily="49" charset="-122"/>
                <a:cs typeface="IBM Plex Mono" pitchFamily="49" charset="-120"/>
              </a:rPr>
              <a:t>PEO Sales Advisor · Storyboard · 24</a:t>
            </a:r>
            <a:endParaRPr lang="en-US" sz="1200" dirty="0"/>
          </a:p>
        </p:txBody>
      </p:sp>
    </p:spTree>
  </p:cSld>
  <p:clrMapOvr>
    <a:masterClrMapping/>
  </p:clrMapOvr>
</p:sld>
</file>

<file path=ppt/theme/theme1.xml><?xml version="1.0" encoding="utf-8"?>
<a:theme xmlns:a="http://schemas.openxmlformats.org/drawingml/2006/main" name="PEO Sales Advisor Storyboard">
  <a:themeElements>
    <a:clrScheme name="PEO Sales Advisor Storyboard">
      <a:dk1>
        <a:srgbClr val="16202B"/>
      </a:dk1>
      <a:lt1>
        <a:srgbClr val="F3F6F9"/>
      </a:lt1>
      <a:dk2>
        <a:srgbClr val="4D565F"/>
      </a:dk2>
      <a:lt2>
        <a:srgbClr val="DDE1E4"/>
      </a:lt2>
      <a:accent1>
        <a:srgbClr val="1F6E8C"/>
      </a:accent1>
      <a:accent2>
        <a:srgbClr val="1F3A5F"/>
      </a:accent2>
      <a:accent3>
        <a:srgbClr val="E2B44E"/>
      </a:accent3>
      <a:accent4>
        <a:srgbClr val="8A5E0A"/>
      </a:accent4>
      <a:accent5>
        <a:srgbClr val="4A3AA7"/>
      </a:accent5>
      <a:accent6>
        <a:srgbClr val="A8322A"/>
      </a:accent6>
      <a:hlink>
        <a:srgbClr val="0563C1"/>
      </a:hlink>
      <a:folHlink>
        <a:srgbClr val="954F72"/>
      </a:folHlink>
    </a:clrScheme>
    <a:fontScheme name="PEO Sales Advisor Storyboard">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PEO Sales Advisor Storyboard</dc:title>
  <dc:subject/>
  <dc:creator/>
  <cp:lastModifiedBy/>
  <cp:revision>1</cp:revision>
  <dcterms:created xsi:type="dcterms:W3CDTF">2026-10-07T01:47:35Z</dcterms:created>
  <dcterms:modified xsi:type="dcterms:W3CDTF">2026-10-07T01:47:35Z</dcterms:modified>
</cp:coreProperties>
</file>