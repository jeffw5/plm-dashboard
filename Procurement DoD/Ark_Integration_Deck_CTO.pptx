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31720"/>
            <a:ext cx="11868912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TECHNICAL BRIEFING  ·  PRINCIPAL ENGINEERS &amp; 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libri Light"/>
              </a:rPr>
              <a:t>Defense Innovation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4800" b="1" i="0">
                <a:solidFill>
                  <a:srgbClr val="CADCFC"/>
                </a:solidFill>
                <a:latin typeface="Calibri Light"/>
              </a:rPr>
              <a:t>× Govini 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3AFD0"/>
                </a:solidFill>
                <a:latin typeface="Calibri Light"/>
              </a:rPr>
              <a:t>Integration Architecture &amp; Engineering Value Proposition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2651760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416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RDSG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Requirements-Driven
Semantic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977639"/>
            <a:ext cx="265176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416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074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Set-Based
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977639"/>
            <a:ext cx="2651760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0416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4074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Predictive Scoring
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Calibri"/>
              </a:rPr>
              <a:t>May 2026  ·  Value Enablement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Why Cold War acquisition practices fail modern defense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490"/>
                </a:solidFill>
                <a:latin typeface="Calibri"/>
              </a:rPr>
              <a:t>Point-Based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916"/>
                </a:solidFill>
                <a:latin typeface="Calibri"/>
              </a:rPr>
              <a:t>Programs lock in a single design early, making costly rework inevitable when requirements evolve.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154680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6324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Nunn-McCurdy cost breaches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776472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68503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Late-stage redesign at maximum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398264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30682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GAO: 23-year consistent failure pattern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141732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417320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Static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0299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916"/>
                </a:solidFill>
                <a:latin typeface="Calibri"/>
              </a:rPr>
              <a:t>Prose documents written once cannot represent emergent AI behaviors or volatile operational contexts.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79" y="3154680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06324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Attribute substitution bias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79" y="377647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68503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Requirements drift vs. AI 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4398264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430682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Digital thread absent in most MDAPs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5" y="141732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5" y="1417320"/>
            <a:ext cx="365760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</a:rPr>
              <a:t>Unquantified AI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20299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916"/>
                </a:solidFill>
                <a:latin typeface="Calibri"/>
              </a:rPr>
              <a:t>No mathematical framework exists to guarantee AI agents are calibrated or honest in mission-critical decisions.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0767" y="3154680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306324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Hallucination with no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0767" y="377647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3648" y="368503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Overconfident probability forecasts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0767" y="4398264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430682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Calibri"/>
              </a:rPr>
              <a:t>No auditable AI reliability metric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3562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45309"/>
                </a:solidFill>
                <a:latin typeface="Calibri"/>
              </a:rPr>
              <a:t>📋  GAO (2025): DOD continues to struggle with delivering timely capabilities — the dominant failure mode is execution: programs proceed to commitment without completing system info-data definition.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The Three-Pillar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An integrated governance architecture that transforms Govini Ark into a high-assurance decision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A8A8A"/>
                </a:solidFill>
                <a:latin typeface="Calibri"/>
              </a:rPr>
              <a:t>SELF-REINFORCING GOVERNANCE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3657600" cy="457200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3657600" cy="7772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RDSG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Requirements-Driven
Semantic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862072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743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SHACL structural 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3374136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552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SWRL behavioral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3886200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767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Requirements-Derived Query Envelopes (RDQE)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" y="4398264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793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Ontology Gap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4910328"/>
            <a:ext cx="64008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7914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AI Circuit Breaker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783080"/>
            <a:ext cx="3657600" cy="45720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1783080"/>
            <a:ext cx="36576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8013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176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Set-Based Design +
Agile Decision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86207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2743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Deliberate design convergence 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374136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32552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MOVOI — Multiobjective Value of Information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886200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3767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MBSE + RSM + Pareto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398264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79" y="42793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10–50× faster design space exploration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910328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47914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Nunn-McCurdy breach prevention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5" y="1783080"/>
            <a:ext cx="3657600" cy="4572000"/>
          </a:xfrm>
          <a:prstGeom prst="rect">
            <a:avLst/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0455" y="1783080"/>
            <a:ext cx="3657600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5" y="18013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5" y="2176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Predictive Scoring
Metrics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76487" y="286207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7" y="2743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Brier Score — probabilistic calibration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76487" y="3374136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9367" y="32552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Logarithmic scoring — overconfidence penalty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6487" y="3886200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7" y="3767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Mean Time Between Hallucinations (MTBH)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7" y="4398264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7" y="42793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Strictly proper scoring rule guarantees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6487" y="4910328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7" y="47914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PM-briefable AI reliability 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172200"/>
            <a:ext cx="11320272" cy="320040"/>
          </a:xfrm>
          <a:prstGeom prst="rect">
            <a:avLst/>
          </a:prstGeom>
          <a:solidFill>
            <a:srgbClr val="EEF1F7"/>
          </a:solidFill>
          <a:ln w="6350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181344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B2A4A"/>
                </a:solidFill>
                <a:latin typeface="Calibri"/>
              </a:rPr>
              <a:t>Each pillar maps directly onto Govini Ark's existing architecture layers — RDSG → AI/Knowledge Engine  ·  SBD/Agile DA → Application Layer  ·  PSM → LLM training loss functions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How the three pillars map onto Govini Ark's platform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1288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08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350F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8350F"/>
                </a:solidFill>
                <a:latin typeface="Calibri"/>
              </a:rPr>
              <a:t>DoD Policy
(DoDI 5000.02/85/88)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9164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1907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8350F"/>
                </a:solidFill>
                <a:latin typeface="Calibri"/>
              </a:rPr>
              <a:t>Nunn-McCurdy
Breachwatch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69164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71907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8350F"/>
                </a:solidFill>
                <a:latin typeface="Calibri"/>
              </a:rPr>
              <a:t>GAO SDD
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33472"/>
            <a:ext cx="11612880" cy="1097280"/>
          </a:xfrm>
          <a:prstGeom prst="rect">
            <a:avLst/>
          </a:prstGeom>
          <a:solidFill>
            <a:srgbClr val="EEF1F7"/>
          </a:solidFill>
          <a:ln w="12700"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670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B8A"/>
                </a:solidFill>
                <a:latin typeface="Calibri"/>
              </a:rPr>
              <a:t>GOVINI ARK — APPLICATION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5351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8094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5B8A"/>
                </a:solidFill>
                <a:latin typeface="Calibri"/>
              </a:rPr>
              <a:t>Supply Chain
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95351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98094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5B8A"/>
                </a:solidFill>
                <a:latin typeface="Calibri"/>
              </a:rPr>
              <a:t>Production
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95351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98094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5B8A"/>
                </a:solidFill>
                <a:latin typeface="Calibri"/>
              </a:rPr>
              <a:t>Modernization
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95351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8094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5B8A"/>
                </a:solidFill>
                <a:latin typeface="Calibri"/>
              </a:rPr>
              <a:t>Ark Hubs
(UX/Workflows)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95344"/>
            <a:ext cx="11612880" cy="1097280"/>
          </a:xfrm>
          <a:prstGeom prst="rect">
            <a:avLst/>
          </a:prstGeom>
          <a:solidFill>
            <a:srgbClr val="DDE6F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  <a:latin typeface="Calibri"/>
              </a:rPr>
              <a:t>GOVINI ARK — AI &amp; KNOWLEDGE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15383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4281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NSKG
(Knowledge Graph)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215383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424281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Vector
Retrieval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4215383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424281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LLM
Orchestration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215383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24281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Ontology
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57216"/>
            <a:ext cx="11612880" cy="1097280"/>
          </a:xfrm>
          <a:prstGeom prst="rect">
            <a:avLst/>
          </a:prstGeom>
          <a:solidFill>
            <a:srgbClr val="E0F8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193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7490"/>
                </a:solidFill>
                <a:latin typeface="Calibri"/>
              </a:rPr>
              <a:t>DEFENSE INNOVATION PILLARS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7255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0468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7490"/>
                </a:solidFill>
                <a:latin typeface="Calibri"/>
              </a:rPr>
              <a:t>RDSG
(Semantic Gov.)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477255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50468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SBD + Agile DA
(Tradespace Mgmt)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5477255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550468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  <a:latin typeface="Calibri"/>
              </a:rPr>
              <a:t>PSM
(AI Reliability)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5477255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550468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Calibri"/>
              </a:rPr>
              <a:t>Scope Drift
Detection (SDD)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5B8A"/>
                </a:solidFill>
                <a:latin typeface="Calibri"/>
              </a:rPr>
              <a:t>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Calibri"/>
              </a:rPr>
              <a:t>RDQE modifies vector retrieval;
Compliance Mandatory Fetches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5B8A"/>
                </a:solidFill>
                <a:latin typeface="Calibri"/>
              </a:rPr>
              <a:t>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5352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Calibri"/>
              </a:rPr>
              <a:t>PSM as loss functions;
MTBH threshold breakers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4956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5B8A"/>
                </a:solidFill>
                <a:latin typeface="Calibri"/>
              </a:rPr>
              <a:t>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4956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Calibri"/>
              </a:rPr>
              <a:t>MOVOI drives app simulations;
Closed-loop Hub evolution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Pillar 1 — RDSG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7E8F9"/>
                </a:solidFill>
                <a:latin typeface="Calibri"/>
              </a:rPr>
              <a:t>Requirements-Driven Semantic Gateway  ·  AI Circuit Breaker for Govini 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Calibri"/>
              </a:rPr>
              <a:t>TECHNICAL 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4864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7490"/>
                </a:solidFill>
                <a:latin typeface="Calibri"/>
              </a:rPr>
              <a:t>SHACL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214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Machine-enforceable shapes validation against ontology standards. Violations surface automatically — no human review cycle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16936"/>
            <a:ext cx="54864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9169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7490"/>
                </a:solidFill>
                <a:latin typeface="Calibri"/>
              </a:rPr>
              <a:t>SWRL Inference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9125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Behavioral governance layer that fires inference rules when AI output violates operational requirements or crosses semantic boundaries.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86783"/>
            <a:ext cx="54864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8678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7490"/>
                </a:solidFill>
                <a:latin typeface="Calibri"/>
              </a:rPr>
              <a:t>RDQE — Query Envelopes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3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Requirements-Derived Query Envelopes dynamically modify vector retrieval. Job Embedding Bias steers results; Compliance Mandatory Fetches force-include regulated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56631"/>
            <a:ext cx="54864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5663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7490"/>
                </a:solidFill>
                <a:latin typeface="Calibri"/>
              </a:rPr>
              <a:t>Ontology Gap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30951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Unresolved terms are captured as OntologyGap individuals, tagged with user persona + scenario context, and queued for domain steward remediation.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371600"/>
            <a:ext cx="583387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44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ARK INTEGRATION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47672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8470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NSKG normalizes data  →  RDSG governs semantics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377440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2768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RDQE plugs into Ark's vector retrieval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807208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7066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LLM receives only ontologically compliant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236975"/>
            <a:ext cx="82296" cy="822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13639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Hub failures log → RequirementsReview auto-triggered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794760"/>
            <a:ext cx="5833872" cy="256032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858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Calibri"/>
              </a:rPr>
              <a:t>ENGINEERING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alibri"/>
              </a:rPr>
              <a:t>Zero-trust AI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480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916"/>
                </a:solidFill>
                <a:latin typeface="Calibri"/>
              </a:rPr>
              <a:t>Every AI directive validated before compilation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7548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alibri"/>
              </a:rPr>
              <a:t>Automated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983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916"/>
                </a:solidFill>
                <a:latin typeface="Calibri"/>
              </a:rPr>
              <a:t>SHACL/SWRL replace manual review cycles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257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alibri"/>
              </a:rPr>
              <a:t>Live ontology evolution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486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916"/>
                </a:solidFill>
                <a:latin typeface="Calibri"/>
              </a:rPr>
              <a:t>Knowledge graph updates without manual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760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alibri"/>
              </a:rPr>
              <a:t>Closed-loop requirements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989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916"/>
                </a:solidFill>
                <a:latin typeface="Calibri"/>
              </a:rPr>
              <a:t>Operational failures become requirements signals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Pillar 2 — SBD + Agile Decision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FD"/>
                </a:solidFill>
                <a:latin typeface="Calibri"/>
              </a:rPr>
              <a:t>Set-Based Design  ·  MOVOI  ·  MBSE + RSM + Pareto  ·  10–50× Decision Velocity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8892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889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Deliberate
Decision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01368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Defer design lock-in until epistemic uncertainty resolves — eliminates premature commitment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371600"/>
            <a:ext cx="278892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371600"/>
            <a:ext cx="27889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1389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Concurrent
Alternatives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801368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Maintain bounded tradespace of viable designs simultaneously rather than single-point convergence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371600"/>
            <a:ext cx="278892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371600"/>
            <a:ext cx="27889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1389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MOVOI
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801368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Multiobjective Value of Information quantifies which simulations are worth executing 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371600"/>
            <a:ext cx="278892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371600"/>
            <a:ext cx="27889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1389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Govini Ark
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1801368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MOVOI analysis runs within Supply Chain, Production &amp; Modernization apps against NSKG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  <a:latin typeface="Calibri"/>
              </a:rPr>
              <a:t>AGILE DECISION ARCHITECTURE  —  THE DECISION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58768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58768"/>
            <a:ext cx="26060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877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MBSE
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315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Calibri"/>
              </a:rPr>
              <a:t>High-fidelity physics
ground 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4622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3858768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64408" y="3858768"/>
            <a:ext cx="260604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877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Response
Surface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4136" y="4315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Calibri"/>
              </a:rPr>
              <a:t>Surrogate model
1000s of evals at ~0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44622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3858768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858768"/>
            <a:ext cx="260604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3877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Pareto
Optimality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315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Calibri"/>
              </a:rPr>
              <a:t>Efficient frontier
for stakeholder choice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9096" y="44622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61704" y="3858768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61704" y="3858768"/>
            <a:ext cx="260604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1432" y="3877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Defensible
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4315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Calibri"/>
              </a:rPr>
              <a:t>Physics-grounded,
requirements-traceable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875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  <a:latin typeface="Calibri"/>
              </a:rPr>
              <a:t>10–50×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74243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faster design space exploration vs. direct simulation  ·  Decision cycle compresses from weeks to hours  ·  Stakeholders choose from validated Pareto frontier — not from opinion or a single design point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Pillar 3 — Predictive Scoring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Calibri"/>
              </a:rPr>
              <a:t>Mathematically guaranteed AI agent calibration  ·  From qualitative assurance to auditable engineering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03320" cy="4892040"/>
          </a:xfrm>
          <a:prstGeom prst="rect">
            <a:avLst/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99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Brier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38528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45309"/>
                </a:solidFill>
                <a:latin typeface="Courier New"/>
              </a:rPr>
              <a:t>BS = 1/N Σ(fᵢ − oᵢ)²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Measures probabilistic calibration of AI forecasts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1927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 perfectly calibrated AI minimizes BS →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2219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Applied as loss function during Govini LLM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2511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Penalizes both overconfident and underconfident outputs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828032"/>
            <a:ext cx="6400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Provides continuous signal for model improvement cycles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371600"/>
            <a:ext cx="3703320" cy="4892040"/>
          </a:xfrm>
          <a:prstGeom prst="rect">
            <a:avLst/>
          </a:prstGeom>
          <a:solidFill>
            <a:srgbClr val="FFEDD5"/>
          </a:solidFill>
          <a:ln w="19050">
            <a:solidFill>
              <a:srgbClr val="924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371600"/>
            <a:ext cx="3703320" cy="502920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399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Logarithmic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938528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924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956816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7"/>
                </a:solidFill>
                <a:latin typeface="Courier New"/>
              </a:rPr>
              <a:t>LS = − log P(outcome)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2816352"/>
            <a:ext cx="64008" cy="64008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269748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Strictly proper rule with infinite overconfidence penalty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3319272"/>
            <a:ext cx="64008" cy="64008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20040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Forces agents to represent genuine epistemic uncertainty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8848" y="3822192"/>
            <a:ext cx="64008" cy="64008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7033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No adversarial strategy improves score through misreporting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8848" y="4325112"/>
            <a:ext cx="64008" cy="64008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20624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Applied to procurement decision forecasts and supply chain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8848" y="4828032"/>
            <a:ext cx="64008" cy="64008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470916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Decomposable into calibration + resolution components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1371600"/>
            <a:ext cx="3703320" cy="4892040"/>
          </a:xfrm>
          <a:prstGeom prst="rect">
            <a:avLst/>
          </a:prstGeom>
          <a:solidFill>
            <a:srgbClr val="FFF7ED"/>
          </a:solidFill>
          <a:ln w="1905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1371600"/>
            <a:ext cx="3703320" cy="5029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1399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MTBH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9327" y="1938528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1956816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350F"/>
                </a:solidFill>
                <a:latin typeface="Courier New"/>
              </a:rPr>
              <a:t>Mean Time Between
Hallucinations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3336" y="2816352"/>
            <a:ext cx="64008" cy="64008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86215" y="269748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Frames AI hallucination as a reliability engineering problem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319272"/>
            <a:ext cx="64008" cy="64008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86215" y="320040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Quantified, bounded, threshold-settable — briefable at Milestone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3336" y="3822192"/>
            <a:ext cx="64008" cy="64008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86215" y="37033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Circuit-breaker intervention when MTBH threshold violated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03336" y="4325112"/>
            <a:ext cx="64008" cy="64008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86215" y="420624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Replaces qualitative 'sufficiently tested' assurances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03336" y="4828032"/>
            <a:ext cx="64008" cy="64008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6215" y="470916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Standard reliability engineering methods applied to LLMs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428232"/>
            <a:ext cx="11430000" cy="201168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6437376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STRICT PROPRIETY GUARANTEE  ·  These rules mathematically guarantee AI agents report true beliefs — no adversarial strategy improves the score through misreporting.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Closed-Loop Evolution in Ark Hubs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Transforming static dashboards into active governance tools with continuous self-reinforcement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2103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21031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435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Operator
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93852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User queries Ark Hub;
RDQE governs context fed to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B8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417320"/>
            <a:ext cx="2103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417320"/>
            <a:ext cx="2103120" cy="4572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435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Anomaly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193852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Ontology Gap Detection monitors
unresolved terms in real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B8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417320"/>
            <a:ext cx="2103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1417320"/>
            <a:ext cx="21031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1435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Failure
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193852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AI failures log against Acceptance
Criteria thresholds in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1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B8A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4344" y="1417320"/>
            <a:ext cx="2103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4344" y="1417320"/>
            <a:ext cx="210312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4071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1435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Requirements
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193852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Threshold breach surfaces
RequirementsReview to domain stewards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3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B8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37776" y="1417320"/>
            <a:ext cx="2103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37776" y="1417320"/>
            <a:ext cx="210312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3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696" y="1435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Knowledge
Graph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4936" y="193852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Stewards calibrate requirements;
NSKG updated — no manual 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950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Calibri"/>
              </a:rPr>
              <a:t>↺  CONTINUOUS SELF-REINFORCING 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29768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370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ENGINEERING IMPACT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7" y="4828031"/>
            <a:ext cx="73152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7365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Domain stewards review findings directly in Hub — no separate toolchain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" y="5230368"/>
            <a:ext cx="73152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1389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Requirements evolve as operational evidence accumulates — not through manual document change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" y="5632703"/>
            <a:ext cx="73152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5412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Zero manual NSKG synchronization; governance updates propagate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7" y="6035040"/>
            <a:ext cx="73152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943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AI failures become first-class engineering signals, not post-hoc audit findings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97680"/>
            <a:ext cx="5486400" cy="224028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370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803D"/>
                </a:solidFill>
                <a:latin typeface="Calibri"/>
              </a:rPr>
              <a:t>SCOPE DRIFT DETECTION (SDD)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4828031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38544" y="47365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Four-layer operational data capture and benchmarking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230368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38544" y="51389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Monitors system processes and AI behaviors in real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5632703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8544" y="55412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Surfaces scope drift before it propagates into info-data baseline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6035040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38544" y="5943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Continuous quantified signal: is operational envelope drifting from formal definition?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Standards &amp; Regulatory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realization of DoDI 5000.02, 5000.85, and 5000.88 — not compliance theater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37033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DoDI 5000.02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922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Adaptive Acquisition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19456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86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SBD — 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Deliberate decision delay preserves acquisition pathway flexibility; no full program reset required on technology insertion.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2194560" cy="3108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982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RDSG — 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7316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Closed-loop requirements evolution uses AI behavioral failures as continuous refinement signals — requirements stay live.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1371600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1371600"/>
            <a:ext cx="37033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1408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DoDI 5000.85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17922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Major Capability Acquisition (MCA)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7" y="237744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3127" y="2377440"/>
            <a:ext cx="219456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7" y="2386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SBD — PRIMARY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76148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Directly addresses the #1 MDAP failure: programs proceeding to commitment milestones without completing system info-data definition.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3127" y="438912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7" y="4389120"/>
            <a:ext cx="2194560" cy="3108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7" y="43982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PSM — PRIMARY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77316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Brier and Logarithmic scoring satisfy oversight requirements for AI agent reliability quantification at milestone reviews.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3" y="1371600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3" y="1371600"/>
            <a:ext cx="37033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5" y="1408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DoDI 5000.88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17922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Engineering of Defense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5" y="237744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7615" y="2377440"/>
            <a:ext cx="2194560" cy="3108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5" y="2386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RDSG — PRIMARY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5" y="276148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SysML v2/KerML federated REST API delivers the 'digital authoritative source of truth' mandate at Milestone B fidelity.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4389120"/>
            <a:ext cx="3383280" cy="1874519"/>
          </a:xfrm>
          <a:prstGeom prst="rect">
            <a:avLst/>
          </a:prstGeom>
          <a:solidFill>
            <a:srgbClr val="F8F8F8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57615" y="4389120"/>
            <a:ext cx="2194560" cy="3108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5" y="43982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PSM — SUPPORTING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5" y="4773168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MTBH frames AI reliability as a standard engineering metric — quantified, bounded, and briefable at Milestone B reviews.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108192"/>
            <a:ext cx="11430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12648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45309"/>
                </a:solidFill>
                <a:latin typeface="Calibri"/>
              </a:rPr>
              <a:t>⚠  COVERAGE GAPS (addressable in Systems Engineering Plan):  DoDI 5000.88 workforce readiness and IP strategy — structural rather than conceptual gaps; RDSG SysML v2 layer is a structural enabler, not a first-class compliance mechanism for Milestone B reviewers.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Engineering Value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What Govini Ark becomes with this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54512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65176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10–50×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Faster design
space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463040"/>
            <a:ext cx="2651760" cy="1371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7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Manual NSKG sync
operations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463040"/>
            <a:ext cx="2651760" cy="1371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Auditable AI
reliability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5984" y="1463040"/>
            <a:ext cx="2651760" cy="1371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∞ Pen.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For AI overconfidence
(log scoring)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971800"/>
            <a:ext cx="10954512" cy="347472"/>
          </a:xfrm>
          <a:prstGeom prst="rect">
            <a:avLst/>
          </a:prstGeom>
          <a:solidFill>
            <a:srgbClr val="2E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99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992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AFTER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364992"/>
            <a:ext cx="10954512" cy="402336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520440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36499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Manual requirements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20440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36499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Automated SHACL/SWRL enforcement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785616"/>
            <a:ext cx="10954512" cy="40233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941064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7856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Point-based design lock-in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41064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7856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SBD tradespace with MOVOI-guided convergence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206240"/>
            <a:ext cx="10954512" cy="402336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361688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20624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Qualitative AI assurance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361688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20624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Brier Score + MTBH — briefable at Milestone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626864"/>
            <a:ext cx="10954512" cy="40233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782312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6268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Static Ark Hub dashboards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782312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6268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Active governance with closed-loop evolution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047488"/>
            <a:ext cx="10954512" cy="402336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202936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04748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Silent scope drift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202936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504748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SDD four-layer operational telemetry benchmark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468112"/>
            <a:ext cx="10954512" cy="40233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5623560"/>
            <a:ext cx="7315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46811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Weeks per design question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623560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2" y="546811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Hours — MBSE → RSM → Pareto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Phased integration aligned with Govini Ark development cycles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370332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3703320" cy="8046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Phase 1
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Foundation &amp; Proof of Concept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" y="2414016"/>
            <a:ext cx="731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04288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RDSG SHACL/SWRL schema definition against NSKG ontology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" y="3392424"/>
            <a:ext cx="731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282696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RDQE prototype in vector retrieval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" y="4370832"/>
            <a:ext cx="731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261104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PSM Brier Score baseline for existing LLM forecasts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" y="5349240"/>
            <a:ext cx="731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239512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SBD tradespace framework in Modernization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1371600"/>
            <a:ext cx="370332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1371600"/>
            <a:ext cx="3703320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1389888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Phase 2
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Integration &amp;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7136" y="2414016"/>
            <a:ext cx="731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2304288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Full RDQE Job Embedding Bias and Compliance Mandatory Fetch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3392424"/>
            <a:ext cx="731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282696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MTBH metric instrumented across Ark AI agents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7136" y="4370832"/>
            <a:ext cx="731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4261104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MOVOI analysis live in Supply Chain and Production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5349240"/>
            <a:ext cx="731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5239512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Ontology Gap Detection in Ark Hubs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3" y="1371600"/>
            <a:ext cx="370332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3" y="1371600"/>
            <a:ext cx="3703320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5" y="1389888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Phase 3
Q1–Q2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Closed-Loop Activation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1624" y="2414016"/>
            <a:ext cx="7315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04503" y="2304288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RequirementsReview workflow surfaced to domain stewards in Hubs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1624" y="3392424"/>
            <a:ext cx="7315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503" y="3282696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Scope Drift Detection (SDD) four-layer telemetry operational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21624" y="4370832"/>
            <a:ext cx="7315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4503" y="4261104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MBSE + RSM + Pareto pipeline for program decision acceleration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21624" y="5349240"/>
            <a:ext cx="7315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4503" y="5239512"/>
            <a:ext cx="3154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916"/>
                </a:solidFill>
                <a:latin typeface="Calibri"/>
              </a:rPr>
              <a:t>Full DoDI 5000.88 digital authoritative source of truth 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108192"/>
            <a:ext cx="11430000" cy="475488"/>
          </a:xfrm>
          <a:prstGeom prst="rect">
            <a:avLst/>
          </a:prstGeom>
          <a:solidFill>
            <a:srgbClr val="EEF1F7"/>
          </a:solidFill>
          <a:ln w="6350">
            <a:solidFill>
              <a:srgbClr val="E2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1264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SUCCESS CRITERIA  ·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126480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916"/>
                </a:solidFill>
                <a:latin typeface="Calibri"/>
              </a:rPr>
              <a:t>All three pillars instrumented  ·  MTBH baseline established  ·  First RequirementsReview triggered from Hub failure  ·  Milestone B AI reliability brief delivered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  <a:latin typeface="Calibri"/>
              </a:rPr>
              <a:t>Defense Innovation × Govini Ark  |  CONTROLLED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