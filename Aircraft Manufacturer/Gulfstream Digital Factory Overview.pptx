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92608"/>
            <a:ext cx="9144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D4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7D4EE"/>
                </a:solidFill>
                <a:latin typeface="Calibri"/>
                <a:ea typeface="Calibri"/>
                <a:cs typeface="Calibri"/>
                <a:sym typeface="Calibri"/>
              </a:rPr>
              <a:t>GULFSTREAM · DIGITAL FACTORY OF THE FUTURE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512064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Transformation Strategy &amp; Platform Foundation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A solution architecture roadmap unifying design, production, quality, and support under one governed digital thread.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408176"/>
            <a:ext cx="82296" cy="137160"/>
          </a:xfrm>
          <a:prstGeom prst="rect">
            <a:avLst/>
          </a:prstGeom>
          <a:solidFill>
            <a:srgbClr val="27D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21792" y="136245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627632"/>
            <a:ext cx="33101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Replace three siloed initiatives — AI, digital twin, semantic data — with one governed architecture, so every domain from supply chain to MRO draws on the same model and the same twin state.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286000"/>
            <a:ext cx="3310128" cy="475488"/>
          </a:xfrm>
          <a:prstGeom prst="roundRect">
            <a:avLst>
              <a:gd fmla="val 1346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66928" y="2286000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D4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7D4EE"/>
                </a:solidFill>
                <a:latin typeface="Calibri"/>
                <a:ea typeface="Calibri"/>
                <a:cs typeface="Calibri"/>
                <a:sym typeface="Calibri"/>
              </a:rPr>
              <a:t>3 →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508760" y="2322576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Foundational pillars unified under one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2834640"/>
            <a:ext cx="3310128" cy="475488"/>
          </a:xfrm>
          <a:prstGeom prst="roundRect">
            <a:avLst>
              <a:gd fmla="val 1346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66928" y="2834640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1 Thread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508760" y="2871216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Per aircraft: configuration → build → completion → service life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3383280"/>
            <a:ext cx="3310128" cy="475488"/>
          </a:xfrm>
          <a:prstGeom prst="roundRect">
            <a:avLst>
              <a:gd fmla="val 1346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66928" y="3383280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2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B23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508760" y="3419856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Decisions carry lineage — FAA / EASA audit-ready by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986784" y="1408176"/>
            <a:ext cx="82296" cy="13716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151376" y="1362456"/>
            <a:ext cx="7580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CAPABILITIES — SIX DOMAINS, ONE OPERATING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986784" y="1664208"/>
            <a:ext cx="2502408" cy="1028700"/>
          </a:xfrm>
          <a:prstGeom prst="roundRect">
            <a:avLst>
              <a:gd fmla="val 622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096512" y="1764792"/>
            <a:ext cx="82296" cy="82296"/>
          </a:xfrm>
          <a:prstGeom prst="rect">
            <a:avLst/>
          </a:prstGeom>
          <a:solidFill>
            <a:srgbClr val="4C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4242816" y="1719072"/>
            <a:ext cx="2136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Digital Supply Chain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096512" y="1938528"/>
            <a:ext cx="2282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Semantic view of demand, capacity &amp; parts, raw material to delivery.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096512" y="2473452"/>
            <a:ext cx="2282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86FF"/>
              </a:buClr>
              <a:buSzPts val="780"/>
              <a:buFont typeface="Calibri"/>
              <a:buNone/>
            </a:pPr>
            <a:r>
              <a:rPr b="1" i="0" lang="en-US" sz="780" u="none" cap="none" strike="noStrike">
                <a:solidFill>
                  <a:srgbClr val="4C86FF"/>
                </a:solidFill>
                <a:latin typeface="Calibri"/>
                <a:ea typeface="Calibri"/>
                <a:cs typeface="Calibri"/>
                <a:sym typeface="Calibri"/>
              </a:rPr>
              <a:t>30–40% inventory cost ↓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608064" y="1664208"/>
            <a:ext cx="2502408" cy="1028700"/>
          </a:xfrm>
          <a:prstGeom prst="roundRect">
            <a:avLst>
              <a:gd fmla="val 622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717792" y="1764792"/>
            <a:ext cx="82296" cy="82296"/>
          </a:xfrm>
          <a:prstGeom prst="rect">
            <a:avLst/>
          </a:prstGeom>
          <a:solidFill>
            <a:srgbClr val="27D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864096" y="1719072"/>
            <a:ext cx="2136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Shop Floor &amp; 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717792" y="1938528"/>
            <a:ext cx="2282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Cells and lines that reason and re-balance in real time.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717792" y="2473452"/>
            <a:ext cx="2282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D4EE"/>
              </a:buClr>
              <a:buSzPts val="780"/>
              <a:buFont typeface="Calibri"/>
              <a:buNone/>
            </a:pPr>
            <a:r>
              <a:rPr b="1" i="0" lang="en-US" sz="780" u="none" cap="none" strike="noStrike">
                <a:solidFill>
                  <a:srgbClr val="27D4EE"/>
                </a:solidFill>
                <a:latin typeface="Calibri"/>
                <a:ea typeface="Calibri"/>
                <a:cs typeface="Calibri"/>
                <a:sym typeface="Calibri"/>
              </a:rPr>
              <a:t>100% paperless floor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9229344" y="1664208"/>
            <a:ext cx="2502408" cy="1028700"/>
          </a:xfrm>
          <a:prstGeom prst="roundRect">
            <a:avLst>
              <a:gd fmla="val 622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9339072" y="1764792"/>
            <a:ext cx="82296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9485376" y="1719072"/>
            <a:ext cx="2136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Quality Intelligence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9339072" y="1938528"/>
            <a:ext cx="2282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From inspection-based detection to AI prediction &amp; prevention.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9339072" y="2473452"/>
            <a:ext cx="2282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780"/>
              <a:buFont typeface="Calibri"/>
              <a:buNone/>
            </a:pPr>
            <a:r>
              <a:rPr b="1" i="0" lang="en-US" sz="78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25–35% first-time quality ↑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986784" y="2811780"/>
            <a:ext cx="2502408" cy="1028700"/>
          </a:xfrm>
          <a:prstGeom prst="roundRect">
            <a:avLst>
              <a:gd fmla="val 622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096512" y="2912364"/>
            <a:ext cx="82296" cy="82296"/>
          </a:xfrm>
          <a:prstGeom prst="rect">
            <a:avLst/>
          </a:prstGeom>
          <a:solidFill>
            <a:srgbClr val="FFB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242816" y="2866644"/>
            <a:ext cx="2136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MRO &amp; Predictive Mtn.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096512" y="3086100"/>
            <a:ext cx="2282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Maintenance driven by condition &amp; prediction, not calendar intervals.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096512" y="3621024"/>
            <a:ext cx="2282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23E"/>
              </a:buClr>
              <a:buSzPts val="780"/>
              <a:buFont typeface="Calibri"/>
              <a:buNone/>
            </a:pPr>
            <a:r>
              <a:rPr b="1" i="0" lang="en-US" sz="780" u="none" cap="none" strike="noStrike">
                <a:solidFill>
                  <a:srgbClr val="FFB23E"/>
                </a:solidFill>
                <a:latin typeface="Calibri"/>
                <a:ea typeface="Calibri"/>
                <a:cs typeface="Calibri"/>
                <a:sym typeface="Calibri"/>
              </a:rPr>
              <a:t>40–50% unplanned downtime ↓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608064" y="2811780"/>
            <a:ext cx="2502408" cy="1028700"/>
          </a:xfrm>
          <a:prstGeom prst="roundRect">
            <a:avLst>
              <a:gd fmla="val 622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717792" y="2912364"/>
            <a:ext cx="82296" cy="82296"/>
          </a:xfrm>
          <a:prstGeom prst="rect">
            <a:avLst/>
          </a:prstGeom>
          <a:solidFill>
            <a:srgbClr val="A89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864096" y="2866644"/>
            <a:ext cx="2136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Customer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717792" y="3086100"/>
            <a:ext cx="2282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From reactive tickets to proactive, twin-informed engagement.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717792" y="3621024"/>
            <a:ext cx="2282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5FF"/>
              </a:buClr>
              <a:buSzPts val="780"/>
              <a:buFont typeface="Calibri"/>
              <a:buNone/>
            </a:pPr>
            <a:r>
              <a:rPr b="1" i="0" lang="en-US" sz="780" u="none" cap="none" strike="noStrike">
                <a:solidFill>
                  <a:srgbClr val="A895FF"/>
                </a:solidFill>
                <a:latin typeface="Calibri"/>
                <a:ea typeface="Calibri"/>
                <a:cs typeface="Calibri"/>
                <a:sym typeface="Calibri"/>
              </a:rPr>
              <a:t>360° unified customer view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229344" y="2811780"/>
            <a:ext cx="2502408" cy="1028700"/>
          </a:xfrm>
          <a:prstGeom prst="roundRect">
            <a:avLst>
              <a:gd fmla="val 6222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9339072" y="2912364"/>
            <a:ext cx="82296" cy="82296"/>
          </a:xfrm>
          <a:prstGeom prst="rect">
            <a:avLst/>
          </a:prstGeom>
          <a:solidFill>
            <a:srgbClr val="FF7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9485376" y="2866644"/>
            <a:ext cx="2136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On-Demand Repair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339072" y="3086100"/>
            <a:ext cx="2282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Networked repair planned against live aircraft-asset twins.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339072" y="3621024"/>
            <a:ext cx="2282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9A"/>
              </a:buClr>
              <a:buSzPts val="780"/>
              <a:buFont typeface="Calibri"/>
              <a:buNone/>
            </a:pPr>
            <a:r>
              <a:rPr b="1" i="0" lang="en-US" sz="780" u="none" cap="none" strike="noStrike">
                <a:solidFill>
                  <a:srgbClr val="FF7F9A"/>
                </a:solidFill>
                <a:latin typeface="Calibri"/>
                <a:ea typeface="Calibri"/>
                <a:cs typeface="Calibri"/>
                <a:sym typeface="Calibri"/>
              </a:rPr>
              <a:t>91% first-time-fix target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4005072"/>
            <a:ext cx="82296" cy="137160"/>
          </a:xfrm>
          <a:prstGeom prst="rect">
            <a:avLst/>
          </a:prstGeom>
          <a:solidFill>
            <a:srgbClr val="FFB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21792" y="3959352"/>
            <a:ext cx="11109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PLATFORM BACKBONE — PLM + MANUFACTURING OPERATIONS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4279392"/>
            <a:ext cx="5509260" cy="2103120"/>
          </a:xfrm>
          <a:prstGeom prst="roundRect">
            <a:avLst>
              <a:gd fmla="val 3043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21792" y="4407408"/>
            <a:ext cx="5180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D4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D4EE"/>
                </a:solidFill>
                <a:latin typeface="Calibri"/>
                <a:ea typeface="Calibri"/>
                <a:cs typeface="Calibri"/>
                <a:sym typeface="Calibri"/>
              </a:rPr>
              <a:t>Teamcenter — Collaborative PLM (cPLM)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21792" y="4663440"/>
            <a:ext cx="51800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Siemens · Engineering source of truth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1792" y="4937760"/>
            <a:ext cx="5180076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BOM, configuration, requirements &amp; engineering change management for every tail 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Feeds design intent into the digital thread at “Configured” — traceability begins at Day 0, before a part is cut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Integrates to shop-floor &amp; MRO systems through the canonical model / event mesh, not point-to-point interfaces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222492" y="4279392"/>
            <a:ext cx="5509260" cy="2103120"/>
          </a:xfrm>
          <a:prstGeom prst="roundRect">
            <a:avLst>
              <a:gd fmla="val 3043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387084" y="4407408"/>
            <a:ext cx="5180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iBase-t Solumina — Cloud-Native MOM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87084" y="4663440"/>
            <a:ext cx="51800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Cloud-native · microservices · built for aerospace &amp; defense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387084" y="4937760"/>
            <a:ext cx="518007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Unifies MES, embedded Quality (EQMS), Supplier Quality (SQM) and MRO in one operational data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Connects engineering intent to shop-floor execution — guides production and enforces quality, not just records 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EAF2FD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Cloud-native, microservices architecture scales across global sites while preserving compliance, security &amp; continuity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387084" y="6071616"/>
            <a:ext cx="566928" cy="237744"/>
          </a:xfrm>
          <a:prstGeom prst="roundRect">
            <a:avLst>
              <a:gd fmla="val 23077" name="adj"/>
            </a:avLst>
          </a:prstGeom>
          <a:solidFill>
            <a:srgbClr val="1B3556"/>
          </a:solidFill>
          <a:ln cap="flat" cmpd="sng" w="952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387084" y="60716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045452" y="6071616"/>
            <a:ext cx="566928" cy="237744"/>
          </a:xfrm>
          <a:prstGeom prst="roundRect">
            <a:avLst>
              <a:gd fmla="val 23077" name="adj"/>
            </a:avLst>
          </a:prstGeom>
          <a:solidFill>
            <a:srgbClr val="1B3556"/>
          </a:solidFill>
          <a:ln cap="flat" cmpd="sng" w="952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045452" y="60716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EQMS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703820" y="6071616"/>
            <a:ext cx="566928" cy="237744"/>
          </a:xfrm>
          <a:prstGeom prst="roundRect">
            <a:avLst>
              <a:gd fmla="val 23077" name="adj"/>
            </a:avLst>
          </a:prstGeom>
          <a:solidFill>
            <a:srgbClr val="1B3556"/>
          </a:solidFill>
          <a:ln cap="flat" cmpd="sng" w="952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703820" y="60716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SQM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362188" y="6071616"/>
            <a:ext cx="566928" cy="237744"/>
          </a:xfrm>
          <a:prstGeom prst="roundRect">
            <a:avLst>
              <a:gd fmla="val 23077" name="adj"/>
            </a:avLst>
          </a:prstGeom>
          <a:solidFill>
            <a:srgbClr val="1B3556"/>
          </a:solidFill>
          <a:ln cap="flat" cmpd="sng" w="9525">
            <a:solidFill>
              <a:srgbClr val="3DDC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362188" y="60716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MRO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457200" y="292608"/>
            <a:ext cx="9144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D4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7D4EE"/>
                </a:solidFill>
                <a:latin typeface="Calibri"/>
                <a:ea typeface="Calibri"/>
                <a:cs typeface="Calibri"/>
                <a:sym typeface="Calibri"/>
              </a:rPr>
              <a:t>GULFSTREAM · DIGITAL FACTORY OF THE FUTURE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512064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Digital Twin, Digital Factory &amp; Reference Architecture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960120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From component-level twins to an enterprise twin network — grounded in a seven-layer governed architecture.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1389888"/>
            <a:ext cx="82296" cy="137160"/>
          </a:xfrm>
          <a:prstGeom prst="rect">
            <a:avLst/>
          </a:prstGeom>
          <a:solidFill>
            <a:srgbClr val="A89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21792" y="1344168"/>
            <a:ext cx="5276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DIGITAL TWIN — FIVE-LEVEL HIERARCHY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1645920"/>
            <a:ext cx="5440680" cy="2176272"/>
          </a:xfrm>
          <a:prstGeom prst="roundRect">
            <a:avLst>
              <a:gd fmla="val 2941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21792" y="1719072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240280" y="1719072"/>
            <a:ext cx="21488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434840" y="1719072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Update Cadence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21792" y="2057400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5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895FF"/>
                </a:solidFill>
                <a:latin typeface="Calibri"/>
                <a:ea typeface="Calibri"/>
                <a:cs typeface="Calibri"/>
                <a:sym typeface="Calibri"/>
              </a:rPr>
              <a:t>Component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240280" y="2057400"/>
            <a:ext cx="21488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Parts &amp; subassemblies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434840" y="2057400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Real-time (ms)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594360" y="2057400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4"/>
          <p:cNvSpPr/>
          <p:nvPr/>
        </p:nvSpPr>
        <p:spPr>
          <a:xfrm>
            <a:off x="621792" y="2395728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5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895FF"/>
                </a:solidFill>
                <a:latin typeface="Calibri"/>
                <a:ea typeface="Calibri"/>
                <a:cs typeface="Calibri"/>
                <a:sym typeface="Calibri"/>
              </a:rPr>
              <a:t>Asset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240280" y="2395728"/>
            <a:ext cx="21488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Equipment, tooling, fixtures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434840" y="2395728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Near real-time (sec)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594360" y="2395728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4"/>
          <p:cNvSpPr/>
          <p:nvPr/>
        </p:nvSpPr>
        <p:spPr>
          <a:xfrm>
            <a:off x="621792" y="2734056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5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895FF"/>
                </a:solidFill>
                <a:latin typeface="Calibri"/>
                <a:ea typeface="Calibri"/>
                <a:cs typeface="Calibri"/>
                <a:sym typeface="Calibri"/>
              </a:rPr>
              <a:t>Process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240280" y="2734056"/>
            <a:ext cx="21488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Operations &amp; workflows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434840" y="2734056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Event-driven (min)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4"/>
          <p:cNvCxnSpPr/>
          <p:nvPr/>
        </p:nvCxnSpPr>
        <p:spPr>
          <a:xfrm>
            <a:off x="594360" y="2734056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4"/>
          <p:cNvSpPr/>
          <p:nvPr/>
        </p:nvSpPr>
        <p:spPr>
          <a:xfrm>
            <a:off x="621792" y="3072384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5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895FF"/>
                </a:solidFill>
                <a:latin typeface="Calibri"/>
                <a:ea typeface="Calibri"/>
                <a:cs typeface="Calibri"/>
                <a:sym typeface="Calibri"/>
              </a:rPr>
              <a:t>Facility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240280" y="3072384"/>
            <a:ext cx="21488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Plant layout, material flow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434840" y="3072384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Periodic (hrs)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594360" y="3072384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621792" y="3410712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5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895FF"/>
                </a:solidFill>
                <a:latin typeface="Calibri"/>
                <a:ea typeface="Calibri"/>
                <a:cs typeface="Calibri"/>
                <a:sym typeface="Calibri"/>
              </a:rPr>
              <a:t>Enterprise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240280" y="3410712"/>
            <a:ext cx="21488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Multi-facility, supply network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434840" y="3410712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Aggregated (daily)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594360" y="3410712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>
            <a:off x="6245352" y="1389888"/>
            <a:ext cx="82296" cy="137160"/>
          </a:xfrm>
          <a:prstGeom prst="rect">
            <a:avLst/>
          </a:prstGeom>
          <a:solidFill>
            <a:srgbClr val="FFB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409944" y="1344168"/>
            <a:ext cx="5321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DIGITAL FACTORY — SITE NETWORK (TWIN MATURITY)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245352" y="1645920"/>
            <a:ext cx="5486400" cy="2176272"/>
          </a:xfrm>
          <a:prstGeom prst="roundRect">
            <a:avLst>
              <a:gd fmla="val 2941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409944" y="1709928"/>
            <a:ext cx="14173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Savannah, GA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845552" y="1709928"/>
            <a:ext cx="16002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HQ &amp; Final Assembly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537192" y="1825752"/>
            <a:ext cx="1417320" cy="109728"/>
          </a:xfrm>
          <a:prstGeom prst="roundRect">
            <a:avLst>
              <a:gd fmla="val 25000" name="adj"/>
            </a:avLst>
          </a:prstGeom>
          <a:solidFill>
            <a:srgbClr val="1B35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9537192" y="1825752"/>
            <a:ext cx="737006" cy="109728"/>
          </a:xfrm>
          <a:prstGeom prst="roundRect">
            <a:avLst>
              <a:gd fmla="val 25000" name="adj"/>
            </a:avLst>
          </a:prstGeom>
          <a:solidFill>
            <a:srgbClr val="3DDC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1000232" y="1709928"/>
            <a:ext cx="5029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DC9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DC97"/>
                </a:solidFill>
                <a:latin typeface="Calibri"/>
                <a:ea typeface="Calibri"/>
                <a:cs typeface="Calibri"/>
                <a:sym typeface="Calibri"/>
              </a:rPr>
              <a:t>52%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9944" y="2051304"/>
            <a:ext cx="14173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Appleton, WI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845552" y="2051304"/>
            <a:ext cx="16002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Completions Center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537192" y="2167128"/>
            <a:ext cx="1417320" cy="109728"/>
          </a:xfrm>
          <a:prstGeom prst="roundRect">
            <a:avLst>
              <a:gd fmla="val 25000" name="adj"/>
            </a:avLst>
          </a:prstGeom>
          <a:solidFill>
            <a:srgbClr val="1B35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9537192" y="2167128"/>
            <a:ext cx="538582" cy="109728"/>
          </a:xfrm>
          <a:prstGeom prst="roundRect">
            <a:avLst>
              <a:gd fmla="val 25000" name="adj"/>
            </a:avLst>
          </a:prstGeom>
          <a:solidFill>
            <a:srgbClr val="27D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1000232" y="2051304"/>
            <a:ext cx="5029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D4E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7D4EE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4"/>
          <p:cNvCxnSpPr/>
          <p:nvPr/>
        </p:nvCxnSpPr>
        <p:spPr>
          <a:xfrm>
            <a:off x="6382512" y="2051304"/>
            <a:ext cx="521208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4"/>
          <p:cNvSpPr/>
          <p:nvPr/>
        </p:nvSpPr>
        <p:spPr>
          <a:xfrm>
            <a:off x="6409944" y="2392680"/>
            <a:ext cx="14173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St. Louis, MO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845552" y="2392680"/>
            <a:ext cx="16002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Service Center (MRO)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537192" y="2508504"/>
            <a:ext cx="1417320" cy="109728"/>
          </a:xfrm>
          <a:prstGeom prst="roundRect">
            <a:avLst>
              <a:gd fmla="val 25000" name="adj"/>
            </a:avLst>
          </a:prstGeom>
          <a:solidFill>
            <a:srgbClr val="1B35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9537192" y="2508504"/>
            <a:ext cx="481889" cy="109728"/>
          </a:xfrm>
          <a:prstGeom prst="roundRect">
            <a:avLst>
              <a:gd fmla="val 25000" name="adj"/>
            </a:avLst>
          </a:prstGeom>
          <a:solidFill>
            <a:srgbClr val="4C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1000232" y="2392680"/>
            <a:ext cx="5029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86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4C86FF"/>
                </a:solidFill>
                <a:latin typeface="Calibri"/>
                <a:ea typeface="Calibri"/>
                <a:cs typeface="Calibri"/>
                <a:sym typeface="Calibri"/>
              </a:rPr>
              <a:t>34%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6382512" y="2392680"/>
            <a:ext cx="521208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6409944" y="2734056"/>
            <a:ext cx="14173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Dallas, TX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845552" y="2734056"/>
            <a:ext cx="16002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Service Center (MRO)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537192" y="2849880"/>
            <a:ext cx="1417320" cy="109728"/>
          </a:xfrm>
          <a:prstGeom prst="roundRect">
            <a:avLst>
              <a:gd fmla="val 25000" name="adj"/>
            </a:avLst>
          </a:prstGeom>
          <a:solidFill>
            <a:srgbClr val="1B35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9537192" y="2849880"/>
            <a:ext cx="425196" cy="109728"/>
          </a:xfrm>
          <a:prstGeom prst="roundRect">
            <a:avLst>
              <a:gd fmla="val 25000" name="adj"/>
            </a:avLst>
          </a:prstGeom>
          <a:solidFill>
            <a:srgbClr val="4C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1000232" y="2734056"/>
            <a:ext cx="5029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86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4C86FF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6382512" y="2734056"/>
            <a:ext cx="521208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"/>
          <p:cNvSpPr/>
          <p:nvPr/>
        </p:nvSpPr>
        <p:spPr>
          <a:xfrm>
            <a:off x="6409944" y="3075432"/>
            <a:ext cx="14173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Long Beach, CA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845552" y="3075432"/>
            <a:ext cx="16002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Service Center (MRO)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537192" y="3191256"/>
            <a:ext cx="1417320" cy="109728"/>
          </a:xfrm>
          <a:prstGeom prst="roundRect">
            <a:avLst>
              <a:gd fmla="val 25000" name="adj"/>
            </a:avLst>
          </a:prstGeom>
          <a:solidFill>
            <a:srgbClr val="1B35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9537192" y="3191256"/>
            <a:ext cx="368503" cy="109728"/>
          </a:xfrm>
          <a:prstGeom prst="roundRect">
            <a:avLst>
              <a:gd fmla="val 25000" name="adj"/>
            </a:avLst>
          </a:prstGeom>
          <a:solidFill>
            <a:srgbClr val="6C8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11000232" y="3075432"/>
            <a:ext cx="5029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26%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>
            <a:off x="6382512" y="3075432"/>
            <a:ext cx="521208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4"/>
          <p:cNvSpPr/>
          <p:nvPr/>
        </p:nvSpPr>
        <p:spPr>
          <a:xfrm>
            <a:off x="6409944" y="3416808"/>
            <a:ext cx="14173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Brunswick, GA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845552" y="3416808"/>
            <a:ext cx="16002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Service Center (MRO)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537192" y="3532632"/>
            <a:ext cx="1417320" cy="109728"/>
          </a:xfrm>
          <a:prstGeom prst="roundRect">
            <a:avLst>
              <a:gd fmla="val 25000" name="adj"/>
            </a:avLst>
          </a:prstGeom>
          <a:solidFill>
            <a:srgbClr val="1B35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9537192" y="3532632"/>
            <a:ext cx="340157" cy="109728"/>
          </a:xfrm>
          <a:prstGeom prst="roundRect">
            <a:avLst>
              <a:gd fmla="val 25000" name="adj"/>
            </a:avLst>
          </a:prstGeom>
          <a:solidFill>
            <a:srgbClr val="6C8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11000232" y="3416808"/>
            <a:ext cx="5029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6382512" y="3416808"/>
            <a:ext cx="521208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/>
          <p:nvPr/>
        </p:nvSpPr>
        <p:spPr>
          <a:xfrm>
            <a:off x="457200" y="4005072"/>
            <a:ext cx="82296" cy="137160"/>
          </a:xfrm>
          <a:prstGeom prst="rect">
            <a:avLst/>
          </a:prstGeom>
          <a:solidFill>
            <a:srgbClr val="FF7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21792" y="3959352"/>
            <a:ext cx="5276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METRICS &amp; KPIS — BASELINE → TARGET (PH.4–5)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57200" y="4261104"/>
            <a:ext cx="5440680" cy="2103120"/>
          </a:xfrm>
          <a:prstGeom prst="roundRect">
            <a:avLst>
              <a:gd fmla="val 3043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21792" y="4334256"/>
            <a:ext cx="301752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KPI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3703320" y="4334256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754880" y="4334256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21792" y="4613801"/>
            <a:ext cx="301752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First-time quality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703320" y="4613801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754880" y="4613801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9A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7F9A"/>
                </a:solidFill>
                <a:latin typeface="Calibri"/>
                <a:ea typeface="Calibri"/>
                <a:cs typeface="Calibri"/>
                <a:sym typeface="Calibri"/>
              </a:rPr>
              <a:t>+32%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4"/>
          <p:cNvCxnSpPr/>
          <p:nvPr/>
        </p:nvCxnSpPr>
        <p:spPr>
          <a:xfrm>
            <a:off x="594360" y="4613801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4"/>
          <p:cNvSpPr/>
          <p:nvPr/>
        </p:nvSpPr>
        <p:spPr>
          <a:xfrm>
            <a:off x="621792" y="4893346"/>
            <a:ext cx="301752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Unplanned downtime (idx)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703320" y="4893346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754880" y="4893346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9A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7F9A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4"/>
          <p:cNvCxnSpPr/>
          <p:nvPr/>
        </p:nvCxnSpPr>
        <p:spPr>
          <a:xfrm>
            <a:off x="594360" y="4893346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4"/>
          <p:cNvSpPr/>
          <p:nvPr/>
        </p:nvSpPr>
        <p:spPr>
          <a:xfrm>
            <a:off x="621792" y="5172891"/>
            <a:ext cx="301752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MRB cycle time (idx)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703320" y="5172891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754880" y="5172891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9A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7F9A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4"/>
          <p:cNvCxnSpPr/>
          <p:nvPr/>
        </p:nvCxnSpPr>
        <p:spPr>
          <a:xfrm>
            <a:off x="594360" y="5172891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4"/>
          <p:cNvSpPr/>
          <p:nvPr/>
        </p:nvSpPr>
        <p:spPr>
          <a:xfrm>
            <a:off x="621792" y="5452437"/>
            <a:ext cx="301752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Customer response time (idx)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3703320" y="5452437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754880" y="5452437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9A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7F9A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4"/>
          <p:cNvCxnSpPr/>
          <p:nvPr/>
        </p:nvCxnSpPr>
        <p:spPr>
          <a:xfrm>
            <a:off x="594360" y="5452437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4"/>
          <p:cNvSpPr/>
          <p:nvPr/>
        </p:nvSpPr>
        <p:spPr>
          <a:xfrm>
            <a:off x="621792" y="5731982"/>
            <a:ext cx="301752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Decision lineage coverage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3703320" y="5731982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754880" y="5731982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9A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7F9A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4"/>
          <p:cNvCxnSpPr/>
          <p:nvPr/>
        </p:nvCxnSpPr>
        <p:spPr>
          <a:xfrm>
            <a:off x="594360" y="5731982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4"/>
          <p:cNvSpPr/>
          <p:nvPr/>
        </p:nvSpPr>
        <p:spPr>
          <a:xfrm>
            <a:off x="621792" y="6011527"/>
            <a:ext cx="301752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AI autonomy phase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703320" y="6011527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P0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754880" y="6011527"/>
            <a:ext cx="1005840" cy="279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F9A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7F9A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4"/>
          <p:cNvCxnSpPr/>
          <p:nvPr/>
        </p:nvCxnSpPr>
        <p:spPr>
          <a:xfrm>
            <a:off x="594360" y="6011527"/>
            <a:ext cx="5166360" cy="0"/>
          </a:xfrm>
          <a:prstGeom prst="straightConnector1">
            <a:avLst/>
          </a:prstGeom>
          <a:noFill/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4"/>
          <p:cNvSpPr/>
          <p:nvPr/>
        </p:nvSpPr>
        <p:spPr>
          <a:xfrm>
            <a:off x="6245352" y="4005072"/>
            <a:ext cx="82296" cy="137160"/>
          </a:xfrm>
          <a:prstGeom prst="rect">
            <a:avLst/>
          </a:prstGeom>
          <a:solidFill>
            <a:srgbClr val="4C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6409944" y="3959352"/>
            <a:ext cx="5321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REFERENCE ARCHITECTURE — 7 LAYERS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245352" y="4261104"/>
            <a:ext cx="5486400" cy="2103120"/>
          </a:xfrm>
          <a:prstGeom prst="roundRect">
            <a:avLst>
              <a:gd fmla="val 3043" name="adj"/>
            </a:avLst>
          </a:prstGeom>
          <a:solidFill>
            <a:srgbClr val="102138"/>
          </a:solidFill>
          <a:ln cap="flat" cmpd="sng" w="9525">
            <a:solidFill>
              <a:srgbClr val="24405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6409944" y="4352544"/>
            <a:ext cx="384048" cy="227294"/>
          </a:xfrm>
          <a:prstGeom prst="roundRect">
            <a:avLst>
              <a:gd fmla="val 16092" name="adj"/>
            </a:avLst>
          </a:prstGeom>
          <a:solidFill>
            <a:srgbClr val="6C8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409944" y="4352544"/>
            <a:ext cx="384048" cy="22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922008" y="4325112"/>
            <a:ext cx="4645152" cy="282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Edge &amp; IoT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6409944" y="4634702"/>
            <a:ext cx="384048" cy="227294"/>
          </a:xfrm>
          <a:prstGeom prst="roundRect">
            <a:avLst>
              <a:gd fmla="val 16092" name="adj"/>
            </a:avLst>
          </a:prstGeom>
          <a:solidFill>
            <a:srgbClr val="4C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6409944" y="4634702"/>
            <a:ext cx="384048" cy="22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922008" y="4607270"/>
            <a:ext cx="4645152" cy="282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Integration &amp; Connectivity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6409944" y="4916859"/>
            <a:ext cx="384048" cy="227294"/>
          </a:xfrm>
          <a:prstGeom prst="roundRect">
            <a:avLst>
              <a:gd fmla="val 16092" name="adj"/>
            </a:avLst>
          </a:prstGeom>
          <a:solidFill>
            <a:srgbClr val="27D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6409944" y="4916859"/>
            <a:ext cx="384048" cy="22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922008" y="4889427"/>
            <a:ext cx="4645152" cy="282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Data Platform &amp; Semantic Layer ★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409944" y="5199017"/>
            <a:ext cx="384048" cy="227294"/>
          </a:xfrm>
          <a:prstGeom prst="roundRect">
            <a:avLst>
              <a:gd fmla="val 16092" name="adj"/>
            </a:avLst>
          </a:prstGeom>
          <a:solidFill>
            <a:srgbClr val="A89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6409944" y="5199017"/>
            <a:ext cx="384048" cy="22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6922008" y="5171585"/>
            <a:ext cx="4645152" cy="282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AI / ML Services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6409944" y="5481175"/>
            <a:ext cx="384048" cy="227294"/>
          </a:xfrm>
          <a:prstGeom prst="roundRect">
            <a:avLst>
              <a:gd fmla="val 16092" name="adj"/>
            </a:avLst>
          </a:prstGeom>
          <a:solidFill>
            <a:srgbClr val="3DDC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6409944" y="5481175"/>
            <a:ext cx="384048" cy="22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6922008" y="5453743"/>
            <a:ext cx="4645152" cy="282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409944" y="5763333"/>
            <a:ext cx="384048" cy="227294"/>
          </a:xfrm>
          <a:prstGeom prst="roundRect">
            <a:avLst>
              <a:gd fmla="val 16092" name="adj"/>
            </a:avLst>
          </a:prstGeom>
          <a:solidFill>
            <a:srgbClr val="FFB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6409944" y="5763333"/>
            <a:ext cx="384048" cy="22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6922008" y="5735901"/>
            <a:ext cx="4645152" cy="282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Governance Plane (cross-cutting, all layers)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6409944" y="6045490"/>
            <a:ext cx="384048" cy="227294"/>
          </a:xfrm>
          <a:prstGeom prst="roundRect">
            <a:avLst>
              <a:gd fmla="val 16092" name="adj"/>
            </a:avLst>
          </a:prstGeom>
          <a:solidFill>
            <a:srgbClr val="FF7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6409944" y="6045490"/>
            <a:ext cx="384048" cy="227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922008" y="6018058"/>
            <a:ext cx="4645152" cy="282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D"/>
              </a:buClr>
              <a:buSzPts val="860"/>
              <a:buFont typeface="Calibri"/>
              <a:buNone/>
            </a:pPr>
            <a:r>
              <a:rPr b="1" i="0" lang="en-US" sz="860" u="none" cap="none" strike="noStrike">
                <a:solidFill>
                  <a:srgbClr val="EAF2FD"/>
                </a:solidFill>
                <a:latin typeface="Calibri"/>
                <a:ea typeface="Calibri"/>
                <a:cs typeface="Calibri"/>
                <a:sym typeface="Calibri"/>
              </a:rPr>
              <a:t>Applications — PLM · MES · EQMS · SQM · MRO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57200" y="6528816"/>
            <a:ext cx="11247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8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84A8"/>
                </a:solidFill>
                <a:latin typeface="Calibri"/>
                <a:ea typeface="Calibri"/>
                <a:cs typeface="Calibri"/>
                <a:sym typeface="Calibri"/>
              </a:rPr>
              <a:t>Digital twin hierarchy, site network, KPI targets and reference-architecture layers per internal Digital Factory of the Future solution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